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1.xml" ContentType="application/vnd.openxmlformats-officedocument.presentationml.tags+xml"/>
  <Override PartName="/ppt/notesSlides/notesSlide7.xml" ContentType="application/vnd.openxmlformats-officedocument.presentationml.notesSlide+xml"/>
  <Override PartName="/ppt/tags/tag4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0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5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893" r:id="rId2"/>
    <p:sldId id="347" r:id="rId3"/>
    <p:sldId id="701" r:id="rId4"/>
    <p:sldId id="534" r:id="rId5"/>
    <p:sldId id="896" r:id="rId6"/>
    <p:sldId id="793" r:id="rId7"/>
    <p:sldId id="836" r:id="rId8"/>
    <p:sldId id="837" r:id="rId9"/>
    <p:sldId id="895" r:id="rId10"/>
    <p:sldId id="894" r:id="rId11"/>
    <p:sldId id="897" r:id="rId12"/>
    <p:sldId id="794" r:id="rId13"/>
    <p:sldId id="898" r:id="rId14"/>
    <p:sldId id="795" r:id="rId15"/>
    <p:sldId id="838" r:id="rId16"/>
    <p:sldId id="839" r:id="rId17"/>
    <p:sldId id="797" r:id="rId18"/>
    <p:sldId id="798" r:id="rId19"/>
    <p:sldId id="799" r:id="rId20"/>
    <p:sldId id="840" r:id="rId21"/>
    <p:sldId id="841" r:id="rId22"/>
    <p:sldId id="800" r:id="rId23"/>
    <p:sldId id="802" r:id="rId24"/>
    <p:sldId id="842" r:id="rId25"/>
    <p:sldId id="847" r:id="rId26"/>
    <p:sldId id="843" r:id="rId27"/>
    <p:sldId id="844" r:id="rId28"/>
    <p:sldId id="845" r:id="rId29"/>
    <p:sldId id="846" r:id="rId30"/>
    <p:sldId id="848" r:id="rId31"/>
    <p:sldId id="849" r:id="rId32"/>
    <p:sldId id="850" r:id="rId33"/>
    <p:sldId id="851" r:id="rId34"/>
    <p:sldId id="854" r:id="rId35"/>
    <p:sldId id="855" r:id="rId36"/>
    <p:sldId id="856" r:id="rId37"/>
    <p:sldId id="857" r:id="rId38"/>
    <p:sldId id="858" r:id="rId39"/>
    <p:sldId id="859" r:id="rId40"/>
    <p:sldId id="860" r:id="rId41"/>
    <p:sldId id="899" r:id="rId42"/>
    <p:sldId id="900" r:id="rId43"/>
    <p:sldId id="806" r:id="rId44"/>
    <p:sldId id="807" r:id="rId45"/>
    <p:sldId id="808" r:id="rId46"/>
    <p:sldId id="862" r:id="rId47"/>
    <p:sldId id="809" r:id="rId48"/>
    <p:sldId id="810" r:id="rId49"/>
    <p:sldId id="863" r:id="rId50"/>
    <p:sldId id="811" r:id="rId51"/>
    <p:sldId id="814" r:id="rId52"/>
    <p:sldId id="812" r:id="rId53"/>
    <p:sldId id="815" r:id="rId54"/>
    <p:sldId id="901" r:id="rId55"/>
    <p:sldId id="817" r:id="rId56"/>
    <p:sldId id="865" r:id="rId57"/>
    <p:sldId id="868" r:id="rId58"/>
    <p:sldId id="902" r:id="rId59"/>
    <p:sldId id="903" r:id="rId60"/>
    <p:sldId id="905" r:id="rId61"/>
    <p:sldId id="906" r:id="rId62"/>
    <p:sldId id="904" r:id="rId63"/>
    <p:sldId id="907" r:id="rId64"/>
    <p:sldId id="908" r:id="rId65"/>
    <p:sldId id="909" r:id="rId66"/>
    <p:sldId id="910" r:id="rId67"/>
    <p:sldId id="911" r:id="rId68"/>
    <p:sldId id="912" r:id="rId69"/>
    <p:sldId id="913" r:id="rId70"/>
  </p:sldIdLst>
  <p:sldSz cx="12198350" cy="6859588"/>
  <p:notesSz cx="6797675" cy="9928225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>
          <p15:clr>
            <a:srgbClr val="A4A3A4"/>
          </p15:clr>
        </p15:guide>
        <p15:guide id="2" pos="3910">
          <p15:clr>
            <a:srgbClr val="A4A3A4"/>
          </p15:clr>
        </p15:guide>
        <p15:guide id="3" pos="262">
          <p15:clr>
            <a:srgbClr val="A4A3A4"/>
          </p15:clr>
        </p15:guide>
        <p15:guide id="4" pos="1891">
          <p15:clr>
            <a:srgbClr val="A4A3A4"/>
          </p15:clr>
        </p15:guide>
        <p15:guide id="5" pos="124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ta_hsong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F00"/>
    <a:srgbClr val="0000FF"/>
    <a:srgbClr val="0071C1"/>
    <a:srgbClr val="660033"/>
    <a:srgbClr val="FAFAFA"/>
    <a:srgbClr val="005DA2"/>
    <a:srgbClr val="FFC400"/>
    <a:srgbClr val="FFD347"/>
    <a:srgbClr val="FFC91D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86268"/>
  </p:normalViewPr>
  <p:slideViewPr>
    <p:cSldViewPr>
      <p:cViewPr varScale="1">
        <p:scale>
          <a:sx n="105" d="100"/>
          <a:sy n="105" d="100"/>
        </p:scale>
        <p:origin x="952" y="200"/>
      </p:cViewPr>
      <p:guideLst>
        <p:guide orient="horz" pos="2150"/>
        <p:guide pos="3910"/>
        <p:guide pos="262"/>
        <p:guide pos="1891"/>
        <p:guide pos="12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57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81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E6889-349A-49E8-AAE1-A1FB1A7B972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初始化表达式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条件表达式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更新表达式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 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6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</a:t>
            </a:r>
            <a:r>
              <a:rPr lang="zh-CN" altLang="en-US" sz="16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循环体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843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905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while (</a:t>
            </a:r>
            <a:r>
              <a:rPr kumimoji="1" lang="zh-CN" altLang="en-US" dirty="0"/>
              <a:t>条件</a:t>
            </a:r>
            <a:r>
              <a:rPr kumimoji="1" lang="en-US" altLang="zh-CN" dirty="0"/>
              <a:t>) {</a:t>
            </a:r>
          </a:p>
          <a:p>
            <a:r>
              <a:rPr kumimoji="1" lang="en-US" altLang="zh-CN" dirty="0"/>
              <a:t>    // </a:t>
            </a:r>
            <a:r>
              <a:rPr kumimoji="1" lang="zh-CN" altLang="en-US" dirty="0"/>
              <a:t>循环体</a:t>
            </a:r>
          </a:p>
          <a:p>
            <a:r>
              <a:rPr kumimoji="1" lang="en-US" altLang="zh-CN" dirty="0"/>
              <a:t>}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358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14599" y="335723"/>
            <a:ext cx="3456384" cy="3987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第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4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流程控制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9885688" y="6493172"/>
            <a:ext cx="226215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安徽大学互联网学院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914599" y="335723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第四章 </a:t>
            </a:r>
            <a:r>
              <a:rPr lang="en-US" altLang="zh-CN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Python</a:t>
            </a:r>
            <a:r>
              <a:rPr lang="zh-CN" altLang="en-US" sz="2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流程控制</a:t>
            </a:r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矩形 9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8350" cy="7654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90" y="-47456"/>
            <a:ext cx="914444" cy="8604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矩形 3"/>
          <p:cNvSpPr/>
          <p:nvPr userDrawn="1"/>
        </p:nvSpPr>
        <p:spPr>
          <a:xfrm>
            <a:off x="-8058" y="6454129"/>
            <a:ext cx="12198350" cy="4083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-6072" y="6462394"/>
            <a:ext cx="272382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大数据分析语言基础</a:t>
            </a:r>
            <a:r>
              <a:rPr lang="en-US" altLang="zh-CN" sz="1800" b="1" cap="none" spc="0" dirty="0">
                <a:ln w="0"/>
                <a:solidFill>
                  <a:srgbClr val="FAFAF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800" b="1" cap="none" spc="0" dirty="0">
              <a:ln w="0"/>
              <a:solidFill>
                <a:srgbClr val="FAFAF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1"/>
            <a:ext cx="10978515" cy="11432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918" y="1535469"/>
            <a:ext cx="5389723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918" y="2175379"/>
            <a:ext cx="5389723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593" y="1535469"/>
            <a:ext cx="5391840" cy="63991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593" y="2175379"/>
            <a:ext cx="5391840" cy="39522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xfrm>
            <a:off x="609917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6995A-94BE-41D3-9DC8-217D2F6F4485}" type="datetime1">
              <a:rPr lang="zh-CN" altLang="en-US"/>
              <a:t>2025/10/20</a:t>
            </a:fld>
            <a:endParaRPr lang="en-US" altLang="zh-CN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7770" y="6249847"/>
            <a:ext cx="3862811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42151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33C983-41ED-4461-AC69-AA7BCDD3E0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 advTm="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59" y="103212"/>
            <a:ext cx="10997574" cy="131475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917" y="1600571"/>
            <a:ext cx="5387605" cy="445714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0828" y="1600571"/>
            <a:ext cx="5387605" cy="445714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xfrm>
            <a:off x="609917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9FC30-4280-4DDA-965E-0FFF9CC591CB}" type="datetime1">
              <a:rPr lang="zh-CN" altLang="en-US"/>
              <a:t>2025/10/20</a:t>
            </a:fld>
            <a:endParaRPr lang="en-US" altLang="zh-CN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7770" y="6249847"/>
            <a:ext cx="3862811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42151" y="6245084"/>
            <a:ext cx="2846282" cy="4573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27697FC-48EE-4796-84B7-A2008268669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 advTm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521769"/>
            <a:ext cx="2744629" cy="36521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zh-CN" altLang="en-US" sz="1800" kern="120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BC18AD7-D9E8-48DE-B5E0-53D11EE22353}" type="datetime1">
              <a:rPr lang="en-US" altLang="zh-CN" smtClean="0"/>
              <a:t>10/20/25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440416" y="6521769"/>
            <a:ext cx="4116943" cy="365210"/>
          </a:xfrm>
          <a:prstGeom prst="rect">
            <a:avLst/>
          </a:prstGeom>
        </p:spPr>
        <p:txBody>
          <a:bodyPr/>
          <a:lstStyle>
            <a:lvl1pPr>
              <a:defRPr lang="zh-CN" altLang="en-US" sz="1800" kern="1200" dirty="0" smtClean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外经贸</a:t>
            </a:r>
            <a:r>
              <a:rPr lang="en-US" altLang="zh-CN" dirty="0"/>
              <a:t>-</a:t>
            </a:r>
            <a:r>
              <a:rPr lang="zh-CN" altLang="en-US" dirty="0"/>
              <a:t>信息学院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234222" y="6521769"/>
            <a:ext cx="2744629" cy="365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370D8578-DDD4-487D-A316-C8E65CC577E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 advTm="0">
    <p:wipe/>
  </p:transition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3" Type="http://schemas.openxmlformats.org/officeDocument/2006/relationships/tags" Target="../tags/tag6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tags" Target="../tags/tag82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tags" Target="../tags/tag81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notesSlide" Target="../notesSlides/notesSlide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tags" Target="../tags/tag100.xml"/><Relationship Id="rId3" Type="http://schemas.openxmlformats.org/officeDocument/2006/relationships/tags" Target="../tags/tag8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tags" Target="../tags/tag99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20" Type="http://schemas.openxmlformats.org/officeDocument/2006/relationships/tags" Target="../tags/tag102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19" Type="http://schemas.openxmlformats.org/officeDocument/2006/relationships/tags" Target="../tags/tag101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Relationship Id="rId22" Type="http://schemas.openxmlformats.org/officeDocument/2006/relationships/notesSlide" Target="../notesSlides/notesSlide15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0" y="0"/>
            <a:ext cx="12192000" cy="685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59839" y="2286064"/>
            <a:ext cx="5692140" cy="82994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lvl="0" algn="l" defTabSz="1219200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  <a:sym typeface="+mn-ea"/>
              </a:rPr>
              <a:t>大数据分析语言基础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5274517" y="3256648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7933" y="4199919"/>
            <a:ext cx="4407611" cy="55399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安徽大学互联网</a:t>
            </a:r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学院  景琨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91230" y="2176595"/>
            <a:ext cx="132770" cy="1724700"/>
            <a:chOff x="995161" y="2391860"/>
            <a:chExt cx="135370" cy="175847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130530" y="2391860"/>
              <a:ext cx="0" cy="1758474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等腰三角形 11"/>
            <p:cNvSpPr/>
            <p:nvPr/>
          </p:nvSpPr>
          <p:spPr>
            <a:xfrm rot="16200000">
              <a:off x="984331" y="3203412"/>
              <a:ext cx="157029" cy="135370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5005486" y="3317895"/>
            <a:ext cx="643001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sz="2800" kern="100" dirty="0">
                <a:ln>
                  <a:solidFill>
                    <a:schemeClr val="bg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mpact" panose="020B0806030902050204" pitchFamily="34" charset="0"/>
                <a:ea typeface="方正综艺简体" panose="02010601030101010101" pitchFamily="2" charset="-122"/>
                <a:cs typeface="Impact" panose="020B0806030902050204" pitchFamily="34" charset="0"/>
              </a:rPr>
              <a:t>Language Preparation for Big Data Analysis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r="-3290" b="2859"/>
          <a:stretch>
            <a:fillRect/>
          </a:stretch>
        </p:blipFill>
        <p:spPr>
          <a:xfrm>
            <a:off x="10753934" y="179274"/>
            <a:ext cx="1347024" cy="126682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99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99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99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/>
          <p:cNvSpPr txBox="1"/>
          <p:nvPr/>
        </p:nvSpPr>
        <p:spPr>
          <a:xfrm>
            <a:off x="338535" y="2219568"/>
            <a:ext cx="2806485" cy="1351280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2831" y="2870101"/>
            <a:ext cx="669674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</a:t>
            </a:r>
            <a:r>
              <a:rPr lang="en-US" altLang="zh-CN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4400" b="1" dirty="0">
                <a:solidFill>
                  <a:srgbClr val="0071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38150" y="176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教学目标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050415" y="1594137"/>
            <a:ext cx="9642475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熟练掌握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if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条件语句，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for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循环语句，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while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循环语句的使用方法</a:t>
            </a:r>
          </a:p>
        </p:txBody>
      </p:sp>
      <p:sp>
        <p:nvSpPr>
          <p:cNvPr id="30" name="矩形 29"/>
          <p:cNvSpPr/>
          <p:nvPr/>
        </p:nvSpPr>
        <p:spPr>
          <a:xfrm>
            <a:off x="437515" y="4304665"/>
            <a:ext cx="1612900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大黑简体" panose="03000509000000000000" pitchFamily="2" charset="-122"/>
                <a:ea typeface="方正大黑简体" panose="03000509000000000000" pitchFamily="2" charset="-122"/>
              </a:rPr>
              <a:t>教学学时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2199005" y="4125595"/>
            <a:ext cx="8013700" cy="637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en-US" altLang="zh-CN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2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学时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4.1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845185" y="1789430"/>
            <a:ext cx="10679430" cy="2620010"/>
          </a:xfrm>
        </p:spPr>
        <p:txBody>
          <a:bodyPr vert="horz" wrap="square" lIns="91456" tIns="45728" rIns="91456" bIns="45728" anchor="t"/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之前编写的程序都是顺序结构的，即依次执行程序中的每条语句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但实际的程序并非如此简单，经常要用到条件判断或反复执行某一个程序段，这就要用到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条件语句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（控制转移）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本章介绍条件语句、循环语句及跳转语句。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continue </a:t>
            </a: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1"/>
          <p:cNvSpPr txBox="1">
            <a:spLocks noChangeArrowheads="1"/>
          </p:cNvSpPr>
          <p:nvPr/>
        </p:nvSpPr>
        <p:spPr bwMode="auto">
          <a:xfrm>
            <a:off x="1636395" y="2472690"/>
            <a:ext cx="10362565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lnSpc>
                <a:spcPts val="2500"/>
              </a:lnSpc>
            </a:pPr>
            <a:r>
              <a:rPr lang="en-US" altLang="zh-CN" sz="2000" b="1" dirty="0">
                <a:latin typeface="Candara" panose="020E0502030303020204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中逻辑判定条件的运算结果非真即假，即其运算结果为</a:t>
            </a:r>
            <a:r>
              <a:rPr lang="en-US" altLang="zh-CN" sz="2000" b="1" dirty="0">
                <a:latin typeface="Candara" panose="020E0502030303020204"/>
                <a:ea typeface="微软雅黑" panose="020B0503020204020204" pitchFamily="34" charset="-122"/>
              </a:rPr>
              <a:t>bool</a:t>
            </a: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值。</a:t>
            </a:r>
          </a:p>
        </p:txBody>
      </p:sp>
      <p:sp>
        <p:nvSpPr>
          <p:cNvPr id="25" name="TextBox 30"/>
          <p:cNvSpPr txBox="1">
            <a:spLocks noChangeArrowheads="1"/>
          </p:cNvSpPr>
          <p:nvPr/>
        </p:nvSpPr>
        <p:spPr bwMode="auto">
          <a:xfrm>
            <a:off x="1636395" y="3703320"/>
            <a:ext cx="8783260" cy="73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lnSpc>
                <a:spcPts val="2500"/>
              </a:lnSpc>
            </a:pP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运算结果为假的情况：运算结果为数值类型（</a:t>
            </a:r>
            <a:r>
              <a:rPr lang="en-US" altLang="zh-CN" sz="2000" b="1" dirty="0">
                <a:latin typeface="Cambria" panose="020405030504060302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）；空字符串（“”）</a:t>
            </a:r>
            <a:endParaRPr lang="en-US" altLang="zh-CN" sz="2000" b="1" dirty="0">
              <a:latin typeface="Candara" panose="020E0502030303020204"/>
              <a:ea typeface="微软雅黑" panose="020B0503020204020204" pitchFamily="34" charset="-122"/>
            </a:endParaRPr>
          </a:p>
          <a:p>
            <a:pPr indent="0" eaLnBrk="1" hangingPunct="1">
              <a:lnSpc>
                <a:spcPts val="2500"/>
              </a:lnSpc>
            </a:pP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空元组  </a:t>
            </a:r>
            <a:r>
              <a:rPr lang="en-US" altLang="zh-CN" sz="2000" b="1" dirty="0">
                <a:latin typeface="Candara" panose="020E0502030303020204"/>
                <a:ea typeface="微软雅黑" panose="020B0503020204020204" pitchFamily="34" charset="-122"/>
              </a:rPr>
              <a:t>( ( ) )</a:t>
            </a: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；空列表（ </a:t>
            </a:r>
            <a:r>
              <a:rPr lang="en-US" altLang="zh-CN" sz="2000" b="1" dirty="0">
                <a:latin typeface="Candara" panose="020E0502030303020204"/>
                <a:ea typeface="微软雅黑" panose="020B0503020204020204" pitchFamily="34" charset="-122"/>
              </a:rPr>
              <a:t>[ ] </a:t>
            </a: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）； 空字典 （ </a:t>
            </a:r>
            <a:r>
              <a:rPr lang="en-US" altLang="zh-CN" sz="2000" b="1" dirty="0">
                <a:latin typeface="Candara" panose="020E0502030303020204"/>
                <a:ea typeface="微软雅黑" panose="020B0503020204020204" pitchFamily="34" charset="-122"/>
              </a:rPr>
              <a:t>{ } </a:t>
            </a:r>
            <a:r>
              <a:rPr lang="zh-CN" altLang="en-US" sz="2000" b="1" dirty="0">
                <a:latin typeface="Candara" panose="020E0502030303020204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722630" y="1340485"/>
            <a:ext cx="10778490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数据类型用于逻辑运算，其运算结果有两个值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or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882319" y="3068960"/>
            <a:ext cx="8823325" cy="0"/>
          </a:xfrm>
          <a:prstGeom prst="line">
            <a:avLst/>
          </a:prstGeom>
          <a:ln w="34925">
            <a:solidFill>
              <a:srgbClr val="00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"/>
          <p:cNvGrpSpPr/>
          <p:nvPr/>
        </p:nvGrpSpPr>
        <p:grpSpPr bwMode="auto">
          <a:xfrm>
            <a:off x="916305" y="2302510"/>
            <a:ext cx="911860" cy="838200"/>
            <a:chOff x="0" y="0"/>
            <a:chExt cx="838200" cy="838200"/>
          </a:xfrm>
        </p:grpSpPr>
        <p:sp>
          <p:nvSpPr>
            <p:cNvPr id="14" name="椭圆 1"/>
            <p:cNvSpPr>
              <a:spLocks noChangeArrowheads="1"/>
            </p:cNvSpPr>
            <p:nvPr/>
          </p:nvSpPr>
          <p:spPr bwMode="auto">
            <a:xfrm>
              <a:off x="0" y="0"/>
              <a:ext cx="838200" cy="83820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TextBox 6"/>
            <p:cNvSpPr txBox="1">
              <a:spLocks noChangeArrowheads="1"/>
            </p:cNvSpPr>
            <p:nvPr/>
          </p:nvSpPr>
          <p:spPr bwMode="auto">
            <a:xfrm>
              <a:off x="211138" y="169862"/>
              <a:ext cx="45720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Group 2"/>
          <p:cNvGrpSpPr/>
          <p:nvPr/>
        </p:nvGrpSpPr>
        <p:grpSpPr bwMode="auto">
          <a:xfrm>
            <a:off x="933450" y="3860800"/>
            <a:ext cx="911860" cy="838200"/>
            <a:chOff x="0" y="0"/>
            <a:chExt cx="838200" cy="838200"/>
          </a:xfrm>
        </p:grpSpPr>
        <p:sp>
          <p:nvSpPr>
            <p:cNvPr id="17" name="椭圆 1"/>
            <p:cNvSpPr>
              <a:spLocks noChangeArrowheads="1"/>
            </p:cNvSpPr>
            <p:nvPr/>
          </p:nvSpPr>
          <p:spPr bwMode="auto">
            <a:xfrm>
              <a:off x="0" y="0"/>
              <a:ext cx="838200" cy="8382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TextBox 6"/>
            <p:cNvSpPr txBox="1">
              <a:spLocks noChangeArrowheads="1"/>
            </p:cNvSpPr>
            <p:nvPr/>
          </p:nvSpPr>
          <p:spPr bwMode="auto">
            <a:xfrm>
              <a:off x="211137" y="169862"/>
              <a:ext cx="45720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="1" kern="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1852404" y="4638848"/>
            <a:ext cx="8856345" cy="13970"/>
          </a:xfrm>
          <a:prstGeom prst="line">
            <a:avLst/>
          </a:prstGeom>
          <a:ln w="34925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589915" y="995045"/>
            <a:ext cx="1080770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just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关系运算：又称比较运算，是指运用关系运算符将两个操作数进行大小比较，若关系成立则为真，反之假。（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a=20,b=30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90" y="2326005"/>
            <a:ext cx="9106535" cy="317690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1"/>
          <p:cNvSpPr txBox="1"/>
          <p:nvPr/>
        </p:nvSpPr>
        <p:spPr>
          <a:xfrm>
            <a:off x="4746312" y="582139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数值数据关系运算规则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1268095" y="1553210"/>
            <a:ext cx="9662795" cy="73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关系运算：又称比较运算，是指运用关系运算符将两个操作数进行大小比较，若关系成立则为真，反之假。（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身份运算、成员运算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95" y="2785745"/>
            <a:ext cx="10495280" cy="2446655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0205369" y="189434"/>
            <a:ext cx="20180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概述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1153612" y="1158528"/>
            <a:ext cx="9793088" cy="73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逻辑运算：又称布尔运算，是使用逻辑运算符对操作数进行逻辑运算，其结果非真即假。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39" y="2061642"/>
            <a:ext cx="9551035" cy="3766820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4.2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754380" y="772795"/>
            <a:ext cx="1121092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回顾：顺序结构</a:t>
            </a:r>
          </a:p>
          <a:p>
            <a:pPr indent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程序中，语句的执行次序按照其出现的位置先后顺序依次运行的代码结构。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25"/>
          <a:stretch>
            <a:fillRect/>
          </a:stretch>
        </p:blipFill>
        <p:spPr bwMode="auto">
          <a:xfrm>
            <a:off x="652145" y="1971675"/>
            <a:ext cx="7618095" cy="361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890" y="2104390"/>
            <a:ext cx="5098415" cy="2089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5"/>
          <p:cNvSpPr txBox="1">
            <a:spLocks noChangeArrowheads="1"/>
          </p:cNvSpPr>
          <p:nvPr/>
        </p:nvSpPr>
        <p:spPr bwMode="auto">
          <a:xfrm>
            <a:off x="1095375" y="904875"/>
            <a:ext cx="10006965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选择结构：又称分支结构，程序的执行是按照预设条件有选择的执行条件为真的代码段。</a:t>
            </a:r>
          </a:p>
        </p:txBody>
      </p:sp>
      <p:pic>
        <p:nvPicPr>
          <p:cNvPr id="12" name="图片 11" descr="Z:\Mac 上的 yhilly\微云同步盘\1-Python极简讲义与机器学习实战\pics\chap02\if-else.wmf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542" y="2103704"/>
            <a:ext cx="5455248" cy="4145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2511" y="785061"/>
            <a:ext cx="3098825" cy="652140"/>
          </a:xfrm>
          <a:prstGeom prst="rect">
            <a:avLst/>
          </a:prstGeo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if/else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482551" y="1629594"/>
            <a:ext cx="8352928" cy="4795600"/>
          </a:xfrm>
          <a:prstGeom prst="rect">
            <a:avLst/>
          </a:prstGeom>
        </p:spPr>
        <p:txBody>
          <a:bodyPr vert="horz" wrap="square" lIns="91456" tIns="45728" rIns="91456" bIns="45728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）单分支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if(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功能：如果条件表达式的值为真，则执行后面的语句序列。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2" name="Picture 3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9051503" y="1629594"/>
            <a:ext cx="2886075" cy="33861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38535" y="98152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怎么写求绝对值的程序？</a:t>
            </a: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2210743" y="2133650"/>
            <a:ext cx="8077200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Arial Black" panose="020B0A04020102020204" pitchFamily="34" charset="0"/>
              </a:rPr>
              <a:t>算法步骤：</a:t>
            </a:r>
            <a:endParaRPr lang="en-US" altLang="zh-CN" dirty="0">
              <a:latin typeface="Arial Black" panose="020B0A0402010202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Arial Black" panose="020B0A04020102020204" pitchFamily="34" charset="0"/>
              </a:rPr>
              <a:t>输入整数</a:t>
            </a:r>
            <a:r>
              <a:rPr lang="en-US" altLang="zh-CN" dirty="0">
                <a:latin typeface="Arial Black" panose="020B0A04020102020204" pitchFamily="34" charset="0"/>
              </a:rPr>
              <a:t>x</a:t>
            </a:r>
            <a:r>
              <a:rPr lang="zh-CN" altLang="en-US" dirty="0">
                <a:latin typeface="Arial Black" panose="020B0A04020102020204" pitchFamily="34" charset="0"/>
              </a:rPr>
              <a:t>；</a:t>
            </a:r>
            <a:endParaRPr lang="en-US" altLang="zh-CN" dirty="0">
              <a:latin typeface="Arial Black" panose="020B0A0402010202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Arial Black" panose="020B0A04020102020204" pitchFamily="34" charset="0"/>
              </a:rPr>
              <a:t>如果整数</a:t>
            </a:r>
            <a:r>
              <a:rPr lang="en-US" altLang="zh-CN" dirty="0">
                <a:latin typeface="Arial Black" panose="020B0A04020102020204" pitchFamily="34" charset="0"/>
              </a:rPr>
              <a:t>x</a:t>
            </a:r>
            <a:r>
              <a:rPr lang="zh-CN" altLang="en-US" dirty="0">
                <a:latin typeface="Arial Black" panose="020B0A04020102020204" pitchFamily="34" charset="0"/>
              </a:rPr>
              <a:t>小于</a:t>
            </a:r>
            <a:r>
              <a:rPr lang="en-US" altLang="zh-CN" dirty="0">
                <a:latin typeface="Arial Black" panose="020B0A04020102020204" pitchFamily="34" charset="0"/>
              </a:rPr>
              <a:t>0</a:t>
            </a:r>
            <a:r>
              <a:rPr lang="zh-CN" altLang="en-US" dirty="0">
                <a:latin typeface="Arial Black" panose="020B0A04020102020204" pitchFamily="34" charset="0"/>
              </a:rPr>
              <a:t>，则令</a:t>
            </a:r>
            <a:r>
              <a:rPr lang="en-US" altLang="zh-CN" dirty="0">
                <a:latin typeface="Arial Black" panose="020B0A04020102020204" pitchFamily="34" charset="0"/>
              </a:rPr>
              <a:t>x = -x</a:t>
            </a:r>
            <a:r>
              <a:rPr lang="zh-CN" altLang="en-US" dirty="0">
                <a:latin typeface="Arial Black" panose="020B0A04020102020204" pitchFamily="34" charset="0"/>
              </a:rPr>
              <a:t>；</a:t>
            </a:r>
            <a:endParaRPr lang="en-US" altLang="zh-CN" dirty="0">
              <a:latin typeface="Arial Black" panose="020B0A04020102020204" pitchFamily="34" charset="0"/>
            </a:endParaRP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latin typeface="Arial Black" panose="020B0A04020102020204" pitchFamily="34" charset="0"/>
              </a:rPr>
              <a:t>输出</a:t>
            </a:r>
            <a:r>
              <a:rPr lang="en-US" altLang="zh-CN" dirty="0">
                <a:latin typeface="Arial Black" panose="020B0A04020102020204" pitchFamily="34" charset="0"/>
              </a:rPr>
              <a:t>x</a:t>
            </a:r>
            <a:r>
              <a:rPr lang="zh-CN" altLang="en-US" dirty="0">
                <a:latin typeface="Arial Black" panose="020B0A04020102020204" pitchFamily="34" charset="0"/>
              </a:rPr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338535" y="98152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怎么写求绝对值的程序？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1739805" y="1944158"/>
            <a:ext cx="8280920" cy="41764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 err="1">
                <a:latin typeface="Arial Black" panose="020B0A04020102020204" pitchFamily="34" charset="0"/>
              </a:rPr>
              <a:t>numStr</a:t>
            </a:r>
            <a:r>
              <a:rPr lang="en-US" altLang="zh-CN" sz="2400" dirty="0">
                <a:latin typeface="Arial Black" panose="020B0A04020102020204" pitchFamily="34" charset="0"/>
              </a:rPr>
              <a:t> = input(</a:t>
            </a:r>
            <a:r>
              <a:rPr lang="en-US" altLang="zh-CN" sz="2400" b="1" dirty="0">
                <a:latin typeface="Arial Black" panose="020B0A04020102020204" pitchFamily="34" charset="0"/>
              </a:rPr>
              <a:t>"</a:t>
            </a:r>
            <a:r>
              <a:rPr lang="zh-CN" altLang="en-US" sz="2400" b="1" dirty="0">
                <a:latin typeface="Arial Black" panose="020B0A04020102020204" pitchFamily="34" charset="0"/>
              </a:rPr>
              <a:t>输入一个整数：</a:t>
            </a:r>
            <a:r>
              <a:rPr lang="en-US" altLang="zh-CN" sz="2400" b="1" dirty="0">
                <a:latin typeface="Arial Black" panose="020B0A04020102020204" pitchFamily="34" charset="0"/>
              </a:rPr>
              <a:t>"</a:t>
            </a:r>
            <a:r>
              <a:rPr lang="en-US" altLang="zh-CN" sz="2400" dirty="0">
                <a:latin typeface="Arial Black" panose="020B0A04020102020204" pitchFamily="34" charset="0"/>
              </a:rPr>
              <a:t>)</a:t>
            </a:r>
            <a:br>
              <a:rPr lang="en-US" altLang="zh-CN" sz="2400" dirty="0">
                <a:latin typeface="Arial Black" panose="020B0A04020102020204" pitchFamily="34" charset="0"/>
              </a:rPr>
            </a:br>
            <a:r>
              <a:rPr lang="en-US" altLang="zh-CN" sz="2400" dirty="0" err="1">
                <a:latin typeface="Arial Black" panose="020B0A04020102020204" pitchFamily="34" charset="0"/>
              </a:rPr>
              <a:t>num</a:t>
            </a:r>
            <a:r>
              <a:rPr lang="en-US" altLang="zh-CN" sz="2400" dirty="0">
                <a:latin typeface="Arial Black" panose="020B0A04020102020204" pitchFamily="34" charset="0"/>
              </a:rPr>
              <a:t> = </a:t>
            </a:r>
            <a:r>
              <a:rPr lang="en-US" altLang="zh-CN" sz="2400" dirty="0" err="1">
                <a:latin typeface="Arial Black" panose="020B0A04020102020204" pitchFamily="34" charset="0"/>
              </a:rPr>
              <a:t>int</a:t>
            </a:r>
            <a:r>
              <a:rPr lang="en-US" altLang="zh-CN" sz="2400" dirty="0">
                <a:latin typeface="Arial Black" panose="020B0A04020102020204" pitchFamily="34" charset="0"/>
              </a:rPr>
              <a:t>(</a:t>
            </a:r>
            <a:r>
              <a:rPr lang="en-US" altLang="zh-CN" sz="2400" dirty="0" err="1">
                <a:latin typeface="Arial Black" panose="020B0A04020102020204" pitchFamily="34" charset="0"/>
              </a:rPr>
              <a:t>numStr</a:t>
            </a:r>
            <a:r>
              <a:rPr lang="en-US" altLang="zh-CN" sz="2400" dirty="0">
                <a:latin typeface="Arial Black" panose="020B0A04020102020204" pitchFamily="34" charset="0"/>
              </a:rPr>
              <a:t>)</a:t>
            </a:r>
            <a:br>
              <a:rPr lang="en-US" altLang="zh-CN" sz="2400" dirty="0">
                <a:latin typeface="Arial Black" panose="020B0A04020102020204" pitchFamily="34" charset="0"/>
              </a:rPr>
            </a:b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if </a:t>
            </a:r>
            <a:r>
              <a:rPr lang="en-US" altLang="zh-CN" sz="2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num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 &lt; 0: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      </a:t>
            </a:r>
            <a:r>
              <a:rPr lang="en-US" altLang="zh-CN" sz="2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num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 = -</a:t>
            </a:r>
            <a:r>
              <a:rPr lang="en-US" altLang="zh-CN" sz="2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num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Arial Black" panose="020B0A04020102020204" pitchFamily="34" charset="0"/>
              </a:rPr>
              <a:t>print(</a:t>
            </a:r>
            <a:r>
              <a:rPr lang="en-US" altLang="zh-CN" sz="2400" b="1" dirty="0">
                <a:latin typeface="Arial Black" panose="020B0A04020102020204" pitchFamily="34" charset="0"/>
              </a:rPr>
              <a:t>"</a:t>
            </a:r>
            <a:r>
              <a:rPr lang="zh-CN" altLang="en-US" sz="2400" b="1" dirty="0">
                <a:latin typeface="Arial Black" panose="020B0A04020102020204" pitchFamily="34" charset="0"/>
              </a:rPr>
              <a:t>绝对值：</a:t>
            </a:r>
            <a:r>
              <a:rPr lang="en-US" altLang="zh-CN" sz="2400" b="1" dirty="0">
                <a:latin typeface="Arial Black" panose="020B0A04020102020204" pitchFamily="34" charset="0"/>
              </a:rPr>
              <a:t>" </a:t>
            </a:r>
            <a:r>
              <a:rPr lang="en-US" altLang="zh-CN" sz="2400" dirty="0">
                <a:latin typeface="Arial Black" panose="020B0A04020102020204" pitchFamily="34" charset="0"/>
              </a:rPr>
              <a:t>+ </a:t>
            </a:r>
            <a:r>
              <a:rPr lang="en-US" altLang="zh-CN" sz="2400" dirty="0" err="1">
                <a:latin typeface="Arial Black" panose="020B0A04020102020204" pitchFamily="34" charset="0"/>
              </a:rPr>
              <a:t>str</a:t>
            </a:r>
            <a:r>
              <a:rPr lang="en-US" altLang="zh-CN" sz="2400" dirty="0">
                <a:latin typeface="Arial Black" panose="020B0A04020102020204" pitchFamily="34" charset="0"/>
              </a:rPr>
              <a:t>(</a:t>
            </a:r>
            <a:r>
              <a:rPr lang="en-US" altLang="zh-CN" sz="2400" dirty="0" err="1">
                <a:latin typeface="Arial Black" panose="020B0A04020102020204" pitchFamily="34" charset="0"/>
              </a:rPr>
              <a:t>num</a:t>
            </a:r>
            <a:r>
              <a:rPr lang="en-US" altLang="zh-CN" sz="2400" dirty="0">
                <a:latin typeface="Arial Black" panose="020B0A04020102020204" pitchFamily="34" charset="0"/>
              </a:rPr>
              <a:t>))</a:t>
            </a:r>
            <a:endParaRPr lang="zh-CN" altLang="en-US" sz="2400" b="1" dirty="0">
              <a:solidFill>
                <a:srgbClr val="FF0000"/>
              </a:solidFill>
              <a:latin typeface="Arial Black" panose="020B0A04020102020204" pitchFamily="34" charset="0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8" name="线形标注 2(无边框) 7"/>
          <p:cNvSpPr/>
          <p:nvPr/>
        </p:nvSpPr>
        <p:spPr>
          <a:xfrm>
            <a:off x="6027167" y="2637706"/>
            <a:ext cx="4032867" cy="1234677"/>
          </a:xfrm>
          <a:prstGeom prst="callout2">
            <a:avLst>
              <a:gd name="adj1" fmla="val 47286"/>
              <a:gd name="adj2" fmla="val -280"/>
              <a:gd name="adj3" fmla="val 60744"/>
              <a:gd name="adj4" fmla="val -13112"/>
              <a:gd name="adj5" fmla="val 63348"/>
              <a:gd name="adj6" fmla="val -2111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语句。格式是：</a:t>
            </a:r>
            <a:endParaRPr lang="en-US" altLang="zh-C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布尔表达式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71C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6315199" y="4365898"/>
            <a:ext cx="5595119" cy="1754724"/>
          </a:xfrm>
          <a:prstGeom prst="wedgeRoundRectCallout">
            <a:avLst>
              <a:gd name="adj1" fmla="val -34686"/>
              <a:gd name="adj2" fmla="val -60739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布尔表达式是得出是真还是假的结论的表达式。</a:t>
            </a:r>
            <a:endParaRPr lang="en-US" altLang="zh-C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语句块中的每一条语句都要缩进！起始行不要遗漏冒号。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66638" y="1378687"/>
            <a:ext cx="3026817" cy="644639"/>
          </a:xfrm>
          <a:prstGeom prst="rect">
            <a:avLst/>
          </a:prstGeo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）双分支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770583" y="2081983"/>
            <a:ext cx="7678092" cy="4012107"/>
          </a:xfrm>
          <a:prstGeom prst="rect">
            <a:avLst/>
          </a:prstGeom>
        </p:spPr>
        <p:txBody>
          <a:bodyPr vert="horz" wrap="square" lIns="91456" tIns="45728" rIns="91456" bIns="45728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if(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功能：如果“条件表达式”的判断结果为真，则执行语句序列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；否则，执行语句序列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0" y="760735"/>
            <a:ext cx="3098825" cy="652140"/>
          </a:xfrm>
          <a:prstGeom prst="rect">
            <a:avLst/>
          </a:prstGeo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if/else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9D16B3-B6A8-D7AC-6E5A-4B6C41F1D4AA}"/>
              </a:ext>
            </a:extLst>
          </p:cNvPr>
          <p:cNvGrpSpPr/>
          <p:nvPr/>
        </p:nvGrpSpPr>
        <p:grpSpPr>
          <a:xfrm>
            <a:off x="6765364" y="1701006"/>
            <a:ext cx="4662403" cy="2845688"/>
            <a:chOff x="5091063" y="1832015"/>
            <a:chExt cx="4662403" cy="2845688"/>
          </a:xfrm>
        </p:grpSpPr>
        <p:sp>
          <p:nvSpPr>
            <p:cNvPr id="4" name="菱形 3">
              <a:extLst>
                <a:ext uri="{FF2B5EF4-FFF2-40B4-BE49-F238E27FC236}">
                  <a16:creationId xmlns:a16="http://schemas.microsoft.com/office/drawing/2014/main" id="{166C5EF1-860A-CC79-F795-1C8323307E99}"/>
                </a:ext>
              </a:extLst>
            </p:cNvPr>
            <p:cNvSpPr/>
            <p:nvPr/>
          </p:nvSpPr>
          <p:spPr>
            <a:xfrm>
              <a:off x="5091063" y="2421682"/>
              <a:ext cx="2377450" cy="644639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表达式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8177B91-4D3E-3C6B-DC6E-B49A258A657E}"/>
                </a:ext>
              </a:extLst>
            </p:cNvPr>
            <p:cNvSpPr/>
            <p:nvPr/>
          </p:nvSpPr>
          <p:spPr>
            <a:xfrm>
              <a:off x="5415692" y="3655988"/>
              <a:ext cx="1728192" cy="43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语句序列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1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6BBACD1-C3AE-A3C1-775A-3DCB0DDE9AF2}"/>
                </a:ext>
              </a:extLst>
            </p:cNvPr>
            <p:cNvSpPr/>
            <p:nvPr/>
          </p:nvSpPr>
          <p:spPr>
            <a:xfrm>
              <a:off x="8025274" y="3655988"/>
              <a:ext cx="1728192" cy="432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solidFill>
                    <a:schemeClr val="tx1"/>
                  </a:solidFill>
                </a:rPr>
                <a:t>语句序列</a:t>
              </a:r>
              <a:r>
                <a:rPr kumimoji="1" lang="en-US" altLang="zh-CN" dirty="0">
                  <a:solidFill>
                    <a:schemeClr val="tx1"/>
                  </a:solidFill>
                </a:rPr>
                <a:t>2</a:t>
              </a:r>
              <a:endParaRPr kumimoji="1"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D7707124-E662-3B10-246E-526F88F7CB99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>
              <a:off x="6279788" y="3066321"/>
              <a:ext cx="0" cy="5896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肘形连接符 11">
              <a:extLst>
                <a:ext uri="{FF2B5EF4-FFF2-40B4-BE49-F238E27FC236}">
                  <a16:creationId xmlns:a16="http://schemas.microsoft.com/office/drawing/2014/main" id="{1937AF74-ABDD-EA54-98C2-93E3CF8F9677}"/>
                </a:ext>
              </a:extLst>
            </p:cNvPr>
            <p:cNvCxnSpPr>
              <a:cxnSpLocks/>
              <a:stCxn id="4" idx="3"/>
              <a:endCxn id="6" idx="0"/>
            </p:cNvCxnSpPr>
            <p:nvPr/>
          </p:nvCxnSpPr>
          <p:spPr>
            <a:xfrm>
              <a:off x="7468513" y="2744002"/>
              <a:ext cx="1420857" cy="91198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B6A6B1A7-98FD-4234-72E9-5C437451730E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8" y="1832015"/>
              <a:ext cx="0" cy="5896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B9288CB2-796B-76D5-3A02-07BA272B9674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8" y="4088036"/>
              <a:ext cx="0" cy="5896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连接符 26">
              <a:extLst>
                <a:ext uri="{FF2B5EF4-FFF2-40B4-BE49-F238E27FC236}">
                  <a16:creationId xmlns:a16="http://schemas.microsoft.com/office/drawing/2014/main" id="{053C6704-8E5B-6F2C-9842-8C2240C1C138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 rot="5400000">
              <a:off x="7419076" y="2948752"/>
              <a:ext cx="331011" cy="260957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D750384F-5EDA-A4B1-E309-8185EA997BDF}"/>
                </a:ext>
              </a:extLst>
            </p:cNvPr>
            <p:cNvSpPr txBox="1"/>
            <p:nvPr/>
          </p:nvSpPr>
          <p:spPr>
            <a:xfrm>
              <a:off x="5839092" y="3124978"/>
              <a:ext cx="33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B66FA02-907E-FDB9-E0CE-02AFD792C8E2}"/>
                </a:ext>
              </a:extLst>
            </p:cNvPr>
            <p:cNvSpPr txBox="1"/>
            <p:nvPr/>
          </p:nvSpPr>
          <p:spPr>
            <a:xfrm>
              <a:off x="7691998" y="2295413"/>
              <a:ext cx="33327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7"/>
          <p:cNvSpPr>
            <a:spLocks noGrp="1"/>
          </p:cNvSpPr>
          <p:nvPr>
            <p:ph idx="1"/>
          </p:nvPr>
        </p:nvSpPr>
        <p:spPr>
          <a:xfrm>
            <a:off x="626567" y="1341562"/>
            <a:ext cx="10945216" cy="1009102"/>
          </a:xfrm>
        </p:spPr>
        <p:txBody>
          <a:bodyPr vert="horz" wrap="square" lIns="91456" tIns="45728" rIns="91456" bIns="45728" anchor="t"/>
          <a:lstStyle/>
          <a:p>
            <a:pPr marL="0" indent="0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例：判断用户的输入，如果输入的数值大于</a:t>
            </a:r>
            <a:r>
              <a:rPr lang="en-US" altLang="zh-CN" sz="2800" b="1" dirty="0"/>
              <a:t>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，则在屏幕上显示</a:t>
            </a:r>
            <a:r>
              <a:rPr lang="zh-CN" altLang="en-US" sz="2800" b="1" dirty="0"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latin typeface="Times New Roman" panose="02020603050405020304" pitchFamily="18" charset="0"/>
              </a:rPr>
              <a:t>正数</a:t>
            </a:r>
            <a:r>
              <a:rPr lang="zh-CN" altLang="en-US" sz="2800" b="1" dirty="0">
                <a:latin typeface="Arial" panose="020B0604020202020204" pitchFamily="34" charset="0"/>
              </a:rPr>
              <a:t>”</a:t>
            </a:r>
            <a:r>
              <a:rPr lang="zh-CN" altLang="en-US" sz="2800" b="1" dirty="0">
                <a:latin typeface="Times New Roman" panose="02020603050405020304" pitchFamily="18" charset="0"/>
              </a:rPr>
              <a:t>；否则在屏幕上显示</a:t>
            </a:r>
            <a:r>
              <a:rPr lang="zh-CN" altLang="en-US" sz="2800" b="1" dirty="0">
                <a:latin typeface="Arial" panose="020B0604020202020204" pitchFamily="34" charset="0"/>
              </a:rPr>
              <a:t>“</a:t>
            </a:r>
            <a:r>
              <a:rPr lang="zh-CN" altLang="en-US" sz="2800" b="1" dirty="0">
                <a:latin typeface="Times New Roman" panose="02020603050405020304" pitchFamily="18" charset="0"/>
              </a:rPr>
              <a:t>不是正数</a:t>
            </a:r>
            <a:r>
              <a:rPr lang="zh-CN" altLang="en-US" sz="2800" b="1" dirty="0">
                <a:latin typeface="Arial" panose="020B0604020202020204" pitchFamily="34" charset="0"/>
              </a:rPr>
              <a:t>”</a:t>
            </a:r>
            <a:r>
              <a:rPr lang="zh-CN" altLang="en-US" sz="2800" b="1" dirty="0">
                <a:latin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9587" y="3141762"/>
            <a:ext cx="6099175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a=int(input("a:"))</a:t>
            </a:r>
          </a:p>
          <a:p>
            <a:r>
              <a:rPr lang="zh-CN" altLang="en-US" sz="2800" dirty="0"/>
              <a:t>if(a&gt;0):</a:t>
            </a:r>
          </a:p>
          <a:p>
            <a:r>
              <a:rPr lang="zh-CN" altLang="en-US" sz="2800" dirty="0"/>
              <a:t>    print(a,"是正数")</a:t>
            </a:r>
          </a:p>
          <a:p>
            <a:r>
              <a:rPr lang="zh-CN" altLang="en-US" sz="2800" dirty="0"/>
              <a:t>else:</a:t>
            </a:r>
          </a:p>
          <a:p>
            <a:r>
              <a:rPr lang="zh-CN" altLang="en-US" sz="2800" dirty="0"/>
              <a:t>    print(a,"不是正数")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708" y="765498"/>
            <a:ext cx="4201860" cy="647638"/>
          </a:xfrm>
        </p:spPr>
        <p:txBody>
          <a:bodyPr vert="horz" wrap="square" lIns="91456" tIns="45728" rIns="91456" bIns="45728" numCol="1" anchor="b" anchorCtr="0" compatLnSpc="1"/>
          <a:lstStyle/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if…</a:t>
            </a:r>
            <a:r>
              <a:rPr lang="en-US" altLang="zh-CN" sz="2800" b="1" kern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…else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770583" y="1502458"/>
            <a:ext cx="10585176" cy="2215367"/>
          </a:xfrm>
        </p:spPr>
        <p:txBody>
          <a:bodyPr vert="horz" wrap="square" lIns="91456" tIns="45728" rIns="91456" bIns="45728" anchor="t"/>
          <a:lstStyle/>
          <a:p>
            <a:pPr algn="just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if/elif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语句的扩展版本，它包含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多个条件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，用于作出复杂的决策。程序自上向下开始进行条件判断，整个分支语句只会执行且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最多只执行一块条件语句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800" dirty="0"/>
              <a:t> 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7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199" y="3807147"/>
            <a:ext cx="5760640" cy="2299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70583" y="3933850"/>
            <a:ext cx="53285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假设航空公司提供了儿童优惠票价：不超过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岁的儿童免票；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岁的儿童打折；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岁及以上儿童与成人同价。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10543" y="80294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1562671" y="1917626"/>
            <a:ext cx="9217024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“门票计价”程序怎么写？功能是：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输入游客的年龄，输出门票价格。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门票计价规则是：小于</a:t>
            </a:r>
            <a:r>
              <a:rPr lang="en-US" altLang="zh-CN" dirty="0"/>
              <a:t>6</a:t>
            </a:r>
            <a:r>
              <a:rPr lang="zh-CN" altLang="en-US" dirty="0"/>
              <a:t>岁不收费，</a:t>
            </a:r>
            <a:r>
              <a:rPr lang="en-US" altLang="zh-CN" dirty="0"/>
              <a:t>6</a:t>
            </a:r>
            <a:r>
              <a:rPr lang="zh-CN" altLang="en-US" dirty="0"/>
              <a:t>岁</a:t>
            </a:r>
            <a:r>
              <a:rPr lang="en-US" altLang="zh-CN" dirty="0"/>
              <a:t>~18</a:t>
            </a:r>
            <a:r>
              <a:rPr lang="zh-CN" altLang="en-US" dirty="0"/>
              <a:t>岁（不含）之间</a:t>
            </a:r>
            <a:r>
              <a:rPr lang="en-US" altLang="zh-CN" dirty="0"/>
              <a:t>10</a:t>
            </a:r>
            <a:r>
              <a:rPr lang="zh-CN" altLang="en-US" dirty="0"/>
              <a:t>元，</a:t>
            </a:r>
            <a:r>
              <a:rPr lang="en-US" altLang="zh-CN" dirty="0"/>
              <a:t>18</a:t>
            </a:r>
            <a:r>
              <a:rPr lang="zh-CN" altLang="en-US" dirty="0"/>
              <a:t>岁以上</a:t>
            </a:r>
            <a:r>
              <a:rPr lang="en-US" altLang="zh-CN" dirty="0"/>
              <a:t>20</a:t>
            </a:r>
            <a:r>
              <a:rPr lang="zh-CN" altLang="en-US" dirty="0"/>
              <a:t>元。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410543" y="80294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1706687" y="802947"/>
            <a:ext cx="8136904" cy="85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门票计价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2210743" y="1690145"/>
            <a:ext cx="8496944" cy="43257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br>
              <a:rPr lang="en-US" altLang="zh-CN" sz="2800" i="1" dirty="0"/>
            </a:br>
            <a:r>
              <a:rPr lang="en-US" altLang="zh-CN" sz="2800" dirty="0"/>
              <a:t>age =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(input(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输入年龄：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))</a:t>
            </a:r>
            <a:br>
              <a:rPr lang="en-US" altLang="zh-CN" sz="2800" dirty="0"/>
            </a:br>
            <a:r>
              <a:rPr lang="en-US" altLang="zh-CN" sz="2800" b="1" dirty="0">
                <a:solidFill>
                  <a:srgbClr val="FF0000"/>
                </a:solidFill>
              </a:rPr>
              <a:t>if </a:t>
            </a:r>
            <a:r>
              <a:rPr lang="en-US" altLang="zh-CN" sz="2800" dirty="0">
                <a:solidFill>
                  <a:srgbClr val="FF0000"/>
                </a:solidFill>
              </a:rPr>
              <a:t>age &lt; 6: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price = 0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b="1" dirty="0" err="1">
                <a:solidFill>
                  <a:srgbClr val="FF0000"/>
                </a:solidFill>
              </a:rPr>
              <a:t>elif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age &lt; 18: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price = 10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b="1" dirty="0">
                <a:solidFill>
                  <a:srgbClr val="FF0000"/>
                </a:solidFill>
              </a:rPr>
              <a:t>else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price = 20</a:t>
            </a:r>
            <a:br>
              <a:rPr lang="en-US" altLang="zh-CN" sz="2800" dirty="0"/>
            </a:br>
            <a:r>
              <a:rPr lang="en-US" altLang="zh-CN" sz="2800" dirty="0"/>
              <a:t>print(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票价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元）：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, price)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6" name="线形标注 2(无边框) 5"/>
          <p:cNvSpPr/>
          <p:nvPr/>
        </p:nvSpPr>
        <p:spPr>
          <a:xfrm>
            <a:off x="6975575" y="2925738"/>
            <a:ext cx="3228056" cy="2880320"/>
          </a:xfrm>
          <a:prstGeom prst="callout2">
            <a:avLst>
              <a:gd name="adj1" fmla="val 33273"/>
              <a:gd name="adj2" fmla="val -215"/>
              <a:gd name="adj3" fmla="val 13544"/>
              <a:gd name="adj4" fmla="val -6909"/>
              <a:gd name="adj5" fmla="val 2803"/>
              <a:gd name="adj6" fmla="val -17513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书写格式：</a:t>
            </a:r>
            <a:endParaRPr lang="en-US" altLang="zh-C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if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布尔表达式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elif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布尔表达式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b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else:</a:t>
            </a:r>
          </a:p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527" y="789254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语句嵌套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599" y="1441656"/>
            <a:ext cx="10524274" cy="4753855"/>
          </a:xfrm>
        </p:spPr>
        <p:txBody>
          <a:bodyPr vert="horz" wrap="square" lIns="91456" tIns="45728" rIns="91456" bIns="45728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语句内还可以使用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语句，这样就构成了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语句的嵌套。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if(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1):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if(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2):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kumimoji="0" lang="en-US" altLang="zh-CN" sz="240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3):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…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else: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n):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…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marR="0" lvl="0" indent="20605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806143" y="1398566"/>
            <a:ext cx="10585176" cy="3125442"/>
          </a:xfrm>
        </p:spPr>
        <p:txBody>
          <a:bodyPr vert="horz" wrap="square" lIns="91456" tIns="45728" rIns="91456" bIns="45728" anchor="t"/>
          <a:lstStyle/>
          <a:p>
            <a:pPr marL="0" indent="0"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三元操作符的语法格式：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if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else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just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功能：先计算表达式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的值，如果其值为真，则表达式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的值就是整个表达式的值；否则表达式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的值就是整个表达式的值。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85" y="3803015"/>
            <a:ext cx="6486525" cy="2447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785" y="4041775"/>
            <a:ext cx="3291840" cy="19697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4154959" y="1002972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比较运算和布尔表达式</a:t>
            </a: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770583" y="1629594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问题：以下该怎么实现？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603241"/>
              </p:ext>
            </p:extLst>
          </p:nvPr>
        </p:nvGraphicFramePr>
        <p:xfrm>
          <a:off x="1850703" y="2486844"/>
          <a:ext cx="8568952" cy="3384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4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4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063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布尔表达式怎么写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数字</a:t>
                      </a:r>
                      <a:r>
                        <a:rPr lang="en-US" altLang="zh-CN" sz="2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大于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’Tom’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列表</a:t>
                      </a:r>
                      <a:r>
                        <a:rPr lang="en-US" altLang="zh-CN" sz="28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字符串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ns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长度小于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063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year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整除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3510757" y="1463564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用布尔表达式实现条件测试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637266"/>
              </p:ext>
            </p:extLst>
          </p:nvPr>
        </p:nvGraphicFramePr>
        <p:xfrm>
          <a:off x="2138735" y="2510009"/>
          <a:ext cx="7789168" cy="333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0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defPPr>
                        <a:defRPr kumimoji="0"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ts val="4000"/>
                        </a:lnSpc>
                      </a:pPr>
                      <a:r>
                        <a:rPr kumimoji="0" lang="zh-CN" altLang="en-US" sz="2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条件描述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2800" dirty="0"/>
                        <a:t>布尔表达式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800" dirty="0"/>
                        <a:t> </a:t>
                      </a:r>
                      <a:r>
                        <a:rPr lang="zh-CN" altLang="en-US" sz="2800" dirty="0"/>
                        <a:t>数字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zh-CN" altLang="en-US" sz="2800" dirty="0"/>
                        <a:t>大于</a:t>
                      </a:r>
                      <a:r>
                        <a:rPr lang="en-US" altLang="zh-CN" sz="2800" dirty="0"/>
                        <a:t>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800" dirty="0"/>
                        <a:t> </a:t>
                      </a:r>
                      <a:r>
                        <a:rPr lang="en-US" altLang="zh-CN" sz="2800" dirty="0" err="1"/>
                        <a:t>i</a:t>
                      </a:r>
                      <a:r>
                        <a:rPr lang="en-US" altLang="zh-CN" sz="2800" dirty="0"/>
                        <a:t> &gt; 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800" dirty="0"/>
                        <a:t>姓名</a:t>
                      </a:r>
                      <a:r>
                        <a:rPr lang="en-US" altLang="zh-CN" sz="2800" dirty="0"/>
                        <a:t>name</a:t>
                      </a:r>
                      <a:r>
                        <a:rPr lang="zh-CN" altLang="en-US" sz="2800" dirty="0"/>
                        <a:t>是</a:t>
                      </a:r>
                      <a:r>
                        <a:rPr lang="en-US" altLang="zh-CN" sz="2800" dirty="0"/>
                        <a:t>’Tom’</a:t>
                      </a:r>
                      <a:endParaRPr lang="zh-CN" altLang="en-US" sz="28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800" dirty="0"/>
                        <a:t> name  ==  ’Tom’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800" dirty="0"/>
                        <a:t>列表</a:t>
                      </a:r>
                      <a:r>
                        <a:rPr lang="en-US" altLang="zh-CN" sz="2800" dirty="0" err="1"/>
                        <a:t>pl</a:t>
                      </a:r>
                      <a:r>
                        <a:rPr lang="zh-CN" altLang="en-US" sz="2800" dirty="0"/>
                        <a:t>为空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800" dirty="0"/>
                        <a:t> </a:t>
                      </a:r>
                      <a:r>
                        <a:rPr lang="en-US" altLang="zh-CN" sz="2800" dirty="0" err="1"/>
                        <a:t>len</a:t>
                      </a:r>
                      <a:r>
                        <a:rPr lang="en-US" altLang="zh-CN" sz="2800" dirty="0"/>
                        <a:t>(</a:t>
                      </a:r>
                      <a:r>
                        <a:rPr lang="en-US" altLang="zh-CN" sz="2800" dirty="0" err="1"/>
                        <a:t>pl</a:t>
                      </a:r>
                      <a:r>
                        <a:rPr lang="en-US" altLang="zh-CN" sz="2800" dirty="0"/>
                        <a:t>) == 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字符串</a:t>
                      </a:r>
                      <a:r>
                        <a:rPr lang="en-US" altLang="zh-CN" sz="2800" dirty="0"/>
                        <a:t>ns</a:t>
                      </a:r>
                      <a:r>
                        <a:rPr lang="zh-CN" altLang="en-US" sz="2800" dirty="0"/>
                        <a:t>长度小于</a:t>
                      </a:r>
                      <a:r>
                        <a:rPr lang="en-US" altLang="zh-CN" sz="2800" dirty="0"/>
                        <a:t>2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 </a:t>
                      </a:r>
                      <a:r>
                        <a:rPr lang="en-US" altLang="zh-CN" sz="2800" dirty="0" err="1"/>
                        <a:t>len</a:t>
                      </a:r>
                      <a:r>
                        <a:rPr lang="en-US" altLang="zh-CN" sz="2800" dirty="0"/>
                        <a:t>(ns) &lt; 2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dirty="0"/>
                        <a:t>年份</a:t>
                      </a:r>
                      <a:r>
                        <a:rPr lang="en-US" altLang="zh-CN" sz="2800" dirty="0"/>
                        <a:t>year</a:t>
                      </a:r>
                      <a:r>
                        <a:rPr lang="zh-CN" altLang="en-US" sz="2800" dirty="0"/>
                        <a:t>整除</a:t>
                      </a:r>
                      <a:r>
                        <a:rPr lang="en-US" altLang="zh-CN" sz="2800" dirty="0"/>
                        <a:t>4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 year % 4 == 0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4767511" y="146356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850703" y="2133650"/>
            <a:ext cx="8905518" cy="3600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及格与否</a:t>
            </a:r>
            <a:b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 = float(input(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输入分数：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score &gt;= 60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不及格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9" name="线形标注 2(无边框) 8"/>
          <p:cNvSpPr/>
          <p:nvPr/>
        </p:nvSpPr>
        <p:spPr>
          <a:xfrm>
            <a:off x="6056536" y="3717826"/>
            <a:ext cx="4513030" cy="1368152"/>
          </a:xfrm>
          <a:prstGeom prst="callout2">
            <a:avLst>
              <a:gd name="adj1" fmla="val 47286"/>
              <a:gd name="adj2" fmla="val -280"/>
              <a:gd name="adj3" fmla="val -3063"/>
              <a:gd name="adj4" fmla="val -9300"/>
              <a:gd name="adj5" fmla="val -7136"/>
              <a:gd name="adj6" fmla="val -26929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score &gt;= 60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是布尔表达式，用于检查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的值是否大于等于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4767511" y="146356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085117" y="1986784"/>
            <a:ext cx="8766586" cy="41764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猜数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numStr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input(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输入你猜的数：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numStr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== 5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你赢了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marL="0" indent="0"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0" indent="0"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你输了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pPr marL="0" indent="0"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程序结束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0" name="线形标注 2(无边框) 9"/>
          <p:cNvSpPr/>
          <p:nvPr/>
        </p:nvSpPr>
        <p:spPr>
          <a:xfrm>
            <a:off x="6387706" y="3419443"/>
            <a:ext cx="4104456" cy="1008112"/>
          </a:xfrm>
          <a:prstGeom prst="callout2">
            <a:avLst>
              <a:gd name="adj1" fmla="val 47286"/>
              <a:gd name="adj2" fmla="val -280"/>
              <a:gd name="adj3" fmla="val 53520"/>
              <a:gd name="adj4" fmla="val -23248"/>
              <a:gd name="adj5" fmla="val 24913"/>
              <a:gd name="adj6" fmla="val -44480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==5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是布尔表达式，用于检查</a:t>
            </a:r>
            <a:r>
              <a:rPr lang="en-US" altLang="zh-CN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的值是否等于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endParaRPr lang="zh-CN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4767511" y="146356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1994719" y="2277666"/>
            <a:ext cx="9289032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 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满分吗</a:t>
            </a:r>
            <a:b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score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输入分数：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score != 100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没有满分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1" name="线形标注 2(无边框) 10"/>
          <p:cNvSpPr/>
          <p:nvPr/>
        </p:nvSpPr>
        <p:spPr>
          <a:xfrm>
            <a:off x="6315199" y="3357786"/>
            <a:ext cx="4824536" cy="1152128"/>
          </a:xfrm>
          <a:prstGeom prst="callout2">
            <a:avLst>
              <a:gd name="adj1" fmla="val 47286"/>
              <a:gd name="adj2" fmla="val -280"/>
              <a:gd name="adj3" fmla="val 14188"/>
              <a:gd name="adj4" fmla="val -9000"/>
              <a:gd name="adj5" fmla="val 10370"/>
              <a:gd name="adj6" fmla="val -24732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score!=100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是布尔表达式，用于检查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的值是否不等于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100.</a:t>
            </a:r>
            <a:endParaRPr lang="zh-CN" altLang="en-US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4767511" y="1463564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994719" y="2277666"/>
          <a:ext cx="778916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6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defPPr>
                        <a:defRPr kumimoji="0"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/>
                        <a:t>比较运算符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/>
                        <a:t>名称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zh-CN" altLang="en-US" sz="2400" dirty="0"/>
                        <a:t>举例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400" dirty="0"/>
                        <a:t> &gt;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400" dirty="0"/>
                        <a:t>大于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400" dirty="0"/>
                        <a:t> a &gt; 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400" dirty="0"/>
                        <a:t>&lt;</a:t>
                      </a:r>
                      <a:endParaRPr lang="zh-CN" altLang="en-US" sz="2400" dirty="0"/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400" dirty="0"/>
                        <a:t>小于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400" dirty="0"/>
                        <a:t> score &lt; 60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400" dirty="0"/>
                        <a:t>==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2400" dirty="0"/>
                        <a:t>等于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2400" dirty="0"/>
                        <a:t> r == 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&gt;=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大于等于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/>
                        <a:t> score</a:t>
                      </a:r>
                      <a:r>
                        <a:rPr lang="en-US" altLang="zh-CN" sz="2400" baseline="0"/>
                        <a:t> &gt;= 60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&lt;=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小于等于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 score &lt;= 89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!=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不等于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kumimoji="0"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umimoji="0" lang="zh-C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/>
                        <a:t> score != 100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3" name="矩形 2"/>
          <p:cNvSpPr/>
          <p:nvPr/>
        </p:nvSpPr>
        <p:spPr>
          <a:xfrm>
            <a:off x="3228250" y="1831818"/>
            <a:ext cx="5211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表达式中的多重条件如何实现？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626567" y="2651344"/>
            <a:ext cx="10873208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思考：</a:t>
            </a:r>
            <a:r>
              <a:rPr lang="zh-CN" altLang="en-US" dirty="0"/>
              <a:t>完成以下功能的程序该怎么写？</a:t>
            </a:r>
            <a:endParaRPr lang="en-US" altLang="zh-CN" dirty="0"/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zh-CN" altLang="en-US" dirty="0"/>
              <a:t>输入年龄和工龄，如果年龄小于</a:t>
            </a:r>
            <a:r>
              <a:rPr lang="en-US" altLang="zh-CN" dirty="0"/>
              <a:t>45</a:t>
            </a:r>
            <a:r>
              <a:rPr lang="zh-CN" altLang="en-US" dirty="0"/>
              <a:t>岁，并且工龄超过</a:t>
            </a:r>
            <a:r>
              <a:rPr lang="en-US" altLang="zh-CN" dirty="0"/>
              <a:t>3</a:t>
            </a:r>
            <a:r>
              <a:rPr lang="zh-CN" altLang="en-US" dirty="0"/>
              <a:t>年（含），那么输出“你被录用了”，否则输出“对不起，你没有被录用。”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、条件表达式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202631" y="170160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用</a:t>
            </a:r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实现“而且”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1525971" y="2558852"/>
            <a:ext cx="6912768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br>
              <a:rPr lang="en-US" altLang="zh-CN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输入年龄：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输入工龄：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45 and </a:t>
            </a:r>
            <a:r>
              <a:rPr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gl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&gt;= 3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你被录用了。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对不起，你没有被录用。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482551" y="1053530"/>
            <a:ext cx="10873208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思考：</a:t>
            </a:r>
            <a:r>
              <a:rPr lang="zh-CN" altLang="en-US" dirty="0"/>
              <a:t>完成以下功能的程序该怎么写？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输入</a:t>
            </a:r>
            <a:r>
              <a:rPr lang="en-US" altLang="zh-CN" dirty="0"/>
              <a:t>Python</a:t>
            </a:r>
            <a:r>
              <a:rPr lang="zh-CN" altLang="en-US" dirty="0"/>
              <a:t>成绩和数据库原理成绩，如果两门课中有一门超过</a:t>
            </a:r>
            <a:r>
              <a:rPr lang="en-US" altLang="zh-CN" dirty="0"/>
              <a:t>90</a:t>
            </a:r>
            <a:r>
              <a:rPr lang="zh-CN" altLang="en-US" dirty="0"/>
              <a:t>分（含），那么输出“获得参赛资格”，否则输出“没有获得参赛资格”。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058615" y="105353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实现“或者”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1994719" y="2133650"/>
            <a:ext cx="8064896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br>
              <a:rPr lang="en-US" altLang="zh-CN" sz="2800" i="1" dirty="0"/>
            </a:br>
            <a:r>
              <a:rPr lang="en-US" altLang="zh-CN" sz="2800" dirty="0" err="1"/>
              <a:t>py</a:t>
            </a:r>
            <a:r>
              <a:rPr lang="en-US" altLang="zh-CN" sz="2800" dirty="0"/>
              <a:t> = float(input(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输入</a:t>
            </a:r>
            <a:r>
              <a:rPr lang="en-US" altLang="zh-CN" sz="2800" b="1" dirty="0"/>
              <a:t>Python</a:t>
            </a:r>
            <a:r>
              <a:rPr lang="zh-CN" altLang="en-US" sz="2800" b="1" dirty="0"/>
              <a:t>成绩：</a:t>
            </a:r>
            <a:r>
              <a:rPr lang="en-US" altLang="zh-CN" sz="2800" b="1" dirty="0"/>
              <a:t>”</a:t>
            </a:r>
            <a:r>
              <a:rPr lang="en-US" altLang="zh-CN" sz="2800" dirty="0"/>
              <a:t>))</a:t>
            </a:r>
            <a:br>
              <a:rPr lang="en-US" altLang="zh-CN" sz="2800" dirty="0"/>
            </a:br>
            <a:r>
              <a:rPr lang="en-US" altLang="zh-CN" sz="2800" dirty="0" err="1"/>
              <a:t>db</a:t>
            </a:r>
            <a:r>
              <a:rPr lang="en-US" altLang="zh-CN" sz="2800" dirty="0"/>
              <a:t> = float(input(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输入数据库设计成绩：</a:t>
            </a:r>
            <a:r>
              <a:rPr lang="en-US" altLang="zh-CN" sz="2800" b="1" dirty="0"/>
              <a:t>”</a:t>
            </a:r>
            <a:r>
              <a:rPr lang="en-US" altLang="zh-CN" sz="2800" dirty="0"/>
              <a:t>))</a:t>
            </a:r>
            <a:br>
              <a:rPr lang="en-US" altLang="zh-CN" sz="2800" dirty="0"/>
            </a:br>
            <a:br>
              <a:rPr lang="en-US" altLang="zh-CN" sz="2800" dirty="0"/>
            </a:br>
            <a:r>
              <a:rPr lang="en-US" altLang="zh-CN" sz="2800" b="1" dirty="0"/>
              <a:t>if </a:t>
            </a:r>
            <a:r>
              <a:rPr lang="en-US" altLang="zh-CN" sz="2800" b="1" dirty="0" err="1">
                <a:solidFill>
                  <a:srgbClr val="FF0000"/>
                </a:solidFill>
              </a:rPr>
              <a:t>py</a:t>
            </a:r>
            <a:r>
              <a:rPr lang="en-US" altLang="zh-CN" sz="2800" b="1" dirty="0">
                <a:solidFill>
                  <a:srgbClr val="FF0000"/>
                </a:solidFill>
              </a:rPr>
              <a:t> &gt;= 90.0 or </a:t>
            </a:r>
            <a:r>
              <a:rPr lang="en-US" altLang="zh-CN" sz="2800" b="1" dirty="0" err="1">
                <a:solidFill>
                  <a:srgbClr val="FF0000"/>
                </a:solidFill>
              </a:rPr>
              <a:t>db</a:t>
            </a:r>
            <a:r>
              <a:rPr lang="en-US" altLang="zh-CN" sz="2800" b="1" dirty="0">
                <a:solidFill>
                  <a:srgbClr val="FF0000"/>
                </a:solidFill>
              </a:rPr>
              <a:t> &gt;= 90.0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获得参赛资格</a:t>
            </a:r>
            <a:r>
              <a:rPr lang="en-US" altLang="zh-CN" sz="2800" b="1" dirty="0"/>
              <a:t>”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b="1" dirty="0"/>
              <a:t>else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b="1" dirty="0"/>
              <a:t>“</a:t>
            </a:r>
            <a:r>
              <a:rPr lang="zh-CN" altLang="en-US" sz="2800" b="1" dirty="0"/>
              <a:t>没有获得参赛资格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、其他</a:t>
            </a:r>
          </a:p>
        </p:txBody>
      </p:sp>
      <p:sp>
        <p:nvSpPr>
          <p:cNvPr id="3" name="矩形 2"/>
          <p:cNvSpPr/>
          <p:nvPr/>
        </p:nvSpPr>
        <p:spPr>
          <a:xfrm>
            <a:off x="2498775" y="1568314"/>
            <a:ext cx="61936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特定值是否在列表中？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1994719" y="2493690"/>
            <a:ext cx="8280920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用</a:t>
            </a:r>
            <a:r>
              <a:rPr lang="en-US" altLang="zh-CN" b="0" dirty="0"/>
              <a:t>in</a:t>
            </a:r>
            <a:r>
              <a:rPr lang="zh-CN" altLang="en-US" b="0" dirty="0"/>
              <a:t>操作符检查特定值在列表中</a:t>
            </a:r>
            <a:endParaRPr lang="en-US" altLang="zh-CN" b="0" dirty="0"/>
          </a:p>
          <a:p>
            <a:r>
              <a:rPr lang="zh-CN" altLang="en-US" b="0" dirty="0"/>
              <a:t>用</a:t>
            </a:r>
            <a:r>
              <a:rPr lang="en-US" altLang="zh-CN" b="0" dirty="0"/>
              <a:t>not in</a:t>
            </a:r>
            <a:r>
              <a:rPr lang="zh-CN" altLang="en-US" b="0" dirty="0"/>
              <a:t>操作符检查特定值不在列表中</a:t>
            </a:r>
            <a:endParaRPr lang="en-US" altLang="zh-CN" b="0" dirty="0"/>
          </a:p>
          <a:p>
            <a:r>
              <a:rPr lang="zh-CN" altLang="en-US" b="0" dirty="0"/>
              <a:t>用</a:t>
            </a:r>
            <a:r>
              <a:rPr lang="en-US" altLang="zh-CN" b="0" dirty="0"/>
              <a:t>in</a:t>
            </a:r>
            <a:r>
              <a:rPr lang="zh-CN" altLang="en-US" b="0" dirty="0"/>
              <a:t>操作符检查字符串中有特定子串</a:t>
            </a:r>
            <a:endParaRPr lang="en-US" altLang="zh-CN" b="0" dirty="0"/>
          </a:p>
          <a:p>
            <a:pPr lvl="1"/>
            <a:endParaRPr lang="en-US" altLang="zh-CN" b="0" dirty="0"/>
          </a:p>
          <a:p>
            <a:pPr lvl="1"/>
            <a:endParaRPr lang="en-US" altLang="zh-CN" b="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、其他</a:t>
            </a:r>
          </a:p>
        </p:txBody>
      </p:sp>
      <p:sp>
        <p:nvSpPr>
          <p:cNvPr id="3" name="矩形 2"/>
          <p:cNvSpPr/>
          <p:nvPr/>
        </p:nvSpPr>
        <p:spPr>
          <a:xfrm>
            <a:off x="2714799" y="1242113"/>
            <a:ext cx="61936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特定值是否在列表中？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1002921" y="2118369"/>
            <a:ext cx="9991612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有这种水果吗”程序怎么写？</a:t>
            </a:r>
            <a:endParaRPr lang="en-US" altLang="zh-CN" dirty="0"/>
          </a:p>
          <a:p>
            <a:pPr lvl="1"/>
            <a:r>
              <a:rPr lang="zh-CN" altLang="en-US" dirty="0"/>
              <a:t>背景：水果店卖水果。总有顾客问有</a:t>
            </a:r>
            <a:r>
              <a:rPr lang="en-US" altLang="zh-CN" dirty="0"/>
              <a:t>xx</a:t>
            </a:r>
            <a:r>
              <a:rPr lang="zh-CN" altLang="en-US" dirty="0"/>
              <a:t>水果卖吗。写一个程序来查询有没有</a:t>
            </a:r>
            <a:r>
              <a:rPr lang="en-US" altLang="zh-CN" dirty="0"/>
              <a:t>xx</a:t>
            </a:r>
            <a:r>
              <a:rPr lang="zh-CN" altLang="en-US" dirty="0"/>
              <a:t>水果。</a:t>
            </a:r>
            <a:endParaRPr lang="en-US" altLang="zh-CN" dirty="0"/>
          </a:p>
          <a:p>
            <a:pPr lvl="1"/>
            <a:r>
              <a:rPr lang="zh-CN" altLang="en-US" dirty="0"/>
              <a:t>功能：程序中存储一份水果清单，输入水果名称，如果水果在清单中，输出“有货”，否则输出“没货”。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338535" y="98152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）运用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操作符判断在列表中吗？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1346647" y="1989634"/>
            <a:ext cx="10369152" cy="410445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br>
              <a:rPr lang="en-US" altLang="zh-CN" sz="2800" i="1" dirty="0"/>
            </a:br>
            <a:r>
              <a:rPr lang="en-US" altLang="zh-CN" sz="2800" dirty="0"/>
              <a:t>fruits = [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红富士</a:t>
            </a:r>
            <a:r>
              <a:rPr lang="en-US" altLang="zh-CN" sz="2800" b="1" dirty="0"/>
              <a:t>'</a:t>
            </a:r>
            <a:r>
              <a:rPr lang="en-US" altLang="zh-CN" sz="2800" dirty="0"/>
              <a:t>, 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龙眼</a:t>
            </a:r>
            <a:r>
              <a:rPr lang="en-US" altLang="zh-CN" sz="2800" b="1" dirty="0"/>
              <a:t>'</a:t>
            </a:r>
            <a:r>
              <a:rPr lang="en-US" altLang="zh-CN" sz="2800" dirty="0"/>
              <a:t>, 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荔枝</a:t>
            </a:r>
            <a:r>
              <a:rPr lang="en-US" altLang="zh-CN" sz="2800" b="1" dirty="0"/>
              <a:t>'</a:t>
            </a:r>
            <a:r>
              <a:rPr lang="en-US" altLang="zh-CN" sz="2800" dirty="0"/>
              <a:t>, 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贡梨</a:t>
            </a:r>
            <a:r>
              <a:rPr lang="en-US" altLang="zh-CN" sz="2800" b="1" dirty="0"/>
              <a:t>'</a:t>
            </a:r>
            <a:r>
              <a:rPr lang="en-US" altLang="zh-CN" sz="2800" dirty="0"/>
              <a:t>, 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黄元帅</a:t>
            </a:r>
            <a:r>
              <a:rPr lang="en-US" altLang="zh-CN" sz="2800" b="1" dirty="0"/>
              <a:t>'</a:t>
            </a:r>
            <a:r>
              <a:rPr lang="en-US" altLang="zh-CN" sz="2800" dirty="0"/>
              <a:t>, 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布林</a:t>
            </a:r>
            <a:r>
              <a:rPr lang="en-US" altLang="zh-CN" sz="2800" b="1" dirty="0"/>
              <a:t>'</a:t>
            </a:r>
            <a:r>
              <a:rPr lang="en-US" altLang="zh-CN" sz="2800" dirty="0"/>
              <a:t>, </a:t>
            </a:r>
            <a:r>
              <a:rPr lang="en-US" altLang="zh-CN" sz="2800" b="1" dirty="0"/>
              <a:t>'</a:t>
            </a:r>
            <a:r>
              <a:rPr lang="zh-CN" altLang="en-US" sz="2800" b="1" dirty="0"/>
              <a:t>水蜜桃</a:t>
            </a:r>
            <a:r>
              <a:rPr lang="en-US" altLang="zh-CN" sz="2800" b="1" dirty="0"/>
              <a:t>'</a:t>
            </a:r>
            <a:r>
              <a:rPr lang="en-US" altLang="zh-CN" sz="2800" dirty="0"/>
              <a:t>]</a:t>
            </a:r>
            <a:br>
              <a:rPr lang="en-US" altLang="zh-CN" sz="2800" dirty="0"/>
            </a:br>
            <a:r>
              <a:rPr lang="en-US" altLang="zh-CN" sz="2800" dirty="0"/>
              <a:t>query = input(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输入要查询的水果：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b="1" dirty="0"/>
              <a:t>if </a:t>
            </a:r>
            <a:r>
              <a:rPr lang="en-US" altLang="zh-CN" sz="2800" b="1" dirty="0">
                <a:solidFill>
                  <a:srgbClr val="FF0000"/>
                </a:solidFill>
              </a:rPr>
              <a:t>query in fruits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有货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b="1" dirty="0"/>
              <a:t>else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没货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0" name="线形标注 2(无边框) 9"/>
          <p:cNvSpPr/>
          <p:nvPr/>
        </p:nvSpPr>
        <p:spPr>
          <a:xfrm>
            <a:off x="5595119" y="3717826"/>
            <a:ext cx="5616624" cy="2160240"/>
          </a:xfrm>
          <a:prstGeom prst="callout2">
            <a:avLst>
              <a:gd name="adj1" fmla="val 47286"/>
              <a:gd name="adj2" fmla="val -280"/>
              <a:gd name="adj3" fmla="val -3063"/>
              <a:gd name="adj4" fmla="val -9300"/>
              <a:gd name="adj5" fmla="val -8438"/>
              <a:gd name="adj6" fmla="val -27869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此处实现了“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水果在列表中”这一条件测试。</a:t>
            </a:r>
            <a:endParaRPr lang="en-US" altLang="zh-CN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query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变量值在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fruits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列表中，则表达式“</a:t>
            </a:r>
            <a:r>
              <a:rPr lang="en-US" altLang="zh-CN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query in fruits</a:t>
            </a: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”为真，否则为假。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、其他</a:t>
            </a:r>
            <a:endParaRPr lang="zh-CN" alt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14799" y="1242113"/>
            <a:ext cx="61936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特定值是否在列表中？</a:t>
            </a:r>
          </a:p>
        </p:txBody>
      </p:sp>
      <p:sp>
        <p:nvSpPr>
          <p:cNvPr id="13" name="内容占位符 2"/>
          <p:cNvSpPr>
            <a:spLocks noGrp="1"/>
          </p:cNvSpPr>
          <p:nvPr/>
        </p:nvSpPr>
        <p:spPr>
          <a:xfrm>
            <a:off x="1773025" y="2349674"/>
            <a:ext cx="9438717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“生词清单”程序怎么写？</a:t>
            </a:r>
            <a:endParaRPr lang="en-US" altLang="zh-CN" dirty="0"/>
          </a:p>
          <a:p>
            <a:pPr lvl="1"/>
            <a:r>
              <a:rPr lang="zh-CN" altLang="en-US" dirty="0"/>
              <a:t>不断输入生词（不会的英文单词），存入生词清单中。</a:t>
            </a:r>
            <a:endParaRPr lang="en-US" altLang="zh-CN" dirty="0"/>
          </a:p>
          <a:p>
            <a:pPr lvl="1"/>
            <a:r>
              <a:rPr lang="zh-CN" altLang="en-US" dirty="0"/>
              <a:t>如果生词已经出现在清单中，则不重复存储。</a:t>
            </a:r>
            <a:endParaRPr lang="en-US" altLang="zh-CN" dirty="0"/>
          </a:p>
          <a:p>
            <a:pPr lvl="1"/>
            <a:r>
              <a:rPr lang="zh-CN" altLang="en-US" dirty="0"/>
              <a:t>一开始，生词清单是空的。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338535" y="98152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）运用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 in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操作符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2281565" y="1838772"/>
            <a:ext cx="8712968" cy="43924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r>
              <a:rPr lang="en-US" altLang="zh-CN" sz="2800" i="1" dirty="0"/>
              <a:t>  </a:t>
            </a:r>
            <a:r>
              <a:rPr lang="zh-CN" altLang="en-US" sz="2800" i="1" dirty="0"/>
              <a:t>生词清单</a:t>
            </a:r>
            <a:br>
              <a:rPr lang="zh-CN" altLang="en-US" sz="2800" i="1" dirty="0"/>
            </a:br>
            <a:r>
              <a:rPr lang="en-US" altLang="zh-CN" sz="2800" dirty="0" err="1"/>
              <a:t>new_words</a:t>
            </a:r>
            <a:r>
              <a:rPr lang="en-US" altLang="zh-CN" sz="2800" dirty="0"/>
              <a:t> = []</a:t>
            </a:r>
            <a:br>
              <a:rPr lang="en-US" altLang="zh-CN" sz="2800" dirty="0"/>
            </a:br>
            <a:r>
              <a:rPr lang="en-US" altLang="zh-CN" sz="2800" b="1" dirty="0"/>
              <a:t>for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</a:t>
            </a:r>
            <a:r>
              <a:rPr lang="en-US" altLang="zh-CN" sz="2800" b="1" dirty="0"/>
              <a:t>in </a:t>
            </a:r>
            <a:r>
              <a:rPr lang="en-US" altLang="zh-CN" sz="2800" dirty="0"/>
              <a:t>range(1, 101):</a:t>
            </a:r>
            <a:br>
              <a:rPr lang="en-US" altLang="zh-CN" sz="2800" dirty="0"/>
            </a:br>
            <a:r>
              <a:rPr lang="en-US" altLang="zh-CN" sz="2800" dirty="0"/>
              <a:t>    word = input(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输入生词：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dirty="0"/>
              <a:t>    </a:t>
            </a:r>
            <a:r>
              <a:rPr lang="en-US" altLang="zh-CN" sz="2800" b="1" dirty="0"/>
              <a:t>if </a:t>
            </a:r>
            <a:r>
              <a:rPr lang="en-US" altLang="zh-CN" sz="2800" dirty="0"/>
              <a:t>word == </a:t>
            </a:r>
            <a:r>
              <a:rPr lang="en-US" altLang="zh-CN" sz="2800" b="1" dirty="0"/>
              <a:t>"*"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    </a:t>
            </a:r>
            <a:r>
              <a:rPr lang="en-US" altLang="zh-CN" sz="2800" b="1" dirty="0"/>
              <a:t>break</a:t>
            </a:r>
            <a:r>
              <a:rPr lang="en-US" altLang="zh-CN" sz="2800" dirty="0"/>
              <a:t>;</a:t>
            </a:r>
            <a:br>
              <a:rPr lang="en-US" altLang="zh-CN" sz="2800" dirty="0"/>
            </a:br>
            <a:r>
              <a:rPr lang="en-US" altLang="zh-CN" sz="2800" dirty="0"/>
              <a:t>    </a:t>
            </a:r>
            <a:r>
              <a:rPr lang="en-US" altLang="zh-CN" sz="2800" b="1" dirty="0"/>
              <a:t>if </a:t>
            </a:r>
            <a:r>
              <a:rPr lang="en-US" altLang="zh-CN" sz="2800" b="1" dirty="0">
                <a:solidFill>
                  <a:srgbClr val="FF0000"/>
                </a:solidFill>
              </a:rPr>
              <a:t>word not in </a:t>
            </a:r>
            <a:r>
              <a:rPr lang="en-US" altLang="zh-CN" sz="2800" b="1" dirty="0" err="1">
                <a:solidFill>
                  <a:srgbClr val="FF0000"/>
                </a:solidFill>
              </a:rPr>
              <a:t>new_words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    </a:t>
            </a:r>
            <a:r>
              <a:rPr lang="en-US" altLang="zh-CN" sz="2800" dirty="0" err="1"/>
              <a:t>new_words.append</a:t>
            </a:r>
            <a:r>
              <a:rPr lang="en-US" altLang="zh-CN" sz="2800" dirty="0"/>
              <a:t>(word)</a:t>
            </a:r>
            <a:br>
              <a:rPr lang="en-US" altLang="zh-CN" sz="2800" dirty="0"/>
            </a:br>
            <a:br>
              <a:rPr lang="en-US" altLang="zh-CN" sz="2800" dirty="0"/>
            </a:br>
            <a:r>
              <a:rPr lang="en-US" altLang="zh-CN" sz="2800" dirty="0"/>
              <a:t>print(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生词清单：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new_words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1" name="线形标注 2(无边框) 10"/>
          <p:cNvSpPr/>
          <p:nvPr/>
        </p:nvSpPr>
        <p:spPr>
          <a:xfrm>
            <a:off x="7323311" y="2956411"/>
            <a:ext cx="4032867" cy="1090661"/>
          </a:xfrm>
          <a:prstGeom prst="callout2">
            <a:avLst>
              <a:gd name="adj1" fmla="val 47286"/>
              <a:gd name="adj2" fmla="val -280"/>
              <a:gd name="adj3" fmla="val 94131"/>
              <a:gd name="adj4" fmla="val -5889"/>
              <a:gd name="adj5" fmla="val 126413"/>
              <a:gd name="adj6" fmla="val -1669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此处实现了“输入的单词没有在清单中”这一条件测试。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94519" y="915912"/>
            <a:ext cx="8245415" cy="652402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en-US" altLang="zh-CN" sz="2800" b="1" ker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、其他</a:t>
            </a:r>
            <a:endParaRPr lang="zh-CN" altLang="en-US" sz="2800" b="1" kern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14799" y="1242113"/>
            <a:ext cx="61936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特定值是否在列表中？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1773025" y="2349674"/>
            <a:ext cx="9510725" cy="3223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3200" b="1" kern="12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charset="-122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8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400" b="1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0" lang="zh-CN" sz="2400" b="1" kern="1200">
                <a:solidFill>
                  <a:schemeClr val="tx1"/>
                </a:solidFill>
                <a:latin typeface="+mn-lt"/>
                <a:ea typeface="+mn-ea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0" lang="zh-CN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“文内检索”程序怎么写？</a:t>
            </a:r>
            <a:endParaRPr lang="en-US" altLang="zh-CN" dirty="0"/>
          </a:p>
          <a:p>
            <a:pPr lvl="1"/>
            <a:r>
              <a:rPr lang="zh-CN" altLang="en-US" dirty="0"/>
              <a:t>在一篇长文中，检索某个词有没有出现。</a:t>
            </a:r>
            <a:endParaRPr lang="en-US" altLang="zh-CN" dirty="0"/>
          </a:p>
          <a:p>
            <a:pPr lvl="1"/>
            <a:r>
              <a:rPr lang="zh-CN" altLang="en-US" dirty="0"/>
              <a:t>被检索的词语通过键盘输入。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83551" y="189434"/>
            <a:ext cx="30219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 选择结构</a:t>
            </a:r>
            <a:endParaRPr 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338535" y="98152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0" lang="zh-CN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）运用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操作符搜索子串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1490663" y="1989634"/>
            <a:ext cx="9145016" cy="4320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r>
              <a:rPr lang="en-US" altLang="zh-CN" sz="2800" i="1" dirty="0"/>
              <a:t>  </a:t>
            </a:r>
            <a:r>
              <a:rPr lang="zh-CN" altLang="en-US" sz="2800" i="1" dirty="0"/>
              <a:t>子串搜索</a:t>
            </a:r>
            <a:endParaRPr lang="en-US" altLang="zh-CN" sz="2800" i="1" dirty="0"/>
          </a:p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下面语句中，用三重引号括起大段文字（这里省略为</a:t>
            </a:r>
            <a:r>
              <a:rPr lang="en-US" altLang="zh-CN" sz="2800" i="1" dirty="0"/>
              <a:t>…</a:t>
            </a:r>
            <a:r>
              <a:rPr lang="zh-CN" altLang="en-US" sz="2800" i="1" dirty="0"/>
              <a:t>）</a:t>
            </a:r>
            <a:endParaRPr lang="en-US" altLang="zh-CN" sz="2800" i="1" dirty="0"/>
          </a:p>
          <a:p>
            <a:pPr marL="0" indent="0">
              <a:buNone/>
            </a:pPr>
            <a:r>
              <a:rPr lang="en-US" altLang="zh-CN" sz="2800" dirty="0"/>
              <a:t>article = </a:t>
            </a:r>
            <a:r>
              <a:rPr lang="en-US" altLang="zh-CN" sz="2800" b="1" dirty="0"/>
              <a:t>'''Python</a:t>
            </a:r>
            <a:r>
              <a:rPr lang="zh-CN" altLang="en-US" sz="2800" b="1" dirty="0"/>
              <a:t>优势</a:t>
            </a:r>
            <a:r>
              <a:rPr lang="en-US" altLang="zh-CN" sz="2800" b="1" dirty="0"/>
              <a:t>...''' </a:t>
            </a:r>
            <a:br>
              <a:rPr lang="en-US" altLang="zh-CN" sz="2800" b="1" dirty="0"/>
            </a:br>
            <a:r>
              <a:rPr lang="en-US" altLang="zh-CN" sz="2800" dirty="0"/>
              <a:t>word = input(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输入你要查询的词：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b="1" dirty="0"/>
              <a:t>if </a:t>
            </a:r>
            <a:r>
              <a:rPr lang="en-US" altLang="zh-CN" sz="2800" b="1" dirty="0">
                <a:solidFill>
                  <a:srgbClr val="FF0000"/>
                </a:solidFill>
              </a:rPr>
              <a:t>word in article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找到：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, word)</a:t>
            </a:r>
            <a:br>
              <a:rPr lang="en-US" altLang="zh-CN" sz="2800" dirty="0"/>
            </a:br>
            <a:r>
              <a:rPr lang="en-US" altLang="zh-CN" sz="2800" b="1" dirty="0"/>
              <a:t>else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没找到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0" name="线形标注 2(无边框) 9"/>
          <p:cNvSpPr/>
          <p:nvPr/>
        </p:nvSpPr>
        <p:spPr>
          <a:xfrm>
            <a:off x="6063171" y="3861842"/>
            <a:ext cx="4104456" cy="1008112"/>
          </a:xfrm>
          <a:prstGeom prst="callout2">
            <a:avLst>
              <a:gd name="adj1" fmla="val 47286"/>
              <a:gd name="adj2" fmla="val -280"/>
              <a:gd name="adj3" fmla="val 29439"/>
              <a:gd name="adj4" fmla="val -15165"/>
              <a:gd name="adj5" fmla="val 25621"/>
              <a:gd name="adj6" fmla="val -33565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此处实现了“单词在文章中”这一条件测试。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4.3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852805" y="883920"/>
            <a:ext cx="1120394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循环结构：用来重复执行一条语句或多条语句的程序结构。其最大的好处在于减少重复书写同一功能代码的工作量。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 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实现。</a:t>
            </a:r>
          </a:p>
        </p:txBody>
      </p:sp>
      <p:pic>
        <p:nvPicPr>
          <p:cNvPr id="4" name="Picture 5" descr="C:\Documents and Settings\鱼不愚\桌面\biz_icon_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099" y="2492896"/>
            <a:ext cx="8856984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/>
          <p:cNvSpPr txBox="1"/>
          <p:nvPr/>
        </p:nvSpPr>
        <p:spPr>
          <a:xfrm>
            <a:off x="3023870" y="2904490"/>
            <a:ext cx="6483350" cy="221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3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可迭代对象：一次返回一个元素的对象。</a:t>
            </a:r>
            <a:endParaRPr lang="en-US" altLang="zh-CN" b="1" dirty="0">
              <a:solidFill>
                <a:srgbClr val="F79646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ts val="30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常见可迭代对象包括：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 如：列表 元组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字典；文件对象；迭代器对象（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是一个对象表示可迭代的数据集合</a:t>
            </a: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）；生成器函数（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yield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语句每次产生一个值</a:t>
            </a:r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b="1" dirty="0">
              <a:solidFill>
                <a:srgbClr val="F79646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564" y="876156"/>
            <a:ext cx="8245415" cy="470017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535" y="1494548"/>
            <a:ext cx="11330671" cy="1234276"/>
          </a:xfrm>
        </p:spPr>
        <p:txBody>
          <a:bodyPr vert="horz" wrap="square" lIns="91456" tIns="45728" rIns="91456" bIns="45728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endParaRPr kumimoji="0" lang="en-US" altLang="zh-CN" sz="280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711" y="1244203"/>
            <a:ext cx="9962519" cy="151216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4558" y="2758800"/>
            <a:ext cx="10898623" cy="4044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ts val="36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b="1" kern="0" dirty="0"/>
              <a:t>功能：每次从序列集合中取出一个值，并把值赋给变量。序列集合可以是元组、列表、字典等数据结构。</a:t>
            </a:r>
            <a:endParaRPr lang="en-US" altLang="zh-CN" b="1" kern="0" dirty="0"/>
          </a:p>
          <a:p>
            <a:pPr marL="342900" lvl="0" indent="-342900" algn="just" defTabSz="9144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b="1" kern="0" dirty="0"/>
              <a:t>说明：</a:t>
            </a:r>
            <a:endParaRPr lang="en-US" altLang="zh-CN" b="1" kern="0" dirty="0"/>
          </a:p>
          <a:p>
            <a:pPr marL="742950" lvl="1" indent="-285750" algn="just" defTabSz="9144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循环通常与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range()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函数一起使用，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range()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函数返回一个列表，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for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循环遍历列表中的元素。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 algn="just" defTabSz="9144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–"/>
              <a:defRPr/>
            </a:pP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range()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函数格式：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range(</a:t>
            </a:r>
            <a:r>
              <a:rPr lang="en-US" altLang="zh-CN" b="1" kern="0" dirty="0" err="1">
                <a:latin typeface="楷体" panose="02010609060101010101" pitchFamily="49" charset="-122"/>
                <a:ea typeface="楷体" panose="02010609060101010101" pitchFamily="49" charset="-122"/>
              </a:rPr>
              <a:t>start,stop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[,step])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，参数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start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表示列表开始值，默认为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；参数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stop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表示列表结束值，不能缺省，循环到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stop-1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停止；参数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step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表示步长，默认值为</a:t>
            </a:r>
            <a:r>
              <a:rPr lang="en-US" altLang="zh-CN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0" indent="-342900" algn="just" defTabSz="914400" eaLnBrk="0" fontAlgn="base" hangingPunct="0"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3200" kern="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3278" y="904667"/>
            <a:ext cx="8245415" cy="724410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循环示例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764" y="1989634"/>
            <a:ext cx="8422005" cy="2526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974090" y="1318260"/>
            <a:ext cx="9471025" cy="411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7655" indent="287655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fontAlgn="base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思考：运用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循环与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对象计算</a:t>
            </a:r>
            <a:r>
              <a:rPr lang="en-US" altLang="zh-CN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1~100 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的偶数和与奇数和。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0"/>
          <a:stretch>
            <a:fillRect/>
          </a:stretch>
        </p:blipFill>
        <p:spPr bwMode="auto">
          <a:xfrm>
            <a:off x="1667510" y="1828800"/>
            <a:ext cx="8863330" cy="4461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F81BD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10543" y="837506"/>
            <a:ext cx="11449272" cy="1539812"/>
          </a:xfrm>
        </p:spPr>
        <p:txBody>
          <a:bodyPr vert="horz" wrap="square" lIns="91456" tIns="45728" rIns="91456" bIns="45728" numCol="1" anchor="b" anchorCtr="0" compatLnSpc="1"/>
          <a:lstStyle/>
          <a:p>
            <a:pPr algn="l">
              <a:lnSpc>
                <a:spcPct val="150000"/>
              </a:lnSpc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练习：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现在有一个列表，这个列表存放的是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个数值，现在希望得到里面每个数字都乘以 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Monaco" charset="0"/>
              </a:rPr>
              <a:t>2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2498775" y="2781722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Num = [12,17,62,21,24,98,23,56,78,11]</a:t>
            </a:r>
          </a:p>
          <a:p>
            <a:r>
              <a:rPr lang="zh-CN" altLang="en-US" sz="2800" dirty="0"/>
              <a:t>Num_New = []</a:t>
            </a:r>
          </a:p>
          <a:p>
            <a:r>
              <a:rPr lang="zh-CN" altLang="en-US" sz="2800" dirty="0"/>
              <a:t>for </a:t>
            </a:r>
            <a:r>
              <a:rPr lang="zh-CN" altLang="en-US" sz="2800" dirty="0">
                <a:solidFill>
                  <a:srgbClr val="FF0000"/>
                </a:solidFill>
              </a:rPr>
              <a:t>n</a:t>
            </a:r>
            <a:r>
              <a:rPr lang="zh-CN" altLang="en-US" sz="2800" dirty="0"/>
              <a:t> in Num:</a:t>
            </a:r>
          </a:p>
          <a:p>
            <a:r>
              <a:rPr lang="zh-CN" altLang="en-US" sz="2800" dirty="0"/>
              <a:t>    Num_New.append(</a:t>
            </a:r>
            <a:r>
              <a:rPr lang="zh-CN" altLang="en-US" sz="2800" dirty="0">
                <a:solidFill>
                  <a:srgbClr val="FF0000"/>
                </a:solidFill>
              </a:rPr>
              <a:t>n*2</a:t>
            </a:r>
            <a:r>
              <a:rPr lang="zh-CN" altLang="en-US" sz="2800" dirty="0"/>
              <a:t>)</a:t>
            </a:r>
          </a:p>
          <a:p>
            <a:r>
              <a:rPr lang="zh-CN" altLang="en-US" sz="2800" dirty="0"/>
              <a:t>    </a:t>
            </a:r>
          </a:p>
          <a:p>
            <a:r>
              <a:rPr lang="zh-CN" altLang="en-US" sz="2800" dirty="0"/>
              <a:t>print (Num_New)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63490" y="730708"/>
            <a:ext cx="3074839" cy="696138"/>
          </a:xfrm>
          <a:prstGeom prst="rect">
            <a:avLst/>
          </a:prstGeom>
        </p:spPr>
        <p:txBody>
          <a:bodyPr vert="horz" wrap="square" lIns="91456" tIns="45728" rIns="91456" bIns="45728" numCol="1" anchor="b" anchorCtr="0" compatLnSpc="1"/>
          <a:lstStyle/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循环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sz="half" idx="4294967295"/>
          </p:nvPr>
        </p:nvSpPr>
        <p:spPr>
          <a:xfrm>
            <a:off x="439836" y="2231913"/>
            <a:ext cx="7920880" cy="595858"/>
          </a:xfrm>
          <a:prstGeom prst="rect">
            <a:avLst/>
          </a:prstGeom>
        </p:spPr>
        <p:txBody>
          <a:bodyPr vert="horz" wrap="square" lIns="91456" tIns="45728" rIns="91456" bIns="45728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格式：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1510" name="Picture 6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8907487" y="2503587"/>
            <a:ext cx="2973387" cy="343058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0543" y="1450905"/>
            <a:ext cx="104411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循环和</a:t>
            </a:r>
            <a:r>
              <a:rPr kumimoji="1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循环不同的是，它的停止条件是个人自己设定的：</a:t>
            </a:r>
            <a:endParaRPr kumimoji="1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4519" y="4437906"/>
            <a:ext cx="8712968" cy="2225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ts val="39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defTabSz="914400" eaLnBrk="0" fontAlgn="base" hangingPunct="0">
              <a:lnSpc>
                <a:spcPts val="39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功能：当条件表达式为真时，依次执行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中的语句，直到循环表达式的值为假。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defTabSz="914400" eaLnBrk="0" fontAlgn="base" hangingPunct="0">
              <a:lnSpc>
                <a:spcPts val="39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zh-CN" altLang="en-US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71592" y="3018315"/>
            <a:ext cx="6099175" cy="104028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 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条件表达式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语句序列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6"/>
          <p:cNvSpPr txBox="1"/>
          <p:nvPr/>
        </p:nvSpPr>
        <p:spPr>
          <a:xfrm>
            <a:off x="1346647" y="837506"/>
            <a:ext cx="8245415" cy="796418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例：求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1+2+3+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/>
              </a:rPr>
              <a:t>…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+100</a:t>
            </a: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（用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while</a:t>
            </a: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循环）</a:t>
            </a:r>
            <a:endParaRPr lang="zh-CN" altLang="en-US" sz="32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1418655" y="1973308"/>
            <a:ext cx="9145016" cy="361672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2800" i="1" dirty="0"/>
              <a:t>#</a:t>
            </a:r>
            <a:r>
              <a:rPr lang="zh-CN" altLang="pt-BR" sz="2800" i="1" dirty="0"/>
              <a:t>例</a:t>
            </a:r>
            <a:r>
              <a:rPr lang="pt-BR" altLang="zh-CN" sz="2800" i="1" dirty="0"/>
              <a:t>   1</a:t>
            </a:r>
            <a:r>
              <a:rPr lang="zh-CN" altLang="pt-BR" sz="2800" i="1" dirty="0"/>
              <a:t>加到</a:t>
            </a:r>
            <a:r>
              <a:rPr lang="pt-BR" altLang="zh-CN" sz="2800" i="1" dirty="0"/>
              <a:t>100</a:t>
            </a:r>
            <a:br>
              <a:rPr lang="pt-BR" altLang="zh-CN" sz="2800" i="1" dirty="0"/>
            </a:br>
            <a:r>
              <a:rPr lang="pt-BR" altLang="zh-CN" sz="2800" dirty="0"/>
              <a:t>sum = 0</a:t>
            </a:r>
            <a:br>
              <a:rPr lang="pt-BR" altLang="zh-CN" sz="2800" dirty="0"/>
            </a:br>
            <a:r>
              <a:rPr lang="pt-BR" altLang="zh-CN" sz="2800" dirty="0"/>
              <a:t>n = 1</a:t>
            </a:r>
            <a:br>
              <a:rPr lang="pt-BR" altLang="zh-CN" sz="2800" dirty="0"/>
            </a:br>
            <a:r>
              <a:rPr lang="pt-BR" altLang="zh-CN" sz="2800" b="1" dirty="0">
                <a:solidFill>
                  <a:srgbClr val="FF0000"/>
                </a:solidFill>
              </a:rPr>
              <a:t>while </a:t>
            </a:r>
            <a:r>
              <a:rPr lang="pt-BR" altLang="zh-CN" sz="2800" dirty="0">
                <a:solidFill>
                  <a:srgbClr val="FF0000"/>
                </a:solidFill>
              </a:rPr>
              <a:t>n &lt;= 100:</a:t>
            </a:r>
            <a:br>
              <a:rPr lang="pt-BR" altLang="zh-CN" sz="2800" dirty="0">
                <a:solidFill>
                  <a:srgbClr val="FF0000"/>
                </a:solidFill>
              </a:rPr>
            </a:br>
            <a:r>
              <a:rPr lang="pt-BR" altLang="zh-CN" sz="2800" dirty="0">
                <a:solidFill>
                  <a:srgbClr val="FF0000"/>
                </a:solidFill>
              </a:rPr>
              <a:t>      sum += n </a:t>
            </a:r>
          </a:p>
          <a:p>
            <a:pPr marL="0" indent="0">
              <a:buNone/>
            </a:pPr>
            <a:r>
              <a:rPr lang="pt-BR" altLang="zh-CN" sz="2800" dirty="0">
                <a:solidFill>
                  <a:srgbClr val="FF0000"/>
                </a:solidFill>
              </a:rPr>
              <a:t>      n += 1</a:t>
            </a:r>
            <a:br>
              <a:rPr lang="pt-BR" altLang="zh-CN" sz="2800" i="1" dirty="0"/>
            </a:br>
            <a:r>
              <a:rPr lang="pt-BR" altLang="zh-CN" sz="2800" dirty="0"/>
              <a:t>print(</a:t>
            </a:r>
            <a:r>
              <a:rPr lang="pt-BR" altLang="zh-CN" sz="2800" b="1" dirty="0"/>
              <a:t>"1+2+...+100="</a:t>
            </a:r>
            <a:r>
              <a:rPr lang="pt-BR" altLang="zh-CN" sz="2800" dirty="0"/>
              <a:t>, sum)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2" name="圆角矩形标注 11"/>
          <p:cNvSpPr/>
          <p:nvPr/>
        </p:nvSpPr>
        <p:spPr>
          <a:xfrm>
            <a:off x="6387207" y="3501802"/>
            <a:ext cx="4608512" cy="1862366"/>
          </a:xfrm>
          <a:prstGeom prst="wedgeRoundRectCallout">
            <a:avLst>
              <a:gd name="adj1" fmla="val -93247"/>
              <a:gd name="adj2" fmla="val -30291"/>
              <a:gd name="adj3" fmla="val 16667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执行流程是：</a:t>
            </a:r>
            <a:endParaRPr lang="en-US" altLang="zh-CN" sz="2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检查布尔表达式。</a:t>
            </a:r>
            <a:endParaRPr lang="en-US" altLang="zh-CN" sz="2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若为真，执行语句块，而后转至步骤</a:t>
            </a: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若为假，跳出循环执行到之后的语句。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6"/>
          <p:cNvSpPr txBox="1"/>
          <p:nvPr/>
        </p:nvSpPr>
        <p:spPr>
          <a:xfrm>
            <a:off x="1346647" y="837506"/>
            <a:ext cx="8245415" cy="796418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练习：反复输入单词，遇到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quit</a:t>
            </a: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退出。</a:t>
            </a:r>
            <a:endParaRPr lang="zh-CN" altLang="en-US" sz="32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1634679" y="1845618"/>
            <a:ext cx="8280920" cy="3816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r>
              <a:rPr lang="en-US" altLang="zh-CN" sz="2800" i="1" dirty="0"/>
              <a:t> </a:t>
            </a:r>
            <a:r>
              <a:rPr lang="zh-CN" altLang="en-US" sz="2800" i="1" dirty="0"/>
              <a:t>反复输入</a:t>
            </a:r>
            <a:br>
              <a:rPr lang="zh-CN" altLang="en-US" sz="2800" i="1" dirty="0"/>
            </a:br>
            <a:br>
              <a:rPr lang="en-US" altLang="zh-CN" sz="2800" i="1" dirty="0"/>
            </a:br>
            <a:r>
              <a:rPr lang="en-US" altLang="zh-CN" sz="2800" dirty="0" err="1"/>
              <a:t>astr</a:t>
            </a:r>
            <a:r>
              <a:rPr lang="en-US" altLang="zh-CN" sz="2800" dirty="0"/>
              <a:t> = input(</a:t>
            </a:r>
            <a:r>
              <a:rPr lang="en-US" altLang="zh-CN" sz="2800" b="1" dirty="0"/>
              <a:t>"--&gt;"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b="1" dirty="0">
                <a:solidFill>
                  <a:srgbClr val="FF0000"/>
                </a:solidFill>
              </a:rPr>
              <a:t>while  </a:t>
            </a:r>
            <a:r>
              <a:rPr lang="en-US" altLang="zh-CN" sz="2800" dirty="0" err="1">
                <a:solidFill>
                  <a:srgbClr val="FF0000"/>
                </a:solidFill>
              </a:rPr>
              <a:t>astr</a:t>
            </a:r>
            <a:r>
              <a:rPr lang="en-US" altLang="zh-CN" sz="2800" dirty="0">
                <a:solidFill>
                  <a:srgbClr val="FF0000"/>
                </a:solidFill>
              </a:rPr>
              <a:t> != </a:t>
            </a:r>
            <a:r>
              <a:rPr lang="en-US" altLang="zh-CN" sz="2800" b="1" dirty="0">
                <a:solidFill>
                  <a:srgbClr val="FF0000"/>
                </a:solidFill>
              </a:rPr>
              <a:t>"quit"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  print(</a:t>
            </a:r>
            <a:r>
              <a:rPr lang="en-US" altLang="zh-CN" sz="2800" dirty="0" err="1">
                <a:solidFill>
                  <a:srgbClr val="FF0000"/>
                </a:solidFill>
              </a:rPr>
              <a:t>astr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>
                <a:solidFill>
                  <a:srgbClr val="FF0000"/>
                </a:solidFill>
              </a:rPr>
              <a:t>      </a:t>
            </a:r>
            <a:r>
              <a:rPr lang="en-US" altLang="zh-CN" sz="2800" dirty="0" err="1">
                <a:solidFill>
                  <a:srgbClr val="FF0000"/>
                </a:solidFill>
              </a:rPr>
              <a:t>astr</a:t>
            </a:r>
            <a:r>
              <a:rPr lang="en-US" altLang="zh-CN" sz="2800" dirty="0">
                <a:solidFill>
                  <a:srgbClr val="FF0000"/>
                </a:solidFill>
              </a:rPr>
              <a:t> = input(</a:t>
            </a:r>
            <a:r>
              <a:rPr lang="en-US" altLang="zh-CN" sz="2800" b="1" dirty="0">
                <a:solidFill>
                  <a:srgbClr val="FF0000"/>
                </a:solidFill>
              </a:rPr>
              <a:t>"--&gt;"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br>
              <a:rPr lang="en-US" altLang="zh-CN" sz="2800" dirty="0">
                <a:solidFill>
                  <a:srgbClr val="FF0000"/>
                </a:solidFill>
              </a:rPr>
            </a:br>
            <a:r>
              <a:rPr lang="en-US" altLang="zh-CN" sz="2800" dirty="0"/>
              <a:t>print(</a:t>
            </a:r>
            <a:r>
              <a:rPr lang="en-US" altLang="zh-CN" sz="2800" b="1" dirty="0"/>
              <a:t>"bye."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83" y="703343"/>
            <a:ext cx="8245415" cy="724410"/>
          </a:xfrm>
        </p:spPr>
        <p:txBody>
          <a:bodyPr vert="horz" wrap="square" lIns="91456" tIns="45728" rIns="91456" bIns="45728" numCol="1" anchor="b" anchorCtr="0" compatLnSpc="1"/>
          <a:lstStyle/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循环和</a:t>
            </a: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循环比较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698575" y="2061642"/>
            <a:ext cx="10657184" cy="2664296"/>
          </a:xfrm>
        </p:spPr>
        <p:txBody>
          <a:bodyPr vert="horz" wrap="square" lIns="91456" tIns="45728" rIns="91456" bIns="45728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一般来说，固定次数的循环问题使用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循环都可以解决，而循环次数不固定的循环问题只能使用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循环解决。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551" y="1053530"/>
            <a:ext cx="8245415" cy="508386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例：计算未知个数数字的总和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1994719" y="1773610"/>
            <a:ext cx="6099175" cy="330334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800" dirty="0"/>
              <a:t>s = input("please enter a number:")</a:t>
            </a:r>
          </a:p>
          <a:p>
            <a:pPr>
              <a:lnSpc>
                <a:spcPts val="3600"/>
              </a:lnSpc>
            </a:pPr>
            <a:r>
              <a:rPr lang="en-US" altLang="zh-CN" sz="2800" dirty="0"/>
              <a:t>total = 0</a:t>
            </a:r>
          </a:p>
          <a:p>
            <a:pPr>
              <a:lnSpc>
                <a:spcPts val="3600"/>
              </a:lnSpc>
            </a:pPr>
            <a:r>
              <a:rPr lang="en-US" altLang="zh-CN" sz="2800" dirty="0"/>
              <a:t>while s!='done':</a:t>
            </a:r>
          </a:p>
          <a:p>
            <a:pPr>
              <a:lnSpc>
                <a:spcPts val="3600"/>
              </a:lnSpc>
            </a:pPr>
            <a:r>
              <a:rPr lang="en-US" altLang="zh-CN" sz="2800" dirty="0"/>
              <a:t>    </a:t>
            </a:r>
            <a:r>
              <a:rPr lang="en-US" altLang="zh-CN" sz="2800" dirty="0" err="1"/>
              <a:t>num</a:t>
            </a:r>
            <a:r>
              <a:rPr lang="en-US" altLang="zh-CN" sz="2800" dirty="0"/>
              <a:t> =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(s)</a:t>
            </a:r>
          </a:p>
          <a:p>
            <a:pPr>
              <a:lnSpc>
                <a:spcPts val="3600"/>
              </a:lnSpc>
            </a:pPr>
            <a:r>
              <a:rPr lang="en-US" altLang="zh-CN" sz="2800" dirty="0"/>
              <a:t>    total = </a:t>
            </a:r>
            <a:r>
              <a:rPr lang="en-US" altLang="zh-CN" sz="2800" dirty="0" err="1"/>
              <a:t>total+num</a:t>
            </a:r>
            <a:endParaRPr lang="en-US" altLang="zh-CN" sz="2800" dirty="0"/>
          </a:p>
          <a:p>
            <a:pPr>
              <a:lnSpc>
                <a:spcPts val="3600"/>
              </a:lnSpc>
            </a:pPr>
            <a:r>
              <a:rPr lang="en-US" altLang="zh-CN" sz="2800" dirty="0"/>
              <a:t>    s = (input('please enter a number:'))</a:t>
            </a:r>
          </a:p>
          <a:p>
            <a:pPr>
              <a:lnSpc>
                <a:spcPts val="3600"/>
              </a:lnSpc>
            </a:pPr>
            <a:r>
              <a:rPr lang="en-US" altLang="zh-CN" sz="2800" dirty="0"/>
              <a:t>print ("The sum is "+</a:t>
            </a:r>
            <a:r>
              <a:rPr lang="en-US" altLang="zh-CN" sz="2800" dirty="0" err="1"/>
              <a:t>str</a:t>
            </a:r>
            <a:r>
              <a:rPr lang="en-US" altLang="zh-CN" sz="2800" dirty="0"/>
              <a:t>(total))</a:t>
            </a:r>
            <a:endParaRPr lang="zh-CN" altLang="en-US" sz="2800" dirty="0"/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33922" y="873531"/>
            <a:ext cx="8245415" cy="600186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例：分别使用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for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while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循环计算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n!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579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178863" y="1849171"/>
            <a:ext cx="5739876" cy="1511580"/>
          </a:xfrm>
        </p:spPr>
      </p:pic>
      <p:sp>
        <p:nvSpPr>
          <p:cNvPr id="24583" name="TextBox 7"/>
          <p:cNvSpPr txBox="1"/>
          <p:nvPr/>
        </p:nvSpPr>
        <p:spPr>
          <a:xfrm>
            <a:off x="825331" y="1848946"/>
            <a:ext cx="219592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使用</a:t>
            </a:r>
            <a:r>
              <a:rPr lang="en-US" altLang="zh-CN" sz="2400" b="1" dirty="0"/>
              <a:t>for</a:t>
            </a:r>
            <a:r>
              <a:rPr lang="zh-CN" altLang="en-US" sz="2400" b="1" dirty="0"/>
              <a:t>循环：</a:t>
            </a:r>
          </a:p>
        </p:txBody>
      </p:sp>
      <p:sp>
        <p:nvSpPr>
          <p:cNvPr id="24584" name="TextBox 8"/>
          <p:cNvSpPr txBox="1"/>
          <p:nvPr/>
        </p:nvSpPr>
        <p:spPr>
          <a:xfrm>
            <a:off x="825331" y="3613539"/>
            <a:ext cx="2197507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使用</a:t>
            </a:r>
            <a:r>
              <a:rPr lang="en-US" altLang="zh-CN" sz="2400" b="1" dirty="0"/>
              <a:t>while</a:t>
            </a:r>
            <a:r>
              <a:rPr lang="zh-CN" altLang="en-US" sz="2400" b="1" dirty="0"/>
              <a:t>循环：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E1E09C-A4A3-0B59-571C-97B5BC3939A0}"/>
              </a:ext>
            </a:extLst>
          </p:cNvPr>
          <p:cNvSpPr txBox="1"/>
          <p:nvPr/>
        </p:nvSpPr>
        <p:spPr>
          <a:xfrm>
            <a:off x="3434879" y="3747239"/>
            <a:ext cx="61361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int(input('Enter an integer &gt;= 0: '))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= 1</a:t>
            </a:r>
            <a:endParaRPr lang="en-US" altLang="zh-C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2</a:t>
            </a:r>
            <a:endParaRPr lang="en-US" altLang="zh-C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 &lt;= n: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fact = fact * </a:t>
            </a:r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endParaRPr lang="en-US" altLang="zh-C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 = i + 1</a:t>
            </a:r>
            <a:endParaRPr lang="en-US" altLang="zh-C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print(str(n) + ' factorial is ' + str(fact))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F0DA22-5956-20F3-86C7-E5B14117A439}"/>
              </a:ext>
            </a:extLst>
          </p:cNvPr>
          <p:cNvSpPr txBox="1"/>
          <p:nvPr/>
        </p:nvSpPr>
        <p:spPr>
          <a:xfrm>
            <a:off x="3416249" y="1674547"/>
            <a:ext cx="61383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 = int(input('Enter an integer &gt;= 0: '))</a:t>
            </a:r>
          </a:p>
          <a:p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fact = 1</a:t>
            </a:r>
          </a:p>
          <a:p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for </a:t>
            </a:r>
            <a:r>
              <a:rPr lang="en" altLang="zh-CN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 range(1, n + 1):</a:t>
            </a:r>
          </a:p>
          <a:p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fact *= </a:t>
            </a:r>
            <a:r>
              <a:rPr lang="en" altLang="zh-CN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endParaRPr lang="en" altLang="zh-C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" altLang="zh-C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print(str(n) + ' factorial is ' + str(fact))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/>
      <p:bldP spid="2458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528" y="931900"/>
            <a:ext cx="3528392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、循环嵌套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1274639" y="1644748"/>
            <a:ext cx="10554725" cy="697694"/>
          </a:xfrm>
        </p:spPr>
        <p:txBody>
          <a:bodyPr vert="horz" wrap="square" lIns="91456" tIns="45728" rIns="91456" bIns="45728" anchor="t"/>
          <a:lstStyle/>
          <a:p>
            <a:pPr marL="0" indent="0"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与条件语句相同，循环也可以嵌套。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1274639" y="2342442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例：输出乘法九九表。</a:t>
            </a:r>
          </a:p>
        </p:txBody>
      </p:sp>
      <p:sp>
        <p:nvSpPr>
          <p:cNvPr id="5" name="矩形 4"/>
          <p:cNvSpPr/>
          <p:nvPr/>
        </p:nvSpPr>
        <p:spPr>
          <a:xfrm>
            <a:off x="1242788" y="2842022"/>
            <a:ext cx="5504460" cy="3030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</a:pPr>
            <a:r>
              <a:rPr lang="en-US" altLang="zh-CN" dirty="0"/>
              <a:t>for row in range(1,10):</a:t>
            </a:r>
          </a:p>
          <a:p>
            <a:pPr>
              <a:lnSpc>
                <a:spcPts val="3300"/>
              </a:lnSpc>
            </a:pPr>
            <a:r>
              <a:rPr lang="en-US" altLang="zh-CN" dirty="0"/>
              <a:t>    for col in range(1,10):</a:t>
            </a:r>
          </a:p>
          <a:p>
            <a:pPr>
              <a:lnSpc>
                <a:spcPts val="3300"/>
              </a:lnSpc>
            </a:pPr>
            <a:r>
              <a:rPr lang="en-US" altLang="zh-CN" dirty="0"/>
              <a:t>        prod = row*col</a:t>
            </a:r>
          </a:p>
          <a:p>
            <a:pPr>
              <a:lnSpc>
                <a:spcPts val="3300"/>
              </a:lnSpc>
            </a:pPr>
            <a:r>
              <a:rPr lang="en-US" altLang="zh-CN" dirty="0"/>
              <a:t>        if(prod&lt;10):</a:t>
            </a:r>
          </a:p>
          <a:p>
            <a:pPr>
              <a:lnSpc>
                <a:spcPts val="3300"/>
              </a:lnSpc>
            </a:pPr>
            <a:r>
              <a:rPr lang="en-US" altLang="zh-CN" dirty="0"/>
              <a:t>            print(' ',end='')</a:t>
            </a:r>
          </a:p>
          <a:p>
            <a:pPr>
              <a:lnSpc>
                <a:spcPts val="3300"/>
              </a:lnSpc>
            </a:pPr>
            <a:r>
              <a:rPr lang="en-US" altLang="zh-CN" dirty="0"/>
              <a:t>        print(row*col,' ',end='')</a:t>
            </a:r>
          </a:p>
          <a:p>
            <a:pPr>
              <a:lnSpc>
                <a:spcPts val="3300"/>
              </a:lnSpc>
            </a:pPr>
            <a:r>
              <a:rPr lang="en-US" altLang="zh-CN" dirty="0"/>
              <a:t>    print()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279" y="2804107"/>
            <a:ext cx="4207510" cy="27882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6528" y="931900"/>
            <a:ext cx="3528392" cy="652402"/>
          </a:xfrm>
        </p:spPr>
        <p:txBody>
          <a:bodyPr vert="horz" wrap="square" lIns="91456" tIns="45728" rIns="91456" bIns="45728" numCol="1" anchor="b" anchorCtr="0" compatLnSpc="1"/>
          <a:lstStyle/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、跳转语句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13" name="燕尾形 12"/>
          <p:cNvSpPr/>
          <p:nvPr/>
        </p:nvSpPr>
        <p:spPr>
          <a:xfrm>
            <a:off x="1936358" y="3429794"/>
            <a:ext cx="4149725" cy="503237"/>
          </a:xfrm>
          <a:prstGeom prst="chevron">
            <a:avLst>
              <a:gd name="adj" fmla="val 38088"/>
            </a:avLst>
          </a:prstGeom>
          <a:solidFill>
            <a:srgbClr val="3455FA"/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anchor="ctr"/>
          <a:lstStyle/>
          <a:p>
            <a:pPr algn="ctr">
              <a:defRPr/>
            </a:pPr>
            <a:endParaRPr lang="en-US" altLang="zh-CN" sz="2400" dirty="0"/>
          </a:p>
        </p:txBody>
      </p:sp>
      <p:cxnSp>
        <p:nvCxnSpPr>
          <p:cNvPr id="14" name="直接箭头​​连接符 11"/>
          <p:cNvCxnSpPr/>
          <p:nvPr/>
        </p:nvCxnSpPr>
        <p:spPr>
          <a:xfrm>
            <a:off x="5811446" y="3933850"/>
            <a:ext cx="0" cy="1793875"/>
          </a:xfrm>
          <a:prstGeom prst="straightConnector1">
            <a:avLst/>
          </a:prstGeom>
          <a:noFill/>
          <a:ln w="25400" cap="flat" cmpd="sng" algn="ctr">
            <a:solidFill>
              <a:srgbClr val="0099FF">
                <a:alpha val="61000"/>
              </a:srgbClr>
            </a:solidFill>
            <a:prstDash val="sysDash"/>
            <a:tailEnd type="arrow"/>
          </a:ln>
          <a:effectLst/>
        </p:spPr>
        <p:style>
          <a:lnRef idx="1">
            <a:srgbClr val="4F81BD"/>
          </a:lnRef>
          <a:fillRef idx="0">
            <a:srgbClr val="4F81BD"/>
          </a:fillRef>
          <a:effectRef idx="0">
            <a:srgbClr val="4F81BD"/>
          </a:effectRef>
          <a:fontRef idx="minor">
            <a:sysClr val="windowText" lastClr="000000"/>
          </a:fontRef>
        </p:style>
      </p:cxnSp>
      <p:cxnSp>
        <p:nvCxnSpPr>
          <p:cNvPr id="15" name="直接箭头​​连接符 12"/>
          <p:cNvCxnSpPr/>
          <p:nvPr/>
        </p:nvCxnSpPr>
        <p:spPr>
          <a:xfrm flipV="1">
            <a:off x="1922711" y="1773610"/>
            <a:ext cx="0" cy="1692000"/>
          </a:xfrm>
          <a:prstGeom prst="straightConnector1">
            <a:avLst/>
          </a:prstGeom>
          <a:noFill/>
          <a:ln w="25400" cap="flat" cmpd="sng" algn="ctr">
            <a:solidFill>
              <a:srgbClr val="3455FA"/>
            </a:solidFill>
            <a:prstDash val="sysDash"/>
            <a:tailEnd type="arrow"/>
          </a:ln>
          <a:effectLst/>
        </p:spPr>
        <p:style>
          <a:lnRef idx="1">
            <a:srgbClr val="4F81BD"/>
          </a:lnRef>
          <a:fillRef idx="0">
            <a:srgbClr val="4F81BD"/>
          </a:fillRef>
          <a:effectRef idx="0">
            <a:srgbClr val="4F81BD"/>
          </a:effectRef>
          <a:fontRef idx="minor">
            <a:sysClr val="windowText" lastClr="000000"/>
          </a:fontRef>
        </p:style>
      </p:cxnSp>
      <p:sp>
        <p:nvSpPr>
          <p:cNvPr id="16" name="燕尾形 15"/>
          <p:cNvSpPr/>
          <p:nvPr/>
        </p:nvSpPr>
        <p:spPr>
          <a:xfrm>
            <a:off x="5798746" y="3429794"/>
            <a:ext cx="4149725" cy="503237"/>
          </a:xfrm>
          <a:prstGeom prst="chevron">
            <a:avLst>
              <a:gd name="adj" fmla="val 38088"/>
            </a:avLst>
          </a:prstGeom>
          <a:solidFill>
            <a:srgbClr val="0099FF"/>
          </a:solidFill>
          <a:ln w="25400" cap="flat" cmpd="sng" algn="ctr">
            <a:noFill/>
            <a:prstDash val="solid"/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ysClr val="window" lastClr="FFFFFF"/>
          </a:fontRef>
        </p:style>
        <p:txBody>
          <a:bodyPr anchor="ctr"/>
          <a:lstStyle/>
          <a:p>
            <a:pPr algn="ctr">
              <a:defRPr/>
            </a:pPr>
            <a:endParaRPr lang="en-US" altLang="zh-CN" sz="2400" dirty="0"/>
          </a:p>
        </p:txBody>
      </p:sp>
      <p:sp>
        <p:nvSpPr>
          <p:cNvPr id="18" name="TextBox 3"/>
          <p:cNvSpPr txBox="1"/>
          <p:nvPr/>
        </p:nvSpPr>
        <p:spPr>
          <a:xfrm>
            <a:off x="3133333" y="3491706"/>
            <a:ext cx="23050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19" name="TextBox 12"/>
          <p:cNvSpPr txBox="1"/>
          <p:nvPr/>
        </p:nvSpPr>
        <p:spPr>
          <a:xfrm>
            <a:off x="6878246" y="3491706"/>
            <a:ext cx="23050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0" name="TextBox 4"/>
          <p:cNvSpPr txBox="1">
            <a:spLocks noChangeArrowheads="1"/>
          </p:cNvSpPr>
          <p:nvPr/>
        </p:nvSpPr>
        <p:spPr bwMode="auto">
          <a:xfrm>
            <a:off x="1922711" y="1919288"/>
            <a:ext cx="400621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break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语句用于提前结束循环体，接着继续执行循环体的后续语句，当多重循环嵌套时，它只能终止其所在的循环体。</a:t>
            </a:r>
          </a:p>
        </p:txBody>
      </p:sp>
      <p:sp>
        <p:nvSpPr>
          <p:cNvPr id="21" name="TextBox 2"/>
          <p:cNvSpPr txBox="1">
            <a:spLocks noChangeArrowheads="1"/>
          </p:cNvSpPr>
          <p:nvPr/>
        </p:nvSpPr>
        <p:spPr bwMode="auto">
          <a:xfrm>
            <a:off x="5811143" y="4005858"/>
            <a:ext cx="424175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eaLnBrk="1" hangingPunct="1">
              <a:lnSpc>
                <a:spcPct val="12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break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语句类似，也只能用于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while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循环体中，用于结束本次循环，即跳过循环体内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的后续语句，接着执行下一次循环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6" grpId="0" bldLvl="0" animBg="1"/>
      <p:bldP spid="18" grpId="0"/>
      <p:bldP spid="19" grpId="0"/>
      <p:bldP spid="20" grpId="0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Z:\Mac 上的 yhilly\微云同步盘\1-Python极简讲义与机器学习实战\pics\chap02\break-continue.wmf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" y="1694815"/>
            <a:ext cx="5529580" cy="38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 descr="Z:\Mac 上的 yhilly\微云同步盘\1-Python极简讲义与机器学习实战\pics\chap02\break-continue2.wmf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940" y="1694815"/>
            <a:ext cx="5616575" cy="34696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266528" y="931900"/>
            <a:ext cx="3528392" cy="652402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、跳转语句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6"/>
          <p:cNvSpPr txBox="1"/>
          <p:nvPr/>
        </p:nvSpPr>
        <p:spPr>
          <a:xfrm>
            <a:off x="1058615" y="817186"/>
            <a:ext cx="10186272" cy="796418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lnSpc>
                <a:spcPct val="90000"/>
              </a:lnSpc>
              <a:spcAft>
                <a:spcPct val="0"/>
              </a:spcAft>
              <a:defRPr/>
            </a:pP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例：反复输入单词，遇到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quit</a:t>
            </a: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退出。（利用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break</a:t>
            </a: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语句）</a:t>
            </a:r>
            <a:endParaRPr lang="zh-CN" altLang="en-US" sz="32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1346647" y="2133650"/>
            <a:ext cx="9361040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例第二个版本。</a:t>
            </a:r>
            <a:br>
              <a:rPr lang="zh-CN" altLang="en-US" sz="2800" i="1" dirty="0"/>
            </a:br>
            <a:r>
              <a:rPr lang="en-US" altLang="zh-CN" sz="2800" b="1" dirty="0"/>
              <a:t>while </a:t>
            </a:r>
            <a:r>
              <a:rPr lang="en-US" altLang="zh-CN" sz="2800" dirty="0">
                <a:solidFill>
                  <a:srgbClr val="0000CC"/>
                </a:solidFill>
              </a:rPr>
              <a:t>True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</a:t>
            </a:r>
            <a:r>
              <a:rPr lang="en-US" altLang="zh-CN" sz="2800" dirty="0" err="1"/>
              <a:t>astr</a:t>
            </a:r>
            <a:r>
              <a:rPr lang="en-US" altLang="zh-CN" sz="2800" dirty="0"/>
              <a:t> = input(</a:t>
            </a:r>
            <a:r>
              <a:rPr lang="en-US" altLang="zh-CN" sz="2800" b="1" dirty="0"/>
              <a:t>"--&gt;"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dirty="0"/>
              <a:t>    </a:t>
            </a:r>
            <a:r>
              <a:rPr lang="en-US" altLang="zh-CN" sz="2800" b="1" dirty="0"/>
              <a:t>if </a:t>
            </a:r>
            <a:r>
              <a:rPr lang="en-US" altLang="zh-CN" sz="2800" dirty="0" err="1"/>
              <a:t>astr</a:t>
            </a:r>
            <a:r>
              <a:rPr lang="en-US" altLang="zh-CN" sz="2800" dirty="0"/>
              <a:t> == </a:t>
            </a:r>
            <a:r>
              <a:rPr lang="en-US" altLang="zh-CN" sz="2800" b="1" dirty="0"/>
              <a:t>"quit"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>
                <a:solidFill>
                  <a:srgbClr val="FF0000"/>
                </a:solidFill>
              </a:rPr>
              <a:t>        </a:t>
            </a:r>
            <a:r>
              <a:rPr lang="en-US" altLang="zh-CN" sz="2800" b="1" dirty="0">
                <a:solidFill>
                  <a:srgbClr val="FF0000"/>
                </a:solidFill>
              </a:rPr>
              <a:t>break</a:t>
            </a:r>
            <a:br>
              <a:rPr lang="en-US" altLang="zh-CN" sz="2800" b="1" dirty="0"/>
            </a:br>
            <a:r>
              <a:rPr lang="en-US" altLang="zh-CN" sz="2800" b="1" dirty="0"/>
              <a:t>    </a:t>
            </a:r>
            <a:r>
              <a:rPr lang="en-US" altLang="zh-CN" sz="2800" dirty="0"/>
              <a:t>print(</a:t>
            </a:r>
            <a:r>
              <a:rPr lang="en-US" altLang="zh-CN" sz="2800" dirty="0" err="1"/>
              <a:t>astr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dirty="0"/>
              <a:t>print(</a:t>
            </a:r>
            <a:r>
              <a:rPr lang="en-US" altLang="zh-CN" sz="2800" b="1" dirty="0"/>
              <a:t>"bye."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7" name="线形标注 2(无边框) 6"/>
          <p:cNvSpPr/>
          <p:nvPr/>
        </p:nvSpPr>
        <p:spPr>
          <a:xfrm>
            <a:off x="4370983" y="3952245"/>
            <a:ext cx="6729888" cy="2168517"/>
          </a:xfrm>
          <a:prstGeom prst="callout2">
            <a:avLst>
              <a:gd name="adj1" fmla="val 65260"/>
              <a:gd name="adj2" fmla="val -188"/>
              <a:gd name="adj3" fmla="val 19614"/>
              <a:gd name="adj4" fmla="val -5563"/>
              <a:gd name="adj5" fmla="val 9932"/>
              <a:gd name="adj6" fmla="val -16327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break</a:t>
            </a: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语句的流程：</a:t>
            </a:r>
            <a:endParaRPr lang="en-US" altLang="zh-CN" sz="2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跳出循环，执行循环之后的语句（本例中是</a:t>
            </a: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print(“bye”)</a:t>
            </a: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不执行循环语句块内的后续语句（本例中是</a:t>
            </a: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</a:t>
            </a:r>
            <a:r>
              <a:rPr lang="en-US" altLang="zh-CN" sz="20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astr</a:t>
            </a: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en-US" altLang="zh-CN" sz="2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线形标注 2(无边框) 7"/>
          <p:cNvSpPr/>
          <p:nvPr/>
        </p:nvSpPr>
        <p:spPr>
          <a:xfrm>
            <a:off x="6110280" y="2133650"/>
            <a:ext cx="4104456" cy="1481799"/>
          </a:xfrm>
          <a:prstGeom prst="callout2">
            <a:avLst>
              <a:gd name="adj1" fmla="val 32943"/>
              <a:gd name="adj2" fmla="val -3003"/>
              <a:gd name="adj3" fmla="val 39665"/>
              <a:gd name="adj4" fmla="val -13123"/>
              <a:gd name="adj5" fmla="val 34039"/>
              <a:gd name="adj6" fmla="val -4919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是布尔类型字面量，意思是真（</a:t>
            </a:r>
            <a:r>
              <a:rPr lang="en-US" altLang="zh-CN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是假）。这里是指循环条件永远成立。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/>
        </p:nvSpPr>
        <p:spPr>
          <a:xfrm>
            <a:off x="554559" y="892955"/>
            <a:ext cx="9721080" cy="857250"/>
          </a:xfrm>
          <a:prstGeom prst="rect">
            <a:avLst/>
          </a:prstGeom>
        </p:spPr>
        <p:txBody>
          <a:bodyPr vert="horz" wrap="square" lIns="91456" tIns="45728" rIns="91456" bIns="45728" numCol="1" anchor="b" anchorCtr="0" compatLnSpc="1"/>
          <a:lstStyle/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用</a:t>
            </a:r>
            <a:r>
              <a:rPr lang="en-US" altLang="zh-CN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for + break</a:t>
            </a:r>
            <a:r>
              <a:rPr lang="zh-CN" altLang="en-US" sz="32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实现质数判别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842591" y="1845618"/>
            <a:ext cx="10225136" cy="41487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i="1" dirty="0"/>
              <a:t>#</a:t>
            </a:r>
            <a:r>
              <a:rPr lang="zh-CN" altLang="en-US" sz="2800" i="1" dirty="0"/>
              <a:t>例</a:t>
            </a:r>
            <a:r>
              <a:rPr lang="en-US" altLang="zh-CN" sz="2800" i="1" dirty="0"/>
              <a:t> </a:t>
            </a:r>
            <a:r>
              <a:rPr lang="zh-CN" altLang="en-US" sz="2800" i="1" dirty="0"/>
              <a:t>是质数吗</a:t>
            </a:r>
            <a:br>
              <a:rPr lang="zh-CN" altLang="en-US" sz="2800" i="1" dirty="0"/>
            </a:br>
            <a:r>
              <a:rPr lang="en-US" altLang="zh-CN" sz="2800" dirty="0"/>
              <a:t>n =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(input(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输入一个大于</a:t>
            </a:r>
            <a:r>
              <a:rPr lang="en-US" altLang="zh-CN" sz="2800" b="1" dirty="0"/>
              <a:t>10</a:t>
            </a:r>
            <a:r>
              <a:rPr lang="zh-CN" altLang="en-US" sz="2800" b="1" dirty="0"/>
              <a:t>的整数：</a:t>
            </a:r>
            <a:r>
              <a:rPr lang="en-US" altLang="zh-CN" sz="2800" b="1" dirty="0"/>
              <a:t>"</a:t>
            </a:r>
            <a:r>
              <a:rPr lang="en-US" altLang="zh-CN" sz="2800" dirty="0"/>
              <a:t>))</a:t>
            </a:r>
            <a:br>
              <a:rPr lang="en-US" altLang="zh-CN" sz="2800" dirty="0"/>
            </a:br>
            <a:r>
              <a:rPr lang="en-US" altLang="zh-CN" sz="2800" b="1" dirty="0">
                <a:solidFill>
                  <a:srgbClr val="FF0000"/>
                </a:solidFill>
              </a:rPr>
              <a:t>for k in range(2, n):</a:t>
            </a:r>
            <a:br>
              <a:rPr lang="en-US" altLang="zh-CN" sz="2800" b="1" dirty="0">
                <a:solidFill>
                  <a:srgbClr val="FF0000"/>
                </a:solidFill>
              </a:rPr>
            </a:br>
            <a:r>
              <a:rPr lang="en-US" altLang="zh-CN" sz="2800" b="1" dirty="0">
                <a:solidFill>
                  <a:srgbClr val="FF0000"/>
                </a:solidFill>
              </a:rPr>
              <a:t>    if n % k == 0:</a:t>
            </a:r>
            <a:br>
              <a:rPr lang="en-US" altLang="zh-CN" sz="2800" b="1" dirty="0">
                <a:solidFill>
                  <a:srgbClr val="FF0000"/>
                </a:solidFill>
              </a:rPr>
            </a:br>
            <a:r>
              <a:rPr lang="en-US" altLang="zh-CN" sz="2800" b="1" dirty="0">
                <a:solidFill>
                  <a:srgbClr val="FF0000"/>
                </a:solidFill>
              </a:rPr>
              <a:t>        break</a:t>
            </a:r>
            <a:br>
              <a:rPr lang="en-US" altLang="zh-CN" sz="2800" dirty="0"/>
            </a:br>
            <a:r>
              <a:rPr lang="en-US" altLang="zh-CN" sz="2800" b="1" dirty="0"/>
              <a:t>if </a:t>
            </a:r>
            <a:r>
              <a:rPr lang="en-US" altLang="zh-CN" sz="2800" dirty="0"/>
              <a:t>k == n-1: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dirty="0" err="1"/>
              <a:t>str</a:t>
            </a:r>
            <a:r>
              <a:rPr lang="en-US" altLang="zh-CN" sz="2800" dirty="0"/>
              <a:t>(n) + 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是质数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b="1" dirty="0"/>
              <a:t>else</a:t>
            </a:r>
            <a:r>
              <a:rPr lang="en-US" altLang="zh-CN" sz="2800" dirty="0"/>
              <a:t>:</a:t>
            </a:r>
            <a:br>
              <a:rPr lang="en-US" altLang="zh-CN" sz="2800" dirty="0"/>
            </a:br>
            <a:r>
              <a:rPr lang="en-US" altLang="zh-CN" sz="2800" dirty="0"/>
              <a:t>    print(</a:t>
            </a:r>
            <a:r>
              <a:rPr lang="en-US" altLang="zh-CN" sz="2800" dirty="0" err="1"/>
              <a:t>str</a:t>
            </a:r>
            <a:r>
              <a:rPr lang="en-US" altLang="zh-CN" sz="2800" dirty="0"/>
              <a:t>(n) + </a:t>
            </a:r>
            <a:r>
              <a:rPr lang="en-US" altLang="zh-CN" sz="2800" b="1" dirty="0"/>
              <a:t>"</a:t>
            </a:r>
            <a:r>
              <a:rPr lang="zh-CN" altLang="en-US" sz="2800" b="1" dirty="0"/>
              <a:t>不是质数</a:t>
            </a:r>
            <a:r>
              <a:rPr lang="en-US" altLang="zh-CN" sz="2800" b="1" dirty="0"/>
              <a:t>"</a:t>
            </a:r>
            <a:r>
              <a:rPr lang="en-US" altLang="zh-CN" sz="2800" dirty="0"/>
              <a:t>)</a:t>
            </a:r>
            <a:endParaRPr lang="zh-CN" altLang="en-US" sz="2800" b="1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4" name="云形标注 3"/>
          <p:cNvSpPr/>
          <p:nvPr/>
        </p:nvSpPr>
        <p:spPr>
          <a:xfrm>
            <a:off x="5235079" y="2853730"/>
            <a:ext cx="6624736" cy="1512168"/>
          </a:xfrm>
          <a:prstGeom prst="cloudCallout">
            <a:avLst>
              <a:gd name="adj1" fmla="val -87536"/>
              <a:gd name="adj2" fmla="val 14509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这里能不能用</a:t>
            </a:r>
            <a:r>
              <a:rPr lang="en-US" altLang="zh-CN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continue</a:t>
            </a:r>
            <a:endParaRPr lang="zh-CN" alt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4.3 循环结构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810736"/>
            <a:ext cx="12198448" cy="3048588"/>
          </a:xfrm>
          <a:prstGeom prst="rect">
            <a:avLst/>
          </a:prstGeom>
          <a:pattFill prst="dkHorz">
            <a:fgClr>
              <a:srgbClr val="F2F2F2"/>
            </a:fgClr>
            <a:bgClr>
              <a:srgbClr val="FFFFFF"/>
            </a:bgClr>
          </a:patt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677254" y="914251"/>
            <a:ext cx="8843875" cy="853503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1"/>
          <p:cNvSpPr/>
          <p:nvPr>
            <p:custDataLst>
              <p:tags r:id="rId3"/>
            </p:custDataLst>
          </p:nvPr>
        </p:nvSpPr>
        <p:spPr>
          <a:xfrm>
            <a:off x="1677241" y="2194436"/>
            <a:ext cx="8843875" cy="3777441"/>
          </a:xfrm>
          <a:prstGeom prst="rect">
            <a:avLst/>
          </a:prstGeom>
          <a:solidFill>
            <a:srgbClr val="FFFFFF"/>
          </a:solidFill>
          <a:ln w="25400">
            <a:noFill/>
          </a:ln>
          <a:effectLst>
            <a:outerShdw blurRad="50800" dist="76200" dir="5400000" sx="101000" sy="101000" algn="t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982200" y="1066680"/>
            <a:ext cx="8233950" cy="5486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3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</a:p>
        </p:txBody>
      </p:sp>
      <p:sp>
        <p:nvSpPr>
          <p:cNvPr id="12" name="弧形 11"/>
          <p:cNvSpPr/>
          <p:nvPr>
            <p:custDataLst>
              <p:tags r:id="rId5"/>
            </p:custDataLst>
          </p:nvPr>
        </p:nvSpPr>
        <p:spPr>
          <a:xfrm>
            <a:off x="311150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80"/>
          <p:cNvSpPr txBox="1"/>
          <p:nvPr>
            <p:custDataLst>
              <p:tags r:id="rId6"/>
            </p:custDataLst>
          </p:nvPr>
        </p:nvSpPr>
        <p:spPr>
          <a:xfrm>
            <a:off x="283337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14" name="标题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22199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4.1</a:t>
            </a:r>
          </a:p>
        </p:txBody>
      </p:sp>
      <p:sp>
        <p:nvSpPr>
          <p:cNvPr id="15" name="菱形 14"/>
          <p:cNvSpPr/>
          <p:nvPr>
            <p:custDataLst>
              <p:tags r:id="rId8"/>
            </p:custDataLst>
          </p:nvPr>
        </p:nvSpPr>
        <p:spPr>
          <a:xfrm>
            <a:off x="293306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>
            <a:off x="4790440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80"/>
          <p:cNvSpPr txBox="1"/>
          <p:nvPr>
            <p:custDataLst>
              <p:tags r:id="rId10"/>
            </p:custDataLst>
          </p:nvPr>
        </p:nvSpPr>
        <p:spPr>
          <a:xfrm>
            <a:off x="4297680" y="3355340"/>
            <a:ext cx="167894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0156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4.2</a:t>
            </a:r>
          </a:p>
        </p:txBody>
      </p:sp>
      <p:sp>
        <p:nvSpPr>
          <p:cNvPr id="23" name="菱形 22"/>
          <p:cNvSpPr/>
          <p:nvPr>
            <p:custDataLst>
              <p:tags r:id="rId12"/>
            </p:custDataLst>
          </p:nvPr>
        </p:nvSpPr>
        <p:spPr>
          <a:xfrm>
            <a:off x="4612005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弧形 23"/>
          <p:cNvSpPr/>
          <p:nvPr>
            <p:custDataLst>
              <p:tags r:id="rId13"/>
            </p:custDataLst>
          </p:nvPr>
        </p:nvSpPr>
        <p:spPr>
          <a:xfrm>
            <a:off x="647001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1D6D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80"/>
          <p:cNvSpPr txBox="1"/>
          <p:nvPr>
            <p:custDataLst>
              <p:tags r:id="rId14"/>
            </p:custDataLst>
          </p:nvPr>
        </p:nvSpPr>
        <p:spPr>
          <a:xfrm>
            <a:off x="5976620" y="3355340"/>
            <a:ext cx="1779270" cy="20370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</a:p>
        </p:txBody>
      </p:sp>
      <p:sp>
        <p:nvSpPr>
          <p:cNvPr id="26" name="标题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80505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1D518C"/>
                </a:solidFill>
                <a:latin typeface="微软雅黑" panose="020B0503020204020204" pitchFamily="34" charset="-122"/>
              </a:rPr>
              <a:t>4.3</a:t>
            </a:r>
          </a:p>
        </p:txBody>
      </p:sp>
      <p:sp>
        <p:nvSpPr>
          <p:cNvPr id="27" name="菱形 26"/>
          <p:cNvSpPr/>
          <p:nvPr>
            <p:custDataLst>
              <p:tags r:id="rId16"/>
            </p:custDataLst>
          </p:nvPr>
        </p:nvSpPr>
        <p:spPr>
          <a:xfrm>
            <a:off x="6291580" y="2712097"/>
            <a:ext cx="301625" cy="301625"/>
          </a:xfrm>
          <a:prstGeom prst="diamond">
            <a:avLst/>
          </a:prstGeom>
          <a:solidFill>
            <a:srgbClr val="69A7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弧形 27"/>
          <p:cNvSpPr/>
          <p:nvPr>
            <p:custDataLst>
              <p:tags r:id="rId17"/>
            </p:custDataLst>
          </p:nvPr>
        </p:nvSpPr>
        <p:spPr>
          <a:xfrm>
            <a:off x="8148955" y="2520962"/>
            <a:ext cx="727075" cy="716915"/>
          </a:xfrm>
          <a:prstGeom prst="arc">
            <a:avLst>
              <a:gd name="adj1" fmla="val 11619054"/>
              <a:gd name="adj2" fmla="val 10295063"/>
            </a:avLst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80"/>
          <p:cNvSpPr txBox="1"/>
          <p:nvPr>
            <p:custDataLst>
              <p:tags r:id="rId18"/>
            </p:custDataLst>
          </p:nvPr>
        </p:nvSpPr>
        <p:spPr>
          <a:xfrm>
            <a:off x="7871460" y="3355352"/>
            <a:ext cx="1371600" cy="203692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800" b="1" spc="1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推导式</a:t>
            </a:r>
          </a:p>
        </p:txBody>
      </p:sp>
      <p:sp>
        <p:nvSpPr>
          <p:cNvPr id="30" name="标题 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60080" y="2616212"/>
            <a:ext cx="554355" cy="509270"/>
          </a:xfrm>
          <a:prstGeom prst="rect">
            <a:avLst/>
          </a:prstGeom>
        </p:spPr>
        <p:txBody>
          <a:bodyPr vert="horz" lIns="0" tIns="0" rIns="0" bIns="0" rtlCol="0" anchor="ctr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CN" altLang="en-US" sz="24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sz="27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4.4</a:t>
            </a:r>
          </a:p>
        </p:txBody>
      </p:sp>
      <p:sp>
        <p:nvSpPr>
          <p:cNvPr id="31" name="菱形 30"/>
          <p:cNvSpPr/>
          <p:nvPr>
            <p:custDataLst>
              <p:tags r:id="rId20"/>
            </p:custDataLst>
          </p:nvPr>
        </p:nvSpPr>
        <p:spPr>
          <a:xfrm>
            <a:off x="7970520" y="2712097"/>
            <a:ext cx="301625" cy="301625"/>
          </a:xfrm>
          <a:prstGeom prst="diamond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1174750" y="1078865"/>
            <a:ext cx="9648825" cy="1578610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按照某种规则，以一个数据序列（如列表，字典和集合等）为基础，推导出另外一个新的数据序列。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345690" y="2906395"/>
            <a:ext cx="6427470" cy="2462530"/>
            <a:chOff x="3694" y="4577"/>
            <a:chExt cx="10122" cy="3878"/>
          </a:xfrm>
        </p:grpSpPr>
        <p:cxnSp>
          <p:nvCxnSpPr>
            <p:cNvPr id="42" name="直接连接符 41"/>
            <p:cNvCxnSpPr/>
            <p:nvPr>
              <p:custDataLst>
                <p:tags r:id="rId1"/>
              </p:custDataLst>
            </p:nvPr>
          </p:nvCxnSpPr>
          <p:spPr>
            <a:xfrm>
              <a:off x="6062" y="6546"/>
              <a:ext cx="46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3" name="椭圆 2"/>
            <p:cNvSpPr/>
            <p:nvPr>
              <p:custDataLst>
                <p:tags r:id="rId2"/>
              </p:custDataLst>
            </p:nvPr>
          </p:nvSpPr>
          <p:spPr>
            <a:xfrm>
              <a:off x="3972" y="5563"/>
              <a:ext cx="2041" cy="2041"/>
            </a:xfrm>
            <a:prstGeom prst="ellipse">
              <a:avLst/>
            </a:prstGeom>
            <a:solidFill>
              <a:sysClr val="window" lastClr="FFFFFF"/>
            </a:solidFill>
            <a:ln w="57150" cap="flat" cmpd="sng" algn="ctr">
              <a:solidFill>
                <a:srgbClr val="1F74AD"/>
              </a:solidFill>
              <a:prstDash val="solid"/>
              <a:miter lim="800000"/>
            </a:ln>
            <a:effectLst/>
          </p:spPr>
          <p:txBody>
            <a:bodyPr wrap="none" tIns="0" bIns="0" anchor="ctr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3694" y="6227"/>
              <a:ext cx="2549" cy="729"/>
            </a:xfrm>
            <a:prstGeom prst="rect">
              <a:avLst/>
            </a:prstGeom>
            <a:noFill/>
          </p:spPr>
          <p:txBody>
            <a:bodyPr wrap="square" rtlCol="0"/>
            <a:lstStyle/>
            <a:p>
              <a:pPr algn="ctr" fontAlgn="auto">
                <a:lnSpc>
                  <a:spcPct val="120000"/>
                </a:lnSpc>
              </a:pPr>
              <a:r>
                <a:rPr lang="zh-CN" altLang="en-US" b="1" spc="300" dirty="0">
                  <a:solidFill>
                    <a:srgbClr val="000000">
                      <a:lumMod val="75000"/>
                      <a:lumOff val="25000"/>
                    </a:srgb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推导式</a:t>
              </a:r>
            </a:p>
          </p:txBody>
        </p:sp>
        <p:cxnSp>
          <p:nvCxnSpPr>
            <p:cNvPr id="63" name="直接连接符 62"/>
            <p:cNvCxnSpPr/>
            <p:nvPr>
              <p:custDataLst>
                <p:tags r:id="rId4"/>
              </p:custDataLst>
            </p:nvPr>
          </p:nvCxnSpPr>
          <p:spPr>
            <a:xfrm>
              <a:off x="6524" y="8117"/>
              <a:ext cx="103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5"/>
              </p:custDataLst>
            </p:nvPr>
          </p:nvCxnSpPr>
          <p:spPr>
            <a:xfrm>
              <a:off x="6524" y="6546"/>
              <a:ext cx="103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61" name="直接连接符 60"/>
            <p:cNvCxnSpPr/>
            <p:nvPr>
              <p:custDataLst>
                <p:tags r:id="rId6"/>
              </p:custDataLst>
            </p:nvPr>
          </p:nvCxnSpPr>
          <p:spPr>
            <a:xfrm>
              <a:off x="6524" y="4988"/>
              <a:ext cx="103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8" name="椭圆 17"/>
            <p:cNvSpPr/>
            <p:nvPr>
              <p:custDataLst>
                <p:tags r:id="rId7"/>
              </p:custDataLst>
            </p:nvPr>
          </p:nvSpPr>
          <p:spPr>
            <a:xfrm>
              <a:off x="7129" y="4644"/>
              <a:ext cx="731" cy="731"/>
            </a:xfrm>
            <a:prstGeom prst="ellipse">
              <a:avLst/>
            </a:prstGeom>
            <a:solidFill>
              <a:srgbClr val="1F74AD"/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 18"/>
            <p:cNvSpPr/>
            <p:nvPr>
              <p:custDataLst>
                <p:tags r:id="rId8"/>
              </p:custDataLst>
            </p:nvPr>
          </p:nvSpPr>
          <p:spPr bwMode="auto">
            <a:xfrm>
              <a:off x="7279" y="4803"/>
              <a:ext cx="429" cy="413"/>
            </a:xfrm>
            <a:custGeom>
              <a:avLst/>
              <a:gdLst>
                <a:gd name="connsiteX0" fmla="*/ 297615 w 597921"/>
                <a:gd name="connsiteY0" fmla="*/ 96957 h 598324"/>
                <a:gd name="connsiteX1" fmla="*/ 323434 w 597921"/>
                <a:gd name="connsiteY1" fmla="*/ 122740 h 598324"/>
                <a:gd name="connsiteX2" fmla="*/ 323434 w 597921"/>
                <a:gd name="connsiteY2" fmla="*/ 289852 h 598324"/>
                <a:gd name="connsiteX3" fmla="*/ 462572 w 597921"/>
                <a:gd name="connsiteY3" fmla="*/ 289852 h 598324"/>
                <a:gd name="connsiteX4" fmla="*/ 487913 w 597921"/>
                <a:gd name="connsiteY4" fmla="*/ 315157 h 598324"/>
                <a:gd name="connsiteX5" fmla="*/ 462572 w 597921"/>
                <a:gd name="connsiteY5" fmla="*/ 340463 h 598324"/>
                <a:gd name="connsiteX6" fmla="*/ 297615 w 597921"/>
                <a:gd name="connsiteY6" fmla="*/ 340463 h 598324"/>
                <a:gd name="connsiteX7" fmla="*/ 272274 w 597921"/>
                <a:gd name="connsiteY7" fmla="*/ 315157 h 598324"/>
                <a:gd name="connsiteX8" fmla="*/ 272274 w 597921"/>
                <a:gd name="connsiteY8" fmla="*/ 122740 h 598324"/>
                <a:gd name="connsiteX9" fmla="*/ 297615 w 597921"/>
                <a:gd name="connsiteY9" fmla="*/ 96957 h 598324"/>
                <a:gd name="connsiteX10" fmla="*/ 298127 w 597921"/>
                <a:gd name="connsiteY10" fmla="*/ 0 h 598324"/>
                <a:gd name="connsiteX11" fmla="*/ 597921 w 597921"/>
                <a:gd name="connsiteY11" fmla="*/ 299401 h 598324"/>
                <a:gd name="connsiteX12" fmla="*/ 298127 w 597921"/>
                <a:gd name="connsiteY12" fmla="*/ 598324 h 598324"/>
                <a:gd name="connsiteX13" fmla="*/ 35150 w 597921"/>
                <a:gd name="connsiteY13" fmla="*/ 442177 h 598324"/>
                <a:gd name="connsiteX14" fmla="*/ 34194 w 597921"/>
                <a:gd name="connsiteY14" fmla="*/ 432149 h 598324"/>
                <a:gd name="connsiteX15" fmla="*/ 40410 w 597921"/>
                <a:gd name="connsiteY15" fmla="*/ 424509 h 598324"/>
                <a:gd name="connsiteX16" fmla="*/ 74836 w 597921"/>
                <a:gd name="connsiteY16" fmla="*/ 407796 h 598324"/>
                <a:gd name="connsiteX17" fmla="*/ 91571 w 597921"/>
                <a:gd name="connsiteY17" fmla="*/ 413049 h 598324"/>
                <a:gd name="connsiteX18" fmla="*/ 298127 w 597921"/>
                <a:gd name="connsiteY18" fmla="*/ 534815 h 598324"/>
                <a:gd name="connsiteX19" fmla="*/ 534328 w 597921"/>
                <a:gd name="connsiteY19" fmla="*/ 299401 h 598324"/>
                <a:gd name="connsiteX20" fmla="*/ 298127 w 597921"/>
                <a:gd name="connsiteY20" fmla="*/ 63509 h 598324"/>
                <a:gd name="connsiteX21" fmla="*/ 145123 w 597921"/>
                <a:gd name="connsiteY21" fmla="*/ 120333 h 598324"/>
                <a:gd name="connsiteX22" fmla="*/ 200587 w 597921"/>
                <a:gd name="connsiteY22" fmla="*/ 142299 h 598324"/>
                <a:gd name="connsiteX23" fmla="*/ 208237 w 597921"/>
                <a:gd name="connsiteY23" fmla="*/ 152327 h 598324"/>
                <a:gd name="connsiteX24" fmla="*/ 203456 w 597921"/>
                <a:gd name="connsiteY24" fmla="*/ 164265 h 598324"/>
                <a:gd name="connsiteX25" fmla="*/ 48060 w 597921"/>
                <a:gd name="connsiteY25" fmla="*/ 285553 h 598324"/>
                <a:gd name="connsiteX26" fmla="*/ 35150 w 597921"/>
                <a:gd name="connsiteY26" fmla="*/ 287463 h 598324"/>
                <a:gd name="connsiteX27" fmla="*/ 27500 w 597921"/>
                <a:gd name="connsiteY27" fmla="*/ 277435 h 598324"/>
                <a:gd name="connsiteX28" fmla="*/ 246 w 597921"/>
                <a:gd name="connsiteY28" fmla="*/ 82132 h 598324"/>
                <a:gd name="connsiteX29" fmla="*/ 4550 w 597921"/>
                <a:gd name="connsiteY29" fmla="*/ 70194 h 598324"/>
                <a:gd name="connsiteX30" fmla="*/ 17459 w 597921"/>
                <a:gd name="connsiteY30" fmla="*/ 68762 h 598324"/>
                <a:gd name="connsiteX31" fmla="*/ 80574 w 597921"/>
                <a:gd name="connsiteY31" fmla="*/ 94070 h 598324"/>
                <a:gd name="connsiteX32" fmla="*/ 298127 w 597921"/>
                <a:gd name="connsiteY32" fmla="*/ 0 h 598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97921" h="598324">
                  <a:moveTo>
                    <a:pt x="297615" y="96957"/>
                  </a:moveTo>
                  <a:cubicBezTo>
                    <a:pt x="311959" y="96957"/>
                    <a:pt x="323434" y="108416"/>
                    <a:pt x="323434" y="122740"/>
                  </a:cubicBezTo>
                  <a:lnTo>
                    <a:pt x="323434" y="289852"/>
                  </a:lnTo>
                  <a:lnTo>
                    <a:pt x="462572" y="289852"/>
                  </a:lnTo>
                  <a:cubicBezTo>
                    <a:pt x="476438" y="289852"/>
                    <a:pt x="487913" y="301311"/>
                    <a:pt x="487913" y="315157"/>
                  </a:cubicBezTo>
                  <a:cubicBezTo>
                    <a:pt x="487913" y="329004"/>
                    <a:pt x="476438" y="340463"/>
                    <a:pt x="462572" y="340463"/>
                  </a:cubicBezTo>
                  <a:lnTo>
                    <a:pt x="297615" y="340463"/>
                  </a:lnTo>
                  <a:cubicBezTo>
                    <a:pt x="283749" y="340463"/>
                    <a:pt x="272274" y="329004"/>
                    <a:pt x="272274" y="315157"/>
                  </a:cubicBezTo>
                  <a:lnTo>
                    <a:pt x="272274" y="122740"/>
                  </a:lnTo>
                  <a:cubicBezTo>
                    <a:pt x="272274" y="108416"/>
                    <a:pt x="283749" y="96957"/>
                    <a:pt x="297615" y="96957"/>
                  </a:cubicBezTo>
                  <a:close/>
                  <a:moveTo>
                    <a:pt x="298127" y="0"/>
                  </a:moveTo>
                  <a:cubicBezTo>
                    <a:pt x="463564" y="0"/>
                    <a:pt x="597921" y="134181"/>
                    <a:pt x="597921" y="299401"/>
                  </a:cubicBezTo>
                  <a:cubicBezTo>
                    <a:pt x="597921" y="464143"/>
                    <a:pt x="463564" y="598324"/>
                    <a:pt x="298127" y="598324"/>
                  </a:cubicBezTo>
                  <a:cubicBezTo>
                    <a:pt x="188155" y="598324"/>
                    <a:pt x="87268" y="538635"/>
                    <a:pt x="35150" y="442177"/>
                  </a:cubicBezTo>
                  <a:cubicBezTo>
                    <a:pt x="33238" y="438835"/>
                    <a:pt x="32760" y="435492"/>
                    <a:pt x="34194" y="432149"/>
                  </a:cubicBezTo>
                  <a:cubicBezTo>
                    <a:pt x="35150" y="428807"/>
                    <a:pt x="37541" y="425942"/>
                    <a:pt x="40410" y="424509"/>
                  </a:cubicBezTo>
                  <a:lnTo>
                    <a:pt x="74836" y="407796"/>
                  </a:lnTo>
                  <a:cubicBezTo>
                    <a:pt x="81052" y="404931"/>
                    <a:pt x="88702" y="407319"/>
                    <a:pt x="91571" y="413049"/>
                  </a:cubicBezTo>
                  <a:cubicBezTo>
                    <a:pt x="133169" y="488018"/>
                    <a:pt x="212540" y="534815"/>
                    <a:pt x="298127" y="534815"/>
                  </a:cubicBezTo>
                  <a:cubicBezTo>
                    <a:pt x="428181" y="534815"/>
                    <a:pt x="534328" y="429284"/>
                    <a:pt x="534328" y="299401"/>
                  </a:cubicBezTo>
                  <a:cubicBezTo>
                    <a:pt x="534328" y="169517"/>
                    <a:pt x="428181" y="63509"/>
                    <a:pt x="298127" y="63509"/>
                  </a:cubicBezTo>
                  <a:cubicBezTo>
                    <a:pt x="242185" y="63509"/>
                    <a:pt x="187677" y="83565"/>
                    <a:pt x="145123" y="120333"/>
                  </a:cubicBezTo>
                  <a:lnTo>
                    <a:pt x="200587" y="142299"/>
                  </a:lnTo>
                  <a:cubicBezTo>
                    <a:pt x="204890" y="144209"/>
                    <a:pt x="207759" y="148029"/>
                    <a:pt x="208237" y="152327"/>
                  </a:cubicBezTo>
                  <a:cubicBezTo>
                    <a:pt x="208715" y="157102"/>
                    <a:pt x="207281" y="161399"/>
                    <a:pt x="203456" y="164265"/>
                  </a:cubicBezTo>
                  <a:lnTo>
                    <a:pt x="48060" y="285553"/>
                  </a:lnTo>
                  <a:cubicBezTo>
                    <a:pt x="44235" y="288418"/>
                    <a:pt x="39454" y="289373"/>
                    <a:pt x="35150" y="287463"/>
                  </a:cubicBezTo>
                  <a:cubicBezTo>
                    <a:pt x="31325" y="285553"/>
                    <a:pt x="27978" y="281733"/>
                    <a:pt x="27500" y="277435"/>
                  </a:cubicBezTo>
                  <a:lnTo>
                    <a:pt x="246" y="82132"/>
                  </a:lnTo>
                  <a:cubicBezTo>
                    <a:pt x="-710" y="77835"/>
                    <a:pt x="1203" y="73060"/>
                    <a:pt x="4550" y="70194"/>
                  </a:cubicBezTo>
                  <a:cubicBezTo>
                    <a:pt x="8375" y="67807"/>
                    <a:pt x="13156" y="66852"/>
                    <a:pt x="17459" y="68762"/>
                  </a:cubicBezTo>
                  <a:lnTo>
                    <a:pt x="80574" y="94070"/>
                  </a:lnTo>
                  <a:cubicBezTo>
                    <a:pt x="137472" y="33426"/>
                    <a:pt x="214931" y="0"/>
                    <a:pt x="298127" y="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9"/>
              </p:custDataLst>
            </p:nvPr>
          </p:nvSpPr>
          <p:spPr>
            <a:xfrm>
              <a:off x="9648" y="4577"/>
              <a:ext cx="4168" cy="639"/>
            </a:xfrm>
            <a:prstGeom prst="rect">
              <a:avLst/>
            </a:prstGeom>
            <a:noFill/>
          </p:spPr>
          <p:txBody>
            <a:bodyPr wrap="square" lIns="90000" tIns="46800" rIns="90000" bIns="0" anchor="b">
              <a:noAutofit/>
            </a:bodyPr>
            <a:lstStyle>
              <a:defPPr>
                <a:defRPr lang="zh-CN"/>
              </a:defPPr>
              <a:lvl1pPr lvl="0" defTabSz="913765">
                <a:lnSpc>
                  <a:spcPct val="140000"/>
                </a:lnSpc>
                <a:spcBef>
                  <a:spcPct val="0"/>
                </a:spcBef>
                <a:defRPr sz="1600" b="1">
                  <a:solidFill>
                    <a:srgbClr val="1F74A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fontAlgn="auto">
                <a:lnSpc>
                  <a:spcPct val="120000"/>
                </a:lnSpc>
              </a:pPr>
              <a:r>
                <a:rPr lang="zh-CN" altLang="en-US" sz="2000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列表推导式</a:t>
              </a:r>
            </a:p>
          </p:txBody>
        </p:sp>
        <p:cxnSp>
          <p:nvCxnSpPr>
            <p:cNvPr id="33" name="直接连接符 32"/>
            <p:cNvCxnSpPr/>
            <p:nvPr>
              <p:custDataLst>
                <p:tags r:id="rId10"/>
              </p:custDataLst>
            </p:nvPr>
          </p:nvCxnSpPr>
          <p:spPr>
            <a:xfrm>
              <a:off x="8030" y="4988"/>
              <a:ext cx="1252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41" name="椭圆 40"/>
            <p:cNvSpPr/>
            <p:nvPr>
              <p:custDataLst>
                <p:tags r:id="rId11"/>
              </p:custDataLst>
            </p:nvPr>
          </p:nvSpPr>
          <p:spPr>
            <a:xfrm>
              <a:off x="7150" y="6184"/>
              <a:ext cx="731" cy="731"/>
            </a:xfrm>
            <a:prstGeom prst="ellipse">
              <a:avLst/>
            </a:prstGeom>
            <a:solidFill>
              <a:srgbClr val="3498DB"/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任意多边形 16"/>
            <p:cNvSpPr/>
            <p:nvPr>
              <p:custDataLst>
                <p:tags r:id="rId12"/>
              </p:custDataLst>
            </p:nvPr>
          </p:nvSpPr>
          <p:spPr bwMode="auto">
            <a:xfrm>
              <a:off x="7304" y="6351"/>
              <a:ext cx="429" cy="413"/>
            </a:xfrm>
            <a:custGeom>
              <a:avLst/>
              <a:gdLst>
                <a:gd name="T0" fmla="*/ 4096 w 6827"/>
                <a:gd name="T1" fmla="*/ 4551 h 6827"/>
                <a:gd name="T2" fmla="*/ 6258 w 6827"/>
                <a:gd name="T3" fmla="*/ 4096 h 6827"/>
                <a:gd name="T4" fmla="*/ 2348 w 6827"/>
                <a:gd name="T5" fmla="*/ 4911 h 6827"/>
                <a:gd name="T6" fmla="*/ 569 w 6827"/>
                <a:gd name="T7" fmla="*/ 4551 h 6827"/>
                <a:gd name="T8" fmla="*/ 569 w 6827"/>
                <a:gd name="T9" fmla="*/ 3982 h 6827"/>
                <a:gd name="T10" fmla="*/ 1707 w 6827"/>
                <a:gd name="T11" fmla="*/ 2503 h 6827"/>
                <a:gd name="T12" fmla="*/ 3868 w 6827"/>
                <a:gd name="T13" fmla="*/ 2731 h 6827"/>
                <a:gd name="T14" fmla="*/ 5827 w 6827"/>
                <a:gd name="T15" fmla="*/ 2004 h 6827"/>
                <a:gd name="T16" fmla="*/ 6258 w 6827"/>
                <a:gd name="T17" fmla="*/ 1820 h 6827"/>
                <a:gd name="T18" fmla="*/ 4779 w 6827"/>
                <a:gd name="T19" fmla="*/ 0 h 6827"/>
                <a:gd name="T20" fmla="*/ 2854 w 6827"/>
                <a:gd name="T21" fmla="*/ 2381 h 6827"/>
                <a:gd name="T22" fmla="*/ 1239 w 6827"/>
                <a:gd name="T23" fmla="*/ 2257 h 6827"/>
                <a:gd name="T24" fmla="*/ 569 w 6827"/>
                <a:gd name="T25" fmla="*/ 2844 h 6827"/>
                <a:gd name="T26" fmla="*/ 569 w 6827"/>
                <a:gd name="T27" fmla="*/ 2276 h 6827"/>
                <a:gd name="T28" fmla="*/ 569 w 6827"/>
                <a:gd name="T29" fmla="*/ 1707 h 6827"/>
                <a:gd name="T30" fmla="*/ 569 w 6827"/>
                <a:gd name="T31" fmla="*/ 1138 h 6827"/>
                <a:gd name="T32" fmla="*/ 569 w 6827"/>
                <a:gd name="T33" fmla="*/ 569 h 6827"/>
                <a:gd name="T34" fmla="*/ 341 w 6827"/>
                <a:gd name="T35" fmla="*/ 0 h 6827"/>
                <a:gd name="T36" fmla="*/ 114 w 6827"/>
                <a:gd name="T37" fmla="*/ 569 h 6827"/>
                <a:gd name="T38" fmla="*/ 114 w 6827"/>
                <a:gd name="T39" fmla="*/ 1138 h 6827"/>
                <a:gd name="T40" fmla="*/ 114 w 6827"/>
                <a:gd name="T41" fmla="*/ 1707 h 6827"/>
                <a:gd name="T42" fmla="*/ 114 w 6827"/>
                <a:gd name="T43" fmla="*/ 2276 h 6827"/>
                <a:gd name="T44" fmla="*/ 114 w 6827"/>
                <a:gd name="T45" fmla="*/ 2844 h 6827"/>
                <a:gd name="T46" fmla="*/ 114 w 6827"/>
                <a:gd name="T47" fmla="*/ 3413 h 6827"/>
                <a:gd name="T48" fmla="*/ 114 w 6827"/>
                <a:gd name="T49" fmla="*/ 3982 h 6827"/>
                <a:gd name="T50" fmla="*/ 114 w 6827"/>
                <a:gd name="T51" fmla="*/ 4551 h 6827"/>
                <a:gd name="T52" fmla="*/ 114 w 6827"/>
                <a:gd name="T53" fmla="*/ 5120 h 6827"/>
                <a:gd name="T54" fmla="*/ 114 w 6827"/>
                <a:gd name="T55" fmla="*/ 5689 h 6827"/>
                <a:gd name="T56" fmla="*/ 114 w 6827"/>
                <a:gd name="T57" fmla="*/ 6258 h 6827"/>
                <a:gd name="T58" fmla="*/ 683 w 6827"/>
                <a:gd name="T59" fmla="*/ 6713 h 6827"/>
                <a:gd name="T60" fmla="*/ 1252 w 6827"/>
                <a:gd name="T61" fmla="*/ 6713 h 6827"/>
                <a:gd name="T62" fmla="*/ 1820 w 6827"/>
                <a:gd name="T63" fmla="*/ 6713 h 6827"/>
                <a:gd name="T64" fmla="*/ 2389 w 6827"/>
                <a:gd name="T65" fmla="*/ 6713 h 6827"/>
                <a:gd name="T66" fmla="*/ 2958 w 6827"/>
                <a:gd name="T67" fmla="*/ 6713 h 6827"/>
                <a:gd name="T68" fmla="*/ 3527 w 6827"/>
                <a:gd name="T69" fmla="*/ 6713 h 6827"/>
                <a:gd name="T70" fmla="*/ 4096 w 6827"/>
                <a:gd name="T71" fmla="*/ 6713 h 6827"/>
                <a:gd name="T72" fmla="*/ 4665 w 6827"/>
                <a:gd name="T73" fmla="*/ 6713 h 6827"/>
                <a:gd name="T74" fmla="*/ 5234 w 6827"/>
                <a:gd name="T75" fmla="*/ 6713 h 6827"/>
                <a:gd name="T76" fmla="*/ 5803 w 6827"/>
                <a:gd name="T77" fmla="*/ 6713 h 6827"/>
                <a:gd name="T78" fmla="*/ 6371 w 6827"/>
                <a:gd name="T79" fmla="*/ 6713 h 6827"/>
                <a:gd name="T80" fmla="*/ 6827 w 6827"/>
                <a:gd name="T81" fmla="*/ 6485 h 6827"/>
                <a:gd name="T82" fmla="*/ 6371 w 6827"/>
                <a:gd name="T83" fmla="*/ 6258 h 6827"/>
                <a:gd name="T84" fmla="*/ 5803 w 6827"/>
                <a:gd name="T85" fmla="*/ 6258 h 6827"/>
                <a:gd name="T86" fmla="*/ 5234 w 6827"/>
                <a:gd name="T87" fmla="*/ 6258 h 6827"/>
                <a:gd name="T88" fmla="*/ 4665 w 6827"/>
                <a:gd name="T89" fmla="*/ 6258 h 6827"/>
                <a:gd name="T90" fmla="*/ 4096 w 6827"/>
                <a:gd name="T91" fmla="*/ 6258 h 6827"/>
                <a:gd name="T92" fmla="*/ 3527 w 6827"/>
                <a:gd name="T93" fmla="*/ 6258 h 6827"/>
                <a:gd name="T94" fmla="*/ 2958 w 6827"/>
                <a:gd name="T95" fmla="*/ 6258 h 6827"/>
                <a:gd name="T96" fmla="*/ 2389 w 6827"/>
                <a:gd name="T97" fmla="*/ 6258 h 6827"/>
                <a:gd name="T98" fmla="*/ 1820 w 6827"/>
                <a:gd name="T99" fmla="*/ 6258 h 6827"/>
                <a:gd name="T100" fmla="*/ 1252 w 6827"/>
                <a:gd name="T101" fmla="*/ 6258 h 6827"/>
                <a:gd name="T102" fmla="*/ 683 w 6827"/>
                <a:gd name="T103" fmla="*/ 6258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827" h="6827">
                  <a:moveTo>
                    <a:pt x="1263" y="5234"/>
                  </a:moveTo>
                  <a:cubicBezTo>
                    <a:pt x="1316" y="5493"/>
                    <a:pt x="1546" y="5689"/>
                    <a:pt x="1820" y="5689"/>
                  </a:cubicBezTo>
                  <a:cubicBezTo>
                    <a:pt x="2114" y="5689"/>
                    <a:pt x="2354" y="5464"/>
                    <a:pt x="2383" y="5178"/>
                  </a:cubicBezTo>
                  <a:lnTo>
                    <a:pt x="3568" y="4191"/>
                  </a:lnTo>
                  <a:cubicBezTo>
                    <a:pt x="3652" y="4401"/>
                    <a:pt x="3856" y="4551"/>
                    <a:pt x="4096" y="4551"/>
                  </a:cubicBezTo>
                  <a:cubicBezTo>
                    <a:pt x="4348" y="4551"/>
                    <a:pt x="4560" y="4385"/>
                    <a:pt x="4635" y="4157"/>
                  </a:cubicBezTo>
                  <a:lnTo>
                    <a:pt x="5696" y="4736"/>
                  </a:lnTo>
                  <a:cubicBezTo>
                    <a:pt x="5732" y="5016"/>
                    <a:pt x="5969" y="5234"/>
                    <a:pt x="6258" y="5234"/>
                  </a:cubicBezTo>
                  <a:cubicBezTo>
                    <a:pt x="6571" y="5234"/>
                    <a:pt x="6827" y="4979"/>
                    <a:pt x="6827" y="4665"/>
                  </a:cubicBezTo>
                  <a:cubicBezTo>
                    <a:pt x="6827" y="4351"/>
                    <a:pt x="6571" y="4096"/>
                    <a:pt x="6258" y="4096"/>
                  </a:cubicBezTo>
                  <a:cubicBezTo>
                    <a:pt x="6006" y="4096"/>
                    <a:pt x="5794" y="4262"/>
                    <a:pt x="5719" y="4490"/>
                  </a:cubicBezTo>
                  <a:lnTo>
                    <a:pt x="4658" y="3911"/>
                  </a:lnTo>
                  <a:cubicBezTo>
                    <a:pt x="4622" y="3631"/>
                    <a:pt x="4385" y="3413"/>
                    <a:pt x="4096" y="3413"/>
                  </a:cubicBezTo>
                  <a:cubicBezTo>
                    <a:pt x="3802" y="3413"/>
                    <a:pt x="3563" y="3638"/>
                    <a:pt x="3533" y="3924"/>
                  </a:cubicBezTo>
                  <a:lnTo>
                    <a:pt x="2348" y="4911"/>
                  </a:lnTo>
                  <a:cubicBezTo>
                    <a:pt x="2265" y="4701"/>
                    <a:pt x="2060" y="4551"/>
                    <a:pt x="1820" y="4551"/>
                  </a:cubicBezTo>
                  <a:cubicBezTo>
                    <a:pt x="1546" y="4551"/>
                    <a:pt x="1316" y="4747"/>
                    <a:pt x="1263" y="5006"/>
                  </a:cubicBezTo>
                  <a:lnTo>
                    <a:pt x="455" y="5006"/>
                  </a:lnTo>
                  <a:lnTo>
                    <a:pt x="455" y="4551"/>
                  </a:lnTo>
                  <a:lnTo>
                    <a:pt x="569" y="4551"/>
                  </a:lnTo>
                  <a:cubicBezTo>
                    <a:pt x="632" y="4551"/>
                    <a:pt x="683" y="4500"/>
                    <a:pt x="683" y="4437"/>
                  </a:cubicBezTo>
                  <a:cubicBezTo>
                    <a:pt x="683" y="4374"/>
                    <a:pt x="632" y="4324"/>
                    <a:pt x="569" y="4324"/>
                  </a:cubicBezTo>
                  <a:lnTo>
                    <a:pt x="455" y="4324"/>
                  </a:lnTo>
                  <a:lnTo>
                    <a:pt x="455" y="3982"/>
                  </a:lnTo>
                  <a:lnTo>
                    <a:pt x="569" y="3982"/>
                  </a:lnTo>
                  <a:cubicBezTo>
                    <a:pt x="632" y="3982"/>
                    <a:pt x="683" y="3931"/>
                    <a:pt x="683" y="3868"/>
                  </a:cubicBezTo>
                  <a:cubicBezTo>
                    <a:pt x="683" y="3806"/>
                    <a:pt x="632" y="3755"/>
                    <a:pt x="569" y="3755"/>
                  </a:cubicBezTo>
                  <a:lnTo>
                    <a:pt x="480" y="3755"/>
                  </a:lnTo>
                  <a:lnTo>
                    <a:pt x="1407" y="2416"/>
                  </a:lnTo>
                  <a:cubicBezTo>
                    <a:pt x="1494" y="2470"/>
                    <a:pt x="1596" y="2503"/>
                    <a:pt x="1707" y="2503"/>
                  </a:cubicBezTo>
                  <a:cubicBezTo>
                    <a:pt x="1888" y="2503"/>
                    <a:pt x="2048" y="2416"/>
                    <a:pt x="2152" y="2284"/>
                  </a:cubicBezTo>
                  <a:lnTo>
                    <a:pt x="2752" y="2584"/>
                  </a:lnTo>
                  <a:cubicBezTo>
                    <a:pt x="2740" y="2631"/>
                    <a:pt x="2731" y="2680"/>
                    <a:pt x="2731" y="2731"/>
                  </a:cubicBezTo>
                  <a:cubicBezTo>
                    <a:pt x="2731" y="3044"/>
                    <a:pt x="2986" y="3300"/>
                    <a:pt x="3300" y="3300"/>
                  </a:cubicBezTo>
                  <a:cubicBezTo>
                    <a:pt x="3613" y="3300"/>
                    <a:pt x="3868" y="3044"/>
                    <a:pt x="3868" y="2731"/>
                  </a:cubicBezTo>
                  <a:cubicBezTo>
                    <a:pt x="3868" y="2608"/>
                    <a:pt x="3829" y="2496"/>
                    <a:pt x="3763" y="2403"/>
                  </a:cubicBezTo>
                  <a:lnTo>
                    <a:pt x="4488" y="1055"/>
                  </a:lnTo>
                  <a:cubicBezTo>
                    <a:pt x="4574" y="1107"/>
                    <a:pt x="4672" y="1138"/>
                    <a:pt x="4779" y="1138"/>
                  </a:cubicBezTo>
                  <a:cubicBezTo>
                    <a:pt x="4891" y="1138"/>
                    <a:pt x="4995" y="1104"/>
                    <a:pt x="5083" y="1048"/>
                  </a:cubicBezTo>
                  <a:lnTo>
                    <a:pt x="5827" y="2004"/>
                  </a:lnTo>
                  <a:cubicBezTo>
                    <a:pt x="5829" y="2007"/>
                    <a:pt x="5833" y="2009"/>
                    <a:pt x="5836" y="2011"/>
                  </a:cubicBezTo>
                  <a:cubicBezTo>
                    <a:pt x="5745" y="2112"/>
                    <a:pt x="5689" y="2244"/>
                    <a:pt x="5689" y="2389"/>
                  </a:cubicBezTo>
                  <a:cubicBezTo>
                    <a:pt x="5689" y="2703"/>
                    <a:pt x="5944" y="2958"/>
                    <a:pt x="6258" y="2958"/>
                  </a:cubicBezTo>
                  <a:cubicBezTo>
                    <a:pt x="6571" y="2958"/>
                    <a:pt x="6827" y="2703"/>
                    <a:pt x="6827" y="2389"/>
                  </a:cubicBezTo>
                  <a:cubicBezTo>
                    <a:pt x="6827" y="2076"/>
                    <a:pt x="6571" y="1820"/>
                    <a:pt x="6258" y="1820"/>
                  </a:cubicBezTo>
                  <a:cubicBezTo>
                    <a:pt x="6170" y="1820"/>
                    <a:pt x="6087" y="1842"/>
                    <a:pt x="6013" y="1878"/>
                  </a:cubicBezTo>
                  <a:cubicBezTo>
                    <a:pt x="6010" y="1874"/>
                    <a:pt x="6010" y="1869"/>
                    <a:pt x="6006" y="1864"/>
                  </a:cubicBezTo>
                  <a:lnTo>
                    <a:pt x="5248" y="890"/>
                  </a:lnTo>
                  <a:cubicBezTo>
                    <a:pt x="5311" y="798"/>
                    <a:pt x="5348" y="688"/>
                    <a:pt x="5348" y="569"/>
                  </a:cubicBezTo>
                  <a:cubicBezTo>
                    <a:pt x="5348" y="255"/>
                    <a:pt x="5092" y="0"/>
                    <a:pt x="4779" y="0"/>
                  </a:cubicBezTo>
                  <a:cubicBezTo>
                    <a:pt x="4465" y="0"/>
                    <a:pt x="4210" y="255"/>
                    <a:pt x="4210" y="569"/>
                  </a:cubicBezTo>
                  <a:cubicBezTo>
                    <a:pt x="4210" y="691"/>
                    <a:pt x="4249" y="804"/>
                    <a:pt x="4315" y="897"/>
                  </a:cubicBezTo>
                  <a:lnTo>
                    <a:pt x="3590" y="2244"/>
                  </a:lnTo>
                  <a:cubicBezTo>
                    <a:pt x="3505" y="2193"/>
                    <a:pt x="3406" y="2162"/>
                    <a:pt x="3300" y="2162"/>
                  </a:cubicBezTo>
                  <a:cubicBezTo>
                    <a:pt x="3118" y="2162"/>
                    <a:pt x="2959" y="2248"/>
                    <a:pt x="2854" y="2381"/>
                  </a:cubicBezTo>
                  <a:lnTo>
                    <a:pt x="2254" y="2081"/>
                  </a:lnTo>
                  <a:cubicBezTo>
                    <a:pt x="2267" y="2034"/>
                    <a:pt x="2276" y="1985"/>
                    <a:pt x="2276" y="1934"/>
                  </a:cubicBezTo>
                  <a:cubicBezTo>
                    <a:pt x="2276" y="1621"/>
                    <a:pt x="2020" y="1365"/>
                    <a:pt x="1707" y="1365"/>
                  </a:cubicBezTo>
                  <a:cubicBezTo>
                    <a:pt x="1393" y="1365"/>
                    <a:pt x="1138" y="1621"/>
                    <a:pt x="1138" y="1934"/>
                  </a:cubicBezTo>
                  <a:cubicBezTo>
                    <a:pt x="1138" y="2054"/>
                    <a:pt x="1176" y="2166"/>
                    <a:pt x="1239" y="2257"/>
                  </a:cubicBezTo>
                  <a:lnTo>
                    <a:pt x="593" y="3191"/>
                  </a:lnTo>
                  <a:cubicBezTo>
                    <a:pt x="585" y="3189"/>
                    <a:pt x="578" y="3186"/>
                    <a:pt x="569" y="3186"/>
                  </a:cubicBezTo>
                  <a:lnTo>
                    <a:pt x="455" y="3186"/>
                  </a:lnTo>
                  <a:lnTo>
                    <a:pt x="455" y="2844"/>
                  </a:lnTo>
                  <a:lnTo>
                    <a:pt x="569" y="2844"/>
                  </a:lnTo>
                  <a:cubicBezTo>
                    <a:pt x="632" y="2844"/>
                    <a:pt x="683" y="2794"/>
                    <a:pt x="683" y="2731"/>
                  </a:cubicBezTo>
                  <a:cubicBezTo>
                    <a:pt x="683" y="2668"/>
                    <a:pt x="632" y="2617"/>
                    <a:pt x="569" y="2617"/>
                  </a:cubicBezTo>
                  <a:lnTo>
                    <a:pt x="455" y="2617"/>
                  </a:lnTo>
                  <a:lnTo>
                    <a:pt x="455" y="2276"/>
                  </a:lnTo>
                  <a:lnTo>
                    <a:pt x="569" y="2276"/>
                  </a:lnTo>
                  <a:cubicBezTo>
                    <a:pt x="632" y="2276"/>
                    <a:pt x="683" y="2225"/>
                    <a:pt x="683" y="2162"/>
                  </a:cubicBezTo>
                  <a:cubicBezTo>
                    <a:pt x="683" y="2099"/>
                    <a:pt x="632" y="2048"/>
                    <a:pt x="569" y="2048"/>
                  </a:cubicBezTo>
                  <a:lnTo>
                    <a:pt x="455" y="2048"/>
                  </a:lnTo>
                  <a:lnTo>
                    <a:pt x="455" y="1707"/>
                  </a:lnTo>
                  <a:lnTo>
                    <a:pt x="569" y="1707"/>
                  </a:lnTo>
                  <a:cubicBezTo>
                    <a:pt x="632" y="1707"/>
                    <a:pt x="683" y="1656"/>
                    <a:pt x="683" y="1593"/>
                  </a:cubicBezTo>
                  <a:cubicBezTo>
                    <a:pt x="683" y="1530"/>
                    <a:pt x="632" y="1479"/>
                    <a:pt x="569" y="1479"/>
                  </a:cubicBezTo>
                  <a:lnTo>
                    <a:pt x="455" y="1479"/>
                  </a:lnTo>
                  <a:lnTo>
                    <a:pt x="455" y="1138"/>
                  </a:lnTo>
                  <a:lnTo>
                    <a:pt x="569" y="1138"/>
                  </a:lnTo>
                  <a:cubicBezTo>
                    <a:pt x="632" y="1138"/>
                    <a:pt x="683" y="1087"/>
                    <a:pt x="683" y="1024"/>
                  </a:cubicBezTo>
                  <a:cubicBezTo>
                    <a:pt x="683" y="961"/>
                    <a:pt x="632" y="910"/>
                    <a:pt x="569" y="910"/>
                  </a:cubicBezTo>
                  <a:lnTo>
                    <a:pt x="455" y="910"/>
                  </a:lnTo>
                  <a:lnTo>
                    <a:pt x="455" y="569"/>
                  </a:lnTo>
                  <a:lnTo>
                    <a:pt x="569" y="569"/>
                  </a:lnTo>
                  <a:cubicBezTo>
                    <a:pt x="632" y="569"/>
                    <a:pt x="683" y="518"/>
                    <a:pt x="683" y="455"/>
                  </a:cubicBezTo>
                  <a:cubicBezTo>
                    <a:pt x="683" y="392"/>
                    <a:pt x="632" y="341"/>
                    <a:pt x="569" y="341"/>
                  </a:cubicBezTo>
                  <a:lnTo>
                    <a:pt x="455" y="341"/>
                  </a:lnTo>
                  <a:lnTo>
                    <a:pt x="455" y="114"/>
                  </a:lnTo>
                  <a:cubicBezTo>
                    <a:pt x="455" y="51"/>
                    <a:pt x="404" y="0"/>
                    <a:pt x="341" y="0"/>
                  </a:cubicBezTo>
                  <a:cubicBezTo>
                    <a:pt x="278" y="0"/>
                    <a:pt x="228" y="51"/>
                    <a:pt x="228" y="114"/>
                  </a:cubicBezTo>
                  <a:lnTo>
                    <a:pt x="228" y="341"/>
                  </a:lnTo>
                  <a:lnTo>
                    <a:pt x="114" y="341"/>
                  </a:lnTo>
                  <a:cubicBezTo>
                    <a:pt x="51" y="341"/>
                    <a:pt x="0" y="392"/>
                    <a:pt x="0" y="455"/>
                  </a:cubicBezTo>
                  <a:cubicBezTo>
                    <a:pt x="0" y="518"/>
                    <a:pt x="51" y="569"/>
                    <a:pt x="114" y="569"/>
                  </a:cubicBezTo>
                  <a:lnTo>
                    <a:pt x="228" y="569"/>
                  </a:lnTo>
                  <a:lnTo>
                    <a:pt x="228" y="910"/>
                  </a:lnTo>
                  <a:lnTo>
                    <a:pt x="114" y="910"/>
                  </a:lnTo>
                  <a:cubicBezTo>
                    <a:pt x="51" y="910"/>
                    <a:pt x="0" y="961"/>
                    <a:pt x="0" y="1024"/>
                  </a:cubicBezTo>
                  <a:cubicBezTo>
                    <a:pt x="0" y="1087"/>
                    <a:pt x="51" y="1138"/>
                    <a:pt x="114" y="1138"/>
                  </a:cubicBezTo>
                  <a:lnTo>
                    <a:pt x="228" y="1138"/>
                  </a:lnTo>
                  <a:lnTo>
                    <a:pt x="228" y="1479"/>
                  </a:lnTo>
                  <a:lnTo>
                    <a:pt x="114" y="1479"/>
                  </a:lnTo>
                  <a:cubicBezTo>
                    <a:pt x="51" y="1479"/>
                    <a:pt x="0" y="1530"/>
                    <a:pt x="0" y="1593"/>
                  </a:cubicBezTo>
                  <a:cubicBezTo>
                    <a:pt x="0" y="1656"/>
                    <a:pt x="51" y="1707"/>
                    <a:pt x="114" y="1707"/>
                  </a:cubicBezTo>
                  <a:lnTo>
                    <a:pt x="228" y="1707"/>
                  </a:lnTo>
                  <a:lnTo>
                    <a:pt x="228" y="2048"/>
                  </a:lnTo>
                  <a:lnTo>
                    <a:pt x="114" y="2048"/>
                  </a:lnTo>
                  <a:cubicBezTo>
                    <a:pt x="51" y="2048"/>
                    <a:pt x="0" y="2099"/>
                    <a:pt x="0" y="2162"/>
                  </a:cubicBezTo>
                  <a:cubicBezTo>
                    <a:pt x="0" y="2225"/>
                    <a:pt x="51" y="2276"/>
                    <a:pt x="114" y="2276"/>
                  </a:cubicBezTo>
                  <a:lnTo>
                    <a:pt x="228" y="2276"/>
                  </a:lnTo>
                  <a:lnTo>
                    <a:pt x="228" y="2617"/>
                  </a:lnTo>
                  <a:lnTo>
                    <a:pt x="114" y="2617"/>
                  </a:lnTo>
                  <a:cubicBezTo>
                    <a:pt x="51" y="2617"/>
                    <a:pt x="0" y="2668"/>
                    <a:pt x="0" y="2731"/>
                  </a:cubicBezTo>
                  <a:cubicBezTo>
                    <a:pt x="0" y="2794"/>
                    <a:pt x="51" y="2844"/>
                    <a:pt x="114" y="2844"/>
                  </a:cubicBezTo>
                  <a:lnTo>
                    <a:pt x="228" y="2844"/>
                  </a:lnTo>
                  <a:lnTo>
                    <a:pt x="228" y="3186"/>
                  </a:lnTo>
                  <a:lnTo>
                    <a:pt x="114" y="3186"/>
                  </a:lnTo>
                  <a:cubicBezTo>
                    <a:pt x="51" y="3186"/>
                    <a:pt x="0" y="3237"/>
                    <a:pt x="0" y="3300"/>
                  </a:cubicBezTo>
                  <a:cubicBezTo>
                    <a:pt x="0" y="3362"/>
                    <a:pt x="51" y="3413"/>
                    <a:pt x="114" y="3413"/>
                  </a:cubicBezTo>
                  <a:lnTo>
                    <a:pt x="228" y="3413"/>
                  </a:lnTo>
                  <a:lnTo>
                    <a:pt x="228" y="3755"/>
                  </a:lnTo>
                  <a:lnTo>
                    <a:pt x="114" y="3755"/>
                  </a:lnTo>
                  <a:cubicBezTo>
                    <a:pt x="51" y="3755"/>
                    <a:pt x="0" y="3806"/>
                    <a:pt x="0" y="3868"/>
                  </a:cubicBezTo>
                  <a:cubicBezTo>
                    <a:pt x="0" y="3931"/>
                    <a:pt x="51" y="3982"/>
                    <a:pt x="114" y="3982"/>
                  </a:cubicBezTo>
                  <a:lnTo>
                    <a:pt x="228" y="3982"/>
                  </a:lnTo>
                  <a:lnTo>
                    <a:pt x="228" y="4324"/>
                  </a:lnTo>
                  <a:lnTo>
                    <a:pt x="114" y="4324"/>
                  </a:lnTo>
                  <a:cubicBezTo>
                    <a:pt x="51" y="4324"/>
                    <a:pt x="0" y="4374"/>
                    <a:pt x="0" y="4437"/>
                  </a:cubicBezTo>
                  <a:cubicBezTo>
                    <a:pt x="0" y="4500"/>
                    <a:pt x="51" y="4551"/>
                    <a:pt x="114" y="4551"/>
                  </a:cubicBezTo>
                  <a:lnTo>
                    <a:pt x="228" y="4551"/>
                  </a:lnTo>
                  <a:lnTo>
                    <a:pt x="228" y="4892"/>
                  </a:lnTo>
                  <a:lnTo>
                    <a:pt x="114" y="4892"/>
                  </a:lnTo>
                  <a:cubicBezTo>
                    <a:pt x="51" y="4892"/>
                    <a:pt x="0" y="4943"/>
                    <a:pt x="0" y="5006"/>
                  </a:cubicBezTo>
                  <a:cubicBezTo>
                    <a:pt x="0" y="5069"/>
                    <a:pt x="51" y="5120"/>
                    <a:pt x="114" y="5120"/>
                  </a:cubicBezTo>
                  <a:lnTo>
                    <a:pt x="228" y="5120"/>
                  </a:lnTo>
                  <a:lnTo>
                    <a:pt x="228" y="5461"/>
                  </a:lnTo>
                  <a:lnTo>
                    <a:pt x="114" y="5461"/>
                  </a:lnTo>
                  <a:cubicBezTo>
                    <a:pt x="51" y="5461"/>
                    <a:pt x="0" y="5512"/>
                    <a:pt x="0" y="5575"/>
                  </a:cubicBezTo>
                  <a:cubicBezTo>
                    <a:pt x="0" y="5638"/>
                    <a:pt x="51" y="5689"/>
                    <a:pt x="114" y="5689"/>
                  </a:cubicBezTo>
                  <a:lnTo>
                    <a:pt x="228" y="5689"/>
                  </a:lnTo>
                  <a:lnTo>
                    <a:pt x="228" y="6030"/>
                  </a:lnTo>
                  <a:lnTo>
                    <a:pt x="114" y="6030"/>
                  </a:lnTo>
                  <a:cubicBezTo>
                    <a:pt x="51" y="6030"/>
                    <a:pt x="0" y="6081"/>
                    <a:pt x="0" y="6144"/>
                  </a:cubicBezTo>
                  <a:cubicBezTo>
                    <a:pt x="0" y="6207"/>
                    <a:pt x="51" y="6258"/>
                    <a:pt x="114" y="6258"/>
                  </a:cubicBezTo>
                  <a:lnTo>
                    <a:pt x="228" y="6258"/>
                  </a:lnTo>
                  <a:lnTo>
                    <a:pt x="228" y="6485"/>
                  </a:lnTo>
                  <a:cubicBezTo>
                    <a:pt x="228" y="6548"/>
                    <a:pt x="278" y="6599"/>
                    <a:pt x="341" y="6599"/>
                  </a:cubicBezTo>
                  <a:lnTo>
                    <a:pt x="683" y="6599"/>
                  </a:lnTo>
                  <a:lnTo>
                    <a:pt x="683" y="6713"/>
                  </a:lnTo>
                  <a:cubicBezTo>
                    <a:pt x="683" y="6776"/>
                    <a:pt x="734" y="6827"/>
                    <a:pt x="796" y="6827"/>
                  </a:cubicBezTo>
                  <a:cubicBezTo>
                    <a:pt x="859" y="6827"/>
                    <a:pt x="910" y="6776"/>
                    <a:pt x="910" y="6713"/>
                  </a:cubicBezTo>
                  <a:lnTo>
                    <a:pt x="910" y="6599"/>
                  </a:lnTo>
                  <a:lnTo>
                    <a:pt x="1252" y="6599"/>
                  </a:lnTo>
                  <a:lnTo>
                    <a:pt x="1252" y="6713"/>
                  </a:lnTo>
                  <a:cubicBezTo>
                    <a:pt x="1252" y="6776"/>
                    <a:pt x="1302" y="6827"/>
                    <a:pt x="1365" y="6827"/>
                  </a:cubicBezTo>
                  <a:cubicBezTo>
                    <a:pt x="1428" y="6827"/>
                    <a:pt x="1479" y="6776"/>
                    <a:pt x="1479" y="6713"/>
                  </a:cubicBezTo>
                  <a:lnTo>
                    <a:pt x="1479" y="6599"/>
                  </a:lnTo>
                  <a:lnTo>
                    <a:pt x="1820" y="6599"/>
                  </a:lnTo>
                  <a:lnTo>
                    <a:pt x="1820" y="6713"/>
                  </a:lnTo>
                  <a:cubicBezTo>
                    <a:pt x="1820" y="6776"/>
                    <a:pt x="1871" y="6827"/>
                    <a:pt x="1934" y="6827"/>
                  </a:cubicBezTo>
                  <a:cubicBezTo>
                    <a:pt x="1997" y="6827"/>
                    <a:pt x="2048" y="6776"/>
                    <a:pt x="2048" y="6713"/>
                  </a:cubicBezTo>
                  <a:lnTo>
                    <a:pt x="2048" y="6599"/>
                  </a:lnTo>
                  <a:lnTo>
                    <a:pt x="2389" y="6599"/>
                  </a:lnTo>
                  <a:lnTo>
                    <a:pt x="2389" y="6713"/>
                  </a:lnTo>
                  <a:cubicBezTo>
                    <a:pt x="2389" y="6776"/>
                    <a:pt x="2440" y="6827"/>
                    <a:pt x="2503" y="6827"/>
                  </a:cubicBezTo>
                  <a:cubicBezTo>
                    <a:pt x="2566" y="6827"/>
                    <a:pt x="2617" y="6776"/>
                    <a:pt x="2617" y="6713"/>
                  </a:cubicBezTo>
                  <a:lnTo>
                    <a:pt x="2617" y="6599"/>
                  </a:lnTo>
                  <a:lnTo>
                    <a:pt x="2958" y="6599"/>
                  </a:lnTo>
                  <a:lnTo>
                    <a:pt x="2958" y="6713"/>
                  </a:lnTo>
                  <a:cubicBezTo>
                    <a:pt x="2958" y="6776"/>
                    <a:pt x="3009" y="6827"/>
                    <a:pt x="3072" y="6827"/>
                  </a:cubicBezTo>
                  <a:cubicBezTo>
                    <a:pt x="3135" y="6827"/>
                    <a:pt x="3186" y="6776"/>
                    <a:pt x="3186" y="6713"/>
                  </a:cubicBezTo>
                  <a:lnTo>
                    <a:pt x="3186" y="6599"/>
                  </a:lnTo>
                  <a:lnTo>
                    <a:pt x="3527" y="6599"/>
                  </a:lnTo>
                  <a:lnTo>
                    <a:pt x="3527" y="6713"/>
                  </a:lnTo>
                  <a:cubicBezTo>
                    <a:pt x="3527" y="6776"/>
                    <a:pt x="3578" y="6827"/>
                    <a:pt x="3641" y="6827"/>
                  </a:cubicBezTo>
                  <a:cubicBezTo>
                    <a:pt x="3704" y="6827"/>
                    <a:pt x="3755" y="6776"/>
                    <a:pt x="3755" y="6713"/>
                  </a:cubicBezTo>
                  <a:lnTo>
                    <a:pt x="3755" y="6599"/>
                  </a:lnTo>
                  <a:lnTo>
                    <a:pt x="4096" y="6599"/>
                  </a:lnTo>
                  <a:lnTo>
                    <a:pt x="4096" y="6713"/>
                  </a:lnTo>
                  <a:cubicBezTo>
                    <a:pt x="4096" y="6776"/>
                    <a:pt x="4147" y="6827"/>
                    <a:pt x="4210" y="6827"/>
                  </a:cubicBezTo>
                  <a:cubicBezTo>
                    <a:pt x="4273" y="6827"/>
                    <a:pt x="4323" y="6776"/>
                    <a:pt x="4323" y="6713"/>
                  </a:cubicBezTo>
                  <a:lnTo>
                    <a:pt x="4323" y="6599"/>
                  </a:lnTo>
                  <a:lnTo>
                    <a:pt x="4665" y="6599"/>
                  </a:lnTo>
                  <a:lnTo>
                    <a:pt x="4665" y="6713"/>
                  </a:lnTo>
                  <a:cubicBezTo>
                    <a:pt x="4665" y="6776"/>
                    <a:pt x="4716" y="6827"/>
                    <a:pt x="4779" y="6827"/>
                  </a:cubicBezTo>
                  <a:cubicBezTo>
                    <a:pt x="4842" y="6827"/>
                    <a:pt x="4892" y="6776"/>
                    <a:pt x="4892" y="6713"/>
                  </a:cubicBezTo>
                  <a:lnTo>
                    <a:pt x="4892" y="6599"/>
                  </a:lnTo>
                  <a:lnTo>
                    <a:pt x="5234" y="6599"/>
                  </a:lnTo>
                  <a:lnTo>
                    <a:pt x="5234" y="6713"/>
                  </a:lnTo>
                  <a:cubicBezTo>
                    <a:pt x="5234" y="6776"/>
                    <a:pt x="5285" y="6827"/>
                    <a:pt x="5347" y="6827"/>
                  </a:cubicBezTo>
                  <a:cubicBezTo>
                    <a:pt x="5410" y="6827"/>
                    <a:pt x="5461" y="6776"/>
                    <a:pt x="5461" y="6713"/>
                  </a:cubicBezTo>
                  <a:lnTo>
                    <a:pt x="5461" y="6599"/>
                  </a:lnTo>
                  <a:lnTo>
                    <a:pt x="5803" y="6599"/>
                  </a:lnTo>
                  <a:lnTo>
                    <a:pt x="5803" y="6713"/>
                  </a:lnTo>
                  <a:cubicBezTo>
                    <a:pt x="5803" y="6776"/>
                    <a:pt x="5853" y="6827"/>
                    <a:pt x="5916" y="6827"/>
                  </a:cubicBezTo>
                  <a:cubicBezTo>
                    <a:pt x="5979" y="6827"/>
                    <a:pt x="6030" y="6776"/>
                    <a:pt x="6030" y="6713"/>
                  </a:cubicBezTo>
                  <a:lnTo>
                    <a:pt x="6030" y="6599"/>
                  </a:lnTo>
                  <a:lnTo>
                    <a:pt x="6371" y="6599"/>
                  </a:lnTo>
                  <a:lnTo>
                    <a:pt x="6371" y="6713"/>
                  </a:lnTo>
                  <a:cubicBezTo>
                    <a:pt x="6371" y="6776"/>
                    <a:pt x="6422" y="6827"/>
                    <a:pt x="6485" y="6827"/>
                  </a:cubicBezTo>
                  <a:cubicBezTo>
                    <a:pt x="6548" y="6827"/>
                    <a:pt x="6599" y="6776"/>
                    <a:pt x="6599" y="6713"/>
                  </a:cubicBezTo>
                  <a:lnTo>
                    <a:pt x="6599" y="6599"/>
                  </a:lnTo>
                  <a:lnTo>
                    <a:pt x="6713" y="6599"/>
                  </a:lnTo>
                  <a:cubicBezTo>
                    <a:pt x="6776" y="6599"/>
                    <a:pt x="6827" y="6548"/>
                    <a:pt x="6827" y="6485"/>
                  </a:cubicBezTo>
                  <a:cubicBezTo>
                    <a:pt x="6827" y="6422"/>
                    <a:pt x="6776" y="6372"/>
                    <a:pt x="6713" y="6372"/>
                  </a:cubicBezTo>
                  <a:lnTo>
                    <a:pt x="6599" y="6372"/>
                  </a:lnTo>
                  <a:lnTo>
                    <a:pt x="6599" y="6258"/>
                  </a:lnTo>
                  <a:cubicBezTo>
                    <a:pt x="6599" y="6195"/>
                    <a:pt x="6548" y="6144"/>
                    <a:pt x="6485" y="6144"/>
                  </a:cubicBezTo>
                  <a:cubicBezTo>
                    <a:pt x="6422" y="6144"/>
                    <a:pt x="6371" y="6195"/>
                    <a:pt x="6371" y="6258"/>
                  </a:cubicBezTo>
                  <a:lnTo>
                    <a:pt x="6371" y="6372"/>
                  </a:lnTo>
                  <a:lnTo>
                    <a:pt x="6030" y="6372"/>
                  </a:lnTo>
                  <a:lnTo>
                    <a:pt x="6030" y="6258"/>
                  </a:lnTo>
                  <a:cubicBezTo>
                    <a:pt x="6030" y="6195"/>
                    <a:pt x="5979" y="6144"/>
                    <a:pt x="5916" y="6144"/>
                  </a:cubicBezTo>
                  <a:cubicBezTo>
                    <a:pt x="5853" y="6144"/>
                    <a:pt x="5803" y="6195"/>
                    <a:pt x="5803" y="6258"/>
                  </a:cubicBezTo>
                  <a:lnTo>
                    <a:pt x="5803" y="6372"/>
                  </a:lnTo>
                  <a:lnTo>
                    <a:pt x="5461" y="6372"/>
                  </a:lnTo>
                  <a:lnTo>
                    <a:pt x="5461" y="6258"/>
                  </a:lnTo>
                  <a:cubicBezTo>
                    <a:pt x="5461" y="6195"/>
                    <a:pt x="5410" y="6144"/>
                    <a:pt x="5347" y="6144"/>
                  </a:cubicBezTo>
                  <a:cubicBezTo>
                    <a:pt x="5285" y="6144"/>
                    <a:pt x="5234" y="6195"/>
                    <a:pt x="5234" y="6258"/>
                  </a:cubicBezTo>
                  <a:lnTo>
                    <a:pt x="5234" y="6372"/>
                  </a:lnTo>
                  <a:lnTo>
                    <a:pt x="4892" y="6372"/>
                  </a:lnTo>
                  <a:lnTo>
                    <a:pt x="4892" y="6258"/>
                  </a:lnTo>
                  <a:cubicBezTo>
                    <a:pt x="4892" y="6195"/>
                    <a:pt x="4842" y="6144"/>
                    <a:pt x="4779" y="6144"/>
                  </a:cubicBezTo>
                  <a:cubicBezTo>
                    <a:pt x="4716" y="6144"/>
                    <a:pt x="4665" y="6195"/>
                    <a:pt x="4665" y="6258"/>
                  </a:cubicBezTo>
                  <a:lnTo>
                    <a:pt x="4665" y="6372"/>
                  </a:lnTo>
                  <a:lnTo>
                    <a:pt x="4323" y="6372"/>
                  </a:lnTo>
                  <a:lnTo>
                    <a:pt x="4323" y="6258"/>
                  </a:lnTo>
                  <a:cubicBezTo>
                    <a:pt x="4323" y="6195"/>
                    <a:pt x="4273" y="6144"/>
                    <a:pt x="4210" y="6144"/>
                  </a:cubicBezTo>
                  <a:cubicBezTo>
                    <a:pt x="4147" y="6144"/>
                    <a:pt x="4096" y="6195"/>
                    <a:pt x="4096" y="6258"/>
                  </a:cubicBezTo>
                  <a:lnTo>
                    <a:pt x="4096" y="6372"/>
                  </a:lnTo>
                  <a:lnTo>
                    <a:pt x="3755" y="6372"/>
                  </a:lnTo>
                  <a:lnTo>
                    <a:pt x="3755" y="6258"/>
                  </a:lnTo>
                  <a:cubicBezTo>
                    <a:pt x="3755" y="6195"/>
                    <a:pt x="3704" y="6144"/>
                    <a:pt x="3641" y="6144"/>
                  </a:cubicBezTo>
                  <a:cubicBezTo>
                    <a:pt x="3578" y="6144"/>
                    <a:pt x="3527" y="6195"/>
                    <a:pt x="3527" y="6258"/>
                  </a:cubicBezTo>
                  <a:lnTo>
                    <a:pt x="3527" y="6372"/>
                  </a:lnTo>
                  <a:lnTo>
                    <a:pt x="3186" y="6372"/>
                  </a:lnTo>
                  <a:lnTo>
                    <a:pt x="3186" y="6258"/>
                  </a:lnTo>
                  <a:cubicBezTo>
                    <a:pt x="3186" y="6195"/>
                    <a:pt x="3135" y="6144"/>
                    <a:pt x="3072" y="6144"/>
                  </a:cubicBezTo>
                  <a:cubicBezTo>
                    <a:pt x="3009" y="6144"/>
                    <a:pt x="2958" y="6195"/>
                    <a:pt x="2958" y="6258"/>
                  </a:cubicBezTo>
                  <a:lnTo>
                    <a:pt x="2958" y="6372"/>
                  </a:lnTo>
                  <a:lnTo>
                    <a:pt x="2617" y="6372"/>
                  </a:lnTo>
                  <a:lnTo>
                    <a:pt x="2617" y="6258"/>
                  </a:lnTo>
                  <a:cubicBezTo>
                    <a:pt x="2617" y="6195"/>
                    <a:pt x="2566" y="6144"/>
                    <a:pt x="2503" y="6144"/>
                  </a:cubicBezTo>
                  <a:cubicBezTo>
                    <a:pt x="2440" y="6144"/>
                    <a:pt x="2389" y="6195"/>
                    <a:pt x="2389" y="6258"/>
                  </a:cubicBezTo>
                  <a:lnTo>
                    <a:pt x="2389" y="6372"/>
                  </a:lnTo>
                  <a:lnTo>
                    <a:pt x="2048" y="6372"/>
                  </a:lnTo>
                  <a:lnTo>
                    <a:pt x="2048" y="6258"/>
                  </a:lnTo>
                  <a:cubicBezTo>
                    <a:pt x="2048" y="6195"/>
                    <a:pt x="1997" y="6144"/>
                    <a:pt x="1934" y="6144"/>
                  </a:cubicBezTo>
                  <a:cubicBezTo>
                    <a:pt x="1871" y="6144"/>
                    <a:pt x="1820" y="6195"/>
                    <a:pt x="1820" y="6258"/>
                  </a:cubicBezTo>
                  <a:lnTo>
                    <a:pt x="1820" y="6372"/>
                  </a:lnTo>
                  <a:lnTo>
                    <a:pt x="1479" y="6372"/>
                  </a:lnTo>
                  <a:lnTo>
                    <a:pt x="1479" y="6258"/>
                  </a:lnTo>
                  <a:cubicBezTo>
                    <a:pt x="1479" y="6195"/>
                    <a:pt x="1428" y="6144"/>
                    <a:pt x="1365" y="6144"/>
                  </a:cubicBezTo>
                  <a:cubicBezTo>
                    <a:pt x="1302" y="6144"/>
                    <a:pt x="1252" y="6195"/>
                    <a:pt x="1252" y="6258"/>
                  </a:cubicBezTo>
                  <a:lnTo>
                    <a:pt x="1252" y="6372"/>
                  </a:lnTo>
                  <a:lnTo>
                    <a:pt x="910" y="6372"/>
                  </a:lnTo>
                  <a:lnTo>
                    <a:pt x="910" y="6258"/>
                  </a:lnTo>
                  <a:cubicBezTo>
                    <a:pt x="910" y="6195"/>
                    <a:pt x="859" y="6144"/>
                    <a:pt x="796" y="6144"/>
                  </a:cubicBezTo>
                  <a:cubicBezTo>
                    <a:pt x="734" y="6144"/>
                    <a:pt x="683" y="6195"/>
                    <a:pt x="683" y="6258"/>
                  </a:cubicBezTo>
                  <a:lnTo>
                    <a:pt x="683" y="6372"/>
                  </a:lnTo>
                  <a:lnTo>
                    <a:pt x="455" y="6372"/>
                  </a:lnTo>
                  <a:lnTo>
                    <a:pt x="455" y="5234"/>
                  </a:lnTo>
                  <a:lnTo>
                    <a:pt x="1263" y="523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连接符 42"/>
            <p:cNvCxnSpPr/>
            <p:nvPr>
              <p:custDataLst>
                <p:tags r:id="rId13"/>
              </p:custDataLst>
            </p:nvPr>
          </p:nvCxnSpPr>
          <p:spPr>
            <a:xfrm flipH="1">
              <a:off x="8026" y="6546"/>
              <a:ext cx="1259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45" name="文本框 44"/>
            <p:cNvSpPr txBox="1"/>
            <p:nvPr>
              <p:custDataLst>
                <p:tags r:id="rId14"/>
              </p:custDataLst>
            </p:nvPr>
          </p:nvSpPr>
          <p:spPr>
            <a:xfrm>
              <a:off x="9648" y="7604"/>
              <a:ext cx="4168" cy="639"/>
            </a:xfrm>
            <a:prstGeom prst="rect">
              <a:avLst/>
            </a:prstGeom>
            <a:noFill/>
          </p:spPr>
          <p:txBody>
            <a:bodyPr wrap="square" lIns="90000" tIns="46800" rIns="90000" bIns="0" anchor="b">
              <a:noAutofit/>
            </a:bodyPr>
            <a:lstStyle>
              <a:defPPr>
                <a:defRPr lang="zh-CN"/>
              </a:defPPr>
              <a:lvl1pPr lvl="0" defTabSz="913765">
                <a:lnSpc>
                  <a:spcPct val="140000"/>
                </a:lnSpc>
                <a:spcBef>
                  <a:spcPct val="0"/>
                </a:spcBef>
                <a:defRPr sz="1600" b="1">
                  <a:solidFill>
                    <a:srgbClr val="1F74A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fontAlgn="auto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rgbClr val="1AA3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集合推导式</a:t>
              </a:r>
            </a:p>
          </p:txBody>
        </p:sp>
        <p:sp>
          <p:nvSpPr>
            <p:cNvPr id="48" name="椭圆 47"/>
            <p:cNvSpPr/>
            <p:nvPr>
              <p:custDataLst>
                <p:tags r:id="rId15"/>
              </p:custDataLst>
            </p:nvPr>
          </p:nvSpPr>
          <p:spPr>
            <a:xfrm>
              <a:off x="7150" y="7725"/>
              <a:ext cx="731" cy="731"/>
            </a:xfrm>
            <a:prstGeom prst="ellipse">
              <a:avLst/>
            </a:prstGeom>
            <a:solidFill>
              <a:srgbClr val="1AA3AA"/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任意多边形 20"/>
            <p:cNvSpPr/>
            <p:nvPr>
              <p:custDataLst>
                <p:tags r:id="rId16"/>
              </p:custDataLst>
            </p:nvPr>
          </p:nvSpPr>
          <p:spPr bwMode="auto">
            <a:xfrm>
              <a:off x="7301" y="7884"/>
              <a:ext cx="429" cy="413"/>
            </a:xfrm>
            <a:custGeom>
              <a:avLst/>
              <a:gdLst>
                <a:gd name="T0" fmla="*/ 3413 w 6827"/>
                <a:gd name="T1" fmla="*/ 0 h 5912"/>
                <a:gd name="T2" fmla="*/ 0 w 6827"/>
                <a:gd name="T3" fmla="*/ 5912 h 5912"/>
                <a:gd name="T4" fmla="*/ 6827 w 6827"/>
                <a:gd name="T5" fmla="*/ 5912 h 5912"/>
                <a:gd name="T6" fmla="*/ 3413 w 6827"/>
                <a:gd name="T7" fmla="*/ 0 h 5912"/>
                <a:gd name="T8" fmla="*/ 3413 w 6827"/>
                <a:gd name="T9" fmla="*/ 972 h 5912"/>
                <a:gd name="T10" fmla="*/ 4489 w 6827"/>
                <a:gd name="T11" fmla="*/ 2835 h 5912"/>
                <a:gd name="T12" fmla="*/ 2338 w 6827"/>
                <a:gd name="T13" fmla="*/ 2835 h 5912"/>
                <a:gd name="T14" fmla="*/ 3413 w 6827"/>
                <a:gd name="T15" fmla="*/ 972 h 5912"/>
                <a:gd name="T16" fmla="*/ 842 w 6827"/>
                <a:gd name="T17" fmla="*/ 5426 h 5912"/>
                <a:gd name="T18" fmla="*/ 1917 w 6827"/>
                <a:gd name="T19" fmla="*/ 3564 h 5912"/>
                <a:gd name="T20" fmla="*/ 2993 w 6827"/>
                <a:gd name="T21" fmla="*/ 5426 h 5912"/>
                <a:gd name="T22" fmla="*/ 842 w 6827"/>
                <a:gd name="T23" fmla="*/ 5426 h 5912"/>
                <a:gd name="T24" fmla="*/ 2338 w 6827"/>
                <a:gd name="T25" fmla="*/ 3321 h 5912"/>
                <a:gd name="T26" fmla="*/ 4489 w 6827"/>
                <a:gd name="T27" fmla="*/ 3321 h 5912"/>
                <a:gd name="T28" fmla="*/ 3413 w 6827"/>
                <a:gd name="T29" fmla="*/ 5183 h 5912"/>
                <a:gd name="T30" fmla="*/ 2338 w 6827"/>
                <a:gd name="T31" fmla="*/ 3321 h 5912"/>
                <a:gd name="T32" fmla="*/ 4910 w 6827"/>
                <a:gd name="T33" fmla="*/ 3564 h 5912"/>
                <a:gd name="T34" fmla="*/ 5985 w 6827"/>
                <a:gd name="T35" fmla="*/ 5426 h 5912"/>
                <a:gd name="T36" fmla="*/ 3834 w 6827"/>
                <a:gd name="T37" fmla="*/ 5426 h 5912"/>
                <a:gd name="T38" fmla="*/ 4910 w 6827"/>
                <a:gd name="T39" fmla="*/ 3564 h 5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827" h="5912">
                  <a:moveTo>
                    <a:pt x="3413" y="0"/>
                  </a:moveTo>
                  <a:lnTo>
                    <a:pt x="0" y="5912"/>
                  </a:lnTo>
                  <a:lnTo>
                    <a:pt x="6827" y="5912"/>
                  </a:lnTo>
                  <a:lnTo>
                    <a:pt x="3413" y="0"/>
                  </a:lnTo>
                  <a:close/>
                  <a:moveTo>
                    <a:pt x="3413" y="972"/>
                  </a:moveTo>
                  <a:lnTo>
                    <a:pt x="4489" y="2835"/>
                  </a:lnTo>
                  <a:lnTo>
                    <a:pt x="2338" y="2835"/>
                  </a:lnTo>
                  <a:lnTo>
                    <a:pt x="3413" y="972"/>
                  </a:lnTo>
                  <a:close/>
                  <a:moveTo>
                    <a:pt x="842" y="5426"/>
                  </a:moveTo>
                  <a:lnTo>
                    <a:pt x="1917" y="3564"/>
                  </a:lnTo>
                  <a:lnTo>
                    <a:pt x="2993" y="5426"/>
                  </a:lnTo>
                  <a:lnTo>
                    <a:pt x="842" y="5426"/>
                  </a:lnTo>
                  <a:close/>
                  <a:moveTo>
                    <a:pt x="2338" y="3321"/>
                  </a:moveTo>
                  <a:lnTo>
                    <a:pt x="4489" y="3321"/>
                  </a:lnTo>
                  <a:lnTo>
                    <a:pt x="3413" y="5183"/>
                  </a:lnTo>
                  <a:lnTo>
                    <a:pt x="2338" y="3321"/>
                  </a:lnTo>
                  <a:close/>
                  <a:moveTo>
                    <a:pt x="4910" y="3564"/>
                  </a:moveTo>
                  <a:lnTo>
                    <a:pt x="5985" y="5426"/>
                  </a:lnTo>
                  <a:lnTo>
                    <a:pt x="3834" y="5426"/>
                  </a:lnTo>
                  <a:lnTo>
                    <a:pt x="4910" y="356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anchor="ctr"/>
            <a:lstStyle/>
            <a:p>
              <a:pPr algn="ctr">
                <a:lnSpc>
                  <a:spcPct val="13000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7"/>
              </p:custDataLst>
            </p:nvPr>
          </p:nvCxnSpPr>
          <p:spPr>
            <a:xfrm flipH="1">
              <a:off x="8026" y="8117"/>
              <a:ext cx="1259" cy="0"/>
            </a:xfrm>
            <a:prstGeom prst="line">
              <a:avLst/>
            </a:prstGeom>
            <a:noFill/>
            <a:ln w="6350" cap="flat" cmpd="sng" algn="ctr">
              <a:solidFill>
                <a:srgbClr val="000000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55" name="文本框 54"/>
            <p:cNvSpPr txBox="1"/>
            <p:nvPr>
              <p:custDataLst>
                <p:tags r:id="rId18"/>
              </p:custDataLst>
            </p:nvPr>
          </p:nvSpPr>
          <p:spPr>
            <a:xfrm>
              <a:off x="9648" y="6125"/>
              <a:ext cx="4168" cy="639"/>
            </a:xfrm>
            <a:prstGeom prst="rect">
              <a:avLst/>
            </a:prstGeom>
            <a:noFill/>
          </p:spPr>
          <p:txBody>
            <a:bodyPr wrap="square" lIns="90000" tIns="46800" rIns="90000" bIns="0" anchor="b">
              <a:noAutofit/>
            </a:bodyPr>
            <a:lstStyle>
              <a:defPPr>
                <a:defRPr lang="zh-CN"/>
              </a:defPPr>
              <a:lvl1pPr lvl="0" defTabSz="913765">
                <a:lnSpc>
                  <a:spcPct val="140000"/>
                </a:lnSpc>
                <a:spcBef>
                  <a:spcPct val="0"/>
                </a:spcBef>
                <a:defRPr sz="1600" b="1">
                  <a:solidFill>
                    <a:srgbClr val="1F74AD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</a:defRPr>
              </a:lvl1pPr>
            </a:lstStyle>
            <a:p>
              <a:pPr fontAlgn="auto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rgbClr val="3498D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字典推导式</a:t>
              </a:r>
            </a:p>
          </p:txBody>
        </p:sp>
        <p:cxnSp>
          <p:nvCxnSpPr>
            <p:cNvPr id="12" name="直接连接符 11"/>
            <p:cNvCxnSpPr/>
            <p:nvPr>
              <p:custDataLst>
                <p:tags r:id="rId19"/>
              </p:custDataLst>
            </p:nvPr>
          </p:nvCxnSpPr>
          <p:spPr>
            <a:xfrm>
              <a:off x="6524" y="5003"/>
              <a:ext cx="0" cy="3113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25120" y="1149350"/>
            <a:ext cx="5679440" cy="50863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思考：</a:t>
            </a:r>
          </a:p>
        </p:txBody>
      </p:sp>
      <p:sp>
        <p:nvSpPr>
          <p:cNvPr id="3" name="矩形 2"/>
          <p:cNvSpPr/>
          <p:nvPr/>
        </p:nvSpPr>
        <p:spPr>
          <a:xfrm>
            <a:off x="770583" y="1845618"/>
            <a:ext cx="1094521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使用序列相关数据结构（如列表），计算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数字中所有偶数的平方。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62275" y="2764790"/>
            <a:ext cx="65627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latin typeface="Arial Black" panose="020B0A04020102020204" pitchFamily="34" charset="0"/>
                <a:ea typeface="方正大黑简体" panose="03000509000000000000" pitchFamily="2" charset="-122"/>
              </a:rPr>
              <a:t>x = []</a:t>
            </a:r>
            <a:endParaRPr lang="zh-CN" altLang="en-US" dirty="0">
              <a:latin typeface="Arial Black" panose="020B0A04020102020204" pitchFamily="34" charset="0"/>
              <a:ea typeface="方正大黑简体" panose="03000509000000000000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for </a:t>
            </a:r>
            <a:r>
              <a:rPr lang="en-US" altLang="zh-CN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in range(</a:t>
            </a:r>
            <a:r>
              <a:rPr lang="en-US" altLang="zh-CN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10</a:t>
            </a:r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):</a:t>
            </a:r>
            <a:endParaRPr lang="zh-CN" altLang="en-US" dirty="0">
              <a:solidFill>
                <a:srgbClr val="FF0000"/>
              </a:solidFill>
              <a:latin typeface="Arial Black" panose="020B0A04020102020204" pitchFamily="34" charset="0"/>
              <a:ea typeface="方正大黑简体" panose="03000509000000000000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if(i%2==0)</a:t>
            </a:r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:</a:t>
            </a:r>
          </a:p>
          <a:p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x.append(i**2)</a:t>
            </a:r>
            <a:endParaRPr lang="zh-CN" altLang="en-US" dirty="0">
              <a:solidFill>
                <a:srgbClr val="FF0000"/>
              </a:solidFill>
              <a:latin typeface="Arial Black" panose="020B0A04020102020204" pitchFamily="34" charset="0"/>
              <a:ea typeface="方正大黑简体" panose="03000509000000000000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  </a:t>
            </a:r>
            <a:endParaRPr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25120" y="1149350"/>
            <a:ext cx="5679440" cy="50863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思考：</a:t>
            </a:r>
          </a:p>
        </p:txBody>
      </p:sp>
      <p:sp>
        <p:nvSpPr>
          <p:cNvPr id="3" name="矩形 2"/>
          <p:cNvSpPr/>
          <p:nvPr/>
        </p:nvSpPr>
        <p:spPr>
          <a:xfrm>
            <a:off x="770583" y="1845618"/>
            <a:ext cx="10945216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使用序列相关数据结构（如列表），计算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数字中所有偶数的平方。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54759" y="2801711"/>
            <a:ext cx="65627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</a:rPr>
              <a:t>x = [ i**2 for i in range(10) if i%2==0]</a:t>
            </a:r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 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6" name="文本框 3"/>
          <p:cNvSpPr txBox="1"/>
          <p:nvPr/>
        </p:nvSpPr>
        <p:spPr>
          <a:xfrm>
            <a:off x="482552" y="3717826"/>
            <a:ext cx="57606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</a:rPr>
              <a:t>x = []</a:t>
            </a:r>
            <a:endParaRPr lang="zh-CN" altLang="en-US" dirty="0">
              <a:solidFill>
                <a:srgbClr val="0000FF"/>
              </a:solidFill>
              <a:latin typeface="Arial Black" panose="020B0A04020102020204" pitchFamily="34" charset="0"/>
              <a:ea typeface="方正大黑简体" panose="03000509000000000000" pitchFamily="2" charset="-122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for </a:t>
            </a:r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i</a:t>
            </a:r>
            <a:r>
              <a:rPr lang="zh-CN" altLang="en-US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in range(</a:t>
            </a:r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10</a:t>
            </a:r>
            <a:r>
              <a:rPr lang="zh-CN" altLang="en-US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):</a:t>
            </a:r>
            <a:endParaRPr lang="zh-CN" altLang="en-US" dirty="0">
              <a:solidFill>
                <a:srgbClr val="0000FF"/>
              </a:solidFill>
              <a:latin typeface="Arial Black" panose="020B0A04020102020204" pitchFamily="34" charset="0"/>
              <a:ea typeface="方正大黑简体" panose="03000509000000000000" pitchFamily="2" charset="-122"/>
            </a:endParaRPr>
          </a:p>
          <a:p>
            <a:r>
              <a:rPr lang="zh-CN" altLang="en-US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</a:t>
            </a:r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if(i%2==0)</a:t>
            </a:r>
            <a:r>
              <a:rPr lang="zh-CN" altLang="en-US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:</a:t>
            </a:r>
          </a:p>
          <a:p>
            <a:r>
              <a:rPr lang="zh-CN" altLang="en-US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    </a:t>
            </a:r>
            <a:r>
              <a:rPr lang="en-US" altLang="zh-CN" dirty="0">
                <a:solidFill>
                  <a:srgbClr val="0000FF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x.append(i**2)</a:t>
            </a:r>
            <a:endParaRPr lang="zh-CN" altLang="en-US" dirty="0">
              <a:solidFill>
                <a:srgbClr val="0000FF"/>
              </a:solidFill>
              <a:latin typeface="Arial Black" panose="020B0A04020102020204" pitchFamily="34" charset="0"/>
              <a:ea typeface="方正大黑简体" panose="03000509000000000000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   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1"/>
      <p:bldP spid="6" grpId="2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626745" y="814705"/>
            <a:ext cx="9232900" cy="83883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、列表推导式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4200" y="1815734"/>
            <a:ext cx="10590202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       </a:t>
            </a:r>
            <a:r>
              <a:rPr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列表生成式</a:t>
            </a:r>
            <a:r>
              <a:rPr lang="en-US"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/</a:t>
            </a:r>
            <a:r>
              <a:rPr lang="zh-CN" altLang="en-US"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推导式</a:t>
            </a:r>
            <a:r>
              <a:rPr sz="2800" b="1" dirty="0" err="1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即List</a:t>
            </a:r>
            <a:r>
              <a:rPr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 </a:t>
            </a:r>
            <a:r>
              <a:rPr sz="2800" b="1" dirty="0" err="1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Comprehensions，是Python内置的非常简单却强大的可以用来创建list的生成式</a:t>
            </a:r>
            <a:r>
              <a:rPr lang="zh-CN"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，又称</a:t>
            </a:r>
            <a:r>
              <a:rPr lang="zh-CN" sz="2800" b="1" dirty="0">
                <a:solidFill>
                  <a:srgbClr val="FF0000"/>
                </a:solidFill>
                <a:ea typeface="微软雅黑" panose="020B0503020204020204" pitchFamily="34" charset="-122"/>
                <a:cs typeface="+mn-lt"/>
                <a:sym typeface="+mn-ea"/>
              </a:rPr>
              <a:t>语法糖</a:t>
            </a:r>
            <a:r>
              <a:rPr lang="zh-CN"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syntactic sugar。简而言之，就是把</a:t>
            </a:r>
            <a:r>
              <a:rPr lang="zh-CN" sz="2800" b="1" dirty="0">
                <a:solidFill>
                  <a:srgbClr val="FF0000"/>
                </a:solidFill>
                <a:ea typeface="微软雅黑" panose="020B0503020204020204" pitchFamily="34" charset="-122"/>
                <a:cs typeface="+mn-lt"/>
                <a:sym typeface="+mn-ea"/>
              </a:rPr>
              <a:t>普通的多行for循环压缩成一行代码</a:t>
            </a:r>
            <a:r>
              <a:rPr lang="zh-CN" sz="2800" b="1" dirty="0">
                <a:solidFill>
                  <a:srgbClr val="333333"/>
                </a:solidFill>
                <a:ea typeface="微软雅黑" panose="020B0503020204020204" pitchFamily="34" charset="-122"/>
                <a:cs typeface="+mn-lt"/>
                <a:sym typeface="+mn-ea"/>
              </a:rPr>
              <a:t>，这种压缩语法适用于列表、字典、集合等可迭代数据结构（iterables）。</a:t>
            </a:r>
            <a:endParaRPr lang="zh-CN" altLang="en-US" sz="2800" b="1" dirty="0">
              <a:solidFill>
                <a:srgbClr val="333333"/>
              </a:solidFill>
              <a:ea typeface="微软雅黑" panose="020B0503020204020204" pitchFamily="34" charset="-122"/>
              <a:cs typeface="+mn-lt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25120" y="1149350"/>
            <a:ext cx="5679440" cy="508635"/>
          </a:xfrm>
        </p:spPr>
        <p:txBody>
          <a:bodyPr vert="horz" wrap="square" lIns="91456" tIns="45728" rIns="91456" bIns="45728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练习</a:t>
            </a:r>
            <a:r>
              <a: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</a:p>
        </p:txBody>
      </p:sp>
      <p:sp>
        <p:nvSpPr>
          <p:cNvPr id="3" name="矩形 2"/>
          <p:cNvSpPr/>
          <p:nvPr/>
        </p:nvSpPr>
        <p:spPr>
          <a:xfrm>
            <a:off x="1252548" y="1563043"/>
            <a:ext cx="1094521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b="1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过滤掉长度小于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3的字符串列表，并将剩下的转换成大写字母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names = ['Bob','Tom','alice','Jerry','Wendy','Smith']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52855" y="3199765"/>
            <a:ext cx="90982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dirty="0">
                <a:latin typeface="Arial Black" panose="020B0A04020102020204" pitchFamily="34" charset="0"/>
                <a:ea typeface="方正大黑简体" panose="03000509000000000000" pitchFamily="2" charset="-122"/>
              </a:rPr>
              <a:t>[name.upper() for name in names if len(name)&gt;3]  </a:t>
            </a:r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方正大黑简体" panose="03000509000000000000" pitchFamily="2" charset="-122"/>
                <a:sym typeface="+mn-ea"/>
              </a:rPr>
              <a:t>    </a:t>
            </a:r>
            <a:endParaRPr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70583" y="1765608"/>
            <a:ext cx="10945216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x in data </a:t>
            </a:r>
            <a:r>
              <a:rPr b="1" dirty="0">
                <a:solidFill>
                  <a:srgbClr val="EA5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condition</a:t>
            </a: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此处if主要起条件判断作用，data数据中只有满足if条件的才会被留下，最后统一生成为一个数据列表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标题 1"/>
          <p:cNvSpPr>
            <a:spLocks noGrp="1"/>
          </p:cNvSpPr>
          <p:nvPr/>
        </p:nvSpPr>
        <p:spPr>
          <a:xfrm>
            <a:off x="235585" y="1089660"/>
            <a:ext cx="5679440" cy="508635"/>
          </a:xfrm>
        </p:spPr>
        <p:txBody>
          <a:bodyPr vert="horz" wrap="square" lIns="91456" tIns="45728" rIns="91456" bIns="45728" numCol="1" anchor="b" anchorCtr="0" compatLnSpc="1"/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列表生成式几种</a:t>
            </a:r>
            <a:r>
              <a:rPr kumimoji="0" 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形式：</a:t>
            </a:r>
          </a:p>
        </p:txBody>
      </p:sp>
      <p:sp>
        <p:nvSpPr>
          <p:cNvPr id="4" name="矩形 3"/>
          <p:cNvSpPr/>
          <p:nvPr/>
        </p:nvSpPr>
        <p:spPr>
          <a:xfrm>
            <a:off x="775663" y="3662353"/>
            <a:ext cx="10945216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b="1" dirty="0">
                <a:solidFill>
                  <a:srgbClr val="EA5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exp1 if condition else exp2 </a:t>
            </a:r>
            <a:r>
              <a:rPr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x in data</a:t>
            </a: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此处if...else主要起赋值作用，当data中的数据满足if条件时将其做exp1处理，否则按照exp2处理，最后统一生成为一个数据列表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464185" y="763905"/>
            <a:ext cx="9232900" cy="83883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、列表推导式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25855" y="1463040"/>
            <a:ext cx="555244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）过滤原始序列中不符合条件的元素</a:t>
            </a:r>
            <a:endParaRPr lang="zh-CN"/>
          </a:p>
        </p:txBody>
      </p:sp>
      <p:sp>
        <p:nvSpPr>
          <p:cNvPr id="7" name="文本框 6"/>
          <p:cNvSpPr txBox="1"/>
          <p:nvPr/>
        </p:nvSpPr>
        <p:spPr>
          <a:xfrm>
            <a:off x="1993265" y="2108200"/>
            <a:ext cx="463296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alist = [1,'8',6,'China',0,3,2.5]</a:t>
            </a:r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852295" y="2834640"/>
            <a:ext cx="829310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</a:rPr>
              <a:t>要求将所有整数提取出来，做平方处理，保存在列表</a:t>
            </a:r>
            <a:r>
              <a:rPr lang="en-US" altLang="zh-CN" b="1">
                <a:solidFill>
                  <a:schemeClr val="tx1"/>
                </a:solidFill>
              </a:rPr>
              <a:t>a_ints</a:t>
            </a:r>
            <a:r>
              <a:rPr lang="zh-CN" altLang="en-US" b="1">
                <a:solidFill>
                  <a:schemeClr val="tx1"/>
                </a:solidFill>
              </a:rPr>
              <a:t>中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00910" y="3814445"/>
            <a:ext cx="623633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chemeClr val="tx1"/>
                </a:solidFill>
              </a:rPr>
              <a:t>a_ints = [i**2 for i in alist if type(i) == int] </a:t>
            </a: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464185" y="763905"/>
            <a:ext cx="9232900" cy="83883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、列表推导式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25855" y="1463040"/>
            <a:ext cx="555244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）使用列表推导式实现嵌套列表平铺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993265" y="2108200"/>
            <a:ext cx="444055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vec = [[1,2,3],[4,5,6],[7,8,9]]</a:t>
            </a:r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993265" y="2834640"/>
            <a:ext cx="331787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</a:rPr>
              <a:t>即产生</a:t>
            </a:r>
            <a:r>
              <a:rPr lang="en-US" altLang="zh-CN" b="1">
                <a:solidFill>
                  <a:schemeClr val="tx1"/>
                </a:solidFill>
              </a:rPr>
              <a:t>[1,2,3,4,5,6,7,8,9]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96110" y="3814445"/>
            <a:ext cx="632269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>
                <a:solidFill>
                  <a:schemeClr val="tx1"/>
                </a:solidFill>
              </a:rPr>
              <a:t>flat_vec = [ num for e in vec for num in  e]</a:t>
            </a: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464185" y="763905"/>
            <a:ext cx="9232900" cy="83883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、列表推导式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25855" y="1463040"/>
            <a:ext cx="433324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）多条件组合构造特定列表</a:t>
            </a:r>
            <a:endParaRPr lang="en-US"/>
          </a:p>
        </p:txBody>
      </p:sp>
      <p:sp>
        <p:nvSpPr>
          <p:cNvPr id="7" name="文本框 6"/>
          <p:cNvSpPr txBox="1"/>
          <p:nvPr/>
        </p:nvSpPr>
        <p:spPr>
          <a:xfrm>
            <a:off x="1614170" y="2230120"/>
            <a:ext cx="815721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new_list=[(x,y) for x in [1,2,3] for y in [3,1,4] if x!=y]</a:t>
            </a:r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718945" y="2875280"/>
            <a:ext cx="672274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chemeClr val="tx1"/>
                </a:solidFill>
              </a:rPr>
              <a:t>[(1, 3), (1, 4), (2, 3), (2, 1), (2, 4), (3, 1), (3, 4)]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728845" y="3937635"/>
            <a:ext cx="5564505" cy="22453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r>
              <a:rPr lang="zh-CN" altLang="en-US" sz="2800">
                <a:cs typeface="+mn-lt"/>
              </a:rPr>
              <a:t>new_list = []</a:t>
            </a:r>
          </a:p>
          <a:p>
            <a:r>
              <a:rPr lang="zh-CN" altLang="en-US" sz="2800">
                <a:cs typeface="+mn-lt"/>
              </a:rPr>
              <a:t>for x in [1,2,3]:</a:t>
            </a:r>
          </a:p>
          <a:p>
            <a:r>
              <a:rPr lang="zh-CN" altLang="en-US" sz="2800">
                <a:cs typeface="+mn-lt"/>
              </a:rPr>
              <a:t>    for y in [3,1,4]:</a:t>
            </a:r>
          </a:p>
          <a:p>
            <a:r>
              <a:rPr lang="zh-CN" altLang="en-US" sz="2800">
                <a:cs typeface="+mn-lt"/>
              </a:rPr>
              <a:t>        if x!=y:</a:t>
            </a:r>
          </a:p>
          <a:p>
            <a:r>
              <a:rPr lang="zh-CN" altLang="en-US" sz="2800">
                <a:cs typeface="+mn-lt"/>
              </a:rPr>
              <a:t>            new_list.append((x,y))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71800" y="4829810"/>
            <a:ext cx="1431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" grpId="0" animBg="1"/>
      <p:bldP spid="2" grpId="1" animBg="1"/>
      <p:bldP spid="3" grpId="0"/>
      <p:bldP spid="3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464185" y="763905"/>
            <a:ext cx="9232900" cy="83883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、字典推导式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25855" y="1463040"/>
            <a:ext cx="38404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跟列表推导式原理基本相同</a:t>
            </a:r>
            <a:endParaRPr lang="zh-CN"/>
          </a:p>
        </p:txBody>
      </p:sp>
      <p:sp>
        <p:nvSpPr>
          <p:cNvPr id="7" name="文本框 6"/>
          <p:cNvSpPr txBox="1"/>
          <p:nvPr/>
        </p:nvSpPr>
        <p:spPr>
          <a:xfrm>
            <a:off x="1993265" y="2108200"/>
            <a:ext cx="379603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 = {'a':10,'b':20,'c':30}</a:t>
            </a:r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852295" y="2834640"/>
            <a:ext cx="84296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</a:rPr>
              <a:t>要求交换键和值，形成</a:t>
            </a:r>
            <a:r>
              <a:rPr lang="en-US" altLang="zh-CN" b="1">
                <a:solidFill>
                  <a:schemeClr val="tx1"/>
                </a:solidFill>
              </a:rPr>
              <a:t>kv_exchange={10:'a',20:'b',30:'c'}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00910" y="3814445"/>
            <a:ext cx="5975985" cy="7372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>
                <a:sym typeface="+mn-ea"/>
              </a:rPr>
              <a:t>kv_exchange</a:t>
            </a:r>
            <a:r>
              <a:rPr lang="en-US" sz="2800" b="1">
                <a:solidFill>
                  <a:schemeClr val="tx1"/>
                </a:solidFill>
              </a:rPr>
              <a:t> = {v:k for k,v in m.items()}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372979" y="117426"/>
            <a:ext cx="3683515" cy="583565"/>
          </a:xfrm>
          <a:noFill/>
        </p:spPr>
        <p:txBody>
          <a:bodyPr wrap="square" rtlCol="0">
            <a:sp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推导式</a:t>
            </a:r>
          </a:p>
        </p:txBody>
      </p:sp>
      <p:sp>
        <p:nvSpPr>
          <p:cNvPr id="23555" name="内容占位符 2"/>
          <p:cNvSpPr>
            <a:spLocks noGrp="1"/>
          </p:cNvSpPr>
          <p:nvPr/>
        </p:nvSpPr>
        <p:spPr>
          <a:xfrm>
            <a:off x="464185" y="763905"/>
            <a:ext cx="9232900" cy="838835"/>
          </a:xfrm>
        </p:spPr>
        <p:txBody>
          <a:bodyPr vert="horz" wrap="square" lIns="91456" tIns="45728" rIns="91456" bIns="45728" anchor="t"/>
          <a:lstStyle>
            <a:lvl1pPr marL="457200" indent="-4572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、集合推导式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25855" y="1463040"/>
            <a:ext cx="68954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跟字典推导式原理基本相同，但集合里没有键值对</a:t>
            </a:r>
            <a:endParaRPr lang="zh-CN"/>
          </a:p>
        </p:txBody>
      </p:sp>
      <p:sp>
        <p:nvSpPr>
          <p:cNvPr id="3" name="矩形 2"/>
          <p:cNvSpPr/>
          <p:nvPr/>
        </p:nvSpPr>
        <p:spPr>
          <a:xfrm>
            <a:off x="1125548" y="2108508"/>
            <a:ext cx="10945216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将姓名长度小于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字符删除，将写法相同但大小写不一样的名字合并，并按照惯例，将首字母变成大写。</a:t>
            </a:r>
          </a:p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names = ['Bob','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JOHN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','alice','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bob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ALICE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','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,'Bob'</a:t>
            </a:r>
            <a:r>
              <a:rPr 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25855" y="3861435"/>
            <a:ext cx="40036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结果：</a:t>
            </a:r>
            <a:r>
              <a:rPr lang="en-US" altLang="zh-CN" b="1">
                <a:solidFill>
                  <a:srgbClr val="FF0000"/>
                </a:solidFill>
              </a:rPr>
              <a:t>{'Alice','Bob','John'}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64260" y="4808855"/>
            <a:ext cx="110070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names = ['Bob','JOHN','alice','bob','ALICE','J','Bob']</a:t>
            </a:r>
          </a:p>
          <a:p>
            <a:endParaRPr lang="zh-CN" alt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{name[0].upper()+name[1:].lower() for name in names if len(name)&gt;2}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034.8740157480315,&quot;width&quot;:11566.639370078739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672.1417322834645,&quot;width&quot;:13119.086614173228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8726_1*i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1"/>
  <p:tag name="KSO_WM_UNIT_DEC_AREA_ID" val="869a47cc434a46408bb65052c05f2790"/>
  <p:tag name="KSO_WM_UNIT_DECORATE_INFO" val="{&quot;ReferentInfo&quot;:{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}"/>
  <p:tag name="KSO_WM_CHIP_GROUPID" val="5ef16cf55bb2a422ac9a2b39"/>
  <p:tag name="KSO_WM_CHIP_XID" val="5ef16cf55bb2a422ac9a2b3a"/>
  <p:tag name="KSO_WM_UNIT_FILL_FORE_SCHEMECOLOR_INDEX_BRIGHTNESS" val="0"/>
  <p:tag name="KSO_WM_UNIT_FILL_FORE_SCHEMECOLOR_INDEX" val="15"/>
  <p:tag name="KSO_WM_UNIT_FILL_BACK_SCHEMECOLOR_INDEX_BRIGHTNESS" val="0"/>
  <p:tag name="KSO_WM_UNIT_FILL_BACK_SCHEMECOLOR_INDEX" val="14"/>
  <p:tag name="KSO_WM_UNIT_FILL_TYPE" val="2"/>
  <p:tag name="KSO_WM_UNIT_TEXT_FILL_FORE_SCHEMECOLOR_INDEX_BRIGHTNESS" val="0"/>
  <p:tag name="KSO_WM_UNIT_TEXT_FILL_FORE_SCHEMECOLOR_INDEX" val="2"/>
  <p:tag name="KSO_WM_UNIT_TEXT_FILL_TYPE" val="1"/>
  <p:tag name="KSO_WM_UNIT_VALUE" val="477"/>
  <p:tag name="KSO_WM_TEMPLATE_ASSEMBLE_XID" val="5ef55454ea5a3ac527a189e3"/>
  <p:tag name="KSO_WM_TEMPLATE_ASSEMBLE_GROUPID" val="5ef55454ea5a3ac527a189e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8726_1*i*2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c4ce87efa6da456eba5f87ab75ba3aa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6618fb3c5f874e68a20589c3b602507e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114"/>
  <p:tag name="KSO_WM_TEMPLATE_ASSEMBLE_XID" val="5ef55454ea5a3ac527a189e3"/>
  <p:tag name="KSO_WM_TEMPLATE_ASSEMBLE_GROUPID" val="5ef55454ea5a3ac527a189e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8726_1*i*7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cde86d968184e51b1cbdb20e2dfff0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2a0b84ff2b9a4700b2ebecd3d5d2b889&quot;,&quot;X&quot;:{&quot;Pos&quot;:1},&quot;Y&quot;:{&quot;Pos&quot;:1}}}"/>
  <p:tag name="KSO_WM_CHIP_GROUPID" val="5ef16cf55bb2a422ac9a2b39"/>
  <p:tag name="KSO_WM_CHIP_XID" val="5ef16cf55bb2a422ac9a2b3a"/>
  <p:tag name="KSO_WM_UNIT_FILL_FORE_SCHEMECOLOR_INDEX_BRIGHTNESS" val="0"/>
  <p:tag name="KSO_WM_UNIT_FILL_FORE_SCHEMECOLOR_INDEX" val="14"/>
  <p:tag name="KSO_WM_UNIT_FILL_TYPE" val="1"/>
  <p:tag name="KSO_WM_UNIT_SHADOW_SCHEMECOLOR_INDEX_BRIGHTNESS" val="0"/>
  <p:tag name="KSO_WM_UNIT_SHADOW_SCHEMECOLOR_INDEX" val="13"/>
  <p:tag name="KSO_WM_UNIT_TEXT_FILL_FORE_SCHEMECOLOR_INDEX_BRIGHTNESS" val="0"/>
  <p:tag name="KSO_WM_UNIT_TEXT_FILL_FORE_SCHEMECOLOR_INDEX" val="2"/>
  <p:tag name="KSO_WM_UNIT_TEXT_FILL_TYPE" val="1"/>
  <p:tag name="KSO_WM_UNIT_VALUE" val="380"/>
  <p:tag name="KSO_WM_TEMPLATE_ASSEMBLE_XID" val="5ef55454ea5a3ac527a189e3"/>
  <p:tag name="KSO_WM_TEMPLATE_ASSEMBLE_GROUPID" val="5ef55454ea5a3ac527a189e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8726_1*a*1"/>
  <p:tag name="KSO_WM_TEMPLATE_CATEGORY" val="diagram"/>
  <p:tag name="KSO_WM_TEMPLATE_INDEX" val="20208726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6618fb3c5f874e68a20589c3b602507e"/>
  <p:tag name="KSO_WM_ASSEMBLE_CHIP_INDEX" val="cf455a0210784292bf56397ada7cc389"/>
  <p:tag name="KSO_WM_UNIT_TEXT_FILL_FORE_SCHEMECOLOR_INDEX_BRIGHTNESS" val="0"/>
  <p:tag name="KSO_WM_UNIT_TEXT_FILL_FORE_SCHEMECOLOR_INDEX" val="13"/>
  <p:tag name="KSO_WM_UNIT_TEXT_FILL_TYPE" val="1"/>
  <p:tag name="KSO_WM_TEMPLATE_ASSEMBLE_XID" val="5ef55454ea5a3ac527a189e3"/>
  <p:tag name="KSO_WM_TEMPLATE_ASSEMBLE_GROUPID" val="5ef55454ea5a3ac527a189e3"/>
  <p:tag name="KSO_WM_UNIT_SMARTLAYOUT_COMPRESS_INFO" val="{&#10;    &quot;id&quot;: &quot;2020-06-26T09:50:13&quot;,&#10;    &quot;max&quot;: 9.9359201546418774,&#10;    &quot;parentMax&quot;: {&#10;        &quot;max&quot;: 2.3390404752793827&#10;    },&#10;    &quot;topChanged&quot;: 9.889445190429683&#10;}&#10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10129_4*l_h_i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9da7e6ec43e4feb9298f18bea99734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b59d62ad1efa49a7814a432af9fe78d0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10129_4*l_h_f*1_2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34b132e5c4a443288f0a499a2a868f21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59d62ad1efa49a7814a432af9fe78d0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34b132e5c4a443288f0a499a2a868f21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10129_4*l_h_i*1_2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0d7a2d2c86d4c9db8b4a0d9151012cf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b59d62ad1efa49a7814a432af9fe78d0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10129_4*l_h_i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b6081f06af7546549cd304a627ac5bf6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c5b9ba033db4be7921036f8d9ac71fa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10129_4*l_h_f*1_3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9139da38a7254bbdae206e7c3badbfdc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c5b9ba033db4be7921036f8d9ac71fa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9139da38a7254bbdae206e7c3badbfdc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10129_4*l_h_i*1_3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ec820f4b29364f0d9126a1b5fe20d73d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c5b9ba033db4be7921036f8d9ac71fa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10129_4*l_h_i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39c131c2df22469293f4eda4cafa0add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7727769e63484bff8316e642df87776f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10129_4*l_h_f*1_4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74d740d563994c26aa1d5848c3fc10f8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727769e63484bff8316e642df87776f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74d740d563994c26aa1d5848c3fc10f8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10129_4*l_h_i*1_4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7268b2bc951b4a15b816214d5589381a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7727769e63484bff8316e642df87776f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10129_4*l_h_i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2fccc7cfe0a94a03964fef3a6bcbba88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1},&quot;ReferentInfo&quot;:{&quot;Id&quot;:&quot;53c010be7e1347ceaad05fcf213bdb85&quot;,&quot;X&quot;:{&quot;Pos&quot;:1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  <p:tag name="KSO_WM_UNIT_VALUE" val="6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请尽量言简意赅的阐述观点。"/>
  <p:tag name="KSO_WM_UNIT_NOCLEAR" val="0"/>
  <p:tag name="KSO_WM_UNIT_VALUE" val="49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10129_4*l_h_f*1_5_1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DEFAULT_FONT" val="14;20;2"/>
  <p:tag name="KSO_WM_UNIT_BLOCK" val="0"/>
  <p:tag name="KSO_WM_UNIT_DEC_AREA_ID" val="84bac5f5da5744a784b90ba5919c6c07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53c010be7e1347ceaad05fcf213bdb85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84bac5f5da5744a784b90ba5919c6c07&quot;,&quot;X&quot;:{&quot;Pos&quot;:1},&quot;Y&quot;:{&quot;Pos&quot;:0}},&quot;whChangeMode&quot;:0}"/>
  <p:tag name="KSO_WM_UNIT_DEFAULT_FONT" val="18;36;2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TEXT_FILL_FORE_SCHEMECOLOR_INDEX_BRIGHTNESS" val="-0.25"/>
  <p:tag name="KSO_WM_UNIT_TEXT_FILL_FORE_SCHEMECOLOR_INDEX" val="5"/>
  <p:tag name="KSO_WM_UNIT_TEXT_FILL_TYPE" val="1"/>
  <p:tag name="KSO_WM_UNIT_VALU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10129_4*l_h_i*1_5_2"/>
  <p:tag name="KSO_WM_TEMPLATE_CATEGORY" val="diagram"/>
  <p:tag name="KSO_WM_TEMPLATE_INDEX" val="20210129"/>
  <p:tag name="KSO_WM_UNIT_LAYERLEVEL" val="1_1_1"/>
  <p:tag name="KSO_WM_TAG_VERSION" val="1.0"/>
  <p:tag name="KSO_WM_BEAUTIFY_FLAG" val="#wm#"/>
  <p:tag name="KSO_WM_UNIT_BLOCK" val="0"/>
  <p:tag name="KSO_WM_UNIT_SM_LIMIT_TYPE" val="0"/>
  <p:tag name="KSO_WM_UNIT_DEC_AREA_ID" val="0b803d1f78ef49d09ddb1edf22e1f8f1"/>
  <p:tag name="KSO_WM_UNIT_DECORATE_INFO" val="{&quot;DecorateInfoH&quot;:{&quot;IsAbs&quot;:true},&quot;DecorateInfoW&quot;:{&quot;IsAbs&quot;:true},&quot;DecorateInfoX&quot;:{&quot;IsAbs&quot;:true,&quot;Pos&quot;:2},&quot;DecorateInfoY&quot;:{&quot;IsAbs&quot;:true,&quot;Pos&quot;:1},&quot;ReferentInfo&quot;:{&quot;Id&quot;:&quot;53c010be7e1347ceaad05fcf213bdb85&quot;,&quot;X&quot;:{&quot;Pos&quot;:0},&quot;Y&quot;:{&quot;Pos&quot;:1}},&quot;whChangeMode&quot;:0}"/>
  <p:tag name="KSO_WM_CHIP_GROUPID" val="5f2cc8e81f3c142e57c6dbf6"/>
  <p:tag name="KSO_WM_CHIP_XID" val="5f2cc8e81f3c142e57c6dbf7"/>
  <p:tag name="KSO_WM_DIAGRAM_GROUP_CODE" val="l1-1"/>
  <p:tag name="KSO_WM_ASSEMBLE_CHIP_INDEX" val="09cea909bf474a70b2e482e42b3933ef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i*1_5"/>
  <p:tag name="KSO_WM_TEMPLATE_CATEGORY" val="diagram"/>
  <p:tag name="KSO_WM_TEMPLATE_INDEX" val="20188036"/>
  <p:tag name="KSO_WM_UNIT_LAYERLEVEL" val="1_1"/>
  <p:tag name="KSO_WM_TAG_VERSION" val="1.0"/>
  <p:tag name="KSO_WM_BEAUTIFY_FLAG" val="#wm#"/>
  <p:tag name="KSO_WM_UNIT_TYPE" val="n_i"/>
  <p:tag name="KSO_WM_UNIT_INDEX" val="1_5"/>
  <p:tag name="KSO_WM_UNIT_COLOR_SCHEME_SHAPE_ID" val="42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188036_2*n_h_i*1_1_1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COLOR_SCHEME_SHAPE_ID" val="5"/>
  <p:tag name="KSO_WM_UNIT_COLOR_SCHEME_PARENT_PAGE" val="0_5"/>
  <p:tag name="KSO_WM_UNIT_FILL_FORE_SCHEMECOLOR_INDEX" val="14"/>
  <p:tag name="KSO_WM_UNIT_FILL_TYPE" val="1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添加标题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f"/>
  <p:tag name="KSO_WM_UNIT_INDEX" val="1_1_1"/>
  <p:tag name="KSO_WM_UNIT_ID" val="diagram20188036_2*n_h_f*1_1_1"/>
  <p:tag name="KSO_WM_TEMPLATE_CATEGORY" val="diagram"/>
  <p:tag name="KSO_WM_TEMPLATE_INDEX" val="20188036"/>
  <p:tag name="KSO_WM_UNIT_LAYERLEVEL" val="1_1_1"/>
  <p:tag name="KSO_WM_TAG_VERSION" val="1.0"/>
  <p:tag name="KSO_WM_BEAUTIFY_FLAG" val="#wm#"/>
  <p:tag name="KSO_WM_UNIT_NOCLEAR" val="0"/>
  <p:tag name="KSO_WM_UNIT_COLOR_SCHEME_SHAPE_ID" val="8"/>
  <p:tag name="KSO_WM_UNIT_COLOR_SCHEME_PARENT_PAGE" val="0_5"/>
  <p:tag name="KSO_WM_UNIT_TEXT_FILL_FORE_SCHEMECOLOR_INDEX" val="13"/>
  <p:tag name="KSO_WM_UNIT_TEXT_FILL_TYPE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i*1_2"/>
  <p:tag name="KSO_WM_TEMPLATE_CATEGORY" val="diagram"/>
  <p:tag name="KSO_WM_TEMPLATE_INDEX" val="20188036"/>
  <p:tag name="KSO_WM_UNIT_LAYERLEVEL" val="1_1"/>
  <p:tag name="KSO_WM_TAG_VERSION" val="1.0"/>
  <p:tag name="KSO_WM_BEAUTIFY_FLAG" val="#wm#"/>
  <p:tag name="KSO_WM_UNIT_TYPE" val="n_i"/>
  <p:tag name="KSO_WM_UNIT_INDEX" val="1_2"/>
  <p:tag name="KSO_WM_UNIT_COLOR_SCHEME_SHAPE_ID" val="63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i*1_3"/>
  <p:tag name="KSO_WM_TEMPLATE_CATEGORY" val="diagram"/>
  <p:tag name="KSO_WM_TEMPLATE_INDEX" val="20188036"/>
  <p:tag name="KSO_WM_UNIT_LAYERLEVEL" val="1_1"/>
  <p:tag name="KSO_WM_TAG_VERSION" val="1.0"/>
  <p:tag name="KSO_WM_BEAUTIFY_FLAG" val="#wm#"/>
  <p:tag name="KSO_WM_UNIT_TYPE" val="n_i"/>
  <p:tag name="KSO_WM_UNIT_INDEX" val="1_3"/>
  <p:tag name="KSO_WM_UNIT_COLOR_SCHEME_SHAPE_ID" val="62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i*1_4"/>
  <p:tag name="KSO_WM_TEMPLATE_CATEGORY" val="diagram"/>
  <p:tag name="KSO_WM_TEMPLATE_INDEX" val="20188036"/>
  <p:tag name="KSO_WM_UNIT_LAYERLEVEL" val="1_1"/>
  <p:tag name="KSO_WM_TAG_VERSION" val="1.0"/>
  <p:tag name="KSO_WM_BEAUTIFY_FLAG" val="#wm#"/>
  <p:tag name="KSO_WM_UNIT_TYPE" val="n_i"/>
  <p:tag name="KSO_WM_UNIT_INDEX" val="1_4"/>
  <p:tag name="KSO_WM_UNIT_COLOR_SCHEME_SHAPE_ID" val="61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188036_2*n_h_h_i*1_2_1_2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18"/>
  <p:tag name="KSO_WM_UNIT_COLOR_SCHEME_PARENT_PAGE" val="0_5"/>
  <p:tag name="KSO_WM_UNIT_FILL_FORE_SCHEMECOLOR_INDEX" val="5"/>
  <p:tag name="KSO_WM_UNIT_FILL_TYPE" val="1"/>
  <p:tag name="KSO_WM_UNIT_LINE_FORE_SCHEMECOLOR_INDEX" val="14"/>
  <p:tag name="KSO_WM_UNIT_LINE_FILL_TYPE" val="2"/>
  <p:tag name="KSO_WM_UNIT_TEXT_FILL_FORE_SCHEMECOLOR_INDEX" val="2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3"/>
  <p:tag name="KSO_WM_UNIT_ID" val="diagram20188036_2*n_h_h_i*1_2_1_3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19"/>
  <p:tag name="KSO_WM_UNIT_COLOR_SCHEME_PARENT_PAGE" val="0_5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h_h_a*1_2_1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ISCONTENTSTITLE" val="0"/>
  <p:tag name="KSO_WM_UNIT_PRESET_TEXT" val="添加标题"/>
  <p:tag name="KSO_WM_UNIT_VALUE" val="10"/>
  <p:tag name="KSO_WM_UNIT_TYPE" val="n_h_h_a"/>
  <p:tag name="KSO_WM_UNIT_INDEX" val="1_2_1_1"/>
  <p:tag name="KSO_WM_UNIT_NOCLEAR" val="0"/>
  <p:tag name="KSO_WM_UNIT_COLOR_SCHEME_SHAPE_ID" val="7"/>
  <p:tag name="KSO_WM_UNIT_COLOR_SCHEME_PARENT_PAGE" val="0_5"/>
  <p:tag name="KSO_WM_UNIT_TEXT_FILL_FORE_SCHEMECOLOR_INDEX" val="5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h_h_i*1_2_1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TYPE" val="n_h_h_i"/>
  <p:tag name="KSO_WM_UNIT_INDEX" val="1_2_1_1"/>
  <p:tag name="KSO_WM_UNIT_COLOR_SCHEME_SHAPE_ID" val="33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188036_2*n_h_h_i*1_2_2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41"/>
  <p:tag name="KSO_WM_UNIT_COLOR_SCHEME_PARENT_PAGE" val="0_5"/>
  <p:tag name="KSO_WM_UNIT_FILL_FORE_SCHEMECOLOR_INDEX" val="6"/>
  <p:tag name="KSO_WM_UNIT_FILL_TYPE" val="1"/>
  <p:tag name="KSO_WM_UNIT_LINE_FORE_SCHEMECOLOR_INDEX" val="14"/>
  <p:tag name="KSO_WM_UNIT_LINE_FILL_TYPE" val="2"/>
  <p:tag name="KSO_WM_UNIT_TEXT_FILL_FORE_SCHEMECOLOR_INDEX" val="2"/>
  <p:tag name="KSO_WM_UNIT_TEXT_FILL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3"/>
  <p:tag name="KSO_WM_UNIT_ID" val="diagram20188036_2*n_h_h_i*1_2_2_3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17"/>
  <p:tag name="KSO_WM_UNIT_COLOR_SCHEME_PARENT_PAGE" val="0_5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h_h_i*1_2_2_2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TYPE" val="n_h_h_i"/>
  <p:tag name="KSO_WM_UNIT_INDEX" val="1_2_2_2"/>
  <p:tag name="KSO_WM_UNIT_COLOR_SCHEME_SHAPE_ID" val="43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h_h_a*1_2_3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ISCONTENTSTITLE" val="0"/>
  <p:tag name="KSO_WM_UNIT_PRESET_TEXT" val="添加标题"/>
  <p:tag name="KSO_WM_UNIT_VALUE" val="10"/>
  <p:tag name="KSO_WM_UNIT_TYPE" val="n_h_h_a"/>
  <p:tag name="KSO_WM_UNIT_INDEX" val="1_2_3_1"/>
  <p:tag name="KSO_WM_UNIT_NOCLEAR" val="0"/>
  <p:tag name="KSO_WM_UNIT_COLOR_SCHEME_SHAPE_ID" val="45"/>
  <p:tag name="KSO_WM_UNIT_COLOR_SCHEME_PARENT_PAGE" val="0_5"/>
  <p:tag name="KSO_WM_UNIT_TEXT_FILL_FORE_SCHEMECOLOR_INDEX" val="7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3"/>
  <p:tag name="KSO_WM_UNIT_ID" val="diagram20188036_2*n_h_h_i*1_2_3_3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48"/>
  <p:tag name="KSO_WM_UNIT_COLOR_SCHEME_PARENT_PAGE" val="0_5"/>
  <p:tag name="KSO_WM_UNIT_FILL_FORE_SCHEMECOLOR_INDEX" val="7"/>
  <p:tag name="KSO_WM_UNIT_FILL_TYPE" val="1"/>
  <p:tag name="KSO_WM_UNIT_LINE_FORE_SCHEMECOLOR_INDEX" val="14"/>
  <p:tag name="KSO_WM_UNIT_LINE_FILL_TYPE" val="2"/>
  <p:tag name="KSO_WM_UNIT_TEXT_FILL_FORE_SCHEMECOLOR_INDEX" val="2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188036_2*n_h_h_i*1_2_3_2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COLOR_SCHEME_SHAPE_ID" val="31"/>
  <p:tag name="KSO_WM_UNIT_COLOR_SCHEME_PARENT_PAGE" val="0_5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h_h_i*1_2_3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TYPE" val="n_h_h_i"/>
  <p:tag name="KSO_WM_UNIT_INDEX" val="1_2_3_1"/>
  <p:tag name="KSO_WM_UNIT_COLOR_SCHEME_SHAPE_ID" val="50"/>
  <p:tag name="KSO_WM_UNIT_COLOR_SCHEME_PARENT_PAGE" val="0_5"/>
  <p:tag name="KSO_WM_UNIT_DECOLORIZATION" val="1"/>
  <p:tag name="KSO_WM_UNIT_LINE_FORE_SCHEMECOLOR_INDEX" val="13"/>
  <p:tag name="KSO_WM_UNIT_LINE_FILL_TYPE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88036_2*n_h_h_a*1_2_2_1"/>
  <p:tag name="KSO_WM_TEMPLATE_CATEGORY" val="diagram"/>
  <p:tag name="KSO_WM_TEMPLATE_INDEX" val="20188036"/>
  <p:tag name="KSO_WM_UNIT_LAYERLEVEL" val="1_1_1_1"/>
  <p:tag name="KSO_WM_TAG_VERSION" val="1.0"/>
  <p:tag name="KSO_WM_BEAUTIFY_FLAG" val="#wm#"/>
  <p:tag name="KSO_WM_UNIT_ISCONTENTSTITLE" val="0"/>
  <p:tag name="KSO_WM_UNIT_PRESET_TEXT" val="添加标题"/>
  <p:tag name="KSO_WM_UNIT_VALUE" val="10"/>
  <p:tag name="KSO_WM_UNIT_TYPE" val="n_h_h_a"/>
  <p:tag name="KSO_WM_UNIT_INDEX" val="1_2_2_1"/>
  <p:tag name="KSO_WM_UNIT_NOCLEAR" val="0"/>
  <p:tag name="KSO_WM_UNIT_COLOR_SCHEME_SHAPE_ID" val="55"/>
  <p:tag name="KSO_WM_UNIT_COLOR_SCHEME_PARENT_PAGE" val="0_5"/>
  <p:tag name="KSO_WM_UNIT_TEXT_FILL_FORE_SCHEMECOLOR_INDEX" val="6"/>
  <p:tag name="KSO_WM_UNIT_TEXT_FILL_TYPE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i"/>
  <p:tag name="KSO_WM_UNIT_INDEX" val="1_1"/>
  <p:tag name="KSO_WM_UNIT_ID" val="diagram20188036_2*n_i*1_1"/>
  <p:tag name="KSO_WM_TEMPLATE_CATEGORY" val="diagram"/>
  <p:tag name="KSO_WM_TEMPLATE_INDEX" val="20188036"/>
  <p:tag name="KSO_WM_UNIT_LAYERLEVEL" val="1_1"/>
  <p:tag name="KSO_WM_TAG_VERSION" val="1.0"/>
  <p:tag name="KSO_WM_BEAUTIFY_FLAG" val="#wm#"/>
  <p:tag name="KSO_WM_UNIT_COLOR_SCHEME_SHAPE_ID" val="12"/>
  <p:tag name="KSO_WM_UNIT_COLOR_SCHEME_PARENT_PAGE" val="0_5"/>
  <p:tag name="KSO_WM_UNIT_DECOLORIZATION" val="1"/>
  <p:tag name="KSO_WM_UNIT_LINE_FORE_SCHEMECOLOR_INDEX" val="14"/>
  <p:tag name="KSO_WM_UNIT_LINE_FILL_TYPE" val="2"/>
</p:tagLst>
</file>

<file path=ppt/theme/theme1.xml><?xml version="1.0" encoding="utf-8"?>
<a:theme xmlns:a="http://schemas.openxmlformats.org/drawingml/2006/main" name="Office 主题​​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4364</Words>
  <Application>Microsoft Macintosh PowerPoint</Application>
  <PresentationFormat>自定义</PresentationFormat>
  <Paragraphs>486</Paragraphs>
  <Slides>69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2" baseType="lpstr">
      <vt:lpstr>方正大黑简体</vt:lpstr>
      <vt:lpstr>楷体</vt:lpstr>
      <vt:lpstr>微软雅黑</vt:lpstr>
      <vt:lpstr>Microsoft YaHei UI</vt:lpstr>
      <vt:lpstr>Arial</vt:lpstr>
      <vt:lpstr>Arial Black</vt:lpstr>
      <vt:lpstr>Calibri</vt:lpstr>
      <vt:lpstr>Cambria</vt:lpstr>
      <vt:lpstr>Candara</vt:lpstr>
      <vt:lpstr>Impact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1、if/else语句</vt:lpstr>
      <vt:lpstr>PowerPoint 演示文稿</vt:lpstr>
      <vt:lpstr>PowerPoint 演示文稿</vt:lpstr>
      <vt:lpstr>（2）双分支</vt:lpstr>
      <vt:lpstr>PowerPoint 演示文稿</vt:lpstr>
      <vt:lpstr>2、if…elif…else语句</vt:lpstr>
      <vt:lpstr>PowerPoint 演示文稿</vt:lpstr>
      <vt:lpstr>PowerPoint 演示文稿</vt:lpstr>
      <vt:lpstr>3、if语句嵌套</vt:lpstr>
      <vt:lpstr>4、条件表达式</vt:lpstr>
      <vt:lpstr>4、条件表达式</vt:lpstr>
      <vt:lpstr>4、条件表达式</vt:lpstr>
      <vt:lpstr>4、条件表达式</vt:lpstr>
      <vt:lpstr>4、条件表达式</vt:lpstr>
      <vt:lpstr>4、条件表达式</vt:lpstr>
      <vt:lpstr>4、条件表达式</vt:lpstr>
      <vt:lpstr>4、条件表达式</vt:lpstr>
      <vt:lpstr>4、条件表达式</vt:lpstr>
      <vt:lpstr>PowerPoint 演示文稿</vt:lpstr>
      <vt:lpstr>PowerPoint 演示文稿</vt:lpstr>
      <vt:lpstr>5、其他</vt:lpstr>
      <vt:lpstr>5、其他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循环结构</vt:lpstr>
      <vt:lpstr>1、for循环</vt:lpstr>
      <vt:lpstr>例：for循环示例</vt:lpstr>
      <vt:lpstr>PowerPoint 演示文稿</vt:lpstr>
      <vt:lpstr>练习：现在有一个列表，这个列表存放的是 10 个数值，现在希望得到里面每个数字都乘以 2 。</vt:lpstr>
      <vt:lpstr>2、while循环</vt:lpstr>
      <vt:lpstr>PowerPoint 演示文稿</vt:lpstr>
      <vt:lpstr>PowerPoint 演示文稿</vt:lpstr>
      <vt:lpstr>3、for循环和while循环比较</vt:lpstr>
      <vt:lpstr>例：计算未知个数数字的总和</vt:lpstr>
      <vt:lpstr>例：分别使用for和while循环计算n!</vt:lpstr>
      <vt:lpstr>4、循环嵌套</vt:lpstr>
      <vt:lpstr>5、跳转语句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思考：</vt:lpstr>
      <vt:lpstr>思考：</vt:lpstr>
      <vt:lpstr>PowerPoint 演示文稿</vt:lpstr>
      <vt:lpstr>练习1：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Kun Jing</cp:lastModifiedBy>
  <cp:revision>269</cp:revision>
  <cp:lastPrinted>2023-04-09T07:51:37Z</cp:lastPrinted>
  <dcterms:created xsi:type="dcterms:W3CDTF">2014-08-23T07:50:00Z</dcterms:created>
  <dcterms:modified xsi:type="dcterms:W3CDTF">2025-10-20T01:40:11Z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2052-11.1.0.10700</vt:lpwstr>
  </property>
  <property fmtid="{D5CDD505-2E9C-101B-9397-08002B2CF9AE}" pid="4" name="ICV">
    <vt:lpwstr>AB6BB77A9A5B4B8FAEF5F0BAC1D1C5F9</vt:lpwstr>
  </property>
</Properties>
</file>