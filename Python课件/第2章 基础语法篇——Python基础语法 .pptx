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notesSlides/notesSlide5.xml" ContentType="application/vnd.openxmlformats-officedocument.presentationml.notesSlide+xml"/>
  <Override PartName="/ppt/tags/tag46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notesSlides/notesSlide9.xml" ContentType="application/vnd.openxmlformats-officedocument.presentationml.notesSlide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notesSlides/notesSlide10.xml" ContentType="application/vnd.openxmlformats-officedocument.presentationml.notesSlide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notesSlides/notesSlide11.xml" ContentType="application/vnd.openxmlformats-officedocument.presentationml.notesSlide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notesSlides/notesSlide12.xml" ContentType="application/vnd.openxmlformats-officedocument.presentationml.notesSlide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notesSlides/notesSlide22.xml" ContentType="application/vnd.openxmlformats-officedocument.presentationml.notesSlide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4" r:id="rId2"/>
  </p:sldMasterIdLst>
  <p:notesMasterIdLst>
    <p:notesMasterId r:id="rId113"/>
  </p:notesMasterIdLst>
  <p:handoutMasterIdLst>
    <p:handoutMasterId r:id="rId114"/>
  </p:handoutMasterIdLst>
  <p:sldIdLst>
    <p:sldId id="1539" r:id="rId3"/>
    <p:sldId id="347" r:id="rId4"/>
    <p:sldId id="1540" r:id="rId5"/>
    <p:sldId id="534" r:id="rId6"/>
    <p:sldId id="1541" r:id="rId7"/>
    <p:sldId id="1054" r:id="rId8"/>
    <p:sldId id="1542" r:id="rId9"/>
    <p:sldId id="705" r:id="rId10"/>
    <p:sldId id="711" r:id="rId11"/>
    <p:sldId id="712" r:id="rId12"/>
    <p:sldId id="1543" r:id="rId13"/>
    <p:sldId id="713" r:id="rId14"/>
    <p:sldId id="796" r:id="rId15"/>
    <p:sldId id="1056" r:id="rId16"/>
    <p:sldId id="720" r:id="rId17"/>
    <p:sldId id="721" r:id="rId18"/>
    <p:sldId id="722" r:id="rId19"/>
    <p:sldId id="1067" r:id="rId20"/>
    <p:sldId id="714" r:id="rId21"/>
    <p:sldId id="715" r:id="rId22"/>
    <p:sldId id="797" r:id="rId23"/>
    <p:sldId id="716" r:id="rId24"/>
    <p:sldId id="1255" r:id="rId25"/>
    <p:sldId id="718" r:id="rId26"/>
    <p:sldId id="1068" r:id="rId27"/>
    <p:sldId id="1382" r:id="rId28"/>
    <p:sldId id="1055" r:id="rId29"/>
    <p:sldId id="1057" r:id="rId30"/>
    <p:sldId id="1058" r:id="rId31"/>
    <p:sldId id="1059" r:id="rId32"/>
    <p:sldId id="1060" r:id="rId33"/>
    <p:sldId id="1063" r:id="rId34"/>
    <p:sldId id="1064" r:id="rId35"/>
    <p:sldId id="1852" r:id="rId36"/>
    <p:sldId id="1065" r:id="rId37"/>
    <p:sldId id="1383" r:id="rId38"/>
    <p:sldId id="1731" r:id="rId39"/>
    <p:sldId id="1066" r:id="rId40"/>
    <p:sldId id="1544" r:id="rId41"/>
    <p:sldId id="723" r:id="rId42"/>
    <p:sldId id="724" r:id="rId43"/>
    <p:sldId id="1262" r:id="rId44"/>
    <p:sldId id="725" r:id="rId45"/>
    <p:sldId id="1783" r:id="rId46"/>
    <p:sldId id="1782" r:id="rId47"/>
    <p:sldId id="726" r:id="rId48"/>
    <p:sldId id="729" r:id="rId49"/>
    <p:sldId id="730" r:id="rId50"/>
    <p:sldId id="1259" r:id="rId51"/>
    <p:sldId id="731" r:id="rId52"/>
    <p:sldId id="1260" r:id="rId53"/>
    <p:sldId id="732" r:id="rId54"/>
    <p:sldId id="733" r:id="rId55"/>
    <p:sldId id="1261" r:id="rId56"/>
    <p:sldId id="734" r:id="rId57"/>
    <p:sldId id="735" r:id="rId58"/>
    <p:sldId id="736" r:id="rId59"/>
    <p:sldId id="737" r:id="rId60"/>
    <p:sldId id="738" r:id="rId61"/>
    <p:sldId id="739" r:id="rId62"/>
    <p:sldId id="742" r:id="rId63"/>
    <p:sldId id="1545" r:id="rId64"/>
    <p:sldId id="743" r:id="rId65"/>
    <p:sldId id="744" r:id="rId66"/>
    <p:sldId id="936" r:id="rId67"/>
    <p:sldId id="935" r:id="rId68"/>
    <p:sldId id="937" r:id="rId69"/>
    <p:sldId id="942" r:id="rId70"/>
    <p:sldId id="943" r:id="rId71"/>
    <p:sldId id="747" r:id="rId72"/>
    <p:sldId id="748" r:id="rId73"/>
    <p:sldId id="749" r:id="rId74"/>
    <p:sldId id="750" r:id="rId75"/>
    <p:sldId id="940" r:id="rId76"/>
    <p:sldId id="941" r:id="rId77"/>
    <p:sldId id="1381" r:id="rId78"/>
    <p:sldId id="760" r:id="rId79"/>
    <p:sldId id="761" r:id="rId80"/>
    <p:sldId id="945" r:id="rId81"/>
    <p:sldId id="762" r:id="rId82"/>
    <p:sldId id="1491" r:id="rId83"/>
    <p:sldId id="763" r:id="rId84"/>
    <p:sldId id="765" r:id="rId85"/>
    <p:sldId id="766" r:id="rId86"/>
    <p:sldId id="767" r:id="rId87"/>
    <p:sldId id="768" r:id="rId88"/>
    <p:sldId id="948" r:id="rId89"/>
    <p:sldId id="1708" r:id="rId90"/>
    <p:sldId id="1168" r:id="rId91"/>
    <p:sldId id="1170" r:id="rId92"/>
    <p:sldId id="770" r:id="rId93"/>
    <p:sldId id="1492" r:id="rId94"/>
    <p:sldId id="1493" r:id="rId95"/>
    <p:sldId id="1494" r:id="rId96"/>
    <p:sldId id="1495" r:id="rId97"/>
    <p:sldId id="771" r:id="rId98"/>
    <p:sldId id="772" r:id="rId99"/>
    <p:sldId id="773" r:id="rId100"/>
    <p:sldId id="1035" r:id="rId101"/>
    <p:sldId id="1036" r:id="rId102"/>
    <p:sldId id="1037" r:id="rId103"/>
    <p:sldId id="1038" r:id="rId104"/>
    <p:sldId id="777" r:id="rId105"/>
    <p:sldId id="1488" r:id="rId106"/>
    <p:sldId id="1489" r:id="rId107"/>
    <p:sldId id="1490" r:id="rId108"/>
    <p:sldId id="306" r:id="rId109"/>
    <p:sldId id="1496" r:id="rId110"/>
    <p:sldId id="1497" r:id="rId111"/>
    <p:sldId id="1498" r:id="rId112"/>
  </p:sldIdLst>
  <p:sldSz cx="12198350" cy="6859588"/>
  <p:notesSz cx="6858000" cy="9144000"/>
  <p:defaultTextStyle>
    <a:defPPr>
      <a:defRPr lang="zh-CN"/>
    </a:defPPr>
    <a:lvl1pPr marL="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835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9435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9035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927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887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847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8705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3">
          <p15:clr>
            <a:srgbClr val="A4A3A4"/>
          </p15:clr>
        </p15:guide>
        <p15:guide id="2" pos="3900">
          <p15:clr>
            <a:srgbClr val="A4A3A4"/>
          </p15:clr>
        </p15:guide>
        <p15:guide id="3" pos="240">
          <p15:clr>
            <a:srgbClr val="A4A3A4"/>
          </p15:clr>
        </p15:guide>
        <p15:guide id="4" pos="1960">
          <p15:clr>
            <a:srgbClr val="A4A3A4"/>
          </p15:clr>
        </p15:guide>
        <p15:guide id="5" pos="122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ita_hsong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F9F49"/>
    <a:srgbClr val="0071C1"/>
    <a:srgbClr val="EA5F00"/>
    <a:srgbClr val="660033"/>
    <a:srgbClr val="FAFAFA"/>
    <a:srgbClr val="005DA2"/>
    <a:srgbClr val="FFC400"/>
    <a:srgbClr val="FFD347"/>
    <a:srgbClr val="FFC91D"/>
    <a:srgbClr val="41445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834" autoAdjust="0"/>
    <p:restoredTop sz="94718"/>
  </p:normalViewPr>
  <p:slideViewPr>
    <p:cSldViewPr>
      <p:cViewPr varScale="1">
        <p:scale>
          <a:sx n="117" d="100"/>
          <a:sy n="117" d="100"/>
        </p:scale>
        <p:origin x="472" y="168"/>
      </p:cViewPr>
      <p:guideLst>
        <p:guide orient="horz" pos="2163"/>
        <p:guide pos="3900"/>
        <p:guide pos="240"/>
        <p:guide pos="1960"/>
        <p:guide pos="12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0" d="100"/>
        <a:sy n="130" d="100"/>
      </p:scale>
      <p:origin x="0" y="-240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117" Type="http://schemas.openxmlformats.org/officeDocument/2006/relationships/viewProps" Target="viewProps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12" Type="http://schemas.openxmlformats.org/officeDocument/2006/relationships/slide" Target="slides/slide110.xml"/><Relationship Id="rId16" Type="http://schemas.openxmlformats.org/officeDocument/2006/relationships/slide" Target="slides/slide14.xml"/><Relationship Id="rId107" Type="http://schemas.openxmlformats.org/officeDocument/2006/relationships/slide" Target="slides/slide105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102" Type="http://schemas.openxmlformats.org/officeDocument/2006/relationships/slide" Target="slides/slide100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113" Type="http://schemas.openxmlformats.org/officeDocument/2006/relationships/notesMaster" Target="notesMasters/notesMaster1.xml"/><Relationship Id="rId118" Type="http://schemas.openxmlformats.org/officeDocument/2006/relationships/theme" Target="theme/theme1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schemas.openxmlformats.org/officeDocument/2006/relationships/slide" Target="slides/slide101.xml"/><Relationship Id="rId108" Type="http://schemas.openxmlformats.org/officeDocument/2006/relationships/slide" Target="slides/slide106.xml"/><Relationship Id="rId54" Type="http://schemas.openxmlformats.org/officeDocument/2006/relationships/slide" Target="slides/slide52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49" Type="http://schemas.openxmlformats.org/officeDocument/2006/relationships/slide" Target="slides/slide47.xml"/><Relationship Id="rId114" Type="http://schemas.openxmlformats.org/officeDocument/2006/relationships/handoutMaster" Target="handoutMasters/handoutMaster1.xml"/><Relationship Id="rId119" Type="http://schemas.openxmlformats.org/officeDocument/2006/relationships/tableStyles" Target="tableStyles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109" Type="http://schemas.openxmlformats.org/officeDocument/2006/relationships/slide" Target="slides/slide10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slide" Target="slides/slide102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110" Type="http://schemas.openxmlformats.org/officeDocument/2006/relationships/slide" Target="slides/slide108.xml"/><Relationship Id="rId115" Type="http://schemas.openxmlformats.org/officeDocument/2006/relationships/commentAuthors" Target="commentAuthors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slide" Target="slides/slide103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3" Type="http://schemas.openxmlformats.org/officeDocument/2006/relationships/slide" Target="slides/slide1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Relationship Id="rId116" Type="http://schemas.openxmlformats.org/officeDocument/2006/relationships/presProps" Target="pres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62" Type="http://schemas.openxmlformats.org/officeDocument/2006/relationships/slide" Target="slides/slide60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111" Type="http://schemas.openxmlformats.org/officeDocument/2006/relationships/slide" Target="slides/slide109.xml"/><Relationship Id="rId15" Type="http://schemas.openxmlformats.org/officeDocument/2006/relationships/slide" Target="slides/slide13.xml"/><Relationship Id="rId36" Type="http://schemas.openxmlformats.org/officeDocument/2006/relationships/slide" Target="slides/slide34.xml"/><Relationship Id="rId57" Type="http://schemas.openxmlformats.org/officeDocument/2006/relationships/slide" Target="slides/slide55.xml"/><Relationship Id="rId106" Type="http://schemas.openxmlformats.org/officeDocument/2006/relationships/slide" Target="slides/slide10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767895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62AE03-6EE8-41FD-8A37-86C6BC5E264F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21FD59-C920-460C-B1C9-0346C59420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17193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83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943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903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927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887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847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870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625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9626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12AE829-370A-421E-979C-1F8EB1272620}" type="slidenum">
              <a:rPr lang="en-US" altLang="zh-CN">
                <a:latin typeface="Arial" panose="020B0604020202020204" pitchFamily="34" charset="0"/>
              </a:rPr>
              <a:t>6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625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9626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12AE829-370A-421E-979C-1F8EB1272620}" type="slidenum">
              <a:rPr lang="en-US" altLang="zh-CN">
                <a:latin typeface="Arial" panose="020B0604020202020204" pitchFamily="34" charset="0"/>
              </a:rPr>
              <a:t>7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625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9626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12AE829-370A-421E-979C-1F8EB1272620}" type="slidenum">
              <a:rPr lang="en-US" altLang="zh-CN">
                <a:latin typeface="Arial" panose="020B0604020202020204" pitchFamily="34" charset="0"/>
              </a:rPr>
              <a:t>8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Unicode</a:t>
            </a:r>
            <a:r>
              <a:rPr kumimoji="1" lang="zh-CN" altLang="en-US" dirty="0"/>
              <a:t>编码对应的整数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21FD59-C920-460C-B1C9-0346C59420B0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6434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/>
              <a:t>39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7283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9728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91670E0-7EC2-455A-BE7C-16716248C177}" type="slidenum">
              <a:rPr lang="en-US" altLang="zh-CN">
                <a:latin typeface="Arial" panose="020B0604020202020204" pitchFamily="34" charset="0"/>
              </a:rPr>
              <a:t>53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/>
              <a:t>62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8E6889-349A-49E8-AAE1-A1FB1A7B9723}" type="slidenum">
              <a:rPr lang="zh-CN" altLang="en-US" smtClean="0"/>
              <a:t>65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8E6889-349A-49E8-AAE1-A1FB1A7B9723}" type="slidenum">
              <a:rPr lang="zh-CN" altLang="en-US" smtClean="0"/>
              <a:t>66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8E6889-349A-49E8-AAE1-A1FB1A7B9723}" type="slidenum">
              <a:rPr lang="zh-CN" altLang="en-US" smtClean="0"/>
              <a:t>67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8E6889-349A-49E8-AAE1-A1FB1A7B9723}" type="slidenum">
              <a:rPr lang="zh-CN" altLang="en-US" smtClean="0"/>
              <a:t>68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8E6889-349A-49E8-AAE1-A1FB1A7B9723}" type="slidenum">
              <a:rPr lang="zh-CN" altLang="en-US" smtClean="0"/>
              <a:t>69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8E6889-349A-49E8-AAE1-A1FB1A7B9723}" type="slidenum">
              <a:rPr lang="zh-CN" altLang="en-US" smtClean="0"/>
              <a:t>74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8E6889-349A-49E8-AAE1-A1FB1A7B9723}" type="slidenum">
              <a:rPr lang="zh-CN" altLang="en-US" smtClean="0"/>
              <a:t>75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8E6889-349A-49E8-AAE1-A1FB1A7B9723}" type="slidenum">
              <a:rPr lang="zh-CN" altLang="en-US" smtClean="0"/>
              <a:t>76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我们通过导入</a:t>
            </a:r>
            <a:r>
              <a:rPr kumimoji="1" lang="en-US" altLang="zh-CN" dirty="0"/>
              <a:t>Python 2</a:t>
            </a:r>
            <a:r>
              <a:rPr kumimoji="1" lang="zh-CN" altLang="en-US" dirty="0"/>
              <a:t>内置的</a:t>
            </a:r>
            <a:r>
              <a:rPr kumimoji="1" lang="en-US" altLang="zh-CN" dirty="0"/>
              <a:t>`__future__`</a:t>
            </a:r>
            <a:r>
              <a:rPr kumimoji="1" lang="zh-CN" altLang="en-US" dirty="0"/>
              <a:t>模块，来使用</a:t>
            </a:r>
            <a:r>
              <a:rPr kumimoji="1" lang="en-US" altLang="zh-CN" dirty="0"/>
              <a:t>Python 3</a:t>
            </a:r>
            <a:r>
              <a:rPr kumimoji="1" lang="zh-CN" altLang="en-US" dirty="0"/>
              <a:t>中一些与</a:t>
            </a:r>
            <a:r>
              <a:rPr kumimoji="1" lang="en-US" altLang="zh-CN" dirty="0"/>
              <a:t>Python 2</a:t>
            </a:r>
            <a:r>
              <a:rPr kumimoji="1" lang="zh-CN" altLang="en-US" dirty="0"/>
              <a:t>不兼容的关键字和特性，所以我们想要在</a:t>
            </a:r>
            <a:r>
              <a:rPr kumimoji="1" lang="en-US" altLang="zh-CN" dirty="0"/>
              <a:t>Python 2</a:t>
            </a:r>
            <a:r>
              <a:rPr kumimoji="1" lang="zh-CN" altLang="en-US" dirty="0"/>
              <a:t>中表现</a:t>
            </a:r>
            <a:r>
              <a:rPr kumimoji="1" lang="en-US" altLang="zh-CN" dirty="0"/>
              <a:t>Python 3</a:t>
            </a:r>
            <a:r>
              <a:rPr kumimoji="1" lang="zh-CN" altLang="en-US" dirty="0"/>
              <a:t>中的整除，就可以通过</a:t>
            </a:r>
            <a:r>
              <a:rPr kumimoji="1" lang="en-US" altLang="zh-CN" dirty="0"/>
              <a:t>`from __future__ import division`</a:t>
            </a:r>
            <a:r>
              <a:rPr kumimoji="1" lang="zh-CN" altLang="en-US" dirty="0"/>
              <a:t>实现</a:t>
            </a:r>
            <a:endParaRPr kumimoji="1" lang="en-US" altLang="zh-CN" dirty="0"/>
          </a:p>
          <a:p>
            <a:endParaRPr kumimoji="1" lang="en-US" altLang="zh-CN" dirty="0"/>
          </a:p>
          <a:p>
            <a:pPr>
              <a:lnSpc>
                <a:spcPct val="150000"/>
              </a:lnSpc>
            </a:pPr>
            <a:r>
              <a:rPr kumimoji="1" lang="en-US" altLang="zh-CN" sz="1200" dirty="0"/>
              <a:t>Python 2</a:t>
            </a:r>
            <a:r>
              <a:rPr kumimoji="1" lang="zh-CN" altLang="en-US" sz="1200" dirty="0"/>
              <a:t>与</a:t>
            </a:r>
            <a:r>
              <a:rPr kumimoji="1" lang="en-US" altLang="zh-CN" sz="1200" dirty="0"/>
              <a:t>Python 3</a:t>
            </a:r>
            <a:r>
              <a:rPr kumimoji="1" lang="zh-CN" altLang="en-US" sz="1200" dirty="0"/>
              <a:t>整除上的差异在于第一句，</a:t>
            </a:r>
            <a:r>
              <a:rPr kumimoji="1" lang="en-US" altLang="zh-CN" sz="1200" dirty="0"/>
              <a:t>Python 2</a:t>
            </a:r>
            <a:r>
              <a:rPr kumimoji="1" lang="zh-CN" altLang="en-US" sz="1200" dirty="0"/>
              <a:t>中的“</a:t>
            </a:r>
            <a:r>
              <a:rPr kumimoji="1" lang="en-US" altLang="zh-CN" sz="1200" dirty="0"/>
              <a:t>/</a:t>
            </a:r>
            <a:r>
              <a:rPr kumimoji="1" lang="zh-CN" altLang="en-US" sz="1200" dirty="0"/>
              <a:t>”与“</a:t>
            </a:r>
            <a:r>
              <a:rPr kumimoji="1" lang="en-US" altLang="zh-CN" sz="1200" dirty="0"/>
              <a:t>//</a:t>
            </a:r>
            <a:r>
              <a:rPr kumimoji="1" lang="zh-CN" altLang="en-US" sz="1200" dirty="0"/>
              <a:t>”的效果一样，所以</a:t>
            </a:r>
            <a:r>
              <a:rPr kumimoji="1" lang="en-US" altLang="zh-CN" sz="1200" dirty="0"/>
              <a:t>Python</a:t>
            </a:r>
            <a:r>
              <a:rPr kumimoji="1" lang="zh-CN" altLang="en-US" sz="1200" dirty="0"/>
              <a:t>还提供了一个余数运算“</a:t>
            </a:r>
            <a:r>
              <a:rPr kumimoji="1" lang="en-US" altLang="zh-CN" sz="1200" dirty="0"/>
              <a:t>%</a:t>
            </a:r>
            <a:r>
              <a:rPr kumimoji="1" lang="zh-CN" altLang="en-US" sz="1200" dirty="0"/>
              <a:t>“。</a:t>
            </a:r>
            <a:endParaRPr kumimoji="1" lang="en-US" altLang="zh-CN" sz="1200" dirty="0"/>
          </a:p>
          <a:p>
            <a:pPr>
              <a:lnSpc>
                <a:spcPct val="150000"/>
              </a:lnSpc>
            </a:pPr>
            <a:r>
              <a:rPr kumimoji="1" lang="zh-CN" altLang="en-US" sz="1200" dirty="0"/>
              <a:t>而在</a:t>
            </a:r>
            <a:r>
              <a:rPr kumimoji="1" lang="en-US" altLang="zh-CN" sz="1200" dirty="0"/>
              <a:t>Python 3</a:t>
            </a:r>
            <a:r>
              <a:rPr kumimoji="1" lang="zh-CN" altLang="en-US" sz="1200" dirty="0"/>
              <a:t>中的“</a:t>
            </a:r>
            <a:r>
              <a:rPr kumimoji="1" lang="en-US" altLang="zh-CN" sz="1200" dirty="0"/>
              <a:t>/</a:t>
            </a:r>
            <a:r>
              <a:rPr kumimoji="1" lang="zh-CN" altLang="en-US" sz="1200" dirty="0"/>
              <a:t>”更接近于我们数学上除法的概念。</a:t>
            </a:r>
            <a:endParaRPr kumimoji="1" lang="en-US" altLang="zh-CN" sz="1200" dirty="0"/>
          </a:p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8E6889-349A-49E8-AAE1-A1FB1A7B9723}" type="slidenum">
              <a:rPr lang="zh-CN" altLang="en-US" smtClean="0"/>
              <a:t>79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/>
              <a:t>107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 advTm="0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12198350" cy="76549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790" y="-47456"/>
            <a:ext cx="914444" cy="86040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矩形 8"/>
          <p:cNvSpPr/>
          <p:nvPr userDrawn="1"/>
        </p:nvSpPr>
        <p:spPr>
          <a:xfrm>
            <a:off x="-8058" y="6454129"/>
            <a:ext cx="12198350" cy="40837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-6072" y="6462394"/>
            <a:ext cx="2723823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800" b="1" cap="none" spc="0" dirty="0">
                <a:ln w="0"/>
                <a:solidFill>
                  <a:srgbClr val="FAFAFA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1800" b="1" cap="none" spc="0" dirty="0">
                <a:ln w="0"/>
                <a:solidFill>
                  <a:srgbClr val="FAFAFA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大数据分析语言基础</a:t>
            </a:r>
            <a:r>
              <a:rPr lang="en-US" altLang="zh-CN" sz="1800" b="1" cap="none" spc="0" dirty="0">
                <a:ln w="0"/>
                <a:solidFill>
                  <a:srgbClr val="FAFAFA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endParaRPr lang="zh-CN" altLang="en-US" sz="1800" b="1" cap="none" spc="0" dirty="0">
              <a:ln w="0"/>
              <a:solidFill>
                <a:srgbClr val="FAFAFA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 userDrawn="1"/>
        </p:nvSpPr>
        <p:spPr>
          <a:xfrm>
            <a:off x="914599" y="335723"/>
            <a:ext cx="3456384" cy="39878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 sz="20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方正大黑简体" panose="02010601030101010101" pitchFamily="2" charset="-122"/>
                <a:ea typeface="方正大黑简体" panose="02010601030101010101" pitchFamily="2" charset="-122"/>
              </a:rPr>
              <a:t>第</a:t>
            </a:r>
            <a:r>
              <a:rPr lang="en-US" altLang="zh-CN" sz="20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方正大黑简体" panose="02010601030101010101" pitchFamily="2" charset="-122"/>
                <a:ea typeface="方正大黑简体" panose="02010601030101010101" pitchFamily="2" charset="-122"/>
              </a:rPr>
              <a:t>2</a:t>
            </a:r>
            <a:r>
              <a:rPr lang="zh-CN" altLang="en-US" sz="20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方正大黑简体" panose="02010601030101010101" pitchFamily="2" charset="-122"/>
                <a:ea typeface="方正大黑简体" panose="02010601030101010101" pitchFamily="2" charset="-122"/>
              </a:rPr>
              <a:t>章 </a:t>
            </a:r>
            <a:r>
              <a:rPr lang="en-US" altLang="zh-CN" sz="20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方正大黑简体" panose="02010601030101010101" pitchFamily="2" charset="-122"/>
                <a:ea typeface="方正大黑简体" panose="02010601030101010101" pitchFamily="2" charset="-122"/>
              </a:rPr>
              <a:t>Python</a:t>
            </a:r>
            <a:r>
              <a:rPr lang="zh-CN" altLang="en-US" sz="20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方正大黑简体" panose="02010601030101010101" pitchFamily="2" charset="-122"/>
                <a:ea typeface="方正大黑简体" panose="02010601030101010101" pitchFamily="2" charset="-122"/>
              </a:rPr>
              <a:t>基础语法</a:t>
            </a:r>
          </a:p>
        </p:txBody>
      </p:sp>
    </p:spTree>
  </p:cSld>
  <p:clrMapOvr>
    <a:masterClrMapping/>
  </p:clrMapOvr>
  <p:transition spd="slow" advTm="0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918" y="274702"/>
            <a:ext cx="10978515" cy="1143265"/>
          </a:xfrm>
          <a:prstGeom prst="rect">
            <a:avLst/>
          </a:prstGeom>
        </p:spPr>
        <p:txBody>
          <a:bodyPr lIns="121963" tIns="60981" rIns="121963" bIns="60981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09917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DF659192-60C8-49F5-94DF-1E29C3FCC85C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67770" y="6357822"/>
            <a:ext cx="3862811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742151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EB730883-2733-4EB0-9793-894FF9D50112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矩形 5"/>
          <p:cNvSpPr/>
          <p:nvPr userDrawn="1"/>
        </p:nvSpPr>
        <p:spPr>
          <a:xfrm>
            <a:off x="0" y="0"/>
            <a:ext cx="12198350" cy="76549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790" y="-47456"/>
            <a:ext cx="914444" cy="86040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矩形 7"/>
          <p:cNvSpPr/>
          <p:nvPr userDrawn="1"/>
        </p:nvSpPr>
        <p:spPr>
          <a:xfrm>
            <a:off x="-8058" y="6454129"/>
            <a:ext cx="12198350" cy="40837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-6072" y="6462394"/>
            <a:ext cx="2723823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800" b="1" cap="none" spc="0" dirty="0">
                <a:ln w="0"/>
                <a:solidFill>
                  <a:srgbClr val="FAFAFA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1800" b="1" cap="none" spc="0" dirty="0">
                <a:ln w="0"/>
                <a:solidFill>
                  <a:srgbClr val="FAFAFA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大数据分析语言基础</a:t>
            </a:r>
            <a:r>
              <a:rPr lang="en-US" altLang="zh-CN" sz="1800" b="1" cap="none" spc="0" dirty="0">
                <a:ln w="0"/>
                <a:solidFill>
                  <a:srgbClr val="FAFAFA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endParaRPr lang="zh-CN" altLang="en-US" sz="1800" b="1" cap="none" spc="0" dirty="0">
              <a:ln w="0"/>
              <a:solidFill>
                <a:srgbClr val="FAFAFA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09917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DF659192-60C8-49F5-94DF-1E29C3FCC85C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7770" y="6357822"/>
            <a:ext cx="3862811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42151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EB730883-2733-4EB0-9793-894FF9D50112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矩形 4"/>
          <p:cNvSpPr/>
          <p:nvPr userDrawn="1"/>
        </p:nvSpPr>
        <p:spPr>
          <a:xfrm>
            <a:off x="0" y="0"/>
            <a:ext cx="12198350" cy="76549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790" y="-47456"/>
            <a:ext cx="914444" cy="86040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矩形 6"/>
          <p:cNvSpPr/>
          <p:nvPr userDrawn="1"/>
        </p:nvSpPr>
        <p:spPr>
          <a:xfrm>
            <a:off x="-8058" y="6454129"/>
            <a:ext cx="12198350" cy="40837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-6072" y="6462394"/>
            <a:ext cx="2723823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800" b="1" cap="none" spc="0" dirty="0">
                <a:ln w="0"/>
                <a:solidFill>
                  <a:srgbClr val="FAFAFA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1800" b="1" cap="none" spc="0" dirty="0">
                <a:ln w="0"/>
                <a:solidFill>
                  <a:srgbClr val="FAFAFA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大数据分析语言基础</a:t>
            </a:r>
            <a:r>
              <a:rPr lang="en-US" altLang="zh-CN" sz="1800" b="1" cap="none" spc="0" dirty="0">
                <a:ln w="0"/>
                <a:solidFill>
                  <a:srgbClr val="FAFAFA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endParaRPr lang="zh-CN" altLang="en-US" sz="1800" b="1" cap="none" spc="0" dirty="0">
              <a:ln w="0"/>
              <a:solidFill>
                <a:srgbClr val="FAFAFA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 userDrawn="1"/>
        </p:nvSpPr>
        <p:spPr>
          <a:xfrm>
            <a:off x="914599" y="335723"/>
            <a:ext cx="3456384" cy="39878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 sz="20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方正大黑简体" panose="02010601030101010101" pitchFamily="2" charset="-122"/>
                <a:ea typeface="方正大黑简体" panose="02010601030101010101" pitchFamily="2" charset="-122"/>
              </a:rPr>
              <a:t>第</a:t>
            </a:r>
            <a:r>
              <a:rPr lang="en-US" altLang="zh-CN" sz="20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方正大黑简体" panose="02010601030101010101" pitchFamily="2" charset="-122"/>
                <a:ea typeface="方正大黑简体" panose="02010601030101010101" pitchFamily="2" charset="-122"/>
              </a:rPr>
              <a:t>2</a:t>
            </a:r>
            <a:r>
              <a:rPr lang="zh-CN" altLang="en-US" sz="20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方正大黑简体" panose="02010601030101010101" pitchFamily="2" charset="-122"/>
                <a:ea typeface="方正大黑简体" panose="02010601030101010101" pitchFamily="2" charset="-122"/>
              </a:rPr>
              <a:t>章 </a:t>
            </a:r>
            <a:r>
              <a:rPr lang="en-US" altLang="zh-CN" sz="20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方正大黑简体" panose="02010601030101010101" pitchFamily="2" charset="-122"/>
                <a:ea typeface="方正大黑简体" panose="02010601030101010101" pitchFamily="2" charset="-122"/>
              </a:rPr>
              <a:t>Python</a:t>
            </a:r>
            <a:r>
              <a:rPr lang="zh-CN" altLang="en-US" sz="20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方正大黑简体" panose="02010601030101010101" pitchFamily="2" charset="-122"/>
                <a:ea typeface="方正大黑简体" panose="02010601030101010101" pitchFamily="2" charset="-122"/>
              </a:rPr>
              <a:t>基础语法</a:t>
            </a:r>
          </a:p>
        </p:txBody>
      </p:sp>
    </p:spTree>
  </p:cSld>
  <p:clrMapOvr>
    <a:masterClrMapping/>
  </p:clrMapOvr>
  <p:transition spd="slow" advTm="0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637" y="365210"/>
            <a:ext cx="10521077" cy="1325870"/>
          </a:xfrm>
          <a:prstGeom prst="rect">
            <a:avLst/>
          </a:prstGeom>
        </p:spPr>
        <p:txBody>
          <a:bodyPr lIns="91472" tIns="45736" rIns="91472" bIns="45736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637" y="1826048"/>
            <a:ext cx="10521077" cy="4352346"/>
          </a:xfrm>
          <a:prstGeom prst="rect">
            <a:avLst/>
          </a:prstGeom>
        </p:spPr>
        <p:txBody>
          <a:bodyPr lIns="91472" tIns="45736" rIns="91472" bIns="45736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636" y="6357822"/>
            <a:ext cx="2744629" cy="365210"/>
          </a:xfrm>
          <a:prstGeom prst="rect">
            <a:avLst/>
          </a:prstGeom>
        </p:spPr>
        <p:txBody>
          <a:bodyPr lIns="91472" tIns="45736" rIns="91472" bIns="45736"/>
          <a:lstStyle/>
          <a:p>
            <a:fld id="{530820CF-B880-4189-942D-D702A7CBA730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40704" y="6357822"/>
            <a:ext cx="4116943" cy="365210"/>
          </a:xfrm>
          <a:prstGeom prst="rect">
            <a:avLst/>
          </a:prstGeom>
        </p:spPr>
        <p:txBody>
          <a:bodyPr lIns="91472" tIns="45736" rIns="91472" bIns="45736"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5085" y="6357822"/>
            <a:ext cx="2744629" cy="365210"/>
          </a:xfrm>
          <a:prstGeom prst="rect">
            <a:avLst/>
          </a:prstGeom>
        </p:spPr>
        <p:txBody>
          <a:bodyPr lIns="91472" tIns="45736" rIns="91472" bIns="45736"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0"/>
            <a:ext cx="12198350" cy="76549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790" y="-47456"/>
            <a:ext cx="914444" cy="86040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矩形 8"/>
          <p:cNvSpPr/>
          <p:nvPr userDrawn="1"/>
        </p:nvSpPr>
        <p:spPr>
          <a:xfrm>
            <a:off x="-8058" y="6454129"/>
            <a:ext cx="12198350" cy="40837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-6072" y="6462394"/>
            <a:ext cx="2723823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800" b="1" cap="none" spc="0" dirty="0">
                <a:ln w="0"/>
                <a:solidFill>
                  <a:srgbClr val="FAFAFA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1800" b="1" cap="none" spc="0" dirty="0">
                <a:ln w="0"/>
                <a:solidFill>
                  <a:srgbClr val="FAFAFA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大数据分析语言基础</a:t>
            </a:r>
            <a:r>
              <a:rPr lang="en-US" altLang="zh-CN" sz="1800" b="1" cap="none" spc="0" dirty="0">
                <a:ln w="0"/>
                <a:solidFill>
                  <a:srgbClr val="FAFAFA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endParaRPr lang="zh-CN" altLang="en-US" sz="1800" b="1" cap="none" spc="0" dirty="0">
              <a:ln w="0"/>
              <a:solidFill>
                <a:srgbClr val="FAFAFA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12198350" cy="76549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chemeClr val="lt1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790" y="-47456"/>
            <a:ext cx="914444" cy="86040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矩形 8"/>
          <p:cNvSpPr/>
          <p:nvPr userDrawn="1"/>
        </p:nvSpPr>
        <p:spPr>
          <a:xfrm>
            <a:off x="-8058" y="6454129"/>
            <a:ext cx="12198350" cy="40837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chemeClr val="lt1"/>
              </a:solidFill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-6072" y="6462394"/>
            <a:ext cx="2723823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800" b="1" cap="none" spc="0" dirty="0">
                <a:ln w="0"/>
                <a:solidFill>
                  <a:srgbClr val="FAFAFA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1800" b="1" cap="none" spc="0" dirty="0">
                <a:ln w="0"/>
                <a:solidFill>
                  <a:srgbClr val="FAFAFA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大数据分析语言基础</a:t>
            </a:r>
            <a:r>
              <a:rPr lang="en-US" altLang="zh-CN" sz="1800" b="1" cap="none" spc="0" dirty="0">
                <a:ln w="0"/>
                <a:solidFill>
                  <a:srgbClr val="FAFAFA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</a:p>
        </p:txBody>
      </p:sp>
      <p:sp>
        <p:nvSpPr>
          <p:cNvPr id="2" name="文本框 1"/>
          <p:cNvSpPr txBox="1"/>
          <p:nvPr userDrawn="1"/>
        </p:nvSpPr>
        <p:spPr>
          <a:xfrm>
            <a:off x="914599" y="335723"/>
            <a:ext cx="3456384" cy="39878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 sz="20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方正大黑简体" panose="02010601030101010101" pitchFamily="2" charset="-122"/>
                <a:ea typeface="方正大黑简体" panose="02010601030101010101" pitchFamily="2" charset="-122"/>
              </a:rPr>
              <a:t>第</a:t>
            </a:r>
            <a:r>
              <a:rPr lang="en-US" altLang="zh-CN" sz="20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方正大黑简体" panose="02010601030101010101" pitchFamily="2" charset="-122"/>
                <a:ea typeface="方正大黑简体" panose="02010601030101010101" pitchFamily="2" charset="-122"/>
              </a:rPr>
              <a:t>2</a:t>
            </a:r>
            <a:r>
              <a:rPr lang="zh-CN" altLang="en-US" sz="20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方正大黑简体" panose="02010601030101010101" pitchFamily="2" charset="-122"/>
                <a:ea typeface="方正大黑简体" panose="02010601030101010101" pitchFamily="2" charset="-122"/>
              </a:rPr>
              <a:t>章 </a:t>
            </a:r>
            <a:r>
              <a:rPr lang="en-US" altLang="zh-CN" sz="20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方正大黑简体" panose="02010601030101010101" pitchFamily="2" charset="-122"/>
                <a:ea typeface="方正大黑简体" panose="02010601030101010101" pitchFamily="2" charset="-122"/>
              </a:rPr>
              <a:t>Python</a:t>
            </a:r>
            <a:r>
              <a:rPr lang="zh-CN" altLang="en-US" sz="20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方正大黑简体" panose="02010601030101010101" pitchFamily="2" charset="-122"/>
                <a:ea typeface="方正大黑简体" panose="02010601030101010101" pitchFamily="2" charset="-122"/>
              </a:rPr>
              <a:t>基础语法</a:t>
            </a:r>
          </a:p>
        </p:txBody>
      </p:sp>
    </p:spTree>
  </p:cSld>
  <p:clrMapOvr>
    <a:masterClrMapping/>
  </p:clrMapOvr>
  <p:transition spd="slow" advTm="0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881951" y="6351009"/>
            <a:ext cx="2700500" cy="316859"/>
          </a:xfrm>
        </p:spPr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4118808" y="6351009"/>
            <a:ext cx="3960733" cy="316859"/>
          </a:xfrm>
        </p:spPr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614241" y="6351009"/>
            <a:ext cx="2700500" cy="316859"/>
          </a:xfrm>
        </p:spPr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 advTm="0">
    <p:wip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ransition spd="slow" advTm="0">
    <p:wipe/>
  </p:transition>
  <p:txStyles>
    <p:titleStyle>
      <a:lvl1pPr algn="ctr" defTabSz="1219200" rtl="0" eaLnBrk="1" latinLnBrk="0" hangingPunct="1">
        <a:spcBef>
          <a:spcPct val="0"/>
        </a:spcBef>
        <a:buNone/>
        <a:defRPr sz="5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4300" kern="1200">
          <a:solidFill>
            <a:schemeClr val="tx1"/>
          </a:solidFill>
          <a:latin typeface="+mn-lt"/>
          <a:ea typeface="+mn-ea"/>
          <a:cs typeface="+mn-cs"/>
        </a:defRPr>
      </a:lvl1pPr>
      <a:lvl2pPr marL="991235" indent="-3810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+mn-lt"/>
          <a:ea typeface="+mn-ea"/>
          <a:cs typeface="+mn-cs"/>
        </a:defRPr>
      </a:lvl2pPr>
      <a:lvl3pPr marL="1524635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4235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447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»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35407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367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3905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3505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83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943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903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927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887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847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870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</p:sldLayoutIdLst>
  <p:transition spd="slow" advTm="0">
    <p:wipe/>
  </p:transition>
  <p:txStyles>
    <p:titleStyle>
      <a:lvl1pPr algn="ctr" defTabSz="1219200" rtl="0" eaLnBrk="1" latinLnBrk="0" hangingPunct="1">
        <a:spcBef>
          <a:spcPct val="0"/>
        </a:spcBef>
        <a:buNone/>
        <a:defRPr sz="5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4300" kern="1200">
          <a:solidFill>
            <a:schemeClr val="tx1"/>
          </a:solidFill>
          <a:latin typeface="+mn-lt"/>
          <a:ea typeface="+mn-ea"/>
          <a:cs typeface="+mn-cs"/>
        </a:defRPr>
      </a:lvl1pPr>
      <a:lvl2pPr marL="991235" indent="-3810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+mn-lt"/>
          <a:ea typeface="+mn-ea"/>
          <a:cs typeface="+mn-cs"/>
        </a:defRPr>
      </a:lvl2pPr>
      <a:lvl3pPr marL="1524635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4235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447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»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35407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367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3905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3505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83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943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903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927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887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847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870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11.xml"/><Relationship Id="rId13" Type="http://schemas.openxmlformats.org/officeDocument/2006/relationships/tags" Target="../tags/tag16.xml"/><Relationship Id="rId18" Type="http://schemas.openxmlformats.org/officeDocument/2006/relationships/tags" Target="../tags/tag21.xml"/><Relationship Id="rId3" Type="http://schemas.openxmlformats.org/officeDocument/2006/relationships/tags" Target="../tags/tag6.xml"/><Relationship Id="rId21" Type="http://schemas.openxmlformats.org/officeDocument/2006/relationships/tags" Target="../tags/tag24.xml"/><Relationship Id="rId7" Type="http://schemas.openxmlformats.org/officeDocument/2006/relationships/tags" Target="../tags/tag10.xml"/><Relationship Id="rId12" Type="http://schemas.openxmlformats.org/officeDocument/2006/relationships/tags" Target="../tags/tag15.xml"/><Relationship Id="rId17" Type="http://schemas.openxmlformats.org/officeDocument/2006/relationships/tags" Target="../tags/tag20.xml"/><Relationship Id="rId2" Type="http://schemas.openxmlformats.org/officeDocument/2006/relationships/tags" Target="../tags/tag5.xml"/><Relationship Id="rId16" Type="http://schemas.openxmlformats.org/officeDocument/2006/relationships/tags" Target="../tags/tag19.xml"/><Relationship Id="rId20" Type="http://schemas.openxmlformats.org/officeDocument/2006/relationships/tags" Target="../tags/tag23.xml"/><Relationship Id="rId1" Type="http://schemas.openxmlformats.org/officeDocument/2006/relationships/tags" Target="../tags/tag4.xml"/><Relationship Id="rId6" Type="http://schemas.openxmlformats.org/officeDocument/2006/relationships/tags" Target="../tags/tag9.xml"/><Relationship Id="rId11" Type="http://schemas.openxmlformats.org/officeDocument/2006/relationships/tags" Target="../tags/tag14.xml"/><Relationship Id="rId5" Type="http://schemas.openxmlformats.org/officeDocument/2006/relationships/tags" Target="../tags/tag8.xml"/><Relationship Id="rId15" Type="http://schemas.openxmlformats.org/officeDocument/2006/relationships/tags" Target="../tags/tag18.xml"/><Relationship Id="rId23" Type="http://schemas.openxmlformats.org/officeDocument/2006/relationships/notesSlide" Target="../notesSlides/notesSlide3.xml"/><Relationship Id="rId10" Type="http://schemas.openxmlformats.org/officeDocument/2006/relationships/tags" Target="../tags/tag13.xml"/><Relationship Id="rId19" Type="http://schemas.openxmlformats.org/officeDocument/2006/relationships/tags" Target="../tags/tag22.xml"/><Relationship Id="rId4" Type="http://schemas.openxmlformats.org/officeDocument/2006/relationships/tags" Target="../tags/tag7.xml"/><Relationship Id="rId9" Type="http://schemas.openxmlformats.org/officeDocument/2006/relationships/tags" Target="../tags/tag12.xml"/><Relationship Id="rId14" Type="http://schemas.openxmlformats.org/officeDocument/2006/relationships/tags" Target="../tags/tag17.xml"/><Relationship Id="rId22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32.xml"/><Relationship Id="rId13" Type="http://schemas.openxmlformats.org/officeDocument/2006/relationships/tags" Target="../tags/tag37.xml"/><Relationship Id="rId18" Type="http://schemas.openxmlformats.org/officeDocument/2006/relationships/tags" Target="../tags/tag42.xml"/><Relationship Id="rId3" Type="http://schemas.openxmlformats.org/officeDocument/2006/relationships/tags" Target="../tags/tag27.xml"/><Relationship Id="rId21" Type="http://schemas.openxmlformats.org/officeDocument/2006/relationships/tags" Target="../tags/tag45.xml"/><Relationship Id="rId7" Type="http://schemas.openxmlformats.org/officeDocument/2006/relationships/tags" Target="../tags/tag31.xml"/><Relationship Id="rId12" Type="http://schemas.openxmlformats.org/officeDocument/2006/relationships/tags" Target="../tags/tag36.xml"/><Relationship Id="rId17" Type="http://schemas.openxmlformats.org/officeDocument/2006/relationships/tags" Target="../tags/tag41.xml"/><Relationship Id="rId2" Type="http://schemas.openxmlformats.org/officeDocument/2006/relationships/tags" Target="../tags/tag26.xml"/><Relationship Id="rId16" Type="http://schemas.openxmlformats.org/officeDocument/2006/relationships/tags" Target="../tags/tag40.xml"/><Relationship Id="rId20" Type="http://schemas.openxmlformats.org/officeDocument/2006/relationships/tags" Target="../tags/tag44.xml"/><Relationship Id="rId1" Type="http://schemas.openxmlformats.org/officeDocument/2006/relationships/tags" Target="../tags/tag25.xml"/><Relationship Id="rId6" Type="http://schemas.openxmlformats.org/officeDocument/2006/relationships/tags" Target="../tags/tag30.xml"/><Relationship Id="rId11" Type="http://schemas.openxmlformats.org/officeDocument/2006/relationships/tags" Target="../tags/tag35.xml"/><Relationship Id="rId5" Type="http://schemas.openxmlformats.org/officeDocument/2006/relationships/tags" Target="../tags/tag29.xml"/><Relationship Id="rId15" Type="http://schemas.openxmlformats.org/officeDocument/2006/relationships/tags" Target="../tags/tag39.xml"/><Relationship Id="rId23" Type="http://schemas.openxmlformats.org/officeDocument/2006/relationships/notesSlide" Target="../notesSlides/notesSlide5.xml"/><Relationship Id="rId10" Type="http://schemas.openxmlformats.org/officeDocument/2006/relationships/tags" Target="../tags/tag34.xml"/><Relationship Id="rId19" Type="http://schemas.openxmlformats.org/officeDocument/2006/relationships/tags" Target="../tags/tag43.xml"/><Relationship Id="rId4" Type="http://schemas.openxmlformats.org/officeDocument/2006/relationships/tags" Target="../tags/tag28.xml"/><Relationship Id="rId9" Type="http://schemas.openxmlformats.org/officeDocument/2006/relationships/tags" Target="../tags/tag33.xml"/><Relationship Id="rId14" Type="http://schemas.openxmlformats.org/officeDocument/2006/relationships/tags" Target="../tags/tag38.xml"/><Relationship Id="rId22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47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5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tags" Target="../tags/tag58.xml"/><Relationship Id="rId13" Type="http://schemas.openxmlformats.org/officeDocument/2006/relationships/tags" Target="../tags/tag63.xml"/><Relationship Id="rId18" Type="http://schemas.openxmlformats.org/officeDocument/2006/relationships/tags" Target="../tags/tag68.xml"/><Relationship Id="rId3" Type="http://schemas.openxmlformats.org/officeDocument/2006/relationships/tags" Target="../tags/tag53.xml"/><Relationship Id="rId21" Type="http://schemas.openxmlformats.org/officeDocument/2006/relationships/tags" Target="../tags/tag71.xml"/><Relationship Id="rId7" Type="http://schemas.openxmlformats.org/officeDocument/2006/relationships/tags" Target="../tags/tag57.xml"/><Relationship Id="rId12" Type="http://schemas.openxmlformats.org/officeDocument/2006/relationships/tags" Target="../tags/tag62.xml"/><Relationship Id="rId17" Type="http://schemas.openxmlformats.org/officeDocument/2006/relationships/tags" Target="../tags/tag67.xml"/><Relationship Id="rId2" Type="http://schemas.openxmlformats.org/officeDocument/2006/relationships/tags" Target="../tags/tag52.xml"/><Relationship Id="rId16" Type="http://schemas.openxmlformats.org/officeDocument/2006/relationships/tags" Target="../tags/tag66.xml"/><Relationship Id="rId20" Type="http://schemas.openxmlformats.org/officeDocument/2006/relationships/tags" Target="../tags/tag70.xml"/><Relationship Id="rId1" Type="http://schemas.openxmlformats.org/officeDocument/2006/relationships/tags" Target="../tags/tag51.xml"/><Relationship Id="rId6" Type="http://schemas.openxmlformats.org/officeDocument/2006/relationships/tags" Target="../tags/tag56.xml"/><Relationship Id="rId11" Type="http://schemas.openxmlformats.org/officeDocument/2006/relationships/tags" Target="../tags/tag61.xml"/><Relationship Id="rId5" Type="http://schemas.openxmlformats.org/officeDocument/2006/relationships/tags" Target="../tags/tag55.xml"/><Relationship Id="rId15" Type="http://schemas.openxmlformats.org/officeDocument/2006/relationships/tags" Target="../tags/tag65.xml"/><Relationship Id="rId23" Type="http://schemas.openxmlformats.org/officeDocument/2006/relationships/notesSlide" Target="../notesSlides/notesSlide10.xml"/><Relationship Id="rId10" Type="http://schemas.openxmlformats.org/officeDocument/2006/relationships/tags" Target="../tags/tag60.xml"/><Relationship Id="rId19" Type="http://schemas.openxmlformats.org/officeDocument/2006/relationships/tags" Target="../tags/tag69.xml"/><Relationship Id="rId4" Type="http://schemas.openxmlformats.org/officeDocument/2006/relationships/tags" Target="../tags/tag54.xml"/><Relationship Id="rId9" Type="http://schemas.openxmlformats.org/officeDocument/2006/relationships/tags" Target="../tags/tag59.xml"/><Relationship Id="rId14" Type="http://schemas.openxmlformats.org/officeDocument/2006/relationships/tags" Target="../tags/tag64.xml"/><Relationship Id="rId22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72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tags" Target="../tags/tag80.xml"/><Relationship Id="rId13" Type="http://schemas.openxmlformats.org/officeDocument/2006/relationships/tags" Target="../tags/tag85.xml"/><Relationship Id="rId18" Type="http://schemas.openxmlformats.org/officeDocument/2006/relationships/slideLayout" Target="../slideLayouts/slideLayout4.xml"/><Relationship Id="rId3" Type="http://schemas.openxmlformats.org/officeDocument/2006/relationships/tags" Target="../tags/tag75.xml"/><Relationship Id="rId7" Type="http://schemas.openxmlformats.org/officeDocument/2006/relationships/tags" Target="../tags/tag79.xml"/><Relationship Id="rId12" Type="http://schemas.openxmlformats.org/officeDocument/2006/relationships/tags" Target="../tags/tag84.xml"/><Relationship Id="rId17" Type="http://schemas.openxmlformats.org/officeDocument/2006/relationships/tags" Target="../tags/tag89.xml"/><Relationship Id="rId2" Type="http://schemas.openxmlformats.org/officeDocument/2006/relationships/tags" Target="../tags/tag74.xml"/><Relationship Id="rId16" Type="http://schemas.openxmlformats.org/officeDocument/2006/relationships/tags" Target="../tags/tag88.xml"/><Relationship Id="rId1" Type="http://schemas.openxmlformats.org/officeDocument/2006/relationships/tags" Target="../tags/tag73.xml"/><Relationship Id="rId6" Type="http://schemas.openxmlformats.org/officeDocument/2006/relationships/tags" Target="../tags/tag78.xml"/><Relationship Id="rId11" Type="http://schemas.openxmlformats.org/officeDocument/2006/relationships/tags" Target="../tags/tag83.xml"/><Relationship Id="rId5" Type="http://schemas.openxmlformats.org/officeDocument/2006/relationships/tags" Target="../tags/tag77.xml"/><Relationship Id="rId15" Type="http://schemas.openxmlformats.org/officeDocument/2006/relationships/tags" Target="../tags/tag87.xml"/><Relationship Id="rId10" Type="http://schemas.openxmlformats.org/officeDocument/2006/relationships/tags" Target="../tags/tag82.xml"/><Relationship Id="rId19" Type="http://schemas.openxmlformats.org/officeDocument/2006/relationships/image" Target="../media/image23.png"/><Relationship Id="rId4" Type="http://schemas.openxmlformats.org/officeDocument/2006/relationships/tags" Target="../tags/tag76.xml"/><Relationship Id="rId9" Type="http://schemas.openxmlformats.org/officeDocument/2006/relationships/tags" Target="../tags/tag81.xml"/><Relationship Id="rId14" Type="http://schemas.openxmlformats.org/officeDocument/2006/relationships/tags" Target="../tags/tag8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90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1.png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tags" Target="../tags/tag98.xml"/><Relationship Id="rId13" Type="http://schemas.openxmlformats.org/officeDocument/2006/relationships/tags" Target="../tags/tag103.xml"/><Relationship Id="rId18" Type="http://schemas.openxmlformats.org/officeDocument/2006/relationships/tags" Target="../tags/tag108.xml"/><Relationship Id="rId3" Type="http://schemas.openxmlformats.org/officeDocument/2006/relationships/tags" Target="../tags/tag93.xml"/><Relationship Id="rId21" Type="http://schemas.openxmlformats.org/officeDocument/2006/relationships/tags" Target="../tags/tag111.xml"/><Relationship Id="rId7" Type="http://schemas.openxmlformats.org/officeDocument/2006/relationships/tags" Target="../tags/tag97.xml"/><Relationship Id="rId12" Type="http://schemas.openxmlformats.org/officeDocument/2006/relationships/tags" Target="../tags/tag102.xml"/><Relationship Id="rId17" Type="http://schemas.openxmlformats.org/officeDocument/2006/relationships/tags" Target="../tags/tag107.xml"/><Relationship Id="rId2" Type="http://schemas.openxmlformats.org/officeDocument/2006/relationships/tags" Target="../tags/tag92.xml"/><Relationship Id="rId16" Type="http://schemas.openxmlformats.org/officeDocument/2006/relationships/tags" Target="../tags/tag106.xml"/><Relationship Id="rId20" Type="http://schemas.openxmlformats.org/officeDocument/2006/relationships/tags" Target="../tags/tag110.xml"/><Relationship Id="rId1" Type="http://schemas.openxmlformats.org/officeDocument/2006/relationships/tags" Target="../tags/tag91.xml"/><Relationship Id="rId6" Type="http://schemas.openxmlformats.org/officeDocument/2006/relationships/tags" Target="../tags/tag96.xml"/><Relationship Id="rId11" Type="http://schemas.openxmlformats.org/officeDocument/2006/relationships/tags" Target="../tags/tag101.xml"/><Relationship Id="rId5" Type="http://schemas.openxmlformats.org/officeDocument/2006/relationships/tags" Target="../tags/tag95.xml"/><Relationship Id="rId15" Type="http://schemas.openxmlformats.org/officeDocument/2006/relationships/tags" Target="../tags/tag105.xml"/><Relationship Id="rId23" Type="http://schemas.openxmlformats.org/officeDocument/2006/relationships/notesSlide" Target="../notesSlides/notesSlide12.xml"/><Relationship Id="rId10" Type="http://schemas.openxmlformats.org/officeDocument/2006/relationships/tags" Target="../tags/tag100.xml"/><Relationship Id="rId19" Type="http://schemas.openxmlformats.org/officeDocument/2006/relationships/tags" Target="../tags/tag109.xml"/><Relationship Id="rId4" Type="http://schemas.openxmlformats.org/officeDocument/2006/relationships/tags" Target="../tags/tag94.xml"/><Relationship Id="rId9" Type="http://schemas.openxmlformats.org/officeDocument/2006/relationships/tags" Target="../tags/tag99.xml"/><Relationship Id="rId14" Type="http://schemas.openxmlformats.org/officeDocument/2006/relationships/tags" Target="../tags/tag104.xml"/><Relationship Id="rId22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tags" Target="../tags/tag119.xml"/><Relationship Id="rId13" Type="http://schemas.openxmlformats.org/officeDocument/2006/relationships/slideLayout" Target="../slideLayouts/slideLayout4.xml"/><Relationship Id="rId3" Type="http://schemas.openxmlformats.org/officeDocument/2006/relationships/tags" Target="../tags/tag114.xml"/><Relationship Id="rId7" Type="http://schemas.openxmlformats.org/officeDocument/2006/relationships/tags" Target="../tags/tag118.xml"/><Relationship Id="rId12" Type="http://schemas.openxmlformats.org/officeDocument/2006/relationships/tags" Target="../tags/tag123.xml"/><Relationship Id="rId2" Type="http://schemas.openxmlformats.org/officeDocument/2006/relationships/tags" Target="../tags/tag113.xml"/><Relationship Id="rId1" Type="http://schemas.openxmlformats.org/officeDocument/2006/relationships/tags" Target="../tags/tag112.xml"/><Relationship Id="rId6" Type="http://schemas.openxmlformats.org/officeDocument/2006/relationships/tags" Target="../tags/tag117.xml"/><Relationship Id="rId11" Type="http://schemas.openxmlformats.org/officeDocument/2006/relationships/tags" Target="../tags/tag122.xml"/><Relationship Id="rId5" Type="http://schemas.openxmlformats.org/officeDocument/2006/relationships/tags" Target="../tags/tag116.xml"/><Relationship Id="rId10" Type="http://schemas.openxmlformats.org/officeDocument/2006/relationships/tags" Target="../tags/tag121.xml"/><Relationship Id="rId4" Type="http://schemas.openxmlformats.org/officeDocument/2006/relationships/tags" Target="../tags/tag115.xml"/><Relationship Id="rId9" Type="http://schemas.openxmlformats.org/officeDocument/2006/relationships/tags" Target="../tags/tag120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5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4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47.png"/><Relationship Id="rId2" Type="http://schemas.openxmlformats.org/officeDocument/2006/relationships/tags" Target="../tags/tag126.xml"/><Relationship Id="rId1" Type="http://schemas.openxmlformats.org/officeDocument/2006/relationships/tags" Target="../tags/tag125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7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wmf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8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wmf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4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50" y="28178"/>
            <a:ext cx="12192000" cy="68580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159839" y="2286064"/>
            <a:ext cx="5692140" cy="829945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lvl="0" algn="l" defTabSz="121920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4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1C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方正大黑简体" panose="02010601030101010101" pitchFamily="2" charset="-122"/>
                <a:ea typeface="方正大黑简体" panose="02010601030101010101" pitchFamily="2" charset="-122"/>
                <a:sym typeface="+mn-ea"/>
              </a:rPr>
              <a:t>大数据分析语言基础</a:t>
            </a:r>
          </a:p>
        </p:txBody>
      </p:sp>
      <p:cxnSp>
        <p:nvCxnSpPr>
          <p:cNvPr id="25" name="直接连接符 24"/>
          <p:cNvCxnSpPr/>
          <p:nvPr/>
        </p:nvCxnSpPr>
        <p:spPr>
          <a:xfrm>
            <a:off x="5274517" y="3256648"/>
            <a:ext cx="6028912" cy="0"/>
          </a:xfrm>
          <a:prstGeom prst="line">
            <a:avLst/>
          </a:prstGeom>
          <a:ln w="254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027933" y="4199919"/>
            <a:ext cx="4407611" cy="553994"/>
          </a:xfrm>
          <a:prstGeom prst="rect">
            <a:avLst/>
          </a:prstGeom>
          <a:noFill/>
        </p:spPr>
        <p:txBody>
          <a:bodyPr wrap="none" lIns="121917" tIns="60958" rIns="121917" bIns="60958" rtlCol="0">
            <a:spAutoFit/>
          </a:bodyPr>
          <a:lstStyle/>
          <a:p>
            <a:pPr algn="r"/>
            <a:r>
              <a:rPr lang="zh-CN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安徽大学互联网学院  景琨</a:t>
            </a:r>
          </a:p>
        </p:txBody>
      </p:sp>
      <p:grpSp>
        <p:nvGrpSpPr>
          <p:cNvPr id="13" name="组合 12"/>
          <p:cNvGrpSpPr/>
          <p:nvPr/>
        </p:nvGrpSpPr>
        <p:grpSpPr>
          <a:xfrm>
            <a:off x="4391230" y="2176595"/>
            <a:ext cx="132770" cy="1724700"/>
            <a:chOff x="995161" y="2391860"/>
            <a:chExt cx="135370" cy="1758474"/>
          </a:xfrm>
        </p:grpSpPr>
        <p:cxnSp>
          <p:nvCxnSpPr>
            <p:cNvPr id="10" name="直接连接符 9"/>
            <p:cNvCxnSpPr/>
            <p:nvPr/>
          </p:nvCxnSpPr>
          <p:spPr>
            <a:xfrm>
              <a:off x="1130530" y="2391860"/>
              <a:ext cx="0" cy="1758474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等腰三角形 11"/>
            <p:cNvSpPr/>
            <p:nvPr/>
          </p:nvSpPr>
          <p:spPr>
            <a:xfrm rot="16200000">
              <a:off x="984331" y="3203412"/>
              <a:ext cx="157029" cy="135370"/>
            </a:xfrm>
            <a:prstGeom prst="triangl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矩形 1"/>
          <p:cNvSpPr/>
          <p:nvPr/>
        </p:nvSpPr>
        <p:spPr>
          <a:xfrm>
            <a:off x="5005486" y="3317895"/>
            <a:ext cx="6430010" cy="5219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altLang="zh-CN" sz="2800" kern="100" dirty="0">
                <a:ln>
                  <a:solidFill>
                    <a:schemeClr val="bg1"/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Impact" panose="020B0806030902050204" pitchFamily="34" charset="0"/>
                <a:ea typeface="方正综艺简体" panose="02010601030101010101" pitchFamily="2" charset="-122"/>
                <a:cs typeface="Impact" panose="020B0806030902050204" pitchFamily="34" charset="0"/>
              </a:rPr>
              <a:t>Language Preparation for Big Data Analysis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rcRect r="-3290" b="2859"/>
          <a:stretch>
            <a:fillRect/>
          </a:stretch>
        </p:blipFill>
        <p:spPr>
          <a:xfrm>
            <a:off x="10753934" y="179274"/>
            <a:ext cx="1347024" cy="1266826"/>
          </a:xfrm>
          <a:prstGeom prst="rect">
            <a:avLst/>
          </a:prstGeom>
        </p:spPr>
      </p:pic>
    </p:spTree>
  </p:cSld>
  <p:clrMapOvr>
    <a:masterClrMapping/>
  </p:clrMapOvr>
  <p:transition spd="slow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 tmFilter="0,0; .5, 1; 1, 1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99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899"/>
                            </p:stCondLst>
                            <p:childTnLst>
                              <p:par>
                                <p:cTn id="2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399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30" grpId="0"/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002831" y="2870101"/>
            <a:ext cx="6696744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b="1" dirty="0">
                <a:solidFill>
                  <a:srgbClr val="0071C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4400" b="1" dirty="0">
                <a:solidFill>
                  <a:srgbClr val="0071C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4400" b="1" dirty="0">
                <a:solidFill>
                  <a:srgbClr val="0071C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章  </a:t>
            </a:r>
            <a:r>
              <a:rPr lang="en-US" altLang="zh-CN" sz="4400" b="1" dirty="0">
                <a:solidFill>
                  <a:srgbClr val="0071C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4400" b="1" dirty="0">
                <a:solidFill>
                  <a:srgbClr val="0071C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基础语法</a:t>
            </a:r>
          </a:p>
        </p:txBody>
      </p:sp>
    </p:spTree>
  </p:cSld>
  <p:clrMapOvr>
    <a:masterClrMapping/>
  </p:clrMapOvr>
  <p:transition spd="slow" advTm="0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>
            <p:custDataLst>
              <p:tags r:id="rId2"/>
            </p:custDataLst>
          </p:nvPr>
        </p:nvSpPr>
        <p:spPr>
          <a:xfrm>
            <a:off x="0" y="3810736"/>
            <a:ext cx="12198448" cy="3048588"/>
          </a:xfrm>
          <a:prstGeom prst="rect">
            <a:avLst/>
          </a:prstGeom>
          <a:pattFill prst="dkHorz">
            <a:fgClr>
              <a:srgbClr val="F2F2F2"/>
            </a:fgClr>
            <a:bgClr>
              <a:srgbClr val="FFFFFF"/>
            </a:bgClr>
          </a:patt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 sz="18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" name="矩形 5"/>
          <p:cNvSpPr/>
          <p:nvPr>
            <p:custDataLst>
              <p:tags r:id="rId3"/>
            </p:custDataLst>
          </p:nvPr>
        </p:nvSpPr>
        <p:spPr>
          <a:xfrm>
            <a:off x="1677254" y="914251"/>
            <a:ext cx="8843875" cy="853503"/>
          </a:xfrm>
          <a:prstGeom prst="rect">
            <a:avLst/>
          </a:prstGeom>
          <a:solidFill>
            <a:srgbClr val="FFFFFF"/>
          </a:solidFill>
          <a:ln w="25400">
            <a:noFill/>
          </a:ln>
          <a:effectLst>
            <a:outerShdw blurRad="50800" dist="76200" dir="5400000" sx="101000" sy="101000" algn="t" rotWithShape="0">
              <a:srgbClr val="000000">
                <a:alpha val="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kumimoji="1" lang="zh-CN" altLang="en-US" sz="18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1" name="矩形 11"/>
          <p:cNvSpPr/>
          <p:nvPr>
            <p:custDataLst>
              <p:tags r:id="rId4"/>
            </p:custDataLst>
          </p:nvPr>
        </p:nvSpPr>
        <p:spPr>
          <a:xfrm>
            <a:off x="1677241" y="2194436"/>
            <a:ext cx="8843875" cy="3777441"/>
          </a:xfrm>
          <a:prstGeom prst="rect">
            <a:avLst/>
          </a:prstGeom>
          <a:solidFill>
            <a:srgbClr val="FFFFFF"/>
          </a:solidFill>
          <a:ln w="25400">
            <a:noFill/>
          </a:ln>
          <a:effectLst>
            <a:outerShdw blurRad="50800" dist="76200" dir="5400000" sx="101000" sy="101000" algn="t" rotWithShape="0">
              <a:srgbClr val="000000">
                <a:alpha val="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kumimoji="1" lang="zh-CN" altLang="en-US" sz="18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>
            <p:custDataLst>
              <p:tags r:id="rId5"/>
            </p:custDataLst>
          </p:nvPr>
        </p:nvSpPr>
        <p:spPr>
          <a:xfrm>
            <a:off x="1982200" y="1066680"/>
            <a:ext cx="8233950" cy="548639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2800" b="1" spc="3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主要内容</a:t>
            </a:r>
          </a:p>
        </p:txBody>
      </p:sp>
      <p:sp>
        <p:nvSpPr>
          <p:cNvPr id="12" name="弧形 11"/>
          <p:cNvSpPr/>
          <p:nvPr>
            <p:custDataLst>
              <p:tags r:id="rId6"/>
            </p:custDataLst>
          </p:nvPr>
        </p:nvSpPr>
        <p:spPr>
          <a:xfrm>
            <a:off x="3111500" y="2520962"/>
            <a:ext cx="727075" cy="716915"/>
          </a:xfrm>
          <a:prstGeom prst="arc">
            <a:avLst>
              <a:gd name="adj1" fmla="val 11619054"/>
              <a:gd name="adj2" fmla="val 10295063"/>
            </a:avLst>
          </a:prstGeom>
          <a:ln w="19050">
            <a:solidFill>
              <a:srgbClr val="1D6D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80"/>
          <p:cNvSpPr txBox="1"/>
          <p:nvPr>
            <p:custDataLst>
              <p:tags r:id="rId7"/>
            </p:custDataLst>
          </p:nvPr>
        </p:nvSpPr>
        <p:spPr>
          <a:xfrm>
            <a:off x="2833370" y="3355352"/>
            <a:ext cx="1371600" cy="2036922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en-US" altLang="zh-CN" sz="2000" spc="15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</a:p>
          <a:p>
            <a:pPr marL="0" lvl="0" indent="0"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en-US" altLang="zh-CN" sz="2000" spc="15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编码规范</a:t>
            </a:r>
          </a:p>
        </p:txBody>
      </p:sp>
      <p:sp>
        <p:nvSpPr>
          <p:cNvPr id="14" name="标题 5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3221990" y="2616212"/>
            <a:ext cx="554355" cy="509270"/>
          </a:xfrm>
          <a:prstGeom prst="rect">
            <a:avLst/>
          </a:prstGeom>
        </p:spPr>
        <p:txBody>
          <a:bodyPr vert="horz" lIns="0" tIns="0" rIns="0" bIns="0" rtlCol="0" anchor="ctr" anchorCtr="0">
            <a:normAutofit fontScale="90000"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kumimoji="0" lang="zh-CN" altLang="en-US" sz="24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indent="0" algn="ctr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en-US" altLang="zh-CN" sz="2700" b="1" dirty="0">
                <a:solidFill>
                  <a:srgbClr val="1D518C"/>
                </a:solidFill>
                <a:latin typeface="微软雅黑" panose="020B0503020204020204" pitchFamily="34" charset="-122"/>
              </a:rPr>
              <a:t>2.1</a:t>
            </a:r>
          </a:p>
        </p:txBody>
      </p:sp>
      <p:sp>
        <p:nvSpPr>
          <p:cNvPr id="15" name="菱形 14"/>
          <p:cNvSpPr/>
          <p:nvPr>
            <p:custDataLst>
              <p:tags r:id="rId9"/>
            </p:custDataLst>
          </p:nvPr>
        </p:nvSpPr>
        <p:spPr>
          <a:xfrm>
            <a:off x="2933065" y="2712097"/>
            <a:ext cx="301625" cy="301625"/>
          </a:xfrm>
          <a:prstGeom prst="diamond">
            <a:avLst/>
          </a:prstGeom>
          <a:solidFill>
            <a:srgbClr val="69A7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弧形 15"/>
          <p:cNvSpPr/>
          <p:nvPr>
            <p:custDataLst>
              <p:tags r:id="rId10"/>
            </p:custDataLst>
          </p:nvPr>
        </p:nvSpPr>
        <p:spPr>
          <a:xfrm>
            <a:off x="4790440" y="2520962"/>
            <a:ext cx="727075" cy="716915"/>
          </a:xfrm>
          <a:prstGeom prst="arc">
            <a:avLst>
              <a:gd name="adj1" fmla="val 11619054"/>
              <a:gd name="adj2" fmla="val 10295063"/>
            </a:avLst>
          </a:prstGeom>
          <a:ln w="19050">
            <a:solidFill>
              <a:srgbClr val="1D6D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80"/>
          <p:cNvSpPr txBox="1"/>
          <p:nvPr>
            <p:custDataLst>
              <p:tags r:id="rId11"/>
            </p:custDataLst>
          </p:nvPr>
        </p:nvSpPr>
        <p:spPr>
          <a:xfrm>
            <a:off x="4512945" y="3355352"/>
            <a:ext cx="1371600" cy="2036922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en-US" altLang="zh-CN" sz="2000" spc="15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变量和常量</a:t>
            </a:r>
          </a:p>
        </p:txBody>
      </p:sp>
      <p:sp>
        <p:nvSpPr>
          <p:cNvPr id="22" name="标题 5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4901565" y="2616212"/>
            <a:ext cx="554355" cy="509270"/>
          </a:xfrm>
          <a:prstGeom prst="rect">
            <a:avLst/>
          </a:prstGeom>
        </p:spPr>
        <p:txBody>
          <a:bodyPr vert="horz" lIns="0" tIns="0" rIns="0" bIns="0" rtlCol="0" anchor="ctr" anchorCtr="0">
            <a:normAutofit fontScale="90000"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kumimoji="0" lang="zh-CN" altLang="en-US" sz="24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indent="0" algn="ctr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en-US" altLang="zh-CN" sz="2700" b="1" dirty="0">
                <a:solidFill>
                  <a:srgbClr val="1D518C"/>
                </a:solidFill>
                <a:latin typeface="微软雅黑" panose="020B0503020204020204" pitchFamily="34" charset="-122"/>
              </a:rPr>
              <a:t>2.2</a:t>
            </a:r>
          </a:p>
        </p:txBody>
      </p:sp>
      <p:sp>
        <p:nvSpPr>
          <p:cNvPr id="23" name="菱形 22"/>
          <p:cNvSpPr/>
          <p:nvPr>
            <p:custDataLst>
              <p:tags r:id="rId13"/>
            </p:custDataLst>
          </p:nvPr>
        </p:nvSpPr>
        <p:spPr>
          <a:xfrm>
            <a:off x="4612005" y="2712097"/>
            <a:ext cx="301625" cy="301625"/>
          </a:xfrm>
          <a:prstGeom prst="diamond">
            <a:avLst/>
          </a:prstGeom>
          <a:solidFill>
            <a:srgbClr val="69A7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弧形 23"/>
          <p:cNvSpPr/>
          <p:nvPr>
            <p:custDataLst>
              <p:tags r:id="rId14"/>
            </p:custDataLst>
          </p:nvPr>
        </p:nvSpPr>
        <p:spPr>
          <a:xfrm>
            <a:off x="6470015" y="2520962"/>
            <a:ext cx="727075" cy="716915"/>
          </a:xfrm>
          <a:prstGeom prst="arc">
            <a:avLst>
              <a:gd name="adj1" fmla="val 11619054"/>
              <a:gd name="adj2" fmla="val 10295063"/>
            </a:avLst>
          </a:prstGeom>
          <a:ln w="19050">
            <a:solidFill>
              <a:srgbClr val="1D6D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文本框 80"/>
          <p:cNvSpPr txBox="1"/>
          <p:nvPr>
            <p:custDataLst>
              <p:tags r:id="rId15"/>
            </p:custDataLst>
          </p:nvPr>
        </p:nvSpPr>
        <p:spPr>
          <a:xfrm>
            <a:off x="6191885" y="3355352"/>
            <a:ext cx="1371600" cy="2036922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en-US" altLang="zh-CN" sz="2000" spc="15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数据类型</a:t>
            </a:r>
          </a:p>
        </p:txBody>
      </p:sp>
      <p:sp>
        <p:nvSpPr>
          <p:cNvPr id="26" name="标题 5"/>
          <p:cNvSpPr>
            <a:spLocks noGrp="1"/>
          </p:cNvSpPr>
          <p:nvPr>
            <p:custDataLst>
              <p:tags r:id="rId16"/>
            </p:custDataLst>
          </p:nvPr>
        </p:nvSpPr>
        <p:spPr>
          <a:xfrm>
            <a:off x="6580505" y="2616212"/>
            <a:ext cx="554355" cy="509270"/>
          </a:xfrm>
          <a:prstGeom prst="rect">
            <a:avLst/>
          </a:prstGeom>
        </p:spPr>
        <p:txBody>
          <a:bodyPr vert="horz" lIns="0" tIns="0" rIns="0" bIns="0" rtlCol="0" anchor="ctr" anchorCtr="0">
            <a:normAutofit fontScale="90000"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kumimoji="0" lang="zh-CN" altLang="en-US" sz="24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indent="0" algn="ctr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en-US" altLang="zh-CN" sz="2700" b="1" dirty="0">
                <a:solidFill>
                  <a:srgbClr val="1D518C"/>
                </a:solidFill>
                <a:latin typeface="微软雅黑" panose="020B0503020204020204" pitchFamily="34" charset="-122"/>
              </a:rPr>
              <a:t>2.3</a:t>
            </a:r>
          </a:p>
        </p:txBody>
      </p:sp>
      <p:sp>
        <p:nvSpPr>
          <p:cNvPr id="27" name="菱形 26"/>
          <p:cNvSpPr/>
          <p:nvPr>
            <p:custDataLst>
              <p:tags r:id="rId17"/>
            </p:custDataLst>
          </p:nvPr>
        </p:nvSpPr>
        <p:spPr>
          <a:xfrm>
            <a:off x="6291580" y="2712097"/>
            <a:ext cx="301625" cy="301625"/>
          </a:xfrm>
          <a:prstGeom prst="diamond">
            <a:avLst/>
          </a:prstGeom>
          <a:solidFill>
            <a:srgbClr val="69A7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弧形 27"/>
          <p:cNvSpPr/>
          <p:nvPr>
            <p:custDataLst>
              <p:tags r:id="rId18"/>
            </p:custDataLst>
          </p:nvPr>
        </p:nvSpPr>
        <p:spPr>
          <a:xfrm>
            <a:off x="8148955" y="2520962"/>
            <a:ext cx="727075" cy="716915"/>
          </a:xfrm>
          <a:prstGeom prst="arc">
            <a:avLst>
              <a:gd name="adj1" fmla="val 11619054"/>
              <a:gd name="adj2" fmla="val 10295063"/>
            </a:avLst>
          </a:prstGeom>
          <a:ln w="19050">
            <a:solidFill>
              <a:srgbClr val="1D6D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80"/>
          <p:cNvSpPr txBox="1"/>
          <p:nvPr>
            <p:custDataLst>
              <p:tags r:id="rId19"/>
            </p:custDataLst>
          </p:nvPr>
        </p:nvSpPr>
        <p:spPr>
          <a:xfrm>
            <a:off x="7871460" y="3355352"/>
            <a:ext cx="1371600" cy="2036922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en-US" altLang="zh-CN" sz="2000" spc="15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运算符与</a:t>
            </a:r>
          </a:p>
          <a:p>
            <a:pPr marL="0" lvl="0" indent="0"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en-US" altLang="zh-CN" sz="2000" spc="15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</a:p>
        </p:txBody>
      </p:sp>
      <p:sp>
        <p:nvSpPr>
          <p:cNvPr id="30" name="标题 5"/>
          <p:cNvSpPr>
            <a:spLocks noGrp="1"/>
          </p:cNvSpPr>
          <p:nvPr>
            <p:custDataLst>
              <p:tags r:id="rId20"/>
            </p:custDataLst>
          </p:nvPr>
        </p:nvSpPr>
        <p:spPr>
          <a:xfrm>
            <a:off x="8260080" y="2616212"/>
            <a:ext cx="554355" cy="509270"/>
          </a:xfrm>
          <a:prstGeom prst="rect">
            <a:avLst/>
          </a:prstGeom>
        </p:spPr>
        <p:txBody>
          <a:bodyPr vert="horz" lIns="0" tIns="0" rIns="0" bIns="0" rtlCol="0" anchor="ctr" anchorCtr="0">
            <a:normAutofit fontScale="90000"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kumimoji="0" lang="zh-CN" altLang="en-US" sz="24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indent="0" algn="ctr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en-US" altLang="zh-CN" sz="2700" b="1" dirty="0">
                <a:solidFill>
                  <a:srgbClr val="1D518C"/>
                </a:solidFill>
                <a:latin typeface="微软雅黑" panose="020B0503020204020204" pitchFamily="34" charset="-122"/>
              </a:rPr>
              <a:t>2.4</a:t>
            </a:r>
          </a:p>
        </p:txBody>
      </p:sp>
      <p:sp>
        <p:nvSpPr>
          <p:cNvPr id="31" name="菱形 30"/>
          <p:cNvSpPr/>
          <p:nvPr>
            <p:custDataLst>
              <p:tags r:id="rId21"/>
            </p:custDataLst>
          </p:nvPr>
        </p:nvSpPr>
        <p:spPr>
          <a:xfrm>
            <a:off x="7970520" y="2712097"/>
            <a:ext cx="301625" cy="301625"/>
          </a:xfrm>
          <a:prstGeom prst="diamond">
            <a:avLst/>
          </a:prstGeom>
          <a:solidFill>
            <a:srgbClr val="69A7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p:transition spd="slow" advTm="0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/>
          <p:cNvSpPr/>
          <p:nvPr/>
        </p:nvSpPr>
        <p:spPr>
          <a:xfrm>
            <a:off x="789115" y="1764665"/>
            <a:ext cx="1612900" cy="52197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zh-CN" altLang="en-US" sz="2800" b="1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方正大黑简体" panose="02010601030101010101" pitchFamily="2" charset="-122"/>
                <a:ea typeface="方正大黑简体" panose="02010601030101010101" pitchFamily="2" charset="-122"/>
              </a:rPr>
              <a:t>教学目标</a:t>
            </a:r>
          </a:p>
        </p:txBody>
      </p:sp>
      <p:sp>
        <p:nvSpPr>
          <p:cNvPr id="27" name="文本框 26"/>
          <p:cNvSpPr txBox="1"/>
          <p:nvPr/>
        </p:nvSpPr>
        <p:spPr>
          <a:xfrm>
            <a:off x="2401381" y="1594137"/>
            <a:ext cx="8162290" cy="13849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 fontAlgn="auto">
              <a:lnSpc>
                <a:spcPct val="150000"/>
              </a:lnSpc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   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熟练掌握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Python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的基础语法，包括命名规范、数据变量以及运算符等。</a:t>
            </a:r>
          </a:p>
        </p:txBody>
      </p:sp>
      <p:sp>
        <p:nvSpPr>
          <p:cNvPr id="30" name="矩形 29"/>
          <p:cNvSpPr/>
          <p:nvPr/>
        </p:nvSpPr>
        <p:spPr>
          <a:xfrm>
            <a:off x="788480" y="4304665"/>
            <a:ext cx="1612900" cy="52197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zh-CN" altLang="en-US" sz="2800" b="1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方正大黑简体" panose="02010601030101010101" pitchFamily="2" charset="-122"/>
                <a:ea typeface="方正大黑简体" panose="02010601030101010101" pitchFamily="2" charset="-122"/>
              </a:rPr>
              <a:t>教学学时</a:t>
            </a:r>
          </a:p>
        </p:txBody>
      </p:sp>
      <p:sp>
        <p:nvSpPr>
          <p:cNvPr id="31" name="文本框 30"/>
          <p:cNvSpPr txBox="1"/>
          <p:nvPr/>
        </p:nvSpPr>
        <p:spPr>
          <a:xfrm>
            <a:off x="2549970" y="4125595"/>
            <a:ext cx="8013700" cy="737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 fontAlgn="auto">
              <a:lnSpc>
                <a:spcPct val="150000"/>
              </a:lnSpc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   </a:t>
            </a:r>
            <a:r>
              <a:rPr lang="en-US" sz="28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2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学时</a:t>
            </a:r>
          </a:p>
        </p:txBody>
      </p:sp>
    </p:spTree>
  </p:cSld>
  <p:clrMapOvr>
    <a:masterClrMapping/>
  </p:clrMapOvr>
  <p:transition spd="med" advTm="0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>
            <p:custDataLst>
              <p:tags r:id="rId2"/>
            </p:custDataLst>
          </p:nvPr>
        </p:nvSpPr>
        <p:spPr>
          <a:xfrm>
            <a:off x="0" y="3810736"/>
            <a:ext cx="12198448" cy="3048588"/>
          </a:xfrm>
          <a:prstGeom prst="rect">
            <a:avLst/>
          </a:prstGeom>
          <a:pattFill prst="dkHorz">
            <a:fgClr>
              <a:srgbClr val="F2F2F2"/>
            </a:fgClr>
            <a:bgClr>
              <a:srgbClr val="FFFFFF"/>
            </a:bgClr>
          </a:patt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 sz="18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" name="矩形 5"/>
          <p:cNvSpPr/>
          <p:nvPr>
            <p:custDataLst>
              <p:tags r:id="rId3"/>
            </p:custDataLst>
          </p:nvPr>
        </p:nvSpPr>
        <p:spPr>
          <a:xfrm>
            <a:off x="1677254" y="914251"/>
            <a:ext cx="8843875" cy="853503"/>
          </a:xfrm>
          <a:prstGeom prst="rect">
            <a:avLst/>
          </a:prstGeom>
          <a:solidFill>
            <a:srgbClr val="FFFFFF"/>
          </a:solidFill>
          <a:ln w="25400">
            <a:noFill/>
          </a:ln>
          <a:effectLst>
            <a:outerShdw blurRad="50800" dist="76200" dir="5400000" sx="101000" sy="101000" algn="t" rotWithShape="0">
              <a:srgbClr val="000000">
                <a:alpha val="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kumimoji="1" lang="zh-CN" altLang="en-US" sz="18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1" name="矩形 11"/>
          <p:cNvSpPr/>
          <p:nvPr>
            <p:custDataLst>
              <p:tags r:id="rId4"/>
            </p:custDataLst>
          </p:nvPr>
        </p:nvSpPr>
        <p:spPr>
          <a:xfrm>
            <a:off x="1677241" y="2194436"/>
            <a:ext cx="8843875" cy="3777441"/>
          </a:xfrm>
          <a:prstGeom prst="rect">
            <a:avLst/>
          </a:prstGeom>
          <a:solidFill>
            <a:srgbClr val="FFFFFF"/>
          </a:solidFill>
          <a:ln w="25400">
            <a:noFill/>
          </a:ln>
          <a:effectLst>
            <a:outerShdw blurRad="50800" dist="76200" dir="5400000" sx="101000" sy="101000" algn="t" rotWithShape="0">
              <a:srgbClr val="000000">
                <a:alpha val="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kumimoji="1" lang="zh-CN" altLang="en-US" sz="18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>
            <p:custDataLst>
              <p:tags r:id="rId5"/>
            </p:custDataLst>
          </p:nvPr>
        </p:nvSpPr>
        <p:spPr>
          <a:xfrm>
            <a:off x="1982200" y="1066680"/>
            <a:ext cx="8233950" cy="548639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2800" b="1" spc="3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主要内容</a:t>
            </a:r>
          </a:p>
        </p:txBody>
      </p:sp>
      <p:sp>
        <p:nvSpPr>
          <p:cNvPr id="12" name="弧形 11"/>
          <p:cNvSpPr/>
          <p:nvPr>
            <p:custDataLst>
              <p:tags r:id="rId6"/>
            </p:custDataLst>
          </p:nvPr>
        </p:nvSpPr>
        <p:spPr>
          <a:xfrm>
            <a:off x="3111500" y="2520962"/>
            <a:ext cx="727075" cy="716915"/>
          </a:xfrm>
          <a:prstGeom prst="arc">
            <a:avLst>
              <a:gd name="adj1" fmla="val 11619054"/>
              <a:gd name="adj2" fmla="val 10295063"/>
            </a:avLst>
          </a:prstGeom>
          <a:ln w="19050">
            <a:solidFill>
              <a:srgbClr val="1D6D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80"/>
          <p:cNvSpPr txBox="1"/>
          <p:nvPr>
            <p:custDataLst>
              <p:tags r:id="rId7"/>
            </p:custDataLst>
          </p:nvPr>
        </p:nvSpPr>
        <p:spPr>
          <a:xfrm>
            <a:off x="2833370" y="3355352"/>
            <a:ext cx="1371600" cy="2036922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en-US" altLang="zh-CN" sz="2000" spc="15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</a:p>
          <a:p>
            <a:pPr marL="0" lvl="0" indent="0"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en-US" altLang="zh-CN" sz="2000" spc="15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编码规范</a:t>
            </a:r>
          </a:p>
        </p:txBody>
      </p:sp>
      <p:sp>
        <p:nvSpPr>
          <p:cNvPr id="14" name="标题 5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3221990" y="2616212"/>
            <a:ext cx="554355" cy="509270"/>
          </a:xfrm>
          <a:prstGeom prst="rect">
            <a:avLst/>
          </a:prstGeom>
        </p:spPr>
        <p:txBody>
          <a:bodyPr vert="horz" lIns="0" tIns="0" rIns="0" bIns="0" rtlCol="0" anchor="ctr" anchorCtr="0">
            <a:normAutofit fontScale="90000"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kumimoji="0" lang="zh-CN" altLang="en-US" sz="24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indent="0" algn="ctr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en-US" altLang="zh-CN" sz="2700" b="1" dirty="0">
                <a:solidFill>
                  <a:srgbClr val="FF0000"/>
                </a:solidFill>
                <a:latin typeface="微软雅黑" panose="020B0503020204020204" pitchFamily="34" charset="-122"/>
              </a:rPr>
              <a:t>2.1</a:t>
            </a:r>
          </a:p>
        </p:txBody>
      </p:sp>
      <p:sp>
        <p:nvSpPr>
          <p:cNvPr id="15" name="菱形 14"/>
          <p:cNvSpPr/>
          <p:nvPr>
            <p:custDataLst>
              <p:tags r:id="rId9"/>
            </p:custDataLst>
          </p:nvPr>
        </p:nvSpPr>
        <p:spPr>
          <a:xfrm>
            <a:off x="2933065" y="2712097"/>
            <a:ext cx="301625" cy="301625"/>
          </a:xfrm>
          <a:prstGeom prst="diamond">
            <a:avLst/>
          </a:prstGeom>
          <a:solidFill>
            <a:srgbClr val="69A7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弧形 15"/>
          <p:cNvSpPr/>
          <p:nvPr>
            <p:custDataLst>
              <p:tags r:id="rId10"/>
            </p:custDataLst>
          </p:nvPr>
        </p:nvSpPr>
        <p:spPr>
          <a:xfrm>
            <a:off x="4790440" y="2520962"/>
            <a:ext cx="727075" cy="716915"/>
          </a:xfrm>
          <a:prstGeom prst="arc">
            <a:avLst>
              <a:gd name="adj1" fmla="val 11619054"/>
              <a:gd name="adj2" fmla="val 10295063"/>
            </a:avLst>
          </a:prstGeom>
          <a:ln w="19050">
            <a:solidFill>
              <a:srgbClr val="1D6D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80"/>
          <p:cNvSpPr txBox="1"/>
          <p:nvPr>
            <p:custDataLst>
              <p:tags r:id="rId11"/>
            </p:custDataLst>
          </p:nvPr>
        </p:nvSpPr>
        <p:spPr>
          <a:xfrm>
            <a:off x="4512945" y="3355352"/>
            <a:ext cx="1371600" cy="2036922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en-US" altLang="zh-CN" sz="2000" spc="15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变量和常量</a:t>
            </a:r>
          </a:p>
        </p:txBody>
      </p:sp>
      <p:sp>
        <p:nvSpPr>
          <p:cNvPr id="22" name="标题 5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4901565" y="2616212"/>
            <a:ext cx="554355" cy="509270"/>
          </a:xfrm>
          <a:prstGeom prst="rect">
            <a:avLst/>
          </a:prstGeom>
        </p:spPr>
        <p:txBody>
          <a:bodyPr vert="horz" lIns="0" tIns="0" rIns="0" bIns="0" rtlCol="0" anchor="ctr" anchorCtr="0">
            <a:normAutofit fontScale="90000"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kumimoji="0" lang="zh-CN" altLang="en-US" sz="24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indent="0" algn="ctr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en-US" altLang="zh-CN" sz="2700" b="1" dirty="0">
                <a:solidFill>
                  <a:srgbClr val="1D518C"/>
                </a:solidFill>
                <a:latin typeface="微软雅黑" panose="020B0503020204020204" pitchFamily="34" charset="-122"/>
              </a:rPr>
              <a:t>2.2</a:t>
            </a:r>
          </a:p>
        </p:txBody>
      </p:sp>
      <p:sp>
        <p:nvSpPr>
          <p:cNvPr id="23" name="菱形 22"/>
          <p:cNvSpPr/>
          <p:nvPr>
            <p:custDataLst>
              <p:tags r:id="rId13"/>
            </p:custDataLst>
          </p:nvPr>
        </p:nvSpPr>
        <p:spPr>
          <a:xfrm>
            <a:off x="4612005" y="2712097"/>
            <a:ext cx="301625" cy="301625"/>
          </a:xfrm>
          <a:prstGeom prst="diamond">
            <a:avLst/>
          </a:prstGeom>
          <a:solidFill>
            <a:srgbClr val="69A7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弧形 23"/>
          <p:cNvSpPr/>
          <p:nvPr>
            <p:custDataLst>
              <p:tags r:id="rId14"/>
            </p:custDataLst>
          </p:nvPr>
        </p:nvSpPr>
        <p:spPr>
          <a:xfrm>
            <a:off x="6470015" y="2520962"/>
            <a:ext cx="727075" cy="716915"/>
          </a:xfrm>
          <a:prstGeom prst="arc">
            <a:avLst>
              <a:gd name="adj1" fmla="val 11619054"/>
              <a:gd name="adj2" fmla="val 10295063"/>
            </a:avLst>
          </a:prstGeom>
          <a:ln w="19050">
            <a:solidFill>
              <a:srgbClr val="1D6D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文本框 80"/>
          <p:cNvSpPr txBox="1"/>
          <p:nvPr>
            <p:custDataLst>
              <p:tags r:id="rId15"/>
            </p:custDataLst>
          </p:nvPr>
        </p:nvSpPr>
        <p:spPr>
          <a:xfrm>
            <a:off x="6191885" y="3355352"/>
            <a:ext cx="1371600" cy="2036922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en-US" altLang="zh-CN" sz="2000" spc="15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数据类型</a:t>
            </a:r>
          </a:p>
        </p:txBody>
      </p:sp>
      <p:sp>
        <p:nvSpPr>
          <p:cNvPr id="26" name="标题 5"/>
          <p:cNvSpPr>
            <a:spLocks noGrp="1"/>
          </p:cNvSpPr>
          <p:nvPr>
            <p:custDataLst>
              <p:tags r:id="rId16"/>
            </p:custDataLst>
          </p:nvPr>
        </p:nvSpPr>
        <p:spPr>
          <a:xfrm>
            <a:off x="6580505" y="2616212"/>
            <a:ext cx="554355" cy="509270"/>
          </a:xfrm>
          <a:prstGeom prst="rect">
            <a:avLst/>
          </a:prstGeom>
        </p:spPr>
        <p:txBody>
          <a:bodyPr vert="horz" lIns="0" tIns="0" rIns="0" bIns="0" rtlCol="0" anchor="ctr" anchorCtr="0">
            <a:normAutofit fontScale="90000"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kumimoji="0" lang="zh-CN" altLang="en-US" sz="24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indent="0" algn="ctr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en-US" altLang="zh-CN" sz="2700" b="1" dirty="0">
                <a:solidFill>
                  <a:srgbClr val="1D518C"/>
                </a:solidFill>
                <a:latin typeface="微软雅黑" panose="020B0503020204020204" pitchFamily="34" charset="-122"/>
              </a:rPr>
              <a:t>2.3</a:t>
            </a:r>
          </a:p>
        </p:txBody>
      </p:sp>
      <p:sp>
        <p:nvSpPr>
          <p:cNvPr id="27" name="菱形 26"/>
          <p:cNvSpPr/>
          <p:nvPr>
            <p:custDataLst>
              <p:tags r:id="rId17"/>
            </p:custDataLst>
          </p:nvPr>
        </p:nvSpPr>
        <p:spPr>
          <a:xfrm>
            <a:off x="6291580" y="2712097"/>
            <a:ext cx="301625" cy="301625"/>
          </a:xfrm>
          <a:prstGeom prst="diamond">
            <a:avLst/>
          </a:prstGeom>
          <a:solidFill>
            <a:srgbClr val="69A7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弧形 27"/>
          <p:cNvSpPr/>
          <p:nvPr>
            <p:custDataLst>
              <p:tags r:id="rId18"/>
            </p:custDataLst>
          </p:nvPr>
        </p:nvSpPr>
        <p:spPr>
          <a:xfrm>
            <a:off x="8148955" y="2520962"/>
            <a:ext cx="727075" cy="716915"/>
          </a:xfrm>
          <a:prstGeom prst="arc">
            <a:avLst>
              <a:gd name="adj1" fmla="val 11619054"/>
              <a:gd name="adj2" fmla="val 10295063"/>
            </a:avLst>
          </a:prstGeom>
          <a:ln w="19050">
            <a:solidFill>
              <a:srgbClr val="1D6D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80"/>
          <p:cNvSpPr txBox="1"/>
          <p:nvPr>
            <p:custDataLst>
              <p:tags r:id="rId19"/>
            </p:custDataLst>
          </p:nvPr>
        </p:nvSpPr>
        <p:spPr>
          <a:xfrm>
            <a:off x="7871460" y="3355352"/>
            <a:ext cx="1371600" cy="2036922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en-US" altLang="zh-CN" sz="2000" spc="15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运算符与</a:t>
            </a:r>
          </a:p>
          <a:p>
            <a:pPr marL="0" lvl="0" indent="0"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en-US" altLang="zh-CN" sz="2000" spc="15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</a:p>
        </p:txBody>
      </p:sp>
      <p:sp>
        <p:nvSpPr>
          <p:cNvPr id="30" name="标题 5"/>
          <p:cNvSpPr>
            <a:spLocks noGrp="1"/>
          </p:cNvSpPr>
          <p:nvPr>
            <p:custDataLst>
              <p:tags r:id="rId20"/>
            </p:custDataLst>
          </p:nvPr>
        </p:nvSpPr>
        <p:spPr>
          <a:xfrm>
            <a:off x="8260080" y="2616212"/>
            <a:ext cx="554355" cy="509270"/>
          </a:xfrm>
          <a:prstGeom prst="rect">
            <a:avLst/>
          </a:prstGeom>
        </p:spPr>
        <p:txBody>
          <a:bodyPr vert="horz" lIns="0" tIns="0" rIns="0" bIns="0" rtlCol="0" anchor="ctr" anchorCtr="0">
            <a:normAutofit fontScale="90000"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kumimoji="0" lang="zh-CN" altLang="en-US" sz="24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indent="0" algn="ctr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en-US" altLang="zh-CN" sz="2700" b="1" dirty="0">
                <a:solidFill>
                  <a:srgbClr val="1D518C"/>
                </a:solidFill>
                <a:latin typeface="微软雅黑" panose="020B0503020204020204" pitchFamily="34" charset="-122"/>
              </a:rPr>
              <a:t>2.4</a:t>
            </a:r>
          </a:p>
        </p:txBody>
      </p:sp>
      <p:sp>
        <p:nvSpPr>
          <p:cNvPr id="31" name="菱形 30"/>
          <p:cNvSpPr/>
          <p:nvPr>
            <p:custDataLst>
              <p:tags r:id="rId21"/>
            </p:custDataLst>
          </p:nvPr>
        </p:nvSpPr>
        <p:spPr>
          <a:xfrm>
            <a:off x="7970520" y="2712097"/>
            <a:ext cx="301625" cy="301625"/>
          </a:xfrm>
          <a:prstGeom prst="diamond">
            <a:avLst/>
          </a:prstGeom>
          <a:solidFill>
            <a:srgbClr val="69A7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p:transition spd="slow" advTm="0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8115399" y="189434"/>
            <a:ext cx="3990727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2.1 Python编码规范</a:t>
            </a:r>
          </a:p>
        </p:txBody>
      </p:sp>
      <p:sp>
        <p:nvSpPr>
          <p:cNvPr id="7171" name="内容占位符 2"/>
          <p:cNvSpPr>
            <a:spLocks noGrp="1"/>
          </p:cNvSpPr>
          <p:nvPr>
            <p:ph idx="4294967295"/>
          </p:nvPr>
        </p:nvSpPr>
        <p:spPr>
          <a:xfrm>
            <a:off x="838200" y="954405"/>
            <a:ext cx="1776730" cy="483235"/>
          </a:xfrm>
          <a:prstGeom prst="rect">
            <a:avLst/>
          </a:prstGeom>
        </p:spPr>
        <p:txBody>
          <a:bodyPr>
            <a:scene3d>
              <a:camera prst="orthographicFront"/>
              <a:lightRig rig="threePt" dir="t"/>
            </a:scene3d>
          </a:bodyPr>
          <a:lstStyle/>
          <a:p>
            <a:pPr marL="0" indent="0">
              <a:buNone/>
              <a:defRPr/>
            </a:pPr>
            <a:r>
              <a:rPr lang="zh-CN" sz="28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方正大黑简体" panose="02010601030101010101" pitchFamily="2" charset="-122"/>
                <a:ea typeface="方正大黑简体" panose="02010601030101010101" pitchFamily="2" charset="-122"/>
              </a:rPr>
              <a:t>思考：</a:t>
            </a:r>
          </a:p>
        </p:txBody>
      </p:sp>
      <p:sp>
        <p:nvSpPr>
          <p:cNvPr id="9219" name="内容占位符 2"/>
          <p:cNvSpPr>
            <a:spLocks noGrp="1"/>
          </p:cNvSpPr>
          <p:nvPr/>
        </p:nvSpPr>
        <p:spPr>
          <a:xfrm>
            <a:off x="1274639" y="1607185"/>
            <a:ext cx="8050530" cy="4121785"/>
          </a:xfrm>
          <a:prstGeom prst="rect">
            <a:avLst/>
          </a:prstGeom>
        </p:spPr>
        <p:txBody>
          <a:bodyPr/>
          <a:lstStyle>
            <a:lvl1pPr marL="457200" indent="-4572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4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1235" indent="-3810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4635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4235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447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407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67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905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505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利用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语言编写一个函数，实现统计年工资总收入功能：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工资收入组成包括：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1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、基本工资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2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、绩效津贴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3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、其他所得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4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、每月固定交税</a:t>
            </a:r>
          </a:p>
        </p:txBody>
      </p:sp>
      <p:graphicFrame>
        <p:nvGraphicFramePr>
          <p:cNvPr id="3" name="表格 2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92427541"/>
              </p:ext>
            </p:extLst>
          </p:nvPr>
        </p:nvGraphicFramePr>
        <p:xfrm>
          <a:off x="5276078" y="2421682"/>
          <a:ext cx="5448300" cy="30060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6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10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/>
                        <a:t>收入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税率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10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/>
                        <a:t>收入</a:t>
                      </a:r>
                      <a:r>
                        <a:rPr lang="en-US" altLang="zh-CN" dirty="0"/>
                        <a:t>&lt;=3000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10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3000&lt;</a:t>
                      </a:r>
                      <a:r>
                        <a:rPr lang="zh-CN"/>
                        <a:t>收入</a:t>
                      </a:r>
                      <a:r>
                        <a:rPr lang="en-US" altLang="zh-CN"/>
                        <a:t>&lt;=12000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0.05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10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12000&lt;</a:t>
                      </a:r>
                      <a:r>
                        <a:rPr lang="zh-CN" altLang="en-US"/>
                        <a:t>收入</a:t>
                      </a:r>
                      <a:r>
                        <a:rPr lang="en-US" altLang="zh-CN"/>
                        <a:t>&lt;=25000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0.1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10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25000&lt;</a:t>
                      </a:r>
                      <a:r>
                        <a:rPr lang="zh-CN" altLang="en-US"/>
                        <a:t>收入</a:t>
                      </a:r>
                      <a:r>
                        <a:rPr lang="en-US" altLang="zh-CN"/>
                        <a:t>&lt;=35000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0.15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10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/>
                        <a:t>其他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/>
                        <a:t>0.2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8115399" y="189434"/>
            <a:ext cx="3990727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2.1 Python编码规范</a:t>
            </a:r>
          </a:p>
        </p:txBody>
      </p:sp>
      <p:sp>
        <p:nvSpPr>
          <p:cNvPr id="9219" name="内容占位符 2"/>
          <p:cNvSpPr>
            <a:spLocks noGrp="1"/>
          </p:cNvSpPr>
          <p:nvPr/>
        </p:nvSpPr>
        <p:spPr>
          <a:xfrm>
            <a:off x="246380" y="711200"/>
            <a:ext cx="8050530" cy="709295"/>
          </a:xfrm>
          <a:prstGeom prst="rect">
            <a:avLst/>
          </a:prstGeom>
        </p:spPr>
        <p:txBody>
          <a:bodyPr/>
          <a:lstStyle>
            <a:lvl1pPr marL="457200" indent="-4572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4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1235" indent="-3810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4635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4235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447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407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67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905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505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利用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语言编写一个函数，实现统计年工资总收入功能：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515620" y="1275080"/>
            <a:ext cx="10759440" cy="49644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B050"/>
                </a:solidFill>
              </a14:hiddenFill>
            </a:ext>
          </a:ex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dirty="0">
                <a:solidFill>
                  <a:schemeClr val="tx1"/>
                </a:solidFill>
                <a:latin typeface="Tahoma" panose="020B0604030504040204" charset="0"/>
                <a:cs typeface="Tahoma" panose="020B0604030504040204" charset="0"/>
              </a:rPr>
              <a:t>float GetYearSalary(int basicSalary,int performancePay,int elseIncome)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dirty="0">
                <a:latin typeface="Tahoma" panose="020B0604030504040204" charset="0"/>
                <a:cs typeface="Tahoma" panose="020B0604030504040204" charset="0"/>
              </a:rPr>
              <a:t>{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dirty="0">
                <a:solidFill>
                  <a:schemeClr val="tx1"/>
                </a:solidFill>
                <a:latin typeface="Tahoma" panose="020B0604030504040204" charset="0"/>
                <a:cs typeface="Tahoma" panose="020B0604030504040204" charset="0"/>
                <a:sym typeface="+mn-ea"/>
              </a:rPr>
              <a:t>    float taxRatio</a:t>
            </a:r>
            <a:r>
              <a:rPr lang="en-US" altLang="zh-CN" sz="1800" b="1" dirty="0">
                <a:solidFill>
                  <a:schemeClr val="tx1"/>
                </a:solidFill>
                <a:latin typeface="Tahoma" panose="020B0604030504040204" charset="0"/>
                <a:cs typeface="Tahoma" panose="020B0604030504040204" charset="0"/>
                <a:sym typeface="+mn-ea"/>
              </a:rPr>
              <a:t>=0.0;</a:t>
            </a:r>
            <a:endParaRPr lang="zh-CN" altLang="en-US" sz="1800" b="1" dirty="0">
              <a:latin typeface="Tahoma" panose="020B0604030504040204" charset="0"/>
              <a:cs typeface="Tahoma" panose="020B0604030504040204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dirty="0">
                <a:latin typeface="Tahoma" panose="020B0604030504040204" charset="0"/>
                <a:cs typeface="Tahoma" panose="020B0604030504040204" charset="0"/>
              </a:rPr>
              <a:t>    int sumSalary = basicSalary+performancePay+elseIncome;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dirty="0">
                <a:latin typeface="Tahoma" panose="020B0604030504040204" charset="0"/>
                <a:cs typeface="Tahoma" panose="020B0604030504040204" charset="0"/>
              </a:rPr>
              <a:t>    if(sumSalary &lt;=3000)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dirty="0">
                <a:latin typeface="Tahoma" panose="020B0604030504040204" charset="0"/>
                <a:cs typeface="Tahoma" panose="020B0604030504040204" charset="0"/>
              </a:rPr>
              <a:t>        taxRatio = 0</a:t>
            </a:r>
            <a:r>
              <a:rPr lang="en-US" altLang="zh-CN" sz="1800" b="1" dirty="0">
                <a:latin typeface="Tahoma" panose="020B0604030504040204" charset="0"/>
                <a:cs typeface="Tahoma" panose="020B0604030504040204" charset="0"/>
              </a:rPr>
              <a:t>.0</a:t>
            </a:r>
            <a:r>
              <a:rPr lang="zh-CN" altLang="en-US" sz="1800" b="1" dirty="0">
                <a:latin typeface="Tahoma" panose="020B0604030504040204" charset="0"/>
                <a:cs typeface="Tahoma" panose="020B0604030504040204" charset="0"/>
              </a:rPr>
              <a:t>;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dirty="0">
                <a:latin typeface="Tahoma" panose="020B0604030504040204" charset="0"/>
                <a:cs typeface="Tahoma" panose="020B0604030504040204" charset="0"/>
              </a:rPr>
              <a:t>    else if(sumSalary &gt;3000 &amp;&amp; sumSalary&lt;=12000)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dirty="0">
                <a:latin typeface="Tahoma" panose="020B0604030504040204" charset="0"/>
                <a:cs typeface="Tahoma" panose="020B0604030504040204" charset="0"/>
              </a:rPr>
              <a:t>        taxRatio = 0.</a:t>
            </a:r>
            <a:r>
              <a:rPr lang="en-US" altLang="zh-CN" sz="1800" b="1" dirty="0">
                <a:latin typeface="Tahoma" panose="020B0604030504040204" charset="0"/>
                <a:cs typeface="Tahoma" panose="020B0604030504040204" charset="0"/>
              </a:rPr>
              <a:t>05</a:t>
            </a:r>
            <a:r>
              <a:rPr lang="zh-CN" altLang="en-US" sz="1800" b="1" dirty="0">
                <a:latin typeface="Tahoma" panose="020B0604030504040204" charset="0"/>
                <a:cs typeface="Tahoma" panose="020B0604030504040204" charset="0"/>
              </a:rPr>
              <a:t>;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dirty="0">
                <a:latin typeface="Tahoma" panose="020B0604030504040204" charset="0"/>
                <a:cs typeface="Tahoma" panose="020B0604030504040204" charset="0"/>
              </a:rPr>
              <a:t>    else if(sumSalary &gt;12000 &amp;&amp; sumSalary&lt;=25000)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dirty="0">
                <a:latin typeface="Tahoma" panose="020B0604030504040204" charset="0"/>
                <a:cs typeface="Tahoma" panose="020B0604030504040204" charset="0"/>
              </a:rPr>
              <a:t>        taxRatio = 0.</a:t>
            </a:r>
            <a:r>
              <a:rPr lang="en-US" altLang="zh-CN" sz="1800" b="1" dirty="0">
                <a:latin typeface="Tahoma" panose="020B0604030504040204" charset="0"/>
                <a:cs typeface="Tahoma" panose="020B0604030504040204" charset="0"/>
              </a:rPr>
              <a:t>1</a:t>
            </a:r>
            <a:r>
              <a:rPr lang="zh-CN" altLang="en-US" sz="1800" b="1" dirty="0">
                <a:latin typeface="Tahoma" panose="020B0604030504040204" charset="0"/>
                <a:cs typeface="Tahoma" panose="020B0604030504040204" charset="0"/>
              </a:rPr>
              <a:t>;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dirty="0">
                <a:latin typeface="Tahoma" panose="020B0604030504040204" charset="0"/>
                <a:cs typeface="Tahoma" panose="020B0604030504040204" charset="0"/>
              </a:rPr>
              <a:t>    else if(sumSalary &gt;25000 &amp;&amp; sumSalary&lt;=35000)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dirty="0">
                <a:latin typeface="Tahoma" panose="020B0604030504040204" charset="0"/>
                <a:cs typeface="Tahoma" panose="020B0604030504040204" charset="0"/>
              </a:rPr>
              <a:t>        taxRatio = 0.</a:t>
            </a:r>
            <a:r>
              <a:rPr lang="en-US" altLang="zh-CN" sz="1800" b="1" dirty="0">
                <a:latin typeface="Tahoma" panose="020B0604030504040204" charset="0"/>
                <a:cs typeface="Tahoma" panose="020B0604030504040204" charset="0"/>
              </a:rPr>
              <a:t>15</a:t>
            </a:r>
            <a:r>
              <a:rPr lang="zh-CN" altLang="en-US" sz="1800" b="1" dirty="0">
                <a:latin typeface="Tahoma" panose="020B0604030504040204" charset="0"/>
                <a:cs typeface="Tahoma" panose="020B0604030504040204" charset="0"/>
              </a:rPr>
              <a:t>;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dirty="0">
                <a:latin typeface="Tahoma" panose="020B0604030504040204" charset="0"/>
                <a:cs typeface="Tahoma" panose="020B0604030504040204" charset="0"/>
              </a:rPr>
              <a:t>    else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dirty="0">
                <a:latin typeface="Tahoma" panose="020B0604030504040204" charset="0"/>
                <a:cs typeface="Tahoma" panose="020B0604030504040204" charset="0"/>
              </a:rPr>
              <a:t>        taxRatio = 0.</a:t>
            </a:r>
            <a:r>
              <a:rPr lang="en-US" altLang="zh-CN" sz="1800" b="1" dirty="0">
                <a:latin typeface="Tahoma" panose="020B0604030504040204" charset="0"/>
                <a:cs typeface="Tahoma" panose="020B0604030504040204" charset="0"/>
              </a:rPr>
              <a:t>20</a:t>
            </a:r>
            <a:r>
              <a:rPr lang="zh-CN" altLang="en-US" sz="1800" b="1" dirty="0">
                <a:latin typeface="Tahoma" panose="020B0604030504040204" charset="0"/>
                <a:cs typeface="Tahoma" panose="020B0604030504040204" charset="0"/>
              </a:rPr>
              <a:t>;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dirty="0">
                <a:latin typeface="Tahoma" panose="020B0604030504040204" charset="0"/>
                <a:cs typeface="Tahoma" panose="020B0604030504040204" charset="0"/>
              </a:rPr>
              <a:t>    return sumSalary-sumSalary*taxRatio;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dirty="0">
                <a:latin typeface="Tahoma" panose="020B0604030504040204" charset="0"/>
                <a:cs typeface="Tahoma" panose="020B0604030504040204" charset="0"/>
              </a:rPr>
              <a:t>}</a:t>
            </a:r>
          </a:p>
        </p:txBody>
      </p:sp>
      <p:sp>
        <p:nvSpPr>
          <p:cNvPr id="4" name="矩形 3"/>
          <p:cNvSpPr/>
          <p:nvPr/>
        </p:nvSpPr>
        <p:spPr>
          <a:xfrm>
            <a:off x="8654415" y="2731135"/>
            <a:ext cx="2851150" cy="52197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变量命名规则？</a:t>
            </a:r>
          </a:p>
        </p:txBody>
      </p:sp>
      <p:sp>
        <p:nvSpPr>
          <p:cNvPr id="5" name="矩形 4"/>
          <p:cNvSpPr/>
          <p:nvPr/>
        </p:nvSpPr>
        <p:spPr>
          <a:xfrm>
            <a:off x="8685530" y="3431540"/>
            <a:ext cx="2851150" cy="52197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2800" b="1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函数命名规则？</a:t>
            </a:r>
          </a:p>
        </p:txBody>
      </p:sp>
      <p:sp>
        <p:nvSpPr>
          <p:cNvPr id="6" name="矩形 5"/>
          <p:cNvSpPr/>
          <p:nvPr/>
        </p:nvSpPr>
        <p:spPr>
          <a:xfrm>
            <a:off x="8685530" y="4213860"/>
            <a:ext cx="2851150" cy="52197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代码缩进规则？</a:t>
            </a:r>
          </a:p>
        </p:txBody>
      </p:sp>
      <p:sp>
        <p:nvSpPr>
          <p:cNvPr id="7" name="矩形 6"/>
          <p:cNvSpPr/>
          <p:nvPr/>
        </p:nvSpPr>
        <p:spPr>
          <a:xfrm>
            <a:off x="8685530" y="4984115"/>
            <a:ext cx="2851150" cy="52197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2800" b="1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其它语法规则？</a:t>
            </a:r>
          </a:p>
        </p:txBody>
      </p:sp>
    </p:spTree>
  </p:cSld>
  <p:clrMapOvr>
    <a:masterClrMapping/>
  </p:clrMapOvr>
  <p:transition spd="slow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3" grpId="1" animBg="1"/>
      <p:bldP spid="4" grpId="0"/>
      <p:bldP spid="4" grpId="1"/>
      <p:bldP spid="5" grpId="0"/>
      <p:bldP spid="6" grpId="0"/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8115399" y="189434"/>
            <a:ext cx="3990727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2.1 Python编码规范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A3A1EDC1-D1A5-8644-BCA0-85C593F848B5}"/>
              </a:ext>
            </a:extLst>
          </p:cNvPr>
          <p:cNvSpPr txBox="1">
            <a:spLocks/>
          </p:cNvSpPr>
          <p:nvPr/>
        </p:nvSpPr>
        <p:spPr>
          <a:xfrm>
            <a:off x="770583" y="981522"/>
            <a:ext cx="10521950" cy="4352925"/>
          </a:xfrm>
          <a:prstGeom prst="rect">
            <a:avLst/>
          </a:prstGeom>
        </p:spPr>
        <p:txBody>
          <a:bodyPr/>
          <a:lstStyle>
            <a:lvl1pPr marL="457200" indent="-4572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4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1235" indent="-3810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4635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4235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447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407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67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905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505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、命名规则</a:t>
            </a:r>
            <a:endParaRPr lang="en-US" altLang="zh-CN" sz="28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spcBef>
                <a:spcPts val="20"/>
              </a:spcBef>
              <a:buFont typeface="Arial" panose="020B0604020202020204" pitchFamily="34" charset="0"/>
              <a:buNone/>
              <a:defRPr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Python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语言有一套自己的命名规则。命名规则并不是语法规定，只是一种习惯用法。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spcBef>
                <a:spcPts val="20"/>
              </a:spcBef>
              <a:buFont typeface="Arial" panose="020B0604020202020204" pitchFamily="34" charset="0"/>
              <a:buNone/>
              <a:defRPr/>
            </a:pP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变量名、模块名、包名</a:t>
            </a:r>
            <a:endParaRPr lang="en-US" altLang="zh-CN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spcBef>
                <a:spcPts val="20"/>
              </a:spcBef>
              <a:buFont typeface="Arial" panose="020B0604020202020204" pitchFamily="34" charset="0"/>
              <a:buNone/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通常采用小写，可使用下划线。例如：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spcBef>
                <a:spcPts val="20"/>
              </a:spcBef>
              <a:buFont typeface="Arial" panose="020B0604020202020204" pitchFamily="34" charset="0"/>
              <a:buNone/>
              <a:defRPr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rulemodule.py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#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模块名，即文件名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spcBef>
                <a:spcPts val="20"/>
              </a:spcBef>
              <a:buFont typeface="Arial" panose="020B0604020202020204" pitchFamily="34" charset="0"/>
              <a:buNone/>
              <a:defRPr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_rule=‘rule information’   #_rule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变量名，通常前缀有一个下划线的变量名为私有变量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spcBef>
                <a:spcPts val="20"/>
              </a:spcBef>
              <a:buFont typeface="Arial" panose="020B0604020202020204" pitchFamily="34" charset="0"/>
              <a:buNone/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RULE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=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‘rule information’#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全局变量</a:t>
            </a:r>
          </a:p>
        </p:txBody>
      </p:sp>
    </p:spTree>
  </p:cSld>
  <p:clrMapOvr>
    <a:masterClrMapping/>
  </p:clrMapOvr>
  <p:transition spd="slow" advTm="0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文本占位符 5"/>
          <p:cNvSpPr>
            <a:spLocks noGrp="1"/>
          </p:cNvSpPr>
          <p:nvPr>
            <p:ph type="body" idx="4294967295"/>
          </p:nvPr>
        </p:nvSpPr>
        <p:spPr>
          <a:xfrm>
            <a:off x="1315720" y="826770"/>
            <a:ext cx="3015615" cy="639445"/>
          </a:xfrm>
          <a:prstGeom prst="rect">
            <a:avLst/>
          </a:prstGeom>
        </p:spPr>
        <p:txBody>
          <a:bodyPr/>
          <a:lstStyle/>
          <a:p>
            <a:pPr marL="0" indent="0" algn="ctr">
              <a:buNone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命名不规范</a:t>
            </a:r>
          </a:p>
        </p:txBody>
      </p:sp>
      <p:sp>
        <p:nvSpPr>
          <p:cNvPr id="14340" name="文本占位符 7"/>
          <p:cNvSpPr>
            <a:spLocks noGrp="1"/>
          </p:cNvSpPr>
          <p:nvPr>
            <p:ph type="body" sz="quarter" idx="4294967295"/>
          </p:nvPr>
        </p:nvSpPr>
        <p:spPr>
          <a:xfrm>
            <a:off x="6136006" y="826453"/>
            <a:ext cx="4283649" cy="639762"/>
          </a:xfrm>
          <a:prstGeom prst="rect">
            <a:avLst/>
          </a:prstGeom>
        </p:spPr>
        <p:txBody>
          <a:bodyPr/>
          <a:lstStyle/>
          <a:p>
            <a:pPr marL="0" indent="0" algn="ctr">
              <a:buNone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命名规范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91335" y="3211061"/>
            <a:ext cx="8953065" cy="2861310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SzPct val="80000"/>
              <a:buFont typeface="Wingdings" panose="05000000000000000000" pitchFamily="2" charset="2"/>
              <a:buChar char="u"/>
              <a:defRPr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命名规则会带来很多益处：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统一命名规则便于开发团队合作开发同一个项目；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便于统一代码风格，理解不同程序员编写的代码；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命名规范的变量名使函数的内容更容易被理解；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避免项目中随意命名变量的情况，促进程序员之间的交流。</a:t>
            </a:r>
          </a:p>
        </p:txBody>
      </p:sp>
      <p:sp>
        <p:nvSpPr>
          <p:cNvPr id="11" name="标题 1"/>
          <p:cNvSpPr txBox="1"/>
          <p:nvPr/>
        </p:nvSpPr>
        <p:spPr>
          <a:xfrm>
            <a:off x="8115399" y="189434"/>
            <a:ext cx="3990727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2.1 Python编码规范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791335" y="1466215"/>
            <a:ext cx="2540000" cy="1568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l">
              <a:buClrTx/>
              <a:buSzTx/>
              <a:buFontTx/>
            </a:pPr>
            <a:r>
              <a:rPr lang="zh-CN" altLang="en-US" b="1">
                <a:solidFill>
                  <a:srgbClr val="FF0000"/>
                </a:solidFill>
                <a:sym typeface="+mn-ea"/>
              </a:rPr>
              <a:t>sum = 0</a:t>
            </a:r>
          </a:p>
          <a:p>
            <a:pPr lvl="0" algn="l">
              <a:buClrTx/>
              <a:buSzTx/>
              <a:buFontTx/>
            </a:pPr>
            <a:r>
              <a:rPr lang="zh-CN" altLang="en-US" b="1">
                <a:solidFill>
                  <a:srgbClr val="FF0000"/>
                </a:solidFill>
                <a:sym typeface="+mn-ea"/>
              </a:rPr>
              <a:t>i = 1000</a:t>
            </a:r>
          </a:p>
          <a:p>
            <a:pPr lvl="0" algn="l">
              <a:buClrTx/>
              <a:buSzTx/>
              <a:buFontTx/>
            </a:pPr>
            <a:r>
              <a:rPr lang="zh-CN" altLang="en-US" b="1">
                <a:solidFill>
                  <a:srgbClr val="FF0000"/>
                </a:solidFill>
                <a:sym typeface="+mn-ea"/>
              </a:rPr>
              <a:t>j = 2000</a:t>
            </a:r>
          </a:p>
          <a:p>
            <a:pPr lvl="0" algn="l">
              <a:buClrTx/>
              <a:buSzTx/>
              <a:buFontTx/>
            </a:pPr>
            <a:r>
              <a:rPr lang="zh-CN" altLang="en-US" b="1">
                <a:solidFill>
                  <a:srgbClr val="FF0000"/>
                </a:solidFill>
                <a:sym typeface="+mn-ea"/>
              </a:rPr>
              <a:t>sum = i*5+j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6136006" y="1466215"/>
            <a:ext cx="5291762" cy="1568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b="1" dirty="0">
                <a:solidFill>
                  <a:srgbClr val="4F9F49"/>
                </a:solidFill>
              </a:rPr>
              <a:t>sumPay=0</a:t>
            </a:r>
          </a:p>
          <a:p>
            <a:r>
              <a:rPr lang="zh-CN" altLang="en-US" b="1" dirty="0">
                <a:solidFill>
                  <a:srgbClr val="4F9F49"/>
                </a:solidFill>
              </a:rPr>
              <a:t>bonusOfYear = 2000</a:t>
            </a:r>
          </a:p>
          <a:p>
            <a:r>
              <a:rPr lang="zh-CN" altLang="en-US" b="1" dirty="0">
                <a:solidFill>
                  <a:srgbClr val="4F9F49"/>
                </a:solidFill>
              </a:rPr>
              <a:t>monthPay = 1200</a:t>
            </a:r>
          </a:p>
          <a:p>
            <a:r>
              <a:rPr lang="zh-CN" altLang="en-US" b="1" dirty="0">
                <a:solidFill>
                  <a:srgbClr val="4F9F49"/>
                </a:solidFill>
              </a:rPr>
              <a:t>sumPay = bonusOfYear + monthPay*12</a:t>
            </a:r>
          </a:p>
        </p:txBody>
      </p:sp>
    </p:spTree>
  </p:cSld>
  <p:clrMapOvr>
    <a:masterClrMapping/>
  </p:clrMapOvr>
  <p:transition spd="slow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43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9" grpId="0" build="p"/>
      <p:bldP spid="14339" grpId="1" build="p"/>
      <p:bldP spid="14340" grpId="0" build="p"/>
      <p:bldP spid="14340" grpId="1" build="p"/>
      <p:bldP spid="10" grpId="0" animBg="1"/>
      <p:bldP spid="10" grpId="1" animBg="1"/>
      <p:bldP spid="2" grpId="0"/>
      <p:bldP spid="2" grpId="1"/>
      <p:bldP spid="3" grpId="0"/>
      <p:bldP spid="3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631458" y="1046815"/>
            <a:ext cx="10520363" cy="546678"/>
          </a:xfrm>
          <a:prstGeom prst="rect">
            <a:avLst/>
          </a:prstGeom>
        </p:spPr>
        <p:txBody>
          <a:bodyPr/>
          <a:lstStyle/>
          <a:p>
            <a:pPr algn="l">
              <a:defRPr/>
            </a:pP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、代码缩进与冒号</a:t>
            </a:r>
          </a:p>
        </p:txBody>
      </p:sp>
      <p:sp>
        <p:nvSpPr>
          <p:cNvPr id="15363" name="内容占位符 2"/>
          <p:cNvSpPr>
            <a:spLocks noGrp="1"/>
          </p:cNvSpPr>
          <p:nvPr>
            <p:ph idx="4294967295"/>
          </p:nvPr>
        </p:nvSpPr>
        <p:spPr>
          <a:xfrm>
            <a:off x="843226" y="1848277"/>
            <a:ext cx="10512425" cy="2808287"/>
          </a:xfrm>
          <a:prstGeom prst="rect">
            <a:avLst/>
          </a:prstGeom>
        </p:spPr>
        <p:txBody>
          <a:bodyPr/>
          <a:lstStyle/>
          <a:p>
            <a:pPr algn="just">
              <a:lnSpc>
                <a:spcPts val="4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对于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C++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Java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等语言，代码缩进只是作为编程的一种良好习惯。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just">
              <a:lnSpc>
                <a:spcPts val="4000"/>
              </a:lnSpc>
            </a:pPr>
            <a:r>
              <a: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对于</a:t>
            </a:r>
            <a:r>
              <a:rPr lang="en-US" altLang="zh-CN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Python</a:t>
            </a:r>
            <a:r>
              <a: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而言，代码缩进是一种语法。</a:t>
            </a:r>
            <a:r>
              <a:rPr lang="en-US" altLang="zh-CN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Python</a:t>
            </a:r>
            <a:r>
              <a: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语言中没有采用花括号或</a:t>
            </a:r>
            <a:r>
              <a:rPr lang="en-US" altLang="zh-CN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begin…end</a:t>
            </a:r>
            <a:r>
              <a: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分隔代码块，而是使用冒号和代码缩进区分代码之间的层次</a:t>
            </a:r>
            <a:r>
              <a:rPr lang="zh-CN" altLang="en-US" sz="24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</a:p>
        </p:txBody>
      </p:sp>
      <p:sp>
        <p:nvSpPr>
          <p:cNvPr id="6" name="标题 1"/>
          <p:cNvSpPr txBox="1"/>
          <p:nvPr/>
        </p:nvSpPr>
        <p:spPr>
          <a:xfrm>
            <a:off x="8115399" y="189434"/>
            <a:ext cx="3990727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2.1 Python编码规范</a:t>
            </a:r>
          </a:p>
        </p:txBody>
      </p:sp>
    </p:spTree>
  </p:cSld>
  <p:clrMapOvr>
    <a:masterClrMapping/>
  </p:clrMapOvr>
  <p:transition spd="slow" advTm="0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305068" y="868380"/>
            <a:ext cx="10520363" cy="546678"/>
          </a:xfrm>
          <a:prstGeom prst="rect">
            <a:avLst/>
          </a:prstGeom>
        </p:spPr>
        <p:txBody>
          <a:bodyPr/>
          <a:lstStyle/>
          <a:p>
            <a:pPr algn="l">
              <a:defRPr/>
            </a:pP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、代码缩进与冒号</a:t>
            </a:r>
          </a:p>
        </p:txBody>
      </p:sp>
      <p:sp>
        <p:nvSpPr>
          <p:cNvPr id="6" name="标题 1"/>
          <p:cNvSpPr txBox="1"/>
          <p:nvPr/>
        </p:nvSpPr>
        <p:spPr>
          <a:xfrm>
            <a:off x="8115399" y="189434"/>
            <a:ext cx="3990727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2.1 Python编码规范</a:t>
            </a:r>
          </a:p>
        </p:txBody>
      </p:sp>
      <p:pic>
        <p:nvPicPr>
          <p:cNvPr id="3" name="图片 2" descr="Z:\Mac 上的 yhilly\微云同步盘\1-Python极简讲义与机器学习实战\pics\chap02\indentation.wmf"/>
          <p:cNvPicPr/>
          <p:nvPr>
            <p:custDataLst>
              <p:tags r:id="rId1"/>
            </p:custDataLst>
          </p:nvPr>
        </p:nvPicPr>
        <p:blipFill>
          <a:blip r:embed="rId3" cstate="print">
            <a:lum bright="-24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9000" y="868680"/>
            <a:ext cx="4805045" cy="5371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545" y="1736725"/>
            <a:ext cx="6715760" cy="4434205"/>
          </a:xfrm>
          <a:prstGeom prst="rect">
            <a:avLst/>
          </a:prstGeom>
        </p:spPr>
      </p:pic>
    </p:spTree>
  </p:cSld>
  <p:clrMapOvr>
    <a:masterClrMapping/>
  </p:clrMapOvr>
  <p:transition spd="slow" advTm="0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122555" y="918845"/>
            <a:ext cx="10998200" cy="553085"/>
          </a:xfrm>
          <a:prstGeom prst="rect">
            <a:avLst/>
          </a:prstGeom>
        </p:spPr>
        <p:txBody>
          <a:bodyPr/>
          <a:lstStyle/>
          <a:p>
            <a:pPr algn="l">
              <a:defRPr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例：比较两个程序段并查看运行结果</a:t>
            </a:r>
          </a:p>
        </p:txBody>
      </p:sp>
      <p:sp>
        <p:nvSpPr>
          <p:cNvPr id="16393" name="TextBox 8"/>
          <p:cNvSpPr txBox="1">
            <a:spLocks noChangeArrowheads="1"/>
          </p:cNvSpPr>
          <p:nvPr/>
        </p:nvSpPr>
        <p:spPr bwMode="auto">
          <a:xfrm>
            <a:off x="1019312" y="4626284"/>
            <a:ext cx="151323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执行结果：</a:t>
            </a:r>
          </a:p>
        </p:txBody>
      </p:sp>
      <p:sp>
        <p:nvSpPr>
          <p:cNvPr id="16394" name="TextBox 14"/>
          <p:cNvSpPr txBox="1">
            <a:spLocks noChangeArrowheads="1"/>
          </p:cNvSpPr>
          <p:nvPr/>
        </p:nvSpPr>
        <p:spPr bwMode="auto">
          <a:xfrm>
            <a:off x="6854160" y="4662732"/>
            <a:ext cx="151323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执行结果：</a:t>
            </a:r>
          </a:p>
        </p:txBody>
      </p:sp>
      <p:cxnSp>
        <p:nvCxnSpPr>
          <p:cNvPr id="13" name="直接连接符 12"/>
          <p:cNvCxnSpPr/>
          <p:nvPr/>
        </p:nvCxnSpPr>
        <p:spPr>
          <a:xfrm>
            <a:off x="6243191" y="1810465"/>
            <a:ext cx="0" cy="3313879"/>
          </a:xfrm>
          <a:prstGeom prst="line">
            <a:avLst/>
          </a:prstGeom>
          <a:ln w="28575">
            <a:solidFill>
              <a:srgbClr val="99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标题 1"/>
          <p:cNvSpPr txBox="1"/>
          <p:nvPr/>
        </p:nvSpPr>
        <p:spPr>
          <a:xfrm>
            <a:off x="8115399" y="189434"/>
            <a:ext cx="3990727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2.1 Python编码规范</a:t>
            </a: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910590" y="1381125"/>
            <a:ext cx="3417570" cy="324485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254125" y="5256530"/>
            <a:ext cx="2531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x=1</a:t>
            </a:r>
          </a:p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x=1</a:t>
            </a: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6854190" y="1471930"/>
            <a:ext cx="3271520" cy="315341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7593965" y="5256530"/>
            <a:ext cx="2531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x=1</a:t>
            </a:r>
          </a:p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x=2</a:t>
            </a:r>
          </a:p>
        </p:txBody>
      </p:sp>
    </p:spTree>
  </p:cSld>
  <p:clrMapOvr>
    <a:masterClrMapping/>
  </p:clrMapOvr>
  <p:transition spd="slow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6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93" grpId="0"/>
      <p:bldP spid="16394" grpId="0"/>
      <p:bldP spid="5" grpId="0"/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8115399" y="189434"/>
            <a:ext cx="3990727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2.1 Python编码规范</a:t>
            </a:r>
          </a:p>
        </p:txBody>
      </p:sp>
      <p:sp>
        <p:nvSpPr>
          <p:cNvPr id="3" name="矩形 2"/>
          <p:cNvSpPr/>
          <p:nvPr/>
        </p:nvSpPr>
        <p:spPr>
          <a:xfrm>
            <a:off x="469020" y="1562221"/>
            <a:ext cx="11496209" cy="166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latinLnBrk="1">
              <a:lnSpc>
                <a:spcPts val="4100"/>
              </a:lnSpc>
            </a:pPr>
            <a:r>
              <a:rPr lang="en-US" altLang="zh-CN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Python</a:t>
            </a:r>
            <a:r>
              <a:rPr lang="zh-CN" altLang="en-US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最具特色就是使用缩进来表示代码块，不需使用大括号 </a:t>
            </a:r>
            <a:r>
              <a:rPr lang="en-US" altLang="zh-CN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{}</a:t>
            </a:r>
            <a:r>
              <a:rPr lang="zh-CN" altLang="en-US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 。</a:t>
            </a:r>
          </a:p>
          <a:p>
            <a:pPr algn="just" latinLnBrk="1">
              <a:lnSpc>
                <a:spcPts val="4100"/>
              </a:lnSpc>
            </a:pPr>
            <a:r>
              <a:rPr lang="zh-CN" altLang="en-US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缩进的空格数是可变的，但是同一个代码块的语句必须包含相同的缩进空格数。实例如下：</a:t>
            </a:r>
            <a:endParaRPr lang="zh-CN" altLang="en-US" i="0" dirty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标题 1"/>
          <p:cNvSpPr txBox="1"/>
          <p:nvPr/>
        </p:nvSpPr>
        <p:spPr>
          <a:xfrm>
            <a:off x="482551" y="933789"/>
            <a:ext cx="10520363" cy="546678"/>
          </a:xfrm>
          <a:prstGeom prst="rect">
            <a:avLst/>
          </a:prstGeom>
        </p:spPr>
        <p:txBody>
          <a:bodyPr/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en-US" altLang="zh-CN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、代码缩进与冒号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535" y="3558815"/>
            <a:ext cx="4824536" cy="201428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7747" y="3089793"/>
            <a:ext cx="6818379" cy="2952328"/>
          </a:xfrm>
          <a:prstGeom prst="rect">
            <a:avLst/>
          </a:prstGeom>
        </p:spPr>
      </p:pic>
      <p:sp>
        <p:nvSpPr>
          <p:cNvPr id="9" name="乘号 8"/>
          <p:cNvSpPr/>
          <p:nvPr/>
        </p:nvSpPr>
        <p:spPr>
          <a:xfrm>
            <a:off x="8979495" y="3033049"/>
            <a:ext cx="1440160" cy="1455155"/>
          </a:xfrm>
          <a:prstGeom prst="mathMultiply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8115399" y="189434"/>
            <a:ext cx="3990727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2.1 Python编码规范</a:t>
            </a:r>
          </a:p>
        </p:txBody>
      </p:sp>
      <p:sp>
        <p:nvSpPr>
          <p:cNvPr id="3" name="矩形 2"/>
          <p:cNvSpPr/>
          <p:nvPr/>
        </p:nvSpPr>
        <p:spPr>
          <a:xfrm>
            <a:off x="544830" y="1788795"/>
            <a:ext cx="11311890" cy="166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 latinLnBrk="1">
              <a:lnSpc>
                <a:spcPts val="4100"/>
              </a:lnSpc>
              <a:buFont typeface="Wingdings" panose="05000000000000000000" charset="0"/>
              <a:buChar char="Ø"/>
            </a:pPr>
            <a:r>
              <a:rPr sz="2800" dirty="0" err="1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统一使用</a:t>
            </a:r>
            <a:r>
              <a:rPr sz="28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4 个空格进行缩进</a:t>
            </a:r>
            <a:r>
              <a:rPr lang="zh-CN" sz="28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（通常集成环境会提供此功能）</a:t>
            </a:r>
          </a:p>
          <a:p>
            <a:pPr marL="457200" indent="-457200" algn="just" latinLnBrk="1">
              <a:lnSpc>
                <a:spcPts val="4100"/>
              </a:lnSpc>
              <a:buFont typeface="Wingdings" panose="05000000000000000000" charset="0"/>
              <a:buChar char="Ø"/>
            </a:pPr>
            <a:r>
              <a:rPr lang="zh-CN" sz="28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每行代码尽量不超过 80 个字符(在特殊情况下可以略微超过 80 ，但最长不得超过 120)</a:t>
            </a:r>
          </a:p>
        </p:txBody>
      </p:sp>
      <p:sp>
        <p:nvSpPr>
          <p:cNvPr id="8" name="标题 1"/>
          <p:cNvSpPr txBox="1"/>
          <p:nvPr/>
        </p:nvSpPr>
        <p:spPr>
          <a:xfrm>
            <a:off x="482551" y="933789"/>
            <a:ext cx="10520363" cy="546678"/>
          </a:xfrm>
          <a:prstGeom prst="rect">
            <a:avLst/>
          </a:prstGeom>
        </p:spPr>
        <p:txBody>
          <a:bodyPr/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en-US" altLang="zh-CN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、代码缩进与冒号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979170" y="3626485"/>
            <a:ext cx="1024001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F79646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反斜杠（</a:t>
            </a:r>
            <a:r>
              <a:rPr lang="en-US" altLang="zh-CN" b="1" dirty="0">
                <a:solidFill>
                  <a:srgbClr val="F79646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\</a:t>
            </a:r>
            <a:r>
              <a:rPr lang="zh-CN" altLang="en-US" b="1" dirty="0">
                <a:solidFill>
                  <a:srgbClr val="F79646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</a:t>
            </a:r>
            <a:r>
              <a:rPr lang="zh-CN" altLang="en-US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用于一行比较长的代码跨越多行输入。如果语句太长，可以连续使用反斜杠。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3770630" y="4749800"/>
            <a:ext cx="434467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>
                <a:latin typeface="Tahoma" panose="020B0604030504040204" charset="0"/>
                <a:cs typeface="Tahoma" panose="020B0604030504040204" charset="0"/>
              </a:rPr>
              <a:t>a = 3+2</a:t>
            </a:r>
            <a:r>
              <a:rPr lang="en-US" altLang="zh-CN">
                <a:latin typeface="Tahoma" panose="020B0604030504040204" charset="0"/>
                <a:cs typeface="Tahoma" panose="020B0604030504040204" charset="0"/>
              </a:rPr>
              <a:t>+6+7+8+9</a:t>
            </a:r>
            <a:r>
              <a:rPr lang="zh-CN" altLang="en-US">
                <a:latin typeface="Tahoma" panose="020B0604030504040204" charset="0"/>
                <a:cs typeface="Tahoma" panose="020B0604030504040204" charset="0"/>
              </a:rPr>
              <a:t>\</a:t>
            </a:r>
          </a:p>
          <a:p>
            <a:r>
              <a:rPr lang="zh-CN" altLang="en-US">
                <a:latin typeface="Tahoma" panose="020B0604030504040204" charset="0"/>
                <a:cs typeface="Tahoma" panose="020B0604030504040204" charset="0"/>
              </a:rPr>
              <a:t>      +4+5</a:t>
            </a:r>
            <a:r>
              <a:rPr lang="en-US" altLang="zh-CN">
                <a:latin typeface="Tahoma" panose="020B0604030504040204" charset="0"/>
                <a:cs typeface="Tahoma" panose="020B0604030504040204" charset="0"/>
              </a:rPr>
              <a:t>+10+25+32+12</a:t>
            </a:r>
            <a:r>
              <a:rPr lang="zh-CN" altLang="en-US">
                <a:latin typeface="Tahoma" panose="020B0604030504040204" charset="0"/>
                <a:cs typeface="Tahoma" panose="020B0604030504040204" charset="0"/>
              </a:rPr>
              <a:t>\</a:t>
            </a:r>
          </a:p>
          <a:p>
            <a:r>
              <a:rPr lang="zh-CN" altLang="en-US">
                <a:latin typeface="Tahoma" panose="020B0604030504040204" charset="0"/>
                <a:cs typeface="Tahoma" panose="020B0604030504040204" charset="0"/>
              </a:rPr>
              <a:t>      +6+7</a:t>
            </a:r>
          </a:p>
        </p:txBody>
      </p:sp>
    </p:spTree>
  </p:cSld>
  <p:clrMapOvr>
    <a:masterClrMapping/>
  </p:clrMapOvr>
  <p:transition spd="slow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5" grpId="0"/>
      <p:bldP spid="5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266527" y="1053531"/>
            <a:ext cx="10225136" cy="648072"/>
          </a:xfrm>
          <a:prstGeom prst="rect">
            <a:avLst/>
          </a:prstGeom>
        </p:spPr>
        <p:txBody>
          <a:bodyPr/>
          <a:lstStyle/>
          <a:p>
            <a:pPr algn="l">
              <a:defRPr/>
            </a:pPr>
            <a:r>
              <a:rPr lang="en-US" altLang="zh-CN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、语句的分隔</a:t>
            </a:r>
          </a:p>
        </p:txBody>
      </p:sp>
      <p:sp>
        <p:nvSpPr>
          <p:cNvPr id="23555" name="内容占位符 2"/>
          <p:cNvSpPr>
            <a:spLocks noGrp="1"/>
          </p:cNvSpPr>
          <p:nvPr>
            <p:ph idx="4294967295"/>
          </p:nvPr>
        </p:nvSpPr>
        <p:spPr>
          <a:xfrm>
            <a:off x="266527" y="1557586"/>
            <a:ext cx="11715799" cy="4754562"/>
          </a:xfrm>
          <a:prstGeom prst="rect">
            <a:avLst/>
          </a:prstGeom>
        </p:spPr>
        <p:txBody>
          <a:bodyPr/>
          <a:lstStyle/>
          <a:p>
            <a:pPr>
              <a:lnSpc>
                <a:spcPts val="4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分号是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Java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等语言中标识语句结束的标志。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Python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也支持分号，同样可以用分号作为一行语句的结束标识。但在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Python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中分号的作用已经不像在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Java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中那么重要了，在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Java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中分号是必须的；而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Python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的分号可以省略，主要通过换行来识别语句的结束</a:t>
            </a:r>
            <a:r>
              <a:rPr lang="zh-CN" altLang="en-US" sz="24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en-US" altLang="zh-CN" sz="2400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ts val="4000"/>
              </a:lnSpc>
            </a:pPr>
            <a:r>
              <a:rPr lang="zh-CN" altLang="en-US" sz="24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如果要在一行中书写多个语句，就必须使用分号了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，否则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Python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无法识别语句之间的间隔。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简单直白是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Python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语法的特点，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通常一行只写一条语句，这样便于阅读和理解程序。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ts val="4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Python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同样支持多行写一条语句，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Python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使用“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\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”作为换行符。多行写一条语句适用于长语句的情况。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ts val="4000"/>
              </a:lnSpc>
            </a:pP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8115399" y="189434"/>
            <a:ext cx="3990727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2.1 Python编码规范</a:t>
            </a:r>
          </a:p>
        </p:txBody>
      </p:sp>
    </p:spTree>
  </p:cSld>
  <p:clrMapOvr>
    <a:masterClrMapping/>
  </p:clrMapOvr>
  <p:transition spd="slow" advTm="0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161990" y="830687"/>
            <a:ext cx="10998200" cy="1314450"/>
          </a:xfrm>
          <a:prstGeom prst="rect">
            <a:avLst/>
          </a:prstGeom>
        </p:spPr>
        <p:txBody>
          <a:bodyPr/>
          <a:lstStyle/>
          <a:p>
            <a:pPr algn="l">
              <a:defRPr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例：带分号的语句</a:t>
            </a:r>
          </a:p>
        </p:txBody>
      </p:sp>
      <p:pic>
        <p:nvPicPr>
          <p:cNvPr id="24579" name="Picture 2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48913" y="1708955"/>
            <a:ext cx="4127464" cy="13691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84" name="Picture 5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251303" y="1831736"/>
            <a:ext cx="2530475" cy="1265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82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6687" y="4058548"/>
            <a:ext cx="2161087" cy="7145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83" name="TextBox 5"/>
          <p:cNvSpPr txBox="1">
            <a:spLocks noChangeArrowheads="1"/>
          </p:cNvSpPr>
          <p:nvPr/>
        </p:nvSpPr>
        <p:spPr bwMode="auto">
          <a:xfrm>
            <a:off x="1690808" y="3518673"/>
            <a:ext cx="1800642" cy="462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/>
              <a:t>执行结果：</a:t>
            </a:r>
          </a:p>
        </p:txBody>
      </p:sp>
      <p:pic>
        <p:nvPicPr>
          <p:cNvPr id="24585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2780" y="4099833"/>
            <a:ext cx="1440196" cy="3890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86" name="TextBox 12"/>
          <p:cNvSpPr txBox="1">
            <a:spLocks noChangeArrowheads="1"/>
          </p:cNvSpPr>
          <p:nvPr/>
        </p:nvSpPr>
        <p:spPr bwMode="auto">
          <a:xfrm>
            <a:off x="7683351" y="3596478"/>
            <a:ext cx="1800642" cy="462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/>
              <a:t>执行结果：</a:t>
            </a:r>
          </a:p>
        </p:txBody>
      </p:sp>
      <p:cxnSp>
        <p:nvCxnSpPr>
          <p:cNvPr id="9" name="直接连接符 8"/>
          <p:cNvCxnSpPr/>
          <p:nvPr/>
        </p:nvCxnSpPr>
        <p:spPr>
          <a:xfrm>
            <a:off x="5811771" y="1773649"/>
            <a:ext cx="0" cy="3456787"/>
          </a:xfrm>
          <a:prstGeom prst="line">
            <a:avLst/>
          </a:prstGeom>
          <a:ln w="28575">
            <a:solidFill>
              <a:srgbClr val="99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标题 1"/>
          <p:cNvSpPr txBox="1"/>
          <p:nvPr/>
        </p:nvSpPr>
        <p:spPr>
          <a:xfrm>
            <a:off x="8115399" y="189434"/>
            <a:ext cx="3990727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2.1 Python编码规范</a:t>
            </a:r>
          </a:p>
        </p:txBody>
      </p:sp>
    </p:spTree>
  </p:cSld>
  <p:clrMapOvr>
    <a:masterClrMapping/>
  </p:clrMapOvr>
  <p:transition spd="slow" advTm="0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266527" y="1181948"/>
            <a:ext cx="10445750" cy="533400"/>
          </a:xfrm>
          <a:prstGeom prst="rect">
            <a:avLst/>
          </a:prstGeom>
        </p:spPr>
        <p:txBody>
          <a:bodyPr/>
          <a:lstStyle/>
          <a:p>
            <a:pPr algn="l"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例：一条语句写多行（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sql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语句太长，适合于写多行）</a:t>
            </a:r>
          </a:p>
        </p:txBody>
      </p:sp>
      <p:sp>
        <p:nvSpPr>
          <p:cNvPr id="9" name="标题 1"/>
          <p:cNvSpPr txBox="1"/>
          <p:nvPr/>
        </p:nvSpPr>
        <p:spPr>
          <a:xfrm>
            <a:off x="8115399" y="189434"/>
            <a:ext cx="3990727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2.1 Python编码规范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0480" y="1898015"/>
            <a:ext cx="8544560" cy="3895090"/>
          </a:xfrm>
          <a:prstGeom prst="rect">
            <a:avLst/>
          </a:prstGeom>
        </p:spPr>
      </p:pic>
    </p:spTree>
  </p:cSld>
  <p:clrMapOvr>
    <a:masterClrMapping/>
  </p:clrMapOvr>
  <p:transition spd="slow" advTm="0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266527" y="1053531"/>
            <a:ext cx="10225136" cy="648072"/>
          </a:xfrm>
          <a:prstGeom prst="rect">
            <a:avLst/>
          </a:prstGeom>
        </p:spPr>
        <p:txBody>
          <a:bodyPr/>
          <a:lstStyle/>
          <a:p>
            <a:pPr algn="l">
              <a:defRPr/>
            </a:pPr>
            <a:r>
              <a:rPr lang="zh-CN" altLang="en-US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换行</a:t>
            </a:r>
          </a:p>
        </p:txBody>
      </p:sp>
      <p:sp>
        <p:nvSpPr>
          <p:cNvPr id="23555" name="内容占位符 2"/>
          <p:cNvSpPr>
            <a:spLocks noGrp="1"/>
          </p:cNvSpPr>
          <p:nvPr>
            <p:ph idx="4294967295"/>
          </p:nvPr>
        </p:nvSpPr>
        <p:spPr>
          <a:xfrm>
            <a:off x="1581785" y="1101090"/>
            <a:ext cx="6746240" cy="553720"/>
          </a:xfrm>
          <a:prstGeom prst="rect">
            <a:avLst/>
          </a:prstGeom>
        </p:spPr>
        <p:txBody>
          <a:bodyPr/>
          <a:lstStyle/>
          <a:p>
            <a:pPr marL="0" indent="0">
              <a:lnSpc>
                <a:spcPts val="4000"/>
              </a:lnSpc>
              <a:buNone/>
            </a:pPr>
            <a:r>
              <a:rPr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Python 支持括号内的换行。这时有两种情况</a:t>
            </a:r>
            <a:r>
              <a:rPr 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</a:p>
        </p:txBody>
      </p:sp>
      <p:sp>
        <p:nvSpPr>
          <p:cNvPr id="6" name="标题 1"/>
          <p:cNvSpPr txBox="1"/>
          <p:nvPr/>
        </p:nvSpPr>
        <p:spPr>
          <a:xfrm>
            <a:off x="8115399" y="189434"/>
            <a:ext cx="3990727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2.1 Python编码规范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2635250" y="2447925"/>
            <a:ext cx="856869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/>
              <a:t>foo = long_function_name(var_one, var_two,</a:t>
            </a:r>
          </a:p>
          <a:p>
            <a:r>
              <a:rPr lang="zh-CN" altLang="en-US"/>
              <a:t>                                                var_three, var_four)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710690" y="1987550"/>
            <a:ext cx="561276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b="1" dirty="0"/>
              <a:t>第二行</a:t>
            </a:r>
            <a:r>
              <a:rPr lang="zh-CN" altLang="en-US" b="1" dirty="0">
                <a:solidFill>
                  <a:srgbClr val="FF0000"/>
                </a:solidFill>
              </a:rPr>
              <a:t>缩进</a:t>
            </a:r>
            <a:r>
              <a:rPr lang="zh-CN" altLang="en-US" b="1" dirty="0"/>
              <a:t>到括号的起始处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710690" y="3450590"/>
            <a:ext cx="788543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l"/>
            <a:r>
              <a:rPr lang="zh-CN" altLang="en-US" b="1" dirty="0">
                <a:sym typeface="+mn-ea"/>
              </a:rPr>
              <a:t>第二行</a:t>
            </a:r>
            <a:r>
              <a:rPr lang="zh-CN" altLang="en-US" b="1" dirty="0">
                <a:solidFill>
                  <a:srgbClr val="FF0000"/>
                </a:solidFill>
                <a:sym typeface="+mn-ea"/>
              </a:rPr>
              <a:t>缩进</a:t>
            </a:r>
            <a:r>
              <a:rPr lang="zh-CN" altLang="en-US" b="1" dirty="0">
                <a:sym typeface="+mn-ea"/>
              </a:rPr>
              <a:t> 4 个空格，适用于起始括号就换行的情形</a:t>
            </a:r>
          </a:p>
          <a:p>
            <a:pPr lvl="0" algn="l"/>
            <a:endParaRPr lang="zh-CN" altLang="en-US" b="1" dirty="0"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769235" y="4170680"/>
            <a:ext cx="843470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/>
              <a:t>def long_function_name(</a:t>
            </a:r>
          </a:p>
          <a:p>
            <a:r>
              <a:rPr lang="zh-CN" altLang="en-US"/>
              <a:t>        var_one, var_two, var_three,</a:t>
            </a:r>
          </a:p>
          <a:p>
            <a:r>
              <a:rPr lang="zh-CN" altLang="en-US"/>
              <a:t>        var_four):</a:t>
            </a:r>
          </a:p>
        </p:txBody>
      </p:sp>
    </p:spTree>
  </p:cSld>
  <p:clrMapOvr>
    <a:masterClrMapping/>
  </p:clrMapOvr>
  <p:transition spd="slow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1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1"/>
      <p:bldP spid="5" grpId="0"/>
      <p:bldP spid="7" grpId="0"/>
      <p:bldP spid="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 idx="4294967295"/>
          </p:nvPr>
        </p:nvSpPr>
        <p:spPr>
          <a:xfrm>
            <a:off x="482551" y="938146"/>
            <a:ext cx="10520363" cy="542925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altLang="zh-CN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、模块导入的规范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4294967295"/>
          </p:nvPr>
        </p:nvSpPr>
        <p:spPr>
          <a:xfrm>
            <a:off x="820738" y="1577658"/>
            <a:ext cx="11377612" cy="4741862"/>
          </a:xfrm>
          <a:prstGeom prst="rect">
            <a:avLst/>
          </a:prstGeom>
        </p:spPr>
        <p:txBody>
          <a:bodyPr/>
          <a:lstStyle/>
          <a:p>
            <a:pPr marL="0" indent="0">
              <a:lnSpc>
                <a:spcPct val="120000"/>
              </a:lnSpc>
              <a:spcBef>
                <a:spcPts val="20"/>
              </a:spcBef>
              <a:spcAft>
                <a:spcPts val="0"/>
              </a:spcAft>
              <a:buNone/>
              <a:defRPr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模块是类或函数的集合，用于处理一类问题，使用任何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Python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模块都必须先导入。模块的导入使用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import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语句或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from…import…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语句。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lnSpc>
                <a:spcPct val="120000"/>
              </a:lnSpc>
              <a:spcBef>
                <a:spcPts val="20"/>
              </a:spcBef>
              <a:spcAft>
                <a:spcPts val="0"/>
              </a:spcAft>
              <a:buNone/>
              <a:defRPr/>
            </a:pP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import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语句</a:t>
            </a:r>
            <a:endParaRPr lang="en-US" altLang="zh-CN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lnSpc>
                <a:spcPct val="120000"/>
              </a:lnSpc>
              <a:spcBef>
                <a:spcPts val="20"/>
              </a:spcBef>
              <a:spcAft>
                <a:spcPts val="0"/>
              </a:spcAft>
              <a:buNone/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例如：导入数学函数模块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math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，调用其中的函数。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defRPr/>
            </a:pP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defRPr/>
            </a:pPr>
            <a:endParaRPr lang="en-US" altLang="zh-CN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defRPr/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标题 1"/>
          <p:cNvSpPr txBox="1"/>
          <p:nvPr/>
        </p:nvSpPr>
        <p:spPr>
          <a:xfrm>
            <a:off x="8115399" y="189434"/>
            <a:ext cx="3990727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2.1 Python编码规范</a:t>
            </a: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357880" y="3529330"/>
            <a:ext cx="4770120" cy="2790190"/>
          </a:xfrm>
          <a:prstGeom prst="rect">
            <a:avLst/>
          </a:prstGeom>
          <a:ln>
            <a:solidFill>
              <a:srgbClr val="00B050"/>
            </a:solidFill>
          </a:ln>
        </p:spPr>
      </p:pic>
    </p:spTree>
  </p:cSld>
  <p:clrMapOvr>
    <a:masterClrMapping/>
  </p:clrMapOvr>
  <p:transition spd="slow" advTm="0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266527" y="1773610"/>
            <a:ext cx="10520363" cy="676275"/>
          </a:xfrm>
          <a:prstGeom prst="rect">
            <a:avLst/>
          </a:prstGeom>
        </p:spPr>
        <p:txBody>
          <a:bodyPr/>
          <a:lstStyle/>
          <a:p>
            <a:pPr algn="l">
              <a:defRPr/>
            </a:pP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from…import…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语句</a:t>
            </a:r>
          </a:p>
        </p:txBody>
      </p:sp>
      <p:sp>
        <p:nvSpPr>
          <p:cNvPr id="18437" name="内容占位符 5"/>
          <p:cNvSpPr>
            <a:spLocks noGrp="1"/>
          </p:cNvSpPr>
          <p:nvPr>
            <p:ph idx="4294967295"/>
          </p:nvPr>
        </p:nvSpPr>
        <p:spPr>
          <a:xfrm>
            <a:off x="1202631" y="2618104"/>
            <a:ext cx="10521950" cy="2968809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zh-CN" altLang="en-US" sz="2800" b="1" dirty="0"/>
              <a:t>例如：</a:t>
            </a:r>
            <a:endParaRPr lang="en-US" altLang="zh-CN" sz="2800" b="1" dirty="0"/>
          </a:p>
          <a:p>
            <a:endParaRPr lang="en-US" altLang="zh-CN" sz="2800" dirty="0"/>
          </a:p>
          <a:p>
            <a:endParaRPr lang="en-US" altLang="zh-CN" sz="2800" dirty="0"/>
          </a:p>
          <a:p>
            <a:endParaRPr lang="en-US" altLang="zh-CN" sz="2800" dirty="0"/>
          </a:p>
        </p:txBody>
      </p:sp>
      <p:sp>
        <p:nvSpPr>
          <p:cNvPr id="7" name="标题 1"/>
          <p:cNvSpPr txBox="1"/>
          <p:nvPr/>
        </p:nvSpPr>
        <p:spPr>
          <a:xfrm>
            <a:off x="8115399" y="189434"/>
            <a:ext cx="3990727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2.1 Python编码规范</a:t>
            </a:r>
          </a:p>
        </p:txBody>
      </p:sp>
      <p:sp>
        <p:nvSpPr>
          <p:cNvPr id="8" name="标题 6"/>
          <p:cNvSpPr txBox="1"/>
          <p:nvPr/>
        </p:nvSpPr>
        <p:spPr>
          <a:xfrm>
            <a:off x="482551" y="938146"/>
            <a:ext cx="10520363" cy="542925"/>
          </a:xfrm>
          <a:prstGeom prst="rect">
            <a:avLst/>
          </a:prstGeom>
        </p:spPr>
        <p:txBody>
          <a:bodyPr/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、模块导入的规范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0983" y="1845618"/>
            <a:ext cx="4515485" cy="3736975"/>
          </a:xfrm>
          <a:prstGeom prst="rect">
            <a:avLst/>
          </a:prstGeom>
          <a:ln>
            <a:solidFill>
              <a:srgbClr val="00B050"/>
            </a:solidFill>
          </a:ln>
        </p:spPr>
      </p:pic>
    </p:spTree>
  </p:cSld>
  <p:clrMapOvr>
    <a:masterClrMapping/>
  </p:clrMapOvr>
  <p:transition spd="slow" advTm="0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 txBox="1"/>
          <p:nvPr/>
        </p:nvSpPr>
        <p:spPr>
          <a:xfrm>
            <a:off x="8115399" y="189434"/>
            <a:ext cx="3990727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2.1 Python编码规范</a:t>
            </a:r>
          </a:p>
        </p:txBody>
      </p:sp>
      <p:sp>
        <p:nvSpPr>
          <p:cNvPr id="8" name="标题 6"/>
          <p:cNvSpPr txBox="1"/>
          <p:nvPr/>
        </p:nvSpPr>
        <p:spPr>
          <a:xfrm>
            <a:off x="482551" y="938146"/>
            <a:ext cx="10520363" cy="542925"/>
          </a:xfrm>
          <a:prstGeom prst="rect">
            <a:avLst/>
          </a:prstGeom>
        </p:spPr>
        <p:txBody>
          <a:bodyPr/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、模块导入的规范</a:t>
            </a:r>
          </a:p>
        </p:txBody>
      </p:sp>
      <p:sp>
        <p:nvSpPr>
          <p:cNvPr id="3" name="矩形 2"/>
          <p:cNvSpPr/>
          <p:nvPr/>
        </p:nvSpPr>
        <p:spPr>
          <a:xfrm>
            <a:off x="482551" y="2565698"/>
            <a:ext cx="11548074" cy="41410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latinLnBrk="1">
              <a:lnSpc>
                <a:spcPts val="4000"/>
              </a:lnSpc>
            </a:pPr>
            <a:r>
              <a:rPr lang="zh-CN" altLang="en-US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 </a:t>
            </a:r>
            <a:r>
              <a:rPr lang="en-US" altLang="zh-CN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Python </a:t>
            </a:r>
            <a:r>
              <a:rPr lang="zh-CN" altLang="en-US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 </a:t>
            </a:r>
            <a:r>
              <a:rPr lang="en-US" altLang="zh-CN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import </a:t>
            </a:r>
            <a:r>
              <a:rPr lang="zh-CN" altLang="en-US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或者 </a:t>
            </a:r>
            <a:r>
              <a:rPr lang="en-US" altLang="zh-CN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from...import </a:t>
            </a:r>
            <a:r>
              <a:rPr lang="zh-CN" altLang="en-US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来导入相应的模块。</a:t>
            </a:r>
          </a:p>
          <a:p>
            <a:pPr marL="342900" indent="-342900" algn="just" latinLnBrk="1">
              <a:lnSpc>
                <a:spcPts val="4000"/>
              </a:lnSpc>
              <a:buFont typeface="Wingdings" panose="05000000000000000000" charset="0"/>
              <a:buChar char="Ø"/>
            </a:pPr>
            <a:r>
              <a:rPr lang="zh-CN" altLang="en-US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将整个模块</a:t>
            </a:r>
            <a:r>
              <a:rPr lang="en-US" altLang="zh-CN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</a:t>
            </a:r>
            <a:r>
              <a:rPr lang="en-US" altLang="zh-CN" dirty="0" err="1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somemodule</a:t>
            </a:r>
            <a:r>
              <a:rPr lang="en-US" altLang="zh-CN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</a:t>
            </a:r>
            <a:r>
              <a:rPr lang="zh-CN" altLang="en-US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导入，格式为： </a:t>
            </a:r>
            <a:r>
              <a:rPr lang="en-US" altLang="zh-CN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import </a:t>
            </a:r>
            <a:r>
              <a:rPr lang="zh-CN" altLang="en-US" dirty="0" err="1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模块名</a:t>
            </a:r>
            <a:endParaRPr lang="en-US" altLang="zh-CN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algn="just" latinLnBrk="1">
              <a:lnSpc>
                <a:spcPts val="4000"/>
              </a:lnSpc>
              <a:buFont typeface="Wingdings" panose="05000000000000000000" charset="0"/>
              <a:buChar char="Ø"/>
            </a:pPr>
            <a:r>
              <a:rPr lang="zh-CN" altLang="en-US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从某个模块中导入某个函数</a:t>
            </a:r>
            <a:r>
              <a:rPr lang="en-US" altLang="zh-CN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</a:t>
            </a:r>
            <a:r>
              <a:rPr lang="zh-CN" altLang="en-US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格式为： </a:t>
            </a:r>
            <a:r>
              <a:rPr lang="en-US" altLang="zh-CN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from </a:t>
            </a:r>
            <a:r>
              <a:rPr lang="zh-CN" altLang="en-US" dirty="0" err="1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模块名</a:t>
            </a:r>
            <a:r>
              <a:rPr lang="en-US" altLang="zh-CN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import </a:t>
            </a:r>
            <a:r>
              <a:rPr lang="zh-CN" altLang="en-US" dirty="0" err="1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函数</a:t>
            </a:r>
          </a:p>
          <a:p>
            <a:pPr marL="342900" indent="-342900" algn="just" latinLnBrk="1">
              <a:lnSpc>
                <a:spcPts val="4000"/>
              </a:lnSpc>
              <a:buFont typeface="Wingdings" panose="05000000000000000000" charset="0"/>
              <a:buChar char="Ø"/>
            </a:pPr>
            <a:r>
              <a:rPr lang="zh-CN" altLang="en-US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从某个模块中导入多个函数</a:t>
            </a:r>
            <a:r>
              <a:rPr lang="en-US" altLang="zh-CN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</a:t>
            </a:r>
            <a:r>
              <a:rPr lang="zh-CN" altLang="en-US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格式为： </a:t>
            </a:r>
            <a:r>
              <a:rPr lang="en-US" altLang="zh-CN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from </a:t>
            </a:r>
            <a:r>
              <a:rPr lang="zh-CN" altLang="en-US" dirty="0" err="1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模块名</a:t>
            </a:r>
            <a:r>
              <a:rPr lang="en-US" altLang="zh-CN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import </a:t>
            </a:r>
            <a:r>
              <a:rPr lang="zh-CN" altLang="en-US" dirty="0" err="1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函数</a:t>
            </a:r>
            <a:r>
              <a:rPr lang="en-US" altLang="zh-CN" dirty="0" err="1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lang="en-US" altLang="zh-CN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 </a:t>
            </a:r>
            <a:r>
              <a:rPr lang="zh-CN" altLang="en-US" dirty="0" err="1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函数</a:t>
            </a:r>
            <a:r>
              <a:rPr lang="en-US" altLang="zh-CN" dirty="0" err="1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en-US" altLang="zh-CN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...... </a:t>
            </a:r>
          </a:p>
          <a:p>
            <a:pPr marL="342900" indent="-342900" algn="just" latinLnBrk="1">
              <a:lnSpc>
                <a:spcPts val="4000"/>
              </a:lnSpc>
              <a:buFont typeface="Wingdings" panose="05000000000000000000" charset="0"/>
              <a:buChar char="Ø"/>
            </a:pPr>
            <a:r>
              <a:rPr lang="zh-CN" altLang="en-US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将某个模块中的全部函数导入，格式为： </a:t>
            </a:r>
            <a:r>
              <a:rPr lang="en-US" altLang="zh-CN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from </a:t>
            </a:r>
            <a:r>
              <a:rPr lang="zh-CN" altLang="en-US" dirty="0" err="1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模块名</a:t>
            </a:r>
            <a:r>
              <a:rPr lang="en-US" altLang="zh-CN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import *</a:t>
            </a:r>
          </a:p>
          <a:p>
            <a:pPr marL="342900" indent="-342900" algn="just" latinLnBrk="1">
              <a:lnSpc>
                <a:spcPts val="4000"/>
              </a:lnSpc>
              <a:buFont typeface="Wingdings" panose="05000000000000000000" charset="0"/>
              <a:buChar char="Ø"/>
            </a:pPr>
            <a:r>
              <a:rPr lang="zh-CN" altLang="en-US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从某个模块中导入某个函数并重命名为</a:t>
            </a:r>
            <a:r>
              <a:rPr lang="en-US" altLang="zh-CN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XXX,</a:t>
            </a:r>
            <a:r>
              <a:rPr lang="zh-CN" altLang="en-US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格式为： </a:t>
            </a:r>
            <a:endParaRPr lang="en-US" altLang="zh-CN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 algn="just" latinLnBrk="1">
              <a:lnSpc>
                <a:spcPts val="4000"/>
              </a:lnSpc>
            </a:pPr>
            <a:r>
              <a:rPr lang="en-US" altLang="zh-CN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from </a:t>
            </a:r>
            <a:r>
              <a:rPr lang="zh-CN" altLang="en-US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模块名</a:t>
            </a:r>
            <a:r>
              <a:rPr lang="en-US" altLang="zh-CN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import </a:t>
            </a:r>
            <a:r>
              <a:rPr lang="zh-CN" altLang="en-US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函数 </a:t>
            </a:r>
            <a:r>
              <a:rPr lang="en-US" altLang="zh-CN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as XXX</a:t>
            </a:r>
            <a:endParaRPr lang="zh-CN" altLang="en-US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algn="just" latinLnBrk="1">
              <a:lnSpc>
                <a:spcPts val="4000"/>
              </a:lnSpc>
              <a:buFont typeface="Wingdings" panose="05000000000000000000" charset="0"/>
              <a:buChar char="Ø"/>
            </a:pPr>
            <a:endParaRPr lang="en-US" altLang="zh-CN" i="0" dirty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标题 1"/>
          <p:cNvSpPr txBox="1"/>
          <p:nvPr/>
        </p:nvSpPr>
        <p:spPr>
          <a:xfrm>
            <a:off x="4304457" y="1734800"/>
            <a:ext cx="2089150" cy="576263"/>
          </a:xfrm>
          <a:prstGeom prst="rect">
            <a:avLst/>
          </a:prstGeom>
        </p:spPr>
        <p:txBody>
          <a:bodyPr/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导入规范</a:t>
            </a:r>
          </a:p>
        </p:txBody>
      </p:sp>
    </p:spTree>
  </p:cSld>
  <p:clrMapOvr>
    <a:masterClrMapping/>
  </p:clrMapOvr>
  <p:transition spd="slow" advTm="0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5091063" y="1430225"/>
            <a:ext cx="2089150" cy="576263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说明</a:t>
            </a:r>
          </a:p>
        </p:txBody>
      </p:sp>
      <p:sp>
        <p:nvSpPr>
          <p:cNvPr id="19459" name="内容占位符 2"/>
          <p:cNvSpPr>
            <a:spLocks noGrp="1"/>
          </p:cNvSpPr>
          <p:nvPr>
            <p:ph idx="4294967295"/>
          </p:nvPr>
        </p:nvSpPr>
        <p:spPr>
          <a:xfrm>
            <a:off x="626567" y="1989634"/>
            <a:ext cx="10521950" cy="4171950"/>
          </a:xfrm>
          <a:prstGeom prst="rect">
            <a:avLst/>
          </a:prstGeom>
        </p:spPr>
        <p:txBody>
          <a:bodyPr/>
          <a:lstStyle/>
          <a:p>
            <a:pPr algn="just">
              <a:lnSpc>
                <a:spcPts val="42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使用第二种导入方式，在调用模块中的任何函数时，都无需在前面加上“模块名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.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just">
              <a:lnSpc>
                <a:spcPts val="42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使用第二种导入方式时，如果程序中的函数与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math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模块中的某个函数同名，将被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math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模块中的同名函数覆盖。第一种导入方式不会覆盖任何既有函数，但使用起来不如第二种方式简洁。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just">
              <a:lnSpc>
                <a:spcPts val="42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还可以导入模块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math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的特定函数。例如：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from math import 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sqrt,tan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只导入函数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sqrt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tan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just">
              <a:lnSpc>
                <a:spcPts val="4200"/>
              </a:lnSpc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标题 6"/>
          <p:cNvSpPr txBox="1"/>
          <p:nvPr/>
        </p:nvSpPr>
        <p:spPr>
          <a:xfrm>
            <a:off x="482551" y="938146"/>
            <a:ext cx="10520363" cy="542925"/>
          </a:xfrm>
          <a:prstGeom prst="rect">
            <a:avLst/>
          </a:prstGeom>
        </p:spPr>
        <p:txBody>
          <a:bodyPr/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、模块导入的规范</a:t>
            </a:r>
          </a:p>
        </p:txBody>
      </p:sp>
      <p:sp>
        <p:nvSpPr>
          <p:cNvPr id="7" name="标题 1"/>
          <p:cNvSpPr txBox="1"/>
          <p:nvPr/>
        </p:nvSpPr>
        <p:spPr>
          <a:xfrm>
            <a:off x="8115399" y="189434"/>
            <a:ext cx="3990727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2.1 Python编码规范</a:t>
            </a:r>
          </a:p>
        </p:txBody>
      </p:sp>
    </p:spTree>
  </p:cSld>
  <p:clrMapOvr>
    <a:masterClrMapping/>
  </p:clrMapOvr>
  <p:transition spd="slow" advTm="0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 txBox="1"/>
          <p:nvPr/>
        </p:nvSpPr>
        <p:spPr>
          <a:xfrm>
            <a:off x="8115399" y="189434"/>
            <a:ext cx="3990727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2.1 Python编码规范</a:t>
            </a:r>
          </a:p>
        </p:txBody>
      </p:sp>
      <p:sp>
        <p:nvSpPr>
          <p:cNvPr id="3" name="内容占位符 2"/>
          <p:cNvSpPr>
            <a:spLocks noGrp="1"/>
          </p:cNvSpPr>
          <p:nvPr/>
        </p:nvSpPr>
        <p:spPr>
          <a:xfrm>
            <a:off x="1384300" y="1036955"/>
            <a:ext cx="11056620" cy="589534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800" b="1">
                <a:latin typeface="Consolas" panose="020B0609020204030204" charset="0"/>
              </a:rPr>
              <a:t>&gt;&gt;&gt; import math                    #导入标准库math</a:t>
            </a: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800" b="1">
                <a:latin typeface="Consolas" panose="020B0609020204030204" charset="0"/>
              </a:rPr>
              <a:t>&gt;&gt;&gt; math.sin(0.5)                  #求0.5（单位是弧度）的正弦</a:t>
            </a: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800" b="1">
                <a:solidFill>
                  <a:srgbClr val="00B0F0"/>
                </a:solidFill>
                <a:latin typeface="Consolas" panose="020B0609020204030204" charset="0"/>
              </a:rPr>
              <a:t>0.479425538604203</a:t>
            </a: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800" b="1">
                <a:latin typeface="Consolas" panose="020B0609020204030204" charset="0"/>
              </a:rPr>
              <a:t>&gt;&gt;&gt; import random                  #导入标准库random</a:t>
            </a: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800" b="1">
                <a:latin typeface="Consolas" panose="020B0609020204030204" charset="0"/>
              </a:rPr>
              <a:t>&gt;&gt;&gt; n = random.random()            #获得[0,1) 内的随机小数</a:t>
            </a: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800" b="1">
                <a:latin typeface="Consolas" panose="020B0609020204030204" charset="0"/>
              </a:rPr>
              <a:t>&gt;&gt;&gt; n = random.randint(1,100)      #获得[1,100]区间上的随机整数</a:t>
            </a: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800" b="1">
                <a:latin typeface="Consolas" panose="020B0609020204030204" charset="0"/>
              </a:rPr>
              <a:t>&gt;&gt;&gt; n = random.randrange(1, 100)   #返回[1, 100)区间中的随机整数</a:t>
            </a:r>
            <a:endParaRPr lang="zh-CN" altLang="en-US" sz="1800" b="1">
              <a:solidFill>
                <a:srgbClr val="00B0F0"/>
              </a:solidFill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800" b="1">
                <a:latin typeface="Consolas" panose="020B0609020204030204" charset="0"/>
              </a:rPr>
              <a:t>&gt;&gt;&gt; import numpy as np             #导入扩展库numpy，并设置别名为np</a:t>
            </a: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800" b="1">
                <a:latin typeface="Consolas" panose="020B0609020204030204" charset="0"/>
              </a:rPr>
              <a:t>&gt;&gt;&gt; a = np.array((1,2,3,4))        #通过模块的别名来访问其中的对象</a:t>
            </a: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800" b="1">
                <a:latin typeface="Consolas" panose="020B0609020204030204" charset="0"/>
              </a:rPr>
              <a:t>&gt;&gt;&gt; a</a:t>
            </a: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800" b="1">
                <a:solidFill>
                  <a:srgbClr val="00B0F0"/>
                </a:solidFill>
                <a:latin typeface="Consolas" panose="020B0609020204030204" charset="0"/>
              </a:rPr>
              <a:t>array([1, 2, 3, 4])</a:t>
            </a:r>
          </a:p>
          <a:p>
            <a:pPr marL="0" indent="0">
              <a:buNone/>
            </a:pPr>
            <a:r>
              <a:rPr lang="zh-CN" altLang="en-US" sz="1800" b="1">
                <a:latin typeface="Consolas" panose="020B0609020204030204" charset="0"/>
                <a:sym typeface="+mn-ea"/>
              </a:rPr>
              <a:t>&gt;&gt;&gt; from math import sin         #只导入模块中的指定对象，访问速度略快</a:t>
            </a:r>
            <a:endParaRPr lang="zh-CN" altLang="en-US" sz="1800" b="1">
              <a:latin typeface="Consolas" panose="020B0609020204030204" charset="0"/>
            </a:endParaRPr>
          </a:p>
          <a:p>
            <a:pPr marL="0" indent="0">
              <a:buNone/>
            </a:pPr>
            <a:r>
              <a:rPr lang="zh-CN" altLang="en-US" sz="1800" b="1">
                <a:latin typeface="Consolas" panose="020B0609020204030204" charset="0"/>
                <a:sym typeface="+mn-ea"/>
              </a:rPr>
              <a:t>&gt;&gt;&gt; sin(3)</a:t>
            </a:r>
            <a:endParaRPr lang="zh-CN" altLang="en-US" sz="1800" b="1">
              <a:latin typeface="Consolas" panose="020B0609020204030204" charset="0"/>
            </a:endParaRPr>
          </a:p>
          <a:p>
            <a:pPr marL="0" indent="0">
              <a:buNone/>
            </a:pPr>
            <a:r>
              <a:rPr lang="zh-CN" altLang="en-US" sz="1800" b="1">
                <a:solidFill>
                  <a:srgbClr val="00B0F0"/>
                </a:solidFill>
                <a:latin typeface="Consolas" panose="020B0609020204030204" charset="0"/>
                <a:sym typeface="+mn-ea"/>
              </a:rPr>
              <a:t>0.1411200080598672</a:t>
            </a:r>
            <a:endParaRPr lang="zh-CN" altLang="en-US" sz="1800" b="1">
              <a:solidFill>
                <a:srgbClr val="00B0F0"/>
              </a:solidFill>
              <a:latin typeface="Consolas" panose="020B0609020204030204" charset="0"/>
            </a:endParaRPr>
          </a:p>
          <a:p>
            <a:pPr marL="0" indent="0">
              <a:buNone/>
            </a:pPr>
            <a:r>
              <a:rPr lang="zh-CN" altLang="en-US" sz="1800" b="1">
                <a:latin typeface="Consolas" panose="020B0609020204030204" charset="0"/>
                <a:sym typeface="+mn-ea"/>
              </a:rPr>
              <a:t>&gt;&gt;&gt; from math import sin as f    #给导入的对象起个别名</a:t>
            </a:r>
            <a:endParaRPr lang="zh-CN" altLang="en-US" sz="1800" b="1">
              <a:latin typeface="Consolas" panose="020B0609020204030204" charset="0"/>
            </a:endParaRPr>
          </a:p>
          <a:p>
            <a:pPr marL="0" indent="0">
              <a:buNone/>
            </a:pPr>
            <a:r>
              <a:rPr lang="zh-CN" altLang="en-US" sz="1800" b="1">
                <a:latin typeface="Consolas" panose="020B0609020204030204" charset="0"/>
                <a:sym typeface="+mn-ea"/>
              </a:rPr>
              <a:t>&gt;&gt;&gt; f(3)</a:t>
            </a:r>
            <a:endParaRPr lang="zh-CN" altLang="en-US" sz="1800" b="1">
              <a:latin typeface="Consolas" panose="020B0609020204030204" charset="0"/>
            </a:endParaRPr>
          </a:p>
          <a:p>
            <a:pPr marL="0" indent="0">
              <a:buNone/>
            </a:pPr>
            <a:r>
              <a:rPr lang="zh-CN" altLang="en-US" sz="1800" b="1">
                <a:solidFill>
                  <a:srgbClr val="00B0F0"/>
                </a:solidFill>
                <a:latin typeface="Consolas" panose="020B0609020204030204" charset="0"/>
                <a:sym typeface="+mn-ea"/>
              </a:rPr>
              <a:t>0.1411200080598672</a:t>
            </a:r>
            <a:endParaRPr lang="zh-CN" altLang="en-US" sz="1800" b="1">
              <a:solidFill>
                <a:srgbClr val="00B0F0"/>
              </a:solidFill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endParaRPr lang="zh-CN" altLang="en-US" sz="1800" b="1">
              <a:solidFill>
                <a:srgbClr val="00B0F0"/>
              </a:solidFill>
              <a:latin typeface="Consolas" panose="020B0609020204030204" charset="0"/>
            </a:endParaRPr>
          </a:p>
        </p:txBody>
      </p:sp>
    </p:spTree>
  </p:cSld>
  <p:clrMapOvr>
    <a:masterClrMapping/>
  </p:clrMapOvr>
  <p:transition spd="slow" advTm="0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577362" y="782696"/>
            <a:ext cx="2858815" cy="558800"/>
          </a:xfrm>
          <a:prstGeom prst="rect">
            <a:avLst/>
          </a:prstGeom>
        </p:spPr>
        <p:txBody>
          <a:bodyPr/>
          <a:lstStyle/>
          <a:p>
            <a:pPr algn="l">
              <a:defRPr/>
            </a:pPr>
            <a:r>
              <a:rPr lang="en-US" altLang="zh-CN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、注释</a:t>
            </a:r>
          </a:p>
        </p:txBody>
      </p:sp>
      <p:sp>
        <p:nvSpPr>
          <p:cNvPr id="21507" name="内容占位符 2"/>
          <p:cNvSpPr>
            <a:spLocks noGrp="1"/>
          </p:cNvSpPr>
          <p:nvPr>
            <p:ph idx="4294967295"/>
          </p:nvPr>
        </p:nvSpPr>
        <p:spPr>
          <a:xfrm>
            <a:off x="476885" y="1784985"/>
            <a:ext cx="10727690" cy="2491105"/>
          </a:xfrm>
          <a:prstGeom prst="rect">
            <a:avLst/>
          </a:prstGeom>
        </p:spPr>
        <p:txBody>
          <a:bodyPr/>
          <a:lstStyle/>
          <a:p>
            <a:pPr algn="just">
              <a:lnSpc>
                <a:spcPct val="130000"/>
              </a:lnSpc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注释是用于说明代码实现的功能、采用的算法、代码的编写者以及代码创建和修改的时间等信息。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just">
              <a:lnSpc>
                <a:spcPct val="130000"/>
              </a:lnSpc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注释是代码的一部分，注释起到了对代码补充说明的作用。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just">
              <a:lnSpc>
                <a:spcPct val="130000"/>
              </a:lnSpc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Python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忽略所有注释，注释仅供程序员或其他阅读源代码的人员阅读。</a:t>
            </a:r>
            <a:endParaRPr lang="zh-CN" altLang="en-US" sz="2800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8115399" y="189434"/>
            <a:ext cx="3990727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2.1 Python编码规范</a:t>
            </a:r>
          </a:p>
        </p:txBody>
      </p:sp>
    </p:spTree>
  </p:cSld>
  <p:clrMapOvr>
    <a:masterClrMapping/>
  </p:clrMapOvr>
  <p:transition spd="slow" advTm="0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577362" y="782696"/>
            <a:ext cx="2858815" cy="558800"/>
          </a:xfrm>
          <a:prstGeom prst="rect">
            <a:avLst/>
          </a:prstGeom>
        </p:spPr>
        <p:txBody>
          <a:bodyPr/>
          <a:lstStyle/>
          <a:p>
            <a:pPr algn="l">
              <a:defRPr/>
            </a:pPr>
            <a:r>
              <a:rPr lang="en-US" altLang="zh-CN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、注释</a:t>
            </a:r>
          </a:p>
        </p:txBody>
      </p:sp>
      <p:sp>
        <p:nvSpPr>
          <p:cNvPr id="21507" name="内容占位符 2"/>
          <p:cNvSpPr>
            <a:spLocks noGrp="1"/>
          </p:cNvSpPr>
          <p:nvPr>
            <p:ph idx="4294967295"/>
          </p:nvPr>
        </p:nvSpPr>
        <p:spPr>
          <a:xfrm>
            <a:off x="577215" y="1458595"/>
            <a:ext cx="10511155" cy="2676525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20000"/>
              </a:lnSpc>
              <a:spcBef>
                <a:spcPts val="20"/>
              </a:spcBef>
              <a:spcAft>
                <a:spcPts val="0"/>
              </a:spcAft>
            </a:pPr>
            <a:r>
              <a:rPr lang="zh-CN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单行注释</a:t>
            </a:r>
          </a:p>
          <a:p>
            <a:pPr marL="0" indent="0">
              <a:lnSpc>
                <a:spcPct val="120000"/>
              </a:lnSpc>
              <a:spcBef>
                <a:spcPts val="20"/>
              </a:spcBef>
              <a:spcAft>
                <a:spcPts val="0"/>
              </a:spcAft>
              <a:buNone/>
            </a:pPr>
            <a:r>
              <a:rPr lang="zh-CN" altLang="en-US" sz="2800" dirty="0">
                <a:sym typeface="+mn-ea"/>
              </a:rPr>
              <a:t>   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以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符号#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开始，表示本行#之后的内容为注释。</a:t>
            </a:r>
            <a:endParaRPr lang="zh-CN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20000"/>
              </a:lnSpc>
              <a:spcBef>
                <a:spcPts val="20"/>
              </a:spcBef>
              <a:spcAft>
                <a:spcPts val="0"/>
              </a:spcAft>
            </a:pPr>
            <a:r>
              <a:rPr lang="zh-CN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多行注释</a:t>
            </a:r>
          </a:p>
          <a:p>
            <a:pPr marL="0" indent="0">
              <a:lnSpc>
                <a:spcPct val="120000"/>
              </a:lnSpc>
              <a:spcBef>
                <a:spcPts val="20"/>
              </a:spcBef>
              <a:spcAft>
                <a:spcPts val="0"/>
              </a:spcAft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    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可以一次性注释程序中多行的内容（包含一行）。多行注释的语法有 2 种：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三引号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'''...'''或"""..."""</a:t>
            </a:r>
            <a:endParaRPr lang="zh-CN" sz="2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sz="2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8115399" y="189434"/>
            <a:ext cx="3990727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2.1 Python编码规范</a:t>
            </a:r>
          </a:p>
        </p:txBody>
      </p:sp>
    </p:spTree>
  </p:cSld>
  <p:clrMapOvr>
    <a:masterClrMapping/>
  </p:clrMapOvr>
  <p:transition spd="slow" advTm="0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577362" y="782696"/>
            <a:ext cx="2858815" cy="558800"/>
          </a:xfrm>
          <a:prstGeom prst="rect">
            <a:avLst/>
          </a:prstGeom>
        </p:spPr>
        <p:txBody>
          <a:bodyPr/>
          <a:lstStyle/>
          <a:p>
            <a:pPr algn="l">
              <a:defRPr/>
            </a:pPr>
            <a:r>
              <a:rPr lang="en-US" altLang="zh-CN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、注释</a:t>
            </a:r>
          </a:p>
        </p:txBody>
      </p:sp>
      <p:sp>
        <p:nvSpPr>
          <p:cNvPr id="21507" name="内容占位符 2"/>
          <p:cNvSpPr>
            <a:spLocks noGrp="1"/>
          </p:cNvSpPr>
          <p:nvPr>
            <p:ph idx="4294967295"/>
          </p:nvPr>
        </p:nvSpPr>
        <p:spPr>
          <a:xfrm>
            <a:off x="773430" y="1597660"/>
            <a:ext cx="10511155" cy="3110230"/>
          </a:xfrm>
          <a:prstGeom prst="rect">
            <a:avLst/>
          </a:prstGeom>
        </p:spPr>
        <p:txBody>
          <a:bodyPr/>
          <a:lstStyle/>
          <a:p>
            <a:r>
              <a:rPr lang="zh-CN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Python中文编码声明注释</a:t>
            </a:r>
          </a:p>
          <a:p>
            <a:pPr marL="0" indent="0" algn="just">
              <a:lnSpc>
                <a:spcPct val="140000"/>
              </a:lnSpc>
              <a:spcBef>
                <a:spcPts val="20"/>
              </a:spcBef>
              <a:spcAft>
                <a:spcPts val="0"/>
              </a:spcAft>
              <a:buNone/>
            </a:pP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Python 还提供了一种特殊的中文编码声明注释，其主要用来解决 Python 2.x 中不支持直接写中文的问题。虽然此问题在 Python 3.x 中已经不存在，但为了规范编码，增强代码的可执行性，方便其他程序员及时了解程序所用的编码，建议初学者在程序开头处加上中文编码声明注释。</a:t>
            </a:r>
          </a:p>
          <a:p>
            <a:pPr marL="0" indent="0" algn="just">
              <a:lnSpc>
                <a:spcPct val="120000"/>
              </a:lnSpc>
              <a:buNone/>
            </a:pPr>
            <a:endParaRPr lang="zh-CN" altLang="en-US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8115399" y="189434"/>
            <a:ext cx="3990727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2.1 Python编码规范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2230755" y="4874895"/>
            <a:ext cx="7736205" cy="5340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 algn="just">
              <a:lnSpc>
                <a:spcPct val="120000"/>
              </a:lnSpc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# -*- coding: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编码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-*-或者# coding=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编码</a:t>
            </a:r>
          </a:p>
        </p:txBody>
      </p:sp>
    </p:spTree>
  </p:cSld>
  <p:clrMapOvr>
    <a:masterClrMapping/>
  </p:clrMapOvr>
  <p:transition spd="slow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266527" y="1053531"/>
            <a:ext cx="10225136" cy="648072"/>
          </a:xfrm>
          <a:prstGeom prst="rect">
            <a:avLst/>
          </a:prstGeom>
        </p:spPr>
        <p:txBody>
          <a:bodyPr/>
          <a:lstStyle/>
          <a:p>
            <a:pPr algn="l">
              <a:defRPr/>
            </a:pPr>
            <a:r>
              <a:rPr lang="en-US" altLang="zh-CN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、编码</a:t>
            </a:r>
          </a:p>
        </p:txBody>
      </p:sp>
      <p:sp>
        <p:nvSpPr>
          <p:cNvPr id="23555" name="内容占位符 2"/>
          <p:cNvSpPr>
            <a:spLocks noGrp="1"/>
          </p:cNvSpPr>
          <p:nvPr>
            <p:ph idx="4294967295"/>
          </p:nvPr>
        </p:nvSpPr>
        <p:spPr>
          <a:xfrm>
            <a:off x="266700" y="1839595"/>
            <a:ext cx="10944860" cy="1250950"/>
          </a:xfrm>
          <a:prstGeom prst="rect">
            <a:avLst/>
          </a:prstGeom>
        </p:spPr>
        <p:txBody>
          <a:bodyPr/>
          <a:lstStyle/>
          <a:p>
            <a:pPr>
              <a:lnSpc>
                <a:spcPts val="4000"/>
              </a:lnSpc>
            </a:pP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如无特殊情况, 文件一律使用 UTF-8 编码</a:t>
            </a:r>
          </a:p>
          <a:p>
            <a:pPr>
              <a:lnSpc>
                <a:spcPts val="4000"/>
              </a:lnSpc>
            </a:pP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如无特殊情况, 文件头部须加入# -*- coding: utf-8 -*-标识</a:t>
            </a:r>
          </a:p>
        </p:txBody>
      </p:sp>
      <p:sp>
        <p:nvSpPr>
          <p:cNvPr id="6" name="标题 1"/>
          <p:cNvSpPr txBox="1"/>
          <p:nvPr/>
        </p:nvSpPr>
        <p:spPr>
          <a:xfrm>
            <a:off x="8115399" y="189434"/>
            <a:ext cx="3990727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2.1 Python编码规范</a:t>
            </a:r>
          </a:p>
        </p:txBody>
      </p:sp>
      <p:sp>
        <p:nvSpPr>
          <p:cNvPr id="2050" name=" 2050"/>
          <p:cNvSpPr/>
          <p:nvPr/>
        </p:nvSpPr>
        <p:spPr bwMode="auto">
          <a:xfrm>
            <a:off x="935355" y="3612515"/>
            <a:ext cx="1368425" cy="1080135"/>
          </a:xfrm>
          <a:custGeom>
            <a:avLst/>
            <a:gdLst>
              <a:gd name="T0" fmla="*/ 942322 w 3841"/>
              <a:gd name="T1" fmla="*/ 1696878 h 3861"/>
              <a:gd name="T2" fmla="*/ 612206 w 3841"/>
              <a:gd name="T3" fmla="*/ 1630196 h 3861"/>
              <a:gd name="T4" fmla="*/ 0 w 3841"/>
              <a:gd name="T5" fmla="*/ 1797599 h 3861"/>
              <a:gd name="T6" fmla="*/ 282090 w 3841"/>
              <a:gd name="T7" fmla="*/ 1380724 h 3861"/>
              <a:gd name="T8" fmla="*/ 93719 w 3841"/>
              <a:gd name="T9" fmla="*/ 848206 h 3861"/>
              <a:gd name="T10" fmla="*/ 942322 w 3841"/>
              <a:gd name="T11" fmla="*/ 0 h 3861"/>
              <a:gd name="T12" fmla="*/ 1790924 w 3841"/>
              <a:gd name="T13" fmla="*/ 848206 h 3861"/>
              <a:gd name="T14" fmla="*/ 942322 w 3841"/>
              <a:gd name="T15" fmla="*/ 1696878 h 3861"/>
              <a:gd name="T16" fmla="*/ 682146 w 3841"/>
              <a:gd name="T17" fmla="*/ 1245496 h 3861"/>
              <a:gd name="T18" fmla="*/ 803375 w 3841"/>
              <a:gd name="T19" fmla="*/ 1371398 h 3861"/>
              <a:gd name="T20" fmla="*/ 956776 w 3841"/>
              <a:gd name="T21" fmla="*/ 1221248 h 3861"/>
              <a:gd name="T22" fmla="*/ 830884 w 3841"/>
              <a:gd name="T23" fmla="*/ 1092082 h 3861"/>
              <a:gd name="T24" fmla="*/ 682146 w 3841"/>
              <a:gd name="T25" fmla="*/ 1245496 h 3861"/>
              <a:gd name="T26" fmla="*/ 988948 w 3841"/>
              <a:gd name="T27" fmla="*/ 301698 h 3861"/>
              <a:gd name="T28" fmla="*/ 729705 w 3841"/>
              <a:gd name="T29" fmla="*/ 367913 h 3861"/>
              <a:gd name="T30" fmla="*/ 758613 w 3841"/>
              <a:gd name="T31" fmla="*/ 522726 h 3861"/>
              <a:gd name="T32" fmla="*/ 926002 w 3841"/>
              <a:gd name="T33" fmla="*/ 479826 h 3861"/>
              <a:gd name="T34" fmla="*/ 1015059 w 3841"/>
              <a:gd name="T35" fmla="*/ 553502 h 3861"/>
              <a:gd name="T36" fmla="*/ 892431 w 3841"/>
              <a:gd name="T37" fmla="*/ 723703 h 3861"/>
              <a:gd name="T38" fmla="*/ 752552 w 3841"/>
              <a:gd name="T39" fmla="*/ 978771 h 3861"/>
              <a:gd name="T40" fmla="*/ 747889 w 3841"/>
              <a:gd name="T41" fmla="*/ 1018406 h 3861"/>
              <a:gd name="T42" fmla="*/ 962837 w 3841"/>
              <a:gd name="T43" fmla="*/ 1018406 h 3861"/>
              <a:gd name="T44" fmla="*/ 970298 w 3841"/>
              <a:gd name="T45" fmla="*/ 981568 h 3861"/>
              <a:gd name="T46" fmla="*/ 1074741 w 3841"/>
              <a:gd name="T47" fmla="*/ 800643 h 3861"/>
              <a:gd name="T48" fmla="*/ 1242130 w 3841"/>
              <a:gd name="T49" fmla="*/ 510602 h 3861"/>
              <a:gd name="T50" fmla="*/ 988948 w 3841"/>
              <a:gd name="T51" fmla="*/ 301698 h 3861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</a:gdLst>
            <a:ahLst/>
            <a:cxnLst>
              <a:cxn ang="T52">
                <a:pos x="T0" y="T1"/>
              </a:cxn>
              <a:cxn ang="T53">
                <a:pos x="T2" y="T3"/>
              </a:cxn>
              <a:cxn ang="T54">
                <a:pos x="T4" y="T5"/>
              </a:cxn>
              <a:cxn ang="T55">
                <a:pos x="T6" y="T7"/>
              </a:cxn>
              <a:cxn ang="T56">
                <a:pos x="T8" y="T9"/>
              </a:cxn>
              <a:cxn ang="T57">
                <a:pos x="T10" y="T11"/>
              </a:cxn>
              <a:cxn ang="T58">
                <a:pos x="T12" y="T13"/>
              </a:cxn>
              <a:cxn ang="T59">
                <a:pos x="T14" y="T15"/>
              </a:cxn>
              <a:cxn ang="T60">
                <a:pos x="T16" y="T17"/>
              </a:cxn>
              <a:cxn ang="T61">
                <a:pos x="T18" y="T19"/>
              </a:cxn>
              <a:cxn ang="T62">
                <a:pos x="T20" y="T21"/>
              </a:cxn>
              <a:cxn ang="T63">
                <a:pos x="T22" y="T23"/>
              </a:cxn>
              <a:cxn ang="T64">
                <a:pos x="T24" y="T25"/>
              </a:cxn>
              <a:cxn ang="T65">
                <a:pos x="T26" y="T27"/>
              </a:cxn>
              <a:cxn ang="T66">
                <a:pos x="T28" y="T29"/>
              </a:cxn>
              <a:cxn ang="T67">
                <a:pos x="T30" y="T31"/>
              </a:cxn>
              <a:cxn ang="T68">
                <a:pos x="T32" y="T33"/>
              </a:cxn>
              <a:cxn ang="T69">
                <a:pos x="T34" y="T35"/>
              </a:cxn>
              <a:cxn ang="T70">
                <a:pos x="T36" y="T37"/>
              </a:cxn>
              <a:cxn ang="T71">
                <a:pos x="T38" y="T39"/>
              </a:cxn>
              <a:cxn ang="T72">
                <a:pos x="T40" y="T41"/>
              </a:cxn>
              <a:cxn ang="T73">
                <a:pos x="T42" y="T43"/>
              </a:cxn>
              <a:cxn ang="T74">
                <a:pos x="T44" y="T45"/>
              </a:cxn>
              <a:cxn ang="T75">
                <a:pos x="T46" y="T47"/>
              </a:cxn>
              <a:cxn ang="T76">
                <a:pos x="T48" y="T49"/>
              </a:cxn>
              <a:cxn ang="T77">
                <a:pos x="T50" y="T51"/>
              </a:cxn>
            </a:cxnLst>
            <a:rect l="0" t="0" r="r" b="b"/>
            <a:pathLst>
              <a:path w="3841" h="3861">
                <a:moveTo>
                  <a:pt x="2021" y="3639"/>
                </a:moveTo>
                <a:cubicBezTo>
                  <a:pt x="1770" y="3639"/>
                  <a:pt x="1531" y="3588"/>
                  <a:pt x="1313" y="3496"/>
                </a:cubicBezTo>
                <a:cubicBezTo>
                  <a:pt x="830" y="3861"/>
                  <a:pt x="0" y="3855"/>
                  <a:pt x="0" y="3855"/>
                </a:cubicBezTo>
                <a:cubicBezTo>
                  <a:pt x="0" y="3855"/>
                  <a:pt x="417" y="3566"/>
                  <a:pt x="605" y="2961"/>
                </a:cubicBezTo>
                <a:cubicBezTo>
                  <a:pt x="352" y="2648"/>
                  <a:pt x="201" y="2252"/>
                  <a:pt x="201" y="1819"/>
                </a:cubicBezTo>
                <a:cubicBezTo>
                  <a:pt x="201" y="814"/>
                  <a:pt x="1016" y="0"/>
                  <a:pt x="2021" y="0"/>
                </a:cubicBezTo>
                <a:cubicBezTo>
                  <a:pt x="3026" y="0"/>
                  <a:pt x="3841" y="814"/>
                  <a:pt x="3841" y="1819"/>
                </a:cubicBezTo>
                <a:cubicBezTo>
                  <a:pt x="3841" y="2824"/>
                  <a:pt x="3026" y="3639"/>
                  <a:pt x="2021" y="3639"/>
                </a:cubicBezTo>
                <a:close/>
                <a:moveTo>
                  <a:pt x="1463" y="2671"/>
                </a:moveTo>
                <a:cubicBezTo>
                  <a:pt x="1463" y="2826"/>
                  <a:pt x="1568" y="2941"/>
                  <a:pt x="1723" y="2941"/>
                </a:cubicBezTo>
                <a:cubicBezTo>
                  <a:pt x="1917" y="2941"/>
                  <a:pt x="2052" y="2806"/>
                  <a:pt x="2052" y="2619"/>
                </a:cubicBezTo>
                <a:cubicBezTo>
                  <a:pt x="2052" y="2457"/>
                  <a:pt x="1940" y="2342"/>
                  <a:pt x="1782" y="2342"/>
                </a:cubicBezTo>
                <a:cubicBezTo>
                  <a:pt x="1595" y="2342"/>
                  <a:pt x="1463" y="2497"/>
                  <a:pt x="1463" y="2671"/>
                </a:cubicBezTo>
                <a:close/>
                <a:moveTo>
                  <a:pt x="2121" y="647"/>
                </a:moveTo>
                <a:cubicBezTo>
                  <a:pt x="1874" y="647"/>
                  <a:pt x="1687" y="716"/>
                  <a:pt x="1565" y="789"/>
                </a:cubicBezTo>
                <a:cubicBezTo>
                  <a:pt x="1627" y="1121"/>
                  <a:pt x="1627" y="1121"/>
                  <a:pt x="1627" y="1121"/>
                </a:cubicBezTo>
                <a:cubicBezTo>
                  <a:pt x="1720" y="1065"/>
                  <a:pt x="1838" y="1029"/>
                  <a:pt x="1986" y="1029"/>
                </a:cubicBezTo>
                <a:cubicBezTo>
                  <a:pt x="2134" y="1032"/>
                  <a:pt x="2177" y="1101"/>
                  <a:pt x="2177" y="1187"/>
                </a:cubicBezTo>
                <a:cubicBezTo>
                  <a:pt x="2177" y="1302"/>
                  <a:pt x="2042" y="1414"/>
                  <a:pt x="1914" y="1552"/>
                </a:cubicBezTo>
                <a:cubicBezTo>
                  <a:pt x="1729" y="1747"/>
                  <a:pt x="1641" y="1921"/>
                  <a:pt x="1614" y="2099"/>
                </a:cubicBezTo>
                <a:cubicBezTo>
                  <a:pt x="1611" y="2125"/>
                  <a:pt x="1608" y="2155"/>
                  <a:pt x="1604" y="2184"/>
                </a:cubicBezTo>
                <a:cubicBezTo>
                  <a:pt x="2065" y="2184"/>
                  <a:pt x="2065" y="2184"/>
                  <a:pt x="2065" y="2184"/>
                </a:cubicBezTo>
                <a:cubicBezTo>
                  <a:pt x="2072" y="2155"/>
                  <a:pt x="2075" y="2128"/>
                  <a:pt x="2081" y="2105"/>
                </a:cubicBezTo>
                <a:cubicBezTo>
                  <a:pt x="2111" y="1957"/>
                  <a:pt x="2177" y="1845"/>
                  <a:pt x="2305" y="1717"/>
                </a:cubicBezTo>
                <a:cubicBezTo>
                  <a:pt x="2490" y="1526"/>
                  <a:pt x="2664" y="1358"/>
                  <a:pt x="2664" y="1095"/>
                </a:cubicBezTo>
                <a:cubicBezTo>
                  <a:pt x="2664" y="825"/>
                  <a:pt x="2437" y="647"/>
                  <a:pt x="2121" y="647"/>
                </a:cubicBezTo>
                <a:close/>
              </a:path>
            </a:pathLst>
          </a:custGeom>
          <a:solidFill>
            <a:srgbClr val="FF0000"/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anchorCtr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3" name="标题 1"/>
          <p:cNvSpPr>
            <a:spLocks noGrp="1"/>
          </p:cNvSpPr>
          <p:nvPr/>
        </p:nvSpPr>
        <p:spPr>
          <a:xfrm>
            <a:off x="2880822" y="3828481"/>
            <a:ext cx="10225136" cy="648072"/>
          </a:xfrm>
          <a:prstGeom prst="rect">
            <a:avLst/>
          </a:prstGeom>
        </p:spPr>
        <p:txBody>
          <a:bodyPr/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zh-CN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何为字符编码？</a:t>
            </a:r>
          </a:p>
        </p:txBody>
      </p:sp>
    </p:spTree>
  </p:cSld>
  <p:clrMapOvr>
    <a:masterClrMapping/>
  </p:clrMapOvr>
  <p:transition spd="slow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0" grpId="0" animBg="1"/>
      <p:bldP spid="3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266527" y="1053531"/>
            <a:ext cx="10225136" cy="648072"/>
          </a:xfrm>
          <a:prstGeom prst="rect">
            <a:avLst/>
          </a:prstGeom>
        </p:spPr>
        <p:txBody>
          <a:bodyPr/>
          <a:lstStyle/>
          <a:p>
            <a:pPr algn="l">
              <a:defRPr/>
            </a:pPr>
            <a:r>
              <a:rPr lang="zh-CN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科普：字符编码</a:t>
            </a:r>
          </a:p>
        </p:txBody>
      </p:sp>
      <p:sp>
        <p:nvSpPr>
          <p:cNvPr id="6" name="标题 1"/>
          <p:cNvSpPr txBox="1"/>
          <p:nvPr/>
        </p:nvSpPr>
        <p:spPr>
          <a:xfrm>
            <a:off x="8115399" y="189434"/>
            <a:ext cx="3990727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2.1 Python编码规范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735" y="1701800"/>
            <a:ext cx="2438400" cy="24384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240405" y="2021205"/>
            <a:ext cx="8204835" cy="1383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计算机只能处理数字，如果要处理文本，就必须先把文本转换为数字才能处理。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914599" y="4005858"/>
            <a:ext cx="10819765" cy="2030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l">
              <a:lnSpc>
                <a:spcPct val="150000"/>
              </a:lnSpc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计算机由美国人发明，最早只有127个字母符号被编码到计算机里，也就是大小写英文字母、数字和一些符号，这个编码表被称为ASCII编码，比如大写字母A的编码是65，小写字母z的编码是122</a:t>
            </a:r>
          </a:p>
        </p:txBody>
      </p:sp>
    </p:spTree>
  </p:cSld>
  <p:clrMapOvr>
    <a:masterClrMapping/>
  </p:clrMapOvr>
  <p:transition spd="slow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Par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8115399" y="189434"/>
            <a:ext cx="3990727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2.1 Python编码规范</a:t>
            </a:r>
          </a:p>
        </p:txBody>
      </p:sp>
      <p:sp>
        <p:nvSpPr>
          <p:cNvPr id="4" name="标题 1"/>
          <p:cNvSpPr>
            <a:spLocks noGrp="1"/>
          </p:cNvSpPr>
          <p:nvPr/>
        </p:nvSpPr>
        <p:spPr>
          <a:xfrm>
            <a:off x="266527" y="1053531"/>
            <a:ext cx="10225136" cy="648072"/>
          </a:xfrm>
          <a:prstGeom prst="rect">
            <a:avLst/>
          </a:prstGeom>
        </p:spPr>
        <p:txBody>
          <a:bodyPr/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zh-CN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科普：字符编码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0040" y="1701800"/>
            <a:ext cx="8007985" cy="4604385"/>
          </a:xfrm>
          <a:prstGeom prst="rect">
            <a:avLst/>
          </a:prstGeom>
        </p:spPr>
      </p:pic>
    </p:spTree>
  </p:cSld>
  <p:clrMapOvr>
    <a:masterClrMapping/>
  </p:clrMapOvr>
  <p:transition spd="slow" advTm="0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266527" y="1053531"/>
            <a:ext cx="10225136" cy="648072"/>
          </a:xfrm>
          <a:prstGeom prst="rect">
            <a:avLst/>
          </a:prstGeom>
        </p:spPr>
        <p:txBody>
          <a:bodyPr/>
          <a:lstStyle/>
          <a:p>
            <a:pPr algn="l">
              <a:defRPr/>
            </a:pPr>
            <a:r>
              <a:rPr lang="zh-CN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科普：字符编码</a:t>
            </a:r>
          </a:p>
        </p:txBody>
      </p:sp>
      <p:sp>
        <p:nvSpPr>
          <p:cNvPr id="6" name="标题 1"/>
          <p:cNvSpPr txBox="1"/>
          <p:nvPr/>
        </p:nvSpPr>
        <p:spPr>
          <a:xfrm>
            <a:off x="8115399" y="189434"/>
            <a:ext cx="3990727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2.1 Python编码规范</a:t>
            </a:r>
          </a:p>
        </p:txBody>
      </p:sp>
      <p:sp>
        <p:nvSpPr>
          <p:cNvPr id="2050" name=" 2050"/>
          <p:cNvSpPr/>
          <p:nvPr/>
        </p:nvSpPr>
        <p:spPr bwMode="auto">
          <a:xfrm>
            <a:off x="807085" y="2473325"/>
            <a:ext cx="1368425" cy="1080135"/>
          </a:xfrm>
          <a:custGeom>
            <a:avLst/>
            <a:gdLst>
              <a:gd name="T0" fmla="*/ 942322 w 3841"/>
              <a:gd name="T1" fmla="*/ 1696878 h 3861"/>
              <a:gd name="T2" fmla="*/ 612206 w 3841"/>
              <a:gd name="T3" fmla="*/ 1630196 h 3861"/>
              <a:gd name="T4" fmla="*/ 0 w 3841"/>
              <a:gd name="T5" fmla="*/ 1797599 h 3861"/>
              <a:gd name="T6" fmla="*/ 282090 w 3841"/>
              <a:gd name="T7" fmla="*/ 1380724 h 3861"/>
              <a:gd name="T8" fmla="*/ 93719 w 3841"/>
              <a:gd name="T9" fmla="*/ 848206 h 3861"/>
              <a:gd name="T10" fmla="*/ 942322 w 3841"/>
              <a:gd name="T11" fmla="*/ 0 h 3861"/>
              <a:gd name="T12" fmla="*/ 1790924 w 3841"/>
              <a:gd name="T13" fmla="*/ 848206 h 3861"/>
              <a:gd name="T14" fmla="*/ 942322 w 3841"/>
              <a:gd name="T15" fmla="*/ 1696878 h 3861"/>
              <a:gd name="T16" fmla="*/ 682146 w 3841"/>
              <a:gd name="T17" fmla="*/ 1245496 h 3861"/>
              <a:gd name="T18" fmla="*/ 803375 w 3841"/>
              <a:gd name="T19" fmla="*/ 1371398 h 3861"/>
              <a:gd name="T20" fmla="*/ 956776 w 3841"/>
              <a:gd name="T21" fmla="*/ 1221248 h 3861"/>
              <a:gd name="T22" fmla="*/ 830884 w 3841"/>
              <a:gd name="T23" fmla="*/ 1092082 h 3861"/>
              <a:gd name="T24" fmla="*/ 682146 w 3841"/>
              <a:gd name="T25" fmla="*/ 1245496 h 3861"/>
              <a:gd name="T26" fmla="*/ 988948 w 3841"/>
              <a:gd name="T27" fmla="*/ 301698 h 3861"/>
              <a:gd name="T28" fmla="*/ 729705 w 3841"/>
              <a:gd name="T29" fmla="*/ 367913 h 3861"/>
              <a:gd name="T30" fmla="*/ 758613 w 3841"/>
              <a:gd name="T31" fmla="*/ 522726 h 3861"/>
              <a:gd name="T32" fmla="*/ 926002 w 3841"/>
              <a:gd name="T33" fmla="*/ 479826 h 3861"/>
              <a:gd name="T34" fmla="*/ 1015059 w 3841"/>
              <a:gd name="T35" fmla="*/ 553502 h 3861"/>
              <a:gd name="T36" fmla="*/ 892431 w 3841"/>
              <a:gd name="T37" fmla="*/ 723703 h 3861"/>
              <a:gd name="T38" fmla="*/ 752552 w 3841"/>
              <a:gd name="T39" fmla="*/ 978771 h 3861"/>
              <a:gd name="T40" fmla="*/ 747889 w 3841"/>
              <a:gd name="T41" fmla="*/ 1018406 h 3861"/>
              <a:gd name="T42" fmla="*/ 962837 w 3841"/>
              <a:gd name="T43" fmla="*/ 1018406 h 3861"/>
              <a:gd name="T44" fmla="*/ 970298 w 3841"/>
              <a:gd name="T45" fmla="*/ 981568 h 3861"/>
              <a:gd name="T46" fmla="*/ 1074741 w 3841"/>
              <a:gd name="T47" fmla="*/ 800643 h 3861"/>
              <a:gd name="T48" fmla="*/ 1242130 w 3841"/>
              <a:gd name="T49" fmla="*/ 510602 h 3861"/>
              <a:gd name="T50" fmla="*/ 988948 w 3841"/>
              <a:gd name="T51" fmla="*/ 301698 h 3861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</a:gdLst>
            <a:ahLst/>
            <a:cxnLst>
              <a:cxn ang="T52">
                <a:pos x="T0" y="T1"/>
              </a:cxn>
              <a:cxn ang="T53">
                <a:pos x="T2" y="T3"/>
              </a:cxn>
              <a:cxn ang="T54">
                <a:pos x="T4" y="T5"/>
              </a:cxn>
              <a:cxn ang="T55">
                <a:pos x="T6" y="T7"/>
              </a:cxn>
              <a:cxn ang="T56">
                <a:pos x="T8" y="T9"/>
              </a:cxn>
              <a:cxn ang="T57">
                <a:pos x="T10" y="T11"/>
              </a:cxn>
              <a:cxn ang="T58">
                <a:pos x="T12" y="T13"/>
              </a:cxn>
              <a:cxn ang="T59">
                <a:pos x="T14" y="T15"/>
              </a:cxn>
              <a:cxn ang="T60">
                <a:pos x="T16" y="T17"/>
              </a:cxn>
              <a:cxn ang="T61">
                <a:pos x="T18" y="T19"/>
              </a:cxn>
              <a:cxn ang="T62">
                <a:pos x="T20" y="T21"/>
              </a:cxn>
              <a:cxn ang="T63">
                <a:pos x="T22" y="T23"/>
              </a:cxn>
              <a:cxn ang="T64">
                <a:pos x="T24" y="T25"/>
              </a:cxn>
              <a:cxn ang="T65">
                <a:pos x="T26" y="T27"/>
              </a:cxn>
              <a:cxn ang="T66">
                <a:pos x="T28" y="T29"/>
              </a:cxn>
              <a:cxn ang="T67">
                <a:pos x="T30" y="T31"/>
              </a:cxn>
              <a:cxn ang="T68">
                <a:pos x="T32" y="T33"/>
              </a:cxn>
              <a:cxn ang="T69">
                <a:pos x="T34" y="T35"/>
              </a:cxn>
              <a:cxn ang="T70">
                <a:pos x="T36" y="T37"/>
              </a:cxn>
              <a:cxn ang="T71">
                <a:pos x="T38" y="T39"/>
              </a:cxn>
              <a:cxn ang="T72">
                <a:pos x="T40" y="T41"/>
              </a:cxn>
              <a:cxn ang="T73">
                <a:pos x="T42" y="T43"/>
              </a:cxn>
              <a:cxn ang="T74">
                <a:pos x="T44" y="T45"/>
              </a:cxn>
              <a:cxn ang="T75">
                <a:pos x="T46" y="T47"/>
              </a:cxn>
              <a:cxn ang="T76">
                <a:pos x="T48" y="T49"/>
              </a:cxn>
              <a:cxn ang="T77">
                <a:pos x="T50" y="T51"/>
              </a:cxn>
            </a:cxnLst>
            <a:rect l="0" t="0" r="r" b="b"/>
            <a:pathLst>
              <a:path w="3841" h="3861">
                <a:moveTo>
                  <a:pt x="2021" y="3639"/>
                </a:moveTo>
                <a:cubicBezTo>
                  <a:pt x="1770" y="3639"/>
                  <a:pt x="1531" y="3588"/>
                  <a:pt x="1313" y="3496"/>
                </a:cubicBezTo>
                <a:cubicBezTo>
                  <a:pt x="830" y="3861"/>
                  <a:pt x="0" y="3855"/>
                  <a:pt x="0" y="3855"/>
                </a:cubicBezTo>
                <a:cubicBezTo>
                  <a:pt x="0" y="3855"/>
                  <a:pt x="417" y="3566"/>
                  <a:pt x="605" y="2961"/>
                </a:cubicBezTo>
                <a:cubicBezTo>
                  <a:pt x="352" y="2648"/>
                  <a:pt x="201" y="2252"/>
                  <a:pt x="201" y="1819"/>
                </a:cubicBezTo>
                <a:cubicBezTo>
                  <a:pt x="201" y="814"/>
                  <a:pt x="1016" y="0"/>
                  <a:pt x="2021" y="0"/>
                </a:cubicBezTo>
                <a:cubicBezTo>
                  <a:pt x="3026" y="0"/>
                  <a:pt x="3841" y="814"/>
                  <a:pt x="3841" y="1819"/>
                </a:cubicBezTo>
                <a:cubicBezTo>
                  <a:pt x="3841" y="2824"/>
                  <a:pt x="3026" y="3639"/>
                  <a:pt x="2021" y="3639"/>
                </a:cubicBezTo>
                <a:close/>
                <a:moveTo>
                  <a:pt x="1463" y="2671"/>
                </a:moveTo>
                <a:cubicBezTo>
                  <a:pt x="1463" y="2826"/>
                  <a:pt x="1568" y="2941"/>
                  <a:pt x="1723" y="2941"/>
                </a:cubicBezTo>
                <a:cubicBezTo>
                  <a:pt x="1917" y="2941"/>
                  <a:pt x="2052" y="2806"/>
                  <a:pt x="2052" y="2619"/>
                </a:cubicBezTo>
                <a:cubicBezTo>
                  <a:pt x="2052" y="2457"/>
                  <a:pt x="1940" y="2342"/>
                  <a:pt x="1782" y="2342"/>
                </a:cubicBezTo>
                <a:cubicBezTo>
                  <a:pt x="1595" y="2342"/>
                  <a:pt x="1463" y="2497"/>
                  <a:pt x="1463" y="2671"/>
                </a:cubicBezTo>
                <a:close/>
                <a:moveTo>
                  <a:pt x="2121" y="647"/>
                </a:moveTo>
                <a:cubicBezTo>
                  <a:pt x="1874" y="647"/>
                  <a:pt x="1687" y="716"/>
                  <a:pt x="1565" y="789"/>
                </a:cubicBezTo>
                <a:cubicBezTo>
                  <a:pt x="1627" y="1121"/>
                  <a:pt x="1627" y="1121"/>
                  <a:pt x="1627" y="1121"/>
                </a:cubicBezTo>
                <a:cubicBezTo>
                  <a:pt x="1720" y="1065"/>
                  <a:pt x="1838" y="1029"/>
                  <a:pt x="1986" y="1029"/>
                </a:cubicBezTo>
                <a:cubicBezTo>
                  <a:pt x="2134" y="1032"/>
                  <a:pt x="2177" y="1101"/>
                  <a:pt x="2177" y="1187"/>
                </a:cubicBezTo>
                <a:cubicBezTo>
                  <a:pt x="2177" y="1302"/>
                  <a:pt x="2042" y="1414"/>
                  <a:pt x="1914" y="1552"/>
                </a:cubicBezTo>
                <a:cubicBezTo>
                  <a:pt x="1729" y="1747"/>
                  <a:pt x="1641" y="1921"/>
                  <a:pt x="1614" y="2099"/>
                </a:cubicBezTo>
                <a:cubicBezTo>
                  <a:pt x="1611" y="2125"/>
                  <a:pt x="1608" y="2155"/>
                  <a:pt x="1604" y="2184"/>
                </a:cubicBezTo>
                <a:cubicBezTo>
                  <a:pt x="2065" y="2184"/>
                  <a:pt x="2065" y="2184"/>
                  <a:pt x="2065" y="2184"/>
                </a:cubicBezTo>
                <a:cubicBezTo>
                  <a:pt x="2072" y="2155"/>
                  <a:pt x="2075" y="2128"/>
                  <a:pt x="2081" y="2105"/>
                </a:cubicBezTo>
                <a:cubicBezTo>
                  <a:pt x="2111" y="1957"/>
                  <a:pt x="2177" y="1845"/>
                  <a:pt x="2305" y="1717"/>
                </a:cubicBezTo>
                <a:cubicBezTo>
                  <a:pt x="2490" y="1526"/>
                  <a:pt x="2664" y="1358"/>
                  <a:pt x="2664" y="1095"/>
                </a:cubicBezTo>
                <a:cubicBezTo>
                  <a:pt x="2664" y="825"/>
                  <a:pt x="2437" y="647"/>
                  <a:pt x="2121" y="647"/>
                </a:cubicBezTo>
                <a:close/>
              </a:path>
            </a:pathLst>
          </a:custGeom>
          <a:solidFill>
            <a:srgbClr val="FF0000"/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 anchorCtr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2855" y="1845945"/>
            <a:ext cx="5767705" cy="2610485"/>
          </a:xfrm>
          <a:prstGeom prst="rect">
            <a:avLst/>
          </a:prstGeom>
        </p:spPr>
      </p:pic>
      <p:sp>
        <p:nvSpPr>
          <p:cNvPr id="8" name="标题 1"/>
          <p:cNvSpPr>
            <a:spLocks noGrp="1"/>
          </p:cNvSpPr>
          <p:nvPr/>
        </p:nvSpPr>
        <p:spPr>
          <a:xfrm>
            <a:off x="5369560" y="4983480"/>
            <a:ext cx="4735830" cy="648335"/>
          </a:xfrm>
          <a:prstGeom prst="rect">
            <a:avLst/>
          </a:prstGeom>
        </p:spPr>
        <p:txBody>
          <a:bodyPr/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zh-CN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汉字或其他文字怎么办？</a:t>
            </a:r>
          </a:p>
        </p:txBody>
      </p:sp>
    </p:spTree>
  </p:cSld>
  <p:clrMapOvr>
    <a:masterClrMapping/>
  </p:clrMapOvr>
  <p:transition spd="slow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0" grpId="0" bldLvl="0" animBg="1"/>
      <p:bldP spid="8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266527" y="1053531"/>
            <a:ext cx="10225136" cy="648072"/>
          </a:xfrm>
          <a:prstGeom prst="rect">
            <a:avLst/>
          </a:prstGeom>
        </p:spPr>
        <p:txBody>
          <a:bodyPr/>
          <a:lstStyle/>
          <a:p>
            <a:pPr algn="l">
              <a:defRPr/>
            </a:pPr>
            <a:r>
              <a:rPr lang="zh-CN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科普：字符编码</a:t>
            </a:r>
          </a:p>
        </p:txBody>
      </p:sp>
      <p:sp>
        <p:nvSpPr>
          <p:cNvPr id="6" name="标题 1"/>
          <p:cNvSpPr txBox="1"/>
          <p:nvPr/>
        </p:nvSpPr>
        <p:spPr>
          <a:xfrm>
            <a:off x="8115399" y="189434"/>
            <a:ext cx="3990727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2.1 Python编码规范</a:t>
            </a:r>
          </a:p>
        </p:txBody>
      </p:sp>
      <p:sp>
        <p:nvSpPr>
          <p:cNvPr id="8" name="标题 1"/>
          <p:cNvSpPr>
            <a:spLocks noGrp="1"/>
          </p:cNvSpPr>
          <p:nvPr/>
        </p:nvSpPr>
        <p:spPr>
          <a:xfrm>
            <a:off x="522605" y="1837690"/>
            <a:ext cx="2313940" cy="648335"/>
          </a:xfrm>
          <a:prstGeom prst="rect">
            <a:avLst/>
          </a:prstGeom>
        </p:spPr>
        <p:txBody>
          <a:bodyPr/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en-US" altLang="zh-CN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Unicode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856615" y="2357755"/>
            <a:ext cx="10790555" cy="3322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开发者提出一种标准方案来展示世界上所有语言中的所有字符，出于这个目的，Unicode诞生。Unicode标准也在不断发展，但最常用的是用两个字节表示一个字符（如果要用到非常偏僻的字符，就需要4个字节）。现代操作系统和大多数编程语言都直接支持Unicode。</a:t>
            </a:r>
          </a:p>
        </p:txBody>
      </p:sp>
    </p:spTree>
  </p:cSld>
  <p:clrMapOvr>
    <a:masterClrMapping/>
  </p:clrMapOvr>
  <p:transition spd="slow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4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266527" y="1053531"/>
            <a:ext cx="10225136" cy="648072"/>
          </a:xfrm>
          <a:prstGeom prst="rect">
            <a:avLst/>
          </a:prstGeom>
        </p:spPr>
        <p:txBody>
          <a:bodyPr/>
          <a:lstStyle/>
          <a:p>
            <a:pPr algn="l">
              <a:defRPr/>
            </a:pPr>
            <a:r>
              <a:rPr lang="zh-CN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科普：字符编码</a:t>
            </a:r>
          </a:p>
        </p:txBody>
      </p:sp>
      <p:sp>
        <p:nvSpPr>
          <p:cNvPr id="6" name="标题 1"/>
          <p:cNvSpPr txBox="1"/>
          <p:nvPr/>
        </p:nvSpPr>
        <p:spPr>
          <a:xfrm>
            <a:off x="8115399" y="189434"/>
            <a:ext cx="3990727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2.1 Python编码规范</a:t>
            </a:r>
          </a:p>
        </p:txBody>
      </p:sp>
      <p:sp>
        <p:nvSpPr>
          <p:cNvPr id="8" name="标题 1"/>
          <p:cNvSpPr>
            <a:spLocks noGrp="1"/>
          </p:cNvSpPr>
          <p:nvPr/>
        </p:nvSpPr>
        <p:spPr>
          <a:xfrm>
            <a:off x="522605" y="1837690"/>
            <a:ext cx="2313940" cy="648335"/>
          </a:xfrm>
          <a:prstGeom prst="rect">
            <a:avLst/>
          </a:prstGeom>
        </p:spPr>
        <p:txBody>
          <a:bodyPr/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en-US" altLang="zh-CN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Unicode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856615" y="2357755"/>
            <a:ext cx="10790555" cy="1383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ASCII编码和Unicode编码的区别：ASCII编码是1个字节，而Unicode编码通常是2个字节。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56615" y="3909695"/>
            <a:ext cx="10790555" cy="2030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如果统一成Unicode编码，乱码问题从此消失了。但是，如果你写的文本基本上全部是英文的话，用Unicode编码比ASCII编码需要多一倍的存储空间，在存储和传输上就十分不划算。</a:t>
            </a:r>
          </a:p>
        </p:txBody>
      </p:sp>
    </p:spTree>
  </p:cSld>
  <p:clrMapOvr>
    <a:masterClrMapping/>
  </p:clrMapOvr>
  <p:transition spd="slow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266527" y="711404"/>
            <a:ext cx="10225136" cy="648072"/>
          </a:xfrm>
          <a:prstGeom prst="rect">
            <a:avLst/>
          </a:prstGeom>
        </p:spPr>
        <p:txBody>
          <a:bodyPr/>
          <a:lstStyle/>
          <a:p>
            <a:pPr algn="l">
              <a:defRPr/>
            </a:pPr>
            <a:r>
              <a:rPr lang="zh-CN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科普：字符编码</a:t>
            </a:r>
          </a:p>
        </p:txBody>
      </p:sp>
      <p:sp>
        <p:nvSpPr>
          <p:cNvPr id="6" name="标题 1"/>
          <p:cNvSpPr txBox="1"/>
          <p:nvPr/>
        </p:nvSpPr>
        <p:spPr>
          <a:xfrm>
            <a:off x="8115399" y="189434"/>
            <a:ext cx="3990727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2.1 Python编码规范</a:t>
            </a:r>
          </a:p>
        </p:txBody>
      </p:sp>
      <p:sp>
        <p:nvSpPr>
          <p:cNvPr id="8" name="标题 1"/>
          <p:cNvSpPr>
            <a:spLocks noGrp="1"/>
          </p:cNvSpPr>
          <p:nvPr/>
        </p:nvSpPr>
        <p:spPr>
          <a:xfrm>
            <a:off x="522605" y="1534286"/>
            <a:ext cx="2313940" cy="648335"/>
          </a:xfrm>
          <a:prstGeom prst="rect">
            <a:avLst/>
          </a:prstGeom>
        </p:spPr>
        <p:txBody>
          <a:bodyPr/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en-US" altLang="zh-CN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Unicode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888034" y="2182622"/>
            <a:ext cx="10790555" cy="286232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lvl="0" indent="-457200"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可变长编码”的UTF-8编码。</a:t>
            </a:r>
          </a:p>
          <a:p>
            <a:pPr marL="457200" lvl="0" indent="-457200"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UTF-8编码把一个Unicode字符根据不同的数字大小编码成1-6个字节，常用的英文字母被编码成1个字节，汉字通常是3个字节，只有很生僻的字符才会被编码成4-6个字节。</a:t>
            </a:r>
          </a:p>
          <a:p>
            <a:pPr marL="457200" lvl="0" indent="-457200"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如果传输的文本包含大量英文字符，用UTF-8编码就能节省空间</a:t>
            </a:r>
          </a:p>
        </p:txBody>
      </p:sp>
    </p:spTree>
  </p:cSld>
  <p:clrMapOvr>
    <a:masterClrMapping/>
  </p:clrMapOvr>
  <p:transition spd="slow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266527" y="711404"/>
            <a:ext cx="10225136" cy="648072"/>
          </a:xfrm>
          <a:prstGeom prst="rect">
            <a:avLst/>
          </a:prstGeom>
        </p:spPr>
        <p:txBody>
          <a:bodyPr/>
          <a:lstStyle/>
          <a:p>
            <a:pPr algn="l">
              <a:defRPr/>
            </a:pPr>
            <a:r>
              <a:rPr lang="zh-CN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科普：字符编码</a:t>
            </a:r>
          </a:p>
        </p:txBody>
      </p:sp>
      <p:sp>
        <p:nvSpPr>
          <p:cNvPr id="6" name="标题 1"/>
          <p:cNvSpPr txBox="1"/>
          <p:nvPr/>
        </p:nvSpPr>
        <p:spPr>
          <a:xfrm>
            <a:off x="8115399" y="189434"/>
            <a:ext cx="3990727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2.1 Python编码规范</a:t>
            </a:r>
          </a:p>
        </p:txBody>
      </p:sp>
      <p:sp>
        <p:nvSpPr>
          <p:cNvPr id="8" name="标题 1"/>
          <p:cNvSpPr>
            <a:spLocks noGrp="1"/>
          </p:cNvSpPr>
          <p:nvPr/>
        </p:nvSpPr>
        <p:spPr>
          <a:xfrm>
            <a:off x="522605" y="1534286"/>
            <a:ext cx="2313940" cy="648335"/>
          </a:xfrm>
          <a:prstGeom prst="rect">
            <a:avLst/>
          </a:prstGeom>
        </p:spPr>
        <p:txBody>
          <a:bodyPr/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en-US" altLang="zh-CN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GBK</a:t>
            </a:r>
            <a:r>
              <a:rPr lang="zh-CN" altLang="en-US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编码</a:t>
            </a:r>
            <a:endParaRPr lang="en-US" altLang="zh-CN" sz="3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986607" y="2182621"/>
            <a:ext cx="10346739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专门用来解决中文编码的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是双字节的。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GB2312-80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标准基础上的内码扩展规范，使用了双字节编码方案。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中英文都是双字节的。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其编码范围从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8140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至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FEFE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（剔除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xx7F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），共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23940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个码位，共收录了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21003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个汉字。</a:t>
            </a:r>
          </a:p>
        </p:txBody>
      </p:sp>
    </p:spTree>
    <p:extLst>
      <p:ext uri="{BB962C8B-B14F-4D97-AF65-F5344CB8AC3E}">
        <p14:creationId xmlns:p14="http://schemas.microsoft.com/office/powerpoint/2010/main" val="1813476196"/>
      </p:ext>
    </p:extLst>
  </p:cSld>
  <p:clrMapOvr>
    <a:masterClrMapping/>
  </p:clrMapOvr>
  <p:transition spd="slow" advTm="0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266527" y="1053531"/>
            <a:ext cx="10225136" cy="648072"/>
          </a:xfrm>
          <a:prstGeom prst="rect">
            <a:avLst/>
          </a:prstGeom>
        </p:spPr>
        <p:txBody>
          <a:bodyPr/>
          <a:lstStyle/>
          <a:p>
            <a:pPr algn="l">
              <a:defRPr/>
            </a:pPr>
            <a:r>
              <a:rPr lang="zh-CN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科普：字符编码</a:t>
            </a:r>
          </a:p>
        </p:txBody>
      </p:sp>
      <p:sp>
        <p:nvSpPr>
          <p:cNvPr id="6" name="标题 1"/>
          <p:cNvSpPr txBox="1"/>
          <p:nvPr/>
        </p:nvSpPr>
        <p:spPr>
          <a:xfrm>
            <a:off x="8115399" y="189434"/>
            <a:ext cx="3990727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2.1 Python编码规范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591" y="1989634"/>
            <a:ext cx="3916045" cy="354647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1654" y="1970584"/>
            <a:ext cx="4047490" cy="3565525"/>
          </a:xfrm>
          <a:prstGeom prst="rect">
            <a:avLst/>
          </a:prstGeom>
        </p:spPr>
      </p:pic>
    </p:spTree>
  </p:cSld>
  <p:clrMapOvr>
    <a:masterClrMapping/>
  </p:clrMapOvr>
  <p:transition spd="slow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8115399" y="189434"/>
            <a:ext cx="3990727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2.1 Python编码规范</a:t>
            </a:r>
          </a:p>
        </p:txBody>
      </p:sp>
      <p:sp>
        <p:nvSpPr>
          <p:cNvPr id="3" name="Content Placeholder 2"/>
          <p:cNvSpPr>
            <a:spLocks noGrp="1"/>
          </p:cNvSpPr>
          <p:nvPr/>
        </p:nvSpPr>
        <p:spPr>
          <a:xfrm>
            <a:off x="758825" y="1081405"/>
            <a:ext cx="10985500" cy="5292725"/>
          </a:xfrm>
          <a:prstGeom prst="rect">
            <a:avLst/>
          </a:prstGeom>
        </p:spPr>
        <p:txBody>
          <a:bodyPr vert="horz" lIns="91440" tIns="45720" rIns="91440" bIns="45720" rtlCol="0">
            <a:normAutofit fontScale="90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110000"/>
              </a:lnSpc>
              <a:spcBef>
                <a:spcPts val="0"/>
              </a:spcBef>
              <a:buFont typeface="Wingdings" panose="05000000000000000000" charset="0"/>
              <a:buChar char=""/>
            </a:pPr>
            <a:r>
              <a:rPr lang="en-US" sz="2400" dirty="0" err="1"/>
              <a:t>对str类型的字符串调用其</a:t>
            </a:r>
            <a:r>
              <a:rPr lang="en-US" sz="2400" dirty="0" err="1">
                <a:solidFill>
                  <a:srgbClr val="FF0000"/>
                </a:solidFill>
              </a:rPr>
              <a:t>encode</a:t>
            </a:r>
            <a:r>
              <a:rPr lang="en-US" sz="2400" dirty="0">
                <a:solidFill>
                  <a:srgbClr val="FF0000"/>
                </a:solidFill>
              </a:rPr>
              <a:t>()</a:t>
            </a:r>
            <a:r>
              <a:rPr lang="en-US" sz="2400" dirty="0" err="1"/>
              <a:t>方法进行编码得到bytes字节串，对bytes字节串调用其</a:t>
            </a:r>
            <a:r>
              <a:rPr lang="en-US" sz="2400" dirty="0" err="1">
                <a:solidFill>
                  <a:srgbClr val="FF0000"/>
                </a:solidFill>
              </a:rPr>
              <a:t>decode</a:t>
            </a:r>
            <a:r>
              <a:rPr lang="en-US" sz="2400" dirty="0">
                <a:solidFill>
                  <a:srgbClr val="FF0000"/>
                </a:solidFill>
              </a:rPr>
              <a:t>()</a:t>
            </a:r>
            <a:r>
              <a:rPr lang="en-US" sz="2400" dirty="0" err="1"/>
              <a:t>方法并指定正确的编码格式则得到str字符串</a:t>
            </a:r>
            <a:r>
              <a:rPr lang="en-US" sz="2400" dirty="0"/>
              <a:t>。</a:t>
            </a:r>
          </a:p>
          <a:p>
            <a:pPr marL="0" indent="0" fontAlgn="auto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000" dirty="0">
                <a:latin typeface="Consolas" panose="020B0609020204030204" charset="0"/>
              </a:rPr>
              <a:t>&gt;&gt;&gt; type('Hello world')                  #</a:t>
            </a:r>
            <a:r>
              <a:rPr lang="en-US" sz="2000" dirty="0" err="1">
                <a:latin typeface="Consolas" panose="020B0609020204030204" charset="0"/>
              </a:rPr>
              <a:t>默认字符串类型为str</a:t>
            </a:r>
            <a:endParaRPr lang="en-US" sz="2000" dirty="0">
              <a:latin typeface="Consolas" panose="020B0609020204030204" charset="0"/>
            </a:endParaRPr>
          </a:p>
          <a:p>
            <a:pPr marL="0" indent="0" fontAlgn="auto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FF0000"/>
                </a:solidFill>
                <a:latin typeface="Consolas" panose="020B0609020204030204" charset="0"/>
              </a:rPr>
              <a:t>&lt;class '</a:t>
            </a:r>
            <a:r>
              <a:rPr lang="en-US" sz="2000" dirty="0" err="1">
                <a:solidFill>
                  <a:srgbClr val="FF0000"/>
                </a:solidFill>
                <a:latin typeface="Consolas" panose="020B0609020204030204" charset="0"/>
              </a:rPr>
              <a:t>str</a:t>
            </a:r>
            <a:r>
              <a:rPr lang="en-US" sz="2000" dirty="0">
                <a:solidFill>
                  <a:srgbClr val="FF0000"/>
                </a:solidFill>
                <a:latin typeface="Consolas" panose="020B0609020204030204" charset="0"/>
              </a:rPr>
              <a:t>'&gt;</a:t>
            </a:r>
          </a:p>
          <a:p>
            <a:pPr marL="0" indent="0" fontAlgn="auto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000" dirty="0">
                <a:latin typeface="Consolas" panose="020B0609020204030204" charset="0"/>
              </a:rPr>
              <a:t>&gt;&gt;&gt; type(</a:t>
            </a:r>
            <a:r>
              <a:rPr lang="en-US" sz="2000" dirty="0" err="1">
                <a:latin typeface="Consolas" panose="020B0609020204030204" charset="0"/>
              </a:rPr>
              <a:t>b'Hello</a:t>
            </a:r>
            <a:r>
              <a:rPr lang="en-US" sz="2000" dirty="0">
                <a:latin typeface="Consolas" panose="020B0609020204030204" charset="0"/>
              </a:rPr>
              <a:t> world')                 #</a:t>
            </a:r>
            <a:r>
              <a:rPr lang="en-US" sz="2000" dirty="0" err="1">
                <a:latin typeface="Consolas" panose="020B0609020204030204" charset="0"/>
              </a:rPr>
              <a:t>在定界符前加上字母b表示字节串</a:t>
            </a:r>
            <a:endParaRPr lang="en-US" sz="2000" dirty="0">
              <a:latin typeface="Consolas" panose="020B0609020204030204" charset="0"/>
            </a:endParaRPr>
          </a:p>
          <a:p>
            <a:pPr marL="0" indent="0" fontAlgn="auto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FF0000"/>
                </a:solidFill>
                <a:latin typeface="Consolas" panose="020B0609020204030204" charset="0"/>
              </a:rPr>
              <a:t>&lt;class 'bytes'&gt;</a:t>
            </a:r>
            <a:endParaRPr lang="en-US" sz="2000" dirty="0">
              <a:solidFill>
                <a:srgbClr val="00B0F0"/>
              </a:solidFill>
              <a:latin typeface="Consolas" panose="020B0609020204030204" charset="0"/>
            </a:endParaRPr>
          </a:p>
          <a:p>
            <a:pPr marL="0" indent="0" fontAlgn="auto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000" dirty="0">
                <a:latin typeface="Consolas" panose="020B0609020204030204" charset="0"/>
              </a:rPr>
              <a:t>&gt;&gt;&gt; 'Hello </a:t>
            </a:r>
            <a:r>
              <a:rPr lang="en-US" sz="2000" dirty="0" err="1">
                <a:latin typeface="Consolas" panose="020B0609020204030204" charset="0"/>
              </a:rPr>
              <a:t>world'.encode</a:t>
            </a:r>
            <a:r>
              <a:rPr lang="en-US" sz="2000" dirty="0">
                <a:latin typeface="Consolas" panose="020B0609020204030204" charset="0"/>
              </a:rPr>
              <a:t>('utf8')         #使用utf8编码格式进行编码</a:t>
            </a:r>
          </a:p>
          <a:p>
            <a:pPr marL="0" indent="0" fontAlgn="auto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000" dirty="0" err="1">
                <a:solidFill>
                  <a:srgbClr val="FF0000"/>
                </a:solidFill>
                <a:latin typeface="Consolas" panose="020B0609020204030204" charset="0"/>
              </a:rPr>
              <a:t>b'Hello</a:t>
            </a:r>
            <a:r>
              <a:rPr lang="en-US" sz="2000" dirty="0">
                <a:solidFill>
                  <a:srgbClr val="FF0000"/>
                </a:solidFill>
                <a:latin typeface="Consolas" panose="020B0609020204030204" charset="0"/>
              </a:rPr>
              <a:t> world'</a:t>
            </a:r>
            <a:endParaRPr lang="en-US" sz="2000" dirty="0">
              <a:solidFill>
                <a:srgbClr val="00B0F0"/>
              </a:solidFill>
              <a:latin typeface="Consolas" panose="020B0609020204030204" charset="0"/>
            </a:endParaRPr>
          </a:p>
          <a:p>
            <a:pPr marL="0" indent="0" fontAlgn="auto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000" dirty="0">
                <a:latin typeface="Consolas" panose="020B0609020204030204" charset="0"/>
              </a:rPr>
              <a:t>&gt;&gt;&gt; 'Hello </a:t>
            </a:r>
            <a:r>
              <a:rPr lang="en-US" sz="2000" dirty="0" err="1">
                <a:latin typeface="Consolas" panose="020B0609020204030204" charset="0"/>
              </a:rPr>
              <a:t>world'.encode</a:t>
            </a:r>
            <a:r>
              <a:rPr lang="en-US" sz="2000" dirty="0">
                <a:latin typeface="Consolas" panose="020B0609020204030204" charset="0"/>
              </a:rPr>
              <a:t>('</a:t>
            </a:r>
            <a:r>
              <a:rPr lang="en-US" sz="2000" dirty="0" err="1">
                <a:latin typeface="Consolas" panose="020B0609020204030204" charset="0"/>
              </a:rPr>
              <a:t>gbk</a:t>
            </a:r>
            <a:r>
              <a:rPr lang="en-US" sz="2000" dirty="0">
                <a:latin typeface="Consolas" panose="020B0609020204030204" charset="0"/>
              </a:rPr>
              <a:t>')          #</a:t>
            </a:r>
            <a:r>
              <a:rPr lang="en-US" sz="2000" dirty="0" err="1">
                <a:latin typeface="Consolas" panose="020B0609020204030204" charset="0"/>
              </a:rPr>
              <a:t>使用gbk编码格式进行编码</a:t>
            </a:r>
            <a:endParaRPr lang="en-US" sz="2000" dirty="0">
              <a:latin typeface="Consolas" panose="020B0609020204030204" charset="0"/>
            </a:endParaRPr>
          </a:p>
          <a:p>
            <a:pPr marL="0" indent="0" fontAlgn="auto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000" dirty="0" err="1">
                <a:solidFill>
                  <a:srgbClr val="FF0000"/>
                </a:solidFill>
                <a:latin typeface="Consolas" panose="020B0609020204030204" charset="0"/>
              </a:rPr>
              <a:t>b'Hello</a:t>
            </a:r>
            <a:r>
              <a:rPr lang="en-US" sz="2000" dirty="0">
                <a:solidFill>
                  <a:srgbClr val="FF0000"/>
                </a:solidFill>
                <a:latin typeface="Consolas" panose="020B0609020204030204" charset="0"/>
              </a:rPr>
              <a:t> world'</a:t>
            </a:r>
            <a:endParaRPr lang="en-US" sz="2000" dirty="0">
              <a:solidFill>
                <a:srgbClr val="00B0F0"/>
              </a:solidFill>
              <a:latin typeface="Consolas" panose="020B0609020204030204" charset="0"/>
            </a:endParaRPr>
          </a:p>
          <a:p>
            <a:pPr marL="0" indent="0" fontAlgn="auto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000" dirty="0">
                <a:latin typeface="Consolas" panose="020B0609020204030204" charset="0"/>
              </a:rPr>
              <a:t>&gt;&gt;&gt; </a:t>
            </a:r>
            <a:r>
              <a:rPr lang="en-US" altLang="zh-CN" sz="2000" dirty="0">
                <a:latin typeface="Consolas" panose="020B0609020204030204" charset="0"/>
              </a:rPr>
              <a:t>'21</a:t>
            </a:r>
            <a:r>
              <a:rPr lang="zh-CN" altLang="en-US" sz="2000" dirty="0">
                <a:latin typeface="Consolas" panose="020B0609020204030204" charset="0"/>
              </a:rPr>
              <a:t>网络工程</a:t>
            </a:r>
            <a:r>
              <a:rPr lang="en-US" sz="2000" dirty="0">
                <a:latin typeface="Consolas" panose="020B0609020204030204" charset="0"/>
              </a:rPr>
              <a:t>'.encode('utf8')               #</a:t>
            </a:r>
            <a:r>
              <a:rPr lang="en-US" sz="2000" dirty="0" err="1">
                <a:latin typeface="Consolas" panose="020B0609020204030204" charset="0"/>
              </a:rPr>
              <a:t>对中文进行编码</a:t>
            </a:r>
            <a:endParaRPr lang="en-US" sz="2000" dirty="0">
              <a:latin typeface="Consolas" panose="020B0609020204030204" charset="0"/>
            </a:endParaRPr>
          </a:p>
          <a:p>
            <a:pPr marL="0" indent="0" fontAlgn="auto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FF0000"/>
                </a:solidFill>
                <a:latin typeface="Consolas" panose="020B0609020204030204" charset="0"/>
              </a:rPr>
              <a:t>b'21\xe7\</a:t>
            </a:r>
            <a:r>
              <a:rPr lang="en-US" sz="2000" dirty="0" err="1">
                <a:solidFill>
                  <a:srgbClr val="FF0000"/>
                </a:solidFill>
                <a:latin typeface="Consolas" panose="020B0609020204030204" charset="0"/>
              </a:rPr>
              <a:t>xbd</a:t>
            </a:r>
            <a:r>
              <a:rPr lang="en-US" sz="2000" dirty="0">
                <a:solidFill>
                  <a:srgbClr val="FF0000"/>
                </a:solidFill>
                <a:latin typeface="Consolas" panose="020B0609020204030204" charset="0"/>
              </a:rPr>
              <a:t>\x91\xe7\</a:t>
            </a:r>
            <a:r>
              <a:rPr lang="en-US" sz="2000" dirty="0" err="1">
                <a:solidFill>
                  <a:srgbClr val="FF0000"/>
                </a:solidFill>
                <a:latin typeface="Consolas" panose="020B0609020204030204" charset="0"/>
              </a:rPr>
              <a:t>xbb</a:t>
            </a:r>
            <a:r>
              <a:rPr lang="en-US" sz="2000" dirty="0">
                <a:solidFill>
                  <a:srgbClr val="FF0000"/>
                </a:solidFill>
                <a:latin typeface="Consolas" panose="020B0609020204030204" charset="0"/>
              </a:rPr>
              <a:t>\x9c\xe5\xb7\xa5\xe7\xa8\x8b' </a:t>
            </a:r>
          </a:p>
          <a:p>
            <a:pPr marL="0" indent="0" fontAlgn="auto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000" dirty="0">
                <a:latin typeface="Consolas" panose="020B0609020204030204" charset="0"/>
              </a:rPr>
              <a:t>&gt;&gt;&gt; _.decode('utf8')                     #</a:t>
            </a:r>
            <a:r>
              <a:rPr lang="en-US" sz="2000" dirty="0" err="1">
                <a:latin typeface="Consolas" panose="020B0609020204030204" charset="0"/>
              </a:rPr>
              <a:t>一个下划线表示最后一次正确输出结果</a:t>
            </a:r>
            <a:endParaRPr lang="en-US" sz="2000" dirty="0">
              <a:latin typeface="Consolas" panose="020B0609020204030204" charset="0"/>
            </a:endParaRPr>
          </a:p>
          <a:p>
            <a:pPr marL="0" indent="0" fontAlgn="auto">
              <a:lnSpc>
                <a:spcPct val="110000"/>
              </a:lnSpc>
              <a:spcBef>
                <a:spcPts val="0"/>
              </a:spcBef>
              <a:buNone/>
            </a:pPr>
            <a:r>
              <a:rPr lang="en-US" altLang="zh-CN" sz="2000" dirty="0">
                <a:solidFill>
                  <a:srgbClr val="FF0000"/>
                </a:solidFill>
                <a:latin typeface="Consolas" panose="020B0609020204030204" charset="0"/>
              </a:rPr>
              <a:t>'21</a:t>
            </a:r>
            <a:r>
              <a:rPr lang="zh-CN" altLang="en-US" sz="2000" dirty="0">
                <a:solidFill>
                  <a:srgbClr val="FF0000"/>
                </a:solidFill>
                <a:latin typeface="Consolas" panose="020B0609020204030204" charset="0"/>
              </a:rPr>
              <a:t>网络工程</a:t>
            </a:r>
            <a:r>
              <a:rPr lang="en-US" altLang="zh-CN" sz="2000" dirty="0">
                <a:solidFill>
                  <a:srgbClr val="FF0000"/>
                </a:solidFill>
                <a:latin typeface="Consolas" panose="020B0609020204030204" charset="0"/>
              </a:rPr>
              <a:t>' </a:t>
            </a:r>
          </a:p>
          <a:p>
            <a:pPr marL="0" indent="0" fontAlgn="auto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000" dirty="0">
                <a:latin typeface="Consolas" panose="020B0609020204030204" charset="0"/>
              </a:rPr>
              <a:t>&gt;&gt;&gt; </a:t>
            </a:r>
            <a:r>
              <a:rPr lang="en-US" altLang="zh-CN" sz="2000" dirty="0">
                <a:latin typeface="Consolas" panose="020B0609020204030204" charset="0"/>
              </a:rPr>
              <a:t>'21</a:t>
            </a:r>
            <a:r>
              <a:rPr lang="zh-CN" altLang="en-US" sz="2000" dirty="0">
                <a:latin typeface="Consolas" panose="020B0609020204030204" charset="0"/>
              </a:rPr>
              <a:t>网络工程</a:t>
            </a:r>
            <a:r>
              <a:rPr lang="en-US" sz="2000" dirty="0">
                <a:latin typeface="Consolas" panose="020B0609020204030204" charset="0"/>
              </a:rPr>
              <a:t>'.encode('</a:t>
            </a:r>
            <a:r>
              <a:rPr lang="en-US" sz="2000" dirty="0" err="1">
                <a:latin typeface="Consolas" panose="020B0609020204030204" charset="0"/>
              </a:rPr>
              <a:t>gbk</a:t>
            </a:r>
            <a:r>
              <a:rPr lang="en-US" sz="2000" dirty="0">
                <a:latin typeface="Consolas" panose="020B0609020204030204" charset="0"/>
              </a:rPr>
              <a:t>')</a:t>
            </a:r>
          </a:p>
          <a:p>
            <a:pPr marL="0" indent="0" fontAlgn="auto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FF0000"/>
                </a:solidFill>
                <a:latin typeface="Consolas" panose="020B0609020204030204" charset="0"/>
              </a:rPr>
              <a:t>b'21\</a:t>
            </a:r>
            <a:r>
              <a:rPr lang="en-US" sz="2000" dirty="0" err="1">
                <a:solidFill>
                  <a:srgbClr val="FF0000"/>
                </a:solidFill>
                <a:latin typeface="Consolas" panose="020B0609020204030204" charset="0"/>
              </a:rPr>
              <a:t>xcd</a:t>
            </a:r>
            <a:r>
              <a:rPr lang="en-US" sz="2000" dirty="0">
                <a:solidFill>
                  <a:srgbClr val="FF0000"/>
                </a:solidFill>
                <a:latin typeface="Consolas" panose="020B0609020204030204" charset="0"/>
              </a:rPr>
              <a:t>\xf8\xc2\xe7\xb9\xa4\xb3\</a:t>
            </a:r>
            <a:r>
              <a:rPr lang="en-US" sz="2000" dirty="0" err="1">
                <a:solidFill>
                  <a:srgbClr val="FF0000"/>
                </a:solidFill>
                <a:latin typeface="Consolas" panose="020B0609020204030204" charset="0"/>
              </a:rPr>
              <a:t>xcc</a:t>
            </a:r>
            <a:r>
              <a:rPr lang="en-US" sz="2000" dirty="0">
                <a:solidFill>
                  <a:srgbClr val="FF0000"/>
                </a:solidFill>
                <a:latin typeface="Consolas" panose="020B0609020204030204" charset="0"/>
              </a:rPr>
              <a:t>‘</a:t>
            </a:r>
          </a:p>
          <a:p>
            <a:pPr marL="0" indent="0" fontAlgn="auto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000" dirty="0">
                <a:latin typeface="Consolas" panose="020B0609020204030204" charset="0"/>
              </a:rPr>
              <a:t>&gt;&gt;&gt; _.decode('</a:t>
            </a:r>
            <a:r>
              <a:rPr lang="en-US" sz="2000" dirty="0" err="1">
                <a:latin typeface="Consolas" panose="020B0609020204030204" charset="0"/>
              </a:rPr>
              <a:t>gbk</a:t>
            </a:r>
            <a:r>
              <a:rPr lang="en-US" sz="2000" dirty="0">
                <a:latin typeface="Consolas" panose="020B0609020204030204" charset="0"/>
              </a:rPr>
              <a:t>')                      #</a:t>
            </a:r>
            <a:r>
              <a:rPr lang="en-US" sz="2000" dirty="0" err="1">
                <a:latin typeface="Consolas" panose="020B0609020204030204" charset="0"/>
              </a:rPr>
              <a:t>对bytes字节串进行解码</a:t>
            </a:r>
            <a:endParaRPr lang="en-US" sz="2000" dirty="0">
              <a:latin typeface="Consolas" panose="020B0609020204030204" charset="0"/>
            </a:endParaRPr>
          </a:p>
          <a:p>
            <a:pPr marL="0" indent="0" fontAlgn="auto">
              <a:lnSpc>
                <a:spcPct val="110000"/>
              </a:lnSpc>
              <a:spcBef>
                <a:spcPts val="0"/>
              </a:spcBef>
              <a:buNone/>
            </a:pPr>
            <a:r>
              <a:rPr lang="en-US" altLang="zh-CN" sz="2000" dirty="0">
                <a:solidFill>
                  <a:srgbClr val="FF0000"/>
                </a:solidFill>
                <a:latin typeface="Consolas" panose="020B0609020204030204" charset="0"/>
              </a:rPr>
              <a:t>'21</a:t>
            </a:r>
            <a:r>
              <a:rPr lang="zh-CN" altLang="en-US" sz="2000" dirty="0">
                <a:solidFill>
                  <a:srgbClr val="FF0000"/>
                </a:solidFill>
                <a:latin typeface="Consolas" panose="020B0609020204030204" charset="0"/>
              </a:rPr>
              <a:t>网络工程</a:t>
            </a:r>
            <a:r>
              <a:rPr lang="en-US" altLang="zh-CN" sz="2000" dirty="0">
                <a:solidFill>
                  <a:srgbClr val="FF0000"/>
                </a:solidFill>
                <a:latin typeface="Consolas" panose="020B0609020204030204" charset="0"/>
              </a:rPr>
              <a:t>' </a:t>
            </a:r>
          </a:p>
        </p:txBody>
      </p:sp>
    </p:spTree>
  </p:cSld>
  <p:clrMapOvr>
    <a:masterClrMapping/>
  </p:clrMapOvr>
  <p:transition spd="slow" advTm="0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870585" y="1069340"/>
            <a:ext cx="10457815" cy="620395"/>
          </a:xfrm>
        </p:spPr>
        <p:txBody>
          <a:bodyPr/>
          <a:lstStyle/>
          <a:p>
            <a:pPr algn="l">
              <a:defRPr/>
            </a:pP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查看变量的类型：</a:t>
            </a:r>
          </a:p>
        </p:txBody>
      </p:sp>
      <p:sp>
        <p:nvSpPr>
          <p:cNvPr id="49155" name="内容占位符 2"/>
          <p:cNvSpPr>
            <a:spLocks noGrp="1"/>
          </p:cNvSpPr>
          <p:nvPr>
            <p:ph idx="4294967295"/>
          </p:nvPr>
        </p:nvSpPr>
        <p:spPr>
          <a:xfrm>
            <a:off x="635000" y="1689735"/>
            <a:ext cx="11179175" cy="1928495"/>
          </a:xfrm>
        </p:spPr>
        <p:txBody>
          <a:bodyPr/>
          <a:lstStyle/>
          <a:p>
            <a:pPr algn="just" fontAlgn="auto">
              <a:lnSpc>
                <a:spcPct val="150000"/>
              </a:lnSpc>
              <a:spcBef>
                <a:spcPts val="0"/>
              </a:spcBef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若需要查看变量的类型，可以使用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Python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type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类。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type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__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builtin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__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模块的一个类，该类能返回变量的类型。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just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__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builtin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__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模块是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Python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的内联模块，内联模块不需要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import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语句，由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Python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解释器自动导入。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2070100" y="3994785"/>
            <a:ext cx="2540000" cy="2306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dirty="0"/>
              <a:t>a=5</a:t>
            </a:r>
          </a:p>
          <a:p>
            <a:r>
              <a:rPr lang="zh-CN" altLang="en-US" dirty="0"/>
              <a:t>b=6.0</a:t>
            </a:r>
          </a:p>
          <a:p>
            <a:r>
              <a:rPr lang="zh-CN" altLang="en-US" dirty="0"/>
              <a:t>c="Python"</a:t>
            </a:r>
          </a:p>
          <a:p>
            <a:r>
              <a:rPr lang="zh-CN" altLang="en-US" dirty="0"/>
              <a:t>print(type(a))</a:t>
            </a:r>
          </a:p>
          <a:p>
            <a:r>
              <a:rPr lang="zh-CN" altLang="en-US" dirty="0"/>
              <a:t>print(type(b))</a:t>
            </a:r>
          </a:p>
          <a:p>
            <a:r>
              <a:rPr lang="zh-CN" altLang="en-US" dirty="0"/>
              <a:t>print(type(c))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808980" y="4660900"/>
            <a:ext cx="254000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>
                <a:solidFill>
                  <a:schemeClr val="accent1"/>
                </a:solidFill>
              </a:rPr>
              <a:t>&lt;class 'int'&gt;</a:t>
            </a:r>
          </a:p>
          <a:p>
            <a:r>
              <a:rPr lang="zh-CN" altLang="en-US">
                <a:solidFill>
                  <a:schemeClr val="accent1"/>
                </a:solidFill>
              </a:rPr>
              <a:t>&lt;class 'float'&gt;</a:t>
            </a:r>
          </a:p>
          <a:p>
            <a:r>
              <a:rPr lang="zh-CN" altLang="en-US">
                <a:solidFill>
                  <a:schemeClr val="accent1"/>
                </a:solidFill>
              </a:rPr>
              <a:t>&lt;class 'str'&gt;</a:t>
            </a:r>
          </a:p>
        </p:txBody>
      </p:sp>
      <p:sp>
        <p:nvSpPr>
          <p:cNvPr id="10" name="标题 1"/>
          <p:cNvSpPr txBox="1"/>
          <p:nvPr/>
        </p:nvSpPr>
        <p:spPr>
          <a:xfrm>
            <a:off x="9208220" y="189434"/>
            <a:ext cx="29848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2.2 变量和常量</a:t>
            </a:r>
          </a:p>
        </p:txBody>
      </p:sp>
    </p:spTree>
  </p:cSld>
  <p:clrMapOvr>
    <a:masterClrMapping/>
  </p:clrMapOvr>
  <p:transition spd="slow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5" grpId="0"/>
      <p:bldP spid="5" grpId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266527" y="1053531"/>
            <a:ext cx="10225136" cy="648072"/>
          </a:xfrm>
          <a:prstGeom prst="rect">
            <a:avLst/>
          </a:prstGeom>
        </p:spPr>
        <p:txBody>
          <a:bodyPr/>
          <a:lstStyle/>
          <a:p>
            <a:pPr algn="l">
              <a:defRPr/>
            </a:pPr>
            <a:r>
              <a:rPr lang="zh-CN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科普：字符编码</a:t>
            </a:r>
          </a:p>
        </p:txBody>
      </p:sp>
      <p:sp>
        <p:nvSpPr>
          <p:cNvPr id="6" name="标题 1"/>
          <p:cNvSpPr txBox="1"/>
          <p:nvPr/>
        </p:nvSpPr>
        <p:spPr>
          <a:xfrm>
            <a:off x="8115399" y="189434"/>
            <a:ext cx="3990727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2.1 Python编码规范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058615" y="2133650"/>
            <a:ext cx="10130155" cy="1383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对于单个字符的编码，Python提供了ord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()</a:t>
            </a:r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函数获取字符的整数表示，chr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()</a:t>
            </a:r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函数把编码转换为对应的字符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ransition spd="slow" advTm="0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>
            <p:custDataLst>
              <p:tags r:id="rId2"/>
            </p:custDataLst>
          </p:nvPr>
        </p:nvSpPr>
        <p:spPr>
          <a:xfrm>
            <a:off x="0" y="3810736"/>
            <a:ext cx="12198448" cy="3048588"/>
          </a:xfrm>
          <a:prstGeom prst="rect">
            <a:avLst/>
          </a:prstGeom>
          <a:pattFill prst="dkHorz">
            <a:fgClr>
              <a:srgbClr val="F2F2F2"/>
            </a:fgClr>
            <a:bgClr>
              <a:srgbClr val="FFFFFF"/>
            </a:bgClr>
          </a:patt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 sz="18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" name="矩形 5"/>
          <p:cNvSpPr/>
          <p:nvPr>
            <p:custDataLst>
              <p:tags r:id="rId3"/>
            </p:custDataLst>
          </p:nvPr>
        </p:nvSpPr>
        <p:spPr>
          <a:xfrm>
            <a:off x="1677254" y="914251"/>
            <a:ext cx="8843875" cy="853503"/>
          </a:xfrm>
          <a:prstGeom prst="rect">
            <a:avLst/>
          </a:prstGeom>
          <a:solidFill>
            <a:srgbClr val="FFFFFF"/>
          </a:solidFill>
          <a:ln w="25400">
            <a:noFill/>
          </a:ln>
          <a:effectLst>
            <a:outerShdw blurRad="50800" dist="76200" dir="5400000" sx="101000" sy="101000" algn="t" rotWithShape="0">
              <a:srgbClr val="000000">
                <a:alpha val="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kumimoji="1" lang="zh-CN" altLang="en-US" sz="18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1" name="矩形 11"/>
          <p:cNvSpPr/>
          <p:nvPr>
            <p:custDataLst>
              <p:tags r:id="rId4"/>
            </p:custDataLst>
          </p:nvPr>
        </p:nvSpPr>
        <p:spPr>
          <a:xfrm>
            <a:off x="1677241" y="2194436"/>
            <a:ext cx="8843875" cy="3777441"/>
          </a:xfrm>
          <a:prstGeom prst="rect">
            <a:avLst/>
          </a:prstGeom>
          <a:solidFill>
            <a:srgbClr val="FFFFFF"/>
          </a:solidFill>
          <a:ln w="25400">
            <a:noFill/>
          </a:ln>
          <a:effectLst>
            <a:outerShdw blurRad="50800" dist="76200" dir="5400000" sx="101000" sy="101000" algn="t" rotWithShape="0">
              <a:srgbClr val="000000">
                <a:alpha val="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kumimoji="1" lang="zh-CN" altLang="en-US" sz="18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>
            <p:custDataLst>
              <p:tags r:id="rId5"/>
            </p:custDataLst>
          </p:nvPr>
        </p:nvSpPr>
        <p:spPr>
          <a:xfrm>
            <a:off x="1982200" y="1066680"/>
            <a:ext cx="8233950" cy="548639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2800" b="1" spc="3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主要内容</a:t>
            </a:r>
          </a:p>
        </p:txBody>
      </p:sp>
      <p:sp>
        <p:nvSpPr>
          <p:cNvPr id="12" name="弧形 11"/>
          <p:cNvSpPr/>
          <p:nvPr>
            <p:custDataLst>
              <p:tags r:id="rId6"/>
            </p:custDataLst>
          </p:nvPr>
        </p:nvSpPr>
        <p:spPr>
          <a:xfrm>
            <a:off x="3111500" y="2520962"/>
            <a:ext cx="727075" cy="716915"/>
          </a:xfrm>
          <a:prstGeom prst="arc">
            <a:avLst>
              <a:gd name="adj1" fmla="val 11619054"/>
              <a:gd name="adj2" fmla="val 10295063"/>
            </a:avLst>
          </a:prstGeom>
          <a:ln w="19050">
            <a:solidFill>
              <a:srgbClr val="1D6D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80"/>
          <p:cNvSpPr txBox="1"/>
          <p:nvPr>
            <p:custDataLst>
              <p:tags r:id="rId7"/>
            </p:custDataLst>
          </p:nvPr>
        </p:nvSpPr>
        <p:spPr>
          <a:xfrm>
            <a:off x="2833370" y="3355352"/>
            <a:ext cx="1371600" cy="2036922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en-US" altLang="zh-CN" sz="2000" spc="15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</a:p>
          <a:p>
            <a:pPr marL="0" lvl="0" indent="0"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en-US" altLang="zh-CN" sz="2000" spc="15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编码规范</a:t>
            </a:r>
          </a:p>
        </p:txBody>
      </p:sp>
      <p:sp>
        <p:nvSpPr>
          <p:cNvPr id="14" name="标题 5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3221990" y="2616212"/>
            <a:ext cx="554355" cy="509270"/>
          </a:xfrm>
          <a:prstGeom prst="rect">
            <a:avLst/>
          </a:prstGeom>
        </p:spPr>
        <p:txBody>
          <a:bodyPr vert="horz" lIns="0" tIns="0" rIns="0" bIns="0" rtlCol="0" anchor="ctr" anchorCtr="0">
            <a:normAutofit fontScale="90000"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kumimoji="0" lang="zh-CN" altLang="en-US" sz="24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indent="0" algn="ctr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en-US" altLang="zh-CN" sz="2700" b="1" dirty="0">
                <a:solidFill>
                  <a:srgbClr val="1D518C"/>
                </a:solidFill>
                <a:latin typeface="微软雅黑" panose="020B0503020204020204" pitchFamily="34" charset="-122"/>
              </a:rPr>
              <a:t>2.1</a:t>
            </a:r>
          </a:p>
        </p:txBody>
      </p:sp>
      <p:sp>
        <p:nvSpPr>
          <p:cNvPr id="15" name="菱形 14"/>
          <p:cNvSpPr/>
          <p:nvPr>
            <p:custDataLst>
              <p:tags r:id="rId9"/>
            </p:custDataLst>
          </p:nvPr>
        </p:nvSpPr>
        <p:spPr>
          <a:xfrm>
            <a:off x="2933065" y="2712097"/>
            <a:ext cx="301625" cy="301625"/>
          </a:xfrm>
          <a:prstGeom prst="diamond">
            <a:avLst/>
          </a:prstGeom>
          <a:solidFill>
            <a:srgbClr val="69A7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弧形 15"/>
          <p:cNvSpPr/>
          <p:nvPr>
            <p:custDataLst>
              <p:tags r:id="rId10"/>
            </p:custDataLst>
          </p:nvPr>
        </p:nvSpPr>
        <p:spPr>
          <a:xfrm>
            <a:off x="4790440" y="2520962"/>
            <a:ext cx="727075" cy="716915"/>
          </a:xfrm>
          <a:prstGeom prst="arc">
            <a:avLst>
              <a:gd name="adj1" fmla="val 11619054"/>
              <a:gd name="adj2" fmla="val 10295063"/>
            </a:avLst>
          </a:prstGeom>
          <a:ln w="19050">
            <a:solidFill>
              <a:srgbClr val="1D6D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80"/>
          <p:cNvSpPr txBox="1"/>
          <p:nvPr>
            <p:custDataLst>
              <p:tags r:id="rId11"/>
            </p:custDataLst>
          </p:nvPr>
        </p:nvSpPr>
        <p:spPr>
          <a:xfrm>
            <a:off x="4512945" y="3355352"/>
            <a:ext cx="1371600" cy="2036922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en-US" altLang="zh-CN" sz="2000" b="1" spc="15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变量和常量</a:t>
            </a:r>
          </a:p>
        </p:txBody>
      </p:sp>
      <p:sp>
        <p:nvSpPr>
          <p:cNvPr id="22" name="标题 5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4901565" y="2616212"/>
            <a:ext cx="554355" cy="509270"/>
          </a:xfrm>
          <a:prstGeom prst="rect">
            <a:avLst/>
          </a:prstGeom>
        </p:spPr>
        <p:txBody>
          <a:bodyPr vert="horz" lIns="0" tIns="0" rIns="0" bIns="0" rtlCol="0" anchor="ctr" anchorCtr="0">
            <a:normAutofit fontScale="90000"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kumimoji="0" lang="zh-CN" altLang="en-US" sz="24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indent="0" algn="ctr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en-US" altLang="zh-CN" sz="2700" b="1" dirty="0">
                <a:solidFill>
                  <a:srgbClr val="FF0000"/>
                </a:solidFill>
                <a:latin typeface="微软雅黑" panose="020B0503020204020204" pitchFamily="34" charset="-122"/>
              </a:rPr>
              <a:t>2.2</a:t>
            </a:r>
          </a:p>
        </p:txBody>
      </p:sp>
      <p:sp>
        <p:nvSpPr>
          <p:cNvPr id="23" name="菱形 22"/>
          <p:cNvSpPr/>
          <p:nvPr>
            <p:custDataLst>
              <p:tags r:id="rId13"/>
            </p:custDataLst>
          </p:nvPr>
        </p:nvSpPr>
        <p:spPr>
          <a:xfrm>
            <a:off x="4612005" y="2712097"/>
            <a:ext cx="301625" cy="301625"/>
          </a:xfrm>
          <a:prstGeom prst="diamond">
            <a:avLst/>
          </a:prstGeom>
          <a:solidFill>
            <a:srgbClr val="69A7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弧形 23"/>
          <p:cNvSpPr/>
          <p:nvPr>
            <p:custDataLst>
              <p:tags r:id="rId14"/>
            </p:custDataLst>
          </p:nvPr>
        </p:nvSpPr>
        <p:spPr>
          <a:xfrm>
            <a:off x="6470015" y="2520962"/>
            <a:ext cx="727075" cy="716915"/>
          </a:xfrm>
          <a:prstGeom prst="arc">
            <a:avLst>
              <a:gd name="adj1" fmla="val 11619054"/>
              <a:gd name="adj2" fmla="val 10295063"/>
            </a:avLst>
          </a:prstGeom>
          <a:ln w="19050">
            <a:solidFill>
              <a:srgbClr val="1D6D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文本框 80"/>
          <p:cNvSpPr txBox="1"/>
          <p:nvPr>
            <p:custDataLst>
              <p:tags r:id="rId15"/>
            </p:custDataLst>
          </p:nvPr>
        </p:nvSpPr>
        <p:spPr>
          <a:xfrm>
            <a:off x="6191885" y="3355352"/>
            <a:ext cx="1371600" cy="2036922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en-US" altLang="zh-CN" sz="2000" spc="15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数据类型</a:t>
            </a:r>
          </a:p>
        </p:txBody>
      </p:sp>
      <p:sp>
        <p:nvSpPr>
          <p:cNvPr id="26" name="标题 5"/>
          <p:cNvSpPr>
            <a:spLocks noGrp="1"/>
          </p:cNvSpPr>
          <p:nvPr>
            <p:custDataLst>
              <p:tags r:id="rId16"/>
            </p:custDataLst>
          </p:nvPr>
        </p:nvSpPr>
        <p:spPr>
          <a:xfrm>
            <a:off x="6580505" y="2616212"/>
            <a:ext cx="554355" cy="509270"/>
          </a:xfrm>
          <a:prstGeom prst="rect">
            <a:avLst/>
          </a:prstGeom>
        </p:spPr>
        <p:txBody>
          <a:bodyPr vert="horz" lIns="0" tIns="0" rIns="0" bIns="0" rtlCol="0" anchor="ctr" anchorCtr="0">
            <a:normAutofit fontScale="90000"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kumimoji="0" lang="zh-CN" altLang="en-US" sz="24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indent="0" algn="ctr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en-US" altLang="zh-CN" sz="2700" b="1" dirty="0">
                <a:solidFill>
                  <a:srgbClr val="1D518C"/>
                </a:solidFill>
                <a:latin typeface="微软雅黑" panose="020B0503020204020204" pitchFamily="34" charset="-122"/>
              </a:rPr>
              <a:t>2.3</a:t>
            </a:r>
          </a:p>
        </p:txBody>
      </p:sp>
      <p:sp>
        <p:nvSpPr>
          <p:cNvPr id="27" name="菱形 26"/>
          <p:cNvSpPr/>
          <p:nvPr>
            <p:custDataLst>
              <p:tags r:id="rId17"/>
            </p:custDataLst>
          </p:nvPr>
        </p:nvSpPr>
        <p:spPr>
          <a:xfrm>
            <a:off x="6291580" y="2712097"/>
            <a:ext cx="301625" cy="301625"/>
          </a:xfrm>
          <a:prstGeom prst="diamond">
            <a:avLst/>
          </a:prstGeom>
          <a:solidFill>
            <a:srgbClr val="69A7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弧形 27"/>
          <p:cNvSpPr/>
          <p:nvPr>
            <p:custDataLst>
              <p:tags r:id="rId18"/>
            </p:custDataLst>
          </p:nvPr>
        </p:nvSpPr>
        <p:spPr>
          <a:xfrm>
            <a:off x="8148955" y="2520962"/>
            <a:ext cx="727075" cy="716915"/>
          </a:xfrm>
          <a:prstGeom prst="arc">
            <a:avLst>
              <a:gd name="adj1" fmla="val 11619054"/>
              <a:gd name="adj2" fmla="val 10295063"/>
            </a:avLst>
          </a:prstGeom>
          <a:ln w="19050">
            <a:solidFill>
              <a:srgbClr val="1D6D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80"/>
          <p:cNvSpPr txBox="1"/>
          <p:nvPr>
            <p:custDataLst>
              <p:tags r:id="rId19"/>
            </p:custDataLst>
          </p:nvPr>
        </p:nvSpPr>
        <p:spPr>
          <a:xfrm>
            <a:off x="7871460" y="3355352"/>
            <a:ext cx="1371600" cy="2036922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en-US" altLang="zh-CN" sz="2000" spc="15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运算符与</a:t>
            </a:r>
          </a:p>
          <a:p>
            <a:pPr marL="0" lvl="0" indent="0"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en-US" altLang="zh-CN" sz="2000" spc="15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</a:p>
        </p:txBody>
      </p:sp>
      <p:sp>
        <p:nvSpPr>
          <p:cNvPr id="30" name="标题 5"/>
          <p:cNvSpPr>
            <a:spLocks noGrp="1"/>
          </p:cNvSpPr>
          <p:nvPr>
            <p:custDataLst>
              <p:tags r:id="rId20"/>
            </p:custDataLst>
          </p:nvPr>
        </p:nvSpPr>
        <p:spPr>
          <a:xfrm>
            <a:off x="8260080" y="2616212"/>
            <a:ext cx="554355" cy="509270"/>
          </a:xfrm>
          <a:prstGeom prst="rect">
            <a:avLst/>
          </a:prstGeom>
        </p:spPr>
        <p:txBody>
          <a:bodyPr vert="horz" lIns="0" tIns="0" rIns="0" bIns="0" rtlCol="0" anchor="ctr" anchorCtr="0">
            <a:normAutofit fontScale="90000"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kumimoji="0" lang="zh-CN" altLang="en-US" sz="24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indent="0" algn="ctr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en-US" altLang="zh-CN" sz="2700" b="1" dirty="0">
                <a:solidFill>
                  <a:srgbClr val="1D518C"/>
                </a:solidFill>
                <a:latin typeface="微软雅黑" panose="020B0503020204020204" pitchFamily="34" charset="-122"/>
              </a:rPr>
              <a:t>2.4</a:t>
            </a:r>
          </a:p>
        </p:txBody>
      </p:sp>
      <p:sp>
        <p:nvSpPr>
          <p:cNvPr id="31" name="菱形 30"/>
          <p:cNvSpPr/>
          <p:nvPr>
            <p:custDataLst>
              <p:tags r:id="rId21"/>
            </p:custDataLst>
          </p:nvPr>
        </p:nvSpPr>
        <p:spPr>
          <a:xfrm>
            <a:off x="7970520" y="2712097"/>
            <a:ext cx="301625" cy="301625"/>
          </a:xfrm>
          <a:prstGeom prst="diamond">
            <a:avLst/>
          </a:prstGeom>
          <a:solidFill>
            <a:srgbClr val="69A7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p:transition spd="slow" advTm="0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9208220" y="189434"/>
            <a:ext cx="29848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2.2 变量和常量</a:t>
            </a:r>
          </a:p>
        </p:txBody>
      </p:sp>
      <p:sp>
        <p:nvSpPr>
          <p:cNvPr id="26627" name="内容占位符 2"/>
          <p:cNvSpPr>
            <a:spLocks noGrp="1"/>
          </p:cNvSpPr>
          <p:nvPr>
            <p:ph idx="4294967295"/>
          </p:nvPr>
        </p:nvSpPr>
        <p:spPr>
          <a:xfrm>
            <a:off x="405765" y="1730375"/>
            <a:ext cx="11787505" cy="1631315"/>
          </a:xfrm>
          <a:prstGeom prst="rect">
            <a:avLst/>
          </a:prstGeom>
        </p:spPr>
        <p:txBody>
          <a:bodyPr/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变量是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计算机内存中的一块区域，变量可以存储任何值（也称指向），而且值可以改变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常量是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一块只读内存区域，常量一旦初始化就不能修改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1"/>
          <p:cNvSpPr>
            <a:spLocks noGrp="1"/>
          </p:cNvSpPr>
          <p:nvPr/>
        </p:nvSpPr>
        <p:spPr>
          <a:xfrm>
            <a:off x="159385" y="835025"/>
            <a:ext cx="10275639" cy="662781"/>
          </a:xfrm>
          <a:prstGeom prst="rect">
            <a:avLst/>
          </a:prstGeom>
        </p:spPr>
        <p:txBody>
          <a:bodyPr/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、变量和常量</a:t>
            </a:r>
          </a:p>
        </p:txBody>
      </p:sp>
    </p:spTree>
  </p:cSld>
  <p:clrMapOvr>
    <a:masterClrMapping/>
  </p:clrMapOvr>
  <p:transition spd="slow" advTm="0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159385" y="835025"/>
            <a:ext cx="10275639" cy="662781"/>
          </a:xfrm>
          <a:prstGeom prst="rect">
            <a:avLst/>
          </a:prstGeom>
        </p:spPr>
        <p:txBody>
          <a:bodyPr/>
          <a:lstStyle/>
          <a:p>
            <a:pPr algn="l">
              <a:defRPr/>
            </a:pP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、变量命名规则</a:t>
            </a:r>
          </a:p>
        </p:txBody>
      </p:sp>
      <p:sp>
        <p:nvSpPr>
          <p:cNvPr id="27651" name="内容占位符 2"/>
          <p:cNvSpPr>
            <a:spLocks noGrp="1"/>
          </p:cNvSpPr>
          <p:nvPr>
            <p:ph idx="4294967295"/>
          </p:nvPr>
        </p:nvSpPr>
        <p:spPr>
          <a:xfrm>
            <a:off x="300355" y="1437005"/>
            <a:ext cx="11598275" cy="3180080"/>
          </a:xfrm>
          <a:prstGeom prst="rect">
            <a:avLst/>
          </a:prstGeom>
        </p:spPr>
        <p:txBody>
          <a:bodyPr/>
          <a:lstStyle/>
          <a:p>
            <a:pPr algn="just" fontAlgn="auto">
              <a:lnSpc>
                <a:spcPct val="150000"/>
              </a:lnSpc>
              <a:spcBef>
                <a:spcPts val="0"/>
              </a:spcBef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在Python中，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不需要事先声明变量名及其类型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，直接赋值即可创建各种类型的对象变量。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charset="-122"/>
              </a:rPr>
              <a:t>这一点适用于Python任意类型的对象。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just" fontAlgn="auto">
              <a:lnSpc>
                <a:spcPct val="150000"/>
              </a:lnSpc>
              <a:spcBef>
                <a:spcPts val="0"/>
              </a:spcBef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变量名的长度不受限制，其中的字符必须是字母、数字或下划线（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_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），不能使用空格、连字符、标点符号、引号或其他字符。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just" fontAlgn="auto">
              <a:lnSpc>
                <a:spcPct val="150000"/>
              </a:lnSpc>
              <a:spcBef>
                <a:spcPts val="0"/>
              </a:spcBef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变量名的第一个字符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不能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是数字，必须是字母或下划线。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just">
              <a:lnSpc>
                <a:spcPts val="4200"/>
              </a:lnSpc>
              <a:buNone/>
            </a:pP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9208220" y="189434"/>
            <a:ext cx="29848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2.2 变量和常量</a:t>
            </a:r>
          </a:p>
        </p:txBody>
      </p:sp>
    </p:spTree>
  </p:cSld>
  <p:clrMapOvr>
    <a:masterClrMapping/>
  </p:clrMapOvr>
  <p:transition spd="slow" advTm="0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159385" y="835025"/>
            <a:ext cx="10275639" cy="662781"/>
          </a:xfrm>
          <a:prstGeom prst="rect">
            <a:avLst/>
          </a:prstGeom>
        </p:spPr>
        <p:txBody>
          <a:bodyPr/>
          <a:lstStyle/>
          <a:p>
            <a:pPr algn="l">
              <a:defRPr/>
            </a:pP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、变量命名规则</a:t>
            </a:r>
          </a:p>
        </p:txBody>
      </p:sp>
      <p:sp>
        <p:nvSpPr>
          <p:cNvPr id="27651" name="内容占位符 2"/>
          <p:cNvSpPr>
            <a:spLocks noGrp="1"/>
          </p:cNvSpPr>
          <p:nvPr>
            <p:ph idx="4294967295"/>
          </p:nvPr>
        </p:nvSpPr>
        <p:spPr>
          <a:xfrm>
            <a:off x="299720" y="1497965"/>
            <a:ext cx="11598275" cy="4164330"/>
          </a:xfrm>
          <a:prstGeom prst="rect">
            <a:avLst/>
          </a:prstGeom>
        </p:spPr>
        <p:txBody>
          <a:bodyPr/>
          <a:lstStyle/>
          <a:p>
            <a:pPr algn="just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Python</a:t>
            </a:r>
            <a:r>
              <a:rPr lang="zh-CN" altLang="en-US" sz="24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区分大小写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，因此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TAX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Tax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tax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是截然不同的变量名。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just" fontAlgn="auto">
              <a:lnSpc>
                <a:spcPct val="150000"/>
              </a:lnSpc>
              <a:spcBef>
                <a:spcPts val="0"/>
              </a:spcBef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不能将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Python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关键字（或称为保留词）用作变量名。例如：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if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else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while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def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or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and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not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in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is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都是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Python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关键字。（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keyword.kwlist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just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&gt;&gt;&gt; import keyword</a:t>
            </a:r>
          </a:p>
          <a:p>
            <a:pPr algn="just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&gt;&gt;&gt; print(</a:t>
            </a: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keyword.kwlist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just" fontAlgn="auto">
              <a:lnSpc>
                <a:spcPct val="150000"/>
              </a:lnSpc>
              <a:spcBef>
                <a:spcPts val="0"/>
              </a:spcBef>
            </a:pP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不建议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使用系统内置的模块名、类型名或函数名以及已导入的模块名及其成员名作变量名，这将会改变其类型和含义，可以通过dir(__builtins__)查看所有内置模块、类型和函数（常见错误：</a:t>
            </a:r>
            <a:r>
              <a:rPr lang="en-US" sz="24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TypeError</a:t>
            </a:r>
            <a:r>
              <a:rPr 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:*** object is not callable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just">
              <a:lnSpc>
                <a:spcPts val="4200"/>
              </a:lnSpc>
            </a:pP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9208220" y="189434"/>
            <a:ext cx="29848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2.2 变量和常量</a:t>
            </a:r>
          </a:p>
        </p:txBody>
      </p:sp>
    </p:spTree>
  </p:cSld>
  <p:clrMapOvr>
    <a:masterClrMapping/>
  </p:clrMapOvr>
  <p:transition spd="slow" advTm="0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1676400" y="909638"/>
            <a:ext cx="8527231" cy="57594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altLang="zh-CN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保留词</a:t>
            </a:r>
            <a:r>
              <a:rPr lang="en-US" altLang="zh-CN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部分</a:t>
            </a:r>
            <a:r>
              <a:rPr lang="en-US" altLang="zh-CN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</p:txBody>
      </p:sp>
      <p:graphicFrame>
        <p:nvGraphicFramePr>
          <p:cNvPr id="6" name="内容占位符 5"/>
          <p:cNvGraphicFramePr>
            <a:graphicFrameLocks noGrp="1"/>
          </p:cNvGraphicFramePr>
          <p:nvPr>
            <p:ph idx="4294967295"/>
          </p:nvPr>
        </p:nvGraphicFramePr>
        <p:xfrm>
          <a:off x="1459923" y="1572419"/>
          <a:ext cx="10153130" cy="466674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0306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06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06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06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3062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66678">
                <a:tc>
                  <a:txBody>
                    <a:bodyPr/>
                    <a:lstStyle/>
                    <a:p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and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91461" marR="91461"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as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91461" marR="91461"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assert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91461" marR="91461"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break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91461" marR="91461"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class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91461" marR="91461">
                    <a:solidFill>
                      <a:schemeClr val="accent3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678">
                <a:tc>
                  <a:txBody>
                    <a:bodyPr/>
                    <a:lstStyle/>
                    <a:p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continue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91461" marR="91461"/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 err="1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def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91461" marR="91461"/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del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91461" marR="91461"/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 err="1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elif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91461" marR="91461"/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else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91461" marR="9146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678">
                <a:tc>
                  <a:txBody>
                    <a:bodyPr/>
                    <a:lstStyle/>
                    <a:p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except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91461" marR="91461"/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exec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91461" marR="91461"/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False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91461" marR="91461"/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finally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91461" marR="91461"/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for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91461" marR="9146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678">
                <a:tc>
                  <a:txBody>
                    <a:bodyPr/>
                    <a:lstStyle/>
                    <a:p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from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91461" marR="91461"/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global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91461" marR="91461"/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if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91461" marR="91461"/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import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91461" marR="91461"/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in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91461" marR="91461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678">
                <a:tc>
                  <a:txBody>
                    <a:bodyPr/>
                    <a:lstStyle/>
                    <a:p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is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91461" marR="91461"/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lambda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91461" marR="91461"/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not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91461" marR="91461"/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None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91461" marR="91461"/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or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91461" marR="91461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6678">
                <a:tc>
                  <a:txBody>
                    <a:bodyPr/>
                    <a:lstStyle/>
                    <a:p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pass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91461" marR="91461"/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print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91461" marR="91461"/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raise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91461" marR="91461"/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return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91461" marR="91461"/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try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91461" marR="91461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66678">
                <a:tc>
                  <a:txBody>
                    <a:bodyPr/>
                    <a:lstStyle/>
                    <a:p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True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91461" marR="91461"/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while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91461" marR="91461"/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with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91461" marR="91461"/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</a:rPr>
                        <a:t>yield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91461" marR="91461"/>
                </a:tc>
                <a:tc>
                  <a:txBody>
                    <a:bodyPr/>
                    <a:lstStyle/>
                    <a:p>
                      <a:endParaRPr lang="zh-CN" altLang="en-US" sz="1800" b="1" dirty="0">
                        <a:solidFill>
                          <a:schemeClr val="tx1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91461" marR="91461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标题 1"/>
          <p:cNvSpPr txBox="1"/>
          <p:nvPr/>
        </p:nvSpPr>
        <p:spPr>
          <a:xfrm>
            <a:off x="9208220" y="189434"/>
            <a:ext cx="29848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2.2 变量和常量</a:t>
            </a:r>
          </a:p>
        </p:txBody>
      </p:sp>
    </p:spTree>
  </p:cSld>
  <p:clrMapOvr>
    <a:masterClrMapping/>
  </p:clrMapOvr>
  <p:transition spd="slow" advTm="0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159385" y="835025"/>
            <a:ext cx="10275639" cy="662781"/>
          </a:xfrm>
          <a:prstGeom prst="rect">
            <a:avLst/>
          </a:prstGeom>
        </p:spPr>
        <p:txBody>
          <a:bodyPr/>
          <a:lstStyle/>
          <a:p>
            <a:pPr algn="l">
              <a:defRPr/>
            </a:pP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、变量命名规则</a:t>
            </a:r>
          </a:p>
        </p:txBody>
      </p:sp>
      <p:sp>
        <p:nvSpPr>
          <p:cNvPr id="27651" name="内容占位符 2"/>
          <p:cNvSpPr>
            <a:spLocks noGrp="1"/>
          </p:cNvSpPr>
          <p:nvPr>
            <p:ph idx="4294967295"/>
          </p:nvPr>
        </p:nvSpPr>
        <p:spPr>
          <a:xfrm>
            <a:off x="299720" y="1497965"/>
            <a:ext cx="11598275" cy="2008505"/>
          </a:xfrm>
          <a:prstGeom prst="rect">
            <a:avLst/>
          </a:prstGeom>
        </p:spPr>
        <p:txBody>
          <a:bodyPr/>
          <a:lstStyle/>
          <a:p>
            <a:pPr marL="0" indent="0" algn="just">
              <a:lnSpc>
                <a:spcPts val="4200"/>
              </a:lnSpc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举例：</a:t>
            </a:r>
          </a:p>
          <a:p>
            <a:pPr marL="0" indent="0" algn="just">
              <a:lnSpc>
                <a:spcPts val="4200"/>
              </a:lnSpc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a=[1,3,4,7]   #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列表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just">
              <a:lnSpc>
                <a:spcPts val="4200"/>
              </a:lnSpc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sum(a)      #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返回结果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15</a:t>
            </a:r>
          </a:p>
          <a:p>
            <a:pPr marL="0" indent="0" algn="just">
              <a:lnSpc>
                <a:spcPts val="4200"/>
              </a:lnSpc>
              <a:buNone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just">
              <a:lnSpc>
                <a:spcPts val="4200"/>
              </a:lnSpc>
              <a:buNone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9208220" y="189434"/>
            <a:ext cx="29848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2.2 变量和常量</a:t>
            </a:r>
          </a:p>
        </p:txBody>
      </p:sp>
      <p:sp>
        <p:nvSpPr>
          <p:cNvPr id="3" name="内容占位符 2"/>
          <p:cNvSpPr>
            <a:spLocks noGrp="1"/>
          </p:cNvSpPr>
          <p:nvPr/>
        </p:nvSpPr>
        <p:spPr>
          <a:xfrm>
            <a:off x="299720" y="3506470"/>
            <a:ext cx="11598275" cy="2008505"/>
          </a:xfrm>
          <a:prstGeom prst="rect">
            <a:avLst/>
          </a:prstGeom>
        </p:spPr>
        <p:txBody>
          <a:bodyPr/>
          <a:lstStyle>
            <a:lvl1pPr marL="457200" indent="-4572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4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1235" indent="-3810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4635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4235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447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407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67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905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505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ts val="4200"/>
              </a:lnSpc>
              <a:buNone/>
            </a:pPr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sum=0    </a:t>
            </a:r>
          </a:p>
          <a:p>
            <a:pPr marL="0" indent="0" algn="just">
              <a:lnSpc>
                <a:spcPts val="4200"/>
              </a:lnSpc>
              <a:buNone/>
            </a:pPr>
            <a:endParaRPr 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just">
              <a:lnSpc>
                <a:spcPts val="4200"/>
              </a:lnSpc>
              <a:buNone/>
            </a:pPr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sum(a)</a:t>
            </a:r>
          </a:p>
          <a:p>
            <a:pPr marL="0" indent="0" algn="just">
              <a:lnSpc>
                <a:spcPts val="4200"/>
              </a:lnSpc>
              <a:buNone/>
            </a:pPr>
            <a:endParaRPr 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852545" y="1764665"/>
            <a:ext cx="7943215" cy="4022725"/>
          </a:xfrm>
          <a:prstGeom prst="rect">
            <a:avLst/>
          </a:prstGeom>
        </p:spPr>
      </p:pic>
    </p:spTree>
  </p:cSld>
  <p:clrMapOvr>
    <a:masterClrMapping/>
  </p:clrMapOvr>
  <p:transition spd="slow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1" grpId="0" build="p"/>
      <p:bldP spid="27651" grpId="1" build="p"/>
      <p:bldP spid="3" grpId="0"/>
      <p:bldP spid="3" grpId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835" y="635000"/>
            <a:ext cx="9758680" cy="214312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下面标识符哪个是合法的（ ）</a:t>
            </a: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9670" y="2456815"/>
            <a:ext cx="853821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'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 </a:t>
            </a: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9670" y="3314065"/>
            <a:ext cx="853821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_ </a:t>
            </a: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2439670" y="4171315"/>
            <a:ext cx="853821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3Q</a:t>
            </a: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2439670" y="5029200"/>
            <a:ext cx="853821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for</a:t>
            </a: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2260" y="2520950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algn="ctr"/>
            <a:r>
              <a:rPr lang="en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2260" y="337820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algn="ctr"/>
            <a:r>
              <a:rPr lang="en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2260" y="4236085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algn="ctr"/>
            <a:r>
              <a:rPr lang="en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2260" y="5093335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algn="ctr"/>
            <a:r>
              <a:rPr lang="en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1"/>
            </p:custDataLst>
          </p:nvPr>
        </p:nvSpPr>
        <p:spPr>
          <a:xfrm>
            <a:off x="9105900" y="585152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提交</a:t>
            </a:r>
          </a:p>
        </p:txBody>
      </p:sp>
      <p:grpSp>
        <p:nvGrpSpPr>
          <p:cNvPr id="17" name="组合 16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8350" cy="635000"/>
            <a:chOff x="0" y="0"/>
            <a:chExt cx="19210" cy="1000"/>
          </a:xfrm>
        </p:grpSpPr>
        <p:sp>
          <p:nvSpPr>
            <p:cNvPr id="13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210" cy="1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单选题</a:t>
              </a:r>
            </a:p>
          </p:txBody>
        </p:sp>
        <p:sp>
          <p:nvSpPr>
            <p:cNvPr id="16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2403" y="172"/>
              <a:ext cx="3600" cy="8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微软雅黑" panose="020B0503020204020204" pitchFamily="34" charset="-122"/>
                  <a:sym typeface="Microsoft Yahei" panose="020B0503020204020204" pitchFamily="3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微软雅黑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 dirty="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 descr="tmp57B9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1064895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 spd="slow" advTm="0">
    <p:wip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146703" y="981522"/>
            <a:ext cx="10520363" cy="617538"/>
          </a:xfrm>
          <a:prstGeom prst="rect">
            <a:avLst/>
          </a:prstGeom>
        </p:spPr>
        <p:txBody>
          <a:bodyPr/>
          <a:lstStyle/>
          <a:p>
            <a:pPr algn="l">
              <a:defRPr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合法和非法变量名举例：</a:t>
            </a:r>
          </a:p>
        </p:txBody>
      </p:sp>
      <p:graphicFrame>
        <p:nvGraphicFramePr>
          <p:cNvPr id="6" name="内容占位符 5"/>
          <p:cNvGraphicFramePr>
            <a:graphicFrameLocks noGrp="1"/>
          </p:cNvGraphicFramePr>
          <p:nvPr>
            <p:ph idx="4294967295"/>
            <p:custDataLst>
              <p:tags r:id="rId1"/>
            </p:custDataLst>
          </p:nvPr>
        </p:nvGraphicFramePr>
        <p:xfrm>
          <a:off x="1346835" y="1773555"/>
          <a:ext cx="10241915" cy="32247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1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/>
                        <a:t>合法变量名</a:t>
                      </a:r>
                    </a:p>
                  </a:txBody>
                  <a:tcPr marL="91461" marR="91461" marT="45744" marB="4574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/>
                        <a:t>非法变量名</a:t>
                      </a:r>
                    </a:p>
                  </a:txBody>
                  <a:tcPr marL="91461" marR="91461" marT="45744" marB="4574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lang="en-US" altLang="zh-CN" sz="2800" dirty="0"/>
                        <a:t>M</a:t>
                      </a:r>
                    </a:p>
                  </a:txBody>
                  <a:tcPr marL="91461" marR="91461" marT="45744" marB="45744"/>
                </a:tc>
                <a:tc>
                  <a:txBody>
                    <a:bodyPr/>
                    <a:lstStyle/>
                    <a:p>
                      <a:r>
                        <a:rPr lang="en-US" altLang="zh-CN" sz="2800" dirty="0"/>
                        <a:t>"m"</a:t>
                      </a:r>
                    </a:p>
                  </a:txBody>
                  <a:tcPr marL="91461" marR="91461" marT="45744" marB="4574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lang="en-US" altLang="zh-CN" sz="2800" dirty="0"/>
                        <a:t>x1</a:t>
                      </a:r>
                    </a:p>
                  </a:txBody>
                  <a:tcPr marL="91461" marR="91461" marT="45744" marB="45744"/>
                </a:tc>
                <a:tc>
                  <a:txBody>
                    <a:bodyPr/>
                    <a:lstStyle/>
                    <a:p>
                      <a:r>
                        <a:rPr lang="en-US" altLang="zh-CN" sz="2800" dirty="0"/>
                        <a:t>1x</a:t>
                      </a:r>
                    </a:p>
                  </a:txBody>
                  <a:tcPr marL="91461" marR="91461" marT="45744" marB="4574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lang="en-US" altLang="zh-CN" sz="2800" dirty="0" err="1"/>
                        <a:t>Tax_rate</a:t>
                      </a:r>
                    </a:p>
                  </a:txBody>
                  <a:tcPr marL="91461" marR="91461" marT="45744" marB="45744"/>
                </a:tc>
                <a:tc>
                  <a:txBody>
                    <a:bodyPr/>
                    <a:lstStyle/>
                    <a:p>
                      <a:r>
                        <a:rPr lang="en-US" altLang="zh-CN" sz="2800" dirty="0"/>
                        <a:t>tax rate</a:t>
                      </a:r>
                    </a:p>
                  </a:txBody>
                  <a:tcPr marL="91461" marR="91461" marT="45744" marB="4574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lang="en-US" altLang="zh-CN" sz="2800" dirty="0" err="1"/>
                        <a:t>taxRate</a:t>
                      </a:r>
                    </a:p>
                  </a:txBody>
                  <a:tcPr marL="91461" marR="91461" marT="45744" marB="45744"/>
                </a:tc>
                <a:tc>
                  <a:txBody>
                    <a:bodyPr/>
                    <a:lstStyle/>
                    <a:p>
                      <a:r>
                        <a:rPr lang="en-US" altLang="zh-CN" sz="2800" dirty="0" err="1"/>
                        <a:t>taxRate</a:t>
                      </a:r>
                      <a:r>
                        <a:rPr lang="en-US" altLang="zh-CN" sz="2800" dirty="0"/>
                        <a:t>!</a:t>
                      </a:r>
                    </a:p>
                  </a:txBody>
                  <a:tcPr marL="91461" marR="91461" marT="45744" marB="45744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3730">
                <a:tc>
                  <a:txBody>
                    <a:bodyPr/>
                    <a:lstStyle/>
                    <a:p>
                      <a:r>
                        <a:rPr lang="en-US" altLang="zh-CN" sz="2800" dirty="0"/>
                        <a:t>Else</a:t>
                      </a:r>
                    </a:p>
                  </a:txBody>
                  <a:tcPr marL="91461" marR="91461" marT="45744" marB="45744"/>
                </a:tc>
                <a:tc>
                  <a:txBody>
                    <a:bodyPr/>
                    <a:lstStyle/>
                    <a:p>
                      <a:r>
                        <a:rPr lang="en-US" altLang="zh-CN" sz="2800" dirty="0"/>
                        <a:t>else</a:t>
                      </a:r>
                    </a:p>
                  </a:txBody>
                  <a:tcPr marL="91461" marR="91461" marT="45744" marB="45744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标题 1"/>
          <p:cNvSpPr txBox="1"/>
          <p:nvPr/>
        </p:nvSpPr>
        <p:spPr>
          <a:xfrm>
            <a:off x="9208220" y="189434"/>
            <a:ext cx="29848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2.2 变量和常量</a:t>
            </a:r>
          </a:p>
        </p:txBody>
      </p:sp>
    </p:spTree>
  </p:cSld>
  <p:clrMapOvr>
    <a:masterClrMapping/>
  </p:clrMapOvr>
  <p:transition spd="slow" advTm="0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9208220" y="189434"/>
            <a:ext cx="29848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2.2 变量和常量</a:t>
            </a:r>
          </a:p>
        </p:txBody>
      </p:sp>
      <p:sp>
        <p:nvSpPr>
          <p:cNvPr id="3" name="文本占位符 21505"/>
          <p:cNvSpPr>
            <a:spLocks noGrp="1"/>
          </p:cNvSpPr>
          <p:nvPr/>
        </p:nvSpPr>
        <p:spPr>
          <a:xfrm>
            <a:off x="838200" y="1311910"/>
            <a:ext cx="11141075" cy="463994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 fontAlgn="auto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Pct val="90000"/>
              <a:buFont typeface="Wingdings" panose="05000000000000000000" pitchFamily="2" charset="2"/>
              <a:buNone/>
            </a:pPr>
            <a:r>
              <a:rPr lang="zh-CN" altLang="en-US" sz="2400">
                <a:latin typeface="Tahoma" panose="020B0604030504040204" charset="0"/>
                <a:ea typeface="微软雅黑" panose="020B0503020204020204" pitchFamily="34" charset="-122"/>
                <a:cs typeface="Tahoma" panose="020B0604030504040204" charset="0"/>
              </a:rPr>
              <a:t>变量赋值：</a:t>
            </a:r>
          </a:p>
          <a:p>
            <a:pPr defTabSz="914400" fontAlgn="auto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Pct val="90000"/>
              <a:buFont typeface="Wingdings" panose="05000000000000000000" pitchFamily="2" charset="2"/>
              <a:buNone/>
            </a:pPr>
            <a:r>
              <a:rPr lang="en-US" altLang="zh-CN" sz="1800">
                <a:latin typeface="Tahoma" panose="020B0604030504040204" charset="0"/>
                <a:ea typeface="微软雅黑" panose="020B0503020204020204" pitchFamily="34" charset="-122"/>
                <a:cs typeface="Tahoma" panose="020B0604030504040204" charset="0"/>
              </a:rPr>
              <a:t>&gt;&gt;&gt; x = 3</a:t>
            </a:r>
          </a:p>
          <a:p>
            <a:pPr defTabSz="914400" fontAlgn="auto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Pct val="90000"/>
              <a:buFont typeface="Wingdings" panose="05000000000000000000" pitchFamily="2" charset="2"/>
              <a:buNone/>
            </a:pPr>
            <a:r>
              <a:rPr lang="zh-CN" altLang="en-US" sz="2400">
                <a:latin typeface="Tahoma" panose="020B0604030504040204" charset="0"/>
                <a:ea typeface="微软雅黑" panose="020B0503020204020204" pitchFamily="34" charset="-122"/>
                <a:cs typeface="Tahoma" panose="020B0604030504040204" charset="0"/>
              </a:rPr>
              <a:t>创建了整型变量</a:t>
            </a:r>
            <a:r>
              <a:rPr lang="en-US" altLang="zh-CN" sz="2400">
                <a:latin typeface="Tahoma" panose="020B0604030504040204" charset="0"/>
                <a:ea typeface="微软雅黑" panose="020B0503020204020204" pitchFamily="34" charset="-122"/>
                <a:cs typeface="Tahoma" panose="020B0604030504040204" charset="0"/>
              </a:rPr>
              <a:t>x</a:t>
            </a:r>
            <a:r>
              <a:rPr lang="zh-CN" altLang="en-US" sz="2400">
                <a:latin typeface="Tahoma" panose="020B0604030504040204" charset="0"/>
                <a:ea typeface="微软雅黑" panose="020B0503020204020204" pitchFamily="34" charset="-122"/>
                <a:cs typeface="Tahoma" panose="020B0604030504040204" charset="0"/>
              </a:rPr>
              <a:t>，并赋值为</a:t>
            </a:r>
            <a:r>
              <a:rPr lang="en-US" altLang="zh-CN" sz="2400">
                <a:latin typeface="Tahoma" panose="020B0604030504040204" charset="0"/>
                <a:ea typeface="微软雅黑" panose="020B0503020204020204" pitchFamily="34" charset="-122"/>
                <a:cs typeface="Tahoma" panose="020B0604030504040204" charset="0"/>
              </a:rPr>
              <a:t>3</a:t>
            </a:r>
            <a:r>
              <a:rPr lang="zh-CN" altLang="en-US" sz="2400">
                <a:latin typeface="Tahoma" panose="020B0604030504040204" charset="0"/>
                <a:ea typeface="微软雅黑" panose="020B0503020204020204" pitchFamily="34" charset="-122"/>
                <a:cs typeface="Tahoma" panose="020B0604030504040204" charset="0"/>
              </a:rPr>
              <a:t>，再例如语句</a:t>
            </a:r>
          </a:p>
          <a:p>
            <a:pPr defTabSz="914400" fontAlgn="auto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Pct val="90000"/>
              <a:buFont typeface="Wingdings" panose="05000000000000000000" pitchFamily="2" charset="2"/>
              <a:buNone/>
            </a:pPr>
            <a:r>
              <a:rPr lang="en-US" altLang="zh-CN" sz="1800">
                <a:latin typeface="Tahoma" panose="020B0604030504040204" charset="0"/>
                <a:ea typeface="微软雅黑" panose="020B0503020204020204" pitchFamily="34" charset="-122"/>
                <a:cs typeface="Tahoma" panose="020B0604030504040204" charset="0"/>
              </a:rPr>
              <a:t>&gt;&gt;&gt; x = 'Hello world.'</a:t>
            </a:r>
          </a:p>
          <a:p>
            <a:pPr defTabSz="914400" fontAlgn="auto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Pct val="90000"/>
              <a:buFont typeface="Wingdings" panose="05000000000000000000" pitchFamily="2" charset="2"/>
              <a:buNone/>
            </a:pPr>
            <a:r>
              <a:rPr lang="zh-CN" altLang="en-US" sz="2400">
                <a:latin typeface="Tahoma" panose="020B0604030504040204" charset="0"/>
                <a:ea typeface="微软雅黑" panose="020B0503020204020204" pitchFamily="34" charset="-122"/>
                <a:cs typeface="Tahoma" panose="020B0604030504040204" charset="0"/>
              </a:rPr>
              <a:t>创建了字符串变量</a:t>
            </a:r>
            <a:r>
              <a:rPr lang="en-US" altLang="zh-CN" sz="2400">
                <a:latin typeface="Tahoma" panose="020B0604030504040204" charset="0"/>
                <a:ea typeface="微软雅黑" panose="020B0503020204020204" pitchFamily="34" charset="-122"/>
                <a:cs typeface="Tahoma" panose="020B0604030504040204" charset="0"/>
              </a:rPr>
              <a:t>x</a:t>
            </a:r>
            <a:r>
              <a:rPr lang="zh-CN" altLang="en-US" sz="2400">
                <a:latin typeface="Tahoma" panose="020B0604030504040204" charset="0"/>
                <a:ea typeface="微软雅黑" panose="020B0503020204020204" pitchFamily="34" charset="-122"/>
                <a:cs typeface="Tahoma" panose="020B0604030504040204" charset="0"/>
              </a:rPr>
              <a:t>，并赋值为</a:t>
            </a:r>
            <a:r>
              <a:rPr lang="en-US" altLang="zh-CN" sz="2400">
                <a:latin typeface="Tahoma" panose="020B0604030504040204" charset="0"/>
                <a:ea typeface="微软雅黑" panose="020B0503020204020204" pitchFamily="34" charset="-122"/>
                <a:cs typeface="Tahoma" panose="020B0604030504040204" charset="0"/>
              </a:rPr>
              <a:t>'Hello world.'</a:t>
            </a:r>
            <a:r>
              <a:rPr lang="zh-CN" altLang="en-US" sz="2400">
                <a:latin typeface="Tahoma" panose="020B0604030504040204" charset="0"/>
                <a:ea typeface="微软雅黑" panose="020B0503020204020204" pitchFamily="34" charset="-122"/>
                <a:cs typeface="Tahoma" panose="020B0604030504040204" charset="0"/>
              </a:rPr>
              <a:t>。</a:t>
            </a:r>
          </a:p>
        </p:txBody>
      </p:sp>
      <p:sp>
        <p:nvSpPr>
          <p:cNvPr id="5" name="线形标注 1 1"/>
          <p:cNvSpPr/>
          <p:nvPr/>
        </p:nvSpPr>
        <p:spPr>
          <a:xfrm>
            <a:off x="3456305" y="1674495"/>
            <a:ext cx="3525520" cy="555625"/>
          </a:xfrm>
          <a:prstGeom prst="borderCallout1">
            <a:avLst>
              <a:gd name="adj1" fmla="val 51258"/>
              <a:gd name="adj2" fmla="val -2022"/>
              <a:gd name="adj3" fmla="val 112500"/>
              <a:gd name="adj4" fmla="val -38333"/>
            </a:avLst>
          </a:prstGeom>
          <a:ln w="31750"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r>
              <a:rPr lang="zh-CN" altLang="en-US" strike="noStrike" noProof="1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凭空出现一个整型变量</a:t>
            </a:r>
            <a:r>
              <a:rPr lang="en-US" altLang="zh-CN" strike="noStrike" noProof="1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x</a:t>
            </a:r>
          </a:p>
        </p:txBody>
      </p:sp>
      <p:sp>
        <p:nvSpPr>
          <p:cNvPr id="4" name="线形标注 1 2"/>
          <p:cNvSpPr/>
          <p:nvPr/>
        </p:nvSpPr>
        <p:spPr>
          <a:xfrm>
            <a:off x="5175250" y="3273425"/>
            <a:ext cx="5608320" cy="555625"/>
          </a:xfrm>
          <a:prstGeom prst="borderCallout1">
            <a:avLst>
              <a:gd name="adj1" fmla="val 51258"/>
              <a:gd name="adj2" fmla="val -1468"/>
              <a:gd name="adj3" fmla="val 60068"/>
              <a:gd name="adj4" fmla="val -27181"/>
            </a:avLst>
          </a:prstGeom>
          <a:ln w="31750"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 fontAlgn="base">
              <a:buClrTx/>
              <a:buSzTx/>
              <a:buFontTx/>
            </a:pPr>
            <a:r>
              <a:rPr lang="zh-CN" altLang="en-US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新的字符串变量，再也不是原来的x了</a:t>
            </a:r>
          </a:p>
        </p:txBody>
      </p:sp>
    </p:spTree>
  </p:cSld>
  <p:clrMapOvr>
    <a:masterClrMapping/>
  </p:clrMapOvr>
  <p:transition spd="slow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4" grpId="0" animBg="1"/>
      <p:bldP spid="4" grpId="1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9208220" y="189434"/>
            <a:ext cx="29848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2.2 变量和常量</a:t>
            </a:r>
          </a:p>
        </p:txBody>
      </p:sp>
      <p:sp>
        <p:nvSpPr>
          <p:cNvPr id="4" name="Content Placeholder 2"/>
          <p:cNvSpPr>
            <a:spLocks noGrp="1"/>
          </p:cNvSpPr>
          <p:nvPr/>
        </p:nvSpPr>
        <p:spPr>
          <a:xfrm>
            <a:off x="841375" y="1271905"/>
            <a:ext cx="10515600" cy="26892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150000"/>
              </a:lnSpc>
            </a:pP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赋值语句的执行过程是：首先把等号右侧表达式的值计算出来，然后在内存中寻找一个位置把值存放进去，最后创建变量并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指向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这个内存地址。</a:t>
            </a:r>
          </a:p>
          <a:p>
            <a:pPr marL="0" indent="0" fontAlgn="auto">
              <a:lnSpc>
                <a:spcPct val="150000"/>
              </a:lnSpc>
              <a:buNone/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&gt;&gt;&gt; x = 3</a:t>
            </a:r>
          </a:p>
          <a:p>
            <a:pPr marL="0" indent="0" fontAlgn="auto">
              <a:lnSpc>
                <a:spcPct val="150000"/>
              </a:lnSpc>
              <a:buNone/>
            </a:pP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fontAlgn="auto">
              <a:lnSpc>
                <a:spcPct val="150000"/>
              </a:lnSpc>
            </a:pPr>
            <a:endParaRPr lang="en-US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28676" name="图片 82"/>
          <p:cNvGraphicFramePr>
            <a:graphicFrameLocks noChangeAspect="1"/>
          </p:cNvGraphicFramePr>
          <p:nvPr/>
        </p:nvGraphicFramePr>
        <p:xfrm>
          <a:off x="5570538" y="2454275"/>
          <a:ext cx="3740150" cy="1506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546350" imgH="751840" progId="Visio.Drawing.11">
                  <p:embed/>
                </p:oleObj>
              </mc:Choice>
              <mc:Fallback>
                <p:oleObj r:id="rId2" imgW="2546350" imgH="751840" progId="Visio.Drawing.11">
                  <p:embed/>
                  <p:pic>
                    <p:nvPicPr>
                      <p:cNvPr id="0" name="Picture 3077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570538" y="2454275"/>
                        <a:ext cx="3740150" cy="15065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841375" y="4104640"/>
            <a:ext cx="1064641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28600" indent="-228600" algn="l" defTabSz="914400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</a:pPr>
            <a:r>
              <a:rPr lang="en-US" altLang="zh-CN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Python中的变量并不直接存储值，而是存储了值的内存地址或者引用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，这也是变量类型随时可以改变的原因。</a:t>
            </a:r>
            <a:endParaRPr lang="zh-CN" altLang="en-US"/>
          </a:p>
        </p:txBody>
      </p:sp>
    </p:spTree>
  </p:cSld>
  <p:clrMapOvr>
    <a:masterClrMapping/>
  </p:clrMapOvr>
  <p:transition spd="slow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9208220" y="189434"/>
            <a:ext cx="29848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2.2 变量和常量</a:t>
            </a:r>
          </a:p>
        </p:txBody>
      </p:sp>
      <p:sp>
        <p:nvSpPr>
          <p:cNvPr id="28674" name="文本占位符 26626"/>
          <p:cNvSpPr>
            <a:spLocks noGrp="1"/>
          </p:cNvSpPr>
          <p:nvPr/>
        </p:nvSpPr>
        <p:spPr>
          <a:xfrm>
            <a:off x="699770" y="1016000"/>
            <a:ext cx="10515600" cy="5459730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  <a:spcAft>
                <a:spcPts val="0"/>
              </a:spcAft>
              <a:buFont typeface="Wingdings" panose="05000000000000000000" charset="0"/>
              <a:buChar char="§"/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Python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中，允许多个变量指向同一个值，例如：</a:t>
            </a:r>
          </a:p>
          <a:p>
            <a:pPr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&gt;&gt;&gt; x = 3</a:t>
            </a:r>
          </a:p>
          <a:p>
            <a:pPr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&gt;&gt;&gt; id(x)</a:t>
            </a:r>
          </a:p>
          <a:p>
            <a:pPr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1786684560</a:t>
            </a:r>
          </a:p>
          <a:p>
            <a:pPr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&gt;&gt;&gt; y = x</a:t>
            </a:r>
          </a:p>
          <a:p>
            <a:pPr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&gt;&gt;&gt; id(y)</a:t>
            </a:r>
          </a:p>
          <a:p>
            <a:pPr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1786684560</a:t>
            </a:r>
          </a:p>
          <a:p>
            <a:pPr>
              <a:lnSpc>
                <a:spcPct val="130000"/>
              </a:lnSpc>
              <a:spcAft>
                <a:spcPts val="0"/>
              </a:spcAft>
              <a:buNone/>
            </a:pPr>
            <a:endParaRPr lang="en-US" altLang="zh-CN" sz="1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Font typeface="Wingdings" panose="05000000000000000000" charset="0"/>
              <a:buChar char="§"/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接着上面的代码再继续执行下面的代码：</a:t>
            </a:r>
          </a:p>
          <a:p>
            <a:pPr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&gt;&gt;&gt; x += 6</a:t>
            </a:r>
          </a:p>
          <a:p>
            <a:pPr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&gt;&gt;&gt; id(x)</a:t>
            </a:r>
          </a:p>
          <a:p>
            <a:pPr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1786684752</a:t>
            </a:r>
          </a:p>
          <a:p>
            <a:pPr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&gt;&gt;&gt; y</a:t>
            </a:r>
          </a:p>
          <a:p>
            <a:pPr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</a:p>
          <a:p>
            <a:pPr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&gt;&gt;&gt; id(y)</a:t>
            </a:r>
          </a:p>
          <a:p>
            <a:pPr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1786684560</a:t>
            </a:r>
          </a:p>
        </p:txBody>
      </p:sp>
      <p:graphicFrame>
        <p:nvGraphicFramePr>
          <p:cNvPr id="28675" name="图片 83"/>
          <p:cNvGraphicFramePr>
            <a:graphicFrameLocks noChangeAspect="1"/>
          </p:cNvGraphicFramePr>
          <p:nvPr/>
        </p:nvGraphicFramePr>
        <p:xfrm>
          <a:off x="7192963" y="3863023"/>
          <a:ext cx="3738562" cy="2282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546350" imgH="1555115" progId="Visio.Drawing.11">
                  <p:embed/>
                </p:oleObj>
              </mc:Choice>
              <mc:Fallback>
                <p:oleObj r:id="rId2" imgW="2546350" imgH="1555115" progId="Visio.Drawing.11">
                  <p:embed/>
                  <p:pic>
                    <p:nvPicPr>
                      <p:cNvPr id="0" name="Picture 3076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192963" y="3863023"/>
                        <a:ext cx="3738562" cy="2282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Line Callout 1 4"/>
          <p:cNvSpPr/>
          <p:nvPr/>
        </p:nvSpPr>
        <p:spPr>
          <a:xfrm>
            <a:off x="4558665" y="1760855"/>
            <a:ext cx="5644515" cy="489585"/>
          </a:xfrm>
          <a:prstGeom prst="borderCallout1">
            <a:avLst/>
          </a:prstGeom>
          <a:ln w="31750"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 fontAlgn="base">
              <a:buClrTx/>
              <a:buSzTx/>
              <a:buFontTx/>
            </a:pPr>
            <a:r>
              <a:rPr lang="zh-CN" altLang="en-US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id()函数用来查看对象的内存地址</a:t>
            </a:r>
          </a:p>
        </p:txBody>
      </p:sp>
    </p:spTree>
  </p:cSld>
  <p:clrMapOvr>
    <a:masterClrMapping/>
  </p:clrMapOvr>
  <p:transition spd="slow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8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698575" y="1096516"/>
            <a:ext cx="10585450" cy="573088"/>
          </a:xfrm>
          <a:prstGeom prst="rect">
            <a:avLst/>
          </a:prstGeom>
        </p:spPr>
        <p:txBody>
          <a:bodyPr/>
          <a:lstStyle/>
          <a:p>
            <a:pPr algn="l">
              <a:defRPr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例：测试两个</a:t>
            </a:r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是否为同一对象</a:t>
            </a:r>
          </a:p>
        </p:txBody>
      </p:sp>
      <p:sp>
        <p:nvSpPr>
          <p:cNvPr id="8" name="标题 1"/>
          <p:cNvSpPr txBox="1"/>
          <p:nvPr/>
        </p:nvSpPr>
        <p:spPr>
          <a:xfrm>
            <a:off x="9208220" y="189434"/>
            <a:ext cx="29848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2.2 变量和常量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2610" y="2013585"/>
            <a:ext cx="4004945" cy="3331210"/>
          </a:xfrm>
          <a:prstGeom prst="rect">
            <a:avLst/>
          </a:prstGeom>
        </p:spPr>
      </p:pic>
    </p:spTree>
  </p:cSld>
  <p:clrMapOvr>
    <a:masterClrMapping/>
  </p:clrMapOvr>
  <p:transition spd="slow" advTm="0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 txBox="1"/>
          <p:nvPr/>
        </p:nvSpPr>
        <p:spPr>
          <a:xfrm>
            <a:off x="9208220" y="189434"/>
            <a:ext cx="29848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2.2 变量和常量</a:t>
            </a:r>
          </a:p>
        </p:txBody>
      </p:sp>
      <p:sp>
        <p:nvSpPr>
          <p:cNvPr id="3" name="Content Placeholder 2"/>
          <p:cNvSpPr>
            <a:spLocks noGrp="1"/>
          </p:cNvSpPr>
          <p:nvPr/>
        </p:nvSpPr>
        <p:spPr>
          <a:xfrm>
            <a:off x="856615" y="1019810"/>
            <a:ext cx="10978515" cy="18567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charset="0"/>
              <a:buChar char="§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Python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采用的是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基于值的内存管理方式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，如果为不同变量赋值为相同值（仅适用于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-5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至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256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的整数和短字符串），这个值在内存中只有一份，多个变量指向同一块内存地址。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80000"/>
              </a:lnSpc>
              <a:buNone/>
            </a:pPr>
            <a:endParaRPr 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047740" y="2592705"/>
            <a:ext cx="5787390" cy="200977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Python中的变量并不直接存储值，而是存储了值的内存地址或者引用，假如为不同变量赋值为相同值，这个值在内存中只有一份，多个变量指向同一块内存地址。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226820" y="2785745"/>
            <a:ext cx="4140200" cy="33331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28600" indent="-228600" algn="l" defTabSz="914400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&gt;&gt;&gt; x = 3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28600" indent="-228600" algn="l" defTabSz="914400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&gt;&gt;&gt; id(x)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28600" indent="-228600" algn="l" defTabSz="914400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</a:pPr>
            <a:r>
              <a:rPr lang="en-US" altLang="zh-CN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10417624</a:t>
            </a:r>
            <a:endParaRPr lang="en-US" altLang="zh-CN" sz="200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28600" indent="-228600" algn="l" defTabSz="914400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&gt;&gt;&gt; y = 3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28600" indent="-228600" algn="l" defTabSz="914400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&gt;&gt;&gt; id(y)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28600" indent="-228600" algn="l" defTabSz="914400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</a:pPr>
            <a:r>
              <a:rPr lang="en-US" altLang="zh-CN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10417624</a:t>
            </a:r>
            <a:endParaRPr lang="en-US" altLang="zh-CN" sz="200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28600" indent="-228600" algn="l" defTabSz="914400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&gt;&gt;&gt; x = [1, 1, 1, 1]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28600" indent="-228600" algn="l" defTabSz="914400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&gt;&gt;&gt; id(x[0]) == id(x[1])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28600" indent="-228600" algn="l" defTabSz="914400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</a:pPr>
            <a:r>
              <a:rPr lang="en-US" altLang="zh-CN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True</a:t>
            </a:r>
          </a:p>
        </p:txBody>
      </p:sp>
    </p:spTree>
  </p:cSld>
  <p:clrMapOvr>
    <a:masterClrMapping/>
  </p:clrMapOvr>
  <p:transition spd="slow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4" grpId="0"/>
      <p:bldP spid="4" grpId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609917" y="983571"/>
            <a:ext cx="10457810" cy="502007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altLang="zh-CN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、变量如何引用值</a:t>
            </a:r>
          </a:p>
        </p:txBody>
      </p:sp>
      <p:sp>
        <p:nvSpPr>
          <p:cNvPr id="35843" name="内容占位符 2"/>
          <p:cNvSpPr>
            <a:spLocks noGrp="1"/>
          </p:cNvSpPr>
          <p:nvPr>
            <p:ph idx="4294967295"/>
          </p:nvPr>
        </p:nvSpPr>
        <p:spPr>
          <a:xfrm>
            <a:off x="842591" y="2061642"/>
            <a:ext cx="11021615" cy="1344785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latin typeface="Tahoma" panose="020B0604030504040204" charset="0"/>
                <a:ea typeface="微软雅黑" panose="020B0503020204020204" pitchFamily="34" charset="-122"/>
                <a:cs typeface="Tahoma" panose="020B0604030504040204" charset="0"/>
              </a:rPr>
              <a:t>对于</a:t>
            </a:r>
            <a:r>
              <a:rPr lang="en-US" altLang="zh-CN" sz="2800" dirty="0">
                <a:latin typeface="Tahoma" panose="020B0604030504040204" charset="0"/>
                <a:ea typeface="微软雅黑" panose="020B0503020204020204" pitchFamily="34" charset="-122"/>
                <a:cs typeface="Tahoma" panose="020B0604030504040204" charset="0"/>
              </a:rPr>
              <a:t>x=expression</a:t>
            </a:r>
            <a:r>
              <a:rPr lang="zh-CN" altLang="en-US" sz="2800" dirty="0">
                <a:latin typeface="Tahoma" panose="020B0604030504040204" charset="0"/>
                <a:ea typeface="微软雅黑" panose="020B0503020204020204" pitchFamily="34" charset="-122"/>
                <a:cs typeface="Tahoma" panose="020B0604030504040204" charset="0"/>
              </a:rPr>
              <a:t>这样的赋值语句，可以这样理解：让</a:t>
            </a:r>
            <a:r>
              <a:rPr lang="en-US" altLang="zh-CN" sz="2800" dirty="0">
                <a:latin typeface="Tahoma" panose="020B0604030504040204" charset="0"/>
                <a:ea typeface="微软雅黑" panose="020B0503020204020204" pitchFamily="34" charset="-122"/>
                <a:cs typeface="Tahoma" panose="020B0604030504040204" charset="0"/>
              </a:rPr>
              <a:t>x</a:t>
            </a:r>
            <a:r>
              <a:rPr lang="zh-CN" altLang="en-US" sz="2800" dirty="0">
                <a:latin typeface="Tahoma" panose="020B0604030504040204" charset="0"/>
                <a:ea typeface="微软雅黑" panose="020B0503020204020204" pitchFamily="34" charset="-122"/>
                <a:cs typeface="Tahoma" panose="020B0604030504040204" charset="0"/>
              </a:rPr>
              <a:t>指向表达式的值。</a:t>
            </a:r>
            <a:endParaRPr lang="en-US" altLang="zh-CN" sz="2800" dirty="0">
              <a:latin typeface="Tahoma" panose="020B0604030504040204" charset="0"/>
              <a:ea typeface="微软雅黑" panose="020B0503020204020204" pitchFamily="34" charset="-122"/>
              <a:cs typeface="Tahoma" panose="020B0604030504040204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800" dirty="0">
                <a:latin typeface="Tahoma" panose="020B0604030504040204" charset="0"/>
                <a:ea typeface="微软雅黑" panose="020B0503020204020204" pitchFamily="34" charset="-122"/>
                <a:cs typeface="Tahoma" panose="020B0604030504040204" charset="0"/>
              </a:rPr>
              <a:t>      注意：</a:t>
            </a:r>
            <a:r>
              <a:rPr lang="en-US" altLang="zh-CN" sz="2800" dirty="0">
                <a:latin typeface="Tahoma" panose="020B0604030504040204" charset="0"/>
                <a:ea typeface="微软雅黑" panose="020B0503020204020204" pitchFamily="34" charset="-122"/>
                <a:cs typeface="Tahoma" panose="020B0604030504040204" charset="0"/>
                <a:sym typeface="+mn-ea"/>
              </a:rPr>
              <a:t>expression</a:t>
            </a:r>
            <a:r>
              <a:rPr lang="zh-CN" altLang="en-US" sz="2800" dirty="0">
                <a:latin typeface="Tahoma" panose="020B0604030504040204" charset="0"/>
                <a:ea typeface="微软雅黑" panose="020B0503020204020204" pitchFamily="34" charset="-122"/>
                <a:cs typeface="Tahoma" panose="020B0604030504040204" charset="0"/>
              </a:rPr>
              <a:t>可以是任何结果为值的</a:t>
            </a:r>
            <a:r>
              <a:rPr lang="en-US" altLang="zh-CN" sz="2800" dirty="0">
                <a:latin typeface="Tahoma" panose="020B0604030504040204" charset="0"/>
                <a:ea typeface="微软雅黑" panose="020B0503020204020204" pitchFamily="34" charset="-122"/>
                <a:cs typeface="Tahoma" panose="020B0604030504040204" charset="0"/>
              </a:rPr>
              <a:t>Python</a:t>
            </a:r>
            <a:r>
              <a:rPr lang="zh-CN" altLang="en-US" sz="2800" dirty="0">
                <a:latin typeface="Tahoma" panose="020B0604030504040204" charset="0"/>
                <a:ea typeface="微软雅黑" panose="020B0503020204020204" pitchFamily="34" charset="-122"/>
                <a:cs typeface="Tahoma" panose="020B0604030504040204" charset="0"/>
              </a:rPr>
              <a:t>表达式。</a:t>
            </a:r>
          </a:p>
        </p:txBody>
      </p:sp>
      <p:sp>
        <p:nvSpPr>
          <p:cNvPr id="6" name="标题 1"/>
          <p:cNvSpPr txBox="1"/>
          <p:nvPr/>
        </p:nvSpPr>
        <p:spPr>
          <a:xfrm>
            <a:off x="9208220" y="189434"/>
            <a:ext cx="29848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2.2 变量和常量</a:t>
            </a:r>
          </a:p>
        </p:txBody>
      </p:sp>
    </p:spTree>
  </p:cSld>
  <p:clrMapOvr>
    <a:masterClrMapping/>
  </p:clrMapOvr>
  <p:transition spd="slow" advTm="0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1130623" y="940812"/>
            <a:ext cx="7899375" cy="592476"/>
          </a:xfrm>
          <a:prstGeom prst="rect">
            <a:avLst/>
          </a:prstGeom>
        </p:spPr>
        <p:txBody>
          <a:bodyPr/>
          <a:lstStyle/>
          <a:p>
            <a:pPr algn="l">
              <a:defRPr/>
            </a:pPr>
            <a:r>
              <a:rPr lang="zh-CN" altLang="en-US" sz="3200" b="1" dirty="0"/>
              <a:t>如执行下列赋值后的内存状况：</a:t>
            </a:r>
          </a:p>
        </p:txBody>
      </p:sp>
      <p:sp>
        <p:nvSpPr>
          <p:cNvPr id="36867" name="内容占位符 5"/>
          <p:cNvSpPr>
            <a:spLocks noGrp="1"/>
          </p:cNvSpPr>
          <p:nvPr>
            <p:ph sz="half" idx="4294967295"/>
          </p:nvPr>
        </p:nvSpPr>
        <p:spPr>
          <a:xfrm>
            <a:off x="1778695" y="1701602"/>
            <a:ext cx="5387975" cy="4457700"/>
          </a:xfrm>
          <a:prstGeom prst="rect">
            <a:avLst/>
          </a:prstGeom>
        </p:spPr>
        <p:txBody>
          <a:bodyPr/>
          <a:lstStyle/>
          <a:p>
            <a:r>
              <a:rPr lang="en-US" altLang="zh-CN" sz="2800" dirty="0"/>
              <a:t>rate=0.04</a:t>
            </a:r>
          </a:p>
          <a:p>
            <a:endParaRPr lang="en-US" altLang="zh-CN" sz="2800" dirty="0"/>
          </a:p>
          <a:p>
            <a:endParaRPr lang="en-US" altLang="zh-CN" sz="2800" dirty="0"/>
          </a:p>
          <a:p>
            <a:r>
              <a:rPr lang="en-US" altLang="zh-CN" sz="2800" dirty="0"/>
              <a:t>rate_2008=0.06</a:t>
            </a:r>
          </a:p>
          <a:p>
            <a:endParaRPr lang="en-US" altLang="zh-CN" sz="2800" dirty="0"/>
          </a:p>
          <a:p>
            <a:endParaRPr lang="en-US" altLang="zh-CN" sz="2800" dirty="0"/>
          </a:p>
          <a:p>
            <a:r>
              <a:rPr lang="en-US" altLang="zh-CN" sz="2800" dirty="0"/>
              <a:t>rate=rate_2008</a:t>
            </a:r>
            <a:endParaRPr lang="zh-CN" altLang="en-US" sz="2800" dirty="0"/>
          </a:p>
        </p:txBody>
      </p:sp>
      <p:pic>
        <p:nvPicPr>
          <p:cNvPr id="36871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9622" y="1629153"/>
            <a:ext cx="3299589" cy="3941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9" name="直接箭头连接符 8"/>
          <p:cNvCxnSpPr/>
          <p:nvPr/>
        </p:nvCxnSpPr>
        <p:spPr>
          <a:xfrm>
            <a:off x="4803475" y="1916557"/>
            <a:ext cx="1367154" cy="0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/>
          <p:nvPr/>
        </p:nvCxnSpPr>
        <p:spPr>
          <a:xfrm>
            <a:off x="5486259" y="3429794"/>
            <a:ext cx="684371" cy="0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/>
          <p:nvPr/>
        </p:nvCxnSpPr>
        <p:spPr>
          <a:xfrm>
            <a:off x="5486259" y="5014486"/>
            <a:ext cx="684371" cy="0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875" name="TextBox 15"/>
          <p:cNvSpPr txBox="1">
            <a:spLocks noChangeArrowheads="1"/>
          </p:cNvSpPr>
          <p:nvPr/>
        </p:nvSpPr>
        <p:spPr bwMode="auto">
          <a:xfrm>
            <a:off x="2353396" y="5662336"/>
            <a:ext cx="3817233" cy="338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7030A0"/>
                </a:solidFill>
              </a:rPr>
              <a:t>Python</a:t>
            </a:r>
            <a:r>
              <a:rPr lang="zh-CN" altLang="en-US" sz="1600" b="1" dirty="0">
                <a:solidFill>
                  <a:srgbClr val="7030A0"/>
                </a:solidFill>
              </a:rPr>
              <a:t>自动将其删除，称为垃圾收集</a:t>
            </a:r>
          </a:p>
        </p:txBody>
      </p:sp>
      <p:cxnSp>
        <p:nvCxnSpPr>
          <p:cNvPr id="19" name="直接箭头连接符 18"/>
          <p:cNvCxnSpPr/>
          <p:nvPr/>
        </p:nvCxnSpPr>
        <p:spPr>
          <a:xfrm flipV="1">
            <a:off x="6027721" y="5570239"/>
            <a:ext cx="863800" cy="261999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椭圆 21"/>
          <p:cNvSpPr/>
          <p:nvPr/>
        </p:nvSpPr>
        <p:spPr>
          <a:xfrm>
            <a:off x="2353396" y="5570240"/>
            <a:ext cx="3817233" cy="523996"/>
          </a:xfrm>
          <a:prstGeom prst="ellipse">
            <a:avLst/>
          </a:prstGeom>
          <a:noFill/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9208220" y="189434"/>
            <a:ext cx="29848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2.2 变量和常量</a:t>
            </a:r>
          </a:p>
        </p:txBody>
      </p:sp>
    </p:spTree>
  </p:cSld>
  <p:clrMapOvr>
    <a:masterClrMapping/>
  </p:clrMapOvr>
  <p:transition spd="slow" advTm="0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609917" y="983571"/>
            <a:ext cx="10457810" cy="502007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altLang="zh-CN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、变量如何引用值</a:t>
            </a:r>
          </a:p>
        </p:txBody>
      </p:sp>
      <p:sp>
        <p:nvSpPr>
          <p:cNvPr id="6" name="标题 1"/>
          <p:cNvSpPr txBox="1"/>
          <p:nvPr/>
        </p:nvSpPr>
        <p:spPr>
          <a:xfrm>
            <a:off x="9208220" y="189434"/>
            <a:ext cx="29848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2.2 变量和常量</a:t>
            </a:r>
          </a:p>
        </p:txBody>
      </p:sp>
      <p:sp>
        <p:nvSpPr>
          <p:cNvPr id="3" name="Content Placeholder 2"/>
          <p:cNvSpPr>
            <a:spLocks noGrp="1"/>
          </p:cNvSpPr>
          <p:nvPr/>
        </p:nvSpPr>
        <p:spPr>
          <a:xfrm>
            <a:off x="841375" y="1595755"/>
            <a:ext cx="10515600" cy="496633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 fontAlgn="auto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SzPct val="90000"/>
              <a:buFont typeface="Wingdings" panose="05000000000000000000" charset="0"/>
              <a:buChar char="v"/>
            </a:pPr>
            <a:r>
              <a:rPr lang="en-US" altLang="zh-CN" sz="2400" b="1" dirty="0">
                <a:latin typeface="宋体" panose="02010600030101010101" pitchFamily="2" charset="-122"/>
                <a:sym typeface="+mn-ea"/>
              </a:rPr>
              <a:t>Python</a:t>
            </a:r>
            <a:r>
              <a:rPr lang="zh-CN" altLang="en-US" sz="2400" b="1" dirty="0">
                <a:latin typeface="宋体" panose="02010600030101010101" pitchFamily="2" charset="-122"/>
                <a:sym typeface="+mn-ea"/>
              </a:rPr>
              <a:t>解释器会根据赋值或运算来自动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sym typeface="+mn-ea"/>
              </a:rPr>
              <a:t>推断</a:t>
            </a:r>
            <a:r>
              <a:rPr lang="zh-CN" altLang="en-US" sz="2400" b="1" dirty="0">
                <a:latin typeface="宋体" panose="02010600030101010101" pitchFamily="2" charset="-122"/>
                <a:sym typeface="+mn-ea"/>
              </a:rPr>
              <a:t>变量类型。</a:t>
            </a:r>
            <a:r>
              <a:rPr lang="en-US" altLang="zh-CN" sz="2400" b="1" dirty="0">
                <a:latin typeface="宋体" panose="02010600030101010101" pitchFamily="2" charset="-122"/>
                <a:sym typeface="+mn-ea"/>
              </a:rPr>
              <a:t>Python</a:t>
            </a:r>
            <a:r>
              <a:rPr lang="zh-CN" altLang="en-US" sz="2400" b="1" dirty="0">
                <a:latin typeface="宋体" panose="02010600030101010101" pitchFamily="2" charset="-122"/>
                <a:sym typeface="+mn-ea"/>
              </a:rPr>
              <a:t>还是一种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sym typeface="+mn-ea"/>
              </a:rPr>
              <a:t>动态类型语言</a:t>
            </a:r>
            <a:r>
              <a:rPr lang="zh-CN" altLang="en-US" sz="2400" b="1" dirty="0">
                <a:latin typeface="宋体" panose="02010600030101010101" pitchFamily="2" charset="-122"/>
                <a:sym typeface="+mn-ea"/>
              </a:rPr>
              <a:t>，变量的类型也是可以随时变化的。</a:t>
            </a:r>
            <a:endParaRPr lang="zh-CN" altLang="en-US" sz="2400" b="1" dirty="0">
              <a:latin typeface="宋体" panose="02010600030101010101" pitchFamily="2" charset="-122"/>
            </a:endParaRPr>
          </a:p>
          <a:p>
            <a:pPr defTabSz="914400" fontAlgn="auto">
              <a:lnSpc>
                <a:spcPct val="100000"/>
              </a:lnSpc>
              <a:spcBef>
                <a:spcPts val="0"/>
              </a:spcBef>
              <a:buSzPct val="90000"/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Consolas" panose="020B0609020204030204" charset="0"/>
                <a:sym typeface="+mn-ea"/>
              </a:rPr>
              <a:t>&gt;&gt;&gt; x = 3</a:t>
            </a:r>
            <a:endParaRPr lang="en-US" altLang="zh-CN" sz="2000" b="1" dirty="0">
              <a:latin typeface="Consolas" panose="020B0609020204030204" charset="0"/>
            </a:endParaRPr>
          </a:p>
          <a:p>
            <a:pPr defTabSz="914400" fontAlgn="auto">
              <a:lnSpc>
                <a:spcPct val="100000"/>
              </a:lnSpc>
              <a:spcBef>
                <a:spcPts val="0"/>
              </a:spcBef>
              <a:buSzPct val="90000"/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Consolas" panose="020B0609020204030204" charset="0"/>
                <a:sym typeface="+mn-ea"/>
              </a:rPr>
              <a:t>&gt;&gt;&gt; print(type(x))</a:t>
            </a:r>
            <a:endParaRPr lang="en-US" altLang="zh-CN" sz="2000" b="1" dirty="0">
              <a:latin typeface="Consolas" panose="020B0609020204030204" charset="0"/>
            </a:endParaRPr>
          </a:p>
          <a:p>
            <a:pPr defTabSz="914400" fontAlgn="auto">
              <a:lnSpc>
                <a:spcPct val="100000"/>
              </a:lnSpc>
              <a:spcBef>
                <a:spcPts val="0"/>
              </a:spcBef>
              <a:buSzPct val="90000"/>
              <a:buFont typeface="Wingdings" panose="05000000000000000000" pitchFamily="2" charset="2"/>
              <a:buNone/>
            </a:pPr>
            <a:r>
              <a:rPr lang="en-US" altLang="zh-CN" sz="2000" b="1" dirty="0">
                <a:solidFill>
                  <a:srgbClr val="FF0000"/>
                </a:solidFill>
                <a:latin typeface="Consolas" panose="020B0609020204030204" charset="0"/>
                <a:sym typeface="+mn-ea"/>
              </a:rPr>
              <a:t>&lt;class 'int'&gt;</a:t>
            </a:r>
            <a:endParaRPr lang="en-US" altLang="zh-CN" sz="2000" b="1" dirty="0">
              <a:solidFill>
                <a:srgbClr val="FF0000"/>
              </a:solidFill>
              <a:latin typeface="Consolas" panose="020B0609020204030204" charset="0"/>
            </a:endParaRPr>
          </a:p>
          <a:p>
            <a:pPr defTabSz="914400" fontAlgn="auto">
              <a:lnSpc>
                <a:spcPct val="100000"/>
              </a:lnSpc>
              <a:spcBef>
                <a:spcPts val="0"/>
              </a:spcBef>
              <a:buSzPct val="90000"/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Consolas" panose="020B0609020204030204" charset="0"/>
                <a:sym typeface="+mn-ea"/>
              </a:rPr>
              <a:t>&gt;&gt;&gt; x = 'Hello world.'</a:t>
            </a:r>
            <a:endParaRPr lang="en-US" altLang="zh-CN" sz="2000" b="1" dirty="0">
              <a:latin typeface="Consolas" panose="020B0609020204030204" charset="0"/>
            </a:endParaRPr>
          </a:p>
          <a:p>
            <a:pPr defTabSz="914400" fontAlgn="auto">
              <a:lnSpc>
                <a:spcPct val="100000"/>
              </a:lnSpc>
              <a:spcBef>
                <a:spcPts val="0"/>
              </a:spcBef>
              <a:buSzPct val="90000"/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Consolas" panose="020B0609020204030204" charset="0"/>
                <a:sym typeface="+mn-ea"/>
              </a:rPr>
              <a:t>&gt;&gt;&gt; print(type(x))                 #</a:t>
            </a:r>
            <a:r>
              <a:rPr lang="zh-CN" altLang="en-US" sz="2000" b="1" dirty="0">
                <a:latin typeface="Consolas" panose="020B0609020204030204" charset="0"/>
                <a:sym typeface="+mn-ea"/>
              </a:rPr>
              <a:t>查看变量类型</a:t>
            </a:r>
            <a:endParaRPr lang="zh-CN" altLang="en-US" sz="2000" b="1" dirty="0">
              <a:latin typeface="Consolas" panose="020B0609020204030204" charset="0"/>
            </a:endParaRPr>
          </a:p>
          <a:p>
            <a:pPr defTabSz="914400" fontAlgn="auto">
              <a:lnSpc>
                <a:spcPct val="100000"/>
              </a:lnSpc>
              <a:spcBef>
                <a:spcPts val="0"/>
              </a:spcBef>
              <a:buSzPct val="90000"/>
              <a:buFont typeface="Wingdings" panose="05000000000000000000" pitchFamily="2" charset="2"/>
              <a:buNone/>
            </a:pPr>
            <a:r>
              <a:rPr lang="en-US" altLang="zh-CN" sz="2000" b="1" dirty="0">
                <a:solidFill>
                  <a:srgbClr val="FF0000"/>
                </a:solidFill>
                <a:latin typeface="Consolas" panose="020B0609020204030204" charset="0"/>
                <a:sym typeface="+mn-ea"/>
              </a:rPr>
              <a:t>&lt;class 'str'&gt;</a:t>
            </a:r>
            <a:endParaRPr lang="en-US" altLang="zh-CN" sz="2000" b="1" dirty="0">
              <a:solidFill>
                <a:srgbClr val="FF0000"/>
              </a:solidFill>
              <a:latin typeface="Consolas" panose="020B0609020204030204" charset="0"/>
            </a:endParaRPr>
          </a:p>
          <a:p>
            <a:pPr defTabSz="914400" fontAlgn="auto">
              <a:lnSpc>
                <a:spcPct val="100000"/>
              </a:lnSpc>
              <a:spcBef>
                <a:spcPts val="0"/>
              </a:spcBef>
              <a:buSzPct val="90000"/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Consolas" panose="020B0609020204030204" charset="0"/>
                <a:sym typeface="+mn-ea"/>
              </a:rPr>
              <a:t>&gt;&gt;&gt; x = [1,2,3]</a:t>
            </a:r>
            <a:endParaRPr lang="en-US" altLang="zh-CN" sz="2000" b="1" dirty="0">
              <a:latin typeface="Consolas" panose="020B0609020204030204" charset="0"/>
            </a:endParaRPr>
          </a:p>
          <a:p>
            <a:pPr defTabSz="914400" fontAlgn="auto">
              <a:lnSpc>
                <a:spcPct val="100000"/>
              </a:lnSpc>
              <a:spcBef>
                <a:spcPts val="0"/>
              </a:spcBef>
              <a:buSzPct val="90000"/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Consolas" panose="020B0609020204030204" charset="0"/>
                <a:sym typeface="+mn-ea"/>
              </a:rPr>
              <a:t>&gt;&gt;&gt; print(type(x))</a:t>
            </a:r>
            <a:endParaRPr lang="en-US" altLang="zh-CN" sz="2000" b="1" dirty="0">
              <a:latin typeface="Consolas" panose="020B0609020204030204" charset="0"/>
            </a:endParaRPr>
          </a:p>
          <a:p>
            <a:pPr defTabSz="914400" fontAlgn="auto">
              <a:lnSpc>
                <a:spcPct val="100000"/>
              </a:lnSpc>
              <a:spcBef>
                <a:spcPts val="0"/>
              </a:spcBef>
              <a:buSzPct val="90000"/>
              <a:buFont typeface="Wingdings" panose="05000000000000000000" pitchFamily="2" charset="2"/>
              <a:buNone/>
            </a:pPr>
            <a:r>
              <a:rPr lang="en-US" altLang="zh-CN" sz="2000" b="1" dirty="0">
                <a:solidFill>
                  <a:srgbClr val="FF0000"/>
                </a:solidFill>
                <a:latin typeface="Consolas" panose="020B0609020204030204" charset="0"/>
                <a:sym typeface="+mn-ea"/>
              </a:rPr>
              <a:t>&lt;class 'list'&gt;</a:t>
            </a:r>
            <a:endParaRPr lang="en-US" altLang="zh-CN" sz="2000" b="1" dirty="0">
              <a:solidFill>
                <a:srgbClr val="FF0000"/>
              </a:solidFill>
              <a:latin typeface="Consolas" panose="020B0609020204030204" charset="0"/>
            </a:endParaRPr>
          </a:p>
          <a:p>
            <a:pPr defTabSz="914400" fontAlgn="auto">
              <a:lnSpc>
                <a:spcPct val="100000"/>
              </a:lnSpc>
              <a:spcBef>
                <a:spcPts val="0"/>
              </a:spcBef>
              <a:buSzPct val="90000"/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Consolas" panose="020B0609020204030204" charset="0"/>
                <a:sym typeface="+mn-ea"/>
              </a:rPr>
              <a:t>&gt;&gt;&gt; </a:t>
            </a:r>
            <a:r>
              <a:rPr lang="en-US" altLang="zh-CN" sz="2000" b="1" dirty="0" err="1">
                <a:latin typeface="Consolas" panose="020B0609020204030204" charset="0"/>
                <a:sym typeface="+mn-ea"/>
              </a:rPr>
              <a:t>isinstance</a:t>
            </a:r>
            <a:r>
              <a:rPr lang="en-US" altLang="zh-CN" sz="2000" b="1" dirty="0">
                <a:latin typeface="Consolas" panose="020B0609020204030204" charset="0"/>
                <a:sym typeface="+mn-ea"/>
              </a:rPr>
              <a:t>(3, int)             #</a:t>
            </a:r>
            <a:r>
              <a:rPr lang="zh-CN" altLang="en-US" sz="2000" b="1" dirty="0">
                <a:latin typeface="Consolas" panose="020B0609020204030204" charset="0"/>
                <a:sym typeface="+mn-ea"/>
              </a:rPr>
              <a:t>测试对象是否是某个类型的实例</a:t>
            </a:r>
            <a:endParaRPr lang="zh-CN" altLang="en-US" sz="2000" b="1" dirty="0">
              <a:latin typeface="Consolas" panose="020B0609020204030204" charset="0"/>
            </a:endParaRPr>
          </a:p>
          <a:p>
            <a:pPr defTabSz="914400" fontAlgn="auto">
              <a:lnSpc>
                <a:spcPct val="100000"/>
              </a:lnSpc>
              <a:spcBef>
                <a:spcPts val="0"/>
              </a:spcBef>
              <a:buSzPct val="90000"/>
              <a:buFont typeface="Wingdings" panose="05000000000000000000" pitchFamily="2" charset="2"/>
              <a:buNone/>
            </a:pPr>
            <a:r>
              <a:rPr lang="en-US" altLang="zh-CN" sz="2000" b="1" dirty="0">
                <a:solidFill>
                  <a:srgbClr val="FF0000"/>
                </a:solidFill>
                <a:latin typeface="Consolas" panose="020B0609020204030204" charset="0"/>
                <a:sym typeface="+mn-ea"/>
              </a:rPr>
              <a:t>True</a:t>
            </a:r>
            <a:endParaRPr lang="en-US" altLang="zh-CN" sz="2000" b="1" dirty="0">
              <a:solidFill>
                <a:srgbClr val="FF0000"/>
              </a:solidFill>
              <a:latin typeface="Consolas" panose="020B0609020204030204" charset="0"/>
            </a:endParaRPr>
          </a:p>
          <a:p>
            <a:pPr defTabSz="914400" fontAlgn="auto">
              <a:lnSpc>
                <a:spcPct val="100000"/>
              </a:lnSpc>
              <a:spcBef>
                <a:spcPts val="0"/>
              </a:spcBef>
              <a:buSzPct val="90000"/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Consolas" panose="020B0609020204030204" charset="0"/>
                <a:sym typeface="+mn-ea"/>
              </a:rPr>
              <a:t>&gt;&gt;&gt; </a:t>
            </a:r>
            <a:r>
              <a:rPr lang="en-US" altLang="zh-CN" sz="2000" b="1" dirty="0" err="1">
                <a:latin typeface="Consolas" panose="020B0609020204030204" charset="0"/>
                <a:sym typeface="+mn-ea"/>
              </a:rPr>
              <a:t>isinstance</a:t>
            </a:r>
            <a:r>
              <a:rPr lang="en-US" altLang="zh-CN" sz="2000" b="1" dirty="0">
                <a:latin typeface="Consolas" panose="020B0609020204030204" charset="0"/>
                <a:sym typeface="+mn-ea"/>
              </a:rPr>
              <a:t>('Hello world', str)</a:t>
            </a:r>
            <a:endParaRPr lang="en-US" altLang="zh-CN" sz="2000" b="1" dirty="0">
              <a:latin typeface="Consolas" panose="020B0609020204030204" charset="0"/>
            </a:endParaRPr>
          </a:p>
          <a:p>
            <a:pPr defTabSz="914400" fontAlgn="auto">
              <a:lnSpc>
                <a:spcPct val="100000"/>
              </a:lnSpc>
              <a:spcBef>
                <a:spcPts val="0"/>
              </a:spcBef>
              <a:buSzPct val="90000"/>
              <a:buFont typeface="Wingdings" panose="05000000000000000000" pitchFamily="2" charset="2"/>
              <a:buNone/>
            </a:pPr>
            <a:r>
              <a:rPr lang="en-US" altLang="zh-CN" sz="2000" b="1" dirty="0">
                <a:solidFill>
                  <a:srgbClr val="FF0000"/>
                </a:solidFill>
                <a:latin typeface="Consolas" panose="020B0609020204030204" charset="0"/>
                <a:sym typeface="+mn-ea"/>
              </a:rPr>
              <a:t>True</a:t>
            </a:r>
          </a:p>
        </p:txBody>
      </p:sp>
    </p:spTree>
  </p:cSld>
  <p:clrMapOvr>
    <a:masterClrMapping/>
  </p:clrMapOvr>
  <p:transition spd="slow" advTm="0"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609917" y="909514"/>
            <a:ext cx="3112994" cy="504056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altLang="zh-CN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、多重赋值</a:t>
            </a:r>
          </a:p>
        </p:txBody>
      </p:sp>
      <p:sp>
        <p:nvSpPr>
          <p:cNvPr id="37891" name="内容占位符 2"/>
          <p:cNvSpPr>
            <a:spLocks noGrp="1"/>
          </p:cNvSpPr>
          <p:nvPr>
            <p:ph idx="4294967295"/>
          </p:nvPr>
        </p:nvSpPr>
        <p:spPr>
          <a:xfrm>
            <a:off x="914599" y="1640686"/>
            <a:ext cx="10297144" cy="708988"/>
          </a:xfrm>
          <a:prstGeom prst="rect">
            <a:avLst/>
          </a:prstGeom>
        </p:spPr>
        <p:txBody>
          <a:bodyPr/>
          <a:lstStyle/>
          <a:p>
            <a:r>
              <a:rPr lang="en-US" altLang="zh-CN" sz="2800" b="1" dirty="0"/>
              <a:t>Python</a:t>
            </a:r>
            <a:r>
              <a:rPr lang="zh-CN" altLang="en-US" sz="2800" b="1" dirty="0"/>
              <a:t>能够同时给多个变量赋值。</a:t>
            </a:r>
            <a:endParaRPr lang="en-US" altLang="zh-CN" sz="2800" b="1" dirty="0"/>
          </a:p>
          <a:p>
            <a:endParaRPr lang="zh-CN" altLang="en-US" sz="2800" dirty="0"/>
          </a:p>
        </p:txBody>
      </p:sp>
      <p:sp>
        <p:nvSpPr>
          <p:cNvPr id="7" name="标题 1"/>
          <p:cNvSpPr txBox="1"/>
          <p:nvPr/>
        </p:nvSpPr>
        <p:spPr>
          <a:xfrm>
            <a:off x="9208220" y="189434"/>
            <a:ext cx="29848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2.2 变量和常量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2628265" y="2185035"/>
            <a:ext cx="5233035" cy="2330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/>
              <a:t>x,y,z=1,'China',2.5</a:t>
            </a:r>
          </a:p>
          <a:p>
            <a:pPr>
              <a:lnSpc>
                <a:spcPct val="130000"/>
              </a:lnSpc>
            </a:pPr>
            <a:r>
              <a:rPr lang="zh-CN" altLang="en-US" sz="2800"/>
              <a:t>print(x)</a:t>
            </a:r>
          </a:p>
          <a:p>
            <a:pPr>
              <a:lnSpc>
                <a:spcPct val="130000"/>
              </a:lnSpc>
            </a:pPr>
            <a:r>
              <a:rPr lang="zh-CN" altLang="en-US" sz="2800"/>
              <a:t>print(y)</a:t>
            </a:r>
          </a:p>
          <a:p>
            <a:pPr>
              <a:lnSpc>
                <a:spcPct val="130000"/>
              </a:lnSpc>
            </a:pPr>
            <a:r>
              <a:rPr lang="zh-CN" altLang="en-US" sz="2800"/>
              <a:t>print(z)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2628265" y="4778375"/>
            <a:ext cx="2540000" cy="1383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800">
                <a:solidFill>
                  <a:srgbClr val="FF0000"/>
                </a:solidFill>
              </a:rPr>
              <a:t>1</a:t>
            </a:r>
          </a:p>
          <a:p>
            <a:r>
              <a:rPr lang="zh-CN" altLang="en-US" sz="2800">
                <a:solidFill>
                  <a:srgbClr val="FF0000"/>
                </a:solidFill>
              </a:rPr>
              <a:t>China</a:t>
            </a:r>
          </a:p>
          <a:p>
            <a:r>
              <a:rPr lang="zh-CN" altLang="en-US" sz="2800">
                <a:solidFill>
                  <a:srgbClr val="FF0000"/>
                </a:solidFill>
              </a:rPr>
              <a:t>2.5</a:t>
            </a:r>
          </a:p>
        </p:txBody>
      </p:sp>
    </p:spTree>
  </p:cSld>
  <p:clrMapOvr>
    <a:masterClrMapping/>
  </p:clrMapOvr>
  <p:transition spd="slow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698575" y="914242"/>
            <a:ext cx="10229850" cy="549275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altLang="zh-CN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、交换变量的值</a:t>
            </a:r>
          </a:p>
        </p:txBody>
      </p:sp>
      <p:sp>
        <p:nvSpPr>
          <p:cNvPr id="38915" name="内容占位符 2"/>
          <p:cNvSpPr>
            <a:spLocks noGrp="1"/>
          </p:cNvSpPr>
          <p:nvPr>
            <p:ph idx="4294967295"/>
          </p:nvPr>
        </p:nvSpPr>
        <p:spPr>
          <a:xfrm>
            <a:off x="1202690" y="1600200"/>
            <a:ext cx="10798175" cy="4567555"/>
          </a:xfrm>
          <a:prstGeom prst="rect">
            <a:avLst/>
          </a:prstGeom>
        </p:spPr>
        <p:txBody>
          <a:bodyPr/>
          <a:lstStyle/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两个变量的值互换，定义中间变量（其他高级语言均如此）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使用多重赋值实现两个变量的值互换。如：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标题 1"/>
          <p:cNvSpPr txBox="1"/>
          <p:nvPr/>
        </p:nvSpPr>
        <p:spPr>
          <a:xfrm>
            <a:off x="9208220" y="189434"/>
            <a:ext cx="29848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2.2 变量和常量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314825" y="2660650"/>
            <a:ext cx="2540000" cy="2330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/>
              <a:t>a,b = 3,5</a:t>
            </a:r>
          </a:p>
          <a:p>
            <a:pPr>
              <a:lnSpc>
                <a:spcPct val="130000"/>
              </a:lnSpc>
            </a:pPr>
            <a:r>
              <a:rPr lang="zh-CN" altLang="en-US" sz="2800"/>
              <a:t>print(a,b)</a:t>
            </a:r>
          </a:p>
          <a:p>
            <a:pPr>
              <a:lnSpc>
                <a:spcPct val="130000"/>
              </a:lnSpc>
            </a:pPr>
            <a:r>
              <a:rPr lang="zh-CN" altLang="en-US" sz="2800"/>
              <a:t>a,b = b,a</a:t>
            </a:r>
          </a:p>
          <a:p>
            <a:pPr>
              <a:lnSpc>
                <a:spcPct val="130000"/>
              </a:lnSpc>
            </a:pPr>
            <a:r>
              <a:rPr lang="zh-CN" altLang="en-US" sz="2800"/>
              <a:t>print(a,b)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4543425" y="5234940"/>
            <a:ext cx="2540000" cy="10763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3200">
                <a:solidFill>
                  <a:srgbClr val="FF0000"/>
                </a:solidFill>
              </a:rPr>
              <a:t>3 5</a:t>
            </a:r>
          </a:p>
          <a:p>
            <a:r>
              <a:rPr lang="zh-CN" altLang="en-US" sz="3200">
                <a:solidFill>
                  <a:srgbClr val="FF0000"/>
                </a:solidFill>
              </a:rPr>
              <a:t>5 3</a:t>
            </a:r>
          </a:p>
        </p:txBody>
      </p:sp>
    </p:spTree>
  </p:cSld>
  <p:clrMapOvr>
    <a:masterClrMapping/>
  </p:clrMapOvr>
  <p:transition spd="slow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609917" y="1053530"/>
            <a:ext cx="10521950" cy="752475"/>
          </a:xfrm>
          <a:prstGeom prst="rect">
            <a:avLst/>
          </a:prstGeom>
        </p:spPr>
        <p:txBody>
          <a:bodyPr/>
          <a:lstStyle/>
          <a:p>
            <a:pPr algn="l">
              <a:defRPr/>
            </a:pPr>
            <a:r>
              <a:rPr lang="en-US" altLang="zh-CN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、局部变量和全局变量</a:t>
            </a:r>
          </a:p>
        </p:txBody>
      </p:sp>
      <p:sp>
        <p:nvSpPr>
          <p:cNvPr id="32771" name="内容占位符 2"/>
          <p:cNvSpPr>
            <a:spLocks noGrp="1"/>
          </p:cNvSpPr>
          <p:nvPr>
            <p:ph idx="4294967295"/>
          </p:nvPr>
        </p:nvSpPr>
        <p:spPr>
          <a:xfrm>
            <a:off x="1136720" y="1687320"/>
            <a:ext cx="9924122" cy="2144977"/>
          </a:xfrm>
          <a:prstGeom prst="rect">
            <a:avLst/>
          </a:prstGeom>
        </p:spPr>
        <p:txBody>
          <a:bodyPr/>
          <a:lstStyle/>
          <a:p>
            <a:pPr marL="0" indent="0">
              <a:lnSpc>
                <a:spcPct val="150000"/>
              </a:lnSpc>
              <a:buNone/>
              <a:defRPr/>
            </a:pP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）局部变量</a:t>
            </a:r>
            <a:endParaRPr lang="en-US" altLang="zh-CN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局部变量是只能在函数或代码块内使用的变量。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函数或代码段一旦结束，局部变量的生命周期也就结束。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局部变量的作用范围只在其被创建的函数内有效。</a:t>
            </a:r>
          </a:p>
        </p:txBody>
      </p:sp>
      <p:sp>
        <p:nvSpPr>
          <p:cNvPr id="6" name="标题 1"/>
          <p:cNvSpPr txBox="1"/>
          <p:nvPr/>
        </p:nvSpPr>
        <p:spPr>
          <a:xfrm>
            <a:off x="9208220" y="189434"/>
            <a:ext cx="29848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2.2 变量和常量</a:t>
            </a:r>
          </a:p>
        </p:txBody>
      </p:sp>
    </p:spTree>
  </p:cSld>
  <p:clrMapOvr>
    <a:masterClrMapping/>
  </p:clrMapOvr>
  <p:transition spd="slow" advTm="0"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194519" y="816702"/>
            <a:ext cx="10009112" cy="516184"/>
          </a:xfrm>
          <a:prstGeom prst="rect">
            <a:avLst/>
          </a:prstGeom>
        </p:spPr>
        <p:txBody>
          <a:bodyPr/>
          <a:lstStyle/>
          <a:p>
            <a:pPr algn="l">
              <a:defRPr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例：局部变量使用</a:t>
            </a:r>
          </a:p>
        </p:txBody>
      </p:sp>
      <p:sp>
        <p:nvSpPr>
          <p:cNvPr id="33799" name="TextBox 7"/>
          <p:cNvSpPr txBox="1">
            <a:spLocks noChangeArrowheads="1"/>
          </p:cNvSpPr>
          <p:nvPr/>
        </p:nvSpPr>
        <p:spPr bwMode="auto">
          <a:xfrm>
            <a:off x="1130623" y="4084564"/>
            <a:ext cx="1368742" cy="40014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zh-CN" altLang="en-US" sz="2000" b="1" dirty="0"/>
              <a:t>运行结果：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2799080" y="3415030"/>
            <a:ext cx="6409055" cy="504190"/>
            <a:chOff x="5749" y="5378"/>
            <a:chExt cx="10093" cy="794"/>
          </a:xfrm>
        </p:grpSpPr>
        <p:sp>
          <p:nvSpPr>
            <p:cNvPr id="40967" name="TextBox 8"/>
            <p:cNvSpPr txBox="1">
              <a:spLocks noChangeArrowheads="1"/>
            </p:cNvSpPr>
            <p:nvPr/>
          </p:nvSpPr>
          <p:spPr bwMode="auto">
            <a:xfrm>
              <a:off x="7394" y="5378"/>
              <a:ext cx="8448" cy="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dirty="0">
                  <a:solidFill>
                    <a:srgbClr val="7030A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此时已超出了</a:t>
              </a:r>
              <a:r>
                <a:rPr lang="en-US" altLang="zh-CN" dirty="0">
                  <a:solidFill>
                    <a:srgbClr val="7030A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local</a:t>
              </a:r>
              <a:r>
                <a:rPr lang="zh-CN" altLang="en-US" dirty="0">
                  <a:solidFill>
                    <a:srgbClr val="7030A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变量的作用范围</a:t>
              </a:r>
            </a:p>
          </p:txBody>
        </p:sp>
        <p:cxnSp>
          <p:nvCxnSpPr>
            <p:cNvPr id="11" name="直接箭头连接符 10"/>
            <p:cNvCxnSpPr/>
            <p:nvPr/>
          </p:nvCxnSpPr>
          <p:spPr>
            <a:xfrm flipH="1">
              <a:off x="5749" y="5741"/>
              <a:ext cx="1363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圆角矩形 11"/>
            <p:cNvSpPr/>
            <p:nvPr/>
          </p:nvSpPr>
          <p:spPr>
            <a:xfrm>
              <a:off x="7450" y="5378"/>
              <a:ext cx="8392" cy="794"/>
            </a:xfrm>
            <a:prstGeom prst="roundRect">
              <a:avLst/>
            </a:prstGeom>
            <a:noFill/>
            <a:ln>
              <a:solidFill>
                <a:srgbClr val="7030A0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40973" name="Picture 1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123" y="1435360"/>
            <a:ext cx="2622935" cy="248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标题 1"/>
          <p:cNvSpPr txBox="1"/>
          <p:nvPr/>
        </p:nvSpPr>
        <p:spPr>
          <a:xfrm>
            <a:off x="9208220" y="189434"/>
            <a:ext cx="29848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2.2 变量和常量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130935" y="4484370"/>
            <a:ext cx="10474960" cy="1938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/>
              <a:t>1</a:t>
            </a:r>
          </a:p>
          <a:p>
            <a:r>
              <a:rPr lang="zh-CN" altLang="en-US">
                <a:solidFill>
                  <a:srgbClr val="FF0000"/>
                </a:solidFill>
              </a:rPr>
              <a:t>Traceback (most recent call last):</a:t>
            </a:r>
          </a:p>
          <a:p>
            <a:r>
              <a:rPr lang="zh-CN" altLang="en-US">
                <a:solidFill>
                  <a:srgbClr val="FF0000"/>
                </a:solidFill>
              </a:rPr>
              <a:t>  File "&lt;ipython-input-11-6cb57d10509d&gt;", line 1, in &lt;module&gt;</a:t>
            </a:r>
          </a:p>
          <a:p>
            <a:r>
              <a:rPr lang="zh-CN" altLang="en-US">
                <a:solidFill>
                  <a:srgbClr val="FF0000"/>
                </a:solidFill>
              </a:rPr>
              <a:t>    print(local)</a:t>
            </a:r>
          </a:p>
          <a:p>
            <a:r>
              <a:rPr lang="zh-CN" altLang="en-US">
                <a:solidFill>
                  <a:srgbClr val="FF0000"/>
                </a:solidFill>
              </a:rPr>
              <a:t>NameError: name 'local' is not defined</a:t>
            </a:r>
          </a:p>
        </p:txBody>
      </p:sp>
    </p:spTree>
  </p:cSld>
  <p:clrMapOvr>
    <a:masterClrMapping/>
  </p:clrMapOvr>
  <p:transition spd="slow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9" grpId="0" animBg="1"/>
      <p:bldP spid="33799" grpId="1" animBg="1"/>
      <p:bldP spid="4" grpId="0"/>
      <p:bldP spid="4" grpId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626568" y="1125538"/>
            <a:ext cx="10513168" cy="648072"/>
          </a:xfrm>
          <a:prstGeom prst="rect">
            <a:avLst/>
          </a:prstGeom>
        </p:spPr>
        <p:txBody>
          <a:bodyPr/>
          <a:lstStyle/>
          <a:p>
            <a:pPr algn="l">
              <a:defRPr/>
            </a:pP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）全局变量</a:t>
            </a:r>
          </a:p>
        </p:txBody>
      </p:sp>
      <p:sp>
        <p:nvSpPr>
          <p:cNvPr id="41987" name="内容占位符 2"/>
          <p:cNvSpPr>
            <a:spLocks noGrp="1"/>
          </p:cNvSpPr>
          <p:nvPr>
            <p:ph idx="4294967295"/>
          </p:nvPr>
        </p:nvSpPr>
        <p:spPr>
          <a:xfrm>
            <a:off x="842591" y="1917626"/>
            <a:ext cx="11139736" cy="2108225"/>
          </a:xfrm>
          <a:prstGeom prst="rect">
            <a:avLst/>
          </a:prstGeom>
        </p:spPr>
        <p:txBody>
          <a:bodyPr/>
          <a:lstStyle/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全局变量是能够被不同的函数、类或文件共享的变量。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在函数之外定义的变量都可以称为全局变量。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全局变量可以被文件内部的任何函数和外部文件访问。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全局变量通常在文件的开始处定义。</a:t>
            </a:r>
          </a:p>
        </p:txBody>
      </p:sp>
      <p:sp>
        <p:nvSpPr>
          <p:cNvPr id="6" name="标题 1"/>
          <p:cNvSpPr txBox="1"/>
          <p:nvPr/>
        </p:nvSpPr>
        <p:spPr>
          <a:xfrm>
            <a:off x="9208220" y="189434"/>
            <a:ext cx="29848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2.2 变量和常量</a:t>
            </a:r>
          </a:p>
        </p:txBody>
      </p:sp>
    </p:spTree>
  </p:cSld>
  <p:clrMapOvr>
    <a:masterClrMapping/>
  </p:clrMapOvr>
  <p:transition spd="slow" advTm="0"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482600" y="866775"/>
            <a:ext cx="3199765" cy="662305"/>
          </a:xfrm>
          <a:prstGeom prst="rect">
            <a:avLst/>
          </a:prstGeom>
        </p:spPr>
        <p:txBody>
          <a:bodyPr/>
          <a:lstStyle/>
          <a:p>
            <a:pPr algn="l">
              <a:defRPr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例：全局变量应用</a:t>
            </a:r>
          </a:p>
        </p:txBody>
      </p:sp>
      <p:sp>
        <p:nvSpPr>
          <p:cNvPr id="38919" name="TextBox 5"/>
          <p:cNvSpPr txBox="1">
            <a:spLocks noChangeArrowheads="1"/>
          </p:cNvSpPr>
          <p:nvPr/>
        </p:nvSpPr>
        <p:spPr bwMode="auto">
          <a:xfrm>
            <a:off x="6099423" y="1646955"/>
            <a:ext cx="1440195" cy="40014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000" b="1" dirty="0"/>
              <a:t>运行结果：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6118225" y="2748915"/>
            <a:ext cx="4074160" cy="1604010"/>
            <a:chOff x="11986" y="7403"/>
            <a:chExt cx="6416" cy="2526"/>
          </a:xfrm>
        </p:grpSpPr>
        <p:sp>
          <p:nvSpPr>
            <p:cNvPr id="3" name="云形标注 2"/>
            <p:cNvSpPr/>
            <p:nvPr/>
          </p:nvSpPr>
          <p:spPr>
            <a:xfrm>
              <a:off x="11986" y="7403"/>
              <a:ext cx="5669" cy="2526"/>
            </a:xfrm>
            <a:prstGeom prst="cloudCallou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43017" name="TextBox 3"/>
            <p:cNvSpPr txBox="1">
              <a:spLocks noChangeArrowheads="1"/>
            </p:cNvSpPr>
            <p:nvPr/>
          </p:nvSpPr>
          <p:spPr bwMode="auto">
            <a:xfrm>
              <a:off x="12231" y="7531"/>
              <a:ext cx="6171" cy="1887"/>
            </a:xfrm>
            <a:prstGeom prst="cloudCallou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如果没</a:t>
              </a:r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global</a:t>
              </a: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呢</a:t>
              </a:r>
              <a:r>
                <a:rPr lang="zh-CN" altLang="en-US" sz="44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？</a:t>
              </a:r>
            </a:p>
          </p:txBody>
        </p:sp>
      </p:grpSp>
      <p:sp>
        <p:nvSpPr>
          <p:cNvPr id="10" name="标题 1"/>
          <p:cNvSpPr txBox="1"/>
          <p:nvPr/>
        </p:nvSpPr>
        <p:spPr>
          <a:xfrm>
            <a:off x="9208220" y="189434"/>
            <a:ext cx="29848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2.2 变量和常量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585" y="1529080"/>
            <a:ext cx="5257800" cy="470598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8860" y="1449705"/>
            <a:ext cx="2614930" cy="96139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0915" y="4879340"/>
            <a:ext cx="3057525" cy="1066800"/>
          </a:xfrm>
          <a:prstGeom prst="rect">
            <a:avLst/>
          </a:prstGeom>
        </p:spPr>
      </p:pic>
    </p:spTree>
  </p:cSld>
  <p:clrMapOvr>
    <a:masterClrMapping/>
  </p:clrMapOvr>
  <p:transition spd="slow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8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9" grpId="0" bldLvl="0" animBg="1"/>
      <p:bldP spid="38919" grpId="1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354965" y="969010"/>
            <a:ext cx="10056495" cy="603885"/>
          </a:xfrm>
        </p:spPr>
        <p:txBody>
          <a:bodyPr vert="horz" rtlCol="0">
            <a:normAutofit/>
          </a:bodyPr>
          <a:lstStyle/>
          <a:p>
            <a:pPr lvl="0" algn="l">
              <a:defRPr/>
            </a:pPr>
            <a:r>
              <a:rPr lang="en-US" altLang="zh-CN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7、常量</a:t>
            </a:r>
          </a:p>
        </p:txBody>
      </p:sp>
      <p:sp>
        <p:nvSpPr>
          <p:cNvPr id="46083" name="内容占位符 2"/>
          <p:cNvSpPr>
            <a:spLocks noGrp="1"/>
          </p:cNvSpPr>
          <p:nvPr>
            <p:ph idx="4294967295"/>
          </p:nvPr>
        </p:nvSpPr>
        <p:spPr>
          <a:xfrm>
            <a:off x="882015" y="1662430"/>
            <a:ext cx="9529445" cy="316484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常量是一旦初始化后就不能改变的量。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sz="24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python中没有专门定义常量的方式，通常使用大写变量名表示</a:t>
            </a:r>
            <a:r>
              <a:rPr 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sz="24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仅仅是一种提示效果</a:t>
            </a:r>
            <a:endParaRPr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　NAME =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' </a:t>
            </a: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tony'  ( </a:t>
            </a:r>
            <a:r>
              <a:rPr sz="24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本质还是变量</a:t>
            </a: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</a:t>
            </a:r>
          </a:p>
        </p:txBody>
      </p:sp>
      <p:sp>
        <p:nvSpPr>
          <p:cNvPr id="10" name="标题 1"/>
          <p:cNvSpPr txBox="1"/>
          <p:nvPr/>
        </p:nvSpPr>
        <p:spPr>
          <a:xfrm>
            <a:off x="9208220" y="189434"/>
            <a:ext cx="29848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2.2 变量和常量</a:t>
            </a:r>
          </a:p>
        </p:txBody>
      </p:sp>
    </p:spTree>
  </p:cSld>
  <p:clrMapOvr>
    <a:masterClrMapping/>
  </p:clrMapOvr>
  <p:transition spd="slow" advTm="0"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>
            <p:custDataLst>
              <p:tags r:id="rId2"/>
            </p:custDataLst>
          </p:nvPr>
        </p:nvSpPr>
        <p:spPr>
          <a:xfrm>
            <a:off x="0" y="3810736"/>
            <a:ext cx="12198448" cy="3048588"/>
          </a:xfrm>
          <a:prstGeom prst="rect">
            <a:avLst/>
          </a:prstGeom>
          <a:pattFill prst="dkHorz">
            <a:fgClr>
              <a:srgbClr val="F2F2F2"/>
            </a:fgClr>
            <a:bgClr>
              <a:srgbClr val="FFFFFF"/>
            </a:bgClr>
          </a:patt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 sz="18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" name="矩形 5"/>
          <p:cNvSpPr/>
          <p:nvPr>
            <p:custDataLst>
              <p:tags r:id="rId3"/>
            </p:custDataLst>
          </p:nvPr>
        </p:nvSpPr>
        <p:spPr>
          <a:xfrm>
            <a:off x="1677254" y="914251"/>
            <a:ext cx="8843875" cy="853503"/>
          </a:xfrm>
          <a:prstGeom prst="rect">
            <a:avLst/>
          </a:prstGeom>
          <a:solidFill>
            <a:srgbClr val="FFFFFF"/>
          </a:solidFill>
          <a:ln w="25400">
            <a:noFill/>
          </a:ln>
          <a:effectLst>
            <a:outerShdw blurRad="50800" dist="76200" dir="5400000" sx="101000" sy="101000" algn="t" rotWithShape="0">
              <a:srgbClr val="000000">
                <a:alpha val="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kumimoji="1" lang="zh-CN" altLang="en-US" sz="18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1" name="矩形 11"/>
          <p:cNvSpPr/>
          <p:nvPr>
            <p:custDataLst>
              <p:tags r:id="rId4"/>
            </p:custDataLst>
          </p:nvPr>
        </p:nvSpPr>
        <p:spPr>
          <a:xfrm>
            <a:off x="1677241" y="2194436"/>
            <a:ext cx="8843875" cy="3777441"/>
          </a:xfrm>
          <a:prstGeom prst="rect">
            <a:avLst/>
          </a:prstGeom>
          <a:solidFill>
            <a:srgbClr val="FFFFFF"/>
          </a:solidFill>
          <a:ln w="25400">
            <a:noFill/>
          </a:ln>
          <a:effectLst>
            <a:outerShdw blurRad="50800" dist="76200" dir="5400000" sx="101000" sy="101000" algn="t" rotWithShape="0">
              <a:srgbClr val="000000">
                <a:alpha val="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kumimoji="1" lang="zh-CN" altLang="en-US" sz="18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>
            <p:custDataLst>
              <p:tags r:id="rId5"/>
            </p:custDataLst>
          </p:nvPr>
        </p:nvSpPr>
        <p:spPr>
          <a:xfrm>
            <a:off x="1982200" y="1066680"/>
            <a:ext cx="8233950" cy="548639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2800" b="1" spc="3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主要内容</a:t>
            </a:r>
          </a:p>
        </p:txBody>
      </p:sp>
      <p:sp>
        <p:nvSpPr>
          <p:cNvPr id="12" name="弧形 11"/>
          <p:cNvSpPr/>
          <p:nvPr>
            <p:custDataLst>
              <p:tags r:id="rId6"/>
            </p:custDataLst>
          </p:nvPr>
        </p:nvSpPr>
        <p:spPr>
          <a:xfrm>
            <a:off x="3111500" y="2520962"/>
            <a:ext cx="727075" cy="716915"/>
          </a:xfrm>
          <a:prstGeom prst="arc">
            <a:avLst>
              <a:gd name="adj1" fmla="val 11619054"/>
              <a:gd name="adj2" fmla="val 10295063"/>
            </a:avLst>
          </a:prstGeom>
          <a:ln w="19050">
            <a:solidFill>
              <a:srgbClr val="1D6D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80"/>
          <p:cNvSpPr txBox="1"/>
          <p:nvPr>
            <p:custDataLst>
              <p:tags r:id="rId7"/>
            </p:custDataLst>
          </p:nvPr>
        </p:nvSpPr>
        <p:spPr>
          <a:xfrm>
            <a:off x="2833370" y="3355352"/>
            <a:ext cx="1371600" cy="2036922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en-US" altLang="zh-CN" sz="2000" spc="15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</a:p>
          <a:p>
            <a:pPr marL="0" lvl="0" indent="0"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en-US" altLang="zh-CN" sz="2000" spc="15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编码规范</a:t>
            </a:r>
          </a:p>
        </p:txBody>
      </p:sp>
      <p:sp>
        <p:nvSpPr>
          <p:cNvPr id="14" name="标题 5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3221990" y="2616212"/>
            <a:ext cx="554355" cy="509270"/>
          </a:xfrm>
          <a:prstGeom prst="rect">
            <a:avLst/>
          </a:prstGeom>
        </p:spPr>
        <p:txBody>
          <a:bodyPr vert="horz" lIns="0" tIns="0" rIns="0" bIns="0" rtlCol="0" anchor="ctr" anchorCtr="0">
            <a:normAutofit fontScale="90000"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kumimoji="0" lang="zh-CN" altLang="en-US" sz="24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indent="0" algn="ctr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en-US" altLang="zh-CN" sz="2700" b="1" dirty="0">
                <a:solidFill>
                  <a:srgbClr val="1D518C"/>
                </a:solidFill>
                <a:latin typeface="微软雅黑" panose="020B0503020204020204" pitchFamily="34" charset="-122"/>
              </a:rPr>
              <a:t>2.1</a:t>
            </a:r>
          </a:p>
        </p:txBody>
      </p:sp>
      <p:sp>
        <p:nvSpPr>
          <p:cNvPr id="15" name="菱形 14"/>
          <p:cNvSpPr/>
          <p:nvPr>
            <p:custDataLst>
              <p:tags r:id="rId9"/>
            </p:custDataLst>
          </p:nvPr>
        </p:nvSpPr>
        <p:spPr>
          <a:xfrm>
            <a:off x="2933065" y="2712097"/>
            <a:ext cx="301625" cy="301625"/>
          </a:xfrm>
          <a:prstGeom prst="diamond">
            <a:avLst/>
          </a:prstGeom>
          <a:solidFill>
            <a:srgbClr val="69A7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弧形 15"/>
          <p:cNvSpPr/>
          <p:nvPr>
            <p:custDataLst>
              <p:tags r:id="rId10"/>
            </p:custDataLst>
          </p:nvPr>
        </p:nvSpPr>
        <p:spPr>
          <a:xfrm>
            <a:off x="4790440" y="2520962"/>
            <a:ext cx="727075" cy="716915"/>
          </a:xfrm>
          <a:prstGeom prst="arc">
            <a:avLst>
              <a:gd name="adj1" fmla="val 11619054"/>
              <a:gd name="adj2" fmla="val 10295063"/>
            </a:avLst>
          </a:prstGeom>
          <a:ln w="19050">
            <a:solidFill>
              <a:srgbClr val="1D6D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80"/>
          <p:cNvSpPr txBox="1"/>
          <p:nvPr>
            <p:custDataLst>
              <p:tags r:id="rId11"/>
            </p:custDataLst>
          </p:nvPr>
        </p:nvSpPr>
        <p:spPr>
          <a:xfrm>
            <a:off x="4512945" y="3355352"/>
            <a:ext cx="1371600" cy="2036922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en-US" altLang="zh-CN" sz="2000" spc="15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变量和常量</a:t>
            </a:r>
          </a:p>
        </p:txBody>
      </p:sp>
      <p:sp>
        <p:nvSpPr>
          <p:cNvPr id="22" name="标题 5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4901565" y="2616212"/>
            <a:ext cx="554355" cy="509270"/>
          </a:xfrm>
          <a:prstGeom prst="rect">
            <a:avLst/>
          </a:prstGeom>
        </p:spPr>
        <p:txBody>
          <a:bodyPr vert="horz" lIns="0" tIns="0" rIns="0" bIns="0" rtlCol="0" anchor="ctr" anchorCtr="0">
            <a:normAutofit fontScale="90000"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kumimoji="0" lang="zh-CN" altLang="en-US" sz="24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indent="0" algn="ctr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en-US" altLang="zh-CN" sz="2700" b="1" dirty="0">
                <a:solidFill>
                  <a:srgbClr val="1D518C"/>
                </a:solidFill>
                <a:latin typeface="微软雅黑" panose="020B0503020204020204" pitchFamily="34" charset="-122"/>
              </a:rPr>
              <a:t>2.2</a:t>
            </a:r>
          </a:p>
        </p:txBody>
      </p:sp>
      <p:sp>
        <p:nvSpPr>
          <p:cNvPr id="23" name="菱形 22"/>
          <p:cNvSpPr/>
          <p:nvPr>
            <p:custDataLst>
              <p:tags r:id="rId13"/>
            </p:custDataLst>
          </p:nvPr>
        </p:nvSpPr>
        <p:spPr>
          <a:xfrm>
            <a:off x="4612005" y="2712097"/>
            <a:ext cx="301625" cy="301625"/>
          </a:xfrm>
          <a:prstGeom prst="diamond">
            <a:avLst/>
          </a:prstGeom>
          <a:solidFill>
            <a:srgbClr val="69A7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弧形 23"/>
          <p:cNvSpPr/>
          <p:nvPr>
            <p:custDataLst>
              <p:tags r:id="rId14"/>
            </p:custDataLst>
          </p:nvPr>
        </p:nvSpPr>
        <p:spPr>
          <a:xfrm>
            <a:off x="6470015" y="2520962"/>
            <a:ext cx="727075" cy="716915"/>
          </a:xfrm>
          <a:prstGeom prst="arc">
            <a:avLst>
              <a:gd name="adj1" fmla="val 11619054"/>
              <a:gd name="adj2" fmla="val 10295063"/>
            </a:avLst>
          </a:prstGeom>
          <a:ln w="19050">
            <a:solidFill>
              <a:srgbClr val="1D6D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文本框 80"/>
          <p:cNvSpPr txBox="1"/>
          <p:nvPr>
            <p:custDataLst>
              <p:tags r:id="rId15"/>
            </p:custDataLst>
          </p:nvPr>
        </p:nvSpPr>
        <p:spPr>
          <a:xfrm>
            <a:off x="6191885" y="3355352"/>
            <a:ext cx="1371600" cy="2036922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en-US" altLang="zh-CN" sz="2000" b="1" spc="15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数据类型</a:t>
            </a:r>
          </a:p>
        </p:txBody>
      </p:sp>
      <p:sp>
        <p:nvSpPr>
          <p:cNvPr id="26" name="标题 5"/>
          <p:cNvSpPr>
            <a:spLocks noGrp="1"/>
          </p:cNvSpPr>
          <p:nvPr>
            <p:custDataLst>
              <p:tags r:id="rId16"/>
            </p:custDataLst>
          </p:nvPr>
        </p:nvSpPr>
        <p:spPr>
          <a:xfrm>
            <a:off x="6580505" y="2616212"/>
            <a:ext cx="554355" cy="509270"/>
          </a:xfrm>
          <a:prstGeom prst="rect">
            <a:avLst/>
          </a:prstGeom>
        </p:spPr>
        <p:txBody>
          <a:bodyPr vert="horz" lIns="0" tIns="0" rIns="0" bIns="0" rtlCol="0" anchor="ctr" anchorCtr="0">
            <a:normAutofit fontScale="90000"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kumimoji="0" lang="zh-CN" altLang="en-US" sz="24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indent="0" algn="ctr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en-US" altLang="zh-CN" sz="2700" b="1" dirty="0">
                <a:solidFill>
                  <a:srgbClr val="FF0000"/>
                </a:solidFill>
                <a:latin typeface="微软雅黑" panose="020B0503020204020204" pitchFamily="34" charset="-122"/>
              </a:rPr>
              <a:t>2.3</a:t>
            </a:r>
          </a:p>
        </p:txBody>
      </p:sp>
      <p:sp>
        <p:nvSpPr>
          <p:cNvPr id="27" name="菱形 26"/>
          <p:cNvSpPr/>
          <p:nvPr>
            <p:custDataLst>
              <p:tags r:id="rId17"/>
            </p:custDataLst>
          </p:nvPr>
        </p:nvSpPr>
        <p:spPr>
          <a:xfrm>
            <a:off x="6291580" y="2712097"/>
            <a:ext cx="301625" cy="301625"/>
          </a:xfrm>
          <a:prstGeom prst="diamond">
            <a:avLst/>
          </a:prstGeom>
          <a:solidFill>
            <a:srgbClr val="69A7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弧形 27"/>
          <p:cNvSpPr/>
          <p:nvPr>
            <p:custDataLst>
              <p:tags r:id="rId18"/>
            </p:custDataLst>
          </p:nvPr>
        </p:nvSpPr>
        <p:spPr>
          <a:xfrm>
            <a:off x="8148955" y="2520962"/>
            <a:ext cx="727075" cy="716915"/>
          </a:xfrm>
          <a:prstGeom prst="arc">
            <a:avLst>
              <a:gd name="adj1" fmla="val 11619054"/>
              <a:gd name="adj2" fmla="val 10295063"/>
            </a:avLst>
          </a:prstGeom>
          <a:ln w="19050">
            <a:solidFill>
              <a:srgbClr val="1D6D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80"/>
          <p:cNvSpPr txBox="1"/>
          <p:nvPr>
            <p:custDataLst>
              <p:tags r:id="rId19"/>
            </p:custDataLst>
          </p:nvPr>
        </p:nvSpPr>
        <p:spPr>
          <a:xfrm>
            <a:off x="7871460" y="3355352"/>
            <a:ext cx="1371600" cy="2036922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en-US" altLang="zh-CN" sz="2000" spc="15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运算符与</a:t>
            </a:r>
          </a:p>
          <a:p>
            <a:pPr marL="0" lvl="0" indent="0"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en-US" altLang="zh-CN" sz="2000" spc="15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</a:p>
        </p:txBody>
      </p:sp>
      <p:sp>
        <p:nvSpPr>
          <p:cNvPr id="30" name="标题 5"/>
          <p:cNvSpPr>
            <a:spLocks noGrp="1"/>
          </p:cNvSpPr>
          <p:nvPr>
            <p:custDataLst>
              <p:tags r:id="rId20"/>
            </p:custDataLst>
          </p:nvPr>
        </p:nvSpPr>
        <p:spPr>
          <a:xfrm>
            <a:off x="8260080" y="2616212"/>
            <a:ext cx="554355" cy="509270"/>
          </a:xfrm>
          <a:prstGeom prst="rect">
            <a:avLst/>
          </a:prstGeom>
        </p:spPr>
        <p:txBody>
          <a:bodyPr vert="horz" lIns="0" tIns="0" rIns="0" bIns="0" rtlCol="0" anchor="ctr" anchorCtr="0">
            <a:normAutofit fontScale="90000"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kumimoji="0" lang="zh-CN" altLang="en-US" sz="24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indent="0" algn="ctr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en-US" altLang="zh-CN" sz="2700" b="1" dirty="0">
                <a:solidFill>
                  <a:srgbClr val="1D518C"/>
                </a:solidFill>
                <a:latin typeface="微软雅黑" panose="020B0503020204020204" pitchFamily="34" charset="-122"/>
              </a:rPr>
              <a:t>2.4</a:t>
            </a:r>
          </a:p>
        </p:txBody>
      </p:sp>
      <p:sp>
        <p:nvSpPr>
          <p:cNvPr id="31" name="菱形 30"/>
          <p:cNvSpPr/>
          <p:nvPr>
            <p:custDataLst>
              <p:tags r:id="rId21"/>
            </p:custDataLst>
          </p:nvPr>
        </p:nvSpPr>
        <p:spPr>
          <a:xfrm>
            <a:off x="7970520" y="2712097"/>
            <a:ext cx="301625" cy="301625"/>
          </a:xfrm>
          <a:prstGeom prst="diamond">
            <a:avLst/>
          </a:prstGeom>
          <a:solidFill>
            <a:srgbClr val="69A7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p:transition spd="slow" advTm="0"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>
            <a:spLocks noGrp="1"/>
          </p:cNvSpPr>
          <p:nvPr>
            <p:ph type="title" idx="4294967295"/>
          </p:nvPr>
        </p:nvSpPr>
        <p:spPr>
          <a:xfrm>
            <a:off x="9529445" y="266700"/>
            <a:ext cx="2670175" cy="521970"/>
          </a:xfrm>
          <a:noFill/>
        </p:spPr>
        <p:txBody>
          <a:bodyPr wrap="square" rtlCol="0">
            <a:spAutoFit/>
          </a:bodyPr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2.3 数据类型</a:t>
            </a:r>
          </a:p>
        </p:txBody>
      </p:sp>
      <p:sp>
        <p:nvSpPr>
          <p:cNvPr id="47107" name="内容占位符 2"/>
          <p:cNvSpPr>
            <a:spLocks noGrp="1"/>
          </p:cNvSpPr>
          <p:nvPr>
            <p:ph idx="4294967295"/>
          </p:nvPr>
        </p:nvSpPr>
        <p:spPr>
          <a:xfrm>
            <a:off x="574040" y="1244600"/>
            <a:ext cx="11231880" cy="4834890"/>
          </a:xfrm>
        </p:spPr>
        <p:txBody>
          <a:bodyPr/>
          <a:lstStyle/>
          <a:p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数据类型是构成编程语言语法的基础。</a:t>
            </a:r>
            <a:endParaRPr lang="en-US" altLang="zh-CN" sz="2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不同的编程语言有不同的数据类型，但都具有常用的几种数据类型。</a:t>
            </a:r>
            <a:endParaRPr lang="en-US" altLang="zh-CN" sz="2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2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Python</a:t>
            </a: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有六种内置的数据类型：</a:t>
            </a:r>
            <a:endParaRPr lang="en-US" altLang="zh-CN" sz="2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/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Number 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数字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/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String 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字符串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/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Tuple 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元组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/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List 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列表</a:t>
            </a:r>
          </a:p>
          <a:p>
            <a:pPr lvl="1"/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Set 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集合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/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Dictionary 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字典</a:t>
            </a:r>
            <a:endParaRPr lang="zh-CN" altLang="en-US" sz="2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416560" y="1075690"/>
            <a:ext cx="4739640" cy="469265"/>
          </a:xfrm>
        </p:spPr>
        <p:txBody>
          <a:bodyPr vert="horz" rtlCol="0">
            <a:normAutofit fontScale="90000"/>
          </a:bodyPr>
          <a:lstStyle/>
          <a:p>
            <a:pPr lvl="0" algn="l">
              <a:defRPr/>
            </a:pPr>
            <a:r>
              <a:rPr lang="en-US" altLang="zh-CN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1、数字</a:t>
            </a:r>
          </a:p>
        </p:txBody>
      </p:sp>
      <p:sp>
        <p:nvSpPr>
          <p:cNvPr id="48131" name="内容占位符 2"/>
          <p:cNvSpPr>
            <a:spLocks noGrp="1"/>
          </p:cNvSpPr>
          <p:nvPr>
            <p:ph idx="4294967295"/>
          </p:nvPr>
        </p:nvSpPr>
        <p:spPr>
          <a:xfrm>
            <a:off x="637540" y="1753235"/>
            <a:ext cx="11562715" cy="690880"/>
          </a:xfrm>
        </p:spPr>
        <p:txBody>
          <a:bodyPr/>
          <a:lstStyle/>
          <a:p>
            <a:pPr fontAlgn="auto">
              <a:lnSpc>
                <a:spcPts val="4060"/>
              </a:lnSpc>
              <a:spcBef>
                <a:spcPts val="0"/>
              </a:spcBef>
            </a:pPr>
            <a:r>
              <a:rPr lang="en-US" altLang="zh-CN" sz="2800" b="1"/>
              <a:t>Python 3</a:t>
            </a:r>
            <a:r>
              <a:rPr lang="zh-CN" altLang="en-US" sz="2800" b="1"/>
              <a:t>的数字类型分为：</a:t>
            </a:r>
            <a:endParaRPr lang="en-US" altLang="zh-CN" sz="2800" b="1"/>
          </a:p>
        </p:txBody>
      </p:sp>
      <p:sp>
        <p:nvSpPr>
          <p:cNvPr id="3" name="标题 1"/>
          <p:cNvSpPr txBox="1">
            <a:spLocks noGrp="1"/>
          </p:cNvSpPr>
          <p:nvPr/>
        </p:nvSpPr>
        <p:spPr>
          <a:xfrm>
            <a:off x="9529445" y="266700"/>
            <a:ext cx="2670175" cy="521970"/>
          </a:xfrm>
          <a:noFill/>
        </p:spPr>
        <p:txBody>
          <a:bodyPr wrap="square" rtlCol="0">
            <a:spAutoFit/>
          </a:bodyPr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2.3 数据类型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845820" y="4406776"/>
            <a:ext cx="10676890" cy="16529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fontAlgn="auto">
              <a:lnSpc>
                <a:spcPts val="4060"/>
              </a:lnSpc>
              <a:spcBef>
                <a:spcPts val="0"/>
              </a:spcBef>
            </a:pPr>
            <a:r>
              <a:rPr lang="zh-CN" altLang="en-US" sz="2800" b="1" dirty="0">
                <a:sym typeface="+mn-ea"/>
              </a:rPr>
              <a:t>使用</a:t>
            </a:r>
            <a:r>
              <a:rPr lang="en-US" altLang="zh-CN" sz="2800" b="1" dirty="0">
                <a:sym typeface="+mn-ea"/>
              </a:rPr>
              <a:t>Python</a:t>
            </a:r>
            <a:r>
              <a:rPr lang="zh-CN" altLang="en-US" sz="2800" b="1" dirty="0">
                <a:sym typeface="+mn-ea"/>
              </a:rPr>
              <a:t>编写程序时，不需要声明变量的类型。由</a:t>
            </a:r>
            <a:r>
              <a:rPr lang="en-US" altLang="zh-CN" sz="2800" b="1" dirty="0">
                <a:sym typeface="+mn-ea"/>
              </a:rPr>
              <a:t>Python</a:t>
            </a:r>
            <a:r>
              <a:rPr lang="zh-CN" altLang="en-US" sz="2800" b="1" dirty="0">
                <a:sym typeface="+mn-ea"/>
              </a:rPr>
              <a:t>内置的基本数据类型来管理变量，在程序的后台实现数值与类型的关联以及类型转换等操作。</a:t>
            </a:r>
            <a:endParaRPr lang="zh-CN" altLang="en-US" sz="2800" dirty="0"/>
          </a:p>
        </p:txBody>
      </p:sp>
      <p:grpSp>
        <p:nvGrpSpPr>
          <p:cNvPr id="38" name="组合 37"/>
          <p:cNvGrpSpPr/>
          <p:nvPr/>
        </p:nvGrpSpPr>
        <p:grpSpPr>
          <a:xfrm>
            <a:off x="1181100" y="2621280"/>
            <a:ext cx="9784080" cy="1727200"/>
            <a:chOff x="1860" y="4128"/>
            <a:chExt cx="15408" cy="2720"/>
          </a:xfrm>
        </p:grpSpPr>
        <p:grpSp>
          <p:nvGrpSpPr>
            <p:cNvPr id="12" name="组合 11"/>
            <p:cNvGrpSpPr/>
            <p:nvPr>
              <p:custDataLst>
                <p:tags r:id="rId1"/>
              </p:custDataLst>
            </p:nvPr>
          </p:nvGrpSpPr>
          <p:grpSpPr>
            <a:xfrm>
              <a:off x="1860" y="4198"/>
              <a:ext cx="2394" cy="2650"/>
              <a:chOff x="1609484" y="1444698"/>
              <a:chExt cx="1875485" cy="2075803"/>
            </a:xfrm>
          </p:grpSpPr>
          <p:sp>
            <p:nvSpPr>
              <p:cNvPr id="15" name="任意多边形 14"/>
              <p:cNvSpPr/>
              <p:nvPr>
                <p:custDataLst>
                  <p:tags r:id="rId11"/>
                </p:custDataLst>
              </p:nvPr>
            </p:nvSpPr>
            <p:spPr>
              <a:xfrm>
                <a:off x="1894558" y="1444698"/>
                <a:ext cx="1305336" cy="1305336"/>
              </a:xfrm>
              <a:custGeom>
                <a:avLst/>
                <a:gdLst>
                  <a:gd name="connsiteX0" fmla="*/ 652669 w 1305336"/>
                  <a:gd name="connsiteY0" fmla="*/ 0 h 1305336"/>
                  <a:gd name="connsiteX1" fmla="*/ 773218 w 1305336"/>
                  <a:gd name="connsiteY1" fmla="*/ 49934 h 1305336"/>
                  <a:gd name="connsiteX2" fmla="*/ 1255404 w 1305336"/>
                  <a:gd name="connsiteY2" fmla="*/ 532119 h 1305336"/>
                  <a:gd name="connsiteX3" fmla="*/ 1255404 w 1305336"/>
                  <a:gd name="connsiteY3" fmla="*/ 773218 h 1305336"/>
                  <a:gd name="connsiteX4" fmla="*/ 773218 w 1305336"/>
                  <a:gd name="connsiteY4" fmla="*/ 1255404 h 1305336"/>
                  <a:gd name="connsiteX5" fmla="*/ 532119 w 1305336"/>
                  <a:gd name="connsiteY5" fmla="*/ 1255404 h 1305336"/>
                  <a:gd name="connsiteX6" fmla="*/ 49934 w 1305336"/>
                  <a:gd name="connsiteY6" fmla="*/ 773218 h 1305336"/>
                  <a:gd name="connsiteX7" fmla="*/ 49934 w 1305336"/>
                  <a:gd name="connsiteY7" fmla="*/ 532119 h 1305336"/>
                  <a:gd name="connsiteX8" fmla="*/ 532119 w 1305336"/>
                  <a:gd name="connsiteY8" fmla="*/ 49934 h 1305336"/>
                  <a:gd name="connsiteX9" fmla="*/ 652669 w 1305336"/>
                  <a:gd name="connsiteY9" fmla="*/ 0 h 13053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05336" h="1305336">
                    <a:moveTo>
                      <a:pt x="652669" y="0"/>
                    </a:moveTo>
                    <a:cubicBezTo>
                      <a:pt x="696299" y="0"/>
                      <a:pt x="739929" y="16645"/>
                      <a:pt x="773218" y="49934"/>
                    </a:cubicBezTo>
                    <a:lnTo>
                      <a:pt x="1255404" y="532119"/>
                    </a:lnTo>
                    <a:cubicBezTo>
                      <a:pt x="1321981" y="598697"/>
                      <a:pt x="1321981" y="706641"/>
                      <a:pt x="1255404" y="773218"/>
                    </a:cubicBezTo>
                    <a:lnTo>
                      <a:pt x="773218" y="1255404"/>
                    </a:lnTo>
                    <a:cubicBezTo>
                      <a:pt x="706641" y="1321981"/>
                      <a:pt x="598697" y="1321981"/>
                      <a:pt x="532119" y="1255404"/>
                    </a:cubicBezTo>
                    <a:lnTo>
                      <a:pt x="49934" y="773218"/>
                    </a:lnTo>
                    <a:cubicBezTo>
                      <a:pt x="-16644" y="706641"/>
                      <a:pt x="-16644" y="598697"/>
                      <a:pt x="49934" y="532119"/>
                    </a:cubicBezTo>
                    <a:lnTo>
                      <a:pt x="532119" y="49934"/>
                    </a:lnTo>
                    <a:cubicBezTo>
                      <a:pt x="565408" y="16645"/>
                      <a:pt x="609038" y="0"/>
                      <a:pt x="652669" y="0"/>
                    </a:cubicBezTo>
                    <a:close/>
                  </a:path>
                </a:pathLst>
              </a:cu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tIns="252000" rtlCol="0" anchor="ctr">
                <a:normAutofit/>
              </a:bodyPr>
              <a:lstStyle/>
              <a:p>
                <a:pPr algn="ctr"/>
                <a:r>
                  <a:rPr lang="en-US" altLang="zh-CN" sz="3600">
                    <a:solidFill>
                      <a:srgbClr val="E779A3"/>
                    </a:solidFill>
                    <a:latin typeface="Arial Black" panose="020B0A04020102020204" pitchFamily="34" charset="0"/>
                    <a:ea typeface="+mn-ea"/>
                    <a:cs typeface="Arial Black" panose="020B0A04020102020204" pitchFamily="34" charset="0"/>
                    <a:sym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12"/>
                </p:custDataLst>
              </p:nvPr>
            </p:nvSpPr>
            <p:spPr>
              <a:xfrm flipH="1">
                <a:off x="1609484" y="2874170"/>
                <a:ext cx="1875485" cy="646331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rmAutofit/>
              </a:bodyPr>
              <a:lstStyle/>
              <a:p>
                <a:pPr algn="ctr"/>
                <a:r>
                  <a:rPr lang="zh-CN" altLang="en-US" dirty="0">
                    <a:solidFill>
                      <a:srgbClr val="FF0000"/>
                    </a:solidFill>
                    <a:latin typeface="方正大黑简体" panose="02010601030101010101" pitchFamily="2" charset="-122"/>
                    <a:ea typeface="方正大黑简体" panose="02010601030101010101" pitchFamily="2" charset="-122"/>
                    <a:sym typeface="Arial" panose="020B0604020202020204" pitchFamily="34" charset="0"/>
                  </a:rPr>
                  <a:t>整型</a:t>
                </a:r>
              </a:p>
            </p:txBody>
          </p:sp>
        </p:grpSp>
        <p:grpSp>
          <p:nvGrpSpPr>
            <p:cNvPr id="23" name="组合 22"/>
            <p:cNvGrpSpPr/>
            <p:nvPr>
              <p:custDataLst>
                <p:tags r:id="rId2"/>
              </p:custDataLst>
            </p:nvPr>
          </p:nvGrpSpPr>
          <p:grpSpPr>
            <a:xfrm>
              <a:off x="6290" y="4128"/>
              <a:ext cx="2394" cy="2650"/>
              <a:chOff x="4309182" y="1444698"/>
              <a:chExt cx="1875485" cy="2075803"/>
            </a:xfrm>
          </p:grpSpPr>
          <p:sp>
            <p:nvSpPr>
              <p:cNvPr id="25" name="任意多边形 24"/>
              <p:cNvSpPr/>
              <p:nvPr>
                <p:custDataLst>
                  <p:tags r:id="rId9"/>
                </p:custDataLst>
              </p:nvPr>
            </p:nvSpPr>
            <p:spPr>
              <a:xfrm>
                <a:off x="4594256" y="1444698"/>
                <a:ext cx="1305336" cy="1305336"/>
              </a:xfrm>
              <a:custGeom>
                <a:avLst/>
                <a:gdLst>
                  <a:gd name="connsiteX0" fmla="*/ 652669 w 1305336"/>
                  <a:gd name="connsiteY0" fmla="*/ 0 h 1305336"/>
                  <a:gd name="connsiteX1" fmla="*/ 773218 w 1305336"/>
                  <a:gd name="connsiteY1" fmla="*/ 49934 h 1305336"/>
                  <a:gd name="connsiteX2" fmla="*/ 1255404 w 1305336"/>
                  <a:gd name="connsiteY2" fmla="*/ 532119 h 1305336"/>
                  <a:gd name="connsiteX3" fmla="*/ 1255404 w 1305336"/>
                  <a:gd name="connsiteY3" fmla="*/ 773218 h 1305336"/>
                  <a:gd name="connsiteX4" fmla="*/ 773218 w 1305336"/>
                  <a:gd name="connsiteY4" fmla="*/ 1255404 h 1305336"/>
                  <a:gd name="connsiteX5" fmla="*/ 532119 w 1305336"/>
                  <a:gd name="connsiteY5" fmla="*/ 1255404 h 1305336"/>
                  <a:gd name="connsiteX6" fmla="*/ 49934 w 1305336"/>
                  <a:gd name="connsiteY6" fmla="*/ 773218 h 1305336"/>
                  <a:gd name="connsiteX7" fmla="*/ 49934 w 1305336"/>
                  <a:gd name="connsiteY7" fmla="*/ 532119 h 1305336"/>
                  <a:gd name="connsiteX8" fmla="*/ 532119 w 1305336"/>
                  <a:gd name="connsiteY8" fmla="*/ 49934 h 1305336"/>
                  <a:gd name="connsiteX9" fmla="*/ 652669 w 1305336"/>
                  <a:gd name="connsiteY9" fmla="*/ 0 h 13053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05336" h="1305336">
                    <a:moveTo>
                      <a:pt x="652669" y="0"/>
                    </a:moveTo>
                    <a:cubicBezTo>
                      <a:pt x="696299" y="0"/>
                      <a:pt x="739929" y="16645"/>
                      <a:pt x="773218" y="49934"/>
                    </a:cubicBezTo>
                    <a:lnTo>
                      <a:pt x="1255404" y="532119"/>
                    </a:lnTo>
                    <a:cubicBezTo>
                      <a:pt x="1321981" y="598697"/>
                      <a:pt x="1321981" y="706641"/>
                      <a:pt x="1255404" y="773218"/>
                    </a:cubicBezTo>
                    <a:lnTo>
                      <a:pt x="773218" y="1255404"/>
                    </a:lnTo>
                    <a:cubicBezTo>
                      <a:pt x="706641" y="1321981"/>
                      <a:pt x="598697" y="1321981"/>
                      <a:pt x="532119" y="1255404"/>
                    </a:cubicBezTo>
                    <a:lnTo>
                      <a:pt x="49934" y="773218"/>
                    </a:lnTo>
                    <a:cubicBezTo>
                      <a:pt x="-16644" y="706641"/>
                      <a:pt x="-16644" y="598697"/>
                      <a:pt x="49934" y="532119"/>
                    </a:cubicBezTo>
                    <a:lnTo>
                      <a:pt x="532119" y="49934"/>
                    </a:lnTo>
                    <a:cubicBezTo>
                      <a:pt x="565408" y="16645"/>
                      <a:pt x="609038" y="0"/>
                      <a:pt x="652669" y="0"/>
                    </a:cubicBezTo>
                    <a:close/>
                  </a:path>
                </a:pathLst>
              </a:cu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tIns="252000" rtlCol="0" anchor="ctr">
                <a:normAutofit/>
              </a:bodyPr>
              <a:lstStyle/>
              <a:p>
                <a:pPr algn="ctr"/>
                <a:r>
                  <a:rPr lang="en-US" altLang="zh-CN" sz="3600">
                    <a:solidFill>
                      <a:srgbClr val="FFC91D"/>
                    </a:solidFill>
                    <a:latin typeface="Arial Black" panose="020B0A04020102020204" pitchFamily="34" charset="0"/>
                    <a:ea typeface="+mn-ea"/>
                    <a:cs typeface="Arial Black" panose="020B0A04020102020204" pitchFamily="34" charset="0"/>
                    <a:sym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27" name="文本框 26"/>
              <p:cNvSpPr txBox="1"/>
              <p:nvPr>
                <p:custDataLst>
                  <p:tags r:id="rId10"/>
                </p:custDataLst>
              </p:nvPr>
            </p:nvSpPr>
            <p:spPr>
              <a:xfrm flipH="1">
                <a:off x="4309182" y="2874170"/>
                <a:ext cx="1875485" cy="646331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rmAutofit/>
              </a:bodyPr>
              <a:lstStyle/>
              <a:p>
                <a:pPr lvl="0" algn="ctr"/>
                <a:r>
                  <a:rPr lang="zh-CN" altLang="en-US" dirty="0">
                    <a:solidFill>
                      <a:srgbClr val="FF0000"/>
                    </a:solidFill>
                    <a:latin typeface="方正大黑简体" panose="02010601030101010101" pitchFamily="2" charset="-122"/>
                    <a:ea typeface="方正大黑简体" panose="02010601030101010101" pitchFamily="2" charset="-122"/>
                    <a:sym typeface="Arial" panose="020B0604020202020204" pitchFamily="34" charset="0"/>
                  </a:rPr>
                  <a:t>浮点型</a:t>
                </a:r>
              </a:p>
            </p:txBody>
          </p:sp>
        </p:grpSp>
        <p:grpSp>
          <p:nvGrpSpPr>
            <p:cNvPr id="28" name="组合 27"/>
            <p:cNvGrpSpPr/>
            <p:nvPr>
              <p:custDataLst>
                <p:tags r:id="rId3"/>
              </p:custDataLst>
            </p:nvPr>
          </p:nvGrpSpPr>
          <p:grpSpPr>
            <a:xfrm>
              <a:off x="10414" y="4128"/>
              <a:ext cx="2394" cy="2650"/>
              <a:chOff x="2959333" y="3617849"/>
              <a:chExt cx="1875485" cy="2075803"/>
            </a:xfrm>
          </p:grpSpPr>
          <p:sp>
            <p:nvSpPr>
              <p:cNvPr id="30" name="任意多边形 29"/>
              <p:cNvSpPr/>
              <p:nvPr>
                <p:custDataLst>
                  <p:tags r:id="rId7"/>
                </p:custDataLst>
              </p:nvPr>
            </p:nvSpPr>
            <p:spPr>
              <a:xfrm>
                <a:off x="3244407" y="3617849"/>
                <a:ext cx="1305336" cy="1305336"/>
              </a:xfrm>
              <a:custGeom>
                <a:avLst/>
                <a:gdLst>
                  <a:gd name="connsiteX0" fmla="*/ 652669 w 1305336"/>
                  <a:gd name="connsiteY0" fmla="*/ 0 h 1305336"/>
                  <a:gd name="connsiteX1" fmla="*/ 773218 w 1305336"/>
                  <a:gd name="connsiteY1" fmla="*/ 49934 h 1305336"/>
                  <a:gd name="connsiteX2" fmla="*/ 1255404 w 1305336"/>
                  <a:gd name="connsiteY2" fmla="*/ 532119 h 1305336"/>
                  <a:gd name="connsiteX3" fmla="*/ 1255404 w 1305336"/>
                  <a:gd name="connsiteY3" fmla="*/ 773218 h 1305336"/>
                  <a:gd name="connsiteX4" fmla="*/ 773218 w 1305336"/>
                  <a:gd name="connsiteY4" fmla="*/ 1255404 h 1305336"/>
                  <a:gd name="connsiteX5" fmla="*/ 532119 w 1305336"/>
                  <a:gd name="connsiteY5" fmla="*/ 1255404 h 1305336"/>
                  <a:gd name="connsiteX6" fmla="*/ 49934 w 1305336"/>
                  <a:gd name="connsiteY6" fmla="*/ 773218 h 1305336"/>
                  <a:gd name="connsiteX7" fmla="*/ 49934 w 1305336"/>
                  <a:gd name="connsiteY7" fmla="*/ 532119 h 1305336"/>
                  <a:gd name="connsiteX8" fmla="*/ 532119 w 1305336"/>
                  <a:gd name="connsiteY8" fmla="*/ 49934 h 1305336"/>
                  <a:gd name="connsiteX9" fmla="*/ 652669 w 1305336"/>
                  <a:gd name="connsiteY9" fmla="*/ 0 h 13053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05336" h="1305336">
                    <a:moveTo>
                      <a:pt x="652669" y="0"/>
                    </a:moveTo>
                    <a:cubicBezTo>
                      <a:pt x="696299" y="0"/>
                      <a:pt x="739929" y="16645"/>
                      <a:pt x="773218" y="49934"/>
                    </a:cubicBezTo>
                    <a:lnTo>
                      <a:pt x="1255404" y="532119"/>
                    </a:lnTo>
                    <a:cubicBezTo>
                      <a:pt x="1321981" y="598697"/>
                      <a:pt x="1321981" y="706641"/>
                      <a:pt x="1255404" y="773218"/>
                    </a:cubicBezTo>
                    <a:lnTo>
                      <a:pt x="773218" y="1255404"/>
                    </a:lnTo>
                    <a:cubicBezTo>
                      <a:pt x="706641" y="1321981"/>
                      <a:pt x="598697" y="1321981"/>
                      <a:pt x="532119" y="1255404"/>
                    </a:cubicBezTo>
                    <a:lnTo>
                      <a:pt x="49934" y="773218"/>
                    </a:lnTo>
                    <a:cubicBezTo>
                      <a:pt x="-16644" y="706641"/>
                      <a:pt x="-16644" y="598697"/>
                      <a:pt x="49934" y="532119"/>
                    </a:cubicBezTo>
                    <a:lnTo>
                      <a:pt x="532119" y="49934"/>
                    </a:lnTo>
                    <a:cubicBezTo>
                      <a:pt x="565408" y="16645"/>
                      <a:pt x="609038" y="0"/>
                      <a:pt x="652669" y="0"/>
                    </a:cubicBezTo>
                    <a:close/>
                  </a:path>
                </a:pathLst>
              </a:cu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tIns="252000" rtlCol="0" anchor="ctr">
                <a:normAutofit/>
              </a:bodyPr>
              <a:lstStyle/>
              <a:p>
                <a:pPr algn="ctr"/>
                <a:r>
                  <a:rPr lang="en-US" altLang="zh-CN" sz="3600">
                    <a:solidFill>
                      <a:srgbClr val="FFC91D"/>
                    </a:solidFill>
                    <a:latin typeface="Arial Black" panose="020B0A04020102020204" pitchFamily="34" charset="0"/>
                    <a:ea typeface="+mn-ea"/>
                    <a:cs typeface="Arial Black" panose="020B0A04020102020204" pitchFamily="34" charset="0"/>
                    <a:sym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32" name="文本框 31"/>
              <p:cNvSpPr txBox="1"/>
              <p:nvPr>
                <p:custDataLst>
                  <p:tags r:id="rId8"/>
                </p:custDataLst>
              </p:nvPr>
            </p:nvSpPr>
            <p:spPr>
              <a:xfrm flipH="1">
                <a:off x="2959333" y="5047321"/>
                <a:ext cx="1875485" cy="646331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rmAutofit/>
              </a:bodyPr>
              <a:lstStyle/>
              <a:p>
                <a:pPr lvl="0" algn="ctr"/>
                <a:r>
                  <a:rPr lang="zh-CN" altLang="en-US" dirty="0">
                    <a:solidFill>
                      <a:srgbClr val="FF0000"/>
                    </a:solidFill>
                    <a:latin typeface="方正大黑简体" panose="02010601030101010101" pitchFamily="2" charset="-122"/>
                    <a:ea typeface="方正大黑简体" panose="02010601030101010101" pitchFamily="2" charset="-122"/>
                    <a:sym typeface="Arial" panose="020B0604020202020204" pitchFamily="34" charset="0"/>
                  </a:rPr>
                  <a:t>布尔型</a:t>
                </a:r>
              </a:p>
            </p:txBody>
          </p:sp>
        </p:grpSp>
        <p:grpSp>
          <p:nvGrpSpPr>
            <p:cNvPr id="33" name="组合 32"/>
            <p:cNvGrpSpPr/>
            <p:nvPr>
              <p:custDataLst>
                <p:tags r:id="rId4"/>
              </p:custDataLst>
            </p:nvPr>
          </p:nvGrpSpPr>
          <p:grpSpPr>
            <a:xfrm>
              <a:off x="14874" y="4198"/>
              <a:ext cx="2394" cy="2580"/>
              <a:chOff x="5991131" y="2666195"/>
              <a:chExt cx="1875485" cy="2020975"/>
            </a:xfrm>
          </p:grpSpPr>
          <p:sp>
            <p:nvSpPr>
              <p:cNvPr id="35" name="任意多边形 34"/>
              <p:cNvSpPr/>
              <p:nvPr>
                <p:custDataLst>
                  <p:tags r:id="rId5"/>
                </p:custDataLst>
              </p:nvPr>
            </p:nvSpPr>
            <p:spPr>
              <a:xfrm>
                <a:off x="6095273" y="2666195"/>
                <a:ext cx="1305336" cy="1305336"/>
              </a:xfrm>
              <a:custGeom>
                <a:avLst/>
                <a:gdLst>
                  <a:gd name="connsiteX0" fmla="*/ 652669 w 1305336"/>
                  <a:gd name="connsiteY0" fmla="*/ 0 h 1305336"/>
                  <a:gd name="connsiteX1" fmla="*/ 773218 w 1305336"/>
                  <a:gd name="connsiteY1" fmla="*/ 49934 h 1305336"/>
                  <a:gd name="connsiteX2" fmla="*/ 1255404 w 1305336"/>
                  <a:gd name="connsiteY2" fmla="*/ 532119 h 1305336"/>
                  <a:gd name="connsiteX3" fmla="*/ 1255404 w 1305336"/>
                  <a:gd name="connsiteY3" fmla="*/ 773218 h 1305336"/>
                  <a:gd name="connsiteX4" fmla="*/ 773218 w 1305336"/>
                  <a:gd name="connsiteY4" fmla="*/ 1255404 h 1305336"/>
                  <a:gd name="connsiteX5" fmla="*/ 532119 w 1305336"/>
                  <a:gd name="connsiteY5" fmla="*/ 1255404 h 1305336"/>
                  <a:gd name="connsiteX6" fmla="*/ 49934 w 1305336"/>
                  <a:gd name="connsiteY6" fmla="*/ 773218 h 1305336"/>
                  <a:gd name="connsiteX7" fmla="*/ 49934 w 1305336"/>
                  <a:gd name="connsiteY7" fmla="*/ 532119 h 1305336"/>
                  <a:gd name="connsiteX8" fmla="*/ 532119 w 1305336"/>
                  <a:gd name="connsiteY8" fmla="*/ 49934 h 1305336"/>
                  <a:gd name="connsiteX9" fmla="*/ 652669 w 1305336"/>
                  <a:gd name="connsiteY9" fmla="*/ 0 h 13053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05336" h="1305336">
                    <a:moveTo>
                      <a:pt x="652669" y="0"/>
                    </a:moveTo>
                    <a:cubicBezTo>
                      <a:pt x="696299" y="0"/>
                      <a:pt x="739929" y="16645"/>
                      <a:pt x="773218" y="49934"/>
                    </a:cubicBezTo>
                    <a:lnTo>
                      <a:pt x="1255404" y="532119"/>
                    </a:lnTo>
                    <a:cubicBezTo>
                      <a:pt x="1321981" y="598697"/>
                      <a:pt x="1321981" y="706641"/>
                      <a:pt x="1255404" y="773218"/>
                    </a:cubicBezTo>
                    <a:lnTo>
                      <a:pt x="773218" y="1255404"/>
                    </a:lnTo>
                    <a:cubicBezTo>
                      <a:pt x="706641" y="1321981"/>
                      <a:pt x="598697" y="1321981"/>
                      <a:pt x="532119" y="1255404"/>
                    </a:cubicBezTo>
                    <a:lnTo>
                      <a:pt x="49934" y="773218"/>
                    </a:lnTo>
                    <a:cubicBezTo>
                      <a:pt x="-16644" y="706641"/>
                      <a:pt x="-16644" y="598697"/>
                      <a:pt x="49934" y="532119"/>
                    </a:cubicBezTo>
                    <a:lnTo>
                      <a:pt x="532119" y="49934"/>
                    </a:lnTo>
                    <a:cubicBezTo>
                      <a:pt x="565408" y="16645"/>
                      <a:pt x="609038" y="0"/>
                      <a:pt x="652669" y="0"/>
                    </a:cubicBezTo>
                    <a:close/>
                  </a:path>
                </a:pathLst>
              </a:cu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tIns="252000" rtlCol="0" anchor="ctr">
                <a:normAutofit/>
              </a:bodyPr>
              <a:lstStyle/>
              <a:p>
                <a:pPr algn="ctr"/>
                <a:r>
                  <a:rPr lang="en-US" altLang="zh-CN" sz="3600">
                    <a:solidFill>
                      <a:srgbClr val="E779A3"/>
                    </a:solidFill>
                    <a:latin typeface="Arial Black" panose="020B0A04020102020204" pitchFamily="34" charset="0"/>
                    <a:ea typeface="+mn-ea"/>
                    <a:cs typeface="Arial Black" panose="020B0A04020102020204" pitchFamily="34" charset="0"/>
                    <a:sym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37" name="文本框 36"/>
              <p:cNvSpPr txBox="1"/>
              <p:nvPr>
                <p:custDataLst>
                  <p:tags r:id="rId6"/>
                </p:custDataLst>
              </p:nvPr>
            </p:nvSpPr>
            <p:spPr>
              <a:xfrm flipH="1">
                <a:off x="5991131" y="4040839"/>
                <a:ext cx="1875485" cy="646331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rmAutofit/>
              </a:bodyPr>
              <a:lstStyle/>
              <a:p>
                <a:pPr lvl="0" algn="ctr"/>
                <a:r>
                  <a:rPr lang="zh-CN" altLang="en-US" dirty="0">
                    <a:solidFill>
                      <a:srgbClr val="FF0000"/>
                    </a:solidFill>
                    <a:latin typeface="方正大黑简体" panose="02010601030101010101" pitchFamily="2" charset="-122"/>
                    <a:ea typeface="方正大黑简体" panose="02010601030101010101" pitchFamily="2" charset="-122"/>
                    <a:sym typeface="Arial" panose="020B0604020202020204" pitchFamily="34" charset="0"/>
                  </a:rPr>
                  <a:t>复数类型</a:t>
                </a:r>
              </a:p>
            </p:txBody>
          </p:sp>
        </p:grpSp>
      </p:grpSp>
    </p:spTree>
  </p:cSld>
  <p:clrMapOvr>
    <a:masterClrMapping/>
  </p:clrMapOvr>
  <p:transition spd="slow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"/>
          <p:cNvSpPr txBox="1">
            <a:spLocks noGrp="1"/>
          </p:cNvSpPr>
          <p:nvPr/>
        </p:nvSpPr>
        <p:spPr>
          <a:xfrm>
            <a:off x="9529445" y="266700"/>
            <a:ext cx="2670175" cy="521970"/>
          </a:xfrm>
          <a:noFill/>
        </p:spPr>
        <p:txBody>
          <a:bodyPr wrap="square" rtlCol="0">
            <a:spAutoFit/>
          </a:bodyPr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2.3 数据类型</a:t>
            </a:r>
          </a:p>
        </p:txBody>
      </p:sp>
      <p:sp>
        <p:nvSpPr>
          <p:cNvPr id="12" name="矩形 28"/>
          <p:cNvSpPr/>
          <p:nvPr/>
        </p:nvSpPr>
        <p:spPr>
          <a:xfrm>
            <a:off x="3712362" y="958183"/>
            <a:ext cx="510214" cy="598302"/>
          </a:xfrm>
          <a:prstGeom prst="rect">
            <a:avLst/>
          </a:prstGeom>
          <a:solidFill>
            <a:srgbClr val="9421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>
              <a:solidFill>
                <a:prstClr val="white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4210636" y="958183"/>
            <a:ext cx="3744416" cy="598302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4" name="Freeform 83"/>
          <p:cNvSpPr>
            <a:spLocks noChangeArrowheads="1"/>
          </p:cNvSpPr>
          <p:nvPr/>
        </p:nvSpPr>
        <p:spPr bwMode="auto">
          <a:xfrm>
            <a:off x="3823469" y="1113334"/>
            <a:ext cx="288000" cy="288000"/>
          </a:xfrm>
          <a:custGeom>
            <a:avLst/>
            <a:gdLst>
              <a:gd name="T0" fmla="*/ 38764526 w 602"/>
              <a:gd name="T1" fmla="*/ 78442719 h 602"/>
              <a:gd name="T2" fmla="*/ 38764526 w 602"/>
              <a:gd name="T3" fmla="*/ 78442719 h 602"/>
              <a:gd name="T4" fmla="*/ 0 w 602"/>
              <a:gd name="T5" fmla="*/ 38764526 h 602"/>
              <a:gd name="T6" fmla="*/ 38764526 w 602"/>
              <a:gd name="T7" fmla="*/ 0 h 602"/>
              <a:gd name="T8" fmla="*/ 78442719 w 602"/>
              <a:gd name="T9" fmla="*/ 38764526 h 602"/>
              <a:gd name="T10" fmla="*/ 38764526 w 602"/>
              <a:gd name="T11" fmla="*/ 78442719 h 602"/>
              <a:gd name="T12" fmla="*/ 61866665 w 602"/>
              <a:gd name="T13" fmla="*/ 16576054 h 602"/>
              <a:gd name="T14" fmla="*/ 61866665 w 602"/>
              <a:gd name="T15" fmla="*/ 16576054 h 602"/>
              <a:gd name="T16" fmla="*/ 38764526 w 602"/>
              <a:gd name="T17" fmla="*/ 38764526 h 602"/>
              <a:gd name="T18" fmla="*/ 38764526 w 602"/>
              <a:gd name="T19" fmla="*/ 7308970 h 602"/>
              <a:gd name="T20" fmla="*/ 7439751 w 602"/>
              <a:gd name="T21" fmla="*/ 38764526 h 602"/>
              <a:gd name="T22" fmla="*/ 38764526 w 602"/>
              <a:gd name="T23" fmla="*/ 71002968 h 602"/>
              <a:gd name="T24" fmla="*/ 71002968 w 602"/>
              <a:gd name="T25" fmla="*/ 38764526 h 602"/>
              <a:gd name="T26" fmla="*/ 61866665 w 602"/>
              <a:gd name="T27" fmla="*/ 16576054 h 602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0" t="0" r="r" b="b"/>
            <a:pathLst>
              <a:path w="602" h="602">
                <a:moveTo>
                  <a:pt x="297" y="601"/>
                </a:moveTo>
                <a:lnTo>
                  <a:pt x="297" y="601"/>
                </a:lnTo>
                <a:cubicBezTo>
                  <a:pt x="135" y="601"/>
                  <a:pt x="0" y="466"/>
                  <a:pt x="0" y="297"/>
                </a:cubicBezTo>
                <a:cubicBezTo>
                  <a:pt x="0" y="134"/>
                  <a:pt x="135" y="0"/>
                  <a:pt x="297" y="0"/>
                </a:cubicBezTo>
                <a:cubicBezTo>
                  <a:pt x="467" y="0"/>
                  <a:pt x="601" y="134"/>
                  <a:pt x="601" y="297"/>
                </a:cubicBezTo>
                <a:cubicBezTo>
                  <a:pt x="601" y="466"/>
                  <a:pt x="467" y="601"/>
                  <a:pt x="297" y="601"/>
                </a:cubicBezTo>
                <a:close/>
                <a:moveTo>
                  <a:pt x="474" y="127"/>
                </a:moveTo>
                <a:lnTo>
                  <a:pt x="474" y="127"/>
                </a:lnTo>
                <a:cubicBezTo>
                  <a:pt x="297" y="297"/>
                  <a:pt x="297" y="297"/>
                  <a:pt x="297" y="297"/>
                </a:cubicBezTo>
                <a:cubicBezTo>
                  <a:pt x="297" y="56"/>
                  <a:pt x="297" y="56"/>
                  <a:pt x="297" y="56"/>
                </a:cubicBezTo>
                <a:cubicBezTo>
                  <a:pt x="163" y="56"/>
                  <a:pt x="57" y="162"/>
                  <a:pt x="57" y="297"/>
                </a:cubicBezTo>
                <a:cubicBezTo>
                  <a:pt x="57" y="431"/>
                  <a:pt x="163" y="544"/>
                  <a:pt x="297" y="544"/>
                </a:cubicBezTo>
                <a:cubicBezTo>
                  <a:pt x="431" y="544"/>
                  <a:pt x="544" y="431"/>
                  <a:pt x="544" y="297"/>
                </a:cubicBezTo>
                <a:cubicBezTo>
                  <a:pt x="544" y="233"/>
                  <a:pt x="516" y="169"/>
                  <a:pt x="474" y="12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5" name="文本框 5"/>
          <p:cNvSpPr txBox="1"/>
          <p:nvPr/>
        </p:nvSpPr>
        <p:spPr>
          <a:xfrm>
            <a:off x="4685046" y="958183"/>
            <a:ext cx="2909966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整型（</a:t>
            </a:r>
            <a:r>
              <a:rPr lang="en-US" altLang="zh-CN" sz="28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int</a:t>
            </a:r>
            <a:r>
              <a:rPr lang="zh-CN" altLang="en-US" sz="28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</a:p>
        </p:txBody>
      </p:sp>
      <p:sp>
        <p:nvSpPr>
          <p:cNvPr id="4" name="内容占位符 1"/>
          <p:cNvSpPr>
            <a:spLocks noGrp="1"/>
          </p:cNvSpPr>
          <p:nvPr/>
        </p:nvSpPr>
        <p:spPr>
          <a:xfrm>
            <a:off x="509905" y="2091055"/>
            <a:ext cx="11260455" cy="1384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整型的取值为整数，有正有负，如 </a:t>
            </a:r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-666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666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等。在</a:t>
            </a:r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Python3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后不再区分整数和长整数（</a:t>
            </a:r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int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long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</a:p>
        </p:txBody>
      </p:sp>
      <p:sp>
        <p:nvSpPr>
          <p:cNvPr id="5" name="标题 1"/>
          <p:cNvSpPr>
            <a:spLocks noGrp="1"/>
          </p:cNvSpPr>
          <p:nvPr/>
        </p:nvSpPr>
        <p:spPr>
          <a:xfrm>
            <a:off x="330835" y="887095"/>
            <a:ext cx="4739640" cy="885825"/>
          </a:xfrm>
        </p:spPr>
        <p:txBody>
          <a:bodyPr vert="horz" rtlCol="0">
            <a:normAutofit/>
          </a:bodyPr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>
              <a:defRPr/>
            </a:pP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1、数字</a:t>
            </a:r>
          </a:p>
        </p:txBody>
      </p:sp>
    </p:spTree>
  </p:cSld>
  <p:clrMapOvr>
    <a:masterClrMapping/>
  </p:clrMapOvr>
  <p:transition spd="slow" advTm="0"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380208" y="1643810"/>
            <a:ext cx="10220116" cy="417723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浮点型的取值为小数，当计算有精度要求时被使用</a:t>
            </a:r>
            <a:r>
              <a:rPr kumimoji="1"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</a:t>
            </a:r>
            <a:r>
              <a:rPr kumimoji="1"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由于小数点可以在相应的二进制的不同位置浮动，故而称为浮点数</a:t>
            </a:r>
            <a:endParaRPr kumimoji="1"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如 </a:t>
            </a:r>
            <a:r>
              <a:rPr kumimoji="1"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3.14</a:t>
            </a:r>
            <a:r>
              <a:rPr kumimoji="1"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kumimoji="1"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-6.66</a:t>
            </a:r>
            <a:r>
              <a:rPr kumimoji="1"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等，但是如果是非常大或者非常小的浮点数，就需要使用科学计数法表示，用 </a:t>
            </a:r>
            <a:r>
              <a:rPr kumimoji="1"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</a:t>
            </a:r>
            <a:r>
              <a:rPr kumimoji="1"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代替 </a:t>
            </a:r>
            <a:r>
              <a:rPr kumimoji="1"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10</a:t>
            </a:r>
            <a:r>
              <a:rPr kumimoji="1"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。</a:t>
            </a:r>
            <a:endParaRPr kumimoji="1"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349" y="4972561"/>
            <a:ext cx="9308223" cy="959611"/>
          </a:xfrm>
          <a:prstGeom prst="rect">
            <a:avLst/>
          </a:prstGeom>
        </p:spPr>
      </p:pic>
      <p:sp>
        <p:nvSpPr>
          <p:cNvPr id="11" name="标题 1"/>
          <p:cNvSpPr txBox="1">
            <a:spLocks noGrp="1"/>
          </p:cNvSpPr>
          <p:nvPr/>
        </p:nvSpPr>
        <p:spPr>
          <a:xfrm>
            <a:off x="9529445" y="266700"/>
            <a:ext cx="2670175" cy="521970"/>
          </a:xfrm>
          <a:noFill/>
        </p:spPr>
        <p:txBody>
          <a:bodyPr wrap="square" rtlCol="0">
            <a:spAutoFit/>
          </a:bodyPr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2.3 数据类型</a:t>
            </a:r>
          </a:p>
        </p:txBody>
      </p:sp>
      <p:sp>
        <p:nvSpPr>
          <p:cNvPr id="12" name="矩形 28"/>
          <p:cNvSpPr/>
          <p:nvPr/>
        </p:nvSpPr>
        <p:spPr>
          <a:xfrm>
            <a:off x="3568852" y="958183"/>
            <a:ext cx="510214" cy="598302"/>
          </a:xfrm>
          <a:prstGeom prst="rect">
            <a:avLst/>
          </a:prstGeom>
          <a:solidFill>
            <a:srgbClr val="9421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>
              <a:solidFill>
                <a:prstClr val="white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4067126" y="958183"/>
            <a:ext cx="3744416" cy="598302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4" name="Freeform 83"/>
          <p:cNvSpPr>
            <a:spLocks noChangeArrowheads="1"/>
          </p:cNvSpPr>
          <p:nvPr/>
        </p:nvSpPr>
        <p:spPr bwMode="auto">
          <a:xfrm>
            <a:off x="3679959" y="1113334"/>
            <a:ext cx="288000" cy="288000"/>
          </a:xfrm>
          <a:custGeom>
            <a:avLst/>
            <a:gdLst>
              <a:gd name="T0" fmla="*/ 38764526 w 602"/>
              <a:gd name="T1" fmla="*/ 78442719 h 602"/>
              <a:gd name="T2" fmla="*/ 38764526 w 602"/>
              <a:gd name="T3" fmla="*/ 78442719 h 602"/>
              <a:gd name="T4" fmla="*/ 0 w 602"/>
              <a:gd name="T5" fmla="*/ 38764526 h 602"/>
              <a:gd name="T6" fmla="*/ 38764526 w 602"/>
              <a:gd name="T7" fmla="*/ 0 h 602"/>
              <a:gd name="T8" fmla="*/ 78442719 w 602"/>
              <a:gd name="T9" fmla="*/ 38764526 h 602"/>
              <a:gd name="T10" fmla="*/ 38764526 w 602"/>
              <a:gd name="T11" fmla="*/ 78442719 h 602"/>
              <a:gd name="T12" fmla="*/ 61866665 w 602"/>
              <a:gd name="T13" fmla="*/ 16576054 h 602"/>
              <a:gd name="T14" fmla="*/ 61866665 w 602"/>
              <a:gd name="T15" fmla="*/ 16576054 h 602"/>
              <a:gd name="T16" fmla="*/ 38764526 w 602"/>
              <a:gd name="T17" fmla="*/ 38764526 h 602"/>
              <a:gd name="T18" fmla="*/ 38764526 w 602"/>
              <a:gd name="T19" fmla="*/ 7308970 h 602"/>
              <a:gd name="T20" fmla="*/ 7439751 w 602"/>
              <a:gd name="T21" fmla="*/ 38764526 h 602"/>
              <a:gd name="T22" fmla="*/ 38764526 w 602"/>
              <a:gd name="T23" fmla="*/ 71002968 h 602"/>
              <a:gd name="T24" fmla="*/ 71002968 w 602"/>
              <a:gd name="T25" fmla="*/ 38764526 h 602"/>
              <a:gd name="T26" fmla="*/ 61866665 w 602"/>
              <a:gd name="T27" fmla="*/ 16576054 h 602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0" t="0" r="r" b="b"/>
            <a:pathLst>
              <a:path w="602" h="602">
                <a:moveTo>
                  <a:pt x="297" y="601"/>
                </a:moveTo>
                <a:lnTo>
                  <a:pt x="297" y="601"/>
                </a:lnTo>
                <a:cubicBezTo>
                  <a:pt x="135" y="601"/>
                  <a:pt x="0" y="466"/>
                  <a:pt x="0" y="297"/>
                </a:cubicBezTo>
                <a:cubicBezTo>
                  <a:pt x="0" y="134"/>
                  <a:pt x="135" y="0"/>
                  <a:pt x="297" y="0"/>
                </a:cubicBezTo>
                <a:cubicBezTo>
                  <a:pt x="467" y="0"/>
                  <a:pt x="601" y="134"/>
                  <a:pt x="601" y="297"/>
                </a:cubicBezTo>
                <a:cubicBezTo>
                  <a:pt x="601" y="466"/>
                  <a:pt x="467" y="601"/>
                  <a:pt x="297" y="601"/>
                </a:cubicBezTo>
                <a:close/>
                <a:moveTo>
                  <a:pt x="474" y="127"/>
                </a:moveTo>
                <a:lnTo>
                  <a:pt x="474" y="127"/>
                </a:lnTo>
                <a:cubicBezTo>
                  <a:pt x="297" y="297"/>
                  <a:pt x="297" y="297"/>
                  <a:pt x="297" y="297"/>
                </a:cubicBezTo>
                <a:cubicBezTo>
                  <a:pt x="297" y="56"/>
                  <a:pt x="297" y="56"/>
                  <a:pt x="297" y="56"/>
                </a:cubicBezTo>
                <a:cubicBezTo>
                  <a:pt x="163" y="56"/>
                  <a:pt x="57" y="162"/>
                  <a:pt x="57" y="297"/>
                </a:cubicBezTo>
                <a:cubicBezTo>
                  <a:pt x="57" y="431"/>
                  <a:pt x="163" y="544"/>
                  <a:pt x="297" y="544"/>
                </a:cubicBezTo>
                <a:cubicBezTo>
                  <a:pt x="431" y="544"/>
                  <a:pt x="544" y="431"/>
                  <a:pt x="544" y="297"/>
                </a:cubicBezTo>
                <a:cubicBezTo>
                  <a:pt x="544" y="233"/>
                  <a:pt x="516" y="169"/>
                  <a:pt x="474" y="12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5" name="文本框 5"/>
          <p:cNvSpPr txBox="1"/>
          <p:nvPr/>
        </p:nvSpPr>
        <p:spPr>
          <a:xfrm>
            <a:off x="4541536" y="958183"/>
            <a:ext cx="29099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prstClr val="white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浮点型（</a:t>
            </a:r>
            <a:r>
              <a:rPr lang="en-US" altLang="zh-CN" sz="2800" dirty="0">
                <a:solidFill>
                  <a:prstClr val="white"/>
                </a:solidFill>
                <a:latin typeface="Monaco" charset="0"/>
                <a:ea typeface="Monaco" charset="0"/>
                <a:cs typeface="Monaco" charset="0"/>
              </a:rPr>
              <a:t>float</a:t>
            </a:r>
            <a:r>
              <a:rPr lang="zh-CN" altLang="en-US" sz="2800" dirty="0">
                <a:solidFill>
                  <a:prstClr val="white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）</a:t>
            </a:r>
          </a:p>
        </p:txBody>
      </p:sp>
      <p:sp>
        <p:nvSpPr>
          <p:cNvPr id="16" name="标题 1"/>
          <p:cNvSpPr>
            <a:spLocks noGrp="1"/>
          </p:cNvSpPr>
          <p:nvPr/>
        </p:nvSpPr>
        <p:spPr>
          <a:xfrm>
            <a:off x="330835" y="887095"/>
            <a:ext cx="4739640" cy="885825"/>
          </a:xfrm>
        </p:spPr>
        <p:txBody>
          <a:bodyPr vert="horz" rtlCol="0">
            <a:normAutofit/>
          </a:bodyPr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>
              <a:defRPr/>
            </a:pP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1、数字</a:t>
            </a:r>
          </a:p>
        </p:txBody>
      </p:sp>
    </p:spTree>
  </p:cSld>
  <p:clrMapOvr>
    <a:masterClrMapping/>
  </p:clrMapOvr>
  <p:transition spd="slow" advTm="0"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380208" y="1643810"/>
            <a:ext cx="10220116" cy="417723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kumimoji="1" 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如果有字符串</a:t>
            </a:r>
            <a:r>
              <a:rPr kumimoji="1"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'3.14'</a:t>
            </a:r>
            <a:r>
              <a:rPr kumimoji="1"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，想要获取整数部分并解析为</a:t>
            </a:r>
            <a:r>
              <a:rPr kumimoji="1"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int</a:t>
            </a:r>
            <a:r>
              <a:rPr kumimoji="1"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，直接使用</a:t>
            </a:r>
            <a:r>
              <a:rPr kumimoji="1"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int()</a:t>
            </a:r>
            <a:r>
              <a:rPr kumimoji="1"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会出现</a:t>
            </a:r>
            <a:r>
              <a:rPr kumimoji="1"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ValueError</a:t>
            </a:r>
            <a:r>
              <a:rPr kumimoji="1"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错误，要先使用</a:t>
            </a:r>
            <a:r>
              <a:rPr kumimoji="1"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float()</a:t>
            </a:r>
            <a:r>
              <a:rPr kumimoji="1"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解析为</a:t>
            </a:r>
            <a:r>
              <a:rPr kumimoji="1"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float</a:t>
            </a:r>
            <a:r>
              <a:rPr kumimoji="1"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，接着再用</a:t>
            </a:r>
            <a:r>
              <a:rPr kumimoji="1"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int()</a:t>
            </a:r>
            <a:r>
              <a:rPr kumimoji="1"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获取</a:t>
            </a:r>
            <a:r>
              <a:rPr kumimoji="1"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int</a:t>
            </a:r>
            <a:r>
              <a:rPr kumimoji="1"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整数部分。</a:t>
            </a:r>
          </a:p>
        </p:txBody>
      </p:sp>
      <p:sp>
        <p:nvSpPr>
          <p:cNvPr id="11" name="标题 1"/>
          <p:cNvSpPr txBox="1">
            <a:spLocks noGrp="1"/>
          </p:cNvSpPr>
          <p:nvPr/>
        </p:nvSpPr>
        <p:spPr>
          <a:xfrm>
            <a:off x="9529445" y="266700"/>
            <a:ext cx="2670175" cy="521970"/>
          </a:xfrm>
          <a:noFill/>
        </p:spPr>
        <p:txBody>
          <a:bodyPr wrap="square" rtlCol="0">
            <a:spAutoFit/>
          </a:bodyPr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2.3 数据类型</a:t>
            </a:r>
          </a:p>
        </p:txBody>
      </p:sp>
      <p:sp>
        <p:nvSpPr>
          <p:cNvPr id="12" name="矩形 28"/>
          <p:cNvSpPr/>
          <p:nvPr/>
        </p:nvSpPr>
        <p:spPr>
          <a:xfrm>
            <a:off x="3568852" y="958183"/>
            <a:ext cx="510214" cy="598302"/>
          </a:xfrm>
          <a:prstGeom prst="rect">
            <a:avLst/>
          </a:prstGeom>
          <a:solidFill>
            <a:srgbClr val="9421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>
              <a:solidFill>
                <a:prstClr val="white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4067126" y="958183"/>
            <a:ext cx="3744416" cy="598302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4" name="Freeform 83"/>
          <p:cNvSpPr>
            <a:spLocks noChangeArrowheads="1"/>
          </p:cNvSpPr>
          <p:nvPr/>
        </p:nvSpPr>
        <p:spPr bwMode="auto">
          <a:xfrm>
            <a:off x="3679959" y="1113334"/>
            <a:ext cx="288000" cy="288000"/>
          </a:xfrm>
          <a:custGeom>
            <a:avLst/>
            <a:gdLst>
              <a:gd name="T0" fmla="*/ 38764526 w 602"/>
              <a:gd name="T1" fmla="*/ 78442719 h 602"/>
              <a:gd name="T2" fmla="*/ 38764526 w 602"/>
              <a:gd name="T3" fmla="*/ 78442719 h 602"/>
              <a:gd name="T4" fmla="*/ 0 w 602"/>
              <a:gd name="T5" fmla="*/ 38764526 h 602"/>
              <a:gd name="T6" fmla="*/ 38764526 w 602"/>
              <a:gd name="T7" fmla="*/ 0 h 602"/>
              <a:gd name="T8" fmla="*/ 78442719 w 602"/>
              <a:gd name="T9" fmla="*/ 38764526 h 602"/>
              <a:gd name="T10" fmla="*/ 38764526 w 602"/>
              <a:gd name="T11" fmla="*/ 78442719 h 602"/>
              <a:gd name="T12" fmla="*/ 61866665 w 602"/>
              <a:gd name="T13" fmla="*/ 16576054 h 602"/>
              <a:gd name="T14" fmla="*/ 61866665 w 602"/>
              <a:gd name="T15" fmla="*/ 16576054 h 602"/>
              <a:gd name="T16" fmla="*/ 38764526 w 602"/>
              <a:gd name="T17" fmla="*/ 38764526 h 602"/>
              <a:gd name="T18" fmla="*/ 38764526 w 602"/>
              <a:gd name="T19" fmla="*/ 7308970 h 602"/>
              <a:gd name="T20" fmla="*/ 7439751 w 602"/>
              <a:gd name="T21" fmla="*/ 38764526 h 602"/>
              <a:gd name="T22" fmla="*/ 38764526 w 602"/>
              <a:gd name="T23" fmla="*/ 71002968 h 602"/>
              <a:gd name="T24" fmla="*/ 71002968 w 602"/>
              <a:gd name="T25" fmla="*/ 38764526 h 602"/>
              <a:gd name="T26" fmla="*/ 61866665 w 602"/>
              <a:gd name="T27" fmla="*/ 16576054 h 602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0" t="0" r="r" b="b"/>
            <a:pathLst>
              <a:path w="602" h="602">
                <a:moveTo>
                  <a:pt x="297" y="601"/>
                </a:moveTo>
                <a:lnTo>
                  <a:pt x="297" y="601"/>
                </a:lnTo>
                <a:cubicBezTo>
                  <a:pt x="135" y="601"/>
                  <a:pt x="0" y="466"/>
                  <a:pt x="0" y="297"/>
                </a:cubicBezTo>
                <a:cubicBezTo>
                  <a:pt x="0" y="134"/>
                  <a:pt x="135" y="0"/>
                  <a:pt x="297" y="0"/>
                </a:cubicBezTo>
                <a:cubicBezTo>
                  <a:pt x="467" y="0"/>
                  <a:pt x="601" y="134"/>
                  <a:pt x="601" y="297"/>
                </a:cubicBezTo>
                <a:cubicBezTo>
                  <a:pt x="601" y="466"/>
                  <a:pt x="467" y="601"/>
                  <a:pt x="297" y="601"/>
                </a:cubicBezTo>
                <a:close/>
                <a:moveTo>
                  <a:pt x="474" y="127"/>
                </a:moveTo>
                <a:lnTo>
                  <a:pt x="474" y="127"/>
                </a:lnTo>
                <a:cubicBezTo>
                  <a:pt x="297" y="297"/>
                  <a:pt x="297" y="297"/>
                  <a:pt x="297" y="297"/>
                </a:cubicBezTo>
                <a:cubicBezTo>
                  <a:pt x="297" y="56"/>
                  <a:pt x="297" y="56"/>
                  <a:pt x="297" y="56"/>
                </a:cubicBezTo>
                <a:cubicBezTo>
                  <a:pt x="163" y="56"/>
                  <a:pt x="57" y="162"/>
                  <a:pt x="57" y="297"/>
                </a:cubicBezTo>
                <a:cubicBezTo>
                  <a:pt x="57" y="431"/>
                  <a:pt x="163" y="544"/>
                  <a:pt x="297" y="544"/>
                </a:cubicBezTo>
                <a:cubicBezTo>
                  <a:pt x="431" y="544"/>
                  <a:pt x="544" y="431"/>
                  <a:pt x="544" y="297"/>
                </a:cubicBezTo>
                <a:cubicBezTo>
                  <a:pt x="544" y="233"/>
                  <a:pt x="516" y="169"/>
                  <a:pt x="474" y="12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5" name="文本框 5"/>
          <p:cNvSpPr txBox="1"/>
          <p:nvPr/>
        </p:nvSpPr>
        <p:spPr>
          <a:xfrm>
            <a:off x="4541536" y="958183"/>
            <a:ext cx="29099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prstClr val="white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浮点型（</a:t>
            </a:r>
            <a:r>
              <a:rPr lang="en-US" altLang="zh-CN" sz="2800" dirty="0">
                <a:solidFill>
                  <a:prstClr val="white"/>
                </a:solidFill>
                <a:latin typeface="Monaco" charset="0"/>
                <a:ea typeface="Monaco" charset="0"/>
                <a:cs typeface="Monaco" charset="0"/>
              </a:rPr>
              <a:t>float</a:t>
            </a:r>
            <a:r>
              <a:rPr lang="zh-CN" altLang="en-US" sz="2800" dirty="0">
                <a:solidFill>
                  <a:prstClr val="white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）</a:t>
            </a:r>
          </a:p>
        </p:txBody>
      </p:sp>
      <p:sp>
        <p:nvSpPr>
          <p:cNvPr id="16" name="标题 1"/>
          <p:cNvSpPr>
            <a:spLocks noGrp="1"/>
          </p:cNvSpPr>
          <p:nvPr/>
        </p:nvSpPr>
        <p:spPr>
          <a:xfrm>
            <a:off x="330835" y="887095"/>
            <a:ext cx="4739640" cy="885825"/>
          </a:xfrm>
        </p:spPr>
        <p:txBody>
          <a:bodyPr vert="horz" rtlCol="0">
            <a:normAutofit/>
          </a:bodyPr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>
              <a:defRPr/>
            </a:pP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1、数字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0535" y="3647440"/>
            <a:ext cx="4565650" cy="2677160"/>
          </a:xfrm>
          <a:prstGeom prst="rect">
            <a:avLst/>
          </a:prstGeom>
        </p:spPr>
      </p:pic>
    </p:spTree>
  </p:cSld>
  <p:clrMapOvr>
    <a:masterClrMapping/>
  </p:clrMapOvr>
  <p:transition spd="slow" advTm="0"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16403" y="1485059"/>
            <a:ext cx="11444479" cy="417723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布尔型（</a:t>
            </a:r>
            <a:r>
              <a:rPr kumimoji="1"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bool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  <a:endParaRPr kumimoji="1"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布尔型只有 </a:t>
            </a:r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True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和 </a:t>
            </a:r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False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两种值。比较运算和条件表达式都会产生 </a:t>
            </a:r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True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或 </a:t>
            </a:r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False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</a:p>
          <a:p>
            <a:pPr>
              <a:lnSpc>
                <a:spcPct val="150000"/>
              </a:lnSpc>
            </a:pPr>
            <a:endParaRPr kumimoji="1"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print (1&gt;0)</a:t>
            </a:r>
          </a:p>
          <a:p>
            <a:pPr>
              <a:lnSpc>
                <a:spcPct val="150000"/>
              </a:lnSpc>
            </a:pPr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True</a:t>
            </a:r>
          </a:p>
        </p:txBody>
      </p:sp>
      <p:sp>
        <p:nvSpPr>
          <p:cNvPr id="5" name="矩形 28"/>
          <p:cNvSpPr/>
          <p:nvPr/>
        </p:nvSpPr>
        <p:spPr>
          <a:xfrm>
            <a:off x="4144935" y="886552"/>
            <a:ext cx="510308" cy="598413"/>
          </a:xfrm>
          <a:prstGeom prst="rect">
            <a:avLst/>
          </a:prstGeom>
          <a:solidFill>
            <a:srgbClr val="9421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>
              <a:solidFill>
                <a:prstClr val="white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4643301" y="886552"/>
            <a:ext cx="3096917" cy="598413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8" name="Freeform 83"/>
          <p:cNvSpPr>
            <a:spLocks noChangeArrowheads="1"/>
          </p:cNvSpPr>
          <p:nvPr/>
        </p:nvSpPr>
        <p:spPr bwMode="auto">
          <a:xfrm>
            <a:off x="4256062" y="1041732"/>
            <a:ext cx="288053" cy="288053"/>
          </a:xfrm>
          <a:custGeom>
            <a:avLst/>
            <a:gdLst>
              <a:gd name="T0" fmla="*/ 38764526 w 602"/>
              <a:gd name="T1" fmla="*/ 78442719 h 602"/>
              <a:gd name="T2" fmla="*/ 38764526 w 602"/>
              <a:gd name="T3" fmla="*/ 78442719 h 602"/>
              <a:gd name="T4" fmla="*/ 0 w 602"/>
              <a:gd name="T5" fmla="*/ 38764526 h 602"/>
              <a:gd name="T6" fmla="*/ 38764526 w 602"/>
              <a:gd name="T7" fmla="*/ 0 h 602"/>
              <a:gd name="T8" fmla="*/ 78442719 w 602"/>
              <a:gd name="T9" fmla="*/ 38764526 h 602"/>
              <a:gd name="T10" fmla="*/ 38764526 w 602"/>
              <a:gd name="T11" fmla="*/ 78442719 h 602"/>
              <a:gd name="T12" fmla="*/ 61866665 w 602"/>
              <a:gd name="T13" fmla="*/ 16576054 h 602"/>
              <a:gd name="T14" fmla="*/ 61866665 w 602"/>
              <a:gd name="T15" fmla="*/ 16576054 h 602"/>
              <a:gd name="T16" fmla="*/ 38764526 w 602"/>
              <a:gd name="T17" fmla="*/ 38764526 h 602"/>
              <a:gd name="T18" fmla="*/ 38764526 w 602"/>
              <a:gd name="T19" fmla="*/ 7308970 h 602"/>
              <a:gd name="T20" fmla="*/ 7439751 w 602"/>
              <a:gd name="T21" fmla="*/ 38764526 h 602"/>
              <a:gd name="T22" fmla="*/ 38764526 w 602"/>
              <a:gd name="T23" fmla="*/ 71002968 h 602"/>
              <a:gd name="T24" fmla="*/ 71002968 w 602"/>
              <a:gd name="T25" fmla="*/ 38764526 h 602"/>
              <a:gd name="T26" fmla="*/ 61866665 w 602"/>
              <a:gd name="T27" fmla="*/ 16576054 h 602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0" t="0" r="r" b="b"/>
            <a:pathLst>
              <a:path w="602" h="602">
                <a:moveTo>
                  <a:pt x="297" y="601"/>
                </a:moveTo>
                <a:lnTo>
                  <a:pt x="297" y="601"/>
                </a:lnTo>
                <a:cubicBezTo>
                  <a:pt x="135" y="601"/>
                  <a:pt x="0" y="466"/>
                  <a:pt x="0" y="297"/>
                </a:cubicBezTo>
                <a:cubicBezTo>
                  <a:pt x="0" y="134"/>
                  <a:pt x="135" y="0"/>
                  <a:pt x="297" y="0"/>
                </a:cubicBezTo>
                <a:cubicBezTo>
                  <a:pt x="467" y="0"/>
                  <a:pt x="601" y="134"/>
                  <a:pt x="601" y="297"/>
                </a:cubicBezTo>
                <a:cubicBezTo>
                  <a:pt x="601" y="466"/>
                  <a:pt x="467" y="601"/>
                  <a:pt x="297" y="601"/>
                </a:cubicBezTo>
                <a:close/>
                <a:moveTo>
                  <a:pt x="474" y="127"/>
                </a:moveTo>
                <a:lnTo>
                  <a:pt x="474" y="127"/>
                </a:lnTo>
                <a:cubicBezTo>
                  <a:pt x="297" y="297"/>
                  <a:pt x="297" y="297"/>
                  <a:pt x="297" y="297"/>
                </a:cubicBezTo>
                <a:cubicBezTo>
                  <a:pt x="297" y="56"/>
                  <a:pt x="297" y="56"/>
                  <a:pt x="297" y="56"/>
                </a:cubicBezTo>
                <a:cubicBezTo>
                  <a:pt x="163" y="56"/>
                  <a:pt x="57" y="162"/>
                  <a:pt x="57" y="297"/>
                </a:cubicBezTo>
                <a:cubicBezTo>
                  <a:pt x="57" y="431"/>
                  <a:pt x="163" y="544"/>
                  <a:pt x="297" y="544"/>
                </a:cubicBezTo>
                <a:cubicBezTo>
                  <a:pt x="431" y="544"/>
                  <a:pt x="544" y="431"/>
                  <a:pt x="544" y="297"/>
                </a:cubicBezTo>
                <a:cubicBezTo>
                  <a:pt x="544" y="233"/>
                  <a:pt x="516" y="169"/>
                  <a:pt x="474" y="12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9" name="文本框 5"/>
          <p:cNvSpPr txBox="1"/>
          <p:nvPr/>
        </p:nvSpPr>
        <p:spPr>
          <a:xfrm>
            <a:off x="5117799" y="886552"/>
            <a:ext cx="262242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prstClr val="white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布尔型（</a:t>
            </a:r>
            <a:r>
              <a:rPr lang="en-US" altLang="zh-CN" sz="2800" dirty="0" err="1">
                <a:solidFill>
                  <a:prstClr val="white"/>
                </a:solidFill>
                <a:latin typeface="Monaco" charset="0"/>
                <a:ea typeface="Monaco" charset="0"/>
                <a:cs typeface="Monaco" charset="0"/>
              </a:rPr>
              <a:t>bool</a:t>
            </a:r>
            <a:r>
              <a:rPr lang="zh-CN" altLang="en-US" sz="2800" dirty="0">
                <a:solidFill>
                  <a:prstClr val="white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）</a:t>
            </a:r>
          </a:p>
        </p:txBody>
      </p:sp>
      <p:sp>
        <p:nvSpPr>
          <p:cNvPr id="16" name="标题 1"/>
          <p:cNvSpPr>
            <a:spLocks noGrp="1"/>
          </p:cNvSpPr>
          <p:nvPr/>
        </p:nvSpPr>
        <p:spPr>
          <a:xfrm>
            <a:off x="330835" y="887095"/>
            <a:ext cx="4739640" cy="885825"/>
          </a:xfrm>
        </p:spPr>
        <p:txBody>
          <a:bodyPr vert="horz" rtlCol="0">
            <a:normAutofit/>
          </a:bodyPr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>
              <a:defRPr/>
            </a:pP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1、数字</a:t>
            </a:r>
          </a:p>
        </p:txBody>
      </p:sp>
      <p:sp>
        <p:nvSpPr>
          <p:cNvPr id="11" name="标题 1"/>
          <p:cNvSpPr txBox="1">
            <a:spLocks noGrp="1"/>
          </p:cNvSpPr>
          <p:nvPr/>
        </p:nvSpPr>
        <p:spPr>
          <a:xfrm>
            <a:off x="9529445" y="266700"/>
            <a:ext cx="2670175" cy="521970"/>
          </a:xfrm>
          <a:noFill/>
        </p:spPr>
        <p:txBody>
          <a:bodyPr wrap="square" rtlCol="0">
            <a:spAutoFit/>
          </a:bodyPr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2.3 数据类型</a:t>
            </a:r>
          </a:p>
        </p:txBody>
      </p:sp>
    </p:spTree>
  </p:cSld>
  <p:clrMapOvr>
    <a:masterClrMapping/>
  </p:clrMapOvr>
  <p:transition spd="slow" advTm="0"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16403" y="1485059"/>
            <a:ext cx="11444479" cy="417723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布尔型（</a:t>
            </a:r>
            <a:r>
              <a:rPr kumimoji="1"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bool</a:t>
            </a:r>
            <a:r>
              <a:rPr kumimoji="1"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  <a:endParaRPr kumimoji="1"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布尔值可以进行 </a:t>
            </a:r>
            <a:r>
              <a:rPr kumimoji="1"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and</a:t>
            </a:r>
            <a:r>
              <a:rPr kumimoji="1"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、 </a:t>
            </a:r>
            <a:r>
              <a:rPr kumimoji="1"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or</a:t>
            </a:r>
            <a:r>
              <a:rPr kumimoji="1"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和 </a:t>
            </a:r>
            <a:r>
              <a:rPr kumimoji="1"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not</a:t>
            </a:r>
            <a:r>
              <a:rPr kumimoji="1"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运算，</a:t>
            </a:r>
            <a:r>
              <a:rPr kumimoji="1"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not</a:t>
            </a:r>
            <a:r>
              <a:rPr kumimoji="1"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运算为非运算，即把 </a:t>
            </a:r>
            <a:r>
              <a:rPr kumimoji="1"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True</a:t>
            </a:r>
            <a:r>
              <a:rPr kumimoji="1"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变成 </a:t>
            </a:r>
            <a:r>
              <a:rPr kumimoji="1"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False</a:t>
            </a:r>
            <a:r>
              <a:rPr kumimoji="1"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， </a:t>
            </a:r>
            <a:r>
              <a:rPr kumimoji="1"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False</a:t>
            </a:r>
            <a:r>
              <a:rPr kumimoji="1"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变成 </a:t>
            </a:r>
            <a:r>
              <a:rPr kumimoji="1"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True</a:t>
            </a:r>
            <a:r>
              <a:rPr kumimoji="1"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。</a:t>
            </a:r>
            <a:endParaRPr kumimoji="1"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&amp;</a:t>
            </a:r>
            <a:r>
              <a:rPr kumimoji="1"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kumimoji="1"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kumimoji="1"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kumimoji="1"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|    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按位与运算符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/ 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按位或运算符</a:t>
            </a:r>
            <a:endParaRPr kumimoji="1"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6" name="标题 1"/>
          <p:cNvSpPr>
            <a:spLocks noGrp="1"/>
          </p:cNvSpPr>
          <p:nvPr/>
        </p:nvSpPr>
        <p:spPr>
          <a:xfrm>
            <a:off x="330835" y="887095"/>
            <a:ext cx="4739640" cy="885825"/>
          </a:xfrm>
        </p:spPr>
        <p:txBody>
          <a:bodyPr vert="horz" rtlCol="0">
            <a:normAutofit/>
          </a:bodyPr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>
              <a:defRPr/>
            </a:pP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1、数字</a:t>
            </a:r>
          </a:p>
        </p:txBody>
      </p:sp>
      <p:sp>
        <p:nvSpPr>
          <p:cNvPr id="9" name="矩形 28"/>
          <p:cNvSpPr/>
          <p:nvPr/>
        </p:nvSpPr>
        <p:spPr>
          <a:xfrm>
            <a:off x="4144935" y="886552"/>
            <a:ext cx="510308" cy="598413"/>
          </a:xfrm>
          <a:prstGeom prst="rect">
            <a:avLst/>
          </a:prstGeom>
          <a:solidFill>
            <a:srgbClr val="9421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>
              <a:solidFill>
                <a:prstClr val="white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643301" y="886552"/>
            <a:ext cx="3096917" cy="598413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3" name="Freeform 83"/>
          <p:cNvSpPr>
            <a:spLocks noChangeArrowheads="1"/>
          </p:cNvSpPr>
          <p:nvPr/>
        </p:nvSpPr>
        <p:spPr bwMode="auto">
          <a:xfrm>
            <a:off x="4256062" y="1041732"/>
            <a:ext cx="288053" cy="288053"/>
          </a:xfrm>
          <a:custGeom>
            <a:avLst/>
            <a:gdLst>
              <a:gd name="T0" fmla="*/ 38764526 w 602"/>
              <a:gd name="T1" fmla="*/ 78442719 h 602"/>
              <a:gd name="T2" fmla="*/ 38764526 w 602"/>
              <a:gd name="T3" fmla="*/ 78442719 h 602"/>
              <a:gd name="T4" fmla="*/ 0 w 602"/>
              <a:gd name="T5" fmla="*/ 38764526 h 602"/>
              <a:gd name="T6" fmla="*/ 38764526 w 602"/>
              <a:gd name="T7" fmla="*/ 0 h 602"/>
              <a:gd name="T8" fmla="*/ 78442719 w 602"/>
              <a:gd name="T9" fmla="*/ 38764526 h 602"/>
              <a:gd name="T10" fmla="*/ 38764526 w 602"/>
              <a:gd name="T11" fmla="*/ 78442719 h 602"/>
              <a:gd name="T12" fmla="*/ 61866665 w 602"/>
              <a:gd name="T13" fmla="*/ 16576054 h 602"/>
              <a:gd name="T14" fmla="*/ 61866665 w 602"/>
              <a:gd name="T15" fmla="*/ 16576054 h 602"/>
              <a:gd name="T16" fmla="*/ 38764526 w 602"/>
              <a:gd name="T17" fmla="*/ 38764526 h 602"/>
              <a:gd name="T18" fmla="*/ 38764526 w 602"/>
              <a:gd name="T19" fmla="*/ 7308970 h 602"/>
              <a:gd name="T20" fmla="*/ 7439751 w 602"/>
              <a:gd name="T21" fmla="*/ 38764526 h 602"/>
              <a:gd name="T22" fmla="*/ 38764526 w 602"/>
              <a:gd name="T23" fmla="*/ 71002968 h 602"/>
              <a:gd name="T24" fmla="*/ 71002968 w 602"/>
              <a:gd name="T25" fmla="*/ 38764526 h 602"/>
              <a:gd name="T26" fmla="*/ 61866665 w 602"/>
              <a:gd name="T27" fmla="*/ 16576054 h 602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0" t="0" r="r" b="b"/>
            <a:pathLst>
              <a:path w="602" h="602">
                <a:moveTo>
                  <a:pt x="297" y="601"/>
                </a:moveTo>
                <a:lnTo>
                  <a:pt x="297" y="601"/>
                </a:lnTo>
                <a:cubicBezTo>
                  <a:pt x="135" y="601"/>
                  <a:pt x="0" y="466"/>
                  <a:pt x="0" y="297"/>
                </a:cubicBezTo>
                <a:cubicBezTo>
                  <a:pt x="0" y="134"/>
                  <a:pt x="135" y="0"/>
                  <a:pt x="297" y="0"/>
                </a:cubicBezTo>
                <a:cubicBezTo>
                  <a:pt x="467" y="0"/>
                  <a:pt x="601" y="134"/>
                  <a:pt x="601" y="297"/>
                </a:cubicBezTo>
                <a:cubicBezTo>
                  <a:pt x="601" y="466"/>
                  <a:pt x="467" y="601"/>
                  <a:pt x="297" y="601"/>
                </a:cubicBezTo>
                <a:close/>
                <a:moveTo>
                  <a:pt x="474" y="127"/>
                </a:moveTo>
                <a:lnTo>
                  <a:pt x="474" y="127"/>
                </a:lnTo>
                <a:cubicBezTo>
                  <a:pt x="297" y="297"/>
                  <a:pt x="297" y="297"/>
                  <a:pt x="297" y="297"/>
                </a:cubicBezTo>
                <a:cubicBezTo>
                  <a:pt x="297" y="56"/>
                  <a:pt x="297" y="56"/>
                  <a:pt x="297" y="56"/>
                </a:cubicBezTo>
                <a:cubicBezTo>
                  <a:pt x="163" y="56"/>
                  <a:pt x="57" y="162"/>
                  <a:pt x="57" y="297"/>
                </a:cubicBezTo>
                <a:cubicBezTo>
                  <a:pt x="57" y="431"/>
                  <a:pt x="163" y="544"/>
                  <a:pt x="297" y="544"/>
                </a:cubicBezTo>
                <a:cubicBezTo>
                  <a:pt x="431" y="544"/>
                  <a:pt x="544" y="431"/>
                  <a:pt x="544" y="297"/>
                </a:cubicBezTo>
                <a:cubicBezTo>
                  <a:pt x="544" y="233"/>
                  <a:pt x="516" y="169"/>
                  <a:pt x="474" y="12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4" name="文本框 5"/>
          <p:cNvSpPr txBox="1"/>
          <p:nvPr/>
        </p:nvSpPr>
        <p:spPr>
          <a:xfrm>
            <a:off x="5117799" y="886552"/>
            <a:ext cx="262242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prstClr val="white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布尔型（</a:t>
            </a:r>
            <a:r>
              <a:rPr lang="en-US" altLang="zh-CN" sz="2800" dirty="0" err="1">
                <a:solidFill>
                  <a:prstClr val="white"/>
                </a:solidFill>
                <a:latin typeface="Monaco" charset="0"/>
                <a:ea typeface="Monaco" charset="0"/>
                <a:cs typeface="Monaco" charset="0"/>
              </a:rPr>
              <a:t>bool</a:t>
            </a:r>
            <a:r>
              <a:rPr lang="zh-CN" altLang="en-US" sz="2800" dirty="0">
                <a:solidFill>
                  <a:prstClr val="white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）</a:t>
            </a:r>
          </a:p>
        </p:txBody>
      </p:sp>
      <p:sp>
        <p:nvSpPr>
          <p:cNvPr id="15" name="内容占位符 1"/>
          <p:cNvSpPr>
            <a:spLocks noGrp="1"/>
          </p:cNvSpPr>
          <p:nvPr/>
        </p:nvSpPr>
        <p:spPr>
          <a:xfrm>
            <a:off x="376398" y="3572304"/>
            <a:ext cx="11444479" cy="4177236"/>
          </a:xfrm>
        </p:spPr>
        <p:txBody>
          <a:bodyPr>
            <a:normAutofit/>
          </a:bodyPr>
          <a:lstStyle>
            <a:lvl1pPr marL="457200" indent="-4572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4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1235" indent="-3810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4635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4235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447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407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67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905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505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kumimoji="1"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endParaRPr kumimoji="1"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7" name="标题 1"/>
          <p:cNvSpPr txBox="1">
            <a:spLocks noGrp="1"/>
          </p:cNvSpPr>
          <p:nvPr/>
        </p:nvSpPr>
        <p:spPr>
          <a:xfrm>
            <a:off x="9529445" y="266700"/>
            <a:ext cx="2670175" cy="521970"/>
          </a:xfrm>
          <a:noFill/>
        </p:spPr>
        <p:txBody>
          <a:bodyPr wrap="square" rtlCol="0">
            <a:spAutoFit/>
          </a:bodyPr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2.3 数据类型</a:t>
            </a:r>
          </a:p>
        </p:txBody>
      </p:sp>
    </p:spTree>
  </p:cSld>
  <p:clrMapOvr>
    <a:masterClrMapping/>
  </p:clrMapOvr>
  <p:transition spd="slow" advTm="0"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330835" y="1405890"/>
            <a:ext cx="10471785" cy="676910"/>
          </a:xfrm>
        </p:spPr>
        <p:txBody>
          <a:bodyPr/>
          <a:lstStyle/>
          <a:p>
            <a:pPr algn="l">
              <a:defRPr/>
            </a:pP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数值的表示：</a:t>
            </a:r>
          </a:p>
        </p:txBody>
      </p:sp>
      <p:sp>
        <p:nvSpPr>
          <p:cNvPr id="51203" name="内容占位符 2"/>
          <p:cNvSpPr>
            <a:spLocks noGrp="1"/>
          </p:cNvSpPr>
          <p:nvPr>
            <p:ph idx="4294967295"/>
          </p:nvPr>
        </p:nvSpPr>
        <p:spPr>
          <a:xfrm>
            <a:off x="1562671" y="1989634"/>
            <a:ext cx="8230235" cy="3226311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数值还可表示为八进制、十六进制和二进制。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八进制：以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0o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打头，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0-7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数字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十六进制：以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0x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打头，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0-9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数字，字母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a-f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二进制：以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0b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打头，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0-1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数字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标题 1"/>
          <p:cNvSpPr txBox="1">
            <a:spLocks noGrp="1"/>
          </p:cNvSpPr>
          <p:nvPr/>
        </p:nvSpPr>
        <p:spPr>
          <a:xfrm>
            <a:off x="9529445" y="266700"/>
            <a:ext cx="2670175" cy="521970"/>
          </a:xfrm>
          <a:noFill/>
        </p:spPr>
        <p:txBody>
          <a:bodyPr wrap="square" rtlCol="0">
            <a:spAutoFit/>
          </a:bodyPr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2.3 数据类型</a:t>
            </a:r>
          </a:p>
        </p:txBody>
      </p:sp>
    </p:spTree>
  </p:cSld>
  <p:clrMapOvr>
    <a:masterClrMapping/>
  </p:clrMapOvr>
  <p:transition spd="slow" advTm="0"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1236980" y="1198245"/>
            <a:ext cx="9725025" cy="640715"/>
          </a:xfrm>
        </p:spPr>
        <p:txBody>
          <a:bodyPr/>
          <a:lstStyle/>
          <a:p>
            <a:pPr algn="l">
              <a:defRPr/>
            </a:pPr>
            <a:r>
              <a:rPr lang="zh-CN" altLang="en-US" sz="3200" b="1" dirty="0"/>
              <a:t>例如：</a:t>
            </a:r>
          </a:p>
        </p:txBody>
      </p:sp>
      <p:pic>
        <p:nvPicPr>
          <p:cNvPr id="522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5680" y="2292350"/>
            <a:ext cx="7263765" cy="2473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标题 1"/>
          <p:cNvSpPr txBox="1">
            <a:spLocks noGrp="1"/>
          </p:cNvSpPr>
          <p:nvPr/>
        </p:nvSpPr>
        <p:spPr>
          <a:xfrm>
            <a:off x="9529445" y="266700"/>
            <a:ext cx="2670175" cy="521970"/>
          </a:xfrm>
          <a:noFill/>
        </p:spPr>
        <p:txBody>
          <a:bodyPr wrap="square" rtlCol="0">
            <a:spAutoFit/>
          </a:bodyPr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2.3 数据类型</a:t>
            </a:r>
          </a:p>
        </p:txBody>
      </p:sp>
    </p:spTree>
  </p:cSld>
  <p:clrMapOvr>
    <a:masterClrMapping/>
  </p:clrMapOvr>
  <p:transition spd="slow" advTm="0"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609600" y="1284605"/>
            <a:ext cx="8707755" cy="591820"/>
          </a:xfrm>
        </p:spPr>
        <p:txBody>
          <a:bodyPr/>
          <a:lstStyle/>
          <a:p>
            <a:pPr algn="l">
              <a:defRPr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进制转换函数：</a:t>
            </a:r>
          </a:p>
        </p:txBody>
      </p:sp>
      <p:sp>
        <p:nvSpPr>
          <p:cNvPr id="53251" name="内容占位符 2"/>
          <p:cNvSpPr>
            <a:spLocks noGrp="1"/>
          </p:cNvSpPr>
          <p:nvPr>
            <p:ph idx="4294967295"/>
          </p:nvPr>
        </p:nvSpPr>
        <p:spPr>
          <a:xfrm>
            <a:off x="1226820" y="1960880"/>
            <a:ext cx="10520680" cy="4352290"/>
          </a:xfrm>
        </p:spPr>
        <p:txBody>
          <a:bodyPr/>
          <a:lstStyle/>
          <a:p>
            <a:pPr indent="0" fontAlgn="auto">
              <a:lnSpc>
                <a:spcPts val="3880"/>
              </a:lnSpc>
              <a:spcBef>
                <a:spcPts val="0"/>
              </a:spcBef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python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默认地用十进制值显示，但它提供了内置的函数，允许我们把整数转换为其他进制的数字字符串：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 indent="0" fontAlgn="auto">
              <a:lnSpc>
                <a:spcPts val="3880"/>
              </a:lnSpc>
              <a:spcBef>
                <a:spcPts val="0"/>
              </a:spcBef>
            </a:pP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oct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函数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—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十进制数转换为八进制数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(octal)</a:t>
            </a:r>
          </a:p>
          <a:p>
            <a:pPr lvl="1" indent="0" fontAlgn="auto">
              <a:lnSpc>
                <a:spcPts val="3880"/>
              </a:lnSpc>
              <a:spcBef>
                <a:spcPts val="0"/>
              </a:spcBef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hex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函数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—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将十进制转换为十六进制数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</a:t>
            </a:r>
            <a:r>
              <a:rPr lang="en-US" altLang="zh-CN" sz="2400" b="1" dirty="0"/>
              <a:t>hexadecimal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</a:t>
            </a:r>
          </a:p>
          <a:p>
            <a:pPr lvl="1" indent="0" fontAlgn="auto">
              <a:lnSpc>
                <a:spcPts val="3880"/>
              </a:lnSpc>
              <a:spcBef>
                <a:spcPts val="0"/>
              </a:spcBef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bin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函数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—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将十进制数转换为二进制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(binary)</a:t>
            </a:r>
          </a:p>
          <a:p>
            <a:pPr indent="0" fontAlgn="auto">
              <a:lnSpc>
                <a:spcPts val="3880"/>
              </a:lnSpc>
              <a:spcBef>
                <a:spcPts val="0"/>
              </a:spcBef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另一种方式：内置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int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函数会将一个数字的字符串转换为一个整数，并可以通过定义的第二个参数来确定第一个数字字符串参数的进制。</a:t>
            </a:r>
          </a:p>
        </p:txBody>
      </p:sp>
      <p:sp>
        <p:nvSpPr>
          <p:cNvPr id="3" name="标题 1"/>
          <p:cNvSpPr txBox="1">
            <a:spLocks noGrp="1"/>
          </p:cNvSpPr>
          <p:nvPr/>
        </p:nvSpPr>
        <p:spPr>
          <a:xfrm>
            <a:off x="9529445" y="266700"/>
            <a:ext cx="2670175" cy="521970"/>
          </a:xfrm>
          <a:noFill/>
        </p:spPr>
        <p:txBody>
          <a:bodyPr wrap="square" rtlCol="0">
            <a:spAutoFit/>
          </a:bodyPr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2.3 数据类型</a:t>
            </a:r>
          </a:p>
        </p:txBody>
      </p:sp>
    </p:spTree>
  </p:cSld>
  <p:clrMapOvr>
    <a:masterClrMapping/>
  </p:clrMapOvr>
  <p:transition spd="slow" advTm="0"/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1078230" y="1283970"/>
            <a:ext cx="2718435" cy="677545"/>
          </a:xfrm>
        </p:spPr>
        <p:txBody>
          <a:bodyPr/>
          <a:lstStyle/>
          <a:p>
            <a:pPr algn="l">
              <a:defRPr/>
            </a:pPr>
            <a:r>
              <a:rPr lang="zh-CN" altLang="en-US" sz="3200" b="1" dirty="0"/>
              <a:t>例如：</a:t>
            </a:r>
          </a:p>
        </p:txBody>
      </p:sp>
      <p:pic>
        <p:nvPicPr>
          <p:cNvPr id="5427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770" y="2154555"/>
            <a:ext cx="9725660" cy="138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标题 1"/>
          <p:cNvSpPr txBox="1">
            <a:spLocks noGrp="1"/>
          </p:cNvSpPr>
          <p:nvPr/>
        </p:nvSpPr>
        <p:spPr>
          <a:xfrm>
            <a:off x="9529445" y="266700"/>
            <a:ext cx="2670175" cy="521970"/>
          </a:xfrm>
          <a:noFill/>
        </p:spPr>
        <p:txBody>
          <a:bodyPr wrap="square" rtlCol="0">
            <a:spAutoFit/>
          </a:bodyPr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2.3 数据类型</a:t>
            </a:r>
          </a:p>
        </p:txBody>
      </p:sp>
    </p:spTree>
  </p:cSld>
  <p:clrMapOvr>
    <a:masterClrMapping/>
  </p:clrMapOvr>
  <p:transition spd="slow" advTm="0"/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16403" y="1556242"/>
            <a:ext cx="10220116" cy="417723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字符串（</a:t>
            </a:r>
            <a:r>
              <a:rPr kumimoji="1"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str</a:t>
            </a:r>
            <a:r>
              <a:rPr kumimoji="1"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  <a:endParaRPr kumimoji="1"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字符串是以两个单引号或两个双引号包裹起来的文本</a:t>
            </a:r>
            <a:endParaRPr kumimoji="1"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字符串 </a:t>
            </a:r>
            <a:r>
              <a:rPr kumimoji="1"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Jump Shot</a:t>
            </a:r>
            <a:r>
              <a:rPr kumimoji="1"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包括 </a:t>
            </a:r>
            <a:r>
              <a:rPr kumimoji="1"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J</a:t>
            </a:r>
            <a:r>
              <a:rPr kumimoji="1"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kumimoji="1"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u</a:t>
            </a:r>
            <a:r>
              <a:rPr kumimoji="1"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kumimoji="1"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</a:t>
            </a:r>
            <a:r>
              <a:rPr kumimoji="1"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kumimoji="1"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</a:t>
            </a:r>
            <a:r>
              <a:rPr kumimoji="1"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，空格，</a:t>
            </a:r>
            <a:r>
              <a:rPr kumimoji="1"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</a:t>
            </a:r>
            <a:r>
              <a:rPr kumimoji="1"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kumimoji="1"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</a:t>
            </a:r>
            <a:r>
              <a:rPr kumimoji="1"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kumimoji="1"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o</a:t>
            </a:r>
            <a:r>
              <a:rPr kumimoji="1"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kumimoji="1"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</a:t>
            </a:r>
            <a:r>
              <a:rPr kumimoji="1"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这</a:t>
            </a:r>
            <a:r>
              <a:rPr kumimoji="1"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9</a:t>
            </a:r>
            <a:r>
              <a:rPr kumimoji="1"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个字符</a:t>
            </a:r>
            <a:endParaRPr kumimoji="1"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6" name="标题 1"/>
          <p:cNvSpPr>
            <a:spLocks noGrp="1"/>
          </p:cNvSpPr>
          <p:nvPr/>
        </p:nvSpPr>
        <p:spPr>
          <a:xfrm>
            <a:off x="330835" y="887095"/>
            <a:ext cx="4739640" cy="885825"/>
          </a:xfrm>
        </p:spPr>
        <p:txBody>
          <a:bodyPr vert="horz" rtlCol="0">
            <a:normAutofit/>
          </a:bodyPr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>
              <a:defRPr/>
            </a:pP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2、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字符串</a:t>
            </a:r>
          </a:p>
        </p:txBody>
      </p:sp>
      <p:sp>
        <p:nvSpPr>
          <p:cNvPr id="11" name="标题 1"/>
          <p:cNvSpPr txBox="1">
            <a:spLocks noGrp="1"/>
          </p:cNvSpPr>
          <p:nvPr/>
        </p:nvSpPr>
        <p:spPr>
          <a:xfrm>
            <a:off x="9529445" y="266700"/>
            <a:ext cx="2670175" cy="521970"/>
          </a:xfrm>
          <a:noFill/>
        </p:spPr>
        <p:txBody>
          <a:bodyPr wrap="square" rtlCol="0">
            <a:spAutoFit/>
          </a:bodyPr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2.3 数据类型</a:t>
            </a:r>
          </a:p>
        </p:txBody>
      </p:sp>
    </p:spTree>
  </p:cSld>
  <p:clrMapOvr>
    <a:masterClrMapping/>
  </p:clrMapOvr>
  <p:transition spd="slow" advTm="0"/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16403" y="1485059"/>
            <a:ext cx="10220116" cy="417723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转义字符：字符串里常常存在一些如换行、制表符等有特殊含义的字符，这些字符称之为转义字符</a:t>
            </a:r>
            <a:endParaRPr kumimoji="1"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比如 </a:t>
            </a:r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\n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表示换行， </a:t>
            </a:r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\t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表示制表符，</a:t>
            </a:r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Python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还允许用 </a:t>
            </a:r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r””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表示</a:t>
            </a:r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”内部的字符串默认不转义</a:t>
            </a:r>
            <a:endParaRPr kumimoji="1"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" name="标题 1"/>
          <p:cNvSpPr txBox="1">
            <a:spLocks noGrp="1"/>
          </p:cNvSpPr>
          <p:nvPr/>
        </p:nvSpPr>
        <p:spPr>
          <a:xfrm>
            <a:off x="9529445" y="266700"/>
            <a:ext cx="2670175" cy="521970"/>
          </a:xfrm>
          <a:noFill/>
        </p:spPr>
        <p:txBody>
          <a:bodyPr wrap="square" rtlCol="0">
            <a:spAutoFit/>
          </a:bodyPr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2.3 数据类型</a:t>
            </a:r>
          </a:p>
        </p:txBody>
      </p:sp>
      <p:sp>
        <p:nvSpPr>
          <p:cNvPr id="12" name="标题 1"/>
          <p:cNvSpPr>
            <a:spLocks noGrp="1"/>
          </p:cNvSpPr>
          <p:nvPr/>
        </p:nvSpPr>
        <p:spPr>
          <a:xfrm>
            <a:off x="330835" y="887095"/>
            <a:ext cx="4739640" cy="885825"/>
          </a:xfrm>
        </p:spPr>
        <p:txBody>
          <a:bodyPr vert="horz" rtlCol="0">
            <a:normAutofit/>
          </a:bodyPr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>
              <a:defRPr/>
            </a:pP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2、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字符串</a:t>
            </a:r>
          </a:p>
        </p:txBody>
      </p:sp>
    </p:spTree>
  </p:cSld>
  <p:clrMapOvr>
    <a:masterClrMapping/>
  </p:clrMapOvr>
  <p:transition spd="slow" advTm="0"/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"/>
          <p:cNvSpPr txBox="1">
            <a:spLocks noGrp="1"/>
          </p:cNvSpPr>
          <p:nvPr/>
        </p:nvSpPr>
        <p:spPr>
          <a:xfrm>
            <a:off x="9529445" y="266700"/>
            <a:ext cx="2670175" cy="521970"/>
          </a:xfrm>
          <a:noFill/>
        </p:spPr>
        <p:txBody>
          <a:bodyPr wrap="square" rtlCol="0">
            <a:spAutoFit/>
          </a:bodyPr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2.3 数据类型</a:t>
            </a:r>
          </a:p>
        </p:txBody>
      </p:sp>
      <p:sp>
        <p:nvSpPr>
          <p:cNvPr id="3" name="Content Placeholder 2"/>
          <p:cNvSpPr>
            <a:spLocks noGrp="1"/>
          </p:cNvSpPr>
          <p:nvPr/>
        </p:nvSpPr>
        <p:spPr>
          <a:xfrm>
            <a:off x="777875" y="1002030"/>
            <a:ext cx="10515600" cy="510984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latin typeface="Consolas" panose="020B0609020204030204" charset="0"/>
              </a:rPr>
              <a:t>&gt;&gt;&gt; x = 'Hello world.'                  #</a:t>
            </a:r>
            <a:r>
              <a:rPr lang="en-US" sz="2000" dirty="0" err="1">
                <a:latin typeface="Consolas" panose="020B0609020204030204" charset="0"/>
              </a:rPr>
              <a:t>使用单引号作为定界符</a:t>
            </a:r>
            <a:endParaRPr lang="en-US" sz="2000" dirty="0"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latin typeface="Consolas" panose="020B0609020204030204" charset="0"/>
              </a:rPr>
              <a:t>&gt;&gt;&gt; x = "Python is a great language."   #</a:t>
            </a:r>
            <a:r>
              <a:rPr lang="en-US" sz="2000" dirty="0" err="1">
                <a:latin typeface="Consolas" panose="020B0609020204030204" charset="0"/>
              </a:rPr>
              <a:t>使用双引号作为定界符</a:t>
            </a:r>
            <a:endParaRPr lang="en-US" sz="2000" dirty="0"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latin typeface="Consolas" panose="020B0609020204030204" charset="0"/>
              </a:rPr>
              <a:t>&gt;&gt;&gt; x = '''Tom said, "Let's go."'''     #</a:t>
            </a:r>
            <a:r>
              <a:rPr lang="en-US" sz="2000" dirty="0" err="1">
                <a:latin typeface="Consolas" panose="020B0609020204030204" charset="0"/>
              </a:rPr>
              <a:t>不同定界符之间可以互相嵌套</a:t>
            </a:r>
            <a:endParaRPr lang="en-US" sz="2000" dirty="0"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latin typeface="Consolas" panose="020B0609020204030204" charset="0"/>
              </a:rPr>
              <a:t>&gt;&gt;&gt; print(x)</a:t>
            </a: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00B0F0"/>
                </a:solidFill>
                <a:latin typeface="Consolas" panose="020B0609020204030204" charset="0"/>
              </a:rPr>
              <a:t>Tom said, "Let's go."</a:t>
            </a: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latin typeface="Consolas" panose="020B0609020204030204" charset="0"/>
              </a:rPr>
              <a:t>&gt;&gt;&gt; x = 'good ' + 'morning'             #</a:t>
            </a:r>
            <a:r>
              <a:rPr lang="en-US" sz="2000" dirty="0" err="1">
                <a:latin typeface="Consolas" panose="020B0609020204030204" charset="0"/>
              </a:rPr>
              <a:t>连接字符串</a:t>
            </a:r>
            <a:endParaRPr lang="en-US" sz="2000" dirty="0"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latin typeface="Consolas" panose="020B0609020204030204" charset="0"/>
              </a:rPr>
              <a:t>&gt;&gt;&gt; x</a:t>
            </a: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00B0F0"/>
                </a:solidFill>
                <a:latin typeface="Consolas" panose="020B0609020204030204" charset="0"/>
              </a:rPr>
              <a:t>'good morning'</a:t>
            </a: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latin typeface="Consolas" panose="020B0609020204030204" charset="0"/>
              </a:rPr>
              <a:t>&gt;&gt;&gt; x = 'good ''morning'                #</a:t>
            </a:r>
            <a:r>
              <a:rPr lang="en-US" sz="2000" dirty="0" err="1">
                <a:latin typeface="Consolas" panose="020B0609020204030204" charset="0"/>
              </a:rPr>
              <a:t>连接字符串，仅适用于字符串常量</a:t>
            </a:r>
            <a:endParaRPr lang="en-US" sz="2000" dirty="0"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latin typeface="Consolas" panose="020B0609020204030204" charset="0"/>
              </a:rPr>
              <a:t>&gt;&gt;&gt; x</a:t>
            </a: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00B0F0"/>
                </a:solidFill>
                <a:latin typeface="Consolas" panose="020B0609020204030204" charset="0"/>
              </a:rPr>
              <a:t>'good morning'</a:t>
            </a: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latin typeface="Consolas" panose="020B0609020204030204" charset="0"/>
              </a:rPr>
              <a:t>&gt;&gt;&gt; x = 'good '</a:t>
            </a: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latin typeface="Consolas" panose="020B0609020204030204" charset="0"/>
              </a:rPr>
              <a:t>&gt;&gt;&gt; x = </a:t>
            </a:r>
            <a:r>
              <a:rPr lang="en-US" sz="2000" dirty="0" err="1">
                <a:latin typeface="Consolas" panose="020B0609020204030204" charset="0"/>
              </a:rPr>
              <a:t>x'morning</a:t>
            </a:r>
            <a:r>
              <a:rPr lang="en-US" sz="2000" dirty="0">
                <a:latin typeface="Consolas" panose="020B0609020204030204" charset="0"/>
              </a:rPr>
              <a:t>'                      #</a:t>
            </a:r>
            <a:r>
              <a:rPr lang="en-US" sz="2000" dirty="0" err="1">
                <a:latin typeface="Consolas" panose="020B0609020204030204" charset="0"/>
              </a:rPr>
              <a:t>不适用于字符串变量</a:t>
            </a:r>
            <a:endParaRPr lang="en-US" sz="2000" dirty="0"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 err="1">
                <a:solidFill>
                  <a:srgbClr val="FF0000"/>
                </a:solidFill>
                <a:latin typeface="Consolas" panose="020B0609020204030204" charset="0"/>
              </a:rPr>
              <a:t>SyntaxError</a:t>
            </a:r>
            <a:r>
              <a:rPr lang="en-US" sz="2000" dirty="0">
                <a:solidFill>
                  <a:srgbClr val="FF0000"/>
                </a:solidFill>
                <a:latin typeface="Consolas" panose="020B0609020204030204" charset="0"/>
              </a:rPr>
              <a:t>: invalid syntax</a:t>
            </a: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latin typeface="Consolas" panose="020B0609020204030204" charset="0"/>
              </a:rPr>
              <a:t>&gt;&gt;&gt; x = x + 'morning'                   #</a:t>
            </a:r>
            <a:r>
              <a:rPr lang="en-US" sz="2000" dirty="0" err="1">
                <a:latin typeface="Consolas" panose="020B0609020204030204" charset="0"/>
              </a:rPr>
              <a:t>字符串变量之间的连接可以使用加号</a:t>
            </a:r>
            <a:endParaRPr lang="en-US" sz="2000" dirty="0"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latin typeface="Consolas" panose="020B0609020204030204" charset="0"/>
              </a:rPr>
              <a:t>&gt;&gt;&gt; x</a:t>
            </a: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00B0F0"/>
                </a:solidFill>
                <a:latin typeface="Consolas" panose="020B0609020204030204" charset="0"/>
              </a:rPr>
              <a:t>'good morning'</a:t>
            </a:r>
          </a:p>
        </p:txBody>
      </p:sp>
    </p:spTree>
  </p:cSld>
  <p:clrMapOvr>
    <a:masterClrMapping/>
  </p:clrMapOvr>
  <p:transition spd="slow" advTm="0"/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5" name="内容占位符 2"/>
          <p:cNvSpPr>
            <a:spLocks noGrp="1"/>
          </p:cNvSpPr>
          <p:nvPr>
            <p:ph idx="4294967295"/>
          </p:nvPr>
        </p:nvSpPr>
        <p:spPr>
          <a:xfrm>
            <a:off x="894080" y="866140"/>
            <a:ext cx="10398125" cy="1424305"/>
          </a:xfrm>
        </p:spPr>
        <p:txBody>
          <a:bodyPr/>
          <a:lstStyle/>
          <a:p>
            <a:pPr fontAlgn="auto">
              <a:lnSpc>
                <a:spcPts val="4260"/>
              </a:lnSpc>
              <a:spcBef>
                <a:spcPts val="0"/>
              </a:spcBef>
            </a:pPr>
            <a:r>
              <a:rPr lang="en-US" altLang="zh-CN" sz="28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Python</a:t>
            </a:r>
            <a:r>
              <a:rPr lang="zh-CN" altLang="en-US" sz="28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的运算符包括算术运算符、关系运算符和逻辑运算符。</a:t>
            </a:r>
            <a:endParaRPr lang="en-US" altLang="zh-CN" sz="28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ts val="4260"/>
              </a:lnSpc>
              <a:spcBef>
                <a:spcPts val="0"/>
              </a:spcBef>
            </a:pPr>
            <a:r>
              <a:rPr lang="zh-CN" altLang="en-US" sz="28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表达式是由数字或字符串和运算符组成的有意义的式子。</a:t>
            </a:r>
          </a:p>
        </p:txBody>
      </p:sp>
      <p:sp>
        <p:nvSpPr>
          <p:cNvPr id="11" name="标题 1"/>
          <p:cNvSpPr txBox="1">
            <a:spLocks noGrp="1"/>
          </p:cNvSpPr>
          <p:nvPr/>
        </p:nvSpPr>
        <p:spPr>
          <a:xfrm>
            <a:off x="8623935" y="266700"/>
            <a:ext cx="3575685" cy="521970"/>
          </a:xfrm>
          <a:noFill/>
        </p:spPr>
        <p:txBody>
          <a:bodyPr wrap="square" rtlCol="0">
            <a:spAutoFit/>
          </a:bodyPr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2.4 运算符与表达式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008755" y="2136775"/>
            <a:ext cx="5307965" cy="40716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fontAlgn="auto">
              <a:lnSpc>
                <a:spcPts val="3880"/>
              </a:lnSpc>
            </a:pPr>
            <a:r>
              <a:rPr lang="zh-CN" altLang="en-US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算术运算符</a:t>
            </a:r>
          </a:p>
          <a:p>
            <a:pPr fontAlgn="auto">
              <a:lnSpc>
                <a:spcPts val="3880"/>
              </a:lnSpc>
            </a:pPr>
            <a:r>
              <a:rPr lang="zh-CN" altLang="en-US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比较（关系）运算符</a:t>
            </a:r>
          </a:p>
          <a:p>
            <a:pPr fontAlgn="auto">
              <a:lnSpc>
                <a:spcPts val="3880"/>
              </a:lnSpc>
            </a:pPr>
            <a:r>
              <a:rPr lang="zh-CN" altLang="en-US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赋值运算符</a:t>
            </a:r>
          </a:p>
          <a:p>
            <a:pPr fontAlgn="auto">
              <a:lnSpc>
                <a:spcPts val="3880"/>
              </a:lnSpc>
            </a:pPr>
            <a:r>
              <a:rPr lang="zh-CN" altLang="en-US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逻辑运算符</a:t>
            </a:r>
          </a:p>
          <a:p>
            <a:pPr fontAlgn="auto">
              <a:lnSpc>
                <a:spcPts val="3880"/>
              </a:lnSpc>
            </a:pPr>
            <a:r>
              <a:rPr lang="zh-CN" altLang="en-US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位运算符</a:t>
            </a:r>
          </a:p>
          <a:p>
            <a:pPr fontAlgn="auto">
              <a:lnSpc>
                <a:spcPts val="3880"/>
              </a:lnSpc>
            </a:pPr>
            <a:r>
              <a:rPr lang="zh-CN" altLang="en-US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成员运算符</a:t>
            </a:r>
          </a:p>
          <a:p>
            <a:pPr fontAlgn="auto">
              <a:lnSpc>
                <a:spcPts val="3880"/>
              </a:lnSpc>
            </a:pPr>
            <a:r>
              <a:rPr lang="zh-CN" altLang="en-US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身份运算符</a:t>
            </a:r>
          </a:p>
          <a:p>
            <a:pPr fontAlgn="auto">
              <a:lnSpc>
                <a:spcPts val="3880"/>
              </a:lnSpc>
            </a:pPr>
            <a:r>
              <a:rPr lang="zh-CN" altLang="en-US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运算符优先级</a:t>
            </a:r>
          </a:p>
        </p:txBody>
      </p:sp>
    </p:spTree>
  </p:cSld>
  <p:clrMapOvr>
    <a:masterClrMapping/>
  </p:clrMapOvr>
  <p:transition spd="slow" advTm="0"/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0" y="727710"/>
            <a:ext cx="8086725" cy="553085"/>
          </a:xfrm>
        </p:spPr>
        <p:txBody>
          <a:bodyPr/>
          <a:lstStyle/>
          <a:p>
            <a:pPr algn="l">
              <a:defRPr/>
            </a:pP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、算术运算符</a:t>
            </a:r>
          </a:p>
        </p:txBody>
      </p:sp>
      <p:sp>
        <p:nvSpPr>
          <p:cNvPr id="45059" name="内容占位符 2"/>
          <p:cNvSpPr>
            <a:spLocks noGrp="1"/>
          </p:cNvSpPr>
          <p:nvPr>
            <p:ph idx="4294967295"/>
          </p:nvPr>
        </p:nvSpPr>
        <p:spPr>
          <a:xfrm>
            <a:off x="0" y="1280795"/>
            <a:ext cx="7607935" cy="559435"/>
          </a:xfrm>
        </p:spPr>
        <p:txBody>
          <a:bodyPr>
            <a:scene3d>
              <a:camera prst="orthographicFront"/>
              <a:lightRig rig="threePt" dir="t"/>
            </a:scene3d>
          </a:bodyPr>
          <a:lstStyle/>
          <a:p>
            <a:pPr marL="0" indent="0">
              <a:buNone/>
              <a:defRPr/>
            </a:pPr>
            <a:r>
              <a:rPr lang="zh-CN" altLang="en-US" sz="28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（</a:t>
            </a:r>
            <a:r>
              <a:rPr lang="en-US" altLang="zh-CN" sz="28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1</a:t>
            </a:r>
            <a:r>
              <a:rPr lang="zh-CN" altLang="en-US" sz="28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）整数运算</a:t>
            </a:r>
            <a:endParaRPr lang="en-US" altLang="zh-CN" sz="28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graphicFrame>
        <p:nvGraphicFramePr>
          <p:cNvPr id="6" name="内容占位符 5"/>
          <p:cNvGraphicFramePr/>
          <p:nvPr/>
        </p:nvGraphicFramePr>
        <p:xfrm>
          <a:off x="1950720" y="1705610"/>
          <a:ext cx="8641080" cy="45554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205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038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solidFill>
                            <a:schemeClr val="tx1"/>
                          </a:solidFill>
                        </a:rPr>
                        <a:t>名  称</a:t>
                      </a:r>
                    </a:p>
                  </a:txBody>
                  <a:tcPr marL="91472" marR="91472" marT="45734" marB="45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solidFill>
                            <a:schemeClr val="tx1"/>
                          </a:solidFill>
                        </a:rPr>
                        <a:t>运算符</a:t>
                      </a:r>
                    </a:p>
                  </a:txBody>
                  <a:tcPr marL="91472" marR="91472" marT="45734" marB="4573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296">
                <a:tc>
                  <a:txBody>
                    <a:bodyPr/>
                    <a:lstStyle/>
                    <a:p>
                      <a:r>
                        <a:rPr lang="zh-CN" altLang="en-US" sz="1800" b="1" dirty="0"/>
                        <a:t>加</a:t>
                      </a:r>
                    </a:p>
                  </a:txBody>
                  <a:tcPr marL="91472" marR="91472" marT="45734" marB="45734"/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/>
                        <a:t>+</a:t>
                      </a:r>
                    </a:p>
                  </a:txBody>
                  <a:tcPr marL="91472" marR="91472" marT="45734" marB="4573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296">
                <a:tc>
                  <a:txBody>
                    <a:bodyPr/>
                    <a:lstStyle/>
                    <a:p>
                      <a:r>
                        <a:rPr lang="zh-CN" altLang="en-US" sz="1800" b="1" dirty="0"/>
                        <a:t>减</a:t>
                      </a:r>
                    </a:p>
                  </a:txBody>
                  <a:tcPr marL="91472" marR="91472" marT="45734" marB="45734"/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/>
                        <a:t>—</a:t>
                      </a:r>
                    </a:p>
                  </a:txBody>
                  <a:tcPr marL="91472" marR="91472" marT="45734" marB="4573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296">
                <a:tc>
                  <a:txBody>
                    <a:bodyPr/>
                    <a:lstStyle/>
                    <a:p>
                      <a:r>
                        <a:rPr lang="zh-CN" altLang="en-US" sz="1800" b="1" dirty="0"/>
                        <a:t>乘</a:t>
                      </a:r>
                    </a:p>
                  </a:txBody>
                  <a:tcPr marL="91472" marR="91472" marT="45734" marB="45734"/>
                </a:tc>
                <a:tc>
                  <a:txBody>
                    <a:bodyPr/>
                    <a:lstStyle/>
                    <a:p>
                      <a:r>
                        <a:rPr lang="zh-CN" altLang="en-US" sz="1800" b="1" dirty="0"/>
                        <a:t>*</a:t>
                      </a:r>
                    </a:p>
                  </a:txBody>
                  <a:tcPr marL="91472" marR="91472" marT="45734" marB="4573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296">
                <a:tc>
                  <a:txBody>
                    <a:bodyPr/>
                    <a:lstStyle/>
                    <a:p>
                      <a:r>
                        <a:rPr lang="zh-CN" altLang="en-US" sz="1800" b="1" dirty="0"/>
                        <a:t>除</a:t>
                      </a:r>
                    </a:p>
                  </a:txBody>
                  <a:tcPr marL="91472" marR="91472" marT="45734" marB="45734"/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/>
                        <a:t>/</a:t>
                      </a:r>
                    </a:p>
                  </a:txBody>
                  <a:tcPr marL="91472" marR="91472" marT="45734" marB="45734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296">
                <a:tc>
                  <a:txBody>
                    <a:bodyPr/>
                    <a:lstStyle/>
                    <a:p>
                      <a:r>
                        <a:rPr lang="zh-CN" altLang="en-US" sz="1800" b="1" dirty="0"/>
                        <a:t>整除</a:t>
                      </a:r>
                    </a:p>
                  </a:txBody>
                  <a:tcPr marL="91472" marR="91472" marT="45734" marB="45734"/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/>
                        <a:t>//</a:t>
                      </a:r>
                    </a:p>
                  </a:txBody>
                  <a:tcPr marL="91472" marR="91472" marT="45734" marB="45734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9296">
                <a:tc>
                  <a:txBody>
                    <a:bodyPr/>
                    <a:lstStyle/>
                    <a:p>
                      <a:r>
                        <a:rPr lang="zh-CN" altLang="en-US" sz="1800" b="1" dirty="0"/>
                        <a:t>求余</a:t>
                      </a:r>
                    </a:p>
                  </a:txBody>
                  <a:tcPr marL="91472" marR="91472" marT="45734" marB="45734"/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/>
                        <a:t>%</a:t>
                      </a:r>
                    </a:p>
                  </a:txBody>
                  <a:tcPr marL="91472" marR="91472" marT="45734" marB="45734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9296">
                <a:tc>
                  <a:txBody>
                    <a:bodyPr/>
                    <a:lstStyle/>
                    <a:p>
                      <a:r>
                        <a:rPr lang="zh-CN" altLang="en-US" sz="1800" b="1" dirty="0"/>
                        <a:t>乘方</a:t>
                      </a:r>
                    </a:p>
                  </a:txBody>
                  <a:tcPr marL="91472" marR="91472" marT="45734" marB="45734"/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/>
                        <a:t>**</a:t>
                      </a:r>
                    </a:p>
                  </a:txBody>
                  <a:tcPr marL="91472" marR="91472" marT="45734" marB="45734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标题 1"/>
          <p:cNvSpPr txBox="1">
            <a:spLocks noGrp="1"/>
          </p:cNvSpPr>
          <p:nvPr/>
        </p:nvSpPr>
        <p:spPr>
          <a:xfrm>
            <a:off x="8623935" y="266700"/>
            <a:ext cx="3575685" cy="521970"/>
          </a:xfrm>
          <a:noFill/>
        </p:spPr>
        <p:txBody>
          <a:bodyPr wrap="square" rtlCol="0">
            <a:spAutoFit/>
          </a:bodyPr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2.4 运算符与表达式</a:t>
            </a:r>
          </a:p>
        </p:txBody>
      </p:sp>
    </p:spTree>
  </p:cSld>
  <p:clrMapOvr>
    <a:masterClrMapping/>
  </p:clrMapOvr>
  <p:transition spd="slow" advTm="0"/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/>
        </p:nvSpPr>
        <p:spPr>
          <a:xfrm>
            <a:off x="0" y="812165"/>
            <a:ext cx="8086725" cy="553085"/>
          </a:xfrm>
        </p:spPr>
        <p:txBody>
          <a:bodyPr/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、算术运算符</a:t>
            </a:r>
          </a:p>
        </p:txBody>
      </p:sp>
      <p:sp>
        <p:nvSpPr>
          <p:cNvPr id="45059" name="内容占位符 2"/>
          <p:cNvSpPr>
            <a:spLocks noGrp="1"/>
          </p:cNvSpPr>
          <p:nvPr/>
        </p:nvSpPr>
        <p:spPr>
          <a:xfrm>
            <a:off x="0" y="1365250"/>
            <a:ext cx="7607935" cy="559435"/>
          </a:xfrm>
        </p:spPr>
        <p:txBody>
          <a:bodyPr>
            <a:scene3d>
              <a:camera prst="orthographicFront"/>
              <a:lightRig rig="threePt" dir="t"/>
            </a:scene3d>
          </a:bodyPr>
          <a:lstStyle>
            <a:lvl1pPr marL="457200" indent="-4572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4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1235" indent="-3810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4635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4235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447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407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67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905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505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zh-CN" altLang="en-US" sz="28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（</a:t>
            </a:r>
            <a:r>
              <a:rPr lang="en-US" altLang="zh-CN" sz="28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1</a:t>
            </a:r>
            <a:r>
              <a:rPr lang="zh-CN" altLang="en-US" sz="28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）整数运算</a:t>
            </a:r>
            <a:endParaRPr lang="en-US" altLang="zh-CN" sz="28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11" name="标题 1"/>
          <p:cNvSpPr txBox="1">
            <a:spLocks noGrp="1"/>
          </p:cNvSpPr>
          <p:nvPr/>
        </p:nvSpPr>
        <p:spPr>
          <a:xfrm>
            <a:off x="8623935" y="266700"/>
            <a:ext cx="3575685" cy="521970"/>
          </a:xfrm>
          <a:noFill/>
        </p:spPr>
        <p:txBody>
          <a:bodyPr wrap="square" rtlCol="0">
            <a:spAutoFit/>
          </a:bodyPr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2.4 运算符与表达式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8090" y="2005965"/>
            <a:ext cx="5588635" cy="4247515"/>
          </a:xfrm>
          <a:prstGeom prst="rect">
            <a:avLst/>
          </a:prstGeom>
        </p:spPr>
      </p:pic>
    </p:spTree>
  </p:cSld>
  <p:clrMapOvr>
    <a:masterClrMapping/>
  </p:clrMapOvr>
  <p:transition spd="slow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438150" y="1551940"/>
            <a:ext cx="9860915" cy="3114040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  <a:defRPr/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运算顺序：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>
              <a:defRPr/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Python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算术运算的规则与常规算术的规则相同。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>
              <a:defRPr/>
            </a:pP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7" name="标题 1"/>
          <p:cNvSpPr>
            <a:spLocks noGrp="1"/>
          </p:cNvSpPr>
          <p:nvPr/>
        </p:nvSpPr>
        <p:spPr>
          <a:xfrm>
            <a:off x="0" y="812165"/>
            <a:ext cx="8086725" cy="553085"/>
          </a:xfrm>
        </p:spPr>
        <p:txBody>
          <a:bodyPr/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、算术运算符</a:t>
            </a:r>
          </a:p>
        </p:txBody>
      </p:sp>
      <p:sp>
        <p:nvSpPr>
          <p:cNvPr id="11" name="标题 1"/>
          <p:cNvSpPr txBox="1">
            <a:spLocks noGrp="1"/>
          </p:cNvSpPr>
          <p:nvPr/>
        </p:nvSpPr>
        <p:spPr>
          <a:xfrm>
            <a:off x="8623935" y="266700"/>
            <a:ext cx="3575685" cy="521970"/>
          </a:xfrm>
          <a:noFill/>
        </p:spPr>
        <p:txBody>
          <a:bodyPr wrap="square" rtlCol="0">
            <a:spAutoFit/>
          </a:bodyPr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2.4 运算符与表达式</a:t>
            </a:r>
          </a:p>
        </p:txBody>
      </p:sp>
      <p:sp>
        <p:nvSpPr>
          <p:cNvPr id="2" name="Content Placeholder 2"/>
          <p:cNvSpPr>
            <a:spLocks noGrp="1"/>
          </p:cNvSpPr>
          <p:nvPr/>
        </p:nvSpPr>
        <p:spPr>
          <a:xfrm>
            <a:off x="438150" y="2754630"/>
            <a:ext cx="10515600" cy="4639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150000"/>
              </a:lnSpc>
            </a:pPr>
            <a:r>
              <a:rPr lang="en-US" sz="24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运算符优先级遵循的规则为：</a:t>
            </a:r>
            <a:r>
              <a:rPr 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算术运算符优先级最高，其次是位运算符、成员运算符、关系运算符、逻辑运算符等，算术运算符遵循“先乘除，后加减”的基本运算原则。</a:t>
            </a:r>
          </a:p>
          <a:p>
            <a:pPr fontAlgn="auto">
              <a:lnSpc>
                <a:spcPct val="150000"/>
              </a:lnSpc>
            </a:pPr>
            <a:r>
              <a:rPr lang="en-US" sz="2400" b="1" dirty="0" err="1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虽然Python运算符有一套严格的优先级规则，但是强烈建议在编写复杂表达式时</a:t>
            </a:r>
            <a:r>
              <a:rPr lang="en-US" sz="2400" b="1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使用圆括号来明确说明其中的逻辑</a:t>
            </a:r>
            <a:r>
              <a:rPr lang="en-US" sz="2400" b="1" dirty="0" err="1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来提高代码可读性</a:t>
            </a:r>
            <a:r>
              <a:rPr lang="en-US" sz="24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。</a:t>
            </a:r>
          </a:p>
        </p:txBody>
      </p:sp>
    </p:spTree>
  </p:cSld>
  <p:clrMapOvr>
    <a:masterClrMapping/>
  </p:clrMapOvr>
  <p:transition spd="slow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438150" y="1551940"/>
            <a:ext cx="9860915" cy="3114040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  <a:defRPr/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长度不受限制：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>
              <a:defRPr/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与其他大多数编程语言不同，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Python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对整数的长度没有限制，可以执行数十位甚至数百数千位的整数运算。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>
              <a:defRPr/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如：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27**100</a:t>
            </a:r>
          </a:p>
          <a:p>
            <a:pPr>
              <a:defRPr/>
            </a:pP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pic>
        <p:nvPicPr>
          <p:cNvPr id="6656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665" y="3862070"/>
            <a:ext cx="11612245" cy="137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标题 1"/>
          <p:cNvSpPr>
            <a:spLocks noGrp="1"/>
          </p:cNvSpPr>
          <p:nvPr/>
        </p:nvSpPr>
        <p:spPr>
          <a:xfrm>
            <a:off x="0" y="812165"/>
            <a:ext cx="8086725" cy="553085"/>
          </a:xfrm>
        </p:spPr>
        <p:txBody>
          <a:bodyPr/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、算术运算符和算术表达式</a:t>
            </a:r>
          </a:p>
        </p:txBody>
      </p:sp>
      <p:sp>
        <p:nvSpPr>
          <p:cNvPr id="11" name="标题 1"/>
          <p:cNvSpPr txBox="1">
            <a:spLocks noGrp="1"/>
          </p:cNvSpPr>
          <p:nvPr/>
        </p:nvSpPr>
        <p:spPr>
          <a:xfrm>
            <a:off x="8623935" y="266700"/>
            <a:ext cx="3575685" cy="521970"/>
          </a:xfrm>
          <a:noFill/>
        </p:spPr>
        <p:txBody>
          <a:bodyPr wrap="square" rtlCol="0">
            <a:spAutoFit/>
          </a:bodyPr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2.4 运算符与表达式</a:t>
            </a:r>
          </a:p>
        </p:txBody>
      </p:sp>
    </p:spTree>
  </p:cSld>
  <p:clrMapOvr>
    <a:masterClrMapping/>
  </p:clrMapOvr>
  <p:transition spd="slow" advTm="0"/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 idx="4294967295"/>
          </p:nvPr>
        </p:nvSpPr>
        <p:spPr>
          <a:xfrm>
            <a:off x="220980" y="1503680"/>
            <a:ext cx="9884410" cy="677545"/>
          </a:xfrm>
        </p:spPr>
        <p:txBody>
          <a:bodyPr>
            <a:scene3d>
              <a:camera prst="orthographicFront"/>
              <a:lightRig rig="threePt" dir="t"/>
            </a:scene3d>
          </a:bodyPr>
          <a:lstStyle/>
          <a:p>
            <a:pPr algn="l">
              <a:defRPr/>
            </a:pPr>
            <a:r>
              <a:rPr lang="zh-CN" altLang="en-US" sz="28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（</a:t>
            </a:r>
            <a:r>
              <a:rPr lang="en-US" altLang="zh-CN" sz="28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2</a:t>
            </a:r>
            <a:r>
              <a:rPr lang="zh-CN" altLang="en-US" sz="28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）浮点数运算</a:t>
            </a:r>
          </a:p>
        </p:txBody>
      </p:sp>
      <p:sp>
        <p:nvSpPr>
          <p:cNvPr id="67587" name="内容占位符 4"/>
          <p:cNvSpPr>
            <a:spLocks noGrp="1"/>
          </p:cNvSpPr>
          <p:nvPr>
            <p:ph idx="4294967295"/>
          </p:nvPr>
        </p:nvSpPr>
        <p:spPr>
          <a:xfrm>
            <a:off x="220980" y="2181225"/>
            <a:ext cx="11488420" cy="4352290"/>
          </a:xfrm>
        </p:spPr>
        <p:txBody>
          <a:bodyPr/>
          <a:lstStyle/>
          <a:p>
            <a:r>
              <a:rPr lang="zh-CN" altLang="en-US" sz="2800" b="1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在</a:t>
            </a:r>
            <a:r>
              <a:rPr lang="en-US" altLang="zh-CN" sz="2800" b="1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Python</a:t>
            </a:r>
            <a:r>
              <a:rPr lang="zh-CN" altLang="en-US" sz="2800" b="1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中，浮点数是带小数点的数字。</a:t>
            </a:r>
            <a:endParaRPr lang="en-US" altLang="zh-CN" sz="2800" b="1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marL="0" indent="0">
              <a:buNone/>
            </a:pPr>
            <a:r>
              <a:rPr lang="zh-CN" altLang="en-US" sz="2800" b="1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  例如：</a:t>
            </a:r>
            <a:r>
              <a:rPr lang="en-US" altLang="zh-CN" sz="2800" b="1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-3.1</a:t>
            </a:r>
            <a:r>
              <a:rPr lang="zh-CN" altLang="en-US" sz="2800" b="1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、</a:t>
            </a:r>
            <a:r>
              <a:rPr lang="en-US" altLang="zh-CN" sz="2800" b="1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2.999</a:t>
            </a:r>
            <a:r>
              <a:rPr lang="zh-CN" altLang="en-US" sz="2800" b="1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和</a:t>
            </a:r>
            <a:r>
              <a:rPr lang="en-US" altLang="zh-CN" sz="2800" b="1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-4.0</a:t>
            </a:r>
            <a:r>
              <a:rPr lang="zh-CN" altLang="en-US" sz="2800" b="1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都是浮点数。</a:t>
            </a:r>
            <a:endParaRPr lang="en-US" altLang="zh-CN" sz="2800" b="1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endParaRPr lang="en-US" altLang="zh-CN" sz="2800" b="1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r>
              <a:rPr lang="zh-CN" altLang="en-US" sz="2800" b="1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所有适合用于整数的算术运算符都可用于浮点数，包括</a:t>
            </a:r>
            <a:r>
              <a:rPr lang="en-US" altLang="zh-CN" sz="2800" b="1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%</a:t>
            </a:r>
            <a:r>
              <a:rPr lang="zh-CN" altLang="en-US" sz="2800" b="1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（求余）和</a:t>
            </a:r>
            <a:r>
              <a:rPr lang="en-US" altLang="zh-CN" sz="2800" b="1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//</a:t>
            </a:r>
            <a:r>
              <a:rPr lang="zh-CN" altLang="en-US" sz="2800" b="1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（整除）。</a:t>
            </a:r>
          </a:p>
        </p:txBody>
      </p:sp>
      <p:sp>
        <p:nvSpPr>
          <p:cNvPr id="7" name="标题 1"/>
          <p:cNvSpPr>
            <a:spLocks noGrp="1"/>
          </p:cNvSpPr>
          <p:nvPr/>
        </p:nvSpPr>
        <p:spPr>
          <a:xfrm>
            <a:off x="0" y="812165"/>
            <a:ext cx="8086725" cy="553085"/>
          </a:xfrm>
        </p:spPr>
        <p:txBody>
          <a:bodyPr/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、算术运算符</a:t>
            </a:r>
          </a:p>
        </p:txBody>
      </p:sp>
      <p:sp>
        <p:nvSpPr>
          <p:cNvPr id="11" name="标题 1"/>
          <p:cNvSpPr txBox="1">
            <a:spLocks noGrp="1"/>
          </p:cNvSpPr>
          <p:nvPr/>
        </p:nvSpPr>
        <p:spPr>
          <a:xfrm>
            <a:off x="8623935" y="266700"/>
            <a:ext cx="3575685" cy="521970"/>
          </a:xfrm>
          <a:noFill/>
        </p:spPr>
        <p:txBody>
          <a:bodyPr wrap="square" rtlCol="0">
            <a:spAutoFit/>
          </a:bodyPr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2.4 运算符与表达式</a:t>
            </a:r>
          </a:p>
        </p:txBody>
      </p:sp>
    </p:spTree>
  </p:cSld>
  <p:clrMapOvr>
    <a:masterClrMapping/>
  </p:clrMapOvr>
  <p:transition spd="slow" advTm="0"/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838835" y="1852295"/>
            <a:ext cx="6626860" cy="664210"/>
          </a:xfrm>
        </p:spPr>
        <p:txBody>
          <a:bodyPr/>
          <a:lstStyle/>
          <a:p>
            <a:pPr algn="l">
              <a:defRPr/>
            </a:pPr>
            <a:r>
              <a:rPr lang="en-US" altLang="zh-CN" sz="2800" b="1" dirty="0"/>
              <a:t>① </a:t>
            </a:r>
            <a:r>
              <a:rPr lang="zh-CN" altLang="en-US" sz="2800" b="1" dirty="0"/>
              <a:t>浮点数的表示</a:t>
            </a:r>
          </a:p>
        </p:txBody>
      </p:sp>
      <p:sp>
        <p:nvSpPr>
          <p:cNvPr id="69635" name="内容占位符 2"/>
          <p:cNvSpPr>
            <a:spLocks noGrp="1"/>
          </p:cNvSpPr>
          <p:nvPr>
            <p:ph idx="4294967295"/>
          </p:nvPr>
        </p:nvSpPr>
        <p:spPr>
          <a:xfrm>
            <a:off x="838835" y="2524125"/>
            <a:ext cx="10509250" cy="2784475"/>
          </a:xfrm>
        </p:spPr>
        <p:txBody>
          <a:bodyPr/>
          <a:lstStyle/>
          <a:p>
            <a:r>
              <a:rPr lang="zh-CN" altLang="en-US" sz="2800" b="1">
                <a:latin typeface="+mn-ea"/>
              </a:rPr>
              <a:t>对于非常大或非常小的浮点数，通常用科学记数法表示。</a:t>
            </a:r>
            <a:endParaRPr lang="en-US" altLang="zh-CN" sz="2800" b="1">
              <a:latin typeface="+mn-ea"/>
            </a:endParaRPr>
          </a:p>
          <a:p>
            <a:r>
              <a:rPr lang="zh-CN" altLang="en-US" sz="2800" b="1">
                <a:latin typeface="+mn-ea"/>
              </a:rPr>
              <a:t>例如：</a:t>
            </a:r>
            <a:endParaRPr lang="en-US" altLang="zh-CN" sz="2800" b="1">
              <a:latin typeface="+mn-ea"/>
            </a:endParaRPr>
          </a:p>
          <a:p>
            <a:endParaRPr lang="en-US" altLang="zh-CN" sz="2800">
              <a:latin typeface="+mn-ea"/>
            </a:endParaRPr>
          </a:p>
          <a:p>
            <a:r>
              <a:rPr lang="zh-CN" altLang="en-US" sz="2800" b="1">
                <a:latin typeface="+mn-ea"/>
              </a:rPr>
              <a:t>例如：</a:t>
            </a:r>
            <a:endParaRPr lang="en-US" altLang="zh-CN" sz="2800" b="1">
              <a:latin typeface="+mn-ea"/>
            </a:endParaRPr>
          </a:p>
          <a:p>
            <a:endParaRPr lang="en-US" altLang="zh-CN" sz="2800">
              <a:latin typeface="+mn-ea"/>
            </a:endParaRPr>
          </a:p>
          <a:p>
            <a:endParaRPr lang="en-US" altLang="zh-CN" sz="2800">
              <a:latin typeface="+mn-ea"/>
            </a:endParaRPr>
          </a:p>
          <a:p>
            <a:endParaRPr lang="en-US" altLang="zh-CN" sz="2800">
              <a:latin typeface="+mn-ea"/>
            </a:endParaRPr>
          </a:p>
          <a:p>
            <a:endParaRPr lang="zh-CN" altLang="en-US" sz="2800">
              <a:latin typeface="+mn-ea"/>
            </a:endParaRPr>
          </a:p>
        </p:txBody>
      </p:sp>
      <p:pic>
        <p:nvPicPr>
          <p:cNvPr id="696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4032" y="3105605"/>
            <a:ext cx="3583817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963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4366" y="4129180"/>
            <a:ext cx="2232542" cy="5763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标题 1"/>
          <p:cNvSpPr txBox="1">
            <a:spLocks noGrp="1"/>
          </p:cNvSpPr>
          <p:nvPr/>
        </p:nvSpPr>
        <p:spPr>
          <a:xfrm>
            <a:off x="8623935" y="266700"/>
            <a:ext cx="3575685" cy="521970"/>
          </a:xfrm>
          <a:noFill/>
        </p:spPr>
        <p:txBody>
          <a:bodyPr wrap="square" rtlCol="0">
            <a:spAutoFit/>
          </a:bodyPr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2.4 运算符与表达式</a:t>
            </a:r>
          </a:p>
        </p:txBody>
      </p:sp>
      <p:sp>
        <p:nvSpPr>
          <p:cNvPr id="7" name="标题 1"/>
          <p:cNvSpPr>
            <a:spLocks noGrp="1"/>
          </p:cNvSpPr>
          <p:nvPr/>
        </p:nvSpPr>
        <p:spPr>
          <a:xfrm>
            <a:off x="0" y="812165"/>
            <a:ext cx="8086725" cy="553085"/>
          </a:xfrm>
        </p:spPr>
        <p:txBody>
          <a:bodyPr/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、算术运算符</a:t>
            </a:r>
          </a:p>
        </p:txBody>
      </p:sp>
      <p:sp>
        <p:nvSpPr>
          <p:cNvPr id="4" name="标题 3"/>
          <p:cNvSpPr>
            <a:spLocks noGrp="1"/>
          </p:cNvSpPr>
          <p:nvPr/>
        </p:nvSpPr>
        <p:spPr>
          <a:xfrm>
            <a:off x="220980" y="1365250"/>
            <a:ext cx="9884410" cy="677545"/>
          </a:xfrm>
        </p:spPr>
        <p:txBody>
          <a:bodyPr>
            <a:scene3d>
              <a:camera prst="orthographicFront"/>
              <a:lightRig rig="threePt" dir="t"/>
            </a:scene3d>
          </a:bodyPr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zh-CN" altLang="en-US" sz="28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（</a:t>
            </a:r>
            <a:r>
              <a:rPr lang="en-US" altLang="zh-CN" sz="28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2</a:t>
            </a:r>
            <a:r>
              <a:rPr lang="zh-CN" altLang="en-US" sz="28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）浮点数运算</a:t>
            </a:r>
          </a:p>
        </p:txBody>
      </p:sp>
    </p:spTree>
  </p:cSld>
  <p:clrMapOvr>
    <a:masterClrMapping/>
  </p:clrMapOvr>
  <p:transition spd="slow" advTm="0"/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1751965" y="2516505"/>
            <a:ext cx="7766050" cy="640715"/>
          </a:xfrm>
        </p:spPr>
        <p:txBody>
          <a:bodyPr/>
          <a:lstStyle/>
          <a:p>
            <a:pPr algn="l">
              <a:defRPr/>
            </a:pPr>
            <a:r>
              <a:rPr lang="zh-CN" altLang="en-US" sz="2800" b="1" dirty="0"/>
              <a:t>灵活的小数表示方法：</a:t>
            </a:r>
          </a:p>
        </p:txBody>
      </p:sp>
      <p:pic>
        <p:nvPicPr>
          <p:cNvPr id="70661" name="Picture 2"/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743325" y="3329940"/>
            <a:ext cx="2680335" cy="24320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标题 1"/>
          <p:cNvSpPr txBox="1">
            <a:spLocks noGrp="1"/>
          </p:cNvSpPr>
          <p:nvPr/>
        </p:nvSpPr>
        <p:spPr>
          <a:xfrm>
            <a:off x="8623935" y="266700"/>
            <a:ext cx="3575685" cy="521970"/>
          </a:xfrm>
          <a:noFill/>
        </p:spPr>
        <p:txBody>
          <a:bodyPr wrap="square" rtlCol="0">
            <a:spAutoFit/>
          </a:bodyPr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2.4 运算符与表达式</a:t>
            </a:r>
          </a:p>
        </p:txBody>
      </p:sp>
      <p:sp>
        <p:nvSpPr>
          <p:cNvPr id="3" name="标题 1"/>
          <p:cNvSpPr>
            <a:spLocks noGrp="1"/>
          </p:cNvSpPr>
          <p:nvPr/>
        </p:nvSpPr>
        <p:spPr>
          <a:xfrm>
            <a:off x="838835" y="1852295"/>
            <a:ext cx="6626860" cy="664210"/>
          </a:xfrm>
        </p:spPr>
        <p:txBody>
          <a:bodyPr/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en-US" altLang="zh-CN" sz="2800" b="1" dirty="0"/>
              <a:t>① </a:t>
            </a:r>
            <a:r>
              <a:rPr lang="zh-CN" altLang="en-US" sz="2800" b="1" dirty="0"/>
              <a:t>浮点数的表示</a:t>
            </a:r>
          </a:p>
        </p:txBody>
      </p:sp>
      <p:sp>
        <p:nvSpPr>
          <p:cNvPr id="7" name="标题 1"/>
          <p:cNvSpPr>
            <a:spLocks noGrp="1"/>
          </p:cNvSpPr>
          <p:nvPr/>
        </p:nvSpPr>
        <p:spPr>
          <a:xfrm>
            <a:off x="0" y="812165"/>
            <a:ext cx="8086725" cy="553085"/>
          </a:xfrm>
        </p:spPr>
        <p:txBody>
          <a:bodyPr/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、算术运算符</a:t>
            </a:r>
          </a:p>
        </p:txBody>
      </p:sp>
      <p:sp>
        <p:nvSpPr>
          <p:cNvPr id="4" name="标题 3"/>
          <p:cNvSpPr>
            <a:spLocks noGrp="1"/>
          </p:cNvSpPr>
          <p:nvPr/>
        </p:nvSpPr>
        <p:spPr>
          <a:xfrm>
            <a:off x="220980" y="1365250"/>
            <a:ext cx="9884410" cy="677545"/>
          </a:xfrm>
        </p:spPr>
        <p:txBody>
          <a:bodyPr>
            <a:scene3d>
              <a:camera prst="orthographicFront"/>
              <a:lightRig rig="threePt" dir="t"/>
            </a:scene3d>
          </a:bodyPr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zh-CN" altLang="en-US" sz="28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（</a:t>
            </a:r>
            <a:r>
              <a:rPr lang="en-US" altLang="zh-CN" sz="28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2</a:t>
            </a:r>
            <a:r>
              <a:rPr lang="zh-CN" altLang="en-US" sz="28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）浮点数运算</a:t>
            </a:r>
          </a:p>
        </p:txBody>
      </p:sp>
    </p:spTree>
  </p:cSld>
  <p:clrMapOvr>
    <a:masterClrMapping/>
  </p:clrMapOvr>
  <p:transition spd="slow" advTm="0"/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590550" y="1847850"/>
            <a:ext cx="10080625" cy="505460"/>
          </a:xfrm>
        </p:spPr>
        <p:txBody>
          <a:bodyPr/>
          <a:lstStyle/>
          <a:p>
            <a:pPr algn="l">
              <a:defRPr/>
            </a:pPr>
            <a:r>
              <a:rPr lang="zh-CN" altLang="en-US" sz="3200" b="1" dirty="0"/>
              <a:t>② 溢出</a:t>
            </a:r>
          </a:p>
        </p:txBody>
      </p:sp>
      <p:sp>
        <p:nvSpPr>
          <p:cNvPr id="71683" name="内容占位符 2"/>
          <p:cNvSpPr>
            <a:spLocks noGrp="1"/>
          </p:cNvSpPr>
          <p:nvPr>
            <p:ph idx="4294967295"/>
          </p:nvPr>
        </p:nvSpPr>
        <p:spPr>
          <a:xfrm>
            <a:off x="465455" y="2451100"/>
            <a:ext cx="11205210" cy="1351915"/>
          </a:xfrm>
        </p:spPr>
        <p:txBody>
          <a:bodyPr/>
          <a:lstStyle/>
          <a:p>
            <a:r>
              <a:rPr lang="zh-CN" altLang="en-US" sz="2400" b="1"/>
              <a:t>与整数不同，浮点数存在上限和下限，超出上限或下限将导致溢出错误。</a:t>
            </a:r>
            <a:endParaRPr lang="en-US" altLang="zh-CN" sz="2400" b="1"/>
          </a:p>
          <a:p>
            <a:r>
              <a:rPr lang="en-US" altLang="zh-CN" sz="2400" b="1"/>
              <a:t>Python</a:t>
            </a:r>
            <a:r>
              <a:rPr lang="zh-CN" altLang="en-US" sz="2400" b="1"/>
              <a:t>可能不对溢出错误进行提示，程序员应将此问题考虑在内，以避免溢出。</a:t>
            </a:r>
            <a:endParaRPr lang="en-US" altLang="zh-CN" sz="2400" b="1"/>
          </a:p>
          <a:p>
            <a:r>
              <a:rPr lang="zh-CN" altLang="en-US" sz="2400" b="1"/>
              <a:t>例如：</a:t>
            </a:r>
            <a:endParaRPr lang="en-US" altLang="zh-CN" sz="2400"/>
          </a:p>
        </p:txBody>
      </p:sp>
      <p:pic>
        <p:nvPicPr>
          <p:cNvPr id="716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4857" y="4032024"/>
            <a:ext cx="6292719" cy="14417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标题 1"/>
          <p:cNvSpPr txBox="1">
            <a:spLocks noGrp="1"/>
          </p:cNvSpPr>
          <p:nvPr/>
        </p:nvSpPr>
        <p:spPr>
          <a:xfrm>
            <a:off x="8623935" y="266700"/>
            <a:ext cx="3575685" cy="521970"/>
          </a:xfrm>
          <a:noFill/>
        </p:spPr>
        <p:txBody>
          <a:bodyPr wrap="square" rtlCol="0">
            <a:spAutoFit/>
          </a:bodyPr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2.4 运算符与表达式</a:t>
            </a:r>
          </a:p>
        </p:txBody>
      </p:sp>
      <p:sp>
        <p:nvSpPr>
          <p:cNvPr id="7" name="标题 1"/>
          <p:cNvSpPr>
            <a:spLocks noGrp="1"/>
          </p:cNvSpPr>
          <p:nvPr/>
        </p:nvSpPr>
        <p:spPr>
          <a:xfrm>
            <a:off x="0" y="812165"/>
            <a:ext cx="8086725" cy="553085"/>
          </a:xfrm>
        </p:spPr>
        <p:txBody>
          <a:bodyPr/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、算术运算符</a:t>
            </a:r>
          </a:p>
        </p:txBody>
      </p:sp>
      <p:sp>
        <p:nvSpPr>
          <p:cNvPr id="4" name="标题 3"/>
          <p:cNvSpPr>
            <a:spLocks noGrp="1"/>
          </p:cNvSpPr>
          <p:nvPr/>
        </p:nvSpPr>
        <p:spPr>
          <a:xfrm>
            <a:off x="220980" y="1365250"/>
            <a:ext cx="9884410" cy="677545"/>
          </a:xfrm>
        </p:spPr>
        <p:txBody>
          <a:bodyPr>
            <a:scene3d>
              <a:camera prst="orthographicFront"/>
              <a:lightRig rig="threePt" dir="t"/>
            </a:scene3d>
          </a:bodyPr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zh-CN" altLang="en-US" sz="28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（</a:t>
            </a:r>
            <a:r>
              <a:rPr lang="en-US" altLang="zh-CN" sz="28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2</a:t>
            </a:r>
            <a:r>
              <a:rPr lang="zh-CN" altLang="en-US" sz="28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）浮点数运算</a:t>
            </a:r>
          </a:p>
        </p:txBody>
      </p:sp>
    </p:spTree>
  </p:cSld>
  <p:clrMapOvr>
    <a:masterClrMapping/>
  </p:clrMapOvr>
  <p:transition spd="slow" advTm="0"/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4205" y="2055495"/>
            <a:ext cx="10949305" cy="517525"/>
          </a:xfrm>
        </p:spPr>
        <p:txBody>
          <a:bodyPr/>
          <a:lstStyle/>
          <a:p>
            <a:pPr algn="l">
              <a:defRPr/>
            </a:pPr>
            <a:r>
              <a:rPr lang="zh-CN" altLang="en-US" sz="2800" b="1" dirty="0"/>
              <a:t>③ 精度有限</a:t>
            </a:r>
          </a:p>
        </p:txBody>
      </p:sp>
      <p:sp>
        <p:nvSpPr>
          <p:cNvPr id="72707" name="内容占位符 2"/>
          <p:cNvSpPr>
            <a:spLocks noGrp="1"/>
          </p:cNvSpPr>
          <p:nvPr>
            <p:ph idx="1"/>
          </p:nvPr>
        </p:nvSpPr>
        <p:spPr>
          <a:xfrm>
            <a:off x="450215" y="2658745"/>
            <a:ext cx="11359515" cy="4638040"/>
          </a:xfrm>
        </p:spPr>
        <p:txBody>
          <a:bodyPr/>
          <a:lstStyle/>
          <a:p>
            <a:r>
              <a:rPr lang="zh-CN" altLang="en-US" sz="2400" b="1"/>
              <a:t>在计算机中，数字用二进制表示，但并非所有的浮点数都可用二进制精确表示。</a:t>
            </a:r>
            <a:endParaRPr lang="en-US" altLang="zh-CN" sz="2400" b="1"/>
          </a:p>
          <a:p>
            <a:r>
              <a:rPr lang="zh-CN" altLang="en-US" sz="2400" b="1"/>
              <a:t>如：</a:t>
            </a:r>
          </a:p>
          <a:p>
            <a:endParaRPr lang="en-US" altLang="zh-CN" sz="2800" b="1"/>
          </a:p>
          <a:p>
            <a:r>
              <a:rPr lang="zh-CN" altLang="en-US" sz="2400" b="1"/>
              <a:t>对多数程序来说，小数点之后包含</a:t>
            </a:r>
            <a:r>
              <a:rPr lang="en-US" altLang="zh-CN" sz="2400" b="1"/>
              <a:t>17</a:t>
            </a:r>
            <a:r>
              <a:rPr lang="zh-CN" altLang="en-US" sz="2400" b="1"/>
              <a:t>位足够了，但如果执行大量计算时小误差会累计为大误差，当需要进行精密计算时，必须考虑细微的浮点数误差，避免它们累积出大误差。</a:t>
            </a:r>
            <a:endParaRPr lang="en-US" altLang="zh-CN" sz="2400" b="1"/>
          </a:p>
          <a:p>
            <a:r>
              <a:rPr lang="zh-CN" altLang="en-US" sz="2400" b="1"/>
              <a:t>一般而言，应优先考虑使用整数，因为它们更精确且不会溢出（</a:t>
            </a:r>
            <a:r>
              <a:rPr lang="en-US" altLang="zh-CN" sz="2400" b="1"/>
              <a:t>Python</a:t>
            </a:r>
            <a:r>
              <a:rPr lang="zh-CN" altLang="en-US" sz="2400" b="1"/>
              <a:t>中）。</a:t>
            </a:r>
            <a:endParaRPr lang="en-US" altLang="zh-CN" sz="2400" b="1"/>
          </a:p>
          <a:p>
            <a:endParaRPr lang="zh-CN" altLang="en-US"/>
          </a:p>
        </p:txBody>
      </p:sp>
      <p:pic>
        <p:nvPicPr>
          <p:cNvPr id="727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8284" y="3196934"/>
            <a:ext cx="4385690" cy="7208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标题 1"/>
          <p:cNvSpPr txBox="1">
            <a:spLocks noGrp="1"/>
          </p:cNvSpPr>
          <p:nvPr/>
        </p:nvSpPr>
        <p:spPr>
          <a:xfrm>
            <a:off x="8623935" y="266700"/>
            <a:ext cx="3575685" cy="521970"/>
          </a:xfrm>
          <a:noFill/>
        </p:spPr>
        <p:txBody>
          <a:bodyPr wrap="square" rtlCol="0">
            <a:spAutoFit/>
          </a:bodyPr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2.4 运算符与表达式</a:t>
            </a:r>
          </a:p>
        </p:txBody>
      </p:sp>
      <p:sp>
        <p:nvSpPr>
          <p:cNvPr id="7" name="标题 1"/>
          <p:cNvSpPr>
            <a:spLocks noGrp="1"/>
          </p:cNvSpPr>
          <p:nvPr/>
        </p:nvSpPr>
        <p:spPr>
          <a:xfrm>
            <a:off x="0" y="812165"/>
            <a:ext cx="8086725" cy="553085"/>
          </a:xfrm>
        </p:spPr>
        <p:txBody>
          <a:bodyPr/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、算术运算符</a:t>
            </a:r>
          </a:p>
        </p:txBody>
      </p:sp>
      <p:sp>
        <p:nvSpPr>
          <p:cNvPr id="4" name="标题 3"/>
          <p:cNvSpPr>
            <a:spLocks noGrp="1"/>
          </p:cNvSpPr>
          <p:nvPr/>
        </p:nvSpPr>
        <p:spPr>
          <a:xfrm>
            <a:off x="220980" y="1365250"/>
            <a:ext cx="9884410" cy="677545"/>
          </a:xfrm>
        </p:spPr>
        <p:txBody>
          <a:bodyPr>
            <a:scene3d>
              <a:camera prst="orthographicFront"/>
              <a:lightRig rig="threePt" dir="t"/>
            </a:scene3d>
          </a:bodyPr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zh-CN" altLang="en-US" sz="28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（</a:t>
            </a:r>
            <a:r>
              <a:rPr lang="en-US" altLang="zh-CN" sz="28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2</a:t>
            </a:r>
            <a:r>
              <a:rPr lang="zh-CN" altLang="en-US" sz="28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）浮点数运算</a:t>
            </a:r>
          </a:p>
        </p:txBody>
      </p:sp>
    </p:spTree>
  </p:cSld>
  <p:clrMapOvr>
    <a:masterClrMapping/>
  </p:clrMapOvr>
  <p:transition spd="slow" advTm="0"/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"/>
          <p:cNvSpPr txBox="1">
            <a:spLocks noGrp="1"/>
          </p:cNvSpPr>
          <p:nvPr/>
        </p:nvSpPr>
        <p:spPr>
          <a:xfrm>
            <a:off x="8623935" y="266700"/>
            <a:ext cx="3575685" cy="521970"/>
          </a:xfrm>
          <a:noFill/>
        </p:spPr>
        <p:txBody>
          <a:bodyPr wrap="square" rtlCol="0">
            <a:spAutoFit/>
          </a:bodyPr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2.4 运算符与表达式</a:t>
            </a:r>
          </a:p>
        </p:txBody>
      </p:sp>
      <p:sp>
        <p:nvSpPr>
          <p:cNvPr id="7" name="标题 1"/>
          <p:cNvSpPr>
            <a:spLocks noGrp="1"/>
          </p:cNvSpPr>
          <p:nvPr/>
        </p:nvSpPr>
        <p:spPr>
          <a:xfrm>
            <a:off x="3833495" y="1057275"/>
            <a:ext cx="8086725" cy="553085"/>
          </a:xfrm>
        </p:spPr>
        <p:txBody>
          <a:bodyPr/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浮点数的精度问题</a:t>
            </a:r>
          </a:p>
        </p:txBody>
      </p:sp>
      <p:sp>
        <p:nvSpPr>
          <p:cNvPr id="71683" name="内容占位符 2"/>
          <p:cNvSpPr>
            <a:spLocks noGrp="1"/>
          </p:cNvSpPr>
          <p:nvPr/>
        </p:nvSpPr>
        <p:spPr>
          <a:xfrm>
            <a:off x="4599305" y="1610360"/>
            <a:ext cx="7172960" cy="2221230"/>
          </a:xfrm>
        </p:spPr>
        <p:txBody>
          <a:bodyPr/>
          <a:lstStyle>
            <a:lvl1pPr marL="457200" indent="-4572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4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1235" indent="-3810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4635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4235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447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407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67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905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505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2400" b="1" dirty="0"/>
              <a:t>IEEE 754</a:t>
            </a:r>
            <a:r>
              <a:rPr lang="zh-CN" altLang="en-US" sz="2400" b="1" dirty="0"/>
              <a:t>浮点运算标准。</a:t>
            </a:r>
            <a:r>
              <a:rPr lang="en-US" altLang="zh-CN" sz="2400" b="1" dirty="0"/>
              <a:t>Python</a:t>
            </a:r>
            <a:r>
              <a:rPr lang="zh-CN" altLang="en-US" sz="2400" b="1" dirty="0"/>
              <a:t>也遵守此标准</a:t>
            </a:r>
          </a:p>
          <a:p>
            <a:pPr>
              <a:lnSpc>
                <a:spcPct val="150000"/>
              </a:lnSpc>
            </a:pPr>
            <a:r>
              <a:rPr lang="zh-CN" altLang="en-US" sz="2400" b="1" dirty="0"/>
              <a:t>标准不使用小数点，而是使用分数和指数表示小数，有些小数无法用有限的分数表示。</a:t>
            </a:r>
            <a:endParaRPr lang="en-US" altLang="zh-CN" sz="2400" b="1" dirty="0"/>
          </a:p>
          <a:p>
            <a:pPr>
              <a:lnSpc>
                <a:spcPct val="150000"/>
              </a:lnSpc>
            </a:pPr>
            <a:r>
              <a:rPr lang="zh-CN" altLang="en-US" sz="2400" b="1" dirty="0"/>
              <a:t>如果需要处理小数，使用</a:t>
            </a:r>
            <a:r>
              <a:rPr lang="en-US" altLang="zh-CN" sz="2400" b="1" dirty="0" err="1"/>
              <a:t>decimal.Decimal</a:t>
            </a:r>
            <a:r>
              <a:rPr lang="zh-CN" altLang="en-US" sz="2400" b="1" dirty="0"/>
              <a:t>类</a:t>
            </a: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29565" y="2143125"/>
            <a:ext cx="3883660" cy="2573020"/>
          </a:xfrm>
          <a:prstGeom prst="rect">
            <a:avLst/>
          </a:prstGeom>
        </p:spPr>
      </p:pic>
    </p:spTree>
  </p:cSld>
  <p:clrMapOvr>
    <a:masterClrMapping/>
  </p:clrMapOvr>
  <p:transition spd="slow" advTm="0"/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"/>
          <p:cNvSpPr txBox="1">
            <a:spLocks noGrp="1"/>
          </p:cNvSpPr>
          <p:nvPr/>
        </p:nvSpPr>
        <p:spPr>
          <a:xfrm>
            <a:off x="8623935" y="266700"/>
            <a:ext cx="3575685" cy="521970"/>
          </a:xfrm>
          <a:noFill/>
        </p:spPr>
        <p:txBody>
          <a:bodyPr wrap="square" rtlCol="0">
            <a:spAutoFit/>
          </a:bodyPr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2.4 运算符与表达式</a:t>
            </a:r>
          </a:p>
        </p:txBody>
      </p:sp>
      <p:sp>
        <p:nvSpPr>
          <p:cNvPr id="7" name="标题 1"/>
          <p:cNvSpPr>
            <a:spLocks noGrp="1"/>
          </p:cNvSpPr>
          <p:nvPr/>
        </p:nvSpPr>
        <p:spPr>
          <a:xfrm>
            <a:off x="4484370" y="872140"/>
            <a:ext cx="3229610" cy="553085"/>
          </a:xfrm>
        </p:spPr>
        <p:txBody>
          <a:bodyPr/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浮点数的精度问题</a:t>
            </a: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6459215" y="1585752"/>
            <a:ext cx="4053205" cy="214651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" name="图片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674903" y="1589750"/>
            <a:ext cx="4053205" cy="214651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93548" y="3892374"/>
            <a:ext cx="4000243" cy="207046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59434" y="3917398"/>
            <a:ext cx="4053204" cy="202218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文本框 8"/>
          <p:cNvSpPr txBox="1"/>
          <p:nvPr/>
        </p:nvSpPr>
        <p:spPr>
          <a:xfrm>
            <a:off x="770583" y="5987448"/>
            <a:ext cx="1116124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50" b="1" dirty="0"/>
              <a:t>https://mp.weixin.qq.com/s?__biz=MzU3ODkwNDM3Mw==&amp;mid=2247487608&amp;idx=1&amp;sn=918025bb4471de71b1d5b7e3b80eb4aa&amp;chksm=fd6f1822ca1891346bed9c37792021eb3adb64daed90c9319a9b9b4c2be42f066fd2839b60eb&amp;mpshare=1&amp;scene=23&amp;srcid=0826IDMMO533MAYYX3hPpmq3&amp;sharer_sharetime=1599527704294&amp;sharer_shareid=13ec7948a8273a20cb7c7aa012ee7776#rd</a:t>
            </a:r>
          </a:p>
        </p:txBody>
      </p:sp>
    </p:spTree>
  </p:cSld>
  <p:clrMapOvr>
    <a:masterClrMapping/>
  </p:clrMapOvr>
  <p:transition spd="slow" advTm="0"/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"/>
          <p:cNvSpPr txBox="1">
            <a:spLocks noGrp="1"/>
          </p:cNvSpPr>
          <p:nvPr/>
        </p:nvSpPr>
        <p:spPr>
          <a:xfrm>
            <a:off x="8623935" y="266700"/>
            <a:ext cx="3575685" cy="521970"/>
          </a:xfrm>
          <a:noFill/>
        </p:spPr>
        <p:txBody>
          <a:bodyPr wrap="square" rtlCol="0">
            <a:spAutoFit/>
          </a:bodyPr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2.4 运算符与表达式</a:t>
            </a:r>
          </a:p>
        </p:txBody>
      </p:sp>
      <p:sp>
        <p:nvSpPr>
          <p:cNvPr id="7" name="标题 1"/>
          <p:cNvSpPr>
            <a:spLocks noGrp="1"/>
          </p:cNvSpPr>
          <p:nvPr/>
        </p:nvSpPr>
        <p:spPr>
          <a:xfrm>
            <a:off x="440690" y="910590"/>
            <a:ext cx="8086725" cy="553085"/>
          </a:xfrm>
        </p:spPr>
        <p:txBody>
          <a:bodyPr/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如何处理浮点数精度问题：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672465" y="1905635"/>
            <a:ext cx="5316220" cy="1958975"/>
            <a:chOff x="1059" y="2775"/>
            <a:chExt cx="8372" cy="3085"/>
          </a:xfrm>
        </p:grpSpPr>
        <p:sp>
          <p:nvSpPr>
            <p:cNvPr id="2" name="文本框 1"/>
            <p:cNvSpPr txBox="1"/>
            <p:nvPr/>
          </p:nvSpPr>
          <p:spPr>
            <a:xfrm>
              <a:off x="1059" y="2775"/>
              <a:ext cx="8372" cy="82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  <a:scene3d>
                <a:camera prst="orthographicFront"/>
                <a:lightRig rig="threePt" dir="t"/>
              </a:scene3d>
            </a:bodyPr>
            <a:lstStyle/>
            <a:p>
              <a:r>
                <a:rPr lang="zh-CN" altLang="en-US" sz="280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方正大黑简体" panose="02010601030101010101" pitchFamily="2" charset="-122"/>
                  <a:ea typeface="方正大黑简体" panose="02010601030101010101" pitchFamily="2" charset="-122"/>
                  <a:cs typeface="方正大黑简体" panose="02010601030101010101" pitchFamily="2" charset="-122"/>
                </a:rPr>
                <a:t>【方法一】利用round方法:</a:t>
              </a:r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2220" y="5038"/>
              <a:ext cx="7211" cy="82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US" sz="2800" b="1" dirty="0">
                  <a:latin typeface="Arial Black" panose="020B0A04020102020204" pitchFamily="34" charset="0"/>
                  <a:cs typeface="Arial Black" panose="020B0A04020102020204" pitchFamily="34" charset="0"/>
                  <a:sym typeface="+mn-ea"/>
                </a:rPr>
                <a:t>round(0.8*3,1)</a:t>
              </a: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5504180" y="1905635"/>
            <a:ext cx="6695440" cy="4585335"/>
            <a:chOff x="8668" y="3001"/>
            <a:chExt cx="10544" cy="7221"/>
          </a:xfrm>
        </p:grpSpPr>
        <p:sp>
          <p:nvSpPr>
            <p:cNvPr id="9" name="文本框 8"/>
            <p:cNvSpPr txBox="1"/>
            <p:nvPr/>
          </p:nvSpPr>
          <p:spPr>
            <a:xfrm>
              <a:off x="8892" y="3001"/>
              <a:ext cx="8372" cy="82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  <a:scene3d>
                <a:camera prst="orthographicFront"/>
                <a:lightRig rig="threePt" dir="t"/>
              </a:scene3d>
            </a:bodyPr>
            <a:lstStyle/>
            <a:p>
              <a:r>
                <a:rPr lang="zh-CN" altLang="en-US" sz="2800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方正大黑简体" panose="02010601030101010101" pitchFamily="2" charset="-122"/>
                  <a:ea typeface="方正大黑简体" panose="02010601030101010101" pitchFamily="2" charset="-122"/>
                  <a:cs typeface="方正大黑简体" panose="02010601030101010101" pitchFamily="2" charset="-122"/>
                </a:rPr>
                <a:t>【方法二】利用decimal模块:</a:t>
              </a: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8668" y="4312"/>
              <a:ext cx="10544" cy="5911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fontAlgn="auto">
                <a:lnSpc>
                  <a:spcPct val="150000"/>
                </a:lnSpc>
              </a:pPr>
              <a:r>
                <a:rPr lang="zh-CN" altLang="en-US" sz="2800">
                  <a:latin typeface="Arial Black" panose="020B0A04020102020204" pitchFamily="34" charset="0"/>
                  <a:cs typeface="Arial Black" panose="020B0A04020102020204" pitchFamily="34" charset="0"/>
                </a:rPr>
                <a:t>from decimal import Decimal</a:t>
              </a:r>
            </a:p>
            <a:p>
              <a:pPr fontAlgn="auto">
                <a:lnSpc>
                  <a:spcPct val="150000"/>
                </a:lnSpc>
              </a:pPr>
              <a:r>
                <a:rPr lang="zh-CN" altLang="en-US" sz="2800">
                  <a:latin typeface="Arial Black" panose="020B0A04020102020204" pitchFamily="34" charset="0"/>
                  <a:cs typeface="Arial Black" panose="020B0A04020102020204" pitchFamily="34" charset="0"/>
                </a:rPr>
                <a:t>from decimal import getcontext</a:t>
              </a:r>
            </a:p>
            <a:p>
              <a:pPr fontAlgn="auto">
                <a:lnSpc>
                  <a:spcPct val="150000"/>
                </a:lnSpc>
              </a:pPr>
              <a:r>
                <a:rPr lang="zh-CN" altLang="en-US" sz="2800">
                  <a:latin typeface="Arial Black" panose="020B0A04020102020204" pitchFamily="34" charset="0"/>
                  <a:cs typeface="Arial Black" panose="020B0A04020102020204" pitchFamily="34" charset="0"/>
                </a:rPr>
                <a:t>Decimal('0.8')*Decimal('3')</a:t>
              </a:r>
            </a:p>
            <a:p>
              <a:pPr fontAlgn="auto">
                <a:lnSpc>
                  <a:spcPct val="150000"/>
                </a:lnSpc>
              </a:pPr>
              <a:r>
                <a:rPr lang="en-US" altLang="zh-CN" sz="2800">
                  <a:latin typeface="Arial Black" panose="020B0A04020102020204" pitchFamily="34" charset="0"/>
                  <a:cs typeface="Arial Black" panose="020B0A04020102020204" pitchFamily="34" charset="0"/>
                </a:rPr>
                <a:t>getcontext().prec = 4</a:t>
              </a:r>
            </a:p>
            <a:p>
              <a:pPr fontAlgn="auto">
                <a:lnSpc>
                  <a:spcPct val="150000"/>
                </a:lnSpc>
              </a:pPr>
              <a:r>
                <a:rPr lang="zh-CN" altLang="en-US" sz="2800">
                  <a:latin typeface="Arial Black" panose="020B0A04020102020204" pitchFamily="34" charset="0"/>
                  <a:cs typeface="Arial Black" panose="020B0A04020102020204" pitchFamily="34" charset="0"/>
                  <a:sym typeface="+mn-ea"/>
                </a:rPr>
                <a:t>Decimal('</a:t>
              </a:r>
              <a:r>
                <a:rPr lang="en-US" altLang="zh-CN" sz="2800">
                  <a:latin typeface="Arial Black" panose="020B0A04020102020204" pitchFamily="34" charset="0"/>
                  <a:cs typeface="Arial Black" panose="020B0A04020102020204" pitchFamily="34" charset="0"/>
                  <a:sym typeface="+mn-ea"/>
                </a:rPr>
                <a:t>1.0</a:t>
              </a:r>
              <a:r>
                <a:rPr lang="zh-CN" altLang="en-US" sz="2800">
                  <a:latin typeface="Arial Black" panose="020B0A04020102020204" pitchFamily="34" charset="0"/>
                  <a:cs typeface="Arial Black" panose="020B0A04020102020204" pitchFamily="34" charset="0"/>
                  <a:sym typeface="+mn-ea"/>
                </a:rPr>
                <a:t>')</a:t>
              </a:r>
              <a:r>
                <a:rPr lang="en-US" altLang="zh-CN" sz="2800">
                  <a:latin typeface="Arial Black" panose="020B0A04020102020204" pitchFamily="34" charset="0"/>
                  <a:cs typeface="Arial Black" panose="020B0A04020102020204" pitchFamily="34" charset="0"/>
                  <a:sym typeface="+mn-ea"/>
                </a:rPr>
                <a:t>/</a:t>
              </a:r>
              <a:r>
                <a:rPr lang="zh-CN" altLang="en-US" sz="2800">
                  <a:latin typeface="Arial Black" panose="020B0A04020102020204" pitchFamily="34" charset="0"/>
                  <a:cs typeface="Arial Black" panose="020B0A04020102020204" pitchFamily="34" charset="0"/>
                  <a:sym typeface="+mn-ea"/>
                </a:rPr>
                <a:t>Decimal('3')</a:t>
              </a:r>
              <a:endParaRPr lang="zh-CN" altLang="en-US" sz="2800">
                <a:latin typeface="Arial Black" panose="020B0A04020102020204" pitchFamily="34" charset="0"/>
                <a:cs typeface="Arial Black" panose="020B0A04020102020204" pitchFamily="34" charset="0"/>
              </a:endParaRPr>
            </a:p>
            <a:p>
              <a:endParaRPr lang="en-US" altLang="zh-CN" sz="2800">
                <a:latin typeface="Arial Black" panose="020B0A04020102020204" pitchFamily="34" charset="0"/>
                <a:cs typeface="Arial Black" panose="020B0A04020102020204" pitchFamily="34" charset="0"/>
                <a:sym typeface="+mn-ea"/>
              </a:endParaRPr>
            </a:p>
          </p:txBody>
        </p:sp>
      </p:grpSp>
    </p:spTree>
  </p:cSld>
  <p:clrMapOvr>
    <a:masterClrMapping/>
  </p:clrMapOvr>
  <p:transition spd="slow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"/>
          <p:cNvSpPr txBox="1">
            <a:spLocks noGrp="1"/>
          </p:cNvSpPr>
          <p:nvPr/>
        </p:nvSpPr>
        <p:spPr>
          <a:xfrm>
            <a:off x="8623935" y="266700"/>
            <a:ext cx="3575685" cy="521970"/>
          </a:xfrm>
          <a:noFill/>
        </p:spPr>
        <p:txBody>
          <a:bodyPr wrap="square" rtlCol="0">
            <a:spAutoFit/>
          </a:bodyPr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2.4 运算符与表达式</a:t>
            </a:r>
          </a:p>
        </p:txBody>
      </p:sp>
      <p:sp>
        <p:nvSpPr>
          <p:cNvPr id="7" name="标题 1"/>
          <p:cNvSpPr>
            <a:spLocks noGrp="1"/>
          </p:cNvSpPr>
          <p:nvPr/>
        </p:nvSpPr>
        <p:spPr>
          <a:xfrm>
            <a:off x="440690" y="910590"/>
            <a:ext cx="8086725" cy="553085"/>
          </a:xfrm>
        </p:spPr>
        <p:txBody>
          <a:bodyPr/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如何处理浮点数精度问题：保存小数位数</a:t>
            </a:r>
            <a:endParaRPr lang="en-US" altLang="zh-CN" sz="2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21360" y="1463675"/>
            <a:ext cx="11301730" cy="2030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2800" dirty="0">
                <a:latin typeface="Arial Black" panose="020B0A04020102020204" pitchFamily="34" charset="0"/>
                <a:cs typeface="Arial Black" panose="020B0A04020102020204" pitchFamily="34" charset="0"/>
              </a:rPr>
              <a:t>round(a,2) </a:t>
            </a:r>
            <a:r>
              <a:rPr lang="en-US" altLang="zh-CN" sz="2800" dirty="0">
                <a:latin typeface="Arial Black" panose="020B0A04020102020204" pitchFamily="34" charset="0"/>
                <a:cs typeface="Arial Black" panose="020B0A04020102020204" pitchFamily="34" charset="0"/>
              </a:rPr>
              <a:t># </a:t>
            </a:r>
            <a:r>
              <a:rPr lang="zh-CN" altLang="en-US" sz="2800" b="1" dirty="0">
                <a:solidFill>
                  <a:srgbClr val="0071C1"/>
                </a:solidFill>
                <a:latin typeface="Arial Black" panose="020B0A04020102020204" pitchFamily="34" charset="0"/>
                <a:cs typeface="Arial Black" panose="020B0A04020102020204" pitchFamily="34" charset="0"/>
              </a:rPr>
              <a:t>第一种方式</a:t>
            </a:r>
          </a:p>
          <a:p>
            <a:pPr fontAlgn="auto">
              <a:lnSpc>
                <a:spcPct val="150000"/>
              </a:lnSpc>
            </a:pPr>
            <a:r>
              <a:rPr lang="zh-CN" altLang="en-US" sz="2800" dirty="0">
                <a:latin typeface="Arial Black" panose="020B0A04020102020204" pitchFamily="34" charset="0"/>
                <a:cs typeface="Arial Black" panose="020B0A04020102020204" pitchFamily="34" charset="0"/>
              </a:rPr>
              <a:t>'%.2f' % a  </a:t>
            </a:r>
            <a:r>
              <a:rPr lang="en-US" altLang="zh-CN" sz="2800" dirty="0">
                <a:latin typeface="Arial Black" panose="020B0A04020102020204" pitchFamily="34" charset="0"/>
                <a:cs typeface="Arial Black" panose="020B0A04020102020204" pitchFamily="34" charset="0"/>
              </a:rPr>
              <a:t># </a:t>
            </a:r>
            <a:r>
              <a:rPr lang="zh-CN" altLang="en-US" sz="2800" b="1" dirty="0">
                <a:solidFill>
                  <a:srgbClr val="0071C1"/>
                </a:solidFill>
                <a:latin typeface="Arial Black" panose="020B0A04020102020204" pitchFamily="34" charset="0"/>
                <a:cs typeface="Arial Black" panose="020B0A04020102020204" pitchFamily="34" charset="0"/>
              </a:rPr>
              <a:t>第二种方式</a:t>
            </a:r>
          </a:p>
          <a:p>
            <a:pPr fontAlgn="auto">
              <a:lnSpc>
                <a:spcPct val="150000"/>
              </a:lnSpc>
            </a:pPr>
            <a:r>
              <a:rPr lang="zh-CN" altLang="en-US" sz="2800" dirty="0">
                <a:latin typeface="Arial Black" panose="020B0A04020102020204" pitchFamily="34" charset="0"/>
                <a:cs typeface="Arial Black" panose="020B0A04020102020204" pitchFamily="34" charset="0"/>
              </a:rPr>
              <a:t>Decimal('5.000').quantize(Decimal('0.00')) </a:t>
            </a:r>
            <a:r>
              <a:rPr lang="en-US" altLang="zh-CN" sz="2800" dirty="0">
                <a:latin typeface="Arial Black" panose="020B0A04020102020204" pitchFamily="34" charset="0"/>
                <a:cs typeface="Arial Black" panose="020B0A04020102020204" pitchFamily="34" charset="0"/>
                <a:sym typeface="+mn-ea"/>
              </a:rPr>
              <a:t># </a:t>
            </a:r>
            <a:r>
              <a:rPr lang="zh-CN" altLang="en-US" sz="2800" dirty="0">
                <a:solidFill>
                  <a:srgbClr val="0071C1"/>
                </a:solidFill>
                <a:latin typeface="Arial Black" panose="020B0A04020102020204" pitchFamily="34" charset="0"/>
                <a:cs typeface="Arial Black" panose="020B0A04020102020204" pitchFamily="34" charset="0"/>
                <a:sym typeface="+mn-ea"/>
              </a:rPr>
              <a:t>第三种方式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626567" y="3493770"/>
            <a:ext cx="11302365" cy="304698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当需要输出的结果要求有两位小数的时候，字符串形式的：'%.2f' % a 方式最好，其次用Decimal。</a:t>
            </a:r>
          </a:p>
          <a:p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需要注意的：</a:t>
            </a: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 可以传递给Decimal整型或者字符串参数，但不能是浮点数据，因为浮点数据本身就不准确。（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Decimal.from_float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(3.2)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2. Decimal还可以用来限定数据的总位数。</a:t>
            </a:r>
            <a:r>
              <a:rPr lang="en-US" altLang="zh-CN" sz="2000" dirty="0" err="1">
                <a:latin typeface="Arial Black" panose="020B0A04020102020204" pitchFamily="34" charset="0"/>
                <a:cs typeface="Arial Black" panose="020B0A04020102020204" pitchFamily="34" charset="0"/>
                <a:sym typeface="+mn-ea"/>
              </a:rPr>
              <a:t>getcontext</a:t>
            </a:r>
            <a:r>
              <a:rPr lang="en-US" altLang="zh-CN" sz="2000" dirty="0">
                <a:latin typeface="Arial Black" panose="020B0A04020102020204" pitchFamily="34" charset="0"/>
                <a:cs typeface="Arial Black" panose="020B0A04020102020204" pitchFamily="34" charset="0"/>
                <a:sym typeface="+mn-ea"/>
              </a:rPr>
              <a:t>().</a:t>
            </a:r>
            <a:r>
              <a:rPr lang="en-US" altLang="zh-CN" sz="2000" dirty="0" err="1">
                <a:latin typeface="Arial Black" panose="020B0A04020102020204" pitchFamily="34" charset="0"/>
                <a:cs typeface="Arial Black" panose="020B0A04020102020204" pitchFamily="34" charset="0"/>
                <a:sym typeface="+mn-ea"/>
              </a:rPr>
              <a:t>prec</a:t>
            </a:r>
            <a:endParaRPr lang="en-US" altLang="zh-CN" sz="2000" dirty="0">
              <a:latin typeface="Arial Black" panose="020B0A04020102020204" pitchFamily="34" charset="0"/>
              <a:cs typeface="Arial Black" panose="020B0A04020102020204" pitchFamily="34" charset="0"/>
              <a:sym typeface="+mn-ea"/>
            </a:endParaRPr>
          </a:p>
          <a:p>
            <a:r>
              <a:rPr lang="en-US" altLang="zh-CN" sz="2000" dirty="0"/>
              <a:t>3. </a:t>
            </a:r>
            <a:r>
              <a:rPr lang="zh-CN" altLang="en-US" sz="2000" dirty="0"/>
              <a:t>使用</a:t>
            </a:r>
            <a:r>
              <a:rPr lang="en-US" altLang="zh-CN" sz="2000" dirty="0"/>
              <a:t>decimal</a:t>
            </a:r>
            <a:r>
              <a:rPr lang="zh-CN" altLang="en-US" sz="2000" dirty="0"/>
              <a:t>函数就可以将单精度的浮点数变为双精度的浮点数，计算的结果就基本上趋近于准确结果了。</a:t>
            </a:r>
            <a:r>
              <a:rPr lang="en-US" altLang="zh-CN" sz="2000" dirty="0">
                <a:latin typeface="Arial Black" panose="020B0A04020102020204" pitchFamily="34" charset="0"/>
                <a:cs typeface="Arial Black" panose="020B0A04020102020204" pitchFamily="34" charset="0"/>
                <a:sym typeface="+mn-ea"/>
              </a:rPr>
              <a:t> 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0" y="1217930"/>
            <a:ext cx="10105390" cy="542290"/>
          </a:xfrm>
        </p:spPr>
        <p:txBody>
          <a:bodyPr/>
          <a:lstStyle/>
          <a:p>
            <a:pPr algn="l">
              <a:defRPr/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（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3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）常用数学函数</a:t>
            </a:r>
          </a:p>
        </p:txBody>
      </p:sp>
      <p:graphicFrame>
        <p:nvGraphicFramePr>
          <p:cNvPr id="6" name="内容占位符 5"/>
          <p:cNvGraphicFramePr>
            <a:graphicFrameLocks noGrp="1"/>
          </p:cNvGraphicFramePr>
          <p:nvPr>
            <p:ph idx="4294967295"/>
          </p:nvPr>
        </p:nvGraphicFramePr>
        <p:xfrm>
          <a:off x="3168650" y="1616710"/>
          <a:ext cx="6763385" cy="475524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901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6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/>
                        <a:t>函数</a:t>
                      </a:r>
                    </a:p>
                  </a:txBody>
                  <a:tcPr marL="91461" marR="91461" marT="45734" marB="45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/>
                        <a:t>描述</a:t>
                      </a:r>
                    </a:p>
                  </a:txBody>
                  <a:tcPr marL="91461" marR="91461" marT="45734" marB="4573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altLang="zh-CN" sz="1800" b="1" dirty="0"/>
                        <a:t>ceil(x)</a:t>
                      </a:r>
                    </a:p>
                  </a:txBody>
                  <a:tcPr marL="91461" marR="91461" marT="45734" marB="45734"/>
                </a:tc>
                <a:tc>
                  <a:txBody>
                    <a:bodyPr/>
                    <a:lstStyle/>
                    <a:p>
                      <a:r>
                        <a:rPr lang="zh-CN" altLang="en-US" sz="1800" b="1" dirty="0"/>
                        <a:t>大于或等于</a:t>
                      </a:r>
                      <a:r>
                        <a:rPr lang="en-US" altLang="zh-CN" sz="1800" b="1" dirty="0"/>
                        <a:t>x</a:t>
                      </a:r>
                      <a:r>
                        <a:rPr lang="zh-CN" altLang="en-US" sz="1800" b="1" dirty="0"/>
                        <a:t>的整数</a:t>
                      </a:r>
                    </a:p>
                  </a:txBody>
                  <a:tcPr marL="91461" marR="91461" marT="45734" marB="4573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altLang="zh-CN" sz="1800" b="1" dirty="0"/>
                        <a:t>cos(x)</a:t>
                      </a:r>
                      <a:endParaRPr lang="zh-CN" altLang="en-US" sz="1800" b="1" dirty="0"/>
                    </a:p>
                  </a:txBody>
                  <a:tcPr marL="91461" marR="91461" marT="45734" marB="45734"/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/>
                        <a:t>x</a:t>
                      </a:r>
                      <a:r>
                        <a:rPr lang="zh-CN" altLang="en-US" sz="1800" b="1" dirty="0"/>
                        <a:t>的余弦</a:t>
                      </a:r>
                    </a:p>
                  </a:txBody>
                  <a:tcPr marL="91461" marR="91461" marT="45734" marB="4573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altLang="zh-CN" sz="1800" b="1" dirty="0"/>
                        <a:t>degrees(x)</a:t>
                      </a:r>
                      <a:endParaRPr lang="zh-CN" altLang="en-US" sz="1800" b="1" dirty="0"/>
                    </a:p>
                  </a:txBody>
                  <a:tcPr marL="91461" marR="91461" marT="45734" marB="45734"/>
                </a:tc>
                <a:tc>
                  <a:txBody>
                    <a:bodyPr/>
                    <a:lstStyle/>
                    <a:p>
                      <a:r>
                        <a:rPr lang="zh-CN" altLang="en-US" sz="1800" b="1" dirty="0"/>
                        <a:t>将</a:t>
                      </a:r>
                      <a:r>
                        <a:rPr lang="en-US" altLang="zh-CN" sz="1800" b="1" dirty="0"/>
                        <a:t>x</a:t>
                      </a:r>
                      <a:r>
                        <a:rPr lang="zh-CN" altLang="en-US" sz="1800" b="1" dirty="0"/>
                        <a:t>弧度转换为度数</a:t>
                      </a:r>
                    </a:p>
                  </a:txBody>
                  <a:tcPr marL="91461" marR="91461" marT="45734" marB="4573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altLang="zh-CN" sz="1800" b="1" dirty="0" err="1"/>
                        <a:t>exp</a:t>
                      </a:r>
                      <a:r>
                        <a:rPr lang="en-US" altLang="zh-CN" sz="1800" b="1" dirty="0"/>
                        <a:t>(x)</a:t>
                      </a:r>
                      <a:endParaRPr lang="zh-CN" altLang="en-US" sz="1800" b="1" dirty="0"/>
                    </a:p>
                  </a:txBody>
                  <a:tcPr marL="91461" marR="91461" marT="45734" marB="45734"/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/>
                        <a:t>e</a:t>
                      </a:r>
                      <a:r>
                        <a:rPr lang="zh-CN" altLang="en-US" sz="1800" b="1" dirty="0"/>
                        <a:t>的</a:t>
                      </a:r>
                      <a:r>
                        <a:rPr lang="en-US" altLang="zh-CN" sz="1800" b="1" dirty="0"/>
                        <a:t>x</a:t>
                      </a:r>
                      <a:r>
                        <a:rPr lang="zh-CN" altLang="en-US" sz="1800" b="1" dirty="0"/>
                        <a:t>次方</a:t>
                      </a:r>
                    </a:p>
                  </a:txBody>
                  <a:tcPr marL="91461" marR="91461" marT="45734" marB="45734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altLang="zh-CN" sz="1800" b="1" dirty="0" err="1"/>
                        <a:t>fatorial</a:t>
                      </a:r>
                      <a:r>
                        <a:rPr lang="en-US" altLang="zh-CN" sz="1800" b="1" dirty="0"/>
                        <a:t>(n)</a:t>
                      </a:r>
                      <a:endParaRPr lang="zh-CN" altLang="en-US" sz="1800" b="1" dirty="0"/>
                    </a:p>
                  </a:txBody>
                  <a:tcPr marL="91461" marR="91461" marT="45734" marB="45734"/>
                </a:tc>
                <a:tc>
                  <a:txBody>
                    <a:bodyPr/>
                    <a:lstStyle/>
                    <a:p>
                      <a:r>
                        <a:rPr lang="zh-CN" altLang="en-US" sz="1800" b="1" dirty="0"/>
                        <a:t>计算</a:t>
                      </a:r>
                      <a:r>
                        <a:rPr lang="en-US" altLang="zh-CN" sz="1800" b="1" dirty="0"/>
                        <a:t>n</a:t>
                      </a:r>
                      <a:r>
                        <a:rPr lang="zh-CN" altLang="en-US" sz="1800" b="1" dirty="0"/>
                        <a:t>的阶乘</a:t>
                      </a:r>
                    </a:p>
                  </a:txBody>
                  <a:tcPr marL="91461" marR="91461" marT="45734" marB="45734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altLang="zh-CN" sz="1800" b="1" dirty="0"/>
                        <a:t>log(x)</a:t>
                      </a:r>
                      <a:endParaRPr lang="zh-CN" altLang="en-US" sz="1800" b="1" dirty="0"/>
                    </a:p>
                  </a:txBody>
                  <a:tcPr marL="91461" marR="91461" marT="45734" marB="45734"/>
                </a:tc>
                <a:tc>
                  <a:txBody>
                    <a:bodyPr/>
                    <a:lstStyle/>
                    <a:p>
                      <a:r>
                        <a:rPr lang="zh-CN" altLang="en-US" sz="1800" b="1" dirty="0"/>
                        <a:t>以</a:t>
                      </a:r>
                      <a:r>
                        <a:rPr lang="en-US" altLang="zh-CN" sz="1800" b="1" dirty="0"/>
                        <a:t>e</a:t>
                      </a:r>
                      <a:r>
                        <a:rPr lang="zh-CN" altLang="en-US" sz="1800" b="1" dirty="0"/>
                        <a:t>为底的</a:t>
                      </a:r>
                      <a:r>
                        <a:rPr lang="en-US" altLang="zh-CN" sz="1800" b="1" dirty="0"/>
                        <a:t>x</a:t>
                      </a:r>
                      <a:r>
                        <a:rPr lang="zh-CN" altLang="en-US" sz="1800" b="1" dirty="0"/>
                        <a:t>的对数</a:t>
                      </a:r>
                    </a:p>
                  </a:txBody>
                  <a:tcPr marL="91461" marR="91461" marT="45734" marB="45734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altLang="zh-CN" sz="1800" b="1" dirty="0"/>
                        <a:t>log(</a:t>
                      </a:r>
                      <a:r>
                        <a:rPr lang="en-US" altLang="zh-CN" sz="1800" b="1" dirty="0" err="1"/>
                        <a:t>x,b</a:t>
                      </a:r>
                      <a:r>
                        <a:rPr lang="en-US" altLang="zh-CN" sz="1800" b="1" dirty="0"/>
                        <a:t>)</a:t>
                      </a:r>
                      <a:endParaRPr lang="zh-CN" altLang="en-US" sz="1800" b="1" dirty="0"/>
                    </a:p>
                  </a:txBody>
                  <a:tcPr marL="91461" marR="91461" marT="45734" marB="45734"/>
                </a:tc>
                <a:tc>
                  <a:txBody>
                    <a:bodyPr/>
                    <a:lstStyle/>
                    <a:p>
                      <a:r>
                        <a:rPr lang="zh-CN" altLang="en-US" sz="1800" b="1" dirty="0"/>
                        <a:t>以</a:t>
                      </a:r>
                      <a:r>
                        <a:rPr lang="en-US" altLang="zh-CN" sz="1800" b="1" dirty="0"/>
                        <a:t>b</a:t>
                      </a:r>
                      <a:r>
                        <a:rPr lang="zh-CN" altLang="en-US" sz="1800" b="1" dirty="0"/>
                        <a:t>为底的</a:t>
                      </a:r>
                      <a:r>
                        <a:rPr lang="en-US" altLang="zh-CN" sz="1800" b="1" dirty="0"/>
                        <a:t>x</a:t>
                      </a:r>
                      <a:r>
                        <a:rPr lang="zh-CN" altLang="en-US" sz="1800" b="1" dirty="0"/>
                        <a:t>的对数</a:t>
                      </a:r>
                    </a:p>
                  </a:txBody>
                  <a:tcPr marL="91461" marR="91461" marT="45734" marB="45734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altLang="zh-CN" sz="1800" b="1" dirty="0"/>
                        <a:t>pow(</a:t>
                      </a:r>
                      <a:r>
                        <a:rPr lang="en-US" altLang="zh-CN" sz="1800" b="1" dirty="0" err="1"/>
                        <a:t>x,y</a:t>
                      </a:r>
                      <a:r>
                        <a:rPr lang="en-US" altLang="zh-CN" sz="1800" b="1" dirty="0"/>
                        <a:t>)</a:t>
                      </a:r>
                      <a:endParaRPr lang="zh-CN" altLang="en-US" sz="1800" b="1" dirty="0"/>
                    </a:p>
                  </a:txBody>
                  <a:tcPr marL="91461" marR="91461" marT="45734" marB="45734"/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/>
                        <a:t>x</a:t>
                      </a:r>
                      <a:r>
                        <a:rPr lang="zh-CN" altLang="en-US" sz="1800" b="1" dirty="0"/>
                        <a:t>的</a:t>
                      </a:r>
                      <a:r>
                        <a:rPr lang="en-US" altLang="zh-CN" sz="1800" b="1" dirty="0"/>
                        <a:t>y</a:t>
                      </a:r>
                      <a:r>
                        <a:rPr lang="zh-CN" altLang="en-US" sz="1800" b="1" dirty="0"/>
                        <a:t>次方</a:t>
                      </a:r>
                    </a:p>
                  </a:txBody>
                  <a:tcPr marL="91461" marR="91461" marT="45734" marB="45734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altLang="zh-CN" sz="1800" b="1" dirty="0"/>
                        <a:t>radians(x)</a:t>
                      </a:r>
                      <a:endParaRPr lang="zh-CN" altLang="en-US" sz="1800" b="1" dirty="0"/>
                    </a:p>
                  </a:txBody>
                  <a:tcPr marL="91461" marR="91461" marT="45734" marB="45734"/>
                </a:tc>
                <a:tc>
                  <a:txBody>
                    <a:bodyPr/>
                    <a:lstStyle/>
                    <a:p>
                      <a:r>
                        <a:rPr lang="zh-CN" altLang="en-US" sz="1800" b="1" dirty="0"/>
                        <a:t>将</a:t>
                      </a:r>
                      <a:r>
                        <a:rPr lang="en-US" altLang="zh-CN" sz="1800" b="1" dirty="0"/>
                        <a:t>x</a:t>
                      </a:r>
                      <a:r>
                        <a:rPr lang="zh-CN" altLang="en-US" sz="1800" b="1" dirty="0"/>
                        <a:t>度转换为弧度数</a:t>
                      </a:r>
                    </a:p>
                  </a:txBody>
                  <a:tcPr marL="91461" marR="91461" marT="45734" marB="45734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altLang="zh-CN" sz="1800" b="1" dirty="0"/>
                        <a:t>sin(x)</a:t>
                      </a:r>
                      <a:endParaRPr lang="zh-CN" altLang="en-US" sz="1800" b="1" dirty="0"/>
                    </a:p>
                  </a:txBody>
                  <a:tcPr marL="91461" marR="91461" marT="45734" marB="45734"/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/>
                        <a:t>x</a:t>
                      </a:r>
                      <a:r>
                        <a:rPr lang="zh-CN" altLang="en-US" sz="1800" b="1" dirty="0"/>
                        <a:t>的正弦</a:t>
                      </a:r>
                    </a:p>
                  </a:txBody>
                  <a:tcPr marL="91461" marR="91461" marT="45734" marB="45734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altLang="zh-CN" sz="1800" b="1" dirty="0" err="1"/>
                        <a:t>sqrt</a:t>
                      </a:r>
                      <a:r>
                        <a:rPr lang="en-US" altLang="zh-CN" sz="1800" b="1" dirty="0"/>
                        <a:t>(x)</a:t>
                      </a:r>
                      <a:endParaRPr lang="zh-CN" altLang="en-US" sz="1800" b="1" dirty="0"/>
                    </a:p>
                  </a:txBody>
                  <a:tcPr marL="91461" marR="91461" marT="45734" marB="45734"/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/>
                        <a:t>x</a:t>
                      </a:r>
                      <a:r>
                        <a:rPr lang="zh-CN" altLang="en-US" sz="1800" b="1" dirty="0"/>
                        <a:t>的平方根</a:t>
                      </a:r>
                    </a:p>
                  </a:txBody>
                  <a:tcPr marL="91461" marR="91461" marT="45734" marB="45734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altLang="zh-CN" sz="1800" b="1" dirty="0"/>
                        <a:t>tan(x)</a:t>
                      </a:r>
                      <a:endParaRPr lang="zh-CN" altLang="en-US" sz="1800" b="1" dirty="0"/>
                    </a:p>
                  </a:txBody>
                  <a:tcPr marL="91461" marR="91461" marT="45734" marB="45734"/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/>
                        <a:t>x</a:t>
                      </a:r>
                      <a:r>
                        <a:rPr lang="zh-CN" altLang="en-US" sz="1800" b="1" dirty="0"/>
                        <a:t>的正切</a:t>
                      </a:r>
                    </a:p>
                  </a:txBody>
                  <a:tcPr marL="91461" marR="91461" marT="45734" marB="45734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7" name="标题 1"/>
          <p:cNvSpPr>
            <a:spLocks noGrp="1"/>
          </p:cNvSpPr>
          <p:nvPr/>
        </p:nvSpPr>
        <p:spPr>
          <a:xfrm>
            <a:off x="0" y="740410"/>
            <a:ext cx="8086725" cy="553085"/>
          </a:xfrm>
        </p:spPr>
        <p:txBody>
          <a:bodyPr/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、算术运算符</a:t>
            </a:r>
          </a:p>
        </p:txBody>
      </p:sp>
      <p:sp>
        <p:nvSpPr>
          <p:cNvPr id="11" name="标题 1"/>
          <p:cNvSpPr txBox="1">
            <a:spLocks noGrp="1"/>
          </p:cNvSpPr>
          <p:nvPr/>
        </p:nvSpPr>
        <p:spPr>
          <a:xfrm>
            <a:off x="8623935" y="266700"/>
            <a:ext cx="3575685" cy="521970"/>
          </a:xfrm>
          <a:noFill/>
        </p:spPr>
        <p:txBody>
          <a:bodyPr wrap="square" rtlCol="0">
            <a:spAutoFit/>
          </a:bodyPr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2.4 运算符与表达式</a:t>
            </a:r>
          </a:p>
        </p:txBody>
      </p:sp>
    </p:spTree>
  </p:cSld>
  <p:clrMapOvr>
    <a:masterClrMapping/>
  </p:clrMapOvr>
  <p:transition spd="slow" advTm="0"/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337185" y="1367155"/>
            <a:ext cx="11739880" cy="4981575"/>
          </a:xfrm>
        </p:spPr>
        <p:txBody>
          <a:bodyPr/>
          <a:lstStyle/>
          <a:p>
            <a:pPr algn="l">
              <a:defRPr/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（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4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）</a:t>
            </a:r>
            <a:r>
              <a:rPr lang="en-US" sz="2000" b="1" dirty="0">
                <a:solidFill>
                  <a:srgbClr val="FF0000"/>
                </a:solidFill>
                <a:sym typeface="+mn-ea"/>
              </a:rPr>
              <a:t>+</a:t>
            </a:r>
            <a:r>
              <a:rPr lang="en-US" sz="2000" b="1" dirty="0" err="1">
                <a:solidFill>
                  <a:srgbClr val="FF0000"/>
                </a:solidFill>
                <a:sym typeface="+mn-ea"/>
              </a:rPr>
              <a:t>运算符</a:t>
            </a:r>
            <a:r>
              <a:rPr lang="en-US" sz="2000" b="1" dirty="0" err="1">
                <a:sym typeface="+mn-ea"/>
              </a:rPr>
              <a:t>除了用于算术加法以外，还可以用于列表、元组、字符串的连接，但不支持不同类型的对象之间相加或连接</a:t>
            </a:r>
            <a:r>
              <a:rPr lang="en-US" sz="2000" b="1" dirty="0">
                <a:sym typeface="+mn-ea"/>
              </a:rPr>
              <a:t>。</a:t>
            </a:r>
            <a:br>
              <a:rPr lang="en-US" sz="2000" b="1" dirty="0"/>
            </a:br>
            <a:r>
              <a:rPr lang="en-US" sz="2000" b="1" dirty="0">
                <a:latin typeface="Consolas" panose="020B0609020204030204" charset="0"/>
                <a:sym typeface="+mn-ea"/>
              </a:rPr>
              <a:t>&gt;&gt;&gt; [1, 2, 3] + [4, 5, 6]          #</a:t>
            </a:r>
            <a:r>
              <a:rPr lang="en-US" sz="2000" b="1" dirty="0" err="1">
                <a:latin typeface="Consolas" panose="020B0609020204030204" charset="0"/>
                <a:sym typeface="+mn-ea"/>
              </a:rPr>
              <a:t>连接两个列表</a:t>
            </a:r>
            <a:br>
              <a:rPr lang="en-US" sz="2000" b="1" dirty="0">
                <a:latin typeface="Consolas" panose="020B0609020204030204" charset="0"/>
              </a:rPr>
            </a:br>
            <a:r>
              <a:rPr lang="en-US" sz="2000" b="1" dirty="0">
                <a:solidFill>
                  <a:srgbClr val="00B0F0"/>
                </a:solidFill>
                <a:latin typeface="Consolas" panose="020B0609020204030204" charset="0"/>
                <a:sym typeface="+mn-ea"/>
              </a:rPr>
              <a:t>[1, 2, 3, 4, 5, 6]</a:t>
            </a:r>
            <a:br>
              <a:rPr lang="en-US" sz="2000" b="1" dirty="0">
                <a:solidFill>
                  <a:srgbClr val="00B0F0"/>
                </a:solidFill>
                <a:latin typeface="Consolas" panose="020B0609020204030204" charset="0"/>
              </a:rPr>
            </a:br>
            <a:r>
              <a:rPr lang="en-US" sz="2000" b="1" dirty="0">
                <a:latin typeface="Consolas" panose="020B0609020204030204" charset="0"/>
                <a:sym typeface="+mn-ea"/>
              </a:rPr>
              <a:t>&gt;&gt;&gt; (1, 2, 3) + (4,)               #</a:t>
            </a:r>
            <a:r>
              <a:rPr lang="en-US" sz="2000" b="1" dirty="0" err="1">
                <a:latin typeface="Consolas" panose="020B0609020204030204" charset="0"/>
                <a:sym typeface="+mn-ea"/>
              </a:rPr>
              <a:t>连接两个元组</a:t>
            </a:r>
            <a:br>
              <a:rPr lang="en-US" sz="2000" b="1" dirty="0">
                <a:latin typeface="Consolas" panose="020B0609020204030204" charset="0"/>
              </a:rPr>
            </a:br>
            <a:r>
              <a:rPr lang="en-US" sz="2000" b="1" dirty="0">
                <a:solidFill>
                  <a:srgbClr val="00B0F0"/>
                </a:solidFill>
                <a:latin typeface="Consolas" panose="020B0609020204030204" charset="0"/>
                <a:sym typeface="+mn-ea"/>
              </a:rPr>
              <a:t>(1, 2, 3, 4)</a:t>
            </a:r>
            <a:br>
              <a:rPr lang="en-US" sz="2000" b="1" dirty="0">
                <a:solidFill>
                  <a:srgbClr val="00B0F0"/>
                </a:solidFill>
                <a:latin typeface="Consolas" panose="020B0609020204030204" charset="0"/>
              </a:rPr>
            </a:br>
            <a:r>
              <a:rPr lang="en-US" sz="2000" b="1" dirty="0">
                <a:latin typeface="Consolas" panose="020B0609020204030204" charset="0"/>
                <a:sym typeface="+mn-ea"/>
              </a:rPr>
              <a:t>&gt;&gt;&gt; '</a:t>
            </a:r>
            <a:r>
              <a:rPr lang="en-US" sz="2000" b="1" dirty="0" err="1">
                <a:latin typeface="Consolas" panose="020B0609020204030204" charset="0"/>
                <a:sym typeface="+mn-ea"/>
              </a:rPr>
              <a:t>abcd</a:t>
            </a:r>
            <a:r>
              <a:rPr lang="en-US" sz="2000" b="1" dirty="0">
                <a:latin typeface="Consolas" panose="020B0609020204030204" charset="0"/>
                <a:sym typeface="+mn-ea"/>
              </a:rPr>
              <a:t>' + '1234'                #</a:t>
            </a:r>
            <a:r>
              <a:rPr lang="en-US" sz="2000" b="1" dirty="0" err="1">
                <a:latin typeface="Consolas" panose="020B0609020204030204" charset="0"/>
                <a:sym typeface="+mn-ea"/>
              </a:rPr>
              <a:t>连接两个字符串</a:t>
            </a:r>
            <a:br>
              <a:rPr lang="en-US" sz="2000" b="1" dirty="0">
                <a:latin typeface="Consolas" panose="020B0609020204030204" charset="0"/>
              </a:rPr>
            </a:br>
            <a:r>
              <a:rPr lang="en-US" sz="2000" b="1" dirty="0">
                <a:solidFill>
                  <a:srgbClr val="00B0F0"/>
                </a:solidFill>
                <a:latin typeface="Consolas" panose="020B0609020204030204" charset="0"/>
                <a:sym typeface="+mn-ea"/>
              </a:rPr>
              <a:t>'abcd1234'</a:t>
            </a:r>
            <a:br>
              <a:rPr lang="en-US" sz="2000" b="1" dirty="0">
                <a:solidFill>
                  <a:srgbClr val="00B0F0"/>
                </a:solidFill>
                <a:latin typeface="Consolas" panose="020B0609020204030204" charset="0"/>
              </a:rPr>
            </a:br>
            <a:r>
              <a:rPr lang="en-US" sz="2000" b="1" dirty="0">
                <a:latin typeface="Consolas" panose="020B0609020204030204" charset="0"/>
                <a:sym typeface="+mn-ea"/>
              </a:rPr>
              <a:t>&gt;&gt;&gt; 'A' + 1                        #</a:t>
            </a:r>
            <a:r>
              <a:rPr lang="en-US" sz="2000" b="1" dirty="0" err="1">
                <a:latin typeface="Consolas" panose="020B0609020204030204" charset="0"/>
                <a:sym typeface="+mn-ea"/>
              </a:rPr>
              <a:t>不支持字符与数字相加，抛出异常</a:t>
            </a:r>
            <a:br>
              <a:rPr lang="en-US" sz="2000" b="1" dirty="0">
                <a:latin typeface="Consolas" panose="020B0609020204030204" charset="0"/>
              </a:rPr>
            </a:br>
            <a:r>
              <a:rPr lang="en-US" sz="2000" b="1" dirty="0" err="1">
                <a:solidFill>
                  <a:srgbClr val="FF0000"/>
                </a:solidFill>
                <a:latin typeface="Consolas" panose="020B0609020204030204" charset="0"/>
                <a:sym typeface="+mn-ea"/>
              </a:rPr>
              <a:t>TypeError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charset="0"/>
                <a:sym typeface="+mn-ea"/>
              </a:rPr>
              <a:t>: Can't convert 'int' object to str implicitly</a:t>
            </a:r>
            <a:br>
              <a:rPr lang="en-US" sz="2000" b="1" dirty="0">
                <a:solidFill>
                  <a:srgbClr val="FF0000"/>
                </a:solidFill>
                <a:latin typeface="Consolas" panose="020B0609020204030204" charset="0"/>
              </a:rPr>
            </a:br>
            <a:r>
              <a:rPr lang="en-US" sz="2000" b="1" dirty="0">
                <a:latin typeface="Consolas" panose="020B0609020204030204" charset="0"/>
                <a:sym typeface="+mn-ea"/>
              </a:rPr>
              <a:t>&gt;&gt;&gt; True + 3                       #Python内部把True当作1处理</a:t>
            </a:r>
            <a:br>
              <a:rPr lang="en-US" sz="2000" b="1" dirty="0">
                <a:latin typeface="Consolas" panose="020B0609020204030204" charset="0"/>
              </a:rPr>
            </a:br>
            <a:r>
              <a:rPr lang="en-US" sz="2000" b="1" dirty="0">
                <a:solidFill>
                  <a:srgbClr val="00B0F0"/>
                </a:solidFill>
                <a:latin typeface="Consolas" panose="020B0609020204030204" charset="0"/>
                <a:sym typeface="+mn-ea"/>
              </a:rPr>
              <a:t>4</a:t>
            </a:r>
            <a:br>
              <a:rPr lang="en-US" sz="2000" b="1" dirty="0">
                <a:solidFill>
                  <a:srgbClr val="00B0F0"/>
                </a:solidFill>
                <a:latin typeface="Consolas" panose="020B0609020204030204" charset="0"/>
              </a:rPr>
            </a:br>
            <a:r>
              <a:rPr lang="en-US" sz="2000" b="1" dirty="0">
                <a:latin typeface="Consolas" panose="020B0609020204030204" charset="0"/>
                <a:sym typeface="+mn-ea"/>
              </a:rPr>
              <a:t>&gt;&gt;&gt; False + 3                      #把False当作0处理</a:t>
            </a:r>
            <a:br>
              <a:rPr lang="en-US" sz="2000" b="1" dirty="0">
                <a:latin typeface="Consolas" panose="020B0609020204030204" charset="0"/>
              </a:rPr>
            </a:br>
            <a:r>
              <a:rPr lang="en-US" sz="2000" b="1" dirty="0">
                <a:solidFill>
                  <a:srgbClr val="00B0F0"/>
                </a:solidFill>
                <a:latin typeface="Consolas" panose="020B0609020204030204" charset="0"/>
                <a:sym typeface="+mn-ea"/>
              </a:rPr>
              <a:t>3</a:t>
            </a:r>
            <a:endParaRPr lang="en-US" altLang="en-US" sz="2000" b="1" dirty="0">
              <a:solidFill>
                <a:srgbClr val="00B0F0"/>
              </a:solidFill>
              <a:latin typeface="Consolas" panose="020B0609020204030204" charset="0"/>
              <a:ea typeface="楷体" panose="02010609060101010101" pitchFamily="49" charset="-122"/>
              <a:cs typeface="楷体" panose="02010609060101010101" pitchFamily="49" charset="-122"/>
              <a:sym typeface="+mn-ea"/>
            </a:endParaRPr>
          </a:p>
        </p:txBody>
      </p:sp>
      <p:sp>
        <p:nvSpPr>
          <p:cNvPr id="7" name="标题 1"/>
          <p:cNvSpPr>
            <a:spLocks noGrp="1"/>
          </p:cNvSpPr>
          <p:nvPr/>
        </p:nvSpPr>
        <p:spPr>
          <a:xfrm>
            <a:off x="0" y="740410"/>
            <a:ext cx="8086725" cy="553085"/>
          </a:xfrm>
        </p:spPr>
        <p:txBody>
          <a:bodyPr/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、算术运算符</a:t>
            </a:r>
          </a:p>
        </p:txBody>
      </p:sp>
      <p:sp>
        <p:nvSpPr>
          <p:cNvPr id="11" name="标题 1"/>
          <p:cNvSpPr txBox="1">
            <a:spLocks noGrp="1"/>
          </p:cNvSpPr>
          <p:nvPr/>
        </p:nvSpPr>
        <p:spPr>
          <a:xfrm>
            <a:off x="8623935" y="266700"/>
            <a:ext cx="3575685" cy="521970"/>
          </a:xfrm>
          <a:noFill/>
        </p:spPr>
        <p:txBody>
          <a:bodyPr wrap="square" rtlCol="0">
            <a:spAutoFit/>
          </a:bodyPr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2.4 运算符与表达式</a:t>
            </a:r>
          </a:p>
        </p:txBody>
      </p:sp>
    </p:spTree>
  </p:cSld>
  <p:clrMapOvr>
    <a:masterClrMapping/>
  </p:clrMapOvr>
  <p:transition spd="slow" advTm="0"/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337185" y="1367155"/>
            <a:ext cx="11739880" cy="4981575"/>
          </a:xfrm>
        </p:spPr>
        <p:txBody>
          <a:bodyPr/>
          <a:lstStyle/>
          <a:p>
            <a:pPr algn="l">
              <a:defRPr/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（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5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）</a:t>
            </a:r>
            <a:r>
              <a:rPr lang="en-US" sz="2000" b="1">
                <a:solidFill>
                  <a:srgbClr val="FF0000"/>
                </a:solidFill>
                <a:sym typeface="+mn-ea"/>
              </a:rPr>
              <a:t>*运算符</a:t>
            </a:r>
            <a:r>
              <a:rPr lang="en-US" sz="2000" b="1">
                <a:sym typeface="+mn-ea"/>
              </a:rPr>
              <a:t>除了表示算术乘法，还可用于列表、元组、字符串这几个序列类型与整数的乘法，表示序列元素的重复，生成新的序列对象。</a:t>
            </a:r>
            <a:r>
              <a:rPr lang="en-US" sz="2000" b="1">
                <a:solidFill>
                  <a:srgbClr val="FF0000"/>
                </a:solidFill>
                <a:sym typeface="+mn-ea"/>
              </a:rPr>
              <a:t>字典和集合不支持与整数的相乘</a:t>
            </a:r>
            <a:r>
              <a:rPr lang="en-US" sz="2000" b="1">
                <a:sym typeface="+mn-ea"/>
              </a:rPr>
              <a:t>，因为其中的元素是不允许重复的。</a:t>
            </a:r>
            <a:br>
              <a:rPr lang="en-US" sz="2000" b="1"/>
            </a:br>
            <a:r>
              <a:rPr lang="en-US" sz="2000" b="1">
                <a:sym typeface="+mn-ea"/>
              </a:rPr>
              <a:t>&gt;&gt;&gt; True * 3</a:t>
            </a:r>
            <a:br>
              <a:rPr lang="en-US" sz="2000" b="1"/>
            </a:br>
            <a:r>
              <a:rPr lang="en-US" sz="2000" b="1">
                <a:solidFill>
                  <a:srgbClr val="00B0F0"/>
                </a:solidFill>
                <a:sym typeface="+mn-ea"/>
              </a:rPr>
              <a:t>3</a:t>
            </a:r>
            <a:br>
              <a:rPr lang="en-US" sz="2000" b="1">
                <a:solidFill>
                  <a:srgbClr val="00B0F0"/>
                </a:solidFill>
              </a:rPr>
            </a:br>
            <a:r>
              <a:rPr lang="en-US" sz="2000" b="1">
                <a:sym typeface="+mn-ea"/>
              </a:rPr>
              <a:t>&gt;&gt;&gt; False * 3</a:t>
            </a:r>
            <a:br>
              <a:rPr lang="en-US" sz="2000" b="1"/>
            </a:br>
            <a:r>
              <a:rPr lang="en-US" sz="2000" b="1">
                <a:solidFill>
                  <a:srgbClr val="00B0F0"/>
                </a:solidFill>
                <a:sym typeface="+mn-ea"/>
              </a:rPr>
              <a:t>0</a:t>
            </a:r>
            <a:br>
              <a:rPr lang="en-US" sz="2000" b="1">
                <a:solidFill>
                  <a:srgbClr val="00B0F0"/>
                </a:solidFill>
              </a:rPr>
            </a:br>
            <a:r>
              <a:rPr lang="en-US" sz="2000" b="1">
                <a:sym typeface="+mn-ea"/>
              </a:rPr>
              <a:t>&gt;&gt;&gt; [1, 2, 3] * 3</a:t>
            </a:r>
            <a:br>
              <a:rPr lang="en-US" sz="2000" b="1"/>
            </a:br>
            <a:r>
              <a:rPr lang="en-US" sz="2000" b="1">
                <a:solidFill>
                  <a:srgbClr val="00B0F0"/>
                </a:solidFill>
                <a:sym typeface="+mn-ea"/>
              </a:rPr>
              <a:t>[1, 2, 3, 1, 2, 3, 1, 2, 3]</a:t>
            </a:r>
            <a:br>
              <a:rPr lang="en-US" sz="2000" b="1">
                <a:solidFill>
                  <a:srgbClr val="00B0F0"/>
                </a:solidFill>
              </a:rPr>
            </a:br>
            <a:r>
              <a:rPr lang="en-US" sz="2000" b="1">
                <a:sym typeface="+mn-ea"/>
              </a:rPr>
              <a:t>&gt;&gt;&gt; (1, 2, 3) * 3</a:t>
            </a:r>
            <a:br>
              <a:rPr lang="en-US" sz="2000" b="1"/>
            </a:br>
            <a:r>
              <a:rPr lang="en-US" sz="2000" b="1">
                <a:solidFill>
                  <a:srgbClr val="00B0F0"/>
                </a:solidFill>
                <a:sym typeface="+mn-ea"/>
              </a:rPr>
              <a:t>(1, 2, 3, 1, 2, 3, 1, 2, 3)</a:t>
            </a:r>
            <a:br>
              <a:rPr lang="en-US" sz="2000" b="1">
                <a:solidFill>
                  <a:srgbClr val="00B0F0"/>
                </a:solidFill>
              </a:rPr>
            </a:br>
            <a:r>
              <a:rPr lang="en-US" sz="2000" b="1">
                <a:sym typeface="+mn-ea"/>
              </a:rPr>
              <a:t>&gt;&gt;&gt; 'abc' * 3</a:t>
            </a:r>
            <a:br>
              <a:rPr lang="en-US" sz="2000" b="1"/>
            </a:br>
            <a:r>
              <a:rPr lang="en-US" sz="2000" b="1">
                <a:solidFill>
                  <a:srgbClr val="00B0F0"/>
                </a:solidFill>
                <a:sym typeface="+mn-ea"/>
              </a:rPr>
              <a:t>'abcabcabc'</a:t>
            </a:r>
            <a:endParaRPr lang="en-US" altLang="en-US" sz="2000" b="1" dirty="0">
              <a:solidFill>
                <a:srgbClr val="00B0F0"/>
              </a:solidFill>
              <a:latin typeface="Consolas" panose="020B0609020204030204" charset="0"/>
              <a:ea typeface="楷体" panose="02010609060101010101" pitchFamily="49" charset="-122"/>
              <a:cs typeface="楷体" panose="02010609060101010101" pitchFamily="49" charset="-122"/>
              <a:sym typeface="+mn-ea"/>
            </a:endParaRPr>
          </a:p>
        </p:txBody>
      </p:sp>
      <p:sp>
        <p:nvSpPr>
          <p:cNvPr id="7" name="标题 1"/>
          <p:cNvSpPr>
            <a:spLocks noGrp="1"/>
          </p:cNvSpPr>
          <p:nvPr/>
        </p:nvSpPr>
        <p:spPr>
          <a:xfrm>
            <a:off x="0" y="740410"/>
            <a:ext cx="8086725" cy="553085"/>
          </a:xfrm>
        </p:spPr>
        <p:txBody>
          <a:bodyPr/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、算术运算符</a:t>
            </a:r>
          </a:p>
        </p:txBody>
      </p:sp>
      <p:sp>
        <p:nvSpPr>
          <p:cNvPr id="11" name="标题 1"/>
          <p:cNvSpPr txBox="1">
            <a:spLocks noGrp="1"/>
          </p:cNvSpPr>
          <p:nvPr/>
        </p:nvSpPr>
        <p:spPr>
          <a:xfrm>
            <a:off x="8623935" y="266700"/>
            <a:ext cx="3575685" cy="521970"/>
          </a:xfrm>
          <a:noFill/>
        </p:spPr>
        <p:txBody>
          <a:bodyPr wrap="square" rtlCol="0">
            <a:spAutoFit/>
          </a:bodyPr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2.4 运算符与表达式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715645" y="5815330"/>
            <a:ext cx="262890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b="1">
                <a:solidFill>
                  <a:srgbClr val="FF0000"/>
                </a:solidFill>
                <a:sym typeface="+mn-ea"/>
              </a:rPr>
              <a:t>**运算符</a:t>
            </a:r>
            <a:r>
              <a:rPr lang="zh-CN" altLang="en-US" b="1">
                <a:sym typeface="+mn-ea"/>
              </a:rPr>
              <a:t>表示幂乘</a:t>
            </a:r>
          </a:p>
        </p:txBody>
      </p:sp>
    </p:spTree>
  </p:cSld>
  <p:clrMapOvr>
    <a:masterClrMapping/>
  </p:clrMapOvr>
  <p:transition spd="slow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482550" y="1367155"/>
            <a:ext cx="11717069" cy="3286775"/>
          </a:xfrm>
        </p:spPr>
        <p:txBody>
          <a:bodyPr/>
          <a:lstStyle/>
          <a:p>
            <a:pPr algn="l">
              <a:defRPr/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（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6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）</a:t>
            </a:r>
            <a:r>
              <a:rPr lang="en-US" sz="2400" b="1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sym typeface="+mn-ea"/>
              </a:rPr>
              <a:t>运算符</a:t>
            </a:r>
            <a:r>
              <a:rPr lang="en-US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sym typeface="+mn-ea"/>
              </a:rPr>
              <a:t>/和//</a:t>
            </a:r>
            <a:r>
              <a:rPr lang="en-US" sz="2400" b="1" dirty="0" err="1">
                <a:latin typeface="微软雅黑" pitchFamily="34" charset="-122"/>
                <a:ea typeface="微软雅黑" pitchFamily="34" charset="-122"/>
                <a:sym typeface="+mn-ea"/>
              </a:rPr>
              <a:t>在Python中分别表示算术除法和算术求整商（floor</a:t>
            </a:r>
            <a:r>
              <a:rPr lang="en-US" sz="2400" b="1" dirty="0">
                <a:latin typeface="微软雅黑" pitchFamily="34" charset="-122"/>
                <a:ea typeface="微软雅黑" pitchFamily="34" charset="-122"/>
                <a:sym typeface="+mn-ea"/>
              </a:rPr>
              <a:t> division）。</a:t>
            </a:r>
            <a:br>
              <a:rPr lang="en-US" sz="2000" b="1" dirty="0"/>
            </a:br>
            <a:r>
              <a:rPr lang="en-US" sz="2000" b="1" dirty="0">
                <a:latin typeface="Consolas" panose="020B0609020204030204" charset="0"/>
                <a:sym typeface="+mn-ea"/>
              </a:rPr>
              <a:t>&gt;&gt;&gt; 3 / 2                    #</a:t>
            </a:r>
            <a:r>
              <a:rPr lang="en-US" sz="2000" b="1" dirty="0" err="1">
                <a:latin typeface="Consolas" panose="020B0609020204030204" charset="0"/>
                <a:sym typeface="+mn-ea"/>
              </a:rPr>
              <a:t>数学意义上的除法</a:t>
            </a:r>
            <a:br>
              <a:rPr lang="en-US" sz="2000" b="1" dirty="0">
                <a:latin typeface="Consolas" panose="020B0609020204030204" charset="0"/>
              </a:rPr>
            </a:br>
            <a:r>
              <a:rPr lang="en-US" sz="2000" b="1" dirty="0">
                <a:solidFill>
                  <a:srgbClr val="00B0F0"/>
                </a:solidFill>
                <a:latin typeface="Consolas" panose="020B0609020204030204" charset="0"/>
                <a:sym typeface="+mn-ea"/>
              </a:rPr>
              <a:t>1.5</a:t>
            </a:r>
            <a:br>
              <a:rPr lang="en-US" sz="2000" b="1" dirty="0">
                <a:solidFill>
                  <a:srgbClr val="00B0F0"/>
                </a:solidFill>
                <a:latin typeface="Consolas" panose="020B0609020204030204" charset="0"/>
              </a:rPr>
            </a:br>
            <a:r>
              <a:rPr lang="en-US" sz="2000" b="1" dirty="0">
                <a:latin typeface="Consolas" panose="020B0609020204030204" charset="0"/>
                <a:sym typeface="+mn-ea"/>
              </a:rPr>
              <a:t>&gt;&gt;&gt; 15 // 4                  #</a:t>
            </a:r>
            <a:r>
              <a:rPr lang="en-US" sz="2000" b="1" dirty="0" err="1">
                <a:latin typeface="Consolas" panose="020B0609020204030204" charset="0"/>
                <a:sym typeface="+mn-ea"/>
              </a:rPr>
              <a:t>如果两个操作数都是整数，结果为整数</a:t>
            </a:r>
            <a:br>
              <a:rPr lang="en-US" sz="2000" b="1" dirty="0">
                <a:latin typeface="Consolas" panose="020B0609020204030204" charset="0"/>
              </a:rPr>
            </a:br>
            <a:r>
              <a:rPr lang="en-US" sz="2000" b="1" dirty="0">
                <a:solidFill>
                  <a:srgbClr val="00B0F0"/>
                </a:solidFill>
                <a:latin typeface="Consolas" panose="020B0609020204030204" charset="0"/>
                <a:sym typeface="+mn-ea"/>
              </a:rPr>
              <a:t>3</a:t>
            </a:r>
            <a:br>
              <a:rPr lang="en-US" sz="2000" b="1" dirty="0">
                <a:solidFill>
                  <a:srgbClr val="00B0F0"/>
                </a:solidFill>
                <a:latin typeface="Consolas" panose="020B0609020204030204" charset="0"/>
              </a:rPr>
            </a:br>
            <a:r>
              <a:rPr lang="en-US" sz="2000" b="1" dirty="0">
                <a:latin typeface="Consolas" panose="020B0609020204030204" charset="0"/>
                <a:sym typeface="+mn-ea"/>
              </a:rPr>
              <a:t>&gt;&gt;&gt; 15.0 // 4                #</a:t>
            </a:r>
            <a:r>
              <a:rPr lang="en-US" sz="2000" b="1" dirty="0" err="1">
                <a:latin typeface="Consolas" panose="020B0609020204030204" charset="0"/>
                <a:sym typeface="+mn-ea"/>
              </a:rPr>
              <a:t>如果操作数中有实数，结果为实数形式的整数值</a:t>
            </a:r>
            <a:br>
              <a:rPr lang="en-US" sz="2000" b="1" dirty="0">
                <a:latin typeface="Consolas" panose="020B0609020204030204" charset="0"/>
              </a:rPr>
            </a:br>
            <a:r>
              <a:rPr lang="en-US" sz="2000" b="1" dirty="0">
                <a:solidFill>
                  <a:srgbClr val="00B0F0"/>
                </a:solidFill>
                <a:latin typeface="Consolas" panose="020B0609020204030204" charset="0"/>
                <a:sym typeface="+mn-ea"/>
              </a:rPr>
              <a:t>3.0</a:t>
            </a:r>
            <a:br>
              <a:rPr lang="en-US" sz="2000" b="1" dirty="0">
                <a:solidFill>
                  <a:srgbClr val="00B0F0"/>
                </a:solidFill>
                <a:latin typeface="Consolas" panose="020B0609020204030204" charset="0"/>
              </a:rPr>
            </a:br>
            <a:r>
              <a:rPr lang="en-US" sz="2000" b="1" dirty="0">
                <a:latin typeface="Consolas" panose="020B0609020204030204" charset="0"/>
                <a:sym typeface="+mn-ea"/>
              </a:rPr>
              <a:t>&gt;&gt;&gt; -15//4                   #</a:t>
            </a:r>
            <a:r>
              <a:rPr lang="en-US" sz="2000" b="1" dirty="0" err="1">
                <a:latin typeface="Consolas" panose="020B0609020204030204" charset="0"/>
                <a:sym typeface="+mn-ea"/>
              </a:rPr>
              <a:t>向下取整</a:t>
            </a:r>
            <a:br>
              <a:rPr lang="en-US" sz="2000" b="1" dirty="0">
                <a:latin typeface="Consolas" panose="020B0609020204030204" charset="0"/>
              </a:rPr>
            </a:br>
            <a:r>
              <a:rPr lang="en-US" sz="2000" b="1" dirty="0">
                <a:solidFill>
                  <a:srgbClr val="00B0F0"/>
                </a:solidFill>
                <a:latin typeface="Consolas" panose="020B0609020204030204" charset="0"/>
                <a:sym typeface="+mn-ea"/>
              </a:rPr>
              <a:t>-4</a:t>
            </a:r>
            <a:endParaRPr lang="en-US" altLang="en-US" sz="2000" b="1" dirty="0">
              <a:solidFill>
                <a:srgbClr val="00B0F0"/>
              </a:solidFill>
              <a:latin typeface="Consolas" panose="020B0609020204030204" charset="0"/>
              <a:ea typeface="楷体" panose="02010609060101010101" pitchFamily="49" charset="-122"/>
              <a:cs typeface="楷体" panose="02010609060101010101" pitchFamily="49" charset="-122"/>
              <a:sym typeface="+mn-ea"/>
            </a:endParaRPr>
          </a:p>
        </p:txBody>
      </p:sp>
      <p:sp>
        <p:nvSpPr>
          <p:cNvPr id="7" name="标题 1"/>
          <p:cNvSpPr>
            <a:spLocks noGrp="1"/>
          </p:cNvSpPr>
          <p:nvPr/>
        </p:nvSpPr>
        <p:spPr>
          <a:xfrm>
            <a:off x="0" y="740410"/>
            <a:ext cx="8086725" cy="553085"/>
          </a:xfrm>
        </p:spPr>
        <p:txBody>
          <a:bodyPr/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、算术运算符</a:t>
            </a:r>
          </a:p>
        </p:txBody>
      </p:sp>
      <p:sp>
        <p:nvSpPr>
          <p:cNvPr id="11" name="标题 1"/>
          <p:cNvSpPr txBox="1">
            <a:spLocks noGrp="1"/>
          </p:cNvSpPr>
          <p:nvPr/>
        </p:nvSpPr>
        <p:spPr>
          <a:xfrm>
            <a:off x="8623935" y="266700"/>
            <a:ext cx="3575685" cy="521970"/>
          </a:xfrm>
          <a:noFill/>
        </p:spPr>
        <p:txBody>
          <a:bodyPr wrap="square" rtlCol="0">
            <a:spAutoFit/>
          </a:bodyPr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2.4 运算符与表达式</a:t>
            </a:r>
          </a:p>
        </p:txBody>
      </p:sp>
    </p:spTree>
  </p:cSld>
  <p:clrMapOvr>
    <a:masterClrMapping/>
  </p:clrMapOvr>
  <p:transition spd="slow" advTm="0"/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625217" y="1367155"/>
            <a:ext cx="10802550" cy="4981575"/>
          </a:xfrm>
        </p:spPr>
        <p:txBody>
          <a:bodyPr/>
          <a:lstStyle/>
          <a:p>
            <a:pPr algn="l">
              <a:defRPr/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（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7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）</a:t>
            </a:r>
            <a:r>
              <a:rPr lang="en-US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sym typeface="+mn-ea"/>
              </a:rPr>
              <a:t>%</a:t>
            </a:r>
            <a:r>
              <a:rPr lang="en-US" sz="2400" b="1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sym typeface="+mn-ea"/>
              </a:rPr>
              <a:t>运算符</a:t>
            </a:r>
            <a:r>
              <a:rPr lang="en-US" sz="2400" b="1" dirty="0" err="1">
                <a:latin typeface="微软雅黑" pitchFamily="34" charset="-122"/>
                <a:ea typeface="微软雅黑" pitchFamily="34" charset="-122"/>
                <a:sym typeface="+mn-ea"/>
              </a:rPr>
              <a:t>可以用于整数或实数的求余数运算，还可以用于字符串格式化，但是这种用法并不推荐</a:t>
            </a:r>
            <a:r>
              <a:rPr lang="zh-CN" altLang="en-US" sz="2400" b="1" dirty="0">
                <a:latin typeface="微软雅黑" pitchFamily="34" charset="-122"/>
                <a:ea typeface="微软雅黑" pitchFamily="34" charset="-122"/>
                <a:sym typeface="+mn-ea"/>
              </a:rPr>
              <a:t>。</a:t>
            </a:r>
            <a:br>
              <a:rPr lang="zh-CN" altLang="en-US" sz="2000" b="1" dirty="0"/>
            </a:br>
            <a:r>
              <a:rPr lang="en-US" sz="2000" b="1" dirty="0">
                <a:sym typeface="+mn-ea"/>
              </a:rPr>
              <a:t>&gt;&gt;&gt; 789 % 23                       #</a:t>
            </a:r>
            <a:r>
              <a:rPr lang="en-US" sz="2000" b="1" dirty="0" err="1">
                <a:sym typeface="+mn-ea"/>
              </a:rPr>
              <a:t>余数</a:t>
            </a:r>
            <a:br>
              <a:rPr lang="en-US" sz="2000" b="1" dirty="0"/>
            </a:br>
            <a:r>
              <a:rPr lang="en-US" sz="2000" b="1" dirty="0">
                <a:solidFill>
                  <a:srgbClr val="00B0F0"/>
                </a:solidFill>
                <a:sym typeface="+mn-ea"/>
              </a:rPr>
              <a:t>7</a:t>
            </a:r>
            <a:br>
              <a:rPr lang="en-US" sz="2000" b="1" dirty="0">
                <a:solidFill>
                  <a:srgbClr val="00B0F0"/>
                </a:solidFill>
              </a:rPr>
            </a:br>
            <a:r>
              <a:rPr lang="en-US" sz="2000" b="1" dirty="0">
                <a:sym typeface="+mn-ea"/>
              </a:rPr>
              <a:t>&gt;&gt;&gt; 123.45 % 3.2                 #</a:t>
            </a:r>
            <a:r>
              <a:rPr lang="en-US" sz="2000" b="1" dirty="0" err="1">
                <a:sym typeface="+mn-ea"/>
              </a:rPr>
              <a:t>可以对实数进行余数运算，注意精度问题</a:t>
            </a:r>
            <a:br>
              <a:rPr lang="en-US" sz="2000" b="1" dirty="0"/>
            </a:br>
            <a:r>
              <a:rPr lang="en-US" sz="2000" b="1" dirty="0">
                <a:solidFill>
                  <a:srgbClr val="00B0F0"/>
                </a:solidFill>
                <a:sym typeface="+mn-ea"/>
              </a:rPr>
              <a:t>1.849999999999996</a:t>
            </a:r>
            <a:br>
              <a:rPr lang="en-US" sz="2000" b="1" dirty="0">
                <a:solidFill>
                  <a:srgbClr val="00B0F0"/>
                </a:solidFill>
              </a:rPr>
            </a:br>
            <a:r>
              <a:rPr lang="en-US" sz="2000" b="1" dirty="0">
                <a:sym typeface="+mn-ea"/>
              </a:rPr>
              <a:t>&gt;&gt;&gt; '%c, %d' % (65, 65)       #把65分别格式化为字符和整数</a:t>
            </a:r>
            <a:br>
              <a:rPr lang="en-US" sz="2000" b="1" dirty="0"/>
            </a:br>
            <a:r>
              <a:rPr lang="en-US" sz="2000" b="1" dirty="0">
                <a:solidFill>
                  <a:srgbClr val="00B0F0"/>
                </a:solidFill>
                <a:sym typeface="+mn-ea"/>
              </a:rPr>
              <a:t>'A, 65'</a:t>
            </a:r>
            <a:br>
              <a:rPr lang="en-US" sz="2000" b="1" dirty="0">
                <a:solidFill>
                  <a:srgbClr val="00B0F0"/>
                </a:solidFill>
              </a:rPr>
            </a:br>
            <a:r>
              <a:rPr lang="en-US" sz="2000" b="1" dirty="0">
                <a:sym typeface="+mn-ea"/>
              </a:rPr>
              <a:t>&gt;&gt;&gt; '%</a:t>
            </a:r>
            <a:r>
              <a:rPr lang="en-US" sz="2000" b="1" dirty="0" err="1">
                <a:sym typeface="+mn-ea"/>
              </a:rPr>
              <a:t>f,%s</a:t>
            </a:r>
            <a:r>
              <a:rPr lang="en-US" sz="2000" b="1" dirty="0">
                <a:sym typeface="+mn-ea"/>
              </a:rPr>
              <a:t>' % (65, 65)         #把65分别格式化为实数和字符串</a:t>
            </a:r>
            <a:br>
              <a:rPr lang="en-US" sz="2000" b="1" dirty="0"/>
            </a:br>
            <a:r>
              <a:rPr lang="en-US" sz="2000" b="1" dirty="0">
                <a:solidFill>
                  <a:srgbClr val="00B0F0"/>
                </a:solidFill>
                <a:sym typeface="+mn-ea"/>
              </a:rPr>
              <a:t>'65.000000,65'</a:t>
            </a:r>
            <a:endParaRPr lang="en-US" altLang="en-US" sz="2000" b="1" dirty="0">
              <a:solidFill>
                <a:srgbClr val="00B0F0"/>
              </a:solidFill>
              <a:latin typeface="Consolas" panose="020B0609020204030204" charset="0"/>
              <a:ea typeface="楷体" panose="02010609060101010101" pitchFamily="49" charset="-122"/>
              <a:cs typeface="楷体" panose="02010609060101010101" pitchFamily="49" charset="-122"/>
              <a:sym typeface="+mn-ea"/>
            </a:endParaRPr>
          </a:p>
        </p:txBody>
      </p:sp>
      <p:sp>
        <p:nvSpPr>
          <p:cNvPr id="7" name="标题 1"/>
          <p:cNvSpPr>
            <a:spLocks noGrp="1"/>
          </p:cNvSpPr>
          <p:nvPr/>
        </p:nvSpPr>
        <p:spPr>
          <a:xfrm>
            <a:off x="0" y="740410"/>
            <a:ext cx="8086725" cy="553085"/>
          </a:xfrm>
        </p:spPr>
        <p:txBody>
          <a:bodyPr/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、算术运算符</a:t>
            </a:r>
          </a:p>
        </p:txBody>
      </p:sp>
      <p:sp>
        <p:nvSpPr>
          <p:cNvPr id="11" name="标题 1"/>
          <p:cNvSpPr txBox="1">
            <a:spLocks noGrp="1"/>
          </p:cNvSpPr>
          <p:nvPr/>
        </p:nvSpPr>
        <p:spPr>
          <a:xfrm>
            <a:off x="8623935" y="266700"/>
            <a:ext cx="3575685" cy="521970"/>
          </a:xfrm>
          <a:noFill/>
        </p:spPr>
        <p:txBody>
          <a:bodyPr wrap="square" rtlCol="0">
            <a:spAutoFit/>
          </a:bodyPr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2.4 运算符与表达式</a:t>
            </a:r>
          </a:p>
        </p:txBody>
      </p:sp>
    </p:spTree>
  </p:cSld>
  <p:clrMapOvr>
    <a:masterClrMapping/>
  </p:clrMapOvr>
  <p:transition spd="slow" advTm="0"/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171450" y="788670"/>
            <a:ext cx="5059045" cy="677545"/>
          </a:xfrm>
        </p:spPr>
        <p:txBody>
          <a:bodyPr>
            <a:noAutofit/>
          </a:bodyPr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>
              <a:defRPr/>
            </a:pP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2、关系运算符和关系表达式</a:t>
            </a:r>
          </a:p>
        </p:txBody>
      </p:sp>
      <p:graphicFrame>
        <p:nvGraphicFramePr>
          <p:cNvPr id="6" name="内容占位符 5"/>
          <p:cNvGraphicFramePr>
            <a:graphicFrameLocks noGrp="1"/>
          </p:cNvGraphicFramePr>
          <p:nvPr>
            <p:ph idx="4294967295"/>
            <p:custDataLst>
              <p:tags r:id="rId1"/>
            </p:custDataLst>
          </p:nvPr>
        </p:nvGraphicFramePr>
        <p:xfrm>
          <a:off x="1983105" y="1788795"/>
          <a:ext cx="8231504" cy="259612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0580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7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8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8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/>
                        <a:t>关系运算符</a:t>
                      </a:r>
                    </a:p>
                  </a:txBody>
                  <a:tcPr marL="91461" marR="91461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/>
                        <a:t>关系表达式</a:t>
                      </a:r>
                    </a:p>
                  </a:txBody>
                  <a:tcPr marL="91461" marR="91461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/>
                        <a:t>描述</a:t>
                      </a:r>
                    </a:p>
                  </a:txBody>
                  <a:tcPr marL="91461" marR="91461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/>
                        <a:t>优先级</a:t>
                      </a:r>
                    </a:p>
                  </a:txBody>
                  <a:tcPr marL="91461" marR="91461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81">
                <a:tc>
                  <a:txBody>
                    <a:bodyPr/>
                    <a:lstStyle/>
                    <a:p>
                      <a:r>
                        <a:rPr lang="en-US" altLang="zh-CN" sz="1800" b="1" dirty="0"/>
                        <a:t>&lt;</a:t>
                      </a:r>
                      <a:endParaRPr lang="zh-CN" altLang="en-US" sz="1800" b="1" dirty="0"/>
                    </a:p>
                  </a:txBody>
                  <a:tcPr marL="91461" marR="91461" marT="45725" marB="45725"/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/>
                        <a:t>x&lt;y</a:t>
                      </a:r>
                      <a:endParaRPr lang="zh-CN" altLang="en-US" sz="1800" b="1" dirty="0"/>
                    </a:p>
                  </a:txBody>
                  <a:tcPr marL="91461" marR="91461" marT="45725" marB="45725"/>
                </a:tc>
                <a:tc>
                  <a:txBody>
                    <a:bodyPr/>
                    <a:lstStyle/>
                    <a:p>
                      <a:r>
                        <a:rPr lang="zh-CN" altLang="en-US" sz="1800" b="1" dirty="0"/>
                        <a:t>小于</a:t>
                      </a:r>
                    </a:p>
                  </a:txBody>
                  <a:tcPr marL="91461" marR="91461" marT="45725" marB="45725"/>
                </a:tc>
                <a:tc rowSpan="4">
                  <a:txBody>
                    <a:bodyPr/>
                    <a:lstStyle/>
                    <a:p>
                      <a:r>
                        <a:rPr lang="zh-CN" altLang="en-US" sz="1800" b="1" dirty="0"/>
                        <a:t>优先级相等；但优先级大于</a:t>
                      </a:r>
                      <a:r>
                        <a:rPr lang="en-US" altLang="zh-CN" sz="1800" b="1" dirty="0"/>
                        <a:t>==</a:t>
                      </a:r>
                      <a:r>
                        <a:rPr lang="zh-CN" altLang="en-US" sz="1800" b="1" dirty="0"/>
                        <a:t>和</a:t>
                      </a:r>
                      <a:r>
                        <a:rPr lang="en-US" altLang="zh-CN" sz="1800" b="1" dirty="0"/>
                        <a:t>!=</a:t>
                      </a:r>
                      <a:endParaRPr lang="zh-CN" altLang="en-US" sz="1800" b="1" dirty="0"/>
                    </a:p>
                  </a:txBody>
                  <a:tcPr marL="91461" marR="91461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81">
                <a:tc>
                  <a:txBody>
                    <a:bodyPr/>
                    <a:lstStyle/>
                    <a:p>
                      <a:r>
                        <a:rPr lang="en-US" altLang="zh-CN" sz="1800" b="1" dirty="0"/>
                        <a:t>&gt;</a:t>
                      </a:r>
                      <a:endParaRPr lang="zh-CN" altLang="en-US" sz="1800" b="1" dirty="0"/>
                    </a:p>
                  </a:txBody>
                  <a:tcPr marL="91461" marR="91461" marT="45725" marB="45725"/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/>
                        <a:t>x&gt;y</a:t>
                      </a:r>
                      <a:endParaRPr lang="zh-CN" altLang="en-US" sz="1800" b="1" dirty="0"/>
                    </a:p>
                  </a:txBody>
                  <a:tcPr marL="91461" marR="91461" marT="45725" marB="45725"/>
                </a:tc>
                <a:tc>
                  <a:txBody>
                    <a:bodyPr/>
                    <a:lstStyle/>
                    <a:p>
                      <a:r>
                        <a:rPr lang="zh-CN" altLang="en-US" sz="1800" b="1" dirty="0"/>
                        <a:t>大于</a:t>
                      </a:r>
                    </a:p>
                  </a:txBody>
                  <a:tcPr marL="91461" marR="91461" marT="45725" marB="45725"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81">
                <a:tc>
                  <a:txBody>
                    <a:bodyPr/>
                    <a:lstStyle/>
                    <a:p>
                      <a:r>
                        <a:rPr lang="en-US" altLang="zh-CN" sz="1800" b="1" dirty="0"/>
                        <a:t>&lt;=</a:t>
                      </a:r>
                      <a:endParaRPr lang="zh-CN" altLang="en-US" sz="1800" b="1" dirty="0"/>
                    </a:p>
                  </a:txBody>
                  <a:tcPr marL="91461" marR="91461" marT="45725" marB="45725"/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/>
                        <a:t>x&lt;=y</a:t>
                      </a:r>
                      <a:endParaRPr lang="zh-CN" altLang="en-US" sz="1800" b="1" dirty="0"/>
                    </a:p>
                  </a:txBody>
                  <a:tcPr marL="91461" marR="91461" marT="45725" marB="45725"/>
                </a:tc>
                <a:tc>
                  <a:txBody>
                    <a:bodyPr/>
                    <a:lstStyle/>
                    <a:p>
                      <a:r>
                        <a:rPr lang="zh-CN" altLang="en-US" sz="1800" b="1" dirty="0"/>
                        <a:t>小于等于</a:t>
                      </a:r>
                    </a:p>
                  </a:txBody>
                  <a:tcPr marL="91461" marR="91461" marT="45725" marB="45725"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81">
                <a:tc>
                  <a:txBody>
                    <a:bodyPr/>
                    <a:lstStyle/>
                    <a:p>
                      <a:r>
                        <a:rPr lang="en-US" altLang="zh-CN" sz="1800" b="1" dirty="0"/>
                        <a:t>&gt;=</a:t>
                      </a:r>
                      <a:endParaRPr lang="zh-CN" altLang="en-US" sz="1800" b="1" dirty="0"/>
                    </a:p>
                  </a:txBody>
                  <a:tcPr marL="91461" marR="91461" marT="45725" marB="45725"/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/>
                        <a:t>x&gt;=y</a:t>
                      </a:r>
                      <a:endParaRPr lang="zh-CN" altLang="en-US" sz="1800" b="1" dirty="0"/>
                    </a:p>
                  </a:txBody>
                  <a:tcPr marL="91461" marR="91461" marT="45725" marB="45725"/>
                </a:tc>
                <a:tc>
                  <a:txBody>
                    <a:bodyPr/>
                    <a:lstStyle/>
                    <a:p>
                      <a:r>
                        <a:rPr lang="zh-CN" altLang="en-US" sz="1800" b="1" dirty="0"/>
                        <a:t>大于等于</a:t>
                      </a:r>
                    </a:p>
                  </a:txBody>
                  <a:tcPr marL="91461" marR="91461" marT="45725" marB="45725"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81">
                <a:tc>
                  <a:txBody>
                    <a:bodyPr/>
                    <a:lstStyle/>
                    <a:p>
                      <a:r>
                        <a:rPr lang="en-US" altLang="zh-CN" sz="1800" b="1" dirty="0"/>
                        <a:t>==</a:t>
                      </a:r>
                      <a:endParaRPr lang="zh-CN" altLang="en-US" sz="1800" b="1" dirty="0"/>
                    </a:p>
                  </a:txBody>
                  <a:tcPr marL="91461" marR="91461" marT="45725" marB="45725"/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/>
                        <a:t>x==y</a:t>
                      </a:r>
                      <a:endParaRPr lang="zh-CN" altLang="en-US" sz="1800" b="1" dirty="0"/>
                    </a:p>
                  </a:txBody>
                  <a:tcPr marL="91461" marR="91461" marT="45725" marB="45725"/>
                </a:tc>
                <a:tc>
                  <a:txBody>
                    <a:bodyPr/>
                    <a:lstStyle/>
                    <a:p>
                      <a:r>
                        <a:rPr lang="zh-CN" altLang="en-US" sz="1800" b="1" dirty="0"/>
                        <a:t>等于</a:t>
                      </a:r>
                    </a:p>
                  </a:txBody>
                  <a:tcPr marL="91461" marR="91461" marT="45725" marB="45725"/>
                </a:tc>
                <a:tc rowSpan="2">
                  <a:txBody>
                    <a:bodyPr/>
                    <a:lstStyle/>
                    <a:p>
                      <a:r>
                        <a:rPr lang="zh-CN" altLang="en-US" sz="1800" b="1" dirty="0"/>
                        <a:t>优先级相等</a:t>
                      </a:r>
                    </a:p>
                  </a:txBody>
                  <a:tcPr marL="91461" marR="91461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81">
                <a:tc>
                  <a:txBody>
                    <a:bodyPr/>
                    <a:lstStyle/>
                    <a:p>
                      <a:r>
                        <a:rPr lang="en-US" altLang="zh-CN" sz="1800" b="1" dirty="0"/>
                        <a:t>!=</a:t>
                      </a:r>
                      <a:endParaRPr lang="zh-CN" altLang="en-US" sz="1800" b="1" dirty="0"/>
                    </a:p>
                  </a:txBody>
                  <a:tcPr marL="91461" marR="91461" marT="45725" marB="45725"/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/>
                        <a:t>x!=y</a:t>
                      </a:r>
                      <a:endParaRPr lang="zh-CN" altLang="en-US" sz="1800" b="1" dirty="0"/>
                    </a:p>
                  </a:txBody>
                  <a:tcPr marL="91461" marR="91461" marT="45725" marB="45725"/>
                </a:tc>
                <a:tc>
                  <a:txBody>
                    <a:bodyPr/>
                    <a:lstStyle/>
                    <a:p>
                      <a:r>
                        <a:rPr lang="zh-CN" altLang="en-US" sz="1800" b="1" dirty="0"/>
                        <a:t>不等于</a:t>
                      </a:r>
                    </a:p>
                  </a:txBody>
                  <a:tcPr marL="91461" marR="91461" marT="45725" marB="45725"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5819" name="TextBox 6"/>
          <p:cNvSpPr txBox="1">
            <a:spLocks noChangeArrowheads="1"/>
          </p:cNvSpPr>
          <p:nvPr/>
        </p:nvSpPr>
        <p:spPr bwMode="auto">
          <a:xfrm>
            <a:off x="1983091" y="4813757"/>
            <a:ext cx="5546421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Char char="•"/>
            </a:pPr>
            <a:r>
              <a:rPr lang="zh-CN" altLang="en-US" b="1">
                <a:solidFill>
                  <a:srgbClr val="FF0000"/>
                </a:solidFill>
              </a:rPr>
              <a:t>算术运算符的优先级高于关系运算符</a:t>
            </a:r>
          </a:p>
        </p:txBody>
      </p:sp>
      <p:sp>
        <p:nvSpPr>
          <p:cNvPr id="11" name="标题 1"/>
          <p:cNvSpPr txBox="1">
            <a:spLocks noGrp="1"/>
          </p:cNvSpPr>
          <p:nvPr/>
        </p:nvSpPr>
        <p:spPr>
          <a:xfrm>
            <a:off x="8623935" y="266700"/>
            <a:ext cx="3575685" cy="521970"/>
          </a:xfrm>
          <a:noFill/>
        </p:spPr>
        <p:txBody>
          <a:bodyPr wrap="square" rtlCol="0">
            <a:spAutoFit/>
          </a:bodyPr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2.4 运算符与表达式</a:t>
            </a:r>
          </a:p>
        </p:txBody>
      </p:sp>
    </p:spTree>
  </p:cSld>
  <p:clrMapOvr>
    <a:masterClrMapping/>
  </p:clrMapOvr>
  <p:transition spd="slow" advTm="0"/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526415" y="829310"/>
            <a:ext cx="7263765" cy="603885"/>
          </a:xfrm>
        </p:spPr>
        <p:txBody>
          <a:bodyPr/>
          <a:lstStyle/>
          <a:p>
            <a:pPr algn="l">
              <a:defRPr/>
            </a:pPr>
            <a:r>
              <a:rPr lang="zh-CN" altLang="en-US" sz="3200" b="1" dirty="0"/>
              <a:t>例如：</a:t>
            </a:r>
          </a:p>
        </p:txBody>
      </p:sp>
      <p:pic>
        <p:nvPicPr>
          <p:cNvPr id="76805" name="Picture 2"/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63140" y="1286510"/>
            <a:ext cx="2737485" cy="365506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标题 1"/>
          <p:cNvSpPr txBox="1">
            <a:spLocks noGrp="1"/>
          </p:cNvSpPr>
          <p:nvPr/>
        </p:nvSpPr>
        <p:spPr>
          <a:xfrm>
            <a:off x="8623935" y="266700"/>
            <a:ext cx="3575685" cy="521970"/>
          </a:xfrm>
          <a:noFill/>
        </p:spPr>
        <p:txBody>
          <a:bodyPr wrap="square" rtlCol="0">
            <a:spAutoFit/>
          </a:bodyPr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2.4 运算符与表达式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0703" y="1053530"/>
            <a:ext cx="7848872" cy="48160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 advTm="0"/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0" y="788670"/>
            <a:ext cx="7287895" cy="775335"/>
          </a:xfrm>
        </p:spPr>
        <p:txBody>
          <a:bodyPr vert="horz" rtlCol="0">
            <a:noAutofit/>
          </a:bodyPr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>
              <a:defRPr/>
            </a:pP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3、逻辑运算符和逻辑表达式</a:t>
            </a:r>
          </a:p>
        </p:txBody>
      </p:sp>
      <p:graphicFrame>
        <p:nvGraphicFramePr>
          <p:cNvPr id="6" name="内容占位符 5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630470377"/>
              </p:ext>
            </p:extLst>
          </p:nvPr>
        </p:nvGraphicFramePr>
        <p:xfrm>
          <a:off x="1634679" y="1773610"/>
          <a:ext cx="8424936" cy="3568929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558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80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48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695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435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latin typeface="微软雅黑" pitchFamily="34" charset="-122"/>
                          <a:ea typeface="微软雅黑" pitchFamily="34" charset="-122"/>
                        </a:rPr>
                        <a:t>逻辑运算符</a:t>
                      </a:r>
                    </a:p>
                  </a:txBody>
                  <a:tcPr marL="91461" marR="91461" marT="45736" marB="4573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latin typeface="微软雅黑" pitchFamily="34" charset="-122"/>
                          <a:ea typeface="微软雅黑" pitchFamily="34" charset="-122"/>
                        </a:rPr>
                        <a:t>逻辑表达式</a:t>
                      </a:r>
                    </a:p>
                  </a:txBody>
                  <a:tcPr marL="91461" marR="91461" marT="45736" marB="4573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latin typeface="微软雅黑" pitchFamily="34" charset="-122"/>
                          <a:ea typeface="微软雅黑" pitchFamily="34" charset="-122"/>
                        </a:rPr>
                        <a:t>描述</a:t>
                      </a:r>
                    </a:p>
                  </a:txBody>
                  <a:tcPr marL="91461" marR="91461" marT="45736" marB="4573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latin typeface="微软雅黑" pitchFamily="34" charset="-122"/>
                          <a:ea typeface="微软雅黑" pitchFamily="34" charset="-122"/>
                        </a:rPr>
                        <a:t>优先级</a:t>
                      </a:r>
                    </a:p>
                  </a:txBody>
                  <a:tcPr marL="91461" marR="91461" marT="45736" marB="45736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7238">
                <a:tc>
                  <a:txBody>
                    <a:bodyPr/>
                    <a:lstStyle/>
                    <a:p>
                      <a:r>
                        <a:rPr lang="en-US" altLang="zh-CN" sz="2000" b="0" dirty="0">
                          <a:latin typeface="微软雅黑" pitchFamily="34" charset="-122"/>
                          <a:ea typeface="微软雅黑" pitchFamily="34" charset="-122"/>
                        </a:rPr>
                        <a:t>and</a:t>
                      </a:r>
                      <a:endParaRPr lang="zh-CN" altLang="en-US" sz="2000" b="0" dirty="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91461" marR="91461" marT="45736" marB="45736"/>
                </a:tc>
                <a:tc>
                  <a:txBody>
                    <a:bodyPr/>
                    <a:lstStyle/>
                    <a:p>
                      <a:r>
                        <a:rPr lang="en-US" altLang="zh-CN" sz="2000" b="0" dirty="0">
                          <a:latin typeface="微软雅黑" pitchFamily="34" charset="-122"/>
                          <a:ea typeface="微软雅黑" pitchFamily="34" charset="-122"/>
                        </a:rPr>
                        <a:t>x and y</a:t>
                      </a:r>
                      <a:endParaRPr lang="zh-CN" altLang="en-US" sz="2000" b="0" dirty="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91461" marR="91461" marT="45736" marB="45736"/>
                </a:tc>
                <a:tc>
                  <a:txBody>
                    <a:bodyPr/>
                    <a:lstStyle/>
                    <a:p>
                      <a:r>
                        <a:rPr lang="zh-CN" altLang="en-US" sz="2000" b="0" dirty="0">
                          <a:latin typeface="微软雅黑" pitchFamily="34" charset="-122"/>
                          <a:ea typeface="微软雅黑" pitchFamily="34" charset="-122"/>
                        </a:rPr>
                        <a:t>逻辑与，当</a:t>
                      </a:r>
                      <a:r>
                        <a:rPr lang="en-US" altLang="zh-CN" sz="2000" b="0" dirty="0">
                          <a:latin typeface="微软雅黑" pitchFamily="34" charset="-122"/>
                          <a:ea typeface="微软雅黑" pitchFamily="34" charset="-122"/>
                        </a:rPr>
                        <a:t>x</a:t>
                      </a:r>
                      <a:r>
                        <a:rPr lang="zh-CN" altLang="en-US" sz="2000" b="0" dirty="0">
                          <a:latin typeface="微软雅黑" pitchFamily="34" charset="-122"/>
                          <a:ea typeface="微软雅黑" pitchFamily="34" charset="-122"/>
                        </a:rPr>
                        <a:t>为</a:t>
                      </a:r>
                      <a:r>
                        <a:rPr lang="en-US" altLang="zh-CN" sz="2000" b="0" dirty="0">
                          <a:latin typeface="微软雅黑" pitchFamily="34" charset="-122"/>
                          <a:ea typeface="微软雅黑" pitchFamily="34" charset="-122"/>
                        </a:rPr>
                        <a:t>True</a:t>
                      </a:r>
                      <a:r>
                        <a:rPr lang="zh-CN" altLang="en-US" sz="2000" b="0" dirty="0">
                          <a:latin typeface="微软雅黑" pitchFamily="34" charset="-122"/>
                          <a:ea typeface="微软雅黑" pitchFamily="34" charset="-122"/>
                        </a:rPr>
                        <a:t>时，才计算</a:t>
                      </a:r>
                      <a:r>
                        <a:rPr lang="en-US" altLang="zh-CN" sz="2000" b="0" dirty="0">
                          <a:latin typeface="微软雅黑" pitchFamily="34" charset="-122"/>
                          <a:ea typeface="微软雅黑" pitchFamily="34" charset="-122"/>
                        </a:rPr>
                        <a:t>y</a:t>
                      </a:r>
                      <a:endParaRPr lang="zh-CN" altLang="en-US" sz="2000" b="0" dirty="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91461" marR="91461" marT="45736" marB="45736"/>
                </a:tc>
                <a:tc rowSpan="2">
                  <a:txBody>
                    <a:bodyPr/>
                    <a:lstStyle/>
                    <a:p>
                      <a:r>
                        <a:rPr lang="zh-CN" altLang="en-US" sz="2000" b="0" dirty="0">
                          <a:latin typeface="微软雅黑" pitchFamily="34" charset="-122"/>
                          <a:ea typeface="微软雅黑" pitchFamily="34" charset="-122"/>
                        </a:rPr>
                        <a:t>优先级相等</a:t>
                      </a:r>
                    </a:p>
                  </a:txBody>
                  <a:tcPr marL="91461" marR="91461" marT="45736" marB="45736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7238">
                <a:tc>
                  <a:txBody>
                    <a:bodyPr/>
                    <a:lstStyle/>
                    <a:p>
                      <a:r>
                        <a:rPr lang="en-US" altLang="zh-CN" sz="2000" b="0" dirty="0">
                          <a:latin typeface="微软雅黑" pitchFamily="34" charset="-122"/>
                          <a:ea typeface="微软雅黑" pitchFamily="34" charset="-122"/>
                        </a:rPr>
                        <a:t>or</a:t>
                      </a:r>
                      <a:endParaRPr lang="zh-CN" altLang="en-US" sz="2000" b="0" dirty="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91461" marR="91461" marT="45736" marB="45736"/>
                </a:tc>
                <a:tc>
                  <a:txBody>
                    <a:bodyPr/>
                    <a:lstStyle/>
                    <a:p>
                      <a:r>
                        <a:rPr lang="en-US" altLang="zh-CN" sz="2000" b="0" dirty="0">
                          <a:latin typeface="微软雅黑" pitchFamily="34" charset="-122"/>
                          <a:ea typeface="微软雅黑" pitchFamily="34" charset="-122"/>
                        </a:rPr>
                        <a:t>x or y</a:t>
                      </a:r>
                      <a:endParaRPr lang="zh-CN" altLang="en-US" sz="2000" b="0" dirty="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91461" marR="91461" marT="45736" marB="45736"/>
                </a:tc>
                <a:tc>
                  <a:txBody>
                    <a:bodyPr/>
                    <a:lstStyle/>
                    <a:p>
                      <a:r>
                        <a:rPr lang="zh-CN" altLang="en-US" sz="2000" b="0" dirty="0">
                          <a:latin typeface="微软雅黑" pitchFamily="34" charset="-122"/>
                          <a:ea typeface="微软雅黑" pitchFamily="34" charset="-122"/>
                        </a:rPr>
                        <a:t>逻辑或，当</a:t>
                      </a:r>
                      <a:r>
                        <a:rPr lang="en-US" altLang="zh-CN" sz="2000" b="0" dirty="0">
                          <a:latin typeface="微软雅黑" pitchFamily="34" charset="-122"/>
                          <a:ea typeface="微软雅黑" pitchFamily="34" charset="-122"/>
                        </a:rPr>
                        <a:t>x</a:t>
                      </a:r>
                      <a:r>
                        <a:rPr lang="zh-CN" altLang="en-US" sz="2000" b="0" dirty="0">
                          <a:latin typeface="微软雅黑" pitchFamily="34" charset="-122"/>
                          <a:ea typeface="微软雅黑" pitchFamily="34" charset="-122"/>
                        </a:rPr>
                        <a:t>为</a:t>
                      </a:r>
                      <a:r>
                        <a:rPr lang="en-US" altLang="zh-CN" sz="2000" b="0" dirty="0">
                          <a:latin typeface="微软雅黑" pitchFamily="34" charset="-122"/>
                          <a:ea typeface="微软雅黑" pitchFamily="34" charset="-122"/>
                        </a:rPr>
                        <a:t>False</a:t>
                      </a:r>
                      <a:r>
                        <a:rPr lang="zh-CN" altLang="en-US" sz="2000" b="0" dirty="0">
                          <a:latin typeface="微软雅黑" pitchFamily="34" charset="-122"/>
                          <a:ea typeface="微软雅黑" pitchFamily="34" charset="-122"/>
                        </a:rPr>
                        <a:t>时，才计算</a:t>
                      </a:r>
                      <a:r>
                        <a:rPr lang="en-US" altLang="zh-CN" sz="2000" b="0" dirty="0">
                          <a:latin typeface="微软雅黑" pitchFamily="34" charset="-122"/>
                          <a:ea typeface="微软雅黑" pitchFamily="34" charset="-122"/>
                        </a:rPr>
                        <a:t>y</a:t>
                      </a:r>
                      <a:endParaRPr lang="zh-CN" altLang="en-US" sz="2000" b="0" dirty="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91461" marR="91461" marT="45736" marB="45736"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4512">
                <a:tc>
                  <a:txBody>
                    <a:bodyPr/>
                    <a:lstStyle/>
                    <a:p>
                      <a:r>
                        <a:rPr lang="en-US" altLang="zh-CN" sz="2000" b="0" dirty="0">
                          <a:latin typeface="微软雅黑" pitchFamily="34" charset="-122"/>
                          <a:ea typeface="微软雅黑" pitchFamily="34" charset="-122"/>
                        </a:rPr>
                        <a:t>not</a:t>
                      </a:r>
                      <a:endParaRPr lang="zh-CN" altLang="en-US" sz="2000" b="0" dirty="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91461" marR="91461" marT="45736" marB="45736"/>
                </a:tc>
                <a:tc>
                  <a:txBody>
                    <a:bodyPr/>
                    <a:lstStyle/>
                    <a:p>
                      <a:r>
                        <a:rPr lang="en-US" altLang="zh-CN" sz="2000" b="0" dirty="0">
                          <a:latin typeface="微软雅黑" pitchFamily="34" charset="-122"/>
                          <a:ea typeface="微软雅黑" pitchFamily="34" charset="-122"/>
                        </a:rPr>
                        <a:t>not x</a:t>
                      </a:r>
                      <a:endParaRPr lang="zh-CN" altLang="en-US" sz="2000" b="0" dirty="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91461" marR="91461" marT="45736" marB="45736"/>
                </a:tc>
                <a:tc>
                  <a:txBody>
                    <a:bodyPr/>
                    <a:lstStyle/>
                    <a:p>
                      <a:r>
                        <a:rPr lang="zh-CN" altLang="en-US" sz="2000" b="0" dirty="0">
                          <a:latin typeface="微软雅黑" pitchFamily="34" charset="-122"/>
                          <a:ea typeface="微软雅黑" pitchFamily="34" charset="-122"/>
                        </a:rPr>
                        <a:t>逻辑非</a:t>
                      </a:r>
                    </a:p>
                  </a:txBody>
                  <a:tcPr marL="91461" marR="91461" marT="45736" marB="45736"/>
                </a:tc>
                <a:tc>
                  <a:txBody>
                    <a:bodyPr/>
                    <a:lstStyle/>
                    <a:p>
                      <a:r>
                        <a:rPr lang="zh-CN" altLang="en-US" sz="2000" b="0" dirty="0">
                          <a:latin typeface="微软雅黑" pitchFamily="34" charset="-122"/>
                          <a:ea typeface="微软雅黑" pitchFamily="34" charset="-122"/>
                        </a:rPr>
                        <a:t>优先级大于</a:t>
                      </a:r>
                      <a:r>
                        <a:rPr lang="en-US" altLang="zh-CN" sz="2000" b="0" dirty="0">
                          <a:latin typeface="微软雅黑" pitchFamily="34" charset="-122"/>
                          <a:ea typeface="微软雅黑" pitchFamily="34" charset="-122"/>
                        </a:rPr>
                        <a:t>and</a:t>
                      </a:r>
                      <a:r>
                        <a:rPr lang="zh-CN" altLang="en-US" sz="2000" b="0" baseline="0" dirty="0">
                          <a:latin typeface="微软雅黑" pitchFamily="34" charset="-122"/>
                          <a:ea typeface="微软雅黑" pitchFamily="34" charset="-122"/>
                        </a:rPr>
                        <a:t>和</a:t>
                      </a:r>
                      <a:r>
                        <a:rPr lang="en-US" altLang="zh-CN" sz="2000" b="0" baseline="0" dirty="0">
                          <a:latin typeface="微软雅黑" pitchFamily="34" charset="-122"/>
                          <a:ea typeface="微软雅黑" pitchFamily="34" charset="-122"/>
                        </a:rPr>
                        <a:t>or</a:t>
                      </a:r>
                      <a:endParaRPr lang="zh-CN" altLang="en-US" sz="2000" b="0" dirty="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91461" marR="91461" marT="45736" marB="45736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4512">
                <a:tc>
                  <a:txBody>
                    <a:bodyPr/>
                    <a:lstStyle/>
                    <a:p>
                      <a:r>
                        <a:rPr lang="en-US" altLang="zh-CN" sz="2000" b="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==</a:t>
                      </a:r>
                      <a:endParaRPr lang="zh-CN" altLang="en-US" sz="2000" b="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91461" marR="91461" marT="45736" marB="45736"/>
                </a:tc>
                <a:tc>
                  <a:txBody>
                    <a:bodyPr/>
                    <a:lstStyle/>
                    <a:p>
                      <a:r>
                        <a:rPr lang="en-US" altLang="zh-CN" sz="2000" b="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x==y</a:t>
                      </a:r>
                      <a:endParaRPr lang="zh-CN" altLang="en-US" sz="2000" b="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91461" marR="91461" marT="45736" marB="45736"/>
                </a:tc>
                <a:tc>
                  <a:txBody>
                    <a:bodyPr/>
                    <a:lstStyle/>
                    <a:p>
                      <a:r>
                        <a:rPr lang="zh-CN" altLang="en-US" sz="2000" b="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逻辑相等</a:t>
                      </a:r>
                    </a:p>
                  </a:txBody>
                  <a:tcPr marL="91461" marR="91461" marT="45736" marB="45736"/>
                </a:tc>
                <a:tc rowSpan="2">
                  <a:txBody>
                    <a:bodyPr/>
                    <a:lstStyle/>
                    <a:p>
                      <a:r>
                        <a:rPr lang="zh-CN" altLang="en-US" sz="2000" b="0" dirty="0">
                          <a:latin typeface="微软雅黑" pitchFamily="34" charset="-122"/>
                          <a:ea typeface="微软雅黑" pitchFamily="34" charset="-122"/>
                        </a:rPr>
                        <a:t>优先级相等，优先级大于</a:t>
                      </a:r>
                      <a:r>
                        <a:rPr lang="en-US" altLang="zh-CN" sz="2000" b="0" dirty="0">
                          <a:latin typeface="微软雅黑" pitchFamily="34" charset="-122"/>
                          <a:ea typeface="微软雅黑" pitchFamily="34" charset="-122"/>
                        </a:rPr>
                        <a:t>not</a:t>
                      </a:r>
                      <a:endParaRPr lang="zh-CN" altLang="en-US" sz="2000" b="0" dirty="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91461" marR="91461" marT="45736" marB="45736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4512">
                <a:tc>
                  <a:txBody>
                    <a:bodyPr/>
                    <a:lstStyle/>
                    <a:p>
                      <a:r>
                        <a:rPr lang="en-US" altLang="zh-CN" sz="2000" b="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!=</a:t>
                      </a:r>
                      <a:endParaRPr lang="zh-CN" altLang="en-US" sz="2000" b="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91461" marR="91461" marT="45736" marB="45736"/>
                </a:tc>
                <a:tc>
                  <a:txBody>
                    <a:bodyPr/>
                    <a:lstStyle/>
                    <a:p>
                      <a:r>
                        <a:rPr lang="en-US" altLang="zh-CN" sz="2000" b="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x!=y</a:t>
                      </a:r>
                      <a:endParaRPr lang="zh-CN" altLang="en-US" sz="2000" b="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91461" marR="91461" marT="45736" marB="45736"/>
                </a:tc>
                <a:tc>
                  <a:txBody>
                    <a:bodyPr/>
                    <a:lstStyle/>
                    <a:p>
                      <a:r>
                        <a:rPr lang="zh-CN" altLang="en-US" sz="2000" b="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逻辑不等</a:t>
                      </a:r>
                    </a:p>
                  </a:txBody>
                  <a:tcPr marL="91461" marR="91461" marT="45736" marB="45736"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标题 1"/>
          <p:cNvSpPr txBox="1">
            <a:spLocks noGrp="1"/>
          </p:cNvSpPr>
          <p:nvPr/>
        </p:nvSpPr>
        <p:spPr>
          <a:xfrm>
            <a:off x="8623935" y="266700"/>
            <a:ext cx="3575685" cy="521970"/>
          </a:xfrm>
          <a:noFill/>
        </p:spPr>
        <p:txBody>
          <a:bodyPr wrap="square" rtlCol="0">
            <a:spAutoFit/>
          </a:bodyPr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2.4 运算符与表达式</a:t>
            </a:r>
          </a:p>
        </p:txBody>
      </p:sp>
    </p:spTree>
  </p:cSld>
  <p:clrMapOvr>
    <a:masterClrMapping/>
  </p:clrMapOvr>
  <p:transition spd="slow" advTm="0"/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/>
        </p:nvSpPr>
        <p:spPr>
          <a:xfrm>
            <a:off x="0" y="788670"/>
            <a:ext cx="7287895" cy="775335"/>
          </a:xfrm>
        </p:spPr>
        <p:txBody>
          <a:bodyPr vert="horz" rtlCol="0">
            <a:noAutofit/>
          </a:bodyPr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>
              <a:defRPr/>
            </a:pP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4、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身份运算符</a:t>
            </a:r>
          </a:p>
        </p:txBody>
      </p:sp>
      <p:sp>
        <p:nvSpPr>
          <p:cNvPr id="11" name="标题 1"/>
          <p:cNvSpPr txBox="1">
            <a:spLocks noGrp="1"/>
          </p:cNvSpPr>
          <p:nvPr/>
        </p:nvSpPr>
        <p:spPr>
          <a:xfrm>
            <a:off x="8623935" y="266700"/>
            <a:ext cx="3575685" cy="521970"/>
          </a:xfrm>
          <a:noFill/>
        </p:spPr>
        <p:txBody>
          <a:bodyPr wrap="square" rtlCol="0">
            <a:spAutoFit/>
          </a:bodyPr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2.4 运算符与表达式</a:t>
            </a:r>
          </a:p>
        </p:txBody>
      </p:sp>
      <p:graphicFrame>
        <p:nvGraphicFramePr>
          <p:cNvPr id="5" name="表格 4"/>
          <p:cNvGraphicFramePr/>
          <p:nvPr/>
        </p:nvGraphicFramePr>
        <p:xfrm>
          <a:off x="833755" y="1905635"/>
          <a:ext cx="10753090" cy="304800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5182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83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6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05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运算符	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	描述	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	实例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042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is 是判断两个标识符是不是引用自一个对象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x is y,  如果引用的是同一个对象则返回 True，否则返回 False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042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is not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is not 是判断两个标识符是不是引用自不同对象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x is not y ，如果引用的不是同一个对象则返回结果 True，否则返回 False。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 advTm="0"/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/>
        </p:nvSpPr>
        <p:spPr>
          <a:xfrm>
            <a:off x="0" y="788670"/>
            <a:ext cx="7287895" cy="775335"/>
          </a:xfrm>
        </p:spPr>
        <p:txBody>
          <a:bodyPr vert="horz" rtlCol="0">
            <a:noAutofit/>
          </a:bodyPr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>
              <a:defRPr/>
            </a:pP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4、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身份运算符</a:t>
            </a:r>
          </a:p>
        </p:txBody>
      </p:sp>
      <p:sp>
        <p:nvSpPr>
          <p:cNvPr id="11" name="标题 1"/>
          <p:cNvSpPr txBox="1">
            <a:spLocks noGrp="1"/>
          </p:cNvSpPr>
          <p:nvPr/>
        </p:nvSpPr>
        <p:spPr>
          <a:xfrm>
            <a:off x="8623935" y="266700"/>
            <a:ext cx="3575685" cy="521970"/>
          </a:xfrm>
          <a:noFill/>
        </p:spPr>
        <p:txBody>
          <a:bodyPr wrap="square" rtlCol="0">
            <a:spAutoFit/>
          </a:bodyPr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2.4 运算符与表达式</a:t>
            </a:r>
          </a:p>
        </p:txBody>
      </p:sp>
      <p:graphicFrame>
        <p:nvGraphicFramePr>
          <p:cNvPr id="4" name="对象 3"/>
          <p:cNvGraphicFramePr/>
          <p:nvPr/>
        </p:nvGraphicFramePr>
        <p:xfrm>
          <a:off x="598805" y="1983105"/>
          <a:ext cx="4496435" cy="36410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3009900" imgH="2181225" progId="Paint.Picture">
                  <p:embed/>
                </p:oleObj>
              </mc:Choice>
              <mc:Fallback>
                <p:oleObj r:id="rId2" imgW="3009900" imgH="2181225" progId="Paint.Picture">
                  <p:embed/>
                  <p:pic>
                    <p:nvPicPr>
                      <p:cNvPr id="0" name="图片 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98805" y="1983105"/>
                        <a:ext cx="4496435" cy="36410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/>
          <p:nvPr/>
        </p:nvGraphicFramePr>
        <p:xfrm>
          <a:off x="6006465" y="2149475"/>
          <a:ext cx="4988560" cy="33077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743200" imgH="1924050" progId="Paint.Picture">
                  <p:embed/>
                </p:oleObj>
              </mc:Choice>
              <mc:Fallback>
                <p:oleObj r:id="rId2" imgW="2743200" imgH="1924050" progId="Paint.Picture">
                  <p:embed/>
                  <p:pic>
                    <p:nvPicPr>
                      <p:cNvPr id="0" name="图片 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006465" y="2149475"/>
                        <a:ext cx="4988560" cy="33077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 advTm="0"/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/>
        </p:nvSpPr>
        <p:spPr>
          <a:xfrm>
            <a:off x="0" y="788670"/>
            <a:ext cx="7287895" cy="775335"/>
          </a:xfrm>
        </p:spPr>
        <p:txBody>
          <a:bodyPr vert="horz" rtlCol="0">
            <a:noAutofit/>
          </a:bodyPr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>
              <a:defRPr/>
            </a:pP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5、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成员运算符</a:t>
            </a:r>
          </a:p>
        </p:txBody>
      </p:sp>
      <p:sp>
        <p:nvSpPr>
          <p:cNvPr id="11" name="标题 1"/>
          <p:cNvSpPr txBox="1">
            <a:spLocks noGrp="1"/>
          </p:cNvSpPr>
          <p:nvPr/>
        </p:nvSpPr>
        <p:spPr>
          <a:xfrm>
            <a:off x="8623935" y="266700"/>
            <a:ext cx="3575685" cy="521970"/>
          </a:xfrm>
          <a:noFill/>
        </p:spPr>
        <p:txBody>
          <a:bodyPr wrap="square" rtlCol="0">
            <a:spAutoFit/>
          </a:bodyPr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2.4 运算符与表达式</a:t>
            </a:r>
          </a:p>
        </p:txBody>
      </p:sp>
      <p:graphicFrame>
        <p:nvGraphicFramePr>
          <p:cNvPr id="5" name="表格 4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27798973"/>
              </p:ext>
            </p:extLst>
          </p:nvPr>
        </p:nvGraphicFramePr>
        <p:xfrm>
          <a:off x="833755" y="1905635"/>
          <a:ext cx="10522005" cy="287909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4856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46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900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05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运算符	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	描述	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	实例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04265">
                <a:tc>
                  <a:txBody>
                    <a:bodyPr/>
                    <a:lstStyle/>
                    <a:p>
                      <a:pPr>
                        <a:lnSpc>
                          <a:spcPts val="3000"/>
                        </a:lnSpc>
                        <a:buNone/>
                      </a:pPr>
                      <a:r>
                        <a:rPr lang="en-US" altLang="zh-CN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ts val="3000"/>
                        </a:lnSpc>
                        <a:buNone/>
                      </a:pPr>
                      <a:r>
                        <a:rPr lang="zh-CN" altLang="en-US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如果在指定的序列中找到值返回 True，否则返回 False。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ts val="3000"/>
                        </a:lnSpc>
                        <a:buNone/>
                      </a:pPr>
                      <a:r>
                        <a:rPr lang="zh-CN" altLang="en-US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x 在 y 序列中 , 如果 x 在 y 序列中返回 True。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04265">
                <a:tc>
                  <a:txBody>
                    <a:bodyPr/>
                    <a:lstStyle/>
                    <a:p>
                      <a:pPr>
                        <a:lnSpc>
                          <a:spcPts val="3000"/>
                        </a:lnSpc>
                        <a:buNone/>
                      </a:pPr>
                      <a:r>
                        <a:rPr lang="en-US" altLang="zh-CN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not 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ts val="3000"/>
                        </a:lnSpc>
                        <a:buNone/>
                      </a:pPr>
                      <a:r>
                        <a:rPr lang="zh-CN" altLang="en-US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如果在指定的序列中没有找到值返回 True，否则返回 False。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ts val="3000"/>
                        </a:lnSpc>
                        <a:buNone/>
                      </a:pPr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x 不在 y 序列中 , 如果 x 不在 y 序列中返回 True。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 advTm="0"/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/>
        </p:nvSpPr>
        <p:spPr>
          <a:xfrm>
            <a:off x="0" y="788670"/>
            <a:ext cx="7287895" cy="775335"/>
          </a:xfrm>
        </p:spPr>
        <p:txBody>
          <a:bodyPr vert="horz" rtlCol="0">
            <a:noAutofit/>
          </a:bodyPr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>
              <a:defRPr/>
            </a:pP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5、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成员运算符</a:t>
            </a:r>
          </a:p>
        </p:txBody>
      </p:sp>
      <p:sp>
        <p:nvSpPr>
          <p:cNvPr id="11" name="标题 1"/>
          <p:cNvSpPr txBox="1">
            <a:spLocks noGrp="1"/>
          </p:cNvSpPr>
          <p:nvPr/>
        </p:nvSpPr>
        <p:spPr>
          <a:xfrm>
            <a:off x="8623935" y="266700"/>
            <a:ext cx="3575685" cy="521970"/>
          </a:xfrm>
          <a:noFill/>
        </p:spPr>
        <p:txBody>
          <a:bodyPr wrap="square" rtlCol="0">
            <a:spAutoFit/>
          </a:bodyPr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2.4 运算符与表达式</a:t>
            </a:r>
          </a:p>
        </p:txBody>
      </p:sp>
      <p:graphicFrame>
        <p:nvGraphicFramePr>
          <p:cNvPr id="2" name="对象 1"/>
          <p:cNvGraphicFramePr/>
          <p:nvPr/>
        </p:nvGraphicFramePr>
        <p:xfrm>
          <a:off x="253365" y="1678305"/>
          <a:ext cx="6050280" cy="42932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3486150" imgH="2400300" progId="Paint.Picture">
                  <p:embed/>
                </p:oleObj>
              </mc:Choice>
              <mc:Fallback>
                <p:oleObj r:id="rId2" imgW="3486150" imgH="2400300" progId="Paint.Picture">
                  <p:embed/>
                  <p:pic>
                    <p:nvPicPr>
                      <p:cNvPr id="0" name="图片 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53365" y="1678305"/>
                        <a:ext cx="6050280" cy="42932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/>
          <p:nvPr/>
        </p:nvGraphicFramePr>
        <p:xfrm>
          <a:off x="6785610" y="2442845"/>
          <a:ext cx="4738370" cy="27635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3486150" imgH="1162050" progId="Paint.Picture">
                  <p:embed/>
                </p:oleObj>
              </mc:Choice>
              <mc:Fallback>
                <p:oleObj r:id="rId2" imgW="3486150" imgH="1162050" progId="Paint.Picture">
                  <p:embed/>
                  <p:pic>
                    <p:nvPicPr>
                      <p:cNvPr id="0" name="图片 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785610" y="2442845"/>
                        <a:ext cx="4738370" cy="27635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 advTm="0"/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0" y="1112520"/>
            <a:ext cx="6846570" cy="615315"/>
          </a:xfrm>
        </p:spPr>
        <p:txBody>
          <a:bodyPr vert="horz" rtlCol="0">
            <a:noAutofit/>
          </a:bodyPr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>
              <a:defRPr/>
            </a:pP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6、运算符的优先级</a:t>
            </a:r>
          </a:p>
        </p:txBody>
      </p:sp>
      <p:sp>
        <p:nvSpPr>
          <p:cNvPr id="11" name="标题 1"/>
          <p:cNvSpPr txBox="1">
            <a:spLocks noGrp="1"/>
          </p:cNvSpPr>
          <p:nvPr/>
        </p:nvSpPr>
        <p:spPr>
          <a:xfrm>
            <a:off x="8623935" y="266700"/>
            <a:ext cx="3575685" cy="521970"/>
          </a:xfrm>
          <a:noFill/>
        </p:spPr>
        <p:txBody>
          <a:bodyPr wrap="square" rtlCol="0">
            <a:spAutoFit/>
          </a:bodyPr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2.4 运算符与表达式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rcRect l="17509" t="14246" r="18270" b="11859"/>
          <a:stretch>
            <a:fillRect/>
          </a:stretch>
        </p:blipFill>
        <p:spPr>
          <a:xfrm>
            <a:off x="3564255" y="916305"/>
            <a:ext cx="8310880" cy="5377180"/>
          </a:xfrm>
          <a:prstGeom prst="rect">
            <a:avLst/>
          </a:prstGeom>
        </p:spPr>
      </p:pic>
    </p:spTree>
  </p:cSld>
  <p:clrMapOvr>
    <a:masterClrMapping/>
  </p:clrMapOvr>
  <p:transition spd="slow" advTm="0"/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/>
        </p:nvSpPr>
        <p:spPr>
          <a:xfrm>
            <a:off x="380365" y="913765"/>
            <a:ext cx="10094595" cy="669925"/>
          </a:xfrm>
        </p:spPr>
        <p:txBody>
          <a:bodyPr/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输入与输出</a:t>
            </a:r>
          </a:p>
        </p:txBody>
      </p:sp>
      <p:sp>
        <p:nvSpPr>
          <p:cNvPr id="5" name="Content Placeholder 2"/>
          <p:cNvSpPr>
            <a:spLocks noGrp="1"/>
          </p:cNvSpPr>
          <p:nvPr/>
        </p:nvSpPr>
        <p:spPr>
          <a:xfrm>
            <a:off x="558165" y="1583690"/>
            <a:ext cx="10515600" cy="4639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190000"/>
              </a:lnSpc>
              <a:spcBef>
                <a:spcPts val="0"/>
              </a:spcBef>
            </a:pPr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input()</a:t>
            </a:r>
            <a:r>
              <a:rPr lang="en-US" sz="24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和print</a:t>
            </a:r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()是Python的基本输入输出函数，前者用来接收用户的键盘输入，后者用来把数据以指定的格式输出到标准控制台或指定的文件对象。不论用户输入什么内容，</a:t>
            </a:r>
            <a:r>
              <a:rPr 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input()</a:t>
            </a:r>
            <a:r>
              <a:rPr lang="en-US" sz="24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一律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返回</a:t>
            </a:r>
            <a:r>
              <a:rPr lang="en-US" sz="24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字符串对待</a:t>
            </a:r>
            <a:r>
              <a:rPr lang="en-US" sz="24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，必要的时候可以使用内置函数int</a:t>
            </a:r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()、float()</a:t>
            </a:r>
            <a:r>
              <a:rPr lang="en-US" sz="24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或eval</a:t>
            </a:r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()</a:t>
            </a:r>
            <a:r>
              <a:rPr lang="en-US" sz="24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对用户输入的内容进行类型转换</a:t>
            </a:r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</a:p>
          <a:p>
            <a:pPr fontAlgn="auto">
              <a:lnSpc>
                <a:spcPct val="190000"/>
              </a:lnSpc>
              <a:spcBef>
                <a:spcPts val="0"/>
              </a:spcBef>
            </a:pPr>
            <a:r>
              <a:rPr lang="en-US" altLang="zh-CN" sz="2400" dirty="0" err="1">
                <a:solidFill>
                  <a:schemeClr val="accent4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eval</a:t>
            </a:r>
            <a:r>
              <a:rPr lang="en-US" altLang="zh-CN" sz="2400" dirty="0">
                <a:solidFill>
                  <a:schemeClr val="accent4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()</a:t>
            </a:r>
            <a:r>
              <a:rPr lang="zh-CN" altLang="en-US" sz="2400" dirty="0">
                <a:solidFill>
                  <a:schemeClr val="accent4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函数用来执行一个字符串表达式</a:t>
            </a:r>
            <a:r>
              <a:rPr lang="en-US" altLang="zh-CN" sz="2400" dirty="0">
                <a:solidFill>
                  <a:schemeClr val="accent4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,</a:t>
            </a:r>
            <a:r>
              <a:rPr lang="zh-CN" altLang="en-US" sz="2400" dirty="0">
                <a:solidFill>
                  <a:schemeClr val="accent4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并返回表达式的值</a:t>
            </a:r>
            <a:endParaRPr lang="en-US" sz="2400" dirty="0">
              <a:solidFill>
                <a:schemeClr val="accent4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" name="标题 1"/>
          <p:cNvSpPr txBox="1">
            <a:spLocks noGrp="1"/>
          </p:cNvSpPr>
          <p:nvPr/>
        </p:nvSpPr>
        <p:spPr>
          <a:xfrm>
            <a:off x="9492615" y="250825"/>
            <a:ext cx="1054100" cy="521970"/>
          </a:xfrm>
          <a:noFill/>
        </p:spPr>
        <p:txBody>
          <a:bodyPr wrap="square" rtlCol="0">
            <a:spAutoFit/>
          </a:bodyPr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补充</a:t>
            </a:r>
          </a:p>
        </p:txBody>
      </p:sp>
    </p:spTree>
  </p:cSld>
  <p:clrMapOvr>
    <a:masterClrMapping/>
  </p:clrMapOvr>
  <p:transition spd="slow" advTm="0"/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/>
        </p:nvSpPr>
        <p:spPr>
          <a:xfrm>
            <a:off x="380365" y="913765"/>
            <a:ext cx="10094595" cy="669925"/>
          </a:xfrm>
        </p:spPr>
        <p:txBody>
          <a:bodyPr/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输入与输出</a:t>
            </a:r>
          </a:p>
        </p:txBody>
      </p:sp>
      <p:sp>
        <p:nvSpPr>
          <p:cNvPr id="11" name="标题 1"/>
          <p:cNvSpPr txBox="1">
            <a:spLocks noGrp="1"/>
          </p:cNvSpPr>
          <p:nvPr/>
        </p:nvSpPr>
        <p:spPr>
          <a:xfrm>
            <a:off x="9492615" y="250825"/>
            <a:ext cx="1054100" cy="521970"/>
          </a:xfrm>
          <a:noFill/>
        </p:spPr>
        <p:txBody>
          <a:bodyPr wrap="square" rtlCol="0">
            <a:spAutoFit/>
          </a:bodyPr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补充</a:t>
            </a:r>
          </a:p>
        </p:txBody>
      </p:sp>
      <p:sp>
        <p:nvSpPr>
          <p:cNvPr id="2" name="Content Placeholder 2"/>
          <p:cNvSpPr>
            <a:spLocks noGrp="1"/>
          </p:cNvSpPr>
          <p:nvPr/>
        </p:nvSpPr>
        <p:spPr>
          <a:xfrm>
            <a:off x="735965" y="1433830"/>
            <a:ext cx="10515600" cy="51485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1">
                <a:latin typeface="Consolas" panose="020B0609020204030204" charset="0"/>
              </a:rPr>
              <a:t>&gt;&gt;&gt; x = input('Please input: ')</a:t>
            </a: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1">
                <a:solidFill>
                  <a:srgbClr val="00B0F0"/>
                </a:solidFill>
                <a:latin typeface="Consolas" panose="020B0609020204030204" charset="0"/>
              </a:rPr>
              <a:t>Please input: 345</a:t>
            </a: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1">
                <a:latin typeface="Consolas" panose="020B0609020204030204" charset="0"/>
              </a:rPr>
              <a:t>&gt;&gt;&gt; x</a:t>
            </a: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1">
                <a:solidFill>
                  <a:srgbClr val="00B0F0"/>
                </a:solidFill>
                <a:latin typeface="Consolas" panose="020B0609020204030204" charset="0"/>
              </a:rPr>
              <a:t>'345'</a:t>
            </a: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1">
                <a:latin typeface="Consolas" panose="020B0609020204030204" charset="0"/>
              </a:rPr>
              <a:t>&gt;&gt;&gt; type(x)                     #把用户的输入作为字符串对待</a:t>
            </a: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1">
                <a:solidFill>
                  <a:srgbClr val="00B0F0"/>
                </a:solidFill>
                <a:latin typeface="Consolas" panose="020B0609020204030204" charset="0"/>
              </a:rPr>
              <a:t>&lt;class 'str'&gt;</a:t>
            </a: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1">
                <a:latin typeface="Consolas" panose="020B0609020204030204" charset="0"/>
              </a:rPr>
              <a:t>&gt;&gt;&gt; int(x)                      #转换为整数</a:t>
            </a: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1">
                <a:solidFill>
                  <a:srgbClr val="00B0F0"/>
                </a:solidFill>
                <a:latin typeface="Consolas" panose="020B0609020204030204" charset="0"/>
              </a:rPr>
              <a:t>345</a:t>
            </a: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1">
                <a:latin typeface="Consolas" panose="020B0609020204030204" charset="0"/>
              </a:rPr>
              <a:t>&gt;&gt;&gt; eval(x)                     #对字符串求值，或类型转换</a:t>
            </a: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1">
                <a:solidFill>
                  <a:srgbClr val="00B0F0"/>
                </a:solidFill>
                <a:latin typeface="Consolas" panose="020B0609020204030204" charset="0"/>
              </a:rPr>
              <a:t>345</a:t>
            </a: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1">
                <a:latin typeface="Consolas" panose="020B0609020204030204" charset="0"/>
              </a:rPr>
              <a:t>&gt;&gt;&gt; x = input('Please input: ')</a:t>
            </a: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1">
                <a:solidFill>
                  <a:srgbClr val="00B0F0"/>
                </a:solidFill>
                <a:latin typeface="Consolas" panose="020B0609020204030204" charset="0"/>
              </a:rPr>
              <a:t>Please input: [1, 2, 3]</a:t>
            </a: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1">
                <a:latin typeface="Consolas" panose="020B0609020204030204" charset="0"/>
              </a:rPr>
              <a:t>&gt;&gt;&gt; x</a:t>
            </a: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1">
                <a:solidFill>
                  <a:srgbClr val="00B0F0"/>
                </a:solidFill>
                <a:latin typeface="Consolas" panose="020B0609020204030204" charset="0"/>
              </a:rPr>
              <a:t>'[1, 2, 3]'</a:t>
            </a: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1">
                <a:latin typeface="Consolas" panose="020B0609020204030204" charset="0"/>
              </a:rPr>
              <a:t>&gt;&gt;&gt; type(x)</a:t>
            </a: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1">
                <a:solidFill>
                  <a:srgbClr val="00B0F0"/>
                </a:solidFill>
                <a:latin typeface="Consolas" panose="020B0609020204030204" charset="0"/>
              </a:rPr>
              <a:t>&lt;class 'str'&gt;</a:t>
            </a: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1">
                <a:latin typeface="Consolas" panose="020B0609020204030204" charset="0"/>
              </a:rPr>
              <a:t>&gt;&gt;&gt; eval(x)</a:t>
            </a: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1">
                <a:solidFill>
                  <a:srgbClr val="00B0F0"/>
                </a:solidFill>
                <a:latin typeface="Consolas" panose="020B0609020204030204" charset="0"/>
              </a:rPr>
              <a:t>[1, 2, 3]</a:t>
            </a:r>
          </a:p>
        </p:txBody>
      </p:sp>
    </p:spTree>
  </p:cSld>
  <p:clrMapOvr>
    <a:masterClrMapping/>
  </p:clrMapOvr>
  <p:transition spd="slow" advTm="0"/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/>
        </p:nvSpPr>
        <p:spPr>
          <a:xfrm>
            <a:off x="380365" y="913765"/>
            <a:ext cx="10094595" cy="669925"/>
          </a:xfrm>
        </p:spPr>
        <p:txBody>
          <a:bodyPr/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输入与输出</a:t>
            </a:r>
          </a:p>
        </p:txBody>
      </p:sp>
      <p:sp>
        <p:nvSpPr>
          <p:cNvPr id="4" name="Content Placeholder 2"/>
          <p:cNvSpPr>
            <a:spLocks noGrp="1"/>
          </p:cNvSpPr>
          <p:nvPr/>
        </p:nvSpPr>
        <p:spPr>
          <a:xfrm>
            <a:off x="754380" y="1442720"/>
            <a:ext cx="11168380" cy="5118735"/>
          </a:xfrm>
          <a:prstGeom prst="rect">
            <a:avLst/>
          </a:prstGeom>
        </p:spPr>
        <p:txBody>
          <a:bodyPr vert="horz" lIns="91440" tIns="45720" rIns="91440" bIns="45720" rtlCol="0">
            <a:normAutofit fontScale="9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"/>
            </a:pPr>
            <a:r>
              <a:rPr lang="en-US" sz="2400" b="1" dirty="0" err="1"/>
              <a:t>内置函数print</a:t>
            </a:r>
            <a:r>
              <a:rPr lang="en-US" sz="2400" b="1" dirty="0"/>
              <a:t>()</a:t>
            </a:r>
            <a:r>
              <a:rPr lang="en-US" sz="2400" b="1" dirty="0" err="1"/>
              <a:t>用于输出信息到标准控制台或指定文件，语法格式为</a:t>
            </a:r>
            <a:r>
              <a:rPr lang="en-US" sz="2400" b="1" dirty="0"/>
              <a:t>：</a:t>
            </a:r>
          </a:p>
          <a:p>
            <a:pPr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b="1" dirty="0">
                <a:latin typeface="Consolas" panose="020B0609020204030204" charset="0"/>
              </a:rPr>
              <a:t>print(value1, value2, ..., </a:t>
            </a:r>
            <a:r>
              <a:rPr lang="en-US" sz="2000" b="1" dirty="0" err="1">
                <a:latin typeface="Consolas" panose="020B0609020204030204" charset="0"/>
              </a:rPr>
              <a:t>sep</a:t>
            </a:r>
            <a:r>
              <a:rPr lang="en-US" sz="2000" b="1" dirty="0">
                <a:latin typeface="Consolas" panose="020B0609020204030204" charset="0"/>
              </a:rPr>
              <a:t>=' ', end='\n', file=</a:t>
            </a:r>
            <a:r>
              <a:rPr lang="en-US" sz="2000" b="1" dirty="0" err="1">
                <a:latin typeface="Consolas" panose="020B0609020204030204" charset="0"/>
              </a:rPr>
              <a:t>sys.stdout</a:t>
            </a:r>
            <a:r>
              <a:rPr lang="en-US" sz="2000" b="1" dirty="0">
                <a:latin typeface="Consolas" panose="020B0609020204030204" charset="0"/>
              </a:rPr>
              <a:t>, flush=False)</a:t>
            </a: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endParaRPr lang="en-US" sz="2000" b="1" dirty="0">
              <a:latin typeface="Consolas" panose="020B0609020204030204" charset="0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"/>
            </a:pPr>
            <a:r>
              <a:rPr lang="en-US" sz="2400" b="1" dirty="0" err="1"/>
              <a:t>sep参数之前为需要输出的内容（可以有多个</a:t>
            </a:r>
            <a:r>
              <a:rPr lang="en-US" sz="2400" b="1" dirty="0"/>
              <a:t>）；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"/>
            </a:pPr>
            <a:r>
              <a:rPr lang="en-US" sz="2400" b="1" dirty="0" err="1"/>
              <a:t>sep参数用于指定数据之间的分隔符，默认为空格</a:t>
            </a:r>
            <a:r>
              <a:rPr lang="en-US" sz="2400" b="1" dirty="0"/>
              <a:t>；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"/>
            </a:pPr>
            <a:r>
              <a:rPr lang="en-US" sz="2400" b="1" dirty="0"/>
              <a:t>end</a:t>
            </a:r>
            <a:r>
              <a:rPr lang="zh-CN" altLang="en-US" sz="2400" b="1" dirty="0"/>
              <a:t>参数用于指定输出完数据之后再输出什么字符；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"/>
            </a:pPr>
            <a:r>
              <a:rPr lang="en-US" sz="2400" b="1" dirty="0" err="1"/>
              <a:t>file参数用于指定输出位置，默认为标准控制台，也可以重定向输出到文件</a:t>
            </a:r>
            <a:r>
              <a:rPr lang="en-US" sz="2400" b="1" dirty="0"/>
              <a:t>。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"/>
            </a:pPr>
            <a:r>
              <a:rPr lang="en-US" altLang="zh-CN" sz="2400" b="1" dirty="0">
                <a:latin typeface="Consolas" panose="020B0609020204030204" charset="0"/>
              </a:rPr>
              <a:t>flush</a:t>
            </a:r>
            <a:r>
              <a:rPr lang="zh-CN" altLang="en-US" sz="2400" b="1" dirty="0"/>
              <a:t>是否强制打印输出。</a:t>
            </a:r>
            <a:r>
              <a:rPr lang="en-US" altLang="zh-CN" sz="2400" dirty="0"/>
              <a:t>True</a:t>
            </a:r>
            <a:r>
              <a:rPr lang="zh-CN" altLang="en-US" sz="2400" dirty="0"/>
              <a:t>：</a:t>
            </a:r>
            <a:r>
              <a:rPr lang="zh-CN" altLang="en-US" sz="2400" b="1" dirty="0"/>
              <a:t>强制将内存中的东西显示在屏幕上，同时清空缓存</a:t>
            </a:r>
            <a:endParaRPr lang="en-US" sz="2400" b="1" dirty="0"/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endParaRPr lang="en-US" sz="2000" b="1" dirty="0"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b="1" dirty="0">
                <a:latin typeface="Consolas" panose="020B0609020204030204" charset="0"/>
              </a:rPr>
              <a:t>&gt;&gt;&gt; print(1, 3, 5, 7, </a:t>
            </a:r>
            <a:r>
              <a:rPr lang="en-US" sz="2000" b="1" dirty="0" err="1">
                <a:latin typeface="Consolas" panose="020B0609020204030204" charset="0"/>
              </a:rPr>
              <a:t>sep</a:t>
            </a:r>
            <a:r>
              <a:rPr lang="en-US" sz="2000" b="1" dirty="0">
                <a:latin typeface="Consolas" panose="020B0609020204030204" charset="0"/>
              </a:rPr>
              <a:t>='\t')       #</a:t>
            </a:r>
            <a:r>
              <a:rPr lang="en-US" sz="2000" b="1" dirty="0" err="1">
                <a:latin typeface="Consolas" panose="020B0609020204030204" charset="0"/>
              </a:rPr>
              <a:t>修改默认分隔符</a:t>
            </a:r>
            <a:endParaRPr lang="en-US" sz="2000" b="1" dirty="0"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b="1" dirty="0">
                <a:solidFill>
                  <a:srgbClr val="00B0F0"/>
                </a:solidFill>
                <a:latin typeface="Consolas" panose="020B0609020204030204" charset="0"/>
              </a:rPr>
              <a:t>1	3	5	7</a:t>
            </a: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b="1" dirty="0">
                <a:latin typeface="Consolas" panose="020B0609020204030204" charset="0"/>
              </a:rPr>
              <a:t>&gt;&gt;&gt; for i in range(10):               #</a:t>
            </a:r>
            <a:r>
              <a:rPr lang="en-US" sz="2000" b="1" dirty="0" err="1">
                <a:latin typeface="Consolas" panose="020B0609020204030204" charset="0"/>
              </a:rPr>
              <a:t>修改end参数，每个输出之后不换行</a:t>
            </a:r>
            <a:endParaRPr lang="en-US" sz="2000" b="1" dirty="0">
              <a:latin typeface="Consolas" panose="020B06090202040302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b="1" dirty="0">
                <a:latin typeface="Consolas" panose="020B0609020204030204" charset="0"/>
              </a:rPr>
              <a:t>    print(i, end=' ')</a:t>
            </a: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b="1" dirty="0">
                <a:solidFill>
                  <a:srgbClr val="00B0F0"/>
                </a:solidFill>
                <a:latin typeface="Consolas" panose="020B0609020204030204" charset="0"/>
              </a:rPr>
              <a:t>0 1 2 3 4 5 6 7 8 9 </a:t>
            </a: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b="1" dirty="0">
                <a:latin typeface="Consolas" panose="020B0609020204030204" charset="0"/>
              </a:rPr>
              <a:t>&gt;&gt;&gt; with open('test.txt', 'a+') as </a:t>
            </a:r>
            <a:r>
              <a:rPr lang="en-US" sz="2000" b="1" dirty="0" err="1">
                <a:latin typeface="Consolas" panose="020B0609020204030204" charset="0"/>
              </a:rPr>
              <a:t>fp</a:t>
            </a:r>
            <a:r>
              <a:rPr lang="en-US" sz="2000" b="1" dirty="0">
                <a:latin typeface="Consolas" panose="020B0609020204030204" charset="0"/>
              </a:rPr>
              <a:t>:</a:t>
            </a: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b="1" dirty="0">
                <a:latin typeface="Consolas" panose="020B0609020204030204" charset="0"/>
              </a:rPr>
              <a:t>   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charset="0"/>
              </a:rPr>
              <a:t>print('Hello world!', file=</a:t>
            </a:r>
            <a:r>
              <a:rPr lang="en-US" sz="2000" b="1" dirty="0" err="1">
                <a:solidFill>
                  <a:schemeClr val="tx1"/>
                </a:solidFill>
                <a:latin typeface="Consolas" panose="020B0609020204030204" charset="0"/>
              </a:rPr>
              <a:t>fp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charset="0"/>
              </a:rPr>
              <a:t>)</a:t>
            </a:r>
            <a:r>
              <a:rPr lang="en-US" sz="2000" b="1" dirty="0">
                <a:latin typeface="Consolas" panose="020B0609020204030204" charset="0"/>
              </a:rPr>
              <a:t>    #</a:t>
            </a:r>
            <a:r>
              <a:rPr lang="en-US" sz="2000" b="1" dirty="0" err="1">
                <a:latin typeface="Consolas" panose="020B0609020204030204" charset="0"/>
              </a:rPr>
              <a:t>重定向，将内容输出到文件中</a:t>
            </a:r>
            <a:endParaRPr lang="en-US" sz="2000" b="1" dirty="0">
              <a:latin typeface="Consolas" panose="020B0609020204030204" charset="0"/>
            </a:endParaRPr>
          </a:p>
        </p:txBody>
      </p:sp>
    </p:spTree>
  </p:cSld>
  <p:clrMapOvr>
    <a:masterClrMapping/>
  </p:clrMapOvr>
  <p:transition spd="slow" advTm="0"/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775335" y="1672590"/>
            <a:ext cx="20180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作业：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920875" y="2404745"/>
            <a:ext cx="8972550" cy="13088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indent="0" algn="just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利用课后时间实践课程中涉及的所有知识点。</a:t>
            </a:r>
          </a:p>
          <a:p>
            <a:pPr lvl="0" indent="0" algn="just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、实践教材第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章内容（</a:t>
            </a:r>
            <a:r>
              <a:rPr lang="en-US" altLang="zh-CN" sz="2800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Jupyter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, </a:t>
            </a:r>
            <a:r>
              <a:rPr lang="en-US" altLang="zh-CN" sz="2800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VSCode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, PyCharm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</a:t>
            </a:r>
          </a:p>
        </p:txBody>
      </p:sp>
    </p:spTree>
  </p:cSld>
  <p:clrMapOvr>
    <a:masterClrMapping/>
  </p:clrMapOvr>
  <p:transition spd="slow" advTm="0"/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3415" y="993775"/>
            <a:ext cx="10517505" cy="585470"/>
          </a:xfrm>
        </p:spPr>
        <p:txBody>
          <a:bodyPr>
            <a:normAutofit/>
          </a:bodyPr>
          <a:lstStyle/>
          <a:p>
            <a:pPr defTabSz="914400">
              <a:lnSpc>
                <a:spcPct val="90000"/>
              </a:lnSpc>
              <a:buSzPct val="90000"/>
              <a:buFont typeface="Wingdings" panose="05000000000000000000" charset="0"/>
              <a:buChar char="v"/>
            </a:pPr>
            <a:r>
              <a:rPr lang="zh-CN" altLang="en-US" sz="2400" b="1">
                <a:sym typeface="+mn-ea"/>
              </a:rPr>
              <a:t>例：</a:t>
            </a:r>
            <a:r>
              <a:rPr lang="zh-CN" altLang="en-US" sz="2400">
                <a:sym typeface="+mn-ea"/>
              </a:rPr>
              <a:t>用户输入一个三位自然数，计算并输出其百位、十位和个位上的数字。</a:t>
            </a:r>
            <a:endParaRPr lang="zh-CN" altLang="en-US" sz="2400"/>
          </a:p>
          <a:p>
            <a:pPr defTabSz="914400">
              <a:lnSpc>
                <a:spcPct val="90000"/>
              </a:lnSpc>
              <a:buSzPct val="90000"/>
              <a:buFont typeface="Wingdings" panose="05000000000000000000" pitchFamily="2" charset="2"/>
              <a:buNone/>
            </a:pPr>
            <a:endParaRPr lang="en-US" altLang="zh-CN" sz="2400"/>
          </a:p>
          <a:p>
            <a:pPr marL="0" indent="0">
              <a:buNone/>
            </a:pPr>
            <a:endParaRPr lang="en-US" sz="2400"/>
          </a:p>
        </p:txBody>
      </p:sp>
      <p:sp>
        <p:nvSpPr>
          <p:cNvPr id="5" name="文本框 4"/>
          <p:cNvSpPr txBox="1"/>
          <p:nvPr/>
        </p:nvSpPr>
        <p:spPr>
          <a:xfrm>
            <a:off x="2597785" y="1786890"/>
            <a:ext cx="6035040" cy="27482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defTabSz="914400">
              <a:lnSpc>
                <a:spcPct val="90000"/>
              </a:lnSpc>
              <a:buSzPct val="90000"/>
              <a:buFont typeface="Wingdings" panose="05000000000000000000" pitchFamily="2" charset="2"/>
              <a:buNone/>
            </a:pPr>
            <a:r>
              <a:rPr lang="en-US" altLang="zh-CN">
                <a:latin typeface="Consolas" panose="020B0609020204030204" charset="0"/>
                <a:sym typeface="+mn-ea"/>
              </a:rPr>
              <a:t>x = input('</a:t>
            </a:r>
            <a:r>
              <a:rPr lang="zh-CN" altLang="en-US">
                <a:latin typeface="Consolas" panose="020B0609020204030204" charset="0"/>
                <a:sym typeface="+mn-ea"/>
              </a:rPr>
              <a:t>请输入一个三位数：</a:t>
            </a:r>
            <a:r>
              <a:rPr lang="en-US" altLang="zh-CN">
                <a:latin typeface="Consolas" panose="020B0609020204030204" charset="0"/>
                <a:sym typeface="+mn-ea"/>
              </a:rPr>
              <a:t>')</a:t>
            </a:r>
            <a:endParaRPr lang="en-US" altLang="zh-CN">
              <a:latin typeface="Consolas" panose="020B0609020204030204" charset="0"/>
            </a:endParaRPr>
          </a:p>
          <a:p>
            <a:pPr defTabSz="914400">
              <a:lnSpc>
                <a:spcPct val="90000"/>
              </a:lnSpc>
              <a:buSzPct val="90000"/>
              <a:buFont typeface="Wingdings" panose="05000000000000000000" pitchFamily="2" charset="2"/>
              <a:buNone/>
            </a:pPr>
            <a:r>
              <a:rPr lang="en-US" altLang="zh-CN">
                <a:latin typeface="Consolas" panose="020B0609020204030204" charset="0"/>
                <a:sym typeface="+mn-ea"/>
              </a:rPr>
              <a:t>x = int(x)</a:t>
            </a:r>
            <a:endParaRPr lang="en-US" altLang="zh-CN">
              <a:latin typeface="Consolas" panose="020B0609020204030204" charset="0"/>
            </a:endParaRPr>
          </a:p>
          <a:p>
            <a:pPr defTabSz="914400">
              <a:lnSpc>
                <a:spcPct val="90000"/>
              </a:lnSpc>
              <a:buSzPct val="90000"/>
              <a:buFont typeface="Wingdings" panose="05000000000000000000" pitchFamily="2" charset="2"/>
              <a:buNone/>
            </a:pPr>
            <a:r>
              <a:rPr lang="en-US" altLang="zh-CN">
                <a:latin typeface="Consolas" panose="020B0609020204030204" charset="0"/>
                <a:sym typeface="+mn-ea"/>
              </a:rPr>
              <a:t>a = x // 100</a:t>
            </a:r>
            <a:endParaRPr lang="en-US" altLang="zh-CN">
              <a:latin typeface="Consolas" panose="020B0609020204030204" charset="0"/>
            </a:endParaRPr>
          </a:p>
          <a:p>
            <a:pPr defTabSz="914400">
              <a:lnSpc>
                <a:spcPct val="90000"/>
              </a:lnSpc>
              <a:buSzPct val="90000"/>
              <a:buFont typeface="Wingdings" panose="05000000000000000000" pitchFamily="2" charset="2"/>
              <a:buNone/>
            </a:pPr>
            <a:r>
              <a:rPr lang="en-US" altLang="zh-CN">
                <a:latin typeface="Consolas" panose="020B0609020204030204" charset="0"/>
                <a:sym typeface="+mn-ea"/>
              </a:rPr>
              <a:t>b = x // 10 % 10</a:t>
            </a:r>
            <a:endParaRPr lang="en-US" altLang="zh-CN">
              <a:latin typeface="Consolas" panose="020B0609020204030204" charset="0"/>
            </a:endParaRPr>
          </a:p>
          <a:p>
            <a:pPr defTabSz="914400">
              <a:lnSpc>
                <a:spcPct val="90000"/>
              </a:lnSpc>
              <a:buSzPct val="90000"/>
              <a:buFont typeface="Wingdings" panose="05000000000000000000" pitchFamily="2" charset="2"/>
              <a:buNone/>
            </a:pPr>
            <a:r>
              <a:rPr lang="en-US" altLang="zh-CN">
                <a:latin typeface="Consolas" panose="020B0609020204030204" charset="0"/>
                <a:sym typeface="+mn-ea"/>
              </a:rPr>
              <a:t>c = x % 10</a:t>
            </a:r>
            <a:endParaRPr lang="en-US" altLang="zh-CN">
              <a:latin typeface="Consolas" panose="020B0609020204030204" charset="0"/>
            </a:endParaRPr>
          </a:p>
          <a:p>
            <a:pPr defTabSz="914400">
              <a:lnSpc>
                <a:spcPct val="90000"/>
              </a:lnSpc>
              <a:buSzPct val="90000"/>
              <a:buFont typeface="Wingdings" panose="05000000000000000000" pitchFamily="2" charset="2"/>
              <a:buNone/>
            </a:pPr>
            <a:r>
              <a:rPr lang="en-US" altLang="zh-CN">
                <a:latin typeface="Consolas" panose="020B0609020204030204" charset="0"/>
                <a:sym typeface="+mn-ea"/>
              </a:rPr>
              <a:t>print(a, b, c)</a:t>
            </a:r>
            <a:endParaRPr lang="en-US" altLang="zh-CN">
              <a:latin typeface="Consolas" panose="020B0609020204030204" charset="0"/>
            </a:endParaRPr>
          </a:p>
          <a:p>
            <a:pPr defTabSz="914400">
              <a:lnSpc>
                <a:spcPct val="90000"/>
              </a:lnSpc>
              <a:buSzPct val="90000"/>
              <a:buFont typeface="Wingdings" panose="05000000000000000000" pitchFamily="2" charset="2"/>
              <a:buNone/>
            </a:pPr>
            <a:endParaRPr lang="en-US" altLang="zh-CN"/>
          </a:p>
          <a:p>
            <a:pPr defTabSz="914400">
              <a:lnSpc>
                <a:spcPct val="90000"/>
              </a:lnSpc>
              <a:buSzPct val="90000"/>
              <a:buFont typeface="Wingdings" panose="05000000000000000000" pitchFamily="2" charset="2"/>
              <a:buNone/>
            </a:pPr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2670175" y="4323397"/>
            <a:ext cx="3840480" cy="42354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defTabSz="914400">
              <a:lnSpc>
                <a:spcPct val="90000"/>
              </a:lnSpc>
              <a:buSzPct val="90000"/>
              <a:buFont typeface="Wingdings" panose="05000000000000000000" pitchFamily="2" charset="2"/>
              <a:buNone/>
            </a:pPr>
            <a:r>
              <a:rPr lang="zh-CN" altLang="zh-CN" dirty="0">
                <a:sym typeface="+mn-ea"/>
              </a:rPr>
              <a:t>想一想，还有别的办法吗？</a:t>
            </a:r>
            <a:endParaRPr lang="zh-CN" altLang="en-US" dirty="0"/>
          </a:p>
        </p:txBody>
      </p:sp>
    </p:spTree>
  </p:cSld>
  <p:clrMapOvr>
    <a:masterClrMapping/>
  </p:clrMapOvr>
  <p:transition spd="slow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2" grpId="0"/>
      <p:bldP spid="2" grpId="1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0401" y="1021960"/>
            <a:ext cx="10517547" cy="4640804"/>
          </a:xfrm>
        </p:spPr>
        <p:txBody>
          <a:bodyPr/>
          <a:lstStyle/>
          <a:p>
            <a:pPr>
              <a:buFont typeface="Wingdings" panose="05000000000000000000" charset="0"/>
              <a:buChar char="§"/>
            </a:pPr>
            <a:r>
              <a:rPr lang="zh-CN" altLang="en-US" sz="2400">
                <a:sym typeface="+mn-ea"/>
              </a:rPr>
              <a:t>还可以这样写</a:t>
            </a:r>
            <a:endParaRPr lang="zh-CN" altLang="en-US" sz="2400"/>
          </a:p>
          <a:p>
            <a:pPr>
              <a:buNone/>
            </a:pPr>
            <a:endParaRPr lang="zh-CN" altLang="en-US" sz="2400"/>
          </a:p>
          <a:p>
            <a:pPr>
              <a:buNone/>
            </a:pPr>
            <a:endParaRPr lang="en-US" sz="2400"/>
          </a:p>
        </p:txBody>
      </p:sp>
      <p:sp>
        <p:nvSpPr>
          <p:cNvPr id="5" name="文本框 4"/>
          <p:cNvSpPr txBox="1"/>
          <p:nvPr/>
        </p:nvSpPr>
        <p:spPr>
          <a:xfrm>
            <a:off x="1125220" y="1727200"/>
            <a:ext cx="10814050" cy="2306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buNone/>
            </a:pPr>
            <a:r>
              <a:rPr lang="zh-CN" altLang="en-US">
                <a:latin typeface="Consolas" panose="020B0609020204030204" charset="0"/>
                <a:sym typeface="+mn-ea"/>
              </a:rPr>
              <a:t>x = input('请输入一个三位数：')</a:t>
            </a:r>
            <a:endParaRPr lang="zh-CN" altLang="en-US">
              <a:latin typeface="Consolas" panose="020B0609020204030204" charset="0"/>
            </a:endParaRPr>
          </a:p>
          <a:p>
            <a:pPr>
              <a:buNone/>
            </a:pPr>
            <a:r>
              <a:rPr lang="zh-CN" altLang="en-US">
                <a:latin typeface="Consolas" panose="020B0609020204030204" charset="0"/>
                <a:sym typeface="+mn-ea"/>
              </a:rPr>
              <a:t>x = int(x)</a:t>
            </a:r>
            <a:endParaRPr lang="zh-CN" altLang="en-US">
              <a:latin typeface="Consolas" panose="020B0609020204030204" charset="0"/>
            </a:endParaRPr>
          </a:p>
          <a:p>
            <a:pPr>
              <a:buNone/>
            </a:pPr>
            <a:r>
              <a:rPr lang="zh-CN" altLang="en-US">
                <a:latin typeface="Consolas" panose="020B0609020204030204" charset="0"/>
                <a:sym typeface="+mn-ea"/>
              </a:rPr>
              <a:t>a, b = divmod(x, 100)</a:t>
            </a:r>
            <a:endParaRPr lang="zh-CN" altLang="en-US">
              <a:latin typeface="Consolas" panose="020B0609020204030204" charset="0"/>
            </a:endParaRPr>
          </a:p>
          <a:p>
            <a:pPr>
              <a:buNone/>
            </a:pPr>
            <a:r>
              <a:rPr lang="zh-CN" altLang="en-US">
                <a:latin typeface="Consolas" panose="020B0609020204030204" charset="0"/>
                <a:sym typeface="+mn-ea"/>
              </a:rPr>
              <a:t>b, c = divmod(b, 10)</a:t>
            </a:r>
            <a:endParaRPr lang="zh-CN" altLang="en-US">
              <a:latin typeface="Consolas" panose="020B0609020204030204" charset="0"/>
            </a:endParaRPr>
          </a:p>
          <a:p>
            <a:pPr>
              <a:buNone/>
            </a:pPr>
            <a:r>
              <a:rPr lang="zh-CN" altLang="en-US">
                <a:latin typeface="Consolas" panose="020B0609020204030204" charset="0"/>
                <a:sym typeface="+mn-ea"/>
              </a:rPr>
              <a:t>print(a, b, c)</a:t>
            </a:r>
            <a:endParaRPr lang="zh-CN" altLang="en-US">
              <a:latin typeface="Consolas" panose="020B0609020204030204" charset="0"/>
            </a:endParaRPr>
          </a:p>
          <a:p>
            <a:pPr>
              <a:buNone/>
            </a:pP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199515" y="5426710"/>
            <a:ext cx="292608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buNone/>
            </a:pPr>
            <a:r>
              <a:rPr lang="zh-CN" altLang="en-US">
                <a:sym typeface="+mn-ea"/>
              </a:rPr>
              <a:t>还可以再简单些吗？</a:t>
            </a:r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125220" y="4034155"/>
            <a:ext cx="1034923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注：</a:t>
            </a:r>
            <a:r>
              <a:rPr lang="en-US" altLang="zh-CN"/>
              <a:t>divmod</a:t>
            </a:r>
            <a:r>
              <a:rPr lang="zh-CN" altLang="en-US"/>
              <a:t>函数接收两个数字类型（非复数）参数，返回一个包含商和余数的元组(a // b, a % b)</a:t>
            </a:r>
          </a:p>
        </p:txBody>
      </p:sp>
    </p:spTree>
  </p:cSld>
  <p:clrMapOvr>
    <a:masterClrMapping/>
  </p:clrMapOvr>
  <p:transition spd="slow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 build="p"/>
      <p:bldP spid="5" grpId="0"/>
      <p:bldP spid="5" grpId="1"/>
      <p:bldP spid="6" grpId="0"/>
      <p:bldP spid="6" grpId="1"/>
      <p:bldP spid="2" grpId="0"/>
      <p:bldP spid="2" grpId="1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0105" y="1140460"/>
            <a:ext cx="10517505" cy="892810"/>
          </a:xfrm>
        </p:spPr>
        <p:txBody>
          <a:bodyPr/>
          <a:lstStyle/>
          <a:p>
            <a:pPr>
              <a:buFont typeface="Wingdings" panose="05000000000000000000" charset="0"/>
              <a:buChar char="§"/>
            </a:pPr>
            <a:r>
              <a:rPr lang="zh-CN" altLang="en-US" sz="2400">
                <a:sym typeface="+mn-ea"/>
              </a:rPr>
              <a:t>居然可以这样？</a:t>
            </a:r>
            <a:r>
              <a:rPr lang="en-US" altLang="zh-CN" sz="2400">
                <a:sym typeface="+mn-ea"/>
              </a:rPr>
              <a:t>OMG</a:t>
            </a:r>
            <a:endParaRPr lang="en-US" altLang="zh-CN" sz="2400"/>
          </a:p>
          <a:p>
            <a:pPr>
              <a:buNone/>
            </a:pPr>
            <a:endParaRPr lang="en-US"/>
          </a:p>
        </p:txBody>
      </p:sp>
      <p:sp>
        <p:nvSpPr>
          <p:cNvPr id="2" name="文本框 1"/>
          <p:cNvSpPr txBox="1"/>
          <p:nvPr/>
        </p:nvSpPr>
        <p:spPr>
          <a:xfrm>
            <a:off x="1082040" y="2105660"/>
            <a:ext cx="666242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buNone/>
            </a:pPr>
            <a:r>
              <a:rPr lang="zh-CN" altLang="en-US" dirty="0">
                <a:latin typeface="Consolas" panose="020B0609020204030204" charset="0"/>
                <a:sym typeface="+mn-ea"/>
              </a:rPr>
              <a:t>x = input('请输入一个三位数：')</a:t>
            </a:r>
            <a:endParaRPr lang="zh-CN" altLang="en-US" dirty="0">
              <a:latin typeface="Consolas" panose="020B0609020204030204" charset="0"/>
            </a:endParaRPr>
          </a:p>
          <a:p>
            <a:pPr>
              <a:buNone/>
            </a:pPr>
            <a:r>
              <a:rPr lang="zh-CN" altLang="en-US" dirty="0">
                <a:latin typeface="Consolas" panose="020B0609020204030204" charset="0"/>
                <a:sym typeface="+mn-ea"/>
              </a:rPr>
              <a:t>a, b, c = map(int, x)</a:t>
            </a:r>
            <a:endParaRPr lang="zh-CN" altLang="en-US" dirty="0">
              <a:latin typeface="Consolas" panose="020B0609020204030204" charset="0"/>
            </a:endParaRPr>
          </a:p>
          <a:p>
            <a:pPr>
              <a:buNone/>
            </a:pPr>
            <a:r>
              <a:rPr lang="zh-CN" altLang="en-US" dirty="0">
                <a:latin typeface="Consolas" panose="020B0609020204030204" charset="0"/>
                <a:sym typeface="+mn-ea"/>
              </a:rPr>
              <a:t>print(a, b, c)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1214120" y="4123690"/>
            <a:ext cx="747268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/>
              <a:t>注：map() 会根据提供的函数对指定序列做映射。</a:t>
            </a:r>
          </a:p>
        </p:txBody>
      </p:sp>
    </p:spTree>
  </p:cSld>
  <p:clrMapOvr>
    <a:masterClrMapping/>
  </p:clrMapOvr>
  <p:transition spd="slow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  <p:bldP spid="2" grpId="0"/>
      <p:bldP spid="5" grpId="0"/>
      <p:bldP spid="5" grpId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08726_1"/>
  <p:tag name="KSO_WM_TEMPLATE_SUBCATEGORY" val="21"/>
  <p:tag name="KSO_WM_SLIDE_TYPE" val="text"/>
  <p:tag name="KSO_WM_SLIDE_SUBTYPE" val="picTxt"/>
  <p:tag name="KSO_WM_SLIDE_ITEM_CNT" val="0"/>
  <p:tag name="KSO_WM_SLIDE_INDEX" val="1"/>
  <p:tag name="KSO_WM_SLIDE_SIZE" val="960*507"/>
  <p:tag name="KSO_WM_SLIDE_POSITION" val="0*33"/>
  <p:tag name="KSO_WM_TAG_VERSION" val="1.0"/>
  <p:tag name="KSO_WM_BEAUTIFY_FLAG" val="#wm#"/>
  <p:tag name="KSO_WM_TEMPLATE_CATEGORY" val="diagram"/>
  <p:tag name="KSO_WM_TEMPLATE_INDEX" val="20208726"/>
  <p:tag name="KSO_WM_SLIDE_LAYOUT" val="a_d"/>
  <p:tag name="KSO_WM_SLIDE_LAYOUT_CNT" val="1_1"/>
  <p:tag name="KSO_WM_TEMPLATE_MASTER_TYPE" val="0"/>
  <p:tag name="KSO_WM_TEMPLATE_COLOR_TYPE" val="1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0-06-26T09:50:13&quot;,&quot;maxSize&quot;:{&quot;size1&quot;:31.395491917928059},&quot;minSize&quot;:{&quot;size1&quot;:22.49549191792806},&quot;normalSize&quot;:{&quot;size1&quot;:25.769493307844115},&quot;subLayout&quot;:[{&quot;id&quot;:&quot;2020-06-26T09:50:13&quot;,&quot;margin&quot;:{&quot;bottom&quot;:0.42300000786781311,&quot;left&quot;:5.5029997825622559,&quot;right&quot;:5.5029997825622559,&quot;top&quot;:2.9630000591278076},&quot;type&quot;:0},{&quot;id&quot;:&quot;2020-06-26T09:50:13&quot;,&quot;margin&quot;:{&quot;bottom&quot;:2.5399999618530273,&quot;left&quot;:5.5029997825622559,&quot;right&quot;:5.5029997825622559,&quot;top&quot;:2.1170001029968262},&quot;type&quot;:0}],&quot;type&quot;:0}"/>
  <p:tag name="KSO_WM_SLIDE_BACKGROUND" val="[&quot;general&quot;]"/>
  <p:tag name="KSO_WM_SLIDE_RATIO" val="1.777778"/>
  <p:tag name="KSO_WM_CHIP_INFOS" val="{&quot;layout_type&quot;:&quot;topbottom&quot;,&quot;tags&quot;:{&quot;style&quot;:[&quot;商务&quot;,&quot;简约&quot;,&quot;文艺清新&quot;,&quot;中国风&quot;,&quot;卡通&quot;,&quot;欧美风&quot;,&quot;黑板风&quot;,&quot;渐变风&quot;,&quot;党政风&quot;]},&quot;slide_type&quot;:[&quot;text&quot;],&quot;aspect_ratio&quot;:&quot;16:9&quot;}"/>
  <p:tag name="KSO_WM_CHIP_FILLPROP" val="[[{&quot;fill_id&quot;:&quot;ae62fc3b35c9411d905b7bc231385e5c&quot;,&quot;fill_align&quot;:&quot;cm&quot;,&quot;text_align&quot;:&quot;cm&quot;,&quot;text_direction&quot;:&quot;horizontal&quot;,&quot;chip_types&quot;:[&quot;header&quot;]},{&quot;fill_id&quot;:&quot;fd2aa0c658d24d49b39a205f095b05d5&quot;,&quot;fill_align&quot;:&quot;cm&quot;,&quot;text_align&quot;:&quot;lm&quot;,&quot;text_direction&quot;:&quot;horizontal&quot;,&quot;chip_types&quot;:[&quot;text&quot;]}],[{&quot;fill_id&quot;:&quot;ae62fc3b35c9411d905b7bc231385e5c&quot;,&quot;fill_align&quot;:&quot;cm&quot;,&quot;text_align&quot;:&quot;cm&quot;,&quot;text_direction&quot;:&quot;horizontal&quot;,&quot;chip_types&quot;:[&quot;header&quot;]},{&quot;fill_id&quot;:&quot;fd2aa0c658d24d49b39a205f095b05d5&quot;,&quot;fill_align&quot;:&quot;cm&quot;,&quot;text_align&quot;:&quot;cm&quot;,&quot;text_direction&quot;:&quot;horizontal&quot;,&quot;chip_types&quot;:[&quot;diagram&quot;,&quot;pictext&quot;,&quot;picture&quot;,&quot;chart&quot;,&quot;table&quot;,&quot;video&quot;]}]]"/>
  <p:tag name="KSO_WM_CHIP_XID" val="5ef16cf55bb2a422ac9a2b3a"/>
  <p:tag name="KSO_WM_CHIP_GROUPID" val="5ef16cf55bb2a422ac9a2b39"/>
  <p:tag name="KSO_WM_SLIDE_BK_DARK_LIGHT" val="2"/>
  <p:tag name="KSO_WM_SLIDE_BACKGROUND_TYPE" val="general"/>
  <p:tag name="KSO_WM_SLIDE_SUPPORT_FEATURE_TYPE" val="0"/>
  <p:tag name="KSO_WM_TEMPLATE_ASSEMBLE_XID" val="5ef55454ea5a3ac527a189e3"/>
  <p:tag name="KSO_WM_TEMPLATE_ASSEMBLE_GROUPID" val="5ef55454ea5a3ac527a189e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08726_1*i*1"/>
  <p:tag name="KSO_WM_TEMPLATE_CATEGORY" val="diagram"/>
  <p:tag name="KSO_WM_TEMPLATE_INDEX" val="20208726"/>
  <p:tag name="KSO_WM_UNIT_LAYERLEVEL" val="1"/>
  <p:tag name="KSO_WM_TAG_VERSION" val="1.0"/>
  <p:tag name="KSO_WM_BEAUTIFY_FLAG" val="#wm#"/>
  <p:tag name="KSO_WM_UNIT_BLOCK" val="0"/>
  <p:tag name="KSO_WM_UNIT_SM_LIMIT_TYPE" val="1"/>
  <p:tag name="KSO_WM_UNIT_DEC_AREA_ID" val="869a47cc434a46408bb65052c05f2790"/>
  <p:tag name="KSO_WM_UNIT_DECORATE_INFO" val="{&quot;ReferentInfo&quot;:{&quot;X&quot;:{&quot;Pos&quot;:0},&quot;Y&quot;:{&quot;Pos&quot;:0}},&quot;DecorateInfoX&quot;:{&quot;Pos&quot;:0,&quot;IsAbs&quot;:false},&quot;DecorateInfoY&quot;:{&quot;Pos&quot;:0,&quot;IsAbs&quot;:false},&quot;DecorateInfoW&quot;:{&quot;IsAbs&quot;:true},&quot;DecorateInfoH&quot;:{&quot;IsAbs&quot;:true}}"/>
  <p:tag name="KSO_WM_CHIP_GROUPID" val="5ef16cf55bb2a422ac9a2b39"/>
  <p:tag name="KSO_WM_CHIP_XID" val="5ef16cf55bb2a422ac9a2b3a"/>
  <p:tag name="KSO_WM_UNIT_FILL_FORE_SCHEMECOLOR_INDEX_BRIGHTNESS" val="0"/>
  <p:tag name="KSO_WM_UNIT_FILL_FORE_SCHEMECOLOR_INDEX" val="15"/>
  <p:tag name="KSO_WM_UNIT_FILL_BACK_SCHEMECOLOR_INDEX_BRIGHTNESS" val="0"/>
  <p:tag name="KSO_WM_UNIT_FILL_BACK_SCHEMECOLOR_INDEX" val="14"/>
  <p:tag name="KSO_WM_UNIT_FILL_TYPE" val="2"/>
  <p:tag name="KSO_WM_UNIT_TEXT_FILL_FORE_SCHEMECOLOR_INDEX_BRIGHTNESS" val="0"/>
  <p:tag name="KSO_WM_UNIT_TEXT_FILL_FORE_SCHEMECOLOR_INDEX" val="2"/>
  <p:tag name="KSO_WM_UNIT_TEXT_FILL_TYPE" val="1"/>
  <p:tag name="KSO_WM_UNIT_VALUE" val="477"/>
  <p:tag name="KSO_WM_TEMPLATE_ASSEMBLE_XID" val="5ef55454ea5a3ac527a189e3"/>
  <p:tag name="KSO_WM_TEMPLATE_ASSEMBLE_GROUPID" val="5ef55454ea5a3ac527a189e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208726_1*i*2"/>
  <p:tag name="KSO_WM_TEMPLATE_CATEGORY" val="diagram"/>
  <p:tag name="KSO_WM_TEMPLATE_INDEX" val="20208726"/>
  <p:tag name="KSO_WM_UNIT_LAYERLEVEL" val="1"/>
  <p:tag name="KSO_WM_TAG_VERSION" val="1.0"/>
  <p:tag name="KSO_WM_BEAUTIFY_FLAG" val="#wm#"/>
  <p:tag name="KSO_WM_UNIT_BLOCK" val="0"/>
  <p:tag name="KSO_WM_UNIT_SM_LIMIT_TYPE" val="2"/>
  <p:tag name="KSO_WM_UNIT_DEC_AREA_ID" val="c4ce87efa6da456eba5f87ab75ba3aa6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1},&quot;ReferentInfo&quot;:{&quot;Id&quot;:&quot;6618fb3c5f874e68a20589c3b602507e&quot;,&quot;X&quot;:{&quot;Pos&quot;:1},&quot;Y&quot;:{&quot;Pos&quot;:1}}}"/>
  <p:tag name="KSO_WM_CHIP_GROUPID" val="5ef16cf55bb2a422ac9a2b39"/>
  <p:tag name="KSO_WM_CHIP_XID" val="5ef16cf55bb2a422ac9a2b3a"/>
  <p:tag name="KSO_WM_UNIT_FILL_FORE_SCHEMECOLOR_INDEX_BRIGHTNESS" val="0"/>
  <p:tag name="KSO_WM_UNIT_FILL_FORE_SCHEMECOLOR_INDEX" val="14"/>
  <p:tag name="KSO_WM_UNIT_FILL_TYPE" val="1"/>
  <p:tag name="KSO_WM_UNIT_SHADOW_SCHEMECOLOR_INDEX_BRIGHTNESS" val="0"/>
  <p:tag name="KSO_WM_UNIT_SHADOW_SCHEMECOLOR_INDEX" val="13"/>
  <p:tag name="KSO_WM_UNIT_TEXT_FILL_FORE_SCHEMECOLOR_INDEX_BRIGHTNESS" val="0"/>
  <p:tag name="KSO_WM_UNIT_TEXT_FILL_FORE_SCHEMECOLOR_INDEX" val="2"/>
  <p:tag name="KSO_WM_UNIT_TEXT_FILL_TYPE" val="1"/>
  <p:tag name="KSO_WM_UNIT_VALUE" val="114"/>
  <p:tag name="KSO_WM_TEMPLATE_ASSEMBLE_XID" val="5ef55454ea5a3ac527a189e3"/>
  <p:tag name="KSO_WM_TEMPLATE_ASSEMBLE_GROUPID" val="5ef55454ea5a3ac527a189e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diagram20208726_1*i*7"/>
  <p:tag name="KSO_WM_TEMPLATE_CATEGORY" val="diagram"/>
  <p:tag name="KSO_WM_TEMPLATE_INDEX" val="20208726"/>
  <p:tag name="KSO_WM_UNIT_LAYERLEVEL" val="1"/>
  <p:tag name="KSO_WM_TAG_VERSION" val="1.0"/>
  <p:tag name="KSO_WM_BEAUTIFY_FLAG" val="#wm#"/>
  <p:tag name="KSO_WM_UNIT_BLOCK" val="0"/>
  <p:tag name="KSO_WM_UNIT_SM_LIMIT_TYPE" val="2"/>
  <p:tag name="KSO_WM_UNIT_DEC_AREA_ID" val="bcde86d968184e51b1cbdb20e2dfff00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1},&quot;ReferentInfo&quot;:{&quot;Id&quot;:&quot;2a0b84ff2b9a4700b2ebecd3d5d2b889&quot;,&quot;X&quot;:{&quot;Pos&quot;:1},&quot;Y&quot;:{&quot;Pos&quot;:1}}}"/>
  <p:tag name="KSO_WM_CHIP_GROUPID" val="5ef16cf55bb2a422ac9a2b39"/>
  <p:tag name="KSO_WM_CHIP_XID" val="5ef16cf55bb2a422ac9a2b3a"/>
  <p:tag name="KSO_WM_UNIT_FILL_FORE_SCHEMECOLOR_INDEX_BRIGHTNESS" val="0"/>
  <p:tag name="KSO_WM_UNIT_FILL_FORE_SCHEMECOLOR_INDEX" val="14"/>
  <p:tag name="KSO_WM_UNIT_FILL_TYPE" val="1"/>
  <p:tag name="KSO_WM_UNIT_SHADOW_SCHEMECOLOR_INDEX_BRIGHTNESS" val="0"/>
  <p:tag name="KSO_WM_UNIT_SHADOW_SCHEMECOLOR_INDEX" val="13"/>
  <p:tag name="KSO_WM_UNIT_TEXT_FILL_FORE_SCHEMECOLOR_INDEX_BRIGHTNESS" val="0"/>
  <p:tag name="KSO_WM_UNIT_TEXT_FILL_FORE_SCHEMECOLOR_INDEX" val="2"/>
  <p:tag name="KSO_WM_UNIT_TEXT_FILL_TYPE" val="1"/>
  <p:tag name="KSO_WM_UNIT_VALUE" val="380"/>
  <p:tag name="KSO_WM_TEMPLATE_ASSEMBLE_XID" val="5ef55454ea5a3ac527a189e3"/>
  <p:tag name="KSO_WM_TEMPLATE_ASSEMBLE_GROUPID" val="5ef55454ea5a3ac527a189e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27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08726_1*a*1"/>
  <p:tag name="KSO_WM_TEMPLATE_CATEGORY" val="diagram"/>
  <p:tag name="KSO_WM_TEMPLATE_INDEX" val="20208726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6618fb3c5f874e68a20589c3b602507e"/>
  <p:tag name="KSO_WM_ASSEMBLE_CHIP_INDEX" val="cf455a0210784292bf56397ada7cc389"/>
  <p:tag name="KSO_WM_UNIT_TEXT_FILL_FORE_SCHEMECOLOR_INDEX_BRIGHTNESS" val="0"/>
  <p:tag name="KSO_WM_UNIT_TEXT_FILL_FORE_SCHEMECOLOR_INDEX" val="13"/>
  <p:tag name="KSO_WM_UNIT_TEXT_FILL_TYPE" val="1"/>
  <p:tag name="KSO_WM_TEMPLATE_ASSEMBLE_XID" val="5ef55454ea5a3ac527a189e3"/>
  <p:tag name="KSO_WM_TEMPLATE_ASSEMBLE_GROUPID" val="5ef55454ea5a3ac527a189e3"/>
  <p:tag name="KSO_WM_UNIT_SMARTLAYOUT_COMPRESS_INFO" val="{&#10;    &quot;id&quot;: &quot;2020-06-26T09:50:13&quot;,&#10;    &quot;max&quot;: 9.9359201546418774,&#10;    &quot;parentMax&quot;: {&#10;        &quot;max&quot;: 2.3390404752793827&#10;    },&#10;    &quot;topChanged&quot;: 9.889445190429683&#10;}&#10;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2_1"/>
  <p:tag name="KSO_WM_UNIT_ID" val="diagram20210129_4*l_h_i*1_2_1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59da7e6ec43e4feb9298f18bea997348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1},&quot;ReferentInfo&quot;:{&quot;Id&quot;:&quot;b59d62ad1efa49a7814a432af9fe78d0&quot;,&quot;X&quot;:{&quot;Pos&quot;:1},&quot;Y&quot;:{&quot;Pos&quot;:1}},&quot;whChangeMode&quot;:0}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13"/>
  <p:tag name="KSO_WM_UNIT_TEXT_FILL_TYPE" val="1"/>
  <p:tag name="KSO_WM_UNIT_VALUE" val="6"/>
  <p:tag name="KSO_WM_UNIT_USESOURCEFORMAT_APPLY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添加正文，文字是您思想的提炼，请尽量言简意赅的阐述观点。"/>
  <p:tag name="KSO_WM_UNIT_NOCLEAR" val="0"/>
  <p:tag name="KSO_WM_UNIT_VALUE" val="49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10129_4*l_h_f*1_2_1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DEFAULT_FONT" val="14;20;2"/>
  <p:tag name="KSO_WM_UNIT_BLOCK" val="0"/>
  <p:tag name="KSO_WM_UNIT_DEC_AREA_ID" val="34b132e5c4a443288f0a499a2a868f21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TEXT_FILL_FORE_SCHEMECOLOR_INDEX_BRIGHTNESS" val="0.25"/>
  <p:tag name="KSO_WM_UNIT_TEXT_FILL_FORE_SCHEMECOLOR_INDEX" val="13"/>
  <p:tag name="KSO_WM_UNIT_TEXT_FILL_TYPE" val="1"/>
  <p:tag name="KSO_WM_UNIT_USESOURCEFORMAT_APPLY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2_2"/>
  <p:tag name="KSO_WM_UNIT_ID" val="diagram20210129_4*l_h_i*1_2_2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b59d62ad1efa49a7814a432af9fe78d0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2},&quot;ReferentInfo&quot;:{&quot;Id&quot;:&quot;34b132e5c4a443288f0a499a2a868f21&quot;,&quot;X&quot;:{&quot;Pos&quot;:1},&quot;Y&quot;:{&quot;Pos&quot;:0}},&quot;whChangeMode&quot;:0}"/>
  <p:tag name="KSO_WM_UNIT_DEFAULT_FONT" val="18;36;2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TEXT_FILL_FORE_SCHEMECOLOR_INDEX_BRIGHTNESS" val="-0.25"/>
  <p:tag name="KSO_WM_UNIT_TEXT_FILL_FORE_SCHEMECOLOR_INDEX" val="5"/>
  <p:tag name="KSO_WM_UNIT_TEXT_FILL_TYPE" val="1"/>
  <p:tag name="KSO_WM_UNIT_VALUE" val="1"/>
  <p:tag name="KSO_WM_UNIT_USESOURCEFORMAT_APPLY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2_2"/>
  <p:tag name="KSO_WM_UNIT_ID" val="diagram20210129_4*l_h_i*1_2_2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70d7a2d2c86d4c9db8b4a0d9151012cf"/>
  <p:tag name="KSO_WM_UNIT_DECORATE_INFO" val="{&quot;DecorateInfoH&quot;:{&quot;IsAbs&quot;:true},&quot;DecorateInfoW&quot;:{&quot;IsAbs&quot;:true},&quot;DecorateInfoX&quot;:{&quot;IsAbs&quot;:true,&quot;Pos&quot;:2},&quot;DecorateInfoY&quot;:{&quot;IsAbs&quot;:true,&quot;Pos&quot;:1},&quot;ReferentInfo&quot;:{&quot;Id&quot;:&quot;b59d62ad1efa49a7814a432af9fe78d0&quot;,&quot;X&quot;:{&quot;Pos&quot;:0},&quot;Y&quot;:{&quot;Pos&quot;:1}},&quot;whChangeMode&quot;:0}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FILL_FORE_SCHEMECOLOR_INDEX_BRIGHTNESS" val="0.4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1"/>
  <p:tag name="KSO_WM_UNIT_USESOURCEFORMAT_APPLY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3_1"/>
  <p:tag name="KSO_WM_UNIT_ID" val="diagram20210129_4*l_h_i*1_3_1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b6081f06af7546549cd304a627ac5bf6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1},&quot;ReferentInfo&quot;:{&quot;Id&quot;:&quot;7c5b9ba033db4be7921036f8d9ac71fa&quot;,&quot;X&quot;:{&quot;Pos&quot;:1},&quot;Y&quot;:{&quot;Pos&quot;:1}},&quot;whChangeMode&quot;:0}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13"/>
  <p:tag name="KSO_WM_UNIT_TEXT_FILL_TYPE" val="1"/>
  <p:tag name="KSO_WM_UNIT_VALUE" val="6"/>
  <p:tag name="KSO_WM_UNIT_USESOURCEFORMAT_APPLY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添加正文，文字是您思想的提炼，请尽量言简意赅的阐述观点。"/>
  <p:tag name="KSO_WM_UNIT_NOCLEAR" val="0"/>
  <p:tag name="KSO_WM_UNIT_VALUE" val="49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10129_4*l_h_f*1_3_1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DEFAULT_FONT" val="14;20;2"/>
  <p:tag name="KSO_WM_UNIT_BLOCK" val="0"/>
  <p:tag name="KSO_WM_UNIT_DEC_AREA_ID" val="9139da38a7254bbdae206e7c3badbfdc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TEXT_FILL_FORE_SCHEMECOLOR_INDEX_BRIGHTNESS" val="0.25"/>
  <p:tag name="KSO_WM_UNIT_TEXT_FILL_FORE_SCHEMECOLOR_INDEX" val="13"/>
  <p:tag name="KSO_WM_UNIT_TEXT_FILL_TYPE" val="1"/>
  <p:tag name="KSO_WM_UNIT_USESOURCEFORMAT_APPLY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3_2"/>
  <p:tag name="KSO_WM_UNIT_ID" val="diagram20210129_4*l_h_i*1_3_2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7c5b9ba033db4be7921036f8d9ac71fa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2},&quot;ReferentInfo&quot;:{&quot;Id&quot;:&quot;9139da38a7254bbdae206e7c3badbfdc&quot;,&quot;X&quot;:{&quot;Pos&quot;:1},&quot;Y&quot;:{&quot;Pos&quot;:0}},&quot;whChangeMode&quot;:0}"/>
  <p:tag name="KSO_WM_UNIT_DEFAULT_FONT" val="18;36;2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TEXT_FILL_FORE_SCHEMECOLOR_INDEX_BRIGHTNESS" val="-0.25"/>
  <p:tag name="KSO_WM_UNIT_TEXT_FILL_FORE_SCHEMECOLOR_INDEX" val="5"/>
  <p:tag name="KSO_WM_UNIT_TEXT_FILL_TYPE" val="1"/>
  <p:tag name="KSO_WM_UNIT_VALUE" val="1"/>
  <p:tag name="KSO_WM_UNIT_USESOURCEFORMAT_APPLY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3_2"/>
  <p:tag name="KSO_WM_UNIT_ID" val="diagram20210129_4*l_h_i*1_3_2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ec820f4b29364f0d9126a1b5fe20d73d"/>
  <p:tag name="KSO_WM_UNIT_DECORATE_INFO" val="{&quot;DecorateInfoH&quot;:{&quot;IsAbs&quot;:true},&quot;DecorateInfoW&quot;:{&quot;IsAbs&quot;:true},&quot;DecorateInfoX&quot;:{&quot;IsAbs&quot;:true,&quot;Pos&quot;:2},&quot;DecorateInfoY&quot;:{&quot;IsAbs&quot;:true,&quot;Pos&quot;:1},&quot;ReferentInfo&quot;:{&quot;Id&quot;:&quot;7c5b9ba033db4be7921036f8d9ac71fa&quot;,&quot;X&quot;:{&quot;Pos&quot;:0},&quot;Y&quot;:{&quot;Pos&quot;:1}},&quot;whChangeMode&quot;:0}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FILL_FORE_SCHEMECOLOR_INDEX_BRIGHTNESS" val="0.4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1"/>
  <p:tag name="KSO_WM_UNIT_USESOURCEFORMAT_APPLY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4_1"/>
  <p:tag name="KSO_WM_UNIT_ID" val="diagram20210129_4*l_h_i*1_4_1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39c131c2df22469293f4eda4cafa0add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1},&quot;ReferentInfo&quot;:{&quot;Id&quot;:&quot;7727769e63484bff8316e642df87776f&quot;,&quot;X&quot;:{&quot;Pos&quot;:1},&quot;Y&quot;:{&quot;Pos&quot;:1}},&quot;whChangeMode&quot;:0}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13"/>
  <p:tag name="KSO_WM_UNIT_TEXT_FILL_TYPE" val="1"/>
  <p:tag name="KSO_WM_UNIT_VALUE" val="6"/>
  <p:tag name="KSO_WM_UNIT_USESOURCEFORMAT_APPLY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添加正文，文字是您思想的提炼，请尽量言简意赅的阐述观点。"/>
  <p:tag name="KSO_WM_UNIT_NOCLEAR" val="0"/>
  <p:tag name="KSO_WM_UNIT_VALUE" val="49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4_1"/>
  <p:tag name="KSO_WM_UNIT_ID" val="diagram20210129_4*l_h_f*1_4_1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DEFAULT_FONT" val="14;20;2"/>
  <p:tag name="KSO_WM_UNIT_BLOCK" val="0"/>
  <p:tag name="KSO_WM_UNIT_DEC_AREA_ID" val="74d740d563994c26aa1d5848c3fc10f8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TEXT_FILL_FORE_SCHEMECOLOR_INDEX_BRIGHTNESS" val="0.25"/>
  <p:tag name="KSO_WM_UNIT_TEXT_FILL_FORE_SCHEMECOLOR_INDEX" val="13"/>
  <p:tag name="KSO_WM_UNIT_TEXT_FILL_TYPE" val="1"/>
  <p:tag name="KSO_WM_UNIT_USESOURCEFORMAT_APPLY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4_2"/>
  <p:tag name="KSO_WM_UNIT_ID" val="diagram20210129_4*l_h_i*1_4_2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7727769e63484bff8316e642df87776f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2},&quot;ReferentInfo&quot;:{&quot;Id&quot;:&quot;74d740d563994c26aa1d5848c3fc10f8&quot;,&quot;X&quot;:{&quot;Pos&quot;:1},&quot;Y&quot;:{&quot;Pos&quot;:0}},&quot;whChangeMode&quot;:0}"/>
  <p:tag name="KSO_WM_UNIT_DEFAULT_FONT" val="18;36;2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TEXT_FILL_FORE_SCHEMECOLOR_INDEX_BRIGHTNESS" val="-0.25"/>
  <p:tag name="KSO_WM_UNIT_TEXT_FILL_FORE_SCHEMECOLOR_INDEX" val="5"/>
  <p:tag name="KSO_WM_UNIT_TEXT_FILL_TYPE" val="1"/>
  <p:tag name="KSO_WM_UNIT_VALUE" val="1"/>
  <p:tag name="KSO_WM_UNIT_USESOURCEFORMAT_APPLY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4_2"/>
  <p:tag name="KSO_WM_UNIT_ID" val="diagram20210129_4*l_h_i*1_4_2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7268b2bc951b4a15b816214d5589381a"/>
  <p:tag name="KSO_WM_UNIT_DECORATE_INFO" val="{&quot;DecorateInfoH&quot;:{&quot;IsAbs&quot;:true},&quot;DecorateInfoW&quot;:{&quot;IsAbs&quot;:true},&quot;DecorateInfoX&quot;:{&quot;IsAbs&quot;:true,&quot;Pos&quot;:2},&quot;DecorateInfoY&quot;:{&quot;IsAbs&quot;:true,&quot;Pos&quot;:1},&quot;ReferentInfo&quot;:{&quot;Id&quot;:&quot;7727769e63484bff8316e642df87776f&quot;,&quot;X&quot;:{&quot;Pos&quot;:0},&quot;Y&quot;:{&quot;Pos&quot;:1}},&quot;whChangeMode&quot;:0}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FILL_FORE_SCHEMECOLOR_INDEX_BRIGHTNESS" val="0.4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1"/>
  <p:tag name="KSO_WM_UNIT_USESOURCEFORMAT_APPLY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5_1"/>
  <p:tag name="KSO_WM_UNIT_ID" val="diagram20210129_4*l_h_i*1_5_1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2fccc7cfe0a94a03964fef3a6bcbba88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1},&quot;ReferentInfo&quot;:{&quot;Id&quot;:&quot;53c010be7e1347ceaad05fcf213bdb85&quot;,&quot;X&quot;:{&quot;Pos&quot;:1},&quot;Y&quot;:{&quot;Pos&quot;:1}},&quot;whChangeMode&quot;:0}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13"/>
  <p:tag name="KSO_WM_UNIT_TEXT_FILL_TYPE" val="1"/>
  <p:tag name="KSO_WM_UNIT_VALUE" val="6"/>
  <p:tag name="KSO_WM_UNIT_USESOURCEFORMAT_APPLY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添加正文，文字是您思想的提炼，请尽量言简意赅的阐述观点。"/>
  <p:tag name="KSO_WM_UNIT_NOCLEAR" val="0"/>
  <p:tag name="KSO_WM_UNIT_VALUE" val="49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5_1"/>
  <p:tag name="KSO_WM_UNIT_ID" val="diagram20210129_4*l_h_f*1_5_1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DEFAULT_FONT" val="14;20;2"/>
  <p:tag name="KSO_WM_UNIT_BLOCK" val="0"/>
  <p:tag name="KSO_WM_UNIT_DEC_AREA_ID" val="84bac5f5da5744a784b90ba5919c6c07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TEXT_FILL_FORE_SCHEMECOLOR_INDEX_BRIGHTNESS" val="0.25"/>
  <p:tag name="KSO_WM_UNIT_TEXT_FILL_FORE_SCHEMECOLOR_INDEX" val="13"/>
  <p:tag name="KSO_WM_UNIT_TEXT_FILL_TYPE" val="1"/>
  <p:tag name="KSO_WM_UNIT_USESOURCEFORMAT_APPLY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5_2"/>
  <p:tag name="KSO_WM_UNIT_ID" val="diagram20210129_4*l_h_i*1_5_2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53c010be7e1347ceaad05fcf213bdb85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2},&quot;ReferentInfo&quot;:{&quot;Id&quot;:&quot;84bac5f5da5744a784b90ba5919c6c07&quot;,&quot;X&quot;:{&quot;Pos&quot;:1},&quot;Y&quot;:{&quot;Pos&quot;:0}},&quot;whChangeMode&quot;:0}"/>
  <p:tag name="KSO_WM_UNIT_DEFAULT_FONT" val="18;36;2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TEXT_FILL_FORE_SCHEMECOLOR_INDEX_BRIGHTNESS" val="-0.25"/>
  <p:tag name="KSO_WM_UNIT_TEXT_FILL_FORE_SCHEMECOLOR_INDEX" val="5"/>
  <p:tag name="KSO_WM_UNIT_TEXT_FILL_TYPE" val="1"/>
  <p:tag name="KSO_WM_UNIT_VALUE" val="1"/>
  <p:tag name="KSO_WM_UNIT_USESOURCEFORMAT_APPLY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5_2"/>
  <p:tag name="KSO_WM_UNIT_ID" val="diagram20210129_4*l_h_i*1_5_2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0b803d1f78ef49d09ddb1edf22e1f8f1"/>
  <p:tag name="KSO_WM_UNIT_DECORATE_INFO" val="{&quot;DecorateInfoH&quot;:{&quot;IsAbs&quot;:true},&quot;DecorateInfoW&quot;:{&quot;IsAbs&quot;:true},&quot;DecorateInfoX&quot;:{&quot;IsAbs&quot;:true,&quot;Pos&quot;:2},&quot;DecorateInfoY&quot;:{&quot;IsAbs&quot;:true,&quot;Pos&quot;:1},&quot;ReferentInfo&quot;:{&quot;Id&quot;:&quot;53c010be7e1347ceaad05fcf213bdb85&quot;,&quot;X&quot;:{&quot;Pos&quot;:0},&quot;Y&quot;:{&quot;Pos&quot;:1}},&quot;whChangeMode&quot;:0}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FILL_FORE_SCHEMECOLOR_INDEX_BRIGHTNESS" val="0.4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1"/>
  <p:tag name="KSO_WM_UNIT_USESOURCEFORMAT_APPLY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08726_1"/>
  <p:tag name="KSO_WM_TEMPLATE_SUBCATEGORY" val="21"/>
  <p:tag name="KSO_WM_SLIDE_TYPE" val="text"/>
  <p:tag name="KSO_WM_SLIDE_SUBTYPE" val="picTxt"/>
  <p:tag name="KSO_WM_SLIDE_ITEM_CNT" val="0"/>
  <p:tag name="KSO_WM_SLIDE_INDEX" val="1"/>
  <p:tag name="KSO_WM_SLIDE_SIZE" val="960*507"/>
  <p:tag name="KSO_WM_SLIDE_POSITION" val="0*33"/>
  <p:tag name="KSO_WM_TAG_VERSION" val="1.0"/>
  <p:tag name="KSO_WM_BEAUTIFY_FLAG" val="#wm#"/>
  <p:tag name="KSO_WM_TEMPLATE_CATEGORY" val="diagram"/>
  <p:tag name="KSO_WM_TEMPLATE_INDEX" val="20208726"/>
  <p:tag name="KSO_WM_SLIDE_LAYOUT" val="a_d"/>
  <p:tag name="KSO_WM_SLIDE_LAYOUT_CNT" val="1_1"/>
  <p:tag name="KSO_WM_TEMPLATE_MASTER_TYPE" val="0"/>
  <p:tag name="KSO_WM_TEMPLATE_COLOR_TYPE" val="1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0-06-26T09:50:13&quot;,&quot;maxSize&quot;:{&quot;size1&quot;:31.395491917928059},&quot;minSize&quot;:{&quot;size1&quot;:22.49549191792806},&quot;normalSize&quot;:{&quot;size1&quot;:25.769493307844115},&quot;subLayout&quot;:[{&quot;id&quot;:&quot;2020-06-26T09:50:13&quot;,&quot;margin&quot;:{&quot;bottom&quot;:0.42300000786781311,&quot;left&quot;:5.5029997825622559,&quot;right&quot;:5.5029997825622559,&quot;top&quot;:2.9630000591278076},&quot;type&quot;:0},{&quot;id&quot;:&quot;2020-06-26T09:50:13&quot;,&quot;margin&quot;:{&quot;bottom&quot;:2.5399999618530273,&quot;left&quot;:5.5029997825622559,&quot;right&quot;:5.5029997825622559,&quot;top&quot;:2.1170001029968262},&quot;type&quot;:0}],&quot;type&quot;:0}"/>
  <p:tag name="KSO_WM_SLIDE_BACKGROUND" val="[&quot;general&quot;]"/>
  <p:tag name="KSO_WM_SLIDE_RATIO" val="1.777778"/>
  <p:tag name="KSO_WM_CHIP_INFOS" val="{&quot;layout_type&quot;:&quot;topbottom&quot;,&quot;tags&quot;:{&quot;style&quot;:[&quot;商务&quot;,&quot;简约&quot;,&quot;文艺清新&quot;,&quot;中国风&quot;,&quot;卡通&quot;,&quot;欧美风&quot;,&quot;黑板风&quot;,&quot;渐变风&quot;,&quot;党政风&quot;]},&quot;slide_type&quot;:[&quot;text&quot;],&quot;aspect_ratio&quot;:&quot;16:9&quot;}"/>
  <p:tag name="KSO_WM_CHIP_FILLPROP" val="[[{&quot;fill_id&quot;:&quot;ae62fc3b35c9411d905b7bc231385e5c&quot;,&quot;fill_align&quot;:&quot;cm&quot;,&quot;text_align&quot;:&quot;cm&quot;,&quot;text_direction&quot;:&quot;horizontal&quot;,&quot;chip_types&quot;:[&quot;header&quot;]},{&quot;fill_id&quot;:&quot;fd2aa0c658d24d49b39a205f095b05d5&quot;,&quot;fill_align&quot;:&quot;cm&quot;,&quot;text_align&quot;:&quot;lm&quot;,&quot;text_direction&quot;:&quot;horizontal&quot;,&quot;chip_types&quot;:[&quot;text&quot;]}],[{&quot;fill_id&quot;:&quot;ae62fc3b35c9411d905b7bc231385e5c&quot;,&quot;fill_align&quot;:&quot;cm&quot;,&quot;text_align&quot;:&quot;cm&quot;,&quot;text_direction&quot;:&quot;horizontal&quot;,&quot;chip_types&quot;:[&quot;header&quot;]},{&quot;fill_id&quot;:&quot;fd2aa0c658d24d49b39a205f095b05d5&quot;,&quot;fill_align&quot;:&quot;cm&quot;,&quot;text_align&quot;:&quot;cm&quot;,&quot;text_direction&quot;:&quot;horizontal&quot;,&quot;chip_types&quot;:[&quot;diagram&quot;,&quot;pictext&quot;,&quot;picture&quot;,&quot;chart&quot;,&quot;table&quot;,&quot;video&quot;]}]]"/>
  <p:tag name="KSO_WM_CHIP_XID" val="5ef16cf55bb2a422ac9a2b3a"/>
  <p:tag name="KSO_WM_CHIP_GROUPID" val="5ef16cf55bb2a422ac9a2b39"/>
  <p:tag name="KSO_WM_SLIDE_BK_DARK_LIGHT" val="2"/>
  <p:tag name="KSO_WM_SLIDE_BACKGROUND_TYPE" val="general"/>
  <p:tag name="KSO_WM_SLIDE_SUPPORT_FEATURE_TYPE" val="0"/>
  <p:tag name="KSO_WM_TEMPLATE_ASSEMBLE_XID" val="5ef55454ea5a3ac527a189e3"/>
  <p:tag name="KSO_WM_TEMPLATE_ASSEMBLE_GROUPID" val="5ef55454ea5a3ac527a189e3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08726_1*i*1"/>
  <p:tag name="KSO_WM_TEMPLATE_CATEGORY" val="diagram"/>
  <p:tag name="KSO_WM_TEMPLATE_INDEX" val="20208726"/>
  <p:tag name="KSO_WM_UNIT_LAYERLEVEL" val="1"/>
  <p:tag name="KSO_WM_TAG_VERSION" val="1.0"/>
  <p:tag name="KSO_WM_BEAUTIFY_FLAG" val="#wm#"/>
  <p:tag name="KSO_WM_UNIT_BLOCK" val="0"/>
  <p:tag name="KSO_WM_UNIT_SM_LIMIT_TYPE" val="1"/>
  <p:tag name="KSO_WM_UNIT_DEC_AREA_ID" val="869a47cc434a46408bb65052c05f2790"/>
  <p:tag name="KSO_WM_UNIT_DECORATE_INFO" val="{&quot;ReferentInfo&quot;:{&quot;X&quot;:{&quot;Pos&quot;:0},&quot;Y&quot;:{&quot;Pos&quot;:0}},&quot;DecorateInfoX&quot;:{&quot;Pos&quot;:0,&quot;IsAbs&quot;:false},&quot;DecorateInfoY&quot;:{&quot;Pos&quot;:0,&quot;IsAbs&quot;:false},&quot;DecorateInfoW&quot;:{&quot;IsAbs&quot;:true},&quot;DecorateInfoH&quot;:{&quot;IsAbs&quot;:true}}"/>
  <p:tag name="KSO_WM_CHIP_GROUPID" val="5ef16cf55bb2a422ac9a2b39"/>
  <p:tag name="KSO_WM_CHIP_XID" val="5ef16cf55bb2a422ac9a2b3a"/>
  <p:tag name="KSO_WM_UNIT_FILL_FORE_SCHEMECOLOR_INDEX_BRIGHTNESS" val="0"/>
  <p:tag name="KSO_WM_UNIT_FILL_FORE_SCHEMECOLOR_INDEX" val="15"/>
  <p:tag name="KSO_WM_UNIT_FILL_BACK_SCHEMECOLOR_INDEX_BRIGHTNESS" val="0"/>
  <p:tag name="KSO_WM_UNIT_FILL_BACK_SCHEMECOLOR_INDEX" val="14"/>
  <p:tag name="KSO_WM_UNIT_FILL_TYPE" val="2"/>
  <p:tag name="KSO_WM_UNIT_TEXT_FILL_FORE_SCHEMECOLOR_INDEX_BRIGHTNESS" val="0"/>
  <p:tag name="KSO_WM_UNIT_TEXT_FILL_FORE_SCHEMECOLOR_INDEX" val="2"/>
  <p:tag name="KSO_WM_UNIT_TEXT_FILL_TYPE" val="1"/>
  <p:tag name="KSO_WM_UNIT_VALUE" val="477"/>
  <p:tag name="KSO_WM_TEMPLATE_ASSEMBLE_XID" val="5ef55454ea5a3ac527a189e3"/>
  <p:tag name="KSO_WM_TEMPLATE_ASSEMBLE_GROUPID" val="5ef55454ea5a3ac527a189e3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208726_1*i*2"/>
  <p:tag name="KSO_WM_TEMPLATE_CATEGORY" val="diagram"/>
  <p:tag name="KSO_WM_TEMPLATE_INDEX" val="20208726"/>
  <p:tag name="KSO_WM_UNIT_LAYERLEVEL" val="1"/>
  <p:tag name="KSO_WM_TAG_VERSION" val="1.0"/>
  <p:tag name="KSO_WM_BEAUTIFY_FLAG" val="#wm#"/>
  <p:tag name="KSO_WM_UNIT_BLOCK" val="0"/>
  <p:tag name="KSO_WM_UNIT_SM_LIMIT_TYPE" val="2"/>
  <p:tag name="KSO_WM_UNIT_DEC_AREA_ID" val="c4ce87efa6da456eba5f87ab75ba3aa6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1},&quot;ReferentInfo&quot;:{&quot;Id&quot;:&quot;6618fb3c5f874e68a20589c3b602507e&quot;,&quot;X&quot;:{&quot;Pos&quot;:1},&quot;Y&quot;:{&quot;Pos&quot;:1}}}"/>
  <p:tag name="KSO_WM_CHIP_GROUPID" val="5ef16cf55bb2a422ac9a2b39"/>
  <p:tag name="KSO_WM_CHIP_XID" val="5ef16cf55bb2a422ac9a2b3a"/>
  <p:tag name="KSO_WM_UNIT_FILL_FORE_SCHEMECOLOR_INDEX_BRIGHTNESS" val="0"/>
  <p:tag name="KSO_WM_UNIT_FILL_FORE_SCHEMECOLOR_INDEX" val="14"/>
  <p:tag name="KSO_WM_UNIT_FILL_TYPE" val="1"/>
  <p:tag name="KSO_WM_UNIT_SHADOW_SCHEMECOLOR_INDEX_BRIGHTNESS" val="0"/>
  <p:tag name="KSO_WM_UNIT_SHADOW_SCHEMECOLOR_INDEX" val="13"/>
  <p:tag name="KSO_WM_UNIT_TEXT_FILL_FORE_SCHEMECOLOR_INDEX_BRIGHTNESS" val="0"/>
  <p:tag name="KSO_WM_UNIT_TEXT_FILL_FORE_SCHEMECOLOR_INDEX" val="2"/>
  <p:tag name="KSO_WM_UNIT_TEXT_FILL_TYPE" val="1"/>
  <p:tag name="KSO_WM_UNIT_VALUE" val="114"/>
  <p:tag name="KSO_WM_TEMPLATE_ASSEMBLE_XID" val="5ef55454ea5a3ac527a189e3"/>
  <p:tag name="KSO_WM_TEMPLATE_ASSEMBLE_GROUPID" val="5ef55454ea5a3ac527a189e3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diagram20208726_1*i*7"/>
  <p:tag name="KSO_WM_TEMPLATE_CATEGORY" val="diagram"/>
  <p:tag name="KSO_WM_TEMPLATE_INDEX" val="20208726"/>
  <p:tag name="KSO_WM_UNIT_LAYERLEVEL" val="1"/>
  <p:tag name="KSO_WM_TAG_VERSION" val="1.0"/>
  <p:tag name="KSO_WM_BEAUTIFY_FLAG" val="#wm#"/>
  <p:tag name="KSO_WM_UNIT_BLOCK" val="0"/>
  <p:tag name="KSO_WM_UNIT_SM_LIMIT_TYPE" val="2"/>
  <p:tag name="KSO_WM_UNIT_DEC_AREA_ID" val="bcde86d968184e51b1cbdb20e2dfff00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1},&quot;ReferentInfo&quot;:{&quot;Id&quot;:&quot;2a0b84ff2b9a4700b2ebecd3d5d2b889&quot;,&quot;X&quot;:{&quot;Pos&quot;:1},&quot;Y&quot;:{&quot;Pos&quot;:1}}}"/>
  <p:tag name="KSO_WM_CHIP_GROUPID" val="5ef16cf55bb2a422ac9a2b39"/>
  <p:tag name="KSO_WM_CHIP_XID" val="5ef16cf55bb2a422ac9a2b3a"/>
  <p:tag name="KSO_WM_UNIT_FILL_FORE_SCHEMECOLOR_INDEX_BRIGHTNESS" val="0"/>
  <p:tag name="KSO_WM_UNIT_FILL_FORE_SCHEMECOLOR_INDEX" val="14"/>
  <p:tag name="KSO_WM_UNIT_FILL_TYPE" val="1"/>
  <p:tag name="KSO_WM_UNIT_SHADOW_SCHEMECOLOR_INDEX_BRIGHTNESS" val="0"/>
  <p:tag name="KSO_WM_UNIT_SHADOW_SCHEMECOLOR_INDEX" val="13"/>
  <p:tag name="KSO_WM_UNIT_TEXT_FILL_FORE_SCHEMECOLOR_INDEX_BRIGHTNESS" val="0"/>
  <p:tag name="KSO_WM_UNIT_TEXT_FILL_FORE_SCHEMECOLOR_INDEX" val="2"/>
  <p:tag name="KSO_WM_UNIT_TEXT_FILL_TYPE" val="1"/>
  <p:tag name="KSO_WM_UNIT_VALUE" val="380"/>
  <p:tag name="KSO_WM_TEMPLATE_ASSEMBLE_XID" val="5ef55454ea5a3ac527a189e3"/>
  <p:tag name="KSO_WM_TEMPLATE_ASSEMBLE_GROUPID" val="5ef55454ea5a3ac527a189e3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27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08726_1*a*1"/>
  <p:tag name="KSO_WM_TEMPLATE_CATEGORY" val="diagram"/>
  <p:tag name="KSO_WM_TEMPLATE_INDEX" val="20208726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6618fb3c5f874e68a20589c3b602507e"/>
  <p:tag name="KSO_WM_ASSEMBLE_CHIP_INDEX" val="cf455a0210784292bf56397ada7cc389"/>
  <p:tag name="KSO_WM_UNIT_TEXT_FILL_FORE_SCHEMECOLOR_INDEX_BRIGHTNESS" val="0"/>
  <p:tag name="KSO_WM_UNIT_TEXT_FILL_FORE_SCHEMECOLOR_INDEX" val="13"/>
  <p:tag name="KSO_WM_UNIT_TEXT_FILL_TYPE" val="1"/>
  <p:tag name="KSO_WM_TEMPLATE_ASSEMBLE_XID" val="5ef55454ea5a3ac527a189e3"/>
  <p:tag name="KSO_WM_TEMPLATE_ASSEMBLE_GROUPID" val="5ef55454ea5a3ac527a189e3"/>
  <p:tag name="KSO_WM_UNIT_SMARTLAYOUT_COMPRESS_INFO" val="{&#10;    &quot;id&quot;: &quot;2020-06-26T09:50:13&quot;,&#10;    &quot;max&quot;: 9.9359201546418774,&#10;    &quot;parentMax&quot;: {&#10;        &quot;max&quot;: 2.3390404752793827&#10;    },&#10;    &quot;topChanged&quot;: 9.889445190429683&#10;}&#10;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2_1"/>
  <p:tag name="KSO_WM_UNIT_ID" val="diagram20210129_4*l_h_i*1_2_1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59da7e6ec43e4feb9298f18bea997348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1},&quot;ReferentInfo&quot;:{&quot;Id&quot;:&quot;b59d62ad1efa49a7814a432af9fe78d0&quot;,&quot;X&quot;:{&quot;Pos&quot;:1},&quot;Y&quot;:{&quot;Pos&quot;:1}},&quot;whChangeMode&quot;:0}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13"/>
  <p:tag name="KSO_WM_UNIT_TEXT_FILL_TYPE" val="1"/>
  <p:tag name="KSO_WM_UNIT_VALUE" val="6"/>
  <p:tag name="KSO_WM_UNIT_USESOURCEFORMAT_APPLY" val="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添加正文，文字是您思想的提炼，请尽量言简意赅的阐述观点。"/>
  <p:tag name="KSO_WM_UNIT_NOCLEAR" val="0"/>
  <p:tag name="KSO_WM_UNIT_VALUE" val="49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10129_4*l_h_f*1_2_1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DEFAULT_FONT" val="14;20;2"/>
  <p:tag name="KSO_WM_UNIT_BLOCK" val="0"/>
  <p:tag name="KSO_WM_UNIT_DEC_AREA_ID" val="34b132e5c4a443288f0a499a2a868f21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TEXT_FILL_FORE_SCHEMECOLOR_INDEX_BRIGHTNESS" val="0.25"/>
  <p:tag name="KSO_WM_UNIT_TEXT_FILL_FORE_SCHEMECOLOR_INDEX" val="13"/>
  <p:tag name="KSO_WM_UNIT_TEXT_FILL_TYPE" val="1"/>
  <p:tag name="KSO_WM_UNIT_USESOURCEFORMAT_APPLY" val="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2_2"/>
  <p:tag name="KSO_WM_UNIT_ID" val="diagram20210129_4*l_h_i*1_2_2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b59d62ad1efa49a7814a432af9fe78d0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2},&quot;ReferentInfo&quot;:{&quot;Id&quot;:&quot;34b132e5c4a443288f0a499a2a868f21&quot;,&quot;X&quot;:{&quot;Pos&quot;:1},&quot;Y&quot;:{&quot;Pos&quot;:0}},&quot;whChangeMode&quot;:0}"/>
  <p:tag name="KSO_WM_UNIT_DEFAULT_FONT" val="18;36;2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TEXT_FILL_FORE_SCHEMECOLOR_INDEX_BRIGHTNESS" val="-0.25"/>
  <p:tag name="KSO_WM_UNIT_TEXT_FILL_FORE_SCHEMECOLOR_INDEX" val="5"/>
  <p:tag name="KSO_WM_UNIT_TEXT_FILL_TYPE" val="1"/>
  <p:tag name="KSO_WM_UNIT_VALUE" val="1"/>
  <p:tag name="KSO_WM_UNIT_USESOURCEFORMAT_APPLY" val="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2_2"/>
  <p:tag name="KSO_WM_UNIT_ID" val="diagram20210129_4*l_h_i*1_2_2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70d7a2d2c86d4c9db8b4a0d9151012cf"/>
  <p:tag name="KSO_WM_UNIT_DECORATE_INFO" val="{&quot;DecorateInfoH&quot;:{&quot;IsAbs&quot;:true},&quot;DecorateInfoW&quot;:{&quot;IsAbs&quot;:true},&quot;DecorateInfoX&quot;:{&quot;IsAbs&quot;:true,&quot;Pos&quot;:2},&quot;DecorateInfoY&quot;:{&quot;IsAbs&quot;:true,&quot;Pos&quot;:1},&quot;ReferentInfo&quot;:{&quot;Id&quot;:&quot;b59d62ad1efa49a7814a432af9fe78d0&quot;,&quot;X&quot;:{&quot;Pos&quot;:0},&quot;Y&quot;:{&quot;Pos&quot;:1}},&quot;whChangeMode&quot;:0}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FILL_FORE_SCHEMECOLOR_INDEX_BRIGHTNESS" val="0.4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1"/>
  <p:tag name="KSO_WM_UNIT_USESOURCEFORMAT_APPLY" val="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3_1"/>
  <p:tag name="KSO_WM_UNIT_ID" val="diagram20210129_4*l_h_i*1_3_1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b6081f06af7546549cd304a627ac5bf6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1},&quot;ReferentInfo&quot;:{&quot;Id&quot;:&quot;7c5b9ba033db4be7921036f8d9ac71fa&quot;,&quot;X&quot;:{&quot;Pos&quot;:1},&quot;Y&quot;:{&quot;Pos&quot;:1}},&quot;whChangeMode&quot;:0}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13"/>
  <p:tag name="KSO_WM_UNIT_TEXT_FILL_TYPE" val="1"/>
  <p:tag name="KSO_WM_UNIT_VALUE" val="6"/>
  <p:tag name="KSO_WM_UNIT_USESOURCEFORMAT_APPLY" val="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添加正文，文字是您思想的提炼，请尽量言简意赅的阐述观点。"/>
  <p:tag name="KSO_WM_UNIT_NOCLEAR" val="0"/>
  <p:tag name="KSO_WM_UNIT_VALUE" val="49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10129_4*l_h_f*1_3_1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DEFAULT_FONT" val="14;20;2"/>
  <p:tag name="KSO_WM_UNIT_BLOCK" val="0"/>
  <p:tag name="KSO_WM_UNIT_DEC_AREA_ID" val="9139da38a7254bbdae206e7c3badbfdc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TEXT_FILL_FORE_SCHEMECOLOR_INDEX_BRIGHTNESS" val="0.25"/>
  <p:tag name="KSO_WM_UNIT_TEXT_FILL_FORE_SCHEMECOLOR_INDEX" val="13"/>
  <p:tag name="KSO_WM_UNIT_TEXT_FILL_TYPE" val="1"/>
  <p:tag name="KSO_WM_UNIT_USESOURCEFORMAT_APPLY" val="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3_2"/>
  <p:tag name="KSO_WM_UNIT_ID" val="diagram20210129_4*l_h_i*1_3_2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7c5b9ba033db4be7921036f8d9ac71fa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2},&quot;ReferentInfo&quot;:{&quot;Id&quot;:&quot;9139da38a7254bbdae206e7c3badbfdc&quot;,&quot;X&quot;:{&quot;Pos&quot;:1},&quot;Y&quot;:{&quot;Pos&quot;:0}},&quot;whChangeMode&quot;:0}"/>
  <p:tag name="KSO_WM_UNIT_DEFAULT_FONT" val="18;36;2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TEXT_FILL_FORE_SCHEMECOLOR_INDEX_BRIGHTNESS" val="-0.25"/>
  <p:tag name="KSO_WM_UNIT_TEXT_FILL_FORE_SCHEMECOLOR_INDEX" val="5"/>
  <p:tag name="KSO_WM_UNIT_TEXT_FILL_TYPE" val="1"/>
  <p:tag name="KSO_WM_UNIT_VALUE" val="1"/>
  <p:tag name="KSO_WM_UNIT_USESOURCEFORMAT_APPLY" val="1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3_2"/>
  <p:tag name="KSO_WM_UNIT_ID" val="diagram20210129_4*l_h_i*1_3_2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ec820f4b29364f0d9126a1b5fe20d73d"/>
  <p:tag name="KSO_WM_UNIT_DECORATE_INFO" val="{&quot;DecorateInfoH&quot;:{&quot;IsAbs&quot;:true},&quot;DecorateInfoW&quot;:{&quot;IsAbs&quot;:true},&quot;DecorateInfoX&quot;:{&quot;IsAbs&quot;:true,&quot;Pos&quot;:2},&quot;DecorateInfoY&quot;:{&quot;IsAbs&quot;:true,&quot;Pos&quot;:1},&quot;ReferentInfo&quot;:{&quot;Id&quot;:&quot;7c5b9ba033db4be7921036f8d9ac71fa&quot;,&quot;X&quot;:{&quot;Pos&quot;:0},&quot;Y&quot;:{&quot;Pos&quot;:1}},&quot;whChangeMode&quot;:0}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FILL_FORE_SCHEMECOLOR_INDEX_BRIGHTNESS" val="0.4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1"/>
  <p:tag name="KSO_WM_UNIT_USESOURCEFORMAT_APPLY" val="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4_1"/>
  <p:tag name="KSO_WM_UNIT_ID" val="diagram20210129_4*l_h_i*1_4_1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39c131c2df22469293f4eda4cafa0add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1},&quot;ReferentInfo&quot;:{&quot;Id&quot;:&quot;7727769e63484bff8316e642df87776f&quot;,&quot;X&quot;:{&quot;Pos&quot;:1},&quot;Y&quot;:{&quot;Pos&quot;:1}},&quot;whChangeMode&quot;:0}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13"/>
  <p:tag name="KSO_WM_UNIT_TEXT_FILL_TYPE" val="1"/>
  <p:tag name="KSO_WM_UNIT_VALUE" val="6"/>
  <p:tag name="KSO_WM_UNIT_USESOURCEFORMAT_APPLY" val="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添加正文，文字是您思想的提炼，请尽量言简意赅的阐述观点。"/>
  <p:tag name="KSO_WM_UNIT_NOCLEAR" val="0"/>
  <p:tag name="KSO_WM_UNIT_VALUE" val="49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4_1"/>
  <p:tag name="KSO_WM_UNIT_ID" val="diagram20210129_4*l_h_f*1_4_1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DEFAULT_FONT" val="14;20;2"/>
  <p:tag name="KSO_WM_UNIT_BLOCK" val="0"/>
  <p:tag name="KSO_WM_UNIT_DEC_AREA_ID" val="74d740d563994c26aa1d5848c3fc10f8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TEXT_FILL_FORE_SCHEMECOLOR_INDEX_BRIGHTNESS" val="0.25"/>
  <p:tag name="KSO_WM_UNIT_TEXT_FILL_FORE_SCHEMECOLOR_INDEX" val="13"/>
  <p:tag name="KSO_WM_UNIT_TEXT_FILL_TYPE" val="1"/>
  <p:tag name="KSO_WM_UNIT_USESOURCEFORMAT_APPLY" val="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4_2"/>
  <p:tag name="KSO_WM_UNIT_ID" val="diagram20210129_4*l_h_i*1_4_2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7727769e63484bff8316e642df87776f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2},&quot;ReferentInfo&quot;:{&quot;Id&quot;:&quot;74d740d563994c26aa1d5848c3fc10f8&quot;,&quot;X&quot;:{&quot;Pos&quot;:1},&quot;Y&quot;:{&quot;Pos&quot;:0}},&quot;whChangeMode&quot;:0}"/>
  <p:tag name="KSO_WM_UNIT_DEFAULT_FONT" val="18;36;2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TEXT_FILL_FORE_SCHEMECOLOR_INDEX_BRIGHTNESS" val="-0.25"/>
  <p:tag name="KSO_WM_UNIT_TEXT_FILL_FORE_SCHEMECOLOR_INDEX" val="5"/>
  <p:tag name="KSO_WM_UNIT_TEXT_FILL_TYPE" val="1"/>
  <p:tag name="KSO_WM_UNIT_VALUE" val="1"/>
  <p:tag name="KSO_WM_UNIT_USESOURCEFORMAT_APPLY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4_2"/>
  <p:tag name="KSO_WM_UNIT_ID" val="diagram20210129_4*l_h_i*1_4_2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7268b2bc951b4a15b816214d5589381a"/>
  <p:tag name="KSO_WM_UNIT_DECORATE_INFO" val="{&quot;DecorateInfoH&quot;:{&quot;IsAbs&quot;:true},&quot;DecorateInfoW&quot;:{&quot;IsAbs&quot;:true},&quot;DecorateInfoX&quot;:{&quot;IsAbs&quot;:true,&quot;Pos&quot;:2},&quot;DecorateInfoY&quot;:{&quot;IsAbs&quot;:true,&quot;Pos&quot;:1},&quot;ReferentInfo&quot;:{&quot;Id&quot;:&quot;7727769e63484bff8316e642df87776f&quot;,&quot;X&quot;:{&quot;Pos&quot;:0},&quot;Y&quot;:{&quot;Pos&quot;:1}},&quot;whChangeMode&quot;:0}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FILL_FORE_SCHEMECOLOR_INDEX_BRIGHTNESS" val="0.4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1"/>
  <p:tag name="KSO_WM_UNIT_USESOURCEFORMAT_APPLY" val="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5_1"/>
  <p:tag name="KSO_WM_UNIT_ID" val="diagram20210129_4*l_h_i*1_5_1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2fccc7cfe0a94a03964fef3a6bcbba88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1},&quot;ReferentInfo&quot;:{&quot;Id&quot;:&quot;53c010be7e1347ceaad05fcf213bdb85&quot;,&quot;X&quot;:{&quot;Pos&quot;:1},&quot;Y&quot;:{&quot;Pos&quot;:1}},&quot;whChangeMode&quot;:0}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13"/>
  <p:tag name="KSO_WM_UNIT_TEXT_FILL_TYPE" val="1"/>
  <p:tag name="KSO_WM_UNIT_VALUE" val="6"/>
  <p:tag name="KSO_WM_UNIT_USESOURCEFORMAT_APPLY" val="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添加正文，文字是您思想的提炼，请尽量言简意赅的阐述观点。"/>
  <p:tag name="KSO_WM_UNIT_NOCLEAR" val="0"/>
  <p:tag name="KSO_WM_UNIT_VALUE" val="49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5_1"/>
  <p:tag name="KSO_WM_UNIT_ID" val="diagram20210129_4*l_h_f*1_5_1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DEFAULT_FONT" val="14;20;2"/>
  <p:tag name="KSO_WM_UNIT_BLOCK" val="0"/>
  <p:tag name="KSO_WM_UNIT_DEC_AREA_ID" val="84bac5f5da5744a784b90ba5919c6c07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TEXT_FILL_FORE_SCHEMECOLOR_INDEX_BRIGHTNESS" val="0.25"/>
  <p:tag name="KSO_WM_UNIT_TEXT_FILL_FORE_SCHEMECOLOR_INDEX" val="13"/>
  <p:tag name="KSO_WM_UNIT_TEXT_FILL_TYPE" val="1"/>
  <p:tag name="KSO_WM_UNIT_USESOURCEFORMAT_APPLY" val="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5_2"/>
  <p:tag name="KSO_WM_UNIT_ID" val="diagram20210129_4*l_h_i*1_5_2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53c010be7e1347ceaad05fcf213bdb85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2},&quot;ReferentInfo&quot;:{&quot;Id&quot;:&quot;84bac5f5da5744a784b90ba5919c6c07&quot;,&quot;X&quot;:{&quot;Pos&quot;:1},&quot;Y&quot;:{&quot;Pos&quot;:0}},&quot;whChangeMode&quot;:0}"/>
  <p:tag name="KSO_WM_UNIT_DEFAULT_FONT" val="18;36;2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TEXT_FILL_FORE_SCHEMECOLOR_INDEX_BRIGHTNESS" val="-0.25"/>
  <p:tag name="KSO_WM_UNIT_TEXT_FILL_FORE_SCHEMECOLOR_INDEX" val="5"/>
  <p:tag name="KSO_WM_UNIT_TEXT_FILL_TYPE" val="1"/>
  <p:tag name="KSO_WM_UNIT_VALUE" val="1"/>
  <p:tag name="KSO_WM_UNIT_USESOURCEFORMAT_APPLY" val="1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5_2"/>
  <p:tag name="KSO_WM_UNIT_ID" val="diagram20210129_4*l_h_i*1_5_2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0b803d1f78ef49d09ddb1edf22e1f8f1"/>
  <p:tag name="KSO_WM_UNIT_DECORATE_INFO" val="{&quot;DecorateInfoH&quot;:{&quot;IsAbs&quot;:true},&quot;DecorateInfoW&quot;:{&quot;IsAbs&quot;:true},&quot;DecorateInfoX&quot;:{&quot;IsAbs&quot;:true,&quot;Pos&quot;:2},&quot;DecorateInfoY&quot;:{&quot;IsAbs&quot;:true,&quot;Pos&quot;:1},&quot;ReferentInfo&quot;:{&quot;Id&quot;:&quot;53c010be7e1347ceaad05fcf213bdb85&quot;,&quot;X&quot;:{&quot;Pos&quot;:0},&quot;Y&quot;:{&quot;Pos&quot;:1}},&quot;whChangeMode&quot;:0}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FILL_FORE_SCHEMECOLOR_INDEX_BRIGHTNESS" val="0.4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1"/>
  <p:tag name="KSO_WM_UNIT_USESOURCEFORMAT_APPLY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ff622b1c-a68e-4871-ad81-49407f2a11ef}"/>
  <p:tag name="TABLE_ENDDRAG_ORIGIN_RECT" val="428*197"/>
  <p:tag name="TABLE_ENDDRAG_RECT" val="387*195*429*197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7597.6944881889767,&quot;width&quot;:6803.9055118110236}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5110,&quot;width&quot;:5382}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2664,&quot;width&quot;:2928}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755,&quot;width&quot;:3000}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08726_1"/>
  <p:tag name="KSO_WM_TEMPLATE_SUBCATEGORY" val="21"/>
  <p:tag name="KSO_WM_SLIDE_TYPE" val="text"/>
  <p:tag name="KSO_WM_SLIDE_SUBTYPE" val="picTxt"/>
  <p:tag name="KSO_WM_SLIDE_ITEM_CNT" val="0"/>
  <p:tag name="KSO_WM_SLIDE_INDEX" val="1"/>
  <p:tag name="KSO_WM_SLIDE_SIZE" val="960*507"/>
  <p:tag name="KSO_WM_SLIDE_POSITION" val="0*33"/>
  <p:tag name="KSO_WM_TAG_VERSION" val="1.0"/>
  <p:tag name="KSO_WM_BEAUTIFY_FLAG" val="#wm#"/>
  <p:tag name="KSO_WM_TEMPLATE_CATEGORY" val="diagram"/>
  <p:tag name="KSO_WM_TEMPLATE_INDEX" val="20208726"/>
  <p:tag name="KSO_WM_SLIDE_LAYOUT" val="a_d"/>
  <p:tag name="KSO_WM_SLIDE_LAYOUT_CNT" val="1_1"/>
  <p:tag name="KSO_WM_TEMPLATE_MASTER_TYPE" val="0"/>
  <p:tag name="KSO_WM_TEMPLATE_COLOR_TYPE" val="1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0-06-26T09:50:13&quot;,&quot;maxSize&quot;:{&quot;size1&quot;:31.395491917928059},&quot;minSize&quot;:{&quot;size1&quot;:22.49549191792806},&quot;normalSize&quot;:{&quot;size1&quot;:25.769493307844115},&quot;subLayout&quot;:[{&quot;id&quot;:&quot;2020-06-26T09:50:13&quot;,&quot;margin&quot;:{&quot;bottom&quot;:0.42300000786781311,&quot;left&quot;:5.5029997825622559,&quot;right&quot;:5.5029997825622559,&quot;top&quot;:2.9630000591278076},&quot;type&quot;:0},{&quot;id&quot;:&quot;2020-06-26T09:50:13&quot;,&quot;margin&quot;:{&quot;bottom&quot;:2.5399999618530273,&quot;left&quot;:5.5029997825622559,&quot;right&quot;:5.5029997825622559,&quot;top&quot;:2.1170001029968262},&quot;type&quot;:0}],&quot;type&quot;:0}"/>
  <p:tag name="KSO_WM_SLIDE_BACKGROUND" val="[&quot;general&quot;]"/>
  <p:tag name="KSO_WM_SLIDE_RATIO" val="1.777778"/>
  <p:tag name="KSO_WM_CHIP_INFOS" val="{&quot;layout_type&quot;:&quot;topbottom&quot;,&quot;tags&quot;:{&quot;style&quot;:[&quot;商务&quot;,&quot;简约&quot;,&quot;文艺清新&quot;,&quot;中国风&quot;,&quot;卡通&quot;,&quot;欧美风&quot;,&quot;黑板风&quot;,&quot;渐变风&quot;,&quot;党政风&quot;]},&quot;slide_type&quot;:[&quot;text&quot;],&quot;aspect_ratio&quot;:&quot;16:9&quot;}"/>
  <p:tag name="KSO_WM_CHIP_FILLPROP" val="[[{&quot;fill_id&quot;:&quot;ae62fc3b35c9411d905b7bc231385e5c&quot;,&quot;fill_align&quot;:&quot;cm&quot;,&quot;text_align&quot;:&quot;cm&quot;,&quot;text_direction&quot;:&quot;horizontal&quot;,&quot;chip_types&quot;:[&quot;header&quot;]},{&quot;fill_id&quot;:&quot;fd2aa0c658d24d49b39a205f095b05d5&quot;,&quot;fill_align&quot;:&quot;cm&quot;,&quot;text_align&quot;:&quot;lm&quot;,&quot;text_direction&quot;:&quot;horizontal&quot;,&quot;chip_types&quot;:[&quot;text&quot;]}],[{&quot;fill_id&quot;:&quot;ae62fc3b35c9411d905b7bc231385e5c&quot;,&quot;fill_align&quot;:&quot;cm&quot;,&quot;text_align&quot;:&quot;cm&quot;,&quot;text_direction&quot;:&quot;horizontal&quot;,&quot;chip_types&quot;:[&quot;header&quot;]},{&quot;fill_id&quot;:&quot;fd2aa0c658d24d49b39a205f095b05d5&quot;,&quot;fill_align&quot;:&quot;cm&quot;,&quot;text_align&quot;:&quot;cm&quot;,&quot;text_direction&quot;:&quot;horizontal&quot;,&quot;chip_types&quot;:[&quot;diagram&quot;,&quot;pictext&quot;,&quot;picture&quot;,&quot;chart&quot;,&quot;table&quot;,&quot;video&quot;]}]]"/>
  <p:tag name="KSO_WM_CHIP_XID" val="5ef16cf55bb2a422ac9a2b3a"/>
  <p:tag name="KSO_WM_CHIP_GROUPID" val="5ef16cf55bb2a422ac9a2b39"/>
  <p:tag name="KSO_WM_SLIDE_BK_DARK_LIGHT" val="2"/>
  <p:tag name="KSO_WM_SLIDE_BACKGROUND_TYPE" val="general"/>
  <p:tag name="KSO_WM_SLIDE_SUPPORT_FEATURE_TYPE" val="0"/>
  <p:tag name="KSO_WM_TEMPLATE_ASSEMBLE_XID" val="5ef55454ea5a3ac527a189e3"/>
  <p:tag name="KSO_WM_TEMPLATE_ASSEMBLE_GROUPID" val="5ef55454ea5a3ac527a189e3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08726_1*i*1"/>
  <p:tag name="KSO_WM_TEMPLATE_CATEGORY" val="diagram"/>
  <p:tag name="KSO_WM_TEMPLATE_INDEX" val="20208726"/>
  <p:tag name="KSO_WM_UNIT_LAYERLEVEL" val="1"/>
  <p:tag name="KSO_WM_TAG_VERSION" val="1.0"/>
  <p:tag name="KSO_WM_BEAUTIFY_FLAG" val="#wm#"/>
  <p:tag name="KSO_WM_UNIT_BLOCK" val="0"/>
  <p:tag name="KSO_WM_UNIT_SM_LIMIT_TYPE" val="1"/>
  <p:tag name="KSO_WM_UNIT_DEC_AREA_ID" val="869a47cc434a46408bb65052c05f2790"/>
  <p:tag name="KSO_WM_UNIT_DECORATE_INFO" val="{&quot;ReferentInfo&quot;:{&quot;X&quot;:{&quot;Pos&quot;:0},&quot;Y&quot;:{&quot;Pos&quot;:0}},&quot;DecorateInfoX&quot;:{&quot;Pos&quot;:0,&quot;IsAbs&quot;:false},&quot;DecorateInfoY&quot;:{&quot;Pos&quot;:0,&quot;IsAbs&quot;:false},&quot;DecorateInfoW&quot;:{&quot;IsAbs&quot;:true},&quot;DecorateInfoH&quot;:{&quot;IsAbs&quot;:true}}"/>
  <p:tag name="KSO_WM_CHIP_GROUPID" val="5ef16cf55bb2a422ac9a2b39"/>
  <p:tag name="KSO_WM_CHIP_XID" val="5ef16cf55bb2a422ac9a2b3a"/>
  <p:tag name="KSO_WM_UNIT_FILL_FORE_SCHEMECOLOR_INDEX_BRIGHTNESS" val="0"/>
  <p:tag name="KSO_WM_UNIT_FILL_FORE_SCHEMECOLOR_INDEX" val="15"/>
  <p:tag name="KSO_WM_UNIT_FILL_BACK_SCHEMECOLOR_INDEX_BRIGHTNESS" val="0"/>
  <p:tag name="KSO_WM_UNIT_FILL_BACK_SCHEMECOLOR_INDEX" val="14"/>
  <p:tag name="KSO_WM_UNIT_FILL_TYPE" val="2"/>
  <p:tag name="KSO_WM_UNIT_TEXT_FILL_FORE_SCHEMECOLOR_INDEX_BRIGHTNESS" val="0"/>
  <p:tag name="KSO_WM_UNIT_TEXT_FILL_FORE_SCHEMECOLOR_INDEX" val="2"/>
  <p:tag name="KSO_WM_UNIT_TEXT_FILL_TYPE" val="1"/>
  <p:tag name="KSO_WM_UNIT_VALUE" val="477"/>
  <p:tag name="KSO_WM_TEMPLATE_ASSEMBLE_XID" val="5ef55454ea5a3ac527a189e3"/>
  <p:tag name="KSO_WM_TEMPLATE_ASSEMBLE_GROUPID" val="5ef55454ea5a3ac527a189e3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208726_1*i*2"/>
  <p:tag name="KSO_WM_TEMPLATE_CATEGORY" val="diagram"/>
  <p:tag name="KSO_WM_TEMPLATE_INDEX" val="20208726"/>
  <p:tag name="KSO_WM_UNIT_LAYERLEVEL" val="1"/>
  <p:tag name="KSO_WM_TAG_VERSION" val="1.0"/>
  <p:tag name="KSO_WM_BEAUTIFY_FLAG" val="#wm#"/>
  <p:tag name="KSO_WM_UNIT_BLOCK" val="0"/>
  <p:tag name="KSO_WM_UNIT_SM_LIMIT_TYPE" val="2"/>
  <p:tag name="KSO_WM_UNIT_DEC_AREA_ID" val="c4ce87efa6da456eba5f87ab75ba3aa6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1},&quot;ReferentInfo&quot;:{&quot;Id&quot;:&quot;6618fb3c5f874e68a20589c3b602507e&quot;,&quot;X&quot;:{&quot;Pos&quot;:1},&quot;Y&quot;:{&quot;Pos&quot;:1}}}"/>
  <p:tag name="KSO_WM_CHIP_GROUPID" val="5ef16cf55bb2a422ac9a2b39"/>
  <p:tag name="KSO_WM_CHIP_XID" val="5ef16cf55bb2a422ac9a2b3a"/>
  <p:tag name="KSO_WM_UNIT_FILL_FORE_SCHEMECOLOR_INDEX_BRIGHTNESS" val="0"/>
  <p:tag name="KSO_WM_UNIT_FILL_FORE_SCHEMECOLOR_INDEX" val="14"/>
  <p:tag name="KSO_WM_UNIT_FILL_TYPE" val="1"/>
  <p:tag name="KSO_WM_UNIT_SHADOW_SCHEMECOLOR_INDEX_BRIGHTNESS" val="0"/>
  <p:tag name="KSO_WM_UNIT_SHADOW_SCHEMECOLOR_INDEX" val="13"/>
  <p:tag name="KSO_WM_UNIT_TEXT_FILL_FORE_SCHEMECOLOR_INDEX_BRIGHTNESS" val="0"/>
  <p:tag name="KSO_WM_UNIT_TEXT_FILL_FORE_SCHEMECOLOR_INDEX" val="2"/>
  <p:tag name="KSO_WM_UNIT_TEXT_FILL_TYPE" val="1"/>
  <p:tag name="KSO_WM_UNIT_VALUE" val="114"/>
  <p:tag name="KSO_WM_TEMPLATE_ASSEMBLE_XID" val="5ef55454ea5a3ac527a189e3"/>
  <p:tag name="KSO_WM_TEMPLATE_ASSEMBLE_GROUPID" val="5ef55454ea5a3ac527a189e3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diagram20208726_1*i*7"/>
  <p:tag name="KSO_WM_TEMPLATE_CATEGORY" val="diagram"/>
  <p:tag name="KSO_WM_TEMPLATE_INDEX" val="20208726"/>
  <p:tag name="KSO_WM_UNIT_LAYERLEVEL" val="1"/>
  <p:tag name="KSO_WM_TAG_VERSION" val="1.0"/>
  <p:tag name="KSO_WM_BEAUTIFY_FLAG" val="#wm#"/>
  <p:tag name="KSO_WM_UNIT_BLOCK" val="0"/>
  <p:tag name="KSO_WM_UNIT_SM_LIMIT_TYPE" val="2"/>
  <p:tag name="KSO_WM_UNIT_DEC_AREA_ID" val="bcde86d968184e51b1cbdb20e2dfff00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1},&quot;ReferentInfo&quot;:{&quot;Id&quot;:&quot;2a0b84ff2b9a4700b2ebecd3d5d2b889&quot;,&quot;X&quot;:{&quot;Pos&quot;:1},&quot;Y&quot;:{&quot;Pos&quot;:1}}}"/>
  <p:tag name="KSO_WM_CHIP_GROUPID" val="5ef16cf55bb2a422ac9a2b39"/>
  <p:tag name="KSO_WM_CHIP_XID" val="5ef16cf55bb2a422ac9a2b3a"/>
  <p:tag name="KSO_WM_UNIT_FILL_FORE_SCHEMECOLOR_INDEX_BRIGHTNESS" val="0"/>
  <p:tag name="KSO_WM_UNIT_FILL_FORE_SCHEMECOLOR_INDEX" val="14"/>
  <p:tag name="KSO_WM_UNIT_FILL_TYPE" val="1"/>
  <p:tag name="KSO_WM_UNIT_SHADOW_SCHEMECOLOR_INDEX_BRIGHTNESS" val="0"/>
  <p:tag name="KSO_WM_UNIT_SHADOW_SCHEMECOLOR_INDEX" val="13"/>
  <p:tag name="KSO_WM_UNIT_TEXT_FILL_FORE_SCHEMECOLOR_INDEX_BRIGHTNESS" val="0"/>
  <p:tag name="KSO_WM_UNIT_TEXT_FILL_FORE_SCHEMECOLOR_INDEX" val="2"/>
  <p:tag name="KSO_WM_UNIT_TEXT_FILL_TYPE" val="1"/>
  <p:tag name="KSO_WM_UNIT_VALUE" val="380"/>
  <p:tag name="KSO_WM_TEMPLATE_ASSEMBLE_XID" val="5ef55454ea5a3ac527a189e3"/>
  <p:tag name="KSO_WM_TEMPLATE_ASSEMBLE_GROUPID" val="5ef55454ea5a3ac527a189e3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27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08726_1*a*1"/>
  <p:tag name="KSO_WM_TEMPLATE_CATEGORY" val="diagram"/>
  <p:tag name="KSO_WM_TEMPLATE_INDEX" val="20208726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6618fb3c5f874e68a20589c3b602507e"/>
  <p:tag name="KSO_WM_ASSEMBLE_CHIP_INDEX" val="cf455a0210784292bf56397ada7cc389"/>
  <p:tag name="KSO_WM_UNIT_TEXT_FILL_FORE_SCHEMECOLOR_INDEX_BRIGHTNESS" val="0"/>
  <p:tag name="KSO_WM_UNIT_TEXT_FILL_FORE_SCHEMECOLOR_INDEX" val="13"/>
  <p:tag name="KSO_WM_UNIT_TEXT_FILL_TYPE" val="1"/>
  <p:tag name="KSO_WM_TEMPLATE_ASSEMBLE_XID" val="5ef55454ea5a3ac527a189e3"/>
  <p:tag name="KSO_WM_TEMPLATE_ASSEMBLE_GROUPID" val="5ef55454ea5a3ac527a189e3"/>
  <p:tag name="KSO_WM_UNIT_SMARTLAYOUT_COMPRESS_INFO" val="{&#10;    &quot;id&quot;: &quot;2020-06-26T09:50:13&quot;,&#10;    &quot;max&quot;: 9.9359201546418774,&#10;    &quot;parentMax&quot;: {&#10;        &quot;max&quot;: 2.3390404752793827&#10;    },&#10;    &quot;topChanged&quot;: 9.889445190429683&#10;}&#10;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2_1"/>
  <p:tag name="KSO_WM_UNIT_ID" val="diagram20210129_4*l_h_i*1_2_1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59da7e6ec43e4feb9298f18bea997348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1},&quot;ReferentInfo&quot;:{&quot;Id&quot;:&quot;b59d62ad1efa49a7814a432af9fe78d0&quot;,&quot;X&quot;:{&quot;Pos&quot;:1},&quot;Y&quot;:{&quot;Pos&quot;:1}},&quot;whChangeMode&quot;:0}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13"/>
  <p:tag name="KSO_WM_UNIT_TEXT_FILL_TYPE" val="1"/>
  <p:tag name="KSO_WM_UNIT_VALUE" val="6"/>
  <p:tag name="KSO_WM_UNIT_USESOURCEFORMAT_APPLY" val="1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添加正文，文字是您思想的提炼，请尽量言简意赅的阐述观点。"/>
  <p:tag name="KSO_WM_UNIT_NOCLEAR" val="0"/>
  <p:tag name="KSO_WM_UNIT_VALUE" val="49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10129_4*l_h_f*1_2_1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DEFAULT_FONT" val="14;20;2"/>
  <p:tag name="KSO_WM_UNIT_BLOCK" val="0"/>
  <p:tag name="KSO_WM_UNIT_DEC_AREA_ID" val="34b132e5c4a443288f0a499a2a868f21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TEXT_FILL_FORE_SCHEMECOLOR_INDEX_BRIGHTNESS" val="0.25"/>
  <p:tag name="KSO_WM_UNIT_TEXT_FILL_FORE_SCHEMECOLOR_INDEX" val="13"/>
  <p:tag name="KSO_WM_UNIT_TEXT_FILL_TYPE" val="1"/>
  <p:tag name="KSO_WM_UNIT_USESOURCEFORMAT_APPLY" val="1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2_2"/>
  <p:tag name="KSO_WM_UNIT_ID" val="diagram20210129_4*l_h_i*1_2_2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b59d62ad1efa49a7814a432af9fe78d0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2},&quot;ReferentInfo&quot;:{&quot;Id&quot;:&quot;34b132e5c4a443288f0a499a2a868f21&quot;,&quot;X&quot;:{&quot;Pos&quot;:1},&quot;Y&quot;:{&quot;Pos&quot;:0}},&quot;whChangeMode&quot;:0}"/>
  <p:tag name="KSO_WM_UNIT_DEFAULT_FONT" val="18;36;2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TEXT_FILL_FORE_SCHEMECOLOR_INDEX_BRIGHTNESS" val="-0.25"/>
  <p:tag name="KSO_WM_UNIT_TEXT_FILL_FORE_SCHEMECOLOR_INDEX" val="5"/>
  <p:tag name="KSO_WM_UNIT_TEXT_FILL_TYPE" val="1"/>
  <p:tag name="KSO_WM_UNIT_VALUE" val="1"/>
  <p:tag name="KSO_WM_UNIT_USESOURCEFORMAT_APPLY" val="1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2_2"/>
  <p:tag name="KSO_WM_UNIT_ID" val="diagram20210129_4*l_h_i*1_2_2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70d7a2d2c86d4c9db8b4a0d9151012cf"/>
  <p:tag name="KSO_WM_UNIT_DECORATE_INFO" val="{&quot;DecorateInfoH&quot;:{&quot;IsAbs&quot;:true},&quot;DecorateInfoW&quot;:{&quot;IsAbs&quot;:true},&quot;DecorateInfoX&quot;:{&quot;IsAbs&quot;:true,&quot;Pos&quot;:2},&quot;DecorateInfoY&quot;:{&quot;IsAbs&quot;:true,&quot;Pos&quot;:1},&quot;ReferentInfo&quot;:{&quot;Id&quot;:&quot;b59d62ad1efa49a7814a432af9fe78d0&quot;,&quot;X&quot;:{&quot;Pos&quot;:0},&quot;Y&quot;:{&quot;Pos&quot;:1}},&quot;whChangeMode&quot;:0}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FILL_FORE_SCHEMECOLOR_INDEX_BRIGHTNESS" val="0.4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1"/>
  <p:tag name="KSO_WM_UNIT_USESOURCEFORMAT_APPLY" val="1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3_1"/>
  <p:tag name="KSO_WM_UNIT_ID" val="diagram20210129_4*l_h_i*1_3_1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b6081f06af7546549cd304a627ac5bf6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1},&quot;ReferentInfo&quot;:{&quot;Id&quot;:&quot;7c5b9ba033db4be7921036f8d9ac71fa&quot;,&quot;X&quot;:{&quot;Pos&quot;:1},&quot;Y&quot;:{&quot;Pos&quot;:1}},&quot;whChangeMode&quot;:0}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13"/>
  <p:tag name="KSO_WM_UNIT_TEXT_FILL_TYPE" val="1"/>
  <p:tag name="KSO_WM_UNIT_VALUE" val="6"/>
  <p:tag name="KSO_WM_UNIT_USESOURCEFORMAT_APPLY" val="1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添加正文，文字是您思想的提炼，请尽量言简意赅的阐述观点。"/>
  <p:tag name="KSO_WM_UNIT_NOCLEAR" val="0"/>
  <p:tag name="KSO_WM_UNIT_VALUE" val="49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10129_4*l_h_f*1_3_1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DEFAULT_FONT" val="14;20;2"/>
  <p:tag name="KSO_WM_UNIT_BLOCK" val="0"/>
  <p:tag name="KSO_WM_UNIT_DEC_AREA_ID" val="9139da38a7254bbdae206e7c3badbfdc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TEXT_FILL_FORE_SCHEMECOLOR_INDEX_BRIGHTNESS" val="0.25"/>
  <p:tag name="KSO_WM_UNIT_TEXT_FILL_FORE_SCHEMECOLOR_INDEX" val="13"/>
  <p:tag name="KSO_WM_UNIT_TEXT_FILL_TYPE" val="1"/>
  <p:tag name="KSO_WM_UNIT_USESOURCEFORMAT_APPLY" val="1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3_2"/>
  <p:tag name="KSO_WM_UNIT_ID" val="diagram20210129_4*l_h_i*1_3_2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7c5b9ba033db4be7921036f8d9ac71fa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2},&quot;ReferentInfo&quot;:{&quot;Id&quot;:&quot;9139da38a7254bbdae206e7c3badbfdc&quot;,&quot;X&quot;:{&quot;Pos&quot;:1},&quot;Y&quot;:{&quot;Pos&quot;:0}},&quot;whChangeMode&quot;:0}"/>
  <p:tag name="KSO_WM_UNIT_DEFAULT_FONT" val="18;36;2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TEXT_FILL_FORE_SCHEMECOLOR_INDEX_BRIGHTNESS" val="-0.25"/>
  <p:tag name="KSO_WM_UNIT_TEXT_FILL_FORE_SCHEMECOLOR_INDEX" val="5"/>
  <p:tag name="KSO_WM_UNIT_TEXT_FILL_TYPE" val="1"/>
  <p:tag name="KSO_WM_UNIT_VALUE" val="1"/>
  <p:tag name="KSO_WM_UNIT_USESOURCEFORMAT_APPLY" val="1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3_2"/>
  <p:tag name="KSO_WM_UNIT_ID" val="diagram20210129_4*l_h_i*1_3_2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ec820f4b29364f0d9126a1b5fe20d73d"/>
  <p:tag name="KSO_WM_UNIT_DECORATE_INFO" val="{&quot;DecorateInfoH&quot;:{&quot;IsAbs&quot;:true},&quot;DecorateInfoW&quot;:{&quot;IsAbs&quot;:true},&quot;DecorateInfoX&quot;:{&quot;IsAbs&quot;:true,&quot;Pos&quot;:2},&quot;DecorateInfoY&quot;:{&quot;IsAbs&quot;:true,&quot;Pos&quot;:1},&quot;ReferentInfo&quot;:{&quot;Id&quot;:&quot;7c5b9ba033db4be7921036f8d9ac71fa&quot;,&quot;X&quot;:{&quot;Pos&quot;:0},&quot;Y&quot;:{&quot;Pos&quot;:1}},&quot;whChangeMode&quot;:0}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FILL_FORE_SCHEMECOLOR_INDEX_BRIGHTNESS" val="0.4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1"/>
  <p:tag name="KSO_WM_UNIT_USESOURCEFORMAT_APPLY" val="1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4_1"/>
  <p:tag name="KSO_WM_UNIT_ID" val="diagram20210129_4*l_h_i*1_4_1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39c131c2df22469293f4eda4cafa0add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1},&quot;ReferentInfo&quot;:{&quot;Id&quot;:&quot;7727769e63484bff8316e642df87776f&quot;,&quot;X&quot;:{&quot;Pos&quot;:1},&quot;Y&quot;:{&quot;Pos&quot;:1}},&quot;whChangeMode&quot;:0}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13"/>
  <p:tag name="KSO_WM_UNIT_TEXT_FILL_TYPE" val="1"/>
  <p:tag name="KSO_WM_UNIT_VALUE" val="6"/>
  <p:tag name="KSO_WM_UNIT_USESOURCEFORMAT_APPLY" val="1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添加正文，文字是您思想的提炼，请尽量言简意赅的阐述观点。"/>
  <p:tag name="KSO_WM_UNIT_NOCLEAR" val="0"/>
  <p:tag name="KSO_WM_UNIT_VALUE" val="49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4_1"/>
  <p:tag name="KSO_WM_UNIT_ID" val="diagram20210129_4*l_h_f*1_4_1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DEFAULT_FONT" val="14;20;2"/>
  <p:tag name="KSO_WM_UNIT_BLOCK" val="0"/>
  <p:tag name="KSO_WM_UNIT_DEC_AREA_ID" val="74d740d563994c26aa1d5848c3fc10f8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TEXT_FILL_FORE_SCHEMECOLOR_INDEX_BRIGHTNESS" val="0.25"/>
  <p:tag name="KSO_WM_UNIT_TEXT_FILL_FORE_SCHEMECOLOR_INDEX" val="13"/>
  <p:tag name="KSO_WM_UNIT_TEXT_FILL_TYPE" val="1"/>
  <p:tag name="KSO_WM_UNIT_USESOURCEFORMAT_APPLY" val="1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4_2"/>
  <p:tag name="KSO_WM_UNIT_ID" val="diagram20210129_4*l_h_i*1_4_2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7727769e63484bff8316e642df87776f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2},&quot;ReferentInfo&quot;:{&quot;Id&quot;:&quot;74d740d563994c26aa1d5848c3fc10f8&quot;,&quot;X&quot;:{&quot;Pos&quot;:1},&quot;Y&quot;:{&quot;Pos&quot;:0}},&quot;whChangeMode&quot;:0}"/>
  <p:tag name="KSO_WM_UNIT_DEFAULT_FONT" val="18;36;2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TEXT_FILL_FORE_SCHEMECOLOR_INDEX_BRIGHTNESS" val="-0.25"/>
  <p:tag name="KSO_WM_UNIT_TEXT_FILL_FORE_SCHEMECOLOR_INDEX" val="5"/>
  <p:tag name="KSO_WM_UNIT_TEXT_FILL_TYPE" val="1"/>
  <p:tag name="KSO_WM_UNIT_VALUE" val="1"/>
  <p:tag name="KSO_WM_UNIT_USESOURCEFORMAT_APPLY" val="1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4_2"/>
  <p:tag name="KSO_WM_UNIT_ID" val="diagram20210129_4*l_h_i*1_4_2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7268b2bc951b4a15b816214d5589381a"/>
  <p:tag name="KSO_WM_UNIT_DECORATE_INFO" val="{&quot;DecorateInfoH&quot;:{&quot;IsAbs&quot;:true},&quot;DecorateInfoW&quot;:{&quot;IsAbs&quot;:true},&quot;DecorateInfoX&quot;:{&quot;IsAbs&quot;:true,&quot;Pos&quot;:2},&quot;DecorateInfoY&quot;:{&quot;IsAbs&quot;:true,&quot;Pos&quot;:1},&quot;ReferentInfo&quot;:{&quot;Id&quot;:&quot;7727769e63484bff8316e642df87776f&quot;,&quot;X&quot;:{&quot;Pos&quot;:0},&quot;Y&quot;:{&quot;Pos&quot;:1}},&quot;whChangeMode&quot;:0}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FILL_FORE_SCHEMECOLOR_INDEX_BRIGHTNESS" val="0.4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1"/>
  <p:tag name="KSO_WM_UNIT_USESOURCEFORMAT_APPLY" val="1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5_1"/>
  <p:tag name="KSO_WM_UNIT_ID" val="diagram20210129_4*l_h_i*1_5_1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2fccc7cfe0a94a03964fef3a6bcbba88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1},&quot;ReferentInfo&quot;:{&quot;Id&quot;:&quot;53c010be7e1347ceaad05fcf213bdb85&quot;,&quot;X&quot;:{&quot;Pos&quot;:1},&quot;Y&quot;:{&quot;Pos&quot;:1}},&quot;whChangeMode&quot;:0}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13"/>
  <p:tag name="KSO_WM_UNIT_TEXT_FILL_TYPE" val="1"/>
  <p:tag name="KSO_WM_UNIT_VALUE" val="6"/>
  <p:tag name="KSO_WM_UNIT_USESOURCEFORMAT_APPLY" val="1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添加正文，文字是您思想的提炼，请尽量言简意赅的阐述观点。"/>
  <p:tag name="KSO_WM_UNIT_NOCLEAR" val="0"/>
  <p:tag name="KSO_WM_UNIT_VALUE" val="49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5_1"/>
  <p:tag name="KSO_WM_UNIT_ID" val="diagram20210129_4*l_h_f*1_5_1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DEFAULT_FONT" val="14;20;2"/>
  <p:tag name="KSO_WM_UNIT_BLOCK" val="0"/>
  <p:tag name="KSO_WM_UNIT_DEC_AREA_ID" val="84bac5f5da5744a784b90ba5919c6c07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TEXT_FILL_FORE_SCHEMECOLOR_INDEX_BRIGHTNESS" val="0.25"/>
  <p:tag name="KSO_WM_UNIT_TEXT_FILL_FORE_SCHEMECOLOR_INDEX" val="13"/>
  <p:tag name="KSO_WM_UNIT_TEXT_FILL_TYPE" val="1"/>
  <p:tag name="KSO_WM_UNIT_USESOURCEFORMAT_APPLY" val="1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5_2"/>
  <p:tag name="KSO_WM_UNIT_ID" val="diagram20210129_4*l_h_i*1_5_2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53c010be7e1347ceaad05fcf213bdb85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2},&quot;ReferentInfo&quot;:{&quot;Id&quot;:&quot;84bac5f5da5744a784b90ba5919c6c07&quot;,&quot;X&quot;:{&quot;Pos&quot;:1},&quot;Y&quot;:{&quot;Pos&quot;:0}},&quot;whChangeMode&quot;:0}"/>
  <p:tag name="KSO_WM_UNIT_DEFAULT_FONT" val="18;36;2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TEXT_FILL_FORE_SCHEMECOLOR_INDEX_BRIGHTNESS" val="-0.25"/>
  <p:tag name="KSO_WM_UNIT_TEXT_FILL_FORE_SCHEMECOLOR_INDEX" val="5"/>
  <p:tag name="KSO_WM_UNIT_TEXT_FILL_TYPE" val="1"/>
  <p:tag name="KSO_WM_UNIT_VALUE" val="1"/>
  <p:tag name="KSO_WM_UNIT_USESOURCEFORMAT_APPLY" val="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5_2"/>
  <p:tag name="KSO_WM_UNIT_ID" val="diagram20210129_4*l_h_i*1_5_2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0b803d1f78ef49d09ddb1edf22e1f8f1"/>
  <p:tag name="KSO_WM_UNIT_DECORATE_INFO" val="{&quot;DecorateInfoH&quot;:{&quot;IsAbs&quot;:true},&quot;DecorateInfoW&quot;:{&quot;IsAbs&quot;:true},&quot;DecorateInfoX&quot;:{&quot;IsAbs&quot;:true,&quot;Pos&quot;:2},&quot;DecorateInfoY&quot;:{&quot;IsAbs&quot;:true,&quot;Pos&quot;:1},&quot;ReferentInfo&quot;:{&quot;Id&quot;:&quot;53c010be7e1347ceaad05fcf213bdb85&quot;,&quot;X&quot;:{&quot;Pos&quot;:0},&quot;Y&quot;:{&quot;Pos&quot;:1}},&quot;whChangeMode&quot;:0}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FILL_FORE_SCHEMECOLOR_INDEX_BRIGHTNESS" val="0.4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1"/>
  <p:tag name="KSO_WM_UNIT_USESOURCEFORMAT_APPLY" val="1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4272,&quot;width&quot;:9252}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2.0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0764aa9a-bd84-43d1-9852-d8dd8c2fb92f}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08726_1"/>
  <p:tag name="KSO_WM_TEMPLATE_SUBCATEGORY" val="21"/>
  <p:tag name="KSO_WM_SLIDE_TYPE" val="text"/>
  <p:tag name="KSO_WM_SLIDE_SUBTYPE" val="picTxt"/>
  <p:tag name="KSO_WM_SLIDE_ITEM_CNT" val="0"/>
  <p:tag name="KSO_WM_SLIDE_INDEX" val="1"/>
  <p:tag name="KSO_WM_SLIDE_SIZE" val="960*507"/>
  <p:tag name="KSO_WM_SLIDE_POSITION" val="0*33"/>
  <p:tag name="KSO_WM_TAG_VERSION" val="1.0"/>
  <p:tag name="KSO_WM_BEAUTIFY_FLAG" val="#wm#"/>
  <p:tag name="KSO_WM_TEMPLATE_CATEGORY" val="diagram"/>
  <p:tag name="KSO_WM_TEMPLATE_INDEX" val="20208726"/>
  <p:tag name="KSO_WM_SLIDE_LAYOUT" val="a_d"/>
  <p:tag name="KSO_WM_SLIDE_LAYOUT_CNT" val="1_1"/>
  <p:tag name="KSO_WM_TEMPLATE_MASTER_TYPE" val="0"/>
  <p:tag name="KSO_WM_TEMPLATE_COLOR_TYPE" val="1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0-06-26T09:50:13&quot;,&quot;maxSize&quot;:{&quot;size1&quot;:31.395491917928059},&quot;minSize&quot;:{&quot;size1&quot;:22.49549191792806},&quot;normalSize&quot;:{&quot;size1&quot;:25.769493307844115},&quot;subLayout&quot;:[{&quot;id&quot;:&quot;2020-06-26T09:50:13&quot;,&quot;margin&quot;:{&quot;bottom&quot;:0.42300000786781311,&quot;left&quot;:5.5029997825622559,&quot;right&quot;:5.5029997825622559,&quot;top&quot;:2.9630000591278076},&quot;type&quot;:0},{&quot;id&quot;:&quot;2020-06-26T09:50:13&quot;,&quot;margin&quot;:{&quot;bottom&quot;:2.5399999618530273,&quot;left&quot;:5.5029997825622559,&quot;right&quot;:5.5029997825622559,&quot;top&quot;:2.1170001029968262},&quot;type&quot;:0}],&quot;type&quot;:0}"/>
  <p:tag name="KSO_WM_SLIDE_BACKGROUND" val="[&quot;general&quot;]"/>
  <p:tag name="KSO_WM_SLIDE_RATIO" val="1.777778"/>
  <p:tag name="KSO_WM_CHIP_INFOS" val="{&quot;layout_type&quot;:&quot;topbottom&quot;,&quot;tags&quot;:{&quot;style&quot;:[&quot;商务&quot;,&quot;简约&quot;,&quot;文艺清新&quot;,&quot;中国风&quot;,&quot;卡通&quot;,&quot;欧美风&quot;,&quot;黑板风&quot;,&quot;渐变风&quot;,&quot;党政风&quot;]},&quot;slide_type&quot;:[&quot;text&quot;],&quot;aspect_ratio&quot;:&quot;16:9&quot;}"/>
  <p:tag name="KSO_WM_CHIP_FILLPROP" val="[[{&quot;fill_id&quot;:&quot;ae62fc3b35c9411d905b7bc231385e5c&quot;,&quot;fill_align&quot;:&quot;cm&quot;,&quot;text_align&quot;:&quot;cm&quot;,&quot;text_direction&quot;:&quot;horizontal&quot;,&quot;chip_types&quot;:[&quot;header&quot;]},{&quot;fill_id&quot;:&quot;fd2aa0c658d24d49b39a205f095b05d5&quot;,&quot;fill_align&quot;:&quot;cm&quot;,&quot;text_align&quot;:&quot;lm&quot;,&quot;text_direction&quot;:&quot;horizontal&quot;,&quot;chip_types&quot;:[&quot;text&quot;]}],[{&quot;fill_id&quot;:&quot;ae62fc3b35c9411d905b7bc231385e5c&quot;,&quot;fill_align&quot;:&quot;cm&quot;,&quot;text_align&quot;:&quot;cm&quot;,&quot;text_direction&quot;:&quot;horizontal&quot;,&quot;chip_types&quot;:[&quot;header&quot;]},{&quot;fill_id&quot;:&quot;fd2aa0c658d24d49b39a205f095b05d5&quot;,&quot;fill_align&quot;:&quot;cm&quot;,&quot;text_align&quot;:&quot;cm&quot;,&quot;text_direction&quot;:&quot;horizontal&quot;,&quot;chip_types&quot;:[&quot;diagram&quot;,&quot;pictext&quot;,&quot;picture&quot;,&quot;chart&quot;,&quot;table&quot;,&quot;video&quot;]}]]"/>
  <p:tag name="KSO_WM_CHIP_XID" val="5ef16cf55bb2a422ac9a2b3a"/>
  <p:tag name="KSO_WM_CHIP_GROUPID" val="5ef16cf55bb2a422ac9a2b39"/>
  <p:tag name="KSO_WM_SLIDE_BK_DARK_LIGHT" val="2"/>
  <p:tag name="KSO_WM_SLIDE_BACKGROUND_TYPE" val="general"/>
  <p:tag name="KSO_WM_SLIDE_SUPPORT_FEATURE_TYPE" val="0"/>
  <p:tag name="KSO_WM_TEMPLATE_ASSEMBLE_XID" val="5ef55454ea5a3ac527a189e3"/>
  <p:tag name="KSO_WM_TEMPLATE_ASSEMBLE_GROUPID" val="5ef55454ea5a3ac527a189e3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08726_1*i*1"/>
  <p:tag name="KSO_WM_TEMPLATE_CATEGORY" val="diagram"/>
  <p:tag name="KSO_WM_TEMPLATE_INDEX" val="20208726"/>
  <p:tag name="KSO_WM_UNIT_LAYERLEVEL" val="1"/>
  <p:tag name="KSO_WM_TAG_VERSION" val="1.0"/>
  <p:tag name="KSO_WM_BEAUTIFY_FLAG" val="#wm#"/>
  <p:tag name="KSO_WM_UNIT_BLOCK" val="0"/>
  <p:tag name="KSO_WM_UNIT_SM_LIMIT_TYPE" val="1"/>
  <p:tag name="KSO_WM_UNIT_DEC_AREA_ID" val="869a47cc434a46408bb65052c05f2790"/>
  <p:tag name="KSO_WM_UNIT_DECORATE_INFO" val="{&quot;ReferentInfo&quot;:{&quot;X&quot;:{&quot;Pos&quot;:0},&quot;Y&quot;:{&quot;Pos&quot;:0}},&quot;DecorateInfoX&quot;:{&quot;Pos&quot;:0,&quot;IsAbs&quot;:false},&quot;DecorateInfoY&quot;:{&quot;Pos&quot;:0,&quot;IsAbs&quot;:false},&quot;DecorateInfoW&quot;:{&quot;IsAbs&quot;:true},&quot;DecorateInfoH&quot;:{&quot;IsAbs&quot;:true}}"/>
  <p:tag name="KSO_WM_CHIP_GROUPID" val="5ef16cf55bb2a422ac9a2b39"/>
  <p:tag name="KSO_WM_CHIP_XID" val="5ef16cf55bb2a422ac9a2b3a"/>
  <p:tag name="KSO_WM_UNIT_FILL_FORE_SCHEMECOLOR_INDEX_BRIGHTNESS" val="0"/>
  <p:tag name="KSO_WM_UNIT_FILL_FORE_SCHEMECOLOR_INDEX" val="15"/>
  <p:tag name="KSO_WM_UNIT_FILL_BACK_SCHEMECOLOR_INDEX_BRIGHTNESS" val="0"/>
  <p:tag name="KSO_WM_UNIT_FILL_BACK_SCHEMECOLOR_INDEX" val="14"/>
  <p:tag name="KSO_WM_UNIT_FILL_TYPE" val="2"/>
  <p:tag name="KSO_WM_UNIT_TEXT_FILL_FORE_SCHEMECOLOR_INDEX_BRIGHTNESS" val="0"/>
  <p:tag name="KSO_WM_UNIT_TEXT_FILL_FORE_SCHEMECOLOR_INDEX" val="2"/>
  <p:tag name="KSO_WM_UNIT_TEXT_FILL_TYPE" val="1"/>
  <p:tag name="KSO_WM_UNIT_VALUE" val="477"/>
  <p:tag name="KSO_WM_TEMPLATE_ASSEMBLE_XID" val="5ef55454ea5a3ac527a189e3"/>
  <p:tag name="KSO_WM_TEMPLATE_ASSEMBLE_GROUPID" val="5ef55454ea5a3ac527a189e3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208726_1*i*2"/>
  <p:tag name="KSO_WM_TEMPLATE_CATEGORY" val="diagram"/>
  <p:tag name="KSO_WM_TEMPLATE_INDEX" val="20208726"/>
  <p:tag name="KSO_WM_UNIT_LAYERLEVEL" val="1"/>
  <p:tag name="KSO_WM_TAG_VERSION" val="1.0"/>
  <p:tag name="KSO_WM_BEAUTIFY_FLAG" val="#wm#"/>
  <p:tag name="KSO_WM_UNIT_BLOCK" val="0"/>
  <p:tag name="KSO_WM_UNIT_SM_LIMIT_TYPE" val="2"/>
  <p:tag name="KSO_WM_UNIT_DEC_AREA_ID" val="c4ce87efa6da456eba5f87ab75ba3aa6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1},&quot;ReferentInfo&quot;:{&quot;Id&quot;:&quot;6618fb3c5f874e68a20589c3b602507e&quot;,&quot;X&quot;:{&quot;Pos&quot;:1},&quot;Y&quot;:{&quot;Pos&quot;:1}}}"/>
  <p:tag name="KSO_WM_CHIP_GROUPID" val="5ef16cf55bb2a422ac9a2b39"/>
  <p:tag name="KSO_WM_CHIP_XID" val="5ef16cf55bb2a422ac9a2b3a"/>
  <p:tag name="KSO_WM_UNIT_FILL_FORE_SCHEMECOLOR_INDEX_BRIGHTNESS" val="0"/>
  <p:tag name="KSO_WM_UNIT_FILL_FORE_SCHEMECOLOR_INDEX" val="14"/>
  <p:tag name="KSO_WM_UNIT_FILL_TYPE" val="1"/>
  <p:tag name="KSO_WM_UNIT_SHADOW_SCHEMECOLOR_INDEX_BRIGHTNESS" val="0"/>
  <p:tag name="KSO_WM_UNIT_SHADOW_SCHEMECOLOR_INDEX" val="13"/>
  <p:tag name="KSO_WM_UNIT_TEXT_FILL_FORE_SCHEMECOLOR_INDEX_BRIGHTNESS" val="0"/>
  <p:tag name="KSO_WM_UNIT_TEXT_FILL_FORE_SCHEMECOLOR_INDEX" val="2"/>
  <p:tag name="KSO_WM_UNIT_TEXT_FILL_TYPE" val="1"/>
  <p:tag name="KSO_WM_UNIT_VALUE" val="114"/>
  <p:tag name="KSO_WM_TEMPLATE_ASSEMBLE_XID" val="5ef55454ea5a3ac527a189e3"/>
  <p:tag name="KSO_WM_TEMPLATE_ASSEMBLE_GROUPID" val="5ef55454ea5a3ac527a189e3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diagram20208726_1*i*7"/>
  <p:tag name="KSO_WM_TEMPLATE_CATEGORY" val="diagram"/>
  <p:tag name="KSO_WM_TEMPLATE_INDEX" val="20208726"/>
  <p:tag name="KSO_WM_UNIT_LAYERLEVEL" val="1"/>
  <p:tag name="KSO_WM_TAG_VERSION" val="1.0"/>
  <p:tag name="KSO_WM_BEAUTIFY_FLAG" val="#wm#"/>
  <p:tag name="KSO_WM_UNIT_BLOCK" val="0"/>
  <p:tag name="KSO_WM_UNIT_SM_LIMIT_TYPE" val="2"/>
  <p:tag name="KSO_WM_UNIT_DEC_AREA_ID" val="bcde86d968184e51b1cbdb20e2dfff00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1},&quot;ReferentInfo&quot;:{&quot;Id&quot;:&quot;2a0b84ff2b9a4700b2ebecd3d5d2b889&quot;,&quot;X&quot;:{&quot;Pos&quot;:1},&quot;Y&quot;:{&quot;Pos&quot;:1}}}"/>
  <p:tag name="KSO_WM_CHIP_GROUPID" val="5ef16cf55bb2a422ac9a2b39"/>
  <p:tag name="KSO_WM_CHIP_XID" val="5ef16cf55bb2a422ac9a2b3a"/>
  <p:tag name="KSO_WM_UNIT_FILL_FORE_SCHEMECOLOR_INDEX_BRIGHTNESS" val="0"/>
  <p:tag name="KSO_WM_UNIT_FILL_FORE_SCHEMECOLOR_INDEX" val="14"/>
  <p:tag name="KSO_WM_UNIT_FILL_TYPE" val="1"/>
  <p:tag name="KSO_WM_UNIT_SHADOW_SCHEMECOLOR_INDEX_BRIGHTNESS" val="0"/>
  <p:tag name="KSO_WM_UNIT_SHADOW_SCHEMECOLOR_INDEX" val="13"/>
  <p:tag name="KSO_WM_UNIT_TEXT_FILL_FORE_SCHEMECOLOR_INDEX_BRIGHTNESS" val="0"/>
  <p:tag name="KSO_WM_UNIT_TEXT_FILL_FORE_SCHEMECOLOR_INDEX" val="2"/>
  <p:tag name="KSO_WM_UNIT_TEXT_FILL_TYPE" val="1"/>
  <p:tag name="KSO_WM_UNIT_VALUE" val="380"/>
  <p:tag name="KSO_WM_TEMPLATE_ASSEMBLE_XID" val="5ef55454ea5a3ac527a189e3"/>
  <p:tag name="KSO_WM_TEMPLATE_ASSEMBLE_GROUPID" val="5ef55454ea5a3ac527a189e3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27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08726_1*a*1"/>
  <p:tag name="KSO_WM_TEMPLATE_CATEGORY" val="diagram"/>
  <p:tag name="KSO_WM_TEMPLATE_INDEX" val="20208726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6618fb3c5f874e68a20589c3b602507e"/>
  <p:tag name="KSO_WM_ASSEMBLE_CHIP_INDEX" val="cf455a0210784292bf56397ada7cc389"/>
  <p:tag name="KSO_WM_UNIT_TEXT_FILL_FORE_SCHEMECOLOR_INDEX_BRIGHTNESS" val="0"/>
  <p:tag name="KSO_WM_UNIT_TEXT_FILL_FORE_SCHEMECOLOR_INDEX" val="13"/>
  <p:tag name="KSO_WM_UNIT_TEXT_FILL_TYPE" val="1"/>
  <p:tag name="KSO_WM_TEMPLATE_ASSEMBLE_XID" val="5ef55454ea5a3ac527a189e3"/>
  <p:tag name="KSO_WM_TEMPLATE_ASSEMBLE_GROUPID" val="5ef55454ea5a3ac527a189e3"/>
  <p:tag name="KSO_WM_UNIT_SMARTLAYOUT_COMPRESS_INFO" val="{&#10;    &quot;id&quot;: &quot;2020-06-26T09:50:13&quot;,&#10;    &quot;max&quot;: 9.9359201546418774,&#10;    &quot;parentMax&quot;: {&#10;        &quot;max&quot;: 2.3390404752793827&#10;    },&#10;    &quot;topChanged&quot;: 9.889445190429683&#10;}&#10;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2_1"/>
  <p:tag name="KSO_WM_UNIT_ID" val="diagram20210129_4*l_h_i*1_2_1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59da7e6ec43e4feb9298f18bea997348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1},&quot;ReferentInfo&quot;:{&quot;Id&quot;:&quot;b59d62ad1efa49a7814a432af9fe78d0&quot;,&quot;X&quot;:{&quot;Pos&quot;:1},&quot;Y&quot;:{&quot;Pos&quot;:1}},&quot;whChangeMode&quot;:0}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13"/>
  <p:tag name="KSO_WM_UNIT_TEXT_FILL_TYPE" val="1"/>
  <p:tag name="KSO_WM_UNIT_VALUE" val="6"/>
  <p:tag name="KSO_WM_UNIT_USESOURCEFORMAT_APPLY" val="1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添加正文，文字是您思想的提炼，请尽量言简意赅的阐述观点。"/>
  <p:tag name="KSO_WM_UNIT_NOCLEAR" val="0"/>
  <p:tag name="KSO_WM_UNIT_VALUE" val="49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10129_4*l_h_f*1_2_1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DEFAULT_FONT" val="14;20;2"/>
  <p:tag name="KSO_WM_UNIT_BLOCK" val="0"/>
  <p:tag name="KSO_WM_UNIT_DEC_AREA_ID" val="34b132e5c4a443288f0a499a2a868f21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TEXT_FILL_FORE_SCHEMECOLOR_INDEX_BRIGHTNESS" val="0.25"/>
  <p:tag name="KSO_WM_UNIT_TEXT_FILL_FORE_SCHEMECOLOR_INDEX" val="13"/>
  <p:tag name="KSO_WM_UNIT_TEXT_FILL_TYPE" val="1"/>
  <p:tag name="KSO_WM_UNIT_USESOURCEFORMAT_APPLY" val="1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2_2"/>
  <p:tag name="KSO_WM_UNIT_ID" val="diagram20210129_4*l_h_i*1_2_2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b59d62ad1efa49a7814a432af9fe78d0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2},&quot;ReferentInfo&quot;:{&quot;Id&quot;:&quot;34b132e5c4a443288f0a499a2a868f21&quot;,&quot;X&quot;:{&quot;Pos&quot;:1},&quot;Y&quot;:{&quot;Pos&quot;:0}},&quot;whChangeMode&quot;:0}"/>
  <p:tag name="KSO_WM_UNIT_DEFAULT_FONT" val="18;36;2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TEXT_FILL_FORE_SCHEMECOLOR_INDEX_BRIGHTNESS" val="-0.25"/>
  <p:tag name="KSO_WM_UNIT_TEXT_FILL_FORE_SCHEMECOLOR_INDEX" val="5"/>
  <p:tag name="KSO_WM_UNIT_TEXT_FILL_TYPE" val="1"/>
  <p:tag name="KSO_WM_UNIT_VALUE" val="1"/>
  <p:tag name="KSO_WM_UNIT_USESOURCEFORMAT_APPLY" val="1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2_2"/>
  <p:tag name="KSO_WM_UNIT_ID" val="diagram20210129_4*l_h_i*1_2_2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70d7a2d2c86d4c9db8b4a0d9151012cf"/>
  <p:tag name="KSO_WM_UNIT_DECORATE_INFO" val="{&quot;DecorateInfoH&quot;:{&quot;IsAbs&quot;:true},&quot;DecorateInfoW&quot;:{&quot;IsAbs&quot;:true},&quot;DecorateInfoX&quot;:{&quot;IsAbs&quot;:true,&quot;Pos&quot;:2},&quot;DecorateInfoY&quot;:{&quot;IsAbs&quot;:true,&quot;Pos&quot;:1},&quot;ReferentInfo&quot;:{&quot;Id&quot;:&quot;b59d62ad1efa49a7814a432af9fe78d0&quot;,&quot;X&quot;:{&quot;Pos&quot;:0},&quot;Y&quot;:{&quot;Pos&quot;:1}},&quot;whChangeMode&quot;:0}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FILL_FORE_SCHEMECOLOR_INDEX_BRIGHTNESS" val="0.4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1"/>
  <p:tag name="KSO_WM_UNIT_USESOURCEFORMAT_APPLY" val="1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3_1"/>
  <p:tag name="KSO_WM_UNIT_ID" val="diagram20210129_4*l_h_i*1_3_1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b6081f06af7546549cd304a627ac5bf6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1},&quot;ReferentInfo&quot;:{&quot;Id&quot;:&quot;7c5b9ba033db4be7921036f8d9ac71fa&quot;,&quot;X&quot;:{&quot;Pos&quot;:1},&quot;Y&quot;:{&quot;Pos&quot;:1}},&quot;whChangeMode&quot;:0}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13"/>
  <p:tag name="KSO_WM_UNIT_TEXT_FILL_TYPE" val="1"/>
  <p:tag name="KSO_WM_UNIT_VALUE" val="6"/>
  <p:tag name="KSO_WM_UNIT_USESOURCEFORMAT_APPLY" val="1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添加正文，文字是您思想的提炼，请尽量言简意赅的阐述观点。"/>
  <p:tag name="KSO_WM_UNIT_NOCLEAR" val="0"/>
  <p:tag name="KSO_WM_UNIT_VALUE" val="49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10129_4*l_h_f*1_3_1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DEFAULT_FONT" val="14;20;2"/>
  <p:tag name="KSO_WM_UNIT_BLOCK" val="0"/>
  <p:tag name="KSO_WM_UNIT_DEC_AREA_ID" val="9139da38a7254bbdae206e7c3badbfdc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TEXT_FILL_FORE_SCHEMECOLOR_INDEX_BRIGHTNESS" val="0.25"/>
  <p:tag name="KSO_WM_UNIT_TEXT_FILL_FORE_SCHEMECOLOR_INDEX" val="13"/>
  <p:tag name="KSO_WM_UNIT_TEXT_FILL_TYPE" val="1"/>
  <p:tag name="KSO_WM_UNIT_USESOURCEFORMAT_APPLY" val="1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3_2"/>
  <p:tag name="KSO_WM_UNIT_ID" val="diagram20210129_4*l_h_i*1_3_2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7c5b9ba033db4be7921036f8d9ac71fa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2},&quot;ReferentInfo&quot;:{&quot;Id&quot;:&quot;9139da38a7254bbdae206e7c3badbfdc&quot;,&quot;X&quot;:{&quot;Pos&quot;:1},&quot;Y&quot;:{&quot;Pos&quot;:0}},&quot;whChangeMode&quot;:0}"/>
  <p:tag name="KSO_WM_UNIT_DEFAULT_FONT" val="18;36;2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TEXT_FILL_FORE_SCHEMECOLOR_INDEX_BRIGHTNESS" val="-0.25"/>
  <p:tag name="KSO_WM_UNIT_TEXT_FILL_FORE_SCHEMECOLOR_INDEX" val="5"/>
  <p:tag name="KSO_WM_UNIT_TEXT_FILL_TYPE" val="1"/>
  <p:tag name="KSO_WM_UNIT_VALUE" val="1"/>
  <p:tag name="KSO_WM_UNIT_USESOURCEFORMAT_APPLY" val="1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3_2"/>
  <p:tag name="KSO_WM_UNIT_ID" val="diagram20210129_4*l_h_i*1_3_2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ec820f4b29364f0d9126a1b5fe20d73d"/>
  <p:tag name="KSO_WM_UNIT_DECORATE_INFO" val="{&quot;DecorateInfoH&quot;:{&quot;IsAbs&quot;:true},&quot;DecorateInfoW&quot;:{&quot;IsAbs&quot;:true},&quot;DecorateInfoX&quot;:{&quot;IsAbs&quot;:true,&quot;Pos&quot;:2},&quot;DecorateInfoY&quot;:{&quot;IsAbs&quot;:true,&quot;Pos&quot;:1},&quot;ReferentInfo&quot;:{&quot;Id&quot;:&quot;7c5b9ba033db4be7921036f8d9ac71fa&quot;,&quot;X&quot;:{&quot;Pos&quot;:0},&quot;Y&quot;:{&quot;Pos&quot;:1}},&quot;whChangeMode&quot;:0}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FILL_FORE_SCHEMECOLOR_INDEX_BRIGHTNESS" val="0.4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1"/>
  <p:tag name="KSO_WM_UNIT_USESOURCEFORMAT_APPLY" val="1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4_1"/>
  <p:tag name="KSO_WM_UNIT_ID" val="diagram20210129_4*l_h_i*1_4_1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39c131c2df22469293f4eda4cafa0add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1},&quot;ReferentInfo&quot;:{&quot;Id&quot;:&quot;7727769e63484bff8316e642df87776f&quot;,&quot;X&quot;:{&quot;Pos&quot;:1},&quot;Y&quot;:{&quot;Pos&quot;:1}},&quot;whChangeMode&quot;:0}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13"/>
  <p:tag name="KSO_WM_UNIT_TEXT_FILL_TYPE" val="1"/>
  <p:tag name="KSO_WM_UNIT_VALUE" val="6"/>
  <p:tag name="KSO_WM_UNIT_USESOURCEFORMAT_APPLY" val="1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添加正文，文字是您思想的提炼，请尽量言简意赅的阐述观点。"/>
  <p:tag name="KSO_WM_UNIT_NOCLEAR" val="0"/>
  <p:tag name="KSO_WM_UNIT_VALUE" val="49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4_1"/>
  <p:tag name="KSO_WM_UNIT_ID" val="diagram20210129_4*l_h_f*1_4_1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DEFAULT_FONT" val="14;20;2"/>
  <p:tag name="KSO_WM_UNIT_BLOCK" val="0"/>
  <p:tag name="KSO_WM_UNIT_DEC_AREA_ID" val="74d740d563994c26aa1d5848c3fc10f8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TEXT_FILL_FORE_SCHEMECOLOR_INDEX_BRIGHTNESS" val="0.25"/>
  <p:tag name="KSO_WM_UNIT_TEXT_FILL_FORE_SCHEMECOLOR_INDEX" val="13"/>
  <p:tag name="KSO_WM_UNIT_TEXT_FILL_TYPE" val="1"/>
  <p:tag name="KSO_WM_UNIT_USESOURCEFORMAT_APPLY" val="1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4_2"/>
  <p:tag name="KSO_WM_UNIT_ID" val="diagram20210129_4*l_h_i*1_4_2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7727769e63484bff8316e642df87776f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2},&quot;ReferentInfo&quot;:{&quot;Id&quot;:&quot;74d740d563994c26aa1d5848c3fc10f8&quot;,&quot;X&quot;:{&quot;Pos&quot;:1},&quot;Y&quot;:{&quot;Pos&quot;:0}},&quot;whChangeMode&quot;:0}"/>
  <p:tag name="KSO_WM_UNIT_DEFAULT_FONT" val="18;36;2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TEXT_FILL_FORE_SCHEMECOLOR_INDEX_BRIGHTNESS" val="-0.25"/>
  <p:tag name="KSO_WM_UNIT_TEXT_FILL_FORE_SCHEMECOLOR_INDEX" val="5"/>
  <p:tag name="KSO_WM_UNIT_TEXT_FILL_TYPE" val="1"/>
  <p:tag name="KSO_WM_UNIT_VALUE" val="1"/>
  <p:tag name="KSO_WM_UNIT_USESOURCEFORMAT_APPLY" val="1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4_2"/>
  <p:tag name="KSO_WM_UNIT_ID" val="diagram20210129_4*l_h_i*1_4_2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7268b2bc951b4a15b816214d5589381a"/>
  <p:tag name="KSO_WM_UNIT_DECORATE_INFO" val="{&quot;DecorateInfoH&quot;:{&quot;IsAbs&quot;:true},&quot;DecorateInfoW&quot;:{&quot;IsAbs&quot;:true},&quot;DecorateInfoX&quot;:{&quot;IsAbs&quot;:true,&quot;Pos&quot;:2},&quot;DecorateInfoY&quot;:{&quot;IsAbs&quot;:true,&quot;Pos&quot;:1},&quot;ReferentInfo&quot;:{&quot;Id&quot;:&quot;7727769e63484bff8316e642df87776f&quot;,&quot;X&quot;:{&quot;Pos&quot;:0},&quot;Y&quot;:{&quot;Pos&quot;:1}},&quot;whChangeMode&quot;:0}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FILL_FORE_SCHEMECOLOR_INDEX_BRIGHTNESS" val="0.4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1"/>
  <p:tag name="KSO_WM_UNIT_USESOURCEFORMAT_APPLY" val="1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5_1"/>
  <p:tag name="KSO_WM_UNIT_ID" val="diagram20210129_4*l_h_i*1_5_1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2fccc7cfe0a94a03964fef3a6bcbba88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1},&quot;ReferentInfo&quot;:{&quot;Id&quot;:&quot;53c010be7e1347ceaad05fcf213bdb85&quot;,&quot;X&quot;:{&quot;Pos&quot;:1},&quot;Y&quot;:{&quot;Pos&quot;:1}},&quot;whChangeMode&quot;:0}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13"/>
  <p:tag name="KSO_WM_UNIT_TEXT_FILL_TYPE" val="1"/>
  <p:tag name="KSO_WM_UNIT_VALUE" val="6"/>
  <p:tag name="KSO_WM_UNIT_USESOURCEFORMAT_APPLY" val="1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添加正文，文字是您思想的提炼，请尽量言简意赅的阐述观点。"/>
  <p:tag name="KSO_WM_UNIT_NOCLEAR" val="0"/>
  <p:tag name="KSO_WM_UNIT_VALUE" val="49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5_1"/>
  <p:tag name="KSO_WM_UNIT_ID" val="diagram20210129_4*l_h_f*1_5_1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DEFAULT_FONT" val="14;20;2"/>
  <p:tag name="KSO_WM_UNIT_BLOCK" val="0"/>
  <p:tag name="KSO_WM_UNIT_DEC_AREA_ID" val="84bac5f5da5744a784b90ba5919c6c07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TEXT_FILL_FORE_SCHEMECOLOR_INDEX_BRIGHTNESS" val="0.25"/>
  <p:tag name="KSO_WM_UNIT_TEXT_FILL_FORE_SCHEMECOLOR_INDEX" val="13"/>
  <p:tag name="KSO_WM_UNIT_TEXT_FILL_TYPE" val="1"/>
  <p:tag name="KSO_WM_UNIT_USESOURCEFORMAT_APPLY" val="1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5_2"/>
  <p:tag name="KSO_WM_UNIT_ID" val="diagram20210129_4*l_h_i*1_5_2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53c010be7e1347ceaad05fcf213bdb85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2},&quot;ReferentInfo&quot;:{&quot;Id&quot;:&quot;84bac5f5da5744a784b90ba5919c6c07&quot;,&quot;X&quot;:{&quot;Pos&quot;:1},&quot;Y&quot;:{&quot;Pos&quot;:0}},&quot;whChangeMode&quot;:0}"/>
  <p:tag name="KSO_WM_UNIT_DEFAULT_FONT" val="18;36;2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TEXT_FILL_FORE_SCHEMECOLOR_INDEX_BRIGHTNESS" val="-0.25"/>
  <p:tag name="KSO_WM_UNIT_TEXT_FILL_FORE_SCHEMECOLOR_INDEX" val="5"/>
  <p:tag name="KSO_WM_UNIT_TEXT_FILL_TYPE" val="1"/>
  <p:tag name="KSO_WM_UNIT_VALUE" val="1"/>
  <p:tag name="KSO_WM_UNIT_USESOURCEFORMAT_APPLY" val="1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5_2"/>
  <p:tag name="KSO_WM_UNIT_ID" val="diagram20210129_4*l_h_i*1_5_2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0b803d1f78ef49d09ddb1edf22e1f8f1"/>
  <p:tag name="KSO_WM_UNIT_DECORATE_INFO" val="{&quot;DecorateInfoH&quot;:{&quot;IsAbs&quot;:true},&quot;DecorateInfoW&quot;:{&quot;IsAbs&quot;:true},&quot;DecorateInfoX&quot;:{&quot;IsAbs&quot;:true,&quot;Pos&quot;:2},&quot;DecorateInfoY&quot;:{&quot;IsAbs&quot;:true,&quot;Pos&quot;:1},&quot;ReferentInfo&quot;:{&quot;Id&quot;:&quot;53c010be7e1347ceaad05fcf213bdb85&quot;,&quot;X&quot;:{&quot;Pos&quot;:0},&quot;Y&quot;:{&quot;Pos&quot;:1}},&quot;whChangeMode&quot;:0}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FILL_FORE_SCHEMECOLOR_INDEX_BRIGHTNESS" val="0.4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1"/>
  <p:tag name="KSO_WM_UNIT_USESOURCEFORMAT_APPLY" val="1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diagram160033_3*i*0"/>
  <p:tag name="KSO_WM_TEMPLATE_CATEGORY" val="diagram"/>
  <p:tag name="KSO_WM_TEMPLATE_INDEX" val="160033"/>
  <p:tag name="KSO_WM_UNIT_INDEX" val="0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diagram160033_3*i*7"/>
  <p:tag name="KSO_WM_TEMPLATE_CATEGORY" val="diagram"/>
  <p:tag name="KSO_WM_TEMPLATE_INDEX" val="160033"/>
  <p:tag name="KSO_WM_UNIT_INDEX" val="7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diagram160033_3*i*14"/>
  <p:tag name="KSO_WM_TEMPLATE_CATEGORY" val="diagram"/>
  <p:tag name="KSO_WM_TEMPLATE_INDEX" val="160033"/>
  <p:tag name="KSO_WM_UNIT_INDEX" val="14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diagram160033_3*i*21"/>
  <p:tag name="KSO_WM_TEMPLATE_CATEGORY" val="diagram"/>
  <p:tag name="KSO_WM_TEMPLATE_INDEX" val="160033"/>
  <p:tag name="KSO_WM_UNIT_INDEX" val="21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ID" val="diagram160033_3*l_h_a*1_4_1"/>
  <p:tag name="KSO_WM_TEMPLATE_CATEGORY" val="diagram"/>
  <p:tag name="KSO_WM_TEMPLATE_INDEX" val="160033"/>
  <p:tag name="KSO_WM_UNIT_TYPE" val="l_h_a"/>
  <p:tag name="KSO_WM_UNIT_INDEX" val="1_4_1"/>
  <p:tag name="KSO_WM_UNIT_CLEAR" val="1"/>
  <p:tag name="KSO_WM_UNIT_LAYERLEVEL" val="1_1_1"/>
  <p:tag name="KSO_WM_UNIT_VALUE" val="20"/>
  <p:tag name="KSO_WM_UNIT_HIGHLIGHT" val="0"/>
  <p:tag name="KSO_WM_UNIT_COMPATIBLE" val="0"/>
  <p:tag name="KSO_WM_DIAGRAM_GROUP_CODE" val="l1-1"/>
  <p:tag name="KSO_WM_UNIT_PRESET_TEXT" val="LOREM"/>
  <p:tag name="KSO_WM_UNIT_FILL_FORE_SCHEMECOLOR_INDEX" val="14"/>
  <p:tag name="KSO_WM_UNIT_FILL_TYPE" val="1"/>
  <p:tag name="KSO_WM_UNIT_TEXT_FILL_FORE_SCHEMECOLOR_INDEX" val="5"/>
  <p:tag name="KSO_WM_UNIT_TEXT_FILL_TYPE" val="1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ID" val="diagram160033_3*l_h_f*1_4_1"/>
  <p:tag name="KSO_WM_TEMPLATE_CATEGORY" val="diagram"/>
  <p:tag name="KSO_WM_TEMPLATE_INDEX" val="160033"/>
  <p:tag name="KSO_WM_UNIT_TYPE" val="l_h_f"/>
  <p:tag name="KSO_WM_UNIT_INDEX" val="1_4_1"/>
  <p:tag name="KSO_WM_UNIT_CLEAR" val="1"/>
  <p:tag name="KSO_WM_UNIT_LAYERLEVEL" val="1_1_1"/>
  <p:tag name="KSO_WM_UNIT_VALUE" val="16"/>
  <p:tag name="KSO_WM_UNIT_HIGHLIGHT" val="0"/>
  <p:tag name="KSO_WM_UNIT_COMPATIBLE" val="0"/>
  <p:tag name="KSO_WM_UNIT_PRESET_TEXT_INDEX" val="4"/>
  <p:tag name="KSO_WM_UNIT_PRESET_TEXT_LEN" val="26"/>
  <p:tag name="KSO_WM_DIAGRAM_GROUP_CODE" val="l1-1"/>
  <p:tag name="KSO_WM_UNIT_TEXT_FILL_FORE_SCHEMECOLOR_INDEX" val="13"/>
  <p:tag name="KSO_WM_UNIT_TEXT_FILL_TYPE" val="1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ID" val="diagram160033_3*l_h_a*1_3_1"/>
  <p:tag name="KSO_WM_TEMPLATE_CATEGORY" val="diagram"/>
  <p:tag name="KSO_WM_TEMPLATE_INDEX" val="160033"/>
  <p:tag name="KSO_WM_UNIT_TYPE" val="l_h_a"/>
  <p:tag name="KSO_WM_UNIT_INDEX" val="1_3_1"/>
  <p:tag name="KSO_WM_UNIT_CLEAR" val="1"/>
  <p:tag name="KSO_WM_UNIT_LAYERLEVEL" val="1_1_1"/>
  <p:tag name="KSO_WM_UNIT_VALUE" val="20"/>
  <p:tag name="KSO_WM_UNIT_HIGHLIGHT" val="0"/>
  <p:tag name="KSO_WM_UNIT_COMPATIBLE" val="0"/>
  <p:tag name="KSO_WM_DIAGRAM_GROUP_CODE" val="l1-1"/>
  <p:tag name="KSO_WM_UNIT_PRESET_TEXT" val="LOREM"/>
  <p:tag name="KSO_WM_UNIT_FILL_FORE_SCHEMECOLOR_INDEX" val="14"/>
  <p:tag name="KSO_WM_UNIT_FILL_TYPE" val="1"/>
  <p:tag name="KSO_WM_UNIT_TEXT_FILL_FORE_SCHEMECOLOR_INDEX" val="6"/>
  <p:tag name="KSO_WM_UNIT_TEXT_FILL_TYPE" val="1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ID" val="diagram160033_3*l_h_f*1_3_1"/>
  <p:tag name="KSO_WM_TEMPLATE_CATEGORY" val="diagram"/>
  <p:tag name="KSO_WM_TEMPLATE_INDEX" val="160033"/>
  <p:tag name="KSO_WM_UNIT_TYPE" val="l_h_f"/>
  <p:tag name="KSO_WM_UNIT_INDEX" val="1_3_1"/>
  <p:tag name="KSO_WM_UNIT_CLEAR" val="1"/>
  <p:tag name="KSO_WM_UNIT_LAYERLEVEL" val="1_1_1"/>
  <p:tag name="KSO_WM_UNIT_VALUE" val="16"/>
  <p:tag name="KSO_WM_UNIT_HIGHLIGHT" val="0"/>
  <p:tag name="KSO_WM_UNIT_COMPATIBLE" val="0"/>
  <p:tag name="KSO_WM_UNIT_PRESET_TEXT_INDEX" val="4"/>
  <p:tag name="KSO_WM_UNIT_PRESET_TEXT_LEN" val="26"/>
  <p:tag name="KSO_WM_DIAGRAM_GROUP_CODE" val="l1-1"/>
  <p:tag name="KSO_WM_UNIT_TEXT_FILL_FORE_SCHEMECOLOR_INDEX" val="13"/>
  <p:tag name="KSO_WM_UNIT_TEXT_FILL_TYPE" val="1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ID" val="diagram160033_3*l_h_a*1_2_1"/>
  <p:tag name="KSO_WM_TEMPLATE_CATEGORY" val="diagram"/>
  <p:tag name="KSO_WM_TEMPLATE_INDEX" val="160033"/>
  <p:tag name="KSO_WM_UNIT_TYPE" val="l_h_a"/>
  <p:tag name="KSO_WM_UNIT_INDEX" val="1_2_1"/>
  <p:tag name="KSO_WM_UNIT_CLEAR" val="1"/>
  <p:tag name="KSO_WM_UNIT_LAYERLEVEL" val="1_1_1"/>
  <p:tag name="KSO_WM_UNIT_VALUE" val="20"/>
  <p:tag name="KSO_WM_UNIT_HIGHLIGHT" val="0"/>
  <p:tag name="KSO_WM_UNIT_COMPATIBLE" val="0"/>
  <p:tag name="KSO_WM_DIAGRAM_GROUP_CODE" val="l1-1"/>
  <p:tag name="KSO_WM_UNIT_PRESET_TEXT" val="LOREM"/>
  <p:tag name="KSO_WM_UNIT_FILL_FORE_SCHEMECOLOR_INDEX" val="14"/>
  <p:tag name="KSO_WM_UNIT_FILL_TYPE" val="1"/>
  <p:tag name="KSO_WM_UNIT_TEXT_FILL_FORE_SCHEMECOLOR_INDEX" val="6"/>
  <p:tag name="KSO_WM_UNIT_TEXT_FILL_TYPE" val="1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ID" val="diagram160033_3*l_h_f*1_2_1"/>
  <p:tag name="KSO_WM_TEMPLATE_CATEGORY" val="diagram"/>
  <p:tag name="KSO_WM_TEMPLATE_INDEX" val="160033"/>
  <p:tag name="KSO_WM_UNIT_TYPE" val="l_h_f"/>
  <p:tag name="KSO_WM_UNIT_INDEX" val="1_2_1"/>
  <p:tag name="KSO_WM_UNIT_CLEAR" val="1"/>
  <p:tag name="KSO_WM_UNIT_LAYERLEVEL" val="1_1_1"/>
  <p:tag name="KSO_WM_UNIT_VALUE" val="16"/>
  <p:tag name="KSO_WM_UNIT_HIGHLIGHT" val="0"/>
  <p:tag name="KSO_WM_UNIT_COMPATIBLE" val="0"/>
  <p:tag name="KSO_WM_UNIT_PRESET_TEXT_INDEX" val="4"/>
  <p:tag name="KSO_WM_UNIT_PRESET_TEXT_LEN" val="26"/>
  <p:tag name="KSO_WM_DIAGRAM_GROUP_CODE" val="l1-1"/>
  <p:tag name="KSO_WM_UNIT_TEXT_FILL_FORE_SCHEMECOLOR_INDEX" val="13"/>
  <p:tag name="KSO_WM_UNIT_TEXT_FILL_TYPE" val="1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ID" val="diagram160033_3*l_h_a*1_1_1"/>
  <p:tag name="KSO_WM_TEMPLATE_CATEGORY" val="diagram"/>
  <p:tag name="KSO_WM_TEMPLATE_INDEX" val="160033"/>
  <p:tag name="KSO_WM_UNIT_TYPE" val="l_h_a"/>
  <p:tag name="KSO_WM_UNIT_INDEX" val="1_1_1"/>
  <p:tag name="KSO_WM_UNIT_CLEAR" val="1"/>
  <p:tag name="KSO_WM_UNIT_LAYERLEVEL" val="1_1_1"/>
  <p:tag name="KSO_WM_UNIT_VALUE" val="20"/>
  <p:tag name="KSO_WM_UNIT_HIGHLIGHT" val="0"/>
  <p:tag name="KSO_WM_UNIT_COMPATIBLE" val="0"/>
  <p:tag name="KSO_WM_DIAGRAM_GROUP_CODE" val="l1-1"/>
  <p:tag name="KSO_WM_UNIT_PRESET_TEXT" val="LOREM"/>
  <p:tag name="KSO_WM_UNIT_FILL_FORE_SCHEMECOLOR_INDEX" val="14"/>
  <p:tag name="KSO_WM_UNIT_FILL_TYPE" val="1"/>
  <p:tag name="KSO_WM_UNIT_TEXT_FILL_FORE_SCHEMECOLOR_INDEX" val="5"/>
  <p:tag name="KSO_WM_UNIT_TEXT_FILL_TYPE" val="1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ID" val="diagram160033_3*l_h_f*1_1_1"/>
  <p:tag name="KSO_WM_TEMPLATE_CATEGORY" val="diagram"/>
  <p:tag name="KSO_WM_TEMPLATE_INDEX" val="160033"/>
  <p:tag name="KSO_WM_UNIT_TYPE" val="l_h_f"/>
  <p:tag name="KSO_WM_UNIT_INDEX" val="1_1_1"/>
  <p:tag name="KSO_WM_UNIT_CLEAR" val="1"/>
  <p:tag name="KSO_WM_UNIT_LAYERLEVEL" val="1_1_1"/>
  <p:tag name="KSO_WM_UNIT_VALUE" val="16"/>
  <p:tag name="KSO_WM_UNIT_HIGHLIGHT" val="0"/>
  <p:tag name="KSO_WM_UNIT_COMPATIBLE" val="0"/>
  <p:tag name="KSO_WM_UNIT_PRESET_TEXT_INDEX" val="4"/>
  <p:tag name="KSO_WM_UNIT_PRESET_TEXT_LEN" val="26"/>
  <p:tag name="KSO_WM_DIAGRAM_GROUP_CODE" val="l1-1"/>
  <p:tag name="KSO_WM_UNIT_TEXT_FILL_FORE_SCHEMECOLOR_INDEX" val="13"/>
  <p:tag name="KSO_WM_UNIT_TEXT_FILL_TYPE" val="1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2355,&quot;width&quot;:3555}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4553,&quot;width&quot;:9642}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8580,&quot;width&quot;:16200}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cf8bdfac-d98c-4c03-a835-807ff9edc841}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1deabf8a-80e8-402e-abcd-dbf3755a7161}"/>
</p:tagLst>
</file>

<file path=ppt/theme/theme1.xml><?xml version="1.0" encoding="utf-8"?>
<a:theme xmlns:a="http://schemas.openxmlformats.org/drawingml/2006/main" name="Office 主题​​">
  <a:themeElements>
    <a:clrScheme name="自定义 10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70C0"/>
      </a:accent1>
      <a:accent2>
        <a:srgbClr val="FFC000"/>
      </a:accent2>
      <a:accent3>
        <a:srgbClr val="BFBFBF"/>
      </a:accent3>
      <a:accent4>
        <a:srgbClr val="BFBFBF"/>
      </a:accent4>
      <a:accent5>
        <a:srgbClr val="BFBFBF"/>
      </a:accent5>
      <a:accent6>
        <a:srgbClr val="BFBFBF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自定义 10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70C0"/>
      </a:accent1>
      <a:accent2>
        <a:srgbClr val="FFC000"/>
      </a:accent2>
      <a:accent3>
        <a:srgbClr val="BFBFBF"/>
      </a:accent3>
      <a:accent4>
        <a:srgbClr val="BFBFBF"/>
      </a:accent4>
      <a:accent5>
        <a:srgbClr val="BFBFBF"/>
      </a:accent5>
      <a:accent6>
        <a:srgbClr val="BFBFBF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1405</TotalTime>
  <Words>7213</Words>
  <Application>Microsoft Macintosh PowerPoint</Application>
  <PresentationFormat>自定义</PresentationFormat>
  <Paragraphs>928</Paragraphs>
  <Slides>110</Slides>
  <Notes>23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110</vt:i4>
      </vt:variant>
    </vt:vector>
  </HeadingPairs>
  <TitlesOfParts>
    <vt:vector size="128" baseType="lpstr">
      <vt:lpstr>方正大黑简体</vt:lpstr>
      <vt:lpstr>楷体</vt:lpstr>
      <vt:lpstr>宋体</vt:lpstr>
      <vt:lpstr>微软雅黑</vt:lpstr>
      <vt:lpstr>微软雅黑</vt:lpstr>
      <vt:lpstr>微软雅黑 Light</vt:lpstr>
      <vt:lpstr>Arial</vt:lpstr>
      <vt:lpstr>Arial Black</vt:lpstr>
      <vt:lpstr>Calibri</vt:lpstr>
      <vt:lpstr>Consolas</vt:lpstr>
      <vt:lpstr>Impact</vt:lpstr>
      <vt:lpstr>Monaco</vt:lpstr>
      <vt:lpstr>Tahoma</vt:lpstr>
      <vt:lpstr>Wingdings</vt:lpstr>
      <vt:lpstr>Office 主题​​</vt:lpstr>
      <vt:lpstr>1_Office 主题​​</vt:lpstr>
      <vt:lpstr>Visio.Drawing.11</vt:lpstr>
      <vt:lpstr>Paint.Picture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2.1 Python编码规范</vt:lpstr>
      <vt:lpstr>2.1 Python编码规范</vt:lpstr>
      <vt:lpstr>2.1 Python编码规范</vt:lpstr>
      <vt:lpstr>PowerPoint 演示文稿</vt:lpstr>
      <vt:lpstr>2、代码缩进与冒号</vt:lpstr>
      <vt:lpstr>2、代码缩进与冒号</vt:lpstr>
      <vt:lpstr>例：比较两个程序段并查看运行结果</vt:lpstr>
      <vt:lpstr>PowerPoint 演示文稿</vt:lpstr>
      <vt:lpstr>PowerPoint 演示文稿</vt:lpstr>
      <vt:lpstr>3、语句的分隔</vt:lpstr>
      <vt:lpstr>例：带分号的语句</vt:lpstr>
      <vt:lpstr>例：一条语句写多行（sql语句太长，适合于写多行）</vt:lpstr>
      <vt:lpstr>换行</vt:lpstr>
      <vt:lpstr>4、模块导入的规范</vt:lpstr>
      <vt:lpstr>（2）from…import…语句</vt:lpstr>
      <vt:lpstr>PowerPoint 演示文稿</vt:lpstr>
      <vt:lpstr>说明</vt:lpstr>
      <vt:lpstr>PowerPoint 演示文稿</vt:lpstr>
      <vt:lpstr>5、注释</vt:lpstr>
      <vt:lpstr>5、注释</vt:lpstr>
      <vt:lpstr>5、注释</vt:lpstr>
      <vt:lpstr>6、编码</vt:lpstr>
      <vt:lpstr>科普：字符编码</vt:lpstr>
      <vt:lpstr>PowerPoint 演示文稿</vt:lpstr>
      <vt:lpstr>科普：字符编码</vt:lpstr>
      <vt:lpstr>科普：字符编码</vt:lpstr>
      <vt:lpstr>科普：字符编码</vt:lpstr>
      <vt:lpstr>科普：字符编码</vt:lpstr>
      <vt:lpstr>科普：字符编码</vt:lpstr>
      <vt:lpstr>科普：字符编码</vt:lpstr>
      <vt:lpstr>PowerPoint 演示文稿</vt:lpstr>
      <vt:lpstr>查看变量的类型：</vt:lpstr>
      <vt:lpstr>科普：字符编码</vt:lpstr>
      <vt:lpstr>PowerPoint 演示文稿</vt:lpstr>
      <vt:lpstr>2.2 变量和常量</vt:lpstr>
      <vt:lpstr>2、变量命名规则</vt:lpstr>
      <vt:lpstr>2、变量命名规则</vt:lpstr>
      <vt:lpstr>Python保留词(部分)</vt:lpstr>
      <vt:lpstr>2、变量命名规则</vt:lpstr>
      <vt:lpstr>PowerPoint 演示文稿</vt:lpstr>
      <vt:lpstr>合法和非法变量名举例：</vt:lpstr>
      <vt:lpstr>PowerPoint 演示文稿</vt:lpstr>
      <vt:lpstr>PowerPoint 演示文稿</vt:lpstr>
      <vt:lpstr>PowerPoint 演示文稿</vt:lpstr>
      <vt:lpstr>例：测试两个i是否为同一对象</vt:lpstr>
      <vt:lpstr>PowerPoint 演示文稿</vt:lpstr>
      <vt:lpstr>3、变量如何引用值</vt:lpstr>
      <vt:lpstr>如执行下列赋值后的内存状况：</vt:lpstr>
      <vt:lpstr>3、变量如何引用值</vt:lpstr>
      <vt:lpstr>4、多重赋值</vt:lpstr>
      <vt:lpstr>5、交换变量的值</vt:lpstr>
      <vt:lpstr>6、局部变量和全局变量</vt:lpstr>
      <vt:lpstr>例：局部变量使用</vt:lpstr>
      <vt:lpstr>（2）全局变量</vt:lpstr>
      <vt:lpstr>例：全局变量应用</vt:lpstr>
      <vt:lpstr>7、常量</vt:lpstr>
      <vt:lpstr>PowerPoint 演示文稿</vt:lpstr>
      <vt:lpstr>2.3 数据类型</vt:lpstr>
      <vt:lpstr>1、数字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数值的表示：</vt:lpstr>
      <vt:lpstr>例如：</vt:lpstr>
      <vt:lpstr>进制转换函数：</vt:lpstr>
      <vt:lpstr>例如：</vt:lpstr>
      <vt:lpstr>PowerPoint 演示文稿</vt:lpstr>
      <vt:lpstr>PowerPoint 演示文稿</vt:lpstr>
      <vt:lpstr>PowerPoint 演示文稿</vt:lpstr>
      <vt:lpstr>PowerPoint 演示文稿</vt:lpstr>
      <vt:lpstr>1、算术运算符</vt:lpstr>
      <vt:lpstr>PowerPoint 演示文稿</vt:lpstr>
      <vt:lpstr>PowerPoint 演示文稿</vt:lpstr>
      <vt:lpstr>PowerPoint 演示文稿</vt:lpstr>
      <vt:lpstr>（2）浮点数运算</vt:lpstr>
      <vt:lpstr>① 浮点数的表示</vt:lpstr>
      <vt:lpstr>灵活的小数表示方法：</vt:lpstr>
      <vt:lpstr>② 溢出</vt:lpstr>
      <vt:lpstr>③ 精度有限</vt:lpstr>
      <vt:lpstr>PowerPoint 演示文稿</vt:lpstr>
      <vt:lpstr>PowerPoint 演示文稿</vt:lpstr>
      <vt:lpstr>PowerPoint 演示文稿</vt:lpstr>
      <vt:lpstr>PowerPoint 演示文稿</vt:lpstr>
      <vt:lpstr>（3）常用数学函数</vt:lpstr>
      <vt:lpstr>（4）+运算符除了用于算术加法以外，还可以用于列表、元组、字符串的连接，但不支持不同类型的对象之间相加或连接。 &gt;&gt;&gt; [1, 2, 3] + [4, 5, 6]          #连接两个列表 [1, 2, 3, 4, 5, 6] &gt;&gt;&gt; (1, 2, 3) + (4,)               #连接两个元组 (1, 2, 3, 4) &gt;&gt;&gt; 'abcd' + '1234'                #连接两个字符串 'abcd1234' &gt;&gt;&gt; 'A' + 1                        #不支持字符与数字相加，抛出异常 TypeError: Can't convert 'int' object to str implicitly &gt;&gt;&gt; True + 3                       #Python内部把True当作1处理 4 &gt;&gt;&gt; False + 3                      #把False当作0处理 3</vt:lpstr>
      <vt:lpstr>（5）*运算符除了表示算术乘法，还可用于列表、元组、字符串这几个序列类型与整数的乘法，表示序列元素的重复，生成新的序列对象。字典和集合不支持与整数的相乘，因为其中的元素是不允许重复的。 &gt;&gt;&gt; True * 3 3 &gt;&gt;&gt; False * 3 0 &gt;&gt;&gt; [1, 2, 3] * 3 [1, 2, 3, 1, 2, 3, 1, 2, 3] &gt;&gt;&gt; (1, 2, 3) * 3 (1, 2, 3, 1, 2, 3, 1, 2, 3) &gt;&gt;&gt; 'abc' * 3 'abcabcabc'</vt:lpstr>
      <vt:lpstr>（6）运算符/和//在Python中分别表示算术除法和算术求整商（floor division）。 &gt;&gt;&gt; 3 / 2                    #数学意义上的除法 1.5 &gt;&gt;&gt; 15 // 4                  #如果两个操作数都是整数，结果为整数 3 &gt;&gt;&gt; 15.0 // 4                #如果操作数中有实数，结果为实数形式的整数值 3.0 &gt;&gt;&gt; -15//4                   #向下取整 -4</vt:lpstr>
      <vt:lpstr>（7）%运算符可以用于整数或实数的求余数运算，还可以用于字符串格式化，但是这种用法并不推荐。 &gt;&gt;&gt; 789 % 23                       #余数 7 &gt;&gt;&gt; 123.45 % 3.2                 #可以对实数进行余数运算，注意精度问题 1.849999999999996 &gt;&gt;&gt; '%c, %d' % (65, 65)       #把65分别格式化为字符和整数 'A, 65' &gt;&gt;&gt; '%f,%s' % (65, 65)         #把65分别格式化为实数和字符串 '65.000000,65'</vt:lpstr>
      <vt:lpstr>2、关系运算符和关系表达式</vt:lpstr>
      <vt:lpstr>例如：</vt:lpstr>
      <vt:lpstr>3、逻辑运算符和逻辑表达式</vt:lpstr>
      <vt:lpstr>PowerPoint 演示文稿</vt:lpstr>
      <vt:lpstr>PowerPoint 演示文稿</vt:lpstr>
      <vt:lpstr>PowerPoint 演示文稿</vt:lpstr>
      <vt:lpstr>PowerPoint 演示文稿</vt:lpstr>
      <vt:lpstr>6、运算符的优先级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Kun Jing</cp:lastModifiedBy>
  <cp:revision>280</cp:revision>
  <dcterms:created xsi:type="dcterms:W3CDTF">2014-08-23T07:50:00Z</dcterms:created>
  <dcterms:modified xsi:type="dcterms:W3CDTF">2025-09-15T10:39:35Z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RubyTemplateID">
    <vt:lpwstr>2</vt:lpwstr>
  </property>
  <property fmtid="{D5CDD505-2E9C-101B-9397-08002B2CF9AE}" pid="3" name="KSOProductBuildVer">
    <vt:lpwstr>2052-11.1.0.10314</vt:lpwstr>
  </property>
  <property fmtid="{D5CDD505-2E9C-101B-9397-08002B2CF9AE}" pid="4" name="KSOSaveFontToCloudKey">
    <vt:lpwstr>484083257_btnclosed</vt:lpwstr>
  </property>
</Properties>
</file>