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notesSlides/notesSlide5.xml" ContentType="application/vnd.openxmlformats-officedocument.presentationml.notesSlide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notesSlides/notesSlide6.xml" ContentType="application/vnd.openxmlformats-officedocument.presentationml.notesSlide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notesSlides/notesSlide28.xml" ContentType="application/vnd.openxmlformats-officedocument.presentationml.notesSlide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2" r:id="rId2"/>
  </p:sldMasterIdLst>
  <p:notesMasterIdLst>
    <p:notesMasterId r:id="rId111"/>
  </p:notesMasterIdLst>
  <p:handoutMasterIdLst>
    <p:handoutMasterId r:id="rId112"/>
  </p:handoutMasterIdLst>
  <p:sldIdLst>
    <p:sldId id="1282" r:id="rId3"/>
    <p:sldId id="347" r:id="rId4"/>
    <p:sldId id="701" r:id="rId5"/>
    <p:sldId id="534" r:id="rId6"/>
    <p:sldId id="1432" r:id="rId7"/>
    <p:sldId id="793" r:id="rId8"/>
    <p:sldId id="904" r:id="rId9"/>
    <p:sldId id="1433" r:id="rId10"/>
    <p:sldId id="1434" r:id="rId11"/>
    <p:sldId id="1535" r:id="rId12"/>
    <p:sldId id="1536" r:id="rId13"/>
    <p:sldId id="1451" r:id="rId14"/>
    <p:sldId id="1450" r:id="rId15"/>
    <p:sldId id="1452" r:id="rId16"/>
    <p:sldId id="1453" r:id="rId17"/>
    <p:sldId id="1444" r:id="rId18"/>
    <p:sldId id="1445" r:id="rId19"/>
    <p:sldId id="1446" r:id="rId20"/>
    <p:sldId id="1447" r:id="rId21"/>
    <p:sldId id="1448" r:id="rId22"/>
    <p:sldId id="1449" r:id="rId23"/>
    <p:sldId id="1542" r:id="rId24"/>
    <p:sldId id="1543" r:id="rId25"/>
    <p:sldId id="1544" r:id="rId26"/>
    <p:sldId id="1545" r:id="rId27"/>
    <p:sldId id="1546" r:id="rId28"/>
    <p:sldId id="1681" r:id="rId29"/>
    <p:sldId id="1678" r:id="rId30"/>
    <p:sldId id="1547" r:id="rId31"/>
    <p:sldId id="1684" r:id="rId32"/>
    <p:sldId id="1682" r:id="rId33"/>
    <p:sldId id="1548" r:id="rId34"/>
    <p:sldId id="1549" r:id="rId35"/>
    <p:sldId id="1454" r:id="rId36"/>
    <p:sldId id="1457" r:id="rId37"/>
    <p:sldId id="1537" r:id="rId38"/>
    <p:sldId id="1538" r:id="rId39"/>
    <p:sldId id="1539" r:id="rId40"/>
    <p:sldId id="1540" r:id="rId41"/>
    <p:sldId id="1456" r:id="rId42"/>
    <p:sldId id="907" r:id="rId43"/>
    <p:sldId id="980" r:id="rId44"/>
    <p:sldId id="979" r:id="rId45"/>
    <p:sldId id="1550" r:id="rId46"/>
    <p:sldId id="1551" r:id="rId47"/>
    <p:sldId id="1552" r:id="rId48"/>
    <p:sldId id="1553" r:id="rId49"/>
    <p:sldId id="1555" r:id="rId50"/>
    <p:sldId id="1633" r:id="rId51"/>
    <p:sldId id="1634" r:id="rId52"/>
    <p:sldId id="1635" r:id="rId53"/>
    <p:sldId id="1636" r:id="rId54"/>
    <p:sldId id="1637" r:id="rId55"/>
    <p:sldId id="1638" r:id="rId56"/>
    <p:sldId id="1639" r:id="rId57"/>
    <p:sldId id="1640" r:id="rId58"/>
    <p:sldId id="1641" r:id="rId59"/>
    <p:sldId id="1642" r:id="rId60"/>
    <p:sldId id="1685" r:id="rId61"/>
    <p:sldId id="912" r:id="rId62"/>
    <p:sldId id="981" r:id="rId63"/>
    <p:sldId id="982" r:id="rId64"/>
    <p:sldId id="983" r:id="rId65"/>
    <p:sldId id="984" r:id="rId66"/>
    <p:sldId id="985" r:id="rId67"/>
    <p:sldId id="1153" r:id="rId68"/>
    <p:sldId id="1154" r:id="rId69"/>
    <p:sldId id="1074" r:id="rId70"/>
    <p:sldId id="1643" r:id="rId71"/>
    <p:sldId id="1644" r:id="rId72"/>
    <p:sldId id="1645" r:id="rId73"/>
    <p:sldId id="1646" r:id="rId74"/>
    <p:sldId id="1078" r:id="rId75"/>
    <p:sldId id="1083" r:id="rId76"/>
    <p:sldId id="1683" r:id="rId77"/>
    <p:sldId id="1080" r:id="rId78"/>
    <p:sldId id="1687" r:id="rId79"/>
    <p:sldId id="1085" r:id="rId80"/>
    <p:sldId id="1690" r:id="rId81"/>
    <p:sldId id="1084" r:id="rId82"/>
    <p:sldId id="1086" r:id="rId83"/>
    <p:sldId id="1087" r:id="rId84"/>
    <p:sldId id="1090" r:id="rId85"/>
    <p:sldId id="1091" r:id="rId86"/>
    <p:sldId id="1088" r:id="rId87"/>
    <p:sldId id="1092" r:id="rId88"/>
    <p:sldId id="1647" r:id="rId89"/>
    <p:sldId id="1094" r:id="rId90"/>
    <p:sldId id="1095" r:id="rId91"/>
    <p:sldId id="1648" r:id="rId92"/>
    <p:sldId id="1649" r:id="rId93"/>
    <p:sldId id="1650" r:id="rId94"/>
    <p:sldId id="1651" r:id="rId95"/>
    <p:sldId id="1652" r:id="rId96"/>
    <p:sldId id="1653" r:id="rId97"/>
    <p:sldId id="1691" r:id="rId98"/>
    <p:sldId id="1676" r:id="rId99"/>
    <p:sldId id="1677" r:id="rId100"/>
    <p:sldId id="1689" r:id="rId101"/>
    <p:sldId id="1692" r:id="rId102"/>
    <p:sldId id="1693" r:id="rId103"/>
    <p:sldId id="1694" r:id="rId104"/>
    <p:sldId id="1695" r:id="rId105"/>
    <p:sldId id="1696" r:id="rId106"/>
    <p:sldId id="1697" r:id="rId107"/>
    <p:sldId id="1698" r:id="rId108"/>
    <p:sldId id="1699" r:id="rId109"/>
    <p:sldId id="1700" r:id="rId110"/>
  </p:sldIdLst>
  <p:sldSz cx="12198350" cy="6859588"/>
  <p:notesSz cx="6858000" cy="9144000"/>
  <p:defaultTextStyle>
    <a:defPPr>
      <a:defRPr lang="zh-CN"/>
    </a:defPPr>
    <a:lvl1pPr marL="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835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9435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9035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927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887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847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8705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1">
          <p15:clr>
            <a:srgbClr val="A4A3A4"/>
          </p15:clr>
        </p15:guide>
        <p15:guide id="2" pos="3849">
          <p15:clr>
            <a:srgbClr val="A4A3A4"/>
          </p15:clr>
        </p15:guide>
        <p15:guide id="3" pos="293">
          <p15:clr>
            <a:srgbClr val="A4A3A4"/>
          </p15:clr>
        </p15:guide>
        <p15:guide id="4" pos="1898">
          <p15:clr>
            <a:srgbClr val="A4A3A4"/>
          </p15:clr>
        </p15:guide>
        <p15:guide id="5" pos="1157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ita_hsong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660033"/>
    <a:srgbClr val="EA5F00"/>
    <a:srgbClr val="007A36"/>
    <a:srgbClr val="0071C1"/>
    <a:srgbClr val="FAFAFA"/>
    <a:srgbClr val="005DA2"/>
    <a:srgbClr val="FFC400"/>
    <a:srgbClr val="FFD347"/>
    <a:srgbClr val="FFC9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848" autoAdjust="0"/>
    <p:restoredTop sz="94714"/>
  </p:normalViewPr>
  <p:slideViewPr>
    <p:cSldViewPr>
      <p:cViewPr varScale="1">
        <p:scale>
          <a:sx n="106" d="100"/>
          <a:sy n="106" d="100"/>
        </p:scale>
        <p:origin x="216" y="368"/>
      </p:cViewPr>
      <p:guideLst>
        <p:guide orient="horz" pos="2181"/>
        <p:guide pos="3849"/>
        <p:guide pos="293"/>
        <p:guide pos="1898"/>
        <p:guide pos="1157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3170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117" Type="http://schemas.openxmlformats.org/officeDocument/2006/relationships/tableStyles" Target="tableStyles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12" Type="http://schemas.openxmlformats.org/officeDocument/2006/relationships/handoutMaster" Target="handoutMasters/handoutMaster1.xml"/><Relationship Id="rId16" Type="http://schemas.openxmlformats.org/officeDocument/2006/relationships/slide" Target="slides/slide14.xml"/><Relationship Id="rId107" Type="http://schemas.openxmlformats.org/officeDocument/2006/relationships/slide" Target="slides/slide105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102" Type="http://schemas.openxmlformats.org/officeDocument/2006/relationships/slide" Target="slides/slide100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113" Type="http://schemas.openxmlformats.org/officeDocument/2006/relationships/commentAuthors" Target="commentAuthors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59" Type="http://schemas.openxmlformats.org/officeDocument/2006/relationships/slide" Target="slides/slide57.xml"/><Relationship Id="rId103" Type="http://schemas.openxmlformats.org/officeDocument/2006/relationships/slide" Target="slides/slide101.xml"/><Relationship Id="rId108" Type="http://schemas.openxmlformats.org/officeDocument/2006/relationships/slide" Target="slides/slide106.xml"/><Relationship Id="rId54" Type="http://schemas.openxmlformats.org/officeDocument/2006/relationships/slide" Target="slides/slide52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49" Type="http://schemas.openxmlformats.org/officeDocument/2006/relationships/slide" Target="slides/slide47.xml"/><Relationship Id="rId114" Type="http://schemas.openxmlformats.org/officeDocument/2006/relationships/presProps" Target="presProps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109" Type="http://schemas.openxmlformats.org/officeDocument/2006/relationships/slide" Target="slides/slide10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slide" Target="slides/slide102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110" Type="http://schemas.openxmlformats.org/officeDocument/2006/relationships/slide" Target="slides/slide108.xml"/><Relationship Id="rId115" Type="http://schemas.openxmlformats.org/officeDocument/2006/relationships/viewProps" Target="viewProps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slide" Target="slides/slide103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3" Type="http://schemas.openxmlformats.org/officeDocument/2006/relationships/slide" Target="slides/slide1.xml"/><Relationship Id="rId25" Type="http://schemas.openxmlformats.org/officeDocument/2006/relationships/slide" Target="slides/slide23.xml"/><Relationship Id="rId46" Type="http://schemas.openxmlformats.org/officeDocument/2006/relationships/slide" Target="slides/slide44.xml"/><Relationship Id="rId67" Type="http://schemas.openxmlformats.org/officeDocument/2006/relationships/slide" Target="slides/slide65.xml"/><Relationship Id="rId116" Type="http://schemas.openxmlformats.org/officeDocument/2006/relationships/theme" Target="theme/theme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62" Type="http://schemas.openxmlformats.org/officeDocument/2006/relationships/slide" Target="slides/slide60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111" Type="http://schemas.openxmlformats.org/officeDocument/2006/relationships/notesMaster" Target="notesMasters/notesMaster1.xml"/><Relationship Id="rId15" Type="http://schemas.openxmlformats.org/officeDocument/2006/relationships/slide" Target="slides/slide13.xml"/><Relationship Id="rId36" Type="http://schemas.openxmlformats.org/officeDocument/2006/relationships/slide" Target="slides/slide34.xml"/><Relationship Id="rId57" Type="http://schemas.openxmlformats.org/officeDocument/2006/relationships/slide" Target="slides/slide55.xml"/><Relationship Id="rId106" Type="http://schemas.openxmlformats.org/officeDocument/2006/relationships/slide" Target="slides/slide10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2024/9/25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793733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62AE03-6EE8-41FD-8A37-86C6BC5E264F}" type="datetimeFigureOut">
              <a:rPr lang="zh-CN" altLang="en-US" smtClean="0"/>
              <a:t>2024/9/25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21FD59-C920-460C-B1C9-0346C59420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90756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83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943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903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927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887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847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870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0E0E2-7263-44C4-AAA9-733DBA7BD205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0E0E2-7263-44C4-AAA9-733DBA7BD205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0E0E2-7263-44C4-AAA9-733DBA7BD205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0E0E2-7263-44C4-AAA9-733DBA7BD205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0E0E2-7263-44C4-AAA9-733DBA7BD205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0E0E2-7263-44C4-AAA9-733DBA7BD205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0E0E2-7263-44C4-AAA9-733DBA7BD205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0E0E2-7263-44C4-AAA9-733DBA7BD205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0E0E2-7263-44C4-AAA9-733DBA7BD205}" type="slidenum">
              <a:rPr lang="zh-CN" altLang="en-US" smtClean="0"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0E0E2-7263-44C4-AAA9-733DBA7BD205}" type="slidenum">
              <a:rPr lang="zh-CN" altLang="en-US" smtClean="0"/>
              <a:t>17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0E0E2-7263-44C4-AAA9-733DBA7BD205}" type="slidenum">
              <a:rPr lang="zh-CN" altLang="en-US" smtClean="0"/>
              <a:t>18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0E0E2-7263-44C4-AAA9-733DBA7BD205}" type="slidenum">
              <a:rPr lang="zh-CN" altLang="en-US" smtClean="0"/>
              <a:t>19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0E0E2-7263-44C4-AAA9-733DBA7BD205}" type="slidenum">
              <a:rPr lang="zh-CN" altLang="en-US" smtClean="0"/>
              <a:t>20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0E0E2-7263-44C4-AAA9-733DBA7BD205}" type="slidenum">
              <a:rPr lang="zh-CN" altLang="en-US" smtClean="0"/>
              <a:t>21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0E0E2-7263-44C4-AAA9-733DBA7BD205}" type="slidenum">
              <a:rPr lang="zh-CN" altLang="en-US" smtClean="0"/>
              <a:t>22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0E0E2-7263-44C4-AAA9-733DBA7BD205}" type="slidenum">
              <a:rPr lang="zh-CN" altLang="en-US" smtClean="0"/>
              <a:t>23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0E0E2-7263-44C4-AAA9-733DBA7BD205}" type="slidenum">
              <a:rPr lang="zh-CN" altLang="en-US" smtClean="0"/>
              <a:t>24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0E0E2-7263-44C4-AAA9-733DBA7BD205}" type="slidenum">
              <a:rPr lang="zh-CN" altLang="en-US" smtClean="0"/>
              <a:t>25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0E0E2-7263-44C4-AAA9-733DBA7BD205}" type="slidenum">
              <a:rPr lang="zh-CN" altLang="en-US" smtClean="0"/>
              <a:t>26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0E0E2-7263-44C4-AAA9-733DBA7BD205}" type="slidenum">
              <a:rPr lang="zh-CN" altLang="en-US" smtClean="0"/>
              <a:t>27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0E0E2-7263-44C4-AAA9-733DBA7BD205}" type="slidenum">
              <a:rPr lang="zh-CN" altLang="en-US" smtClean="0"/>
              <a:t>28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0E0E2-7263-44C4-AAA9-733DBA7BD205}" type="slidenum">
              <a:rPr lang="zh-CN" altLang="en-US" smtClean="0"/>
              <a:t>29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0E0E2-7263-44C4-AAA9-733DBA7BD205}" type="slidenum">
              <a:rPr lang="zh-CN" altLang="en-US" smtClean="0"/>
              <a:t>30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0E0E2-7263-44C4-AAA9-733DBA7BD205}" type="slidenum">
              <a:rPr lang="zh-CN" altLang="en-US" smtClean="0"/>
              <a:t>32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0E0E2-7263-44C4-AAA9-733DBA7BD205}" type="slidenum">
              <a:rPr lang="zh-CN" altLang="en-US" smtClean="0"/>
              <a:t>33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0E0E2-7263-44C4-AAA9-733DBA7BD205}" type="slidenum">
              <a:rPr lang="zh-CN" altLang="en-US" smtClean="0"/>
              <a:t>34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0E0E2-7263-44C4-AAA9-733DBA7BD205}" type="slidenum">
              <a:rPr lang="zh-CN" altLang="en-US" smtClean="0"/>
              <a:t>35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0E0E2-7263-44C4-AAA9-733DBA7BD205}" type="slidenum">
              <a:rPr lang="zh-CN" altLang="en-US" smtClean="0"/>
              <a:t>40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 advTm="0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12198350" cy="76549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790" y="-47456"/>
            <a:ext cx="914444" cy="86040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矩形 8"/>
          <p:cNvSpPr/>
          <p:nvPr userDrawn="1"/>
        </p:nvSpPr>
        <p:spPr>
          <a:xfrm>
            <a:off x="-8058" y="6454129"/>
            <a:ext cx="12198350" cy="40837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-6072" y="6462394"/>
            <a:ext cx="2723823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1800" b="1" cap="none" spc="0" dirty="0">
                <a:ln w="0"/>
                <a:solidFill>
                  <a:srgbClr val="FAFAFA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1800" b="1" cap="none" spc="0" dirty="0">
                <a:ln w="0"/>
                <a:solidFill>
                  <a:srgbClr val="FAFAFA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大数据分析语言基础</a:t>
            </a:r>
            <a:r>
              <a:rPr lang="en-US" altLang="zh-CN" sz="1800" b="1" cap="none" spc="0" dirty="0">
                <a:ln w="0"/>
                <a:solidFill>
                  <a:srgbClr val="FAFAFA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endParaRPr lang="zh-CN" altLang="en-US" sz="1800" b="1" cap="none" spc="0" dirty="0">
              <a:ln w="0"/>
              <a:solidFill>
                <a:srgbClr val="FAFAFA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 userDrawn="1"/>
        </p:nvSpPr>
        <p:spPr>
          <a:xfrm>
            <a:off x="914599" y="335723"/>
            <a:ext cx="3456384" cy="39878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 sz="20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方正大黑简体" panose="03000509000000000000" pitchFamily="2" charset="-122"/>
                <a:ea typeface="方正大黑简体" panose="03000509000000000000" pitchFamily="2" charset="-122"/>
              </a:rPr>
              <a:t>第</a:t>
            </a:r>
            <a:r>
              <a:rPr lang="en-US" altLang="zh-CN" sz="20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方正大黑简体" panose="03000509000000000000" pitchFamily="2" charset="-122"/>
                <a:ea typeface="方正大黑简体" panose="03000509000000000000" pitchFamily="2" charset="-122"/>
              </a:rPr>
              <a:t>5</a:t>
            </a:r>
            <a:r>
              <a:rPr lang="zh-CN" altLang="en-US" sz="20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方正大黑简体" panose="03000509000000000000" pitchFamily="2" charset="-122"/>
                <a:ea typeface="方正大黑简体" panose="03000509000000000000" pitchFamily="2" charset="-122"/>
              </a:rPr>
              <a:t>章 函数、模块和包</a:t>
            </a:r>
          </a:p>
        </p:txBody>
      </p:sp>
    </p:spTree>
  </p:cSld>
  <p:clrMapOvr>
    <a:masterClrMapping/>
  </p:clrMapOvr>
  <p:transition spd="slow" advTm="0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918" y="274702"/>
            <a:ext cx="10978515" cy="1143265"/>
          </a:xfrm>
          <a:prstGeom prst="rect">
            <a:avLst/>
          </a:prstGeom>
        </p:spPr>
        <p:txBody>
          <a:bodyPr lIns="121963" tIns="60981" rIns="121963" bIns="60981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09917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DF659192-60C8-49F5-94DF-1E29C3FCC85C}" type="datetimeFigureOut">
              <a:rPr lang="zh-CN" altLang="en-US" smtClean="0"/>
              <a:t>2024/9/25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67770" y="6357822"/>
            <a:ext cx="3862811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742151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EB730883-2733-4EB0-9793-894FF9D50112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矩形 5"/>
          <p:cNvSpPr/>
          <p:nvPr userDrawn="1"/>
        </p:nvSpPr>
        <p:spPr>
          <a:xfrm>
            <a:off x="0" y="0"/>
            <a:ext cx="12198350" cy="76549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790" y="-47456"/>
            <a:ext cx="914444" cy="86040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矩形 7"/>
          <p:cNvSpPr/>
          <p:nvPr userDrawn="1"/>
        </p:nvSpPr>
        <p:spPr>
          <a:xfrm>
            <a:off x="-8058" y="6454129"/>
            <a:ext cx="12198350" cy="40837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-6072" y="6462394"/>
            <a:ext cx="2723823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1800" b="1" cap="none" spc="0" dirty="0">
                <a:ln w="0"/>
                <a:solidFill>
                  <a:srgbClr val="FAFAFA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1800" b="1" cap="none" spc="0" dirty="0">
                <a:ln w="0"/>
                <a:solidFill>
                  <a:srgbClr val="FAFAFA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大数据分析语言基础</a:t>
            </a:r>
            <a:r>
              <a:rPr lang="en-US" altLang="zh-CN" sz="1800" b="1" cap="none" spc="0" dirty="0">
                <a:ln w="0"/>
                <a:solidFill>
                  <a:srgbClr val="FAFAFA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endParaRPr lang="zh-CN" altLang="en-US" sz="1800" b="1" cap="none" spc="0" dirty="0">
              <a:ln w="0"/>
              <a:solidFill>
                <a:srgbClr val="FAFAFA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920" y="273112"/>
            <a:ext cx="4013173" cy="1162320"/>
          </a:xfrm>
          <a:prstGeom prst="rect">
            <a:avLst/>
          </a:prstGeom>
        </p:spPr>
        <p:txBody>
          <a:bodyPr lIns="121963" tIns="60981" rIns="121963" bIns="60981" anchor="b"/>
          <a:lstStyle>
            <a:lvl1pPr algn="l">
              <a:defRPr sz="27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9216" y="273114"/>
            <a:ext cx="6819216" cy="5854469"/>
          </a:xfrm>
          <a:prstGeom prst="rect">
            <a:avLst/>
          </a:prstGeom>
        </p:spPr>
        <p:txBody>
          <a:bodyPr lIns="121963" tIns="60981" rIns="121963" bIns="60981"/>
          <a:lstStyle>
            <a:lvl1pPr>
              <a:defRPr sz="4300"/>
            </a:lvl1pPr>
            <a:lvl2pPr>
              <a:defRPr sz="3700"/>
            </a:lvl2pPr>
            <a:lvl3pPr>
              <a:defRPr sz="3200"/>
            </a:lvl3pPr>
            <a:lvl4pPr>
              <a:defRPr sz="2700"/>
            </a:lvl4pPr>
            <a:lvl5pPr>
              <a:defRPr sz="2700"/>
            </a:lvl5pPr>
            <a:lvl6pPr>
              <a:defRPr sz="2700"/>
            </a:lvl6pPr>
            <a:lvl7pPr>
              <a:defRPr sz="2700"/>
            </a:lvl7pPr>
            <a:lvl8pPr>
              <a:defRPr sz="2700"/>
            </a:lvl8pPr>
            <a:lvl9pPr>
              <a:defRPr sz="27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920" y="1435434"/>
            <a:ext cx="4013173" cy="4692149"/>
          </a:xfrm>
          <a:prstGeom prst="rect">
            <a:avLst/>
          </a:prstGeom>
        </p:spPr>
        <p:txBody>
          <a:bodyPr lIns="121963" tIns="60981" rIns="121963" bIns="60981"/>
          <a:lstStyle>
            <a:lvl1pPr marL="0" indent="0">
              <a:buNone/>
              <a:defRPr sz="1900"/>
            </a:lvl1pPr>
            <a:lvl2pPr marL="609600" indent="0">
              <a:buNone/>
              <a:defRPr sz="1600"/>
            </a:lvl2pPr>
            <a:lvl3pPr marL="1219835" indent="0">
              <a:buNone/>
              <a:defRPr sz="1300"/>
            </a:lvl3pPr>
            <a:lvl4pPr marL="1829435" indent="0">
              <a:buNone/>
              <a:defRPr sz="1200"/>
            </a:lvl4pPr>
            <a:lvl5pPr marL="2439035" indent="0">
              <a:buNone/>
              <a:defRPr sz="1200"/>
            </a:lvl5pPr>
            <a:lvl6pPr marL="3049270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8705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917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DF659192-60C8-49F5-94DF-1E29C3FCC85C}" type="datetimeFigureOut">
              <a:rPr lang="zh-CN" altLang="en-US" smtClean="0"/>
              <a:t>2024/9/25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7770" y="6357822"/>
            <a:ext cx="3862811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42151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EB730883-2733-4EB0-9793-894FF9D50112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0" y="0"/>
            <a:ext cx="12198350" cy="76549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790" y="-47456"/>
            <a:ext cx="914444" cy="86040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0" name="矩形 9"/>
          <p:cNvSpPr/>
          <p:nvPr userDrawn="1"/>
        </p:nvSpPr>
        <p:spPr>
          <a:xfrm>
            <a:off x="-8058" y="6454129"/>
            <a:ext cx="12198350" cy="40837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 userDrawn="1"/>
        </p:nvSpPr>
        <p:spPr>
          <a:xfrm>
            <a:off x="-6072" y="6462394"/>
            <a:ext cx="2723823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1800" b="1" cap="none" spc="0" dirty="0">
                <a:ln w="0"/>
                <a:solidFill>
                  <a:srgbClr val="FAFAFA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1800" b="1" cap="none" spc="0" dirty="0">
                <a:ln w="0"/>
                <a:solidFill>
                  <a:srgbClr val="FAFAFA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大数据分析语言基础</a:t>
            </a:r>
            <a:r>
              <a:rPr lang="en-US" altLang="zh-CN" sz="1800" b="1" cap="none" spc="0" dirty="0">
                <a:ln w="0"/>
                <a:solidFill>
                  <a:srgbClr val="FAFAFA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endParaRPr lang="zh-CN" altLang="en-US" sz="1800" b="1" cap="none" spc="0" dirty="0">
              <a:ln w="0"/>
              <a:solidFill>
                <a:srgbClr val="FAFAFA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90962" y="4801712"/>
            <a:ext cx="7319010" cy="566870"/>
          </a:xfrm>
          <a:prstGeom prst="rect">
            <a:avLst/>
          </a:prstGeom>
        </p:spPr>
        <p:txBody>
          <a:bodyPr lIns="121963" tIns="60981" rIns="121963" bIns="60981" anchor="b"/>
          <a:lstStyle>
            <a:lvl1pPr algn="l">
              <a:defRPr sz="27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90962" y="612916"/>
            <a:ext cx="7319010" cy="4115753"/>
          </a:xfrm>
          <a:prstGeom prst="rect">
            <a:avLst/>
          </a:prstGeom>
        </p:spPr>
        <p:txBody>
          <a:bodyPr lIns="121963" tIns="60981" rIns="121963" bIns="60981"/>
          <a:lstStyle>
            <a:lvl1pPr marL="0" indent="0">
              <a:buNone/>
              <a:defRPr sz="4300"/>
            </a:lvl1pPr>
            <a:lvl2pPr marL="609600" indent="0">
              <a:buNone/>
              <a:defRPr sz="3700"/>
            </a:lvl2pPr>
            <a:lvl3pPr marL="1219835" indent="0">
              <a:buNone/>
              <a:defRPr sz="3200"/>
            </a:lvl3pPr>
            <a:lvl4pPr marL="1829435" indent="0">
              <a:buNone/>
              <a:defRPr sz="2700"/>
            </a:lvl4pPr>
            <a:lvl5pPr marL="2439035" indent="0">
              <a:buNone/>
              <a:defRPr sz="2700"/>
            </a:lvl5pPr>
            <a:lvl6pPr marL="3049270" indent="0">
              <a:buNone/>
              <a:defRPr sz="2700"/>
            </a:lvl6pPr>
            <a:lvl7pPr marL="3658870" indent="0">
              <a:buNone/>
              <a:defRPr sz="2700"/>
            </a:lvl7pPr>
            <a:lvl8pPr marL="4268470" indent="0">
              <a:buNone/>
              <a:defRPr sz="2700"/>
            </a:lvl8pPr>
            <a:lvl9pPr marL="4878705" indent="0">
              <a:buNone/>
              <a:defRPr sz="27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90962" y="5368581"/>
            <a:ext cx="7319010" cy="805049"/>
          </a:xfrm>
          <a:prstGeom prst="rect">
            <a:avLst/>
          </a:prstGeom>
        </p:spPr>
        <p:txBody>
          <a:bodyPr lIns="121963" tIns="60981" rIns="121963" bIns="60981"/>
          <a:lstStyle>
            <a:lvl1pPr marL="0" indent="0">
              <a:buNone/>
              <a:defRPr sz="1900"/>
            </a:lvl1pPr>
            <a:lvl2pPr marL="609600" indent="0">
              <a:buNone/>
              <a:defRPr sz="1600"/>
            </a:lvl2pPr>
            <a:lvl3pPr marL="1219835" indent="0">
              <a:buNone/>
              <a:defRPr sz="1300"/>
            </a:lvl3pPr>
            <a:lvl4pPr marL="1829435" indent="0">
              <a:buNone/>
              <a:defRPr sz="1200"/>
            </a:lvl4pPr>
            <a:lvl5pPr marL="2439035" indent="0">
              <a:buNone/>
              <a:defRPr sz="1200"/>
            </a:lvl5pPr>
            <a:lvl6pPr marL="3049270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8705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917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DF659192-60C8-49F5-94DF-1E29C3FCC85C}" type="datetimeFigureOut">
              <a:rPr lang="zh-CN" altLang="en-US" smtClean="0"/>
              <a:t>2024/9/25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7770" y="6357822"/>
            <a:ext cx="3862811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42151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EB730883-2733-4EB0-9793-894FF9D50112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0" y="0"/>
            <a:ext cx="12198350" cy="76549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790" y="-47456"/>
            <a:ext cx="914444" cy="86040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0" name="矩形 9"/>
          <p:cNvSpPr/>
          <p:nvPr userDrawn="1"/>
        </p:nvSpPr>
        <p:spPr>
          <a:xfrm>
            <a:off x="-8058" y="6454129"/>
            <a:ext cx="12198350" cy="40837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 userDrawn="1"/>
        </p:nvSpPr>
        <p:spPr>
          <a:xfrm>
            <a:off x="-6072" y="6462394"/>
            <a:ext cx="2723823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1800" b="1" cap="none" spc="0" dirty="0">
                <a:ln w="0"/>
                <a:solidFill>
                  <a:srgbClr val="FAFAFA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1800" b="1" cap="none" spc="0" dirty="0">
                <a:ln w="0"/>
                <a:solidFill>
                  <a:srgbClr val="FAFAFA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大数据分析语言基础</a:t>
            </a:r>
            <a:r>
              <a:rPr lang="en-US" altLang="zh-CN" sz="1800" b="1" cap="none" spc="0" dirty="0">
                <a:ln w="0"/>
                <a:solidFill>
                  <a:srgbClr val="FAFAFA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endParaRPr lang="zh-CN" altLang="en-US" sz="1800" b="1" cap="none" spc="0" dirty="0">
              <a:ln w="0"/>
              <a:solidFill>
                <a:srgbClr val="FAFAFA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918" y="274702"/>
            <a:ext cx="10978515" cy="1143265"/>
          </a:xfrm>
          <a:prstGeom prst="rect">
            <a:avLst/>
          </a:prstGeom>
        </p:spPr>
        <p:txBody>
          <a:bodyPr lIns="121963" tIns="60981" rIns="121963" bIns="60981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918" y="1600572"/>
            <a:ext cx="10978515" cy="4527011"/>
          </a:xfrm>
          <a:prstGeom prst="rect">
            <a:avLst/>
          </a:prstGeom>
        </p:spPr>
        <p:txBody>
          <a:bodyPr vert="eaVert" lIns="121963" tIns="60981" rIns="121963" bIns="6098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917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DF659192-60C8-49F5-94DF-1E29C3FCC85C}" type="datetimeFigureOut">
              <a:rPr lang="zh-CN" altLang="en-US" smtClean="0"/>
              <a:t>2024/9/25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7770" y="6357822"/>
            <a:ext cx="3862811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42151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EB730883-2733-4EB0-9793-894FF9D50112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0"/>
            <a:ext cx="12198350" cy="76549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790" y="-47456"/>
            <a:ext cx="914444" cy="86040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矩形 8"/>
          <p:cNvSpPr/>
          <p:nvPr userDrawn="1"/>
        </p:nvSpPr>
        <p:spPr>
          <a:xfrm>
            <a:off x="-8058" y="6454129"/>
            <a:ext cx="12198350" cy="40837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-6072" y="6462394"/>
            <a:ext cx="2723823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1800" b="1" cap="none" spc="0" dirty="0">
                <a:ln w="0"/>
                <a:solidFill>
                  <a:srgbClr val="FAFAFA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1800" b="1" cap="none" spc="0" dirty="0">
                <a:ln w="0"/>
                <a:solidFill>
                  <a:srgbClr val="FAFAFA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大数据分析语言基础</a:t>
            </a:r>
            <a:r>
              <a:rPr lang="en-US" altLang="zh-CN" sz="1800" b="1" cap="none" spc="0" dirty="0">
                <a:ln w="0"/>
                <a:solidFill>
                  <a:srgbClr val="FAFAFA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endParaRPr lang="zh-CN" altLang="en-US" sz="1800" b="1" cap="none" spc="0" dirty="0">
              <a:ln w="0"/>
              <a:solidFill>
                <a:srgbClr val="FAFAFA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43804" y="206422"/>
            <a:ext cx="2744629" cy="4388867"/>
          </a:xfrm>
          <a:prstGeom prst="rect">
            <a:avLst/>
          </a:prstGeom>
        </p:spPr>
        <p:txBody>
          <a:bodyPr vert="eaVert" lIns="121963" tIns="60981" rIns="121963" bIns="60981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918" y="206422"/>
            <a:ext cx="8030580" cy="4388867"/>
          </a:xfrm>
          <a:prstGeom prst="rect">
            <a:avLst/>
          </a:prstGeom>
        </p:spPr>
        <p:txBody>
          <a:bodyPr vert="eaVert" lIns="121963" tIns="60981" rIns="121963" bIns="6098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917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DF659192-60C8-49F5-94DF-1E29C3FCC85C}" type="datetimeFigureOut">
              <a:rPr lang="zh-CN" altLang="en-US" smtClean="0"/>
              <a:t>2024/9/25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7770" y="6357822"/>
            <a:ext cx="3862811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42151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EB730883-2733-4EB0-9793-894FF9D50112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0"/>
            <a:ext cx="12198350" cy="76549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790" y="-47456"/>
            <a:ext cx="914444" cy="86040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矩形 8"/>
          <p:cNvSpPr/>
          <p:nvPr userDrawn="1"/>
        </p:nvSpPr>
        <p:spPr>
          <a:xfrm>
            <a:off x="-8058" y="6454129"/>
            <a:ext cx="12198350" cy="40837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-6072" y="6462394"/>
            <a:ext cx="2723823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1800" b="1" cap="none" spc="0" dirty="0">
                <a:ln w="0"/>
                <a:solidFill>
                  <a:srgbClr val="FAFAFA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1800" b="1" cap="none" spc="0" dirty="0">
                <a:ln w="0"/>
                <a:solidFill>
                  <a:srgbClr val="FAFAFA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大数据分析语言基础</a:t>
            </a:r>
            <a:r>
              <a:rPr lang="en-US" altLang="zh-CN" sz="1800" b="1" cap="none" spc="0" dirty="0">
                <a:ln w="0"/>
                <a:solidFill>
                  <a:srgbClr val="FAFAFA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endParaRPr lang="zh-CN" altLang="en-US" sz="1800" b="1" cap="none" spc="0" dirty="0">
              <a:ln w="0"/>
              <a:solidFill>
                <a:srgbClr val="FAFAFA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0"/>
            <a:ext cx="12198350" cy="76549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790" y="-47456"/>
            <a:ext cx="914444" cy="86040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矩形 3"/>
          <p:cNvSpPr/>
          <p:nvPr userDrawn="1"/>
        </p:nvSpPr>
        <p:spPr>
          <a:xfrm>
            <a:off x="-8058" y="6454129"/>
            <a:ext cx="12198350" cy="40837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 userDrawn="1"/>
        </p:nvSpPr>
        <p:spPr>
          <a:xfrm>
            <a:off x="-6072" y="6462394"/>
            <a:ext cx="2723823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1800" b="1" cap="none" spc="0" dirty="0">
                <a:ln w="0"/>
                <a:solidFill>
                  <a:srgbClr val="FAFAFA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1800" b="1" cap="none" spc="0" dirty="0">
                <a:ln w="0"/>
                <a:solidFill>
                  <a:srgbClr val="FAFAFA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大数据分析语言基础</a:t>
            </a:r>
            <a:r>
              <a:rPr lang="en-US" altLang="zh-CN" sz="1800" b="1" cap="none" spc="0" dirty="0">
                <a:ln w="0"/>
                <a:solidFill>
                  <a:srgbClr val="FAFAFA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endParaRPr lang="zh-CN" altLang="en-US" sz="1800" b="1" cap="none" spc="0" dirty="0">
              <a:ln w="0"/>
              <a:solidFill>
                <a:srgbClr val="FAFAFA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918" y="274701"/>
            <a:ext cx="10978515" cy="11432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918" y="1535469"/>
            <a:ext cx="5389723" cy="63991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9435" indent="0">
              <a:buNone/>
              <a:defRPr sz="1600" b="1"/>
            </a:lvl5pPr>
            <a:lvl6pPr marL="2286635" indent="0">
              <a:buNone/>
              <a:defRPr sz="1600" b="1"/>
            </a:lvl6pPr>
            <a:lvl7pPr marL="2743835" indent="0">
              <a:buNone/>
              <a:defRPr sz="1600" b="1"/>
            </a:lvl7pPr>
            <a:lvl8pPr marL="3201035" indent="0">
              <a:buNone/>
              <a:defRPr sz="1600" b="1"/>
            </a:lvl8pPr>
            <a:lvl9pPr marL="3658235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918" y="2175379"/>
            <a:ext cx="5389723" cy="3952203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6593" y="1535469"/>
            <a:ext cx="5391840" cy="63991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9435" indent="0">
              <a:buNone/>
              <a:defRPr sz="1600" b="1"/>
            </a:lvl5pPr>
            <a:lvl6pPr marL="2286635" indent="0">
              <a:buNone/>
              <a:defRPr sz="1600" b="1"/>
            </a:lvl6pPr>
            <a:lvl7pPr marL="2743835" indent="0">
              <a:buNone/>
              <a:defRPr sz="1600" b="1"/>
            </a:lvl7pPr>
            <a:lvl8pPr marL="3201035" indent="0">
              <a:buNone/>
              <a:defRPr sz="1600" b="1"/>
            </a:lvl8pPr>
            <a:lvl9pPr marL="3658235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6593" y="2175379"/>
            <a:ext cx="5391840" cy="3952203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7"/>
          <p:cNvSpPr>
            <a:spLocks noGrp="1" noChangeArrowheads="1"/>
          </p:cNvSpPr>
          <p:nvPr>
            <p:ph type="dt" sz="half" idx="10"/>
          </p:nvPr>
        </p:nvSpPr>
        <p:spPr>
          <a:xfrm>
            <a:off x="609917" y="6245084"/>
            <a:ext cx="2846282" cy="457306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46995A-94BE-41D3-9DC8-217D2F6F4485}" type="datetime1">
              <a:rPr lang="zh-CN" altLang="en-US"/>
              <a:t>2024/9/25</a:t>
            </a:fld>
            <a:endParaRPr lang="en-US" altLang="zh-CN"/>
          </a:p>
        </p:txBody>
      </p:sp>
      <p:sp>
        <p:nvSpPr>
          <p:cNvPr id="8" name="Rectangle 48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7770" y="6249847"/>
            <a:ext cx="3862811" cy="457306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49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42151" y="6245084"/>
            <a:ext cx="2846282" cy="457306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1133C983-41ED-4461-AC69-AA7BCDD3E083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 spd="slow" advTm="0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636" y="6521769"/>
            <a:ext cx="2744629" cy="365210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lang="zh-CN" altLang="en-US" sz="1800" kern="1200" smtClean="0">
                <a:solidFill>
                  <a:srgbClr val="C00000"/>
                </a:solidFill>
                <a:latin typeface="+mn-lt"/>
                <a:ea typeface="+mn-ea"/>
                <a:cs typeface="+mn-cs"/>
              </a:defRPr>
            </a:lvl1pPr>
          </a:lstStyle>
          <a:p>
            <a:fld id="{BBC18AD7-D9E8-48DE-B5E0-53D11EE22353}" type="datetime1">
              <a:rPr lang="en-US" altLang="zh-CN" smtClean="0"/>
              <a:t>9/25/24</a:t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440416" y="6521769"/>
            <a:ext cx="4116943" cy="365210"/>
          </a:xfrm>
          <a:prstGeom prst="rect">
            <a:avLst/>
          </a:prstGeom>
        </p:spPr>
        <p:txBody>
          <a:bodyPr/>
          <a:lstStyle>
            <a:lvl1pPr>
              <a:defRPr lang="zh-CN" altLang="en-US" sz="1800" kern="1200" dirty="0" smtClean="0">
                <a:solidFill>
                  <a:srgbClr val="C00000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zh-CN" altLang="en-US" dirty="0"/>
              <a:t>外经贸</a:t>
            </a:r>
            <a:r>
              <a:rPr lang="en-US" altLang="zh-CN" dirty="0"/>
              <a:t>-</a:t>
            </a:r>
            <a:r>
              <a:rPr lang="zh-CN" altLang="en-US" dirty="0"/>
              <a:t>信息学院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234222" y="6521769"/>
            <a:ext cx="2744629" cy="36521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C00000"/>
                </a:solidFill>
              </a:defRPr>
            </a:lvl1pPr>
          </a:lstStyle>
          <a:p>
            <a:fld id="{370D8578-DDD4-487D-A316-C8E65CC577E1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 advTm="0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 advTm="0">
    <p:wip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12198350" cy="76549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790" y="-47456"/>
            <a:ext cx="914444" cy="86040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矩形 8"/>
          <p:cNvSpPr/>
          <p:nvPr userDrawn="1"/>
        </p:nvSpPr>
        <p:spPr>
          <a:xfrm>
            <a:off x="-8058" y="6454129"/>
            <a:ext cx="12198350" cy="40837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-6072" y="6462394"/>
            <a:ext cx="2723823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1800" b="1" cap="none" spc="0" dirty="0">
                <a:ln w="0"/>
                <a:solidFill>
                  <a:srgbClr val="FAFAFA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1800" b="1" cap="none" spc="0" dirty="0">
                <a:ln w="0"/>
                <a:solidFill>
                  <a:srgbClr val="FAFAFA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大数据分析语言基础</a:t>
            </a:r>
            <a:r>
              <a:rPr lang="en-US" altLang="zh-CN" sz="1800" b="1" cap="none" spc="0" dirty="0">
                <a:ln w="0"/>
                <a:solidFill>
                  <a:srgbClr val="FAFAFA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endParaRPr lang="zh-CN" altLang="en-US" sz="1800" b="1" cap="none" spc="0" dirty="0">
              <a:ln w="0"/>
              <a:solidFill>
                <a:srgbClr val="FAFAFA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 userDrawn="1"/>
        </p:nvSpPr>
        <p:spPr>
          <a:xfrm>
            <a:off x="914599" y="335723"/>
            <a:ext cx="3456384" cy="39878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 sz="20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方正大黑简体" panose="03000509000000000000" pitchFamily="2" charset="-122"/>
                <a:ea typeface="方正大黑简体" panose="03000509000000000000" pitchFamily="2" charset="-122"/>
              </a:rPr>
              <a:t>第</a:t>
            </a:r>
            <a:r>
              <a:rPr lang="en-US" altLang="zh-CN" sz="20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方正大黑简体" panose="03000509000000000000" pitchFamily="2" charset="-122"/>
                <a:ea typeface="方正大黑简体" panose="03000509000000000000" pitchFamily="2" charset="-122"/>
              </a:rPr>
              <a:t>5</a:t>
            </a:r>
            <a:r>
              <a:rPr lang="zh-CN" altLang="en-US" sz="20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方正大黑简体" panose="03000509000000000000" pitchFamily="2" charset="-122"/>
                <a:ea typeface="方正大黑简体" panose="03000509000000000000" pitchFamily="2" charset="-122"/>
              </a:rPr>
              <a:t>章 函数、模块和包</a:t>
            </a:r>
          </a:p>
        </p:txBody>
      </p:sp>
    </p:spTree>
  </p:cSld>
  <p:clrMapOvr>
    <a:masterClrMapping/>
  </p:clrMapOvr>
  <p:transition spd="slow" advTm="0">
    <p:wip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918" y="274702"/>
            <a:ext cx="10978515" cy="1143265"/>
          </a:xfrm>
          <a:prstGeom prst="rect">
            <a:avLst/>
          </a:prstGeom>
        </p:spPr>
        <p:txBody>
          <a:bodyPr lIns="121963" tIns="60981" rIns="121963" bIns="60981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09917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DF659192-60C8-49F5-94DF-1E29C3FCC85C}" type="datetimeFigureOut">
              <a:rPr lang="zh-CN" altLang="en-US" smtClean="0"/>
              <a:t>2024/9/25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67770" y="6357822"/>
            <a:ext cx="3862811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742151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EB730883-2733-4EB0-9793-894FF9D50112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矩形 5"/>
          <p:cNvSpPr/>
          <p:nvPr userDrawn="1"/>
        </p:nvSpPr>
        <p:spPr>
          <a:xfrm>
            <a:off x="0" y="0"/>
            <a:ext cx="12198350" cy="76549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790" y="-47456"/>
            <a:ext cx="914444" cy="86040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矩形 7"/>
          <p:cNvSpPr/>
          <p:nvPr userDrawn="1"/>
        </p:nvSpPr>
        <p:spPr>
          <a:xfrm>
            <a:off x="-8058" y="6454129"/>
            <a:ext cx="12198350" cy="40837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-6072" y="6462394"/>
            <a:ext cx="2723823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1800" b="1" cap="none" spc="0" dirty="0">
                <a:ln w="0"/>
                <a:solidFill>
                  <a:srgbClr val="FAFAFA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1800" b="1" cap="none" spc="0" dirty="0">
                <a:ln w="0"/>
                <a:solidFill>
                  <a:srgbClr val="FAFAFA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大数据分析语言基础</a:t>
            </a:r>
            <a:r>
              <a:rPr lang="en-US" altLang="zh-CN" sz="1800" b="1" cap="none" spc="0" dirty="0">
                <a:ln w="0"/>
                <a:solidFill>
                  <a:srgbClr val="FAFAFA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endParaRPr lang="zh-CN" altLang="en-US" sz="1800" b="1" cap="none" spc="0" dirty="0">
              <a:ln w="0"/>
              <a:solidFill>
                <a:srgbClr val="FAFAFA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>
    <p:wip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920" y="273112"/>
            <a:ext cx="4013173" cy="1162320"/>
          </a:xfrm>
          <a:prstGeom prst="rect">
            <a:avLst/>
          </a:prstGeom>
        </p:spPr>
        <p:txBody>
          <a:bodyPr lIns="121963" tIns="60981" rIns="121963" bIns="60981" anchor="b"/>
          <a:lstStyle>
            <a:lvl1pPr algn="l">
              <a:defRPr sz="27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9216" y="273114"/>
            <a:ext cx="6819216" cy="5854469"/>
          </a:xfrm>
          <a:prstGeom prst="rect">
            <a:avLst/>
          </a:prstGeom>
        </p:spPr>
        <p:txBody>
          <a:bodyPr lIns="121963" tIns="60981" rIns="121963" bIns="60981"/>
          <a:lstStyle>
            <a:lvl1pPr>
              <a:defRPr sz="4300"/>
            </a:lvl1pPr>
            <a:lvl2pPr>
              <a:defRPr sz="3700"/>
            </a:lvl2pPr>
            <a:lvl3pPr>
              <a:defRPr sz="3200"/>
            </a:lvl3pPr>
            <a:lvl4pPr>
              <a:defRPr sz="2700"/>
            </a:lvl4pPr>
            <a:lvl5pPr>
              <a:defRPr sz="2700"/>
            </a:lvl5pPr>
            <a:lvl6pPr>
              <a:defRPr sz="2700"/>
            </a:lvl6pPr>
            <a:lvl7pPr>
              <a:defRPr sz="2700"/>
            </a:lvl7pPr>
            <a:lvl8pPr>
              <a:defRPr sz="2700"/>
            </a:lvl8pPr>
            <a:lvl9pPr>
              <a:defRPr sz="27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920" y="1435434"/>
            <a:ext cx="4013173" cy="4692149"/>
          </a:xfrm>
          <a:prstGeom prst="rect">
            <a:avLst/>
          </a:prstGeom>
        </p:spPr>
        <p:txBody>
          <a:bodyPr lIns="121963" tIns="60981" rIns="121963" bIns="60981"/>
          <a:lstStyle>
            <a:lvl1pPr marL="0" indent="0">
              <a:buNone/>
              <a:defRPr sz="1900"/>
            </a:lvl1pPr>
            <a:lvl2pPr marL="609600" indent="0">
              <a:buNone/>
              <a:defRPr sz="1600"/>
            </a:lvl2pPr>
            <a:lvl3pPr marL="1219835" indent="0">
              <a:buNone/>
              <a:defRPr sz="1300"/>
            </a:lvl3pPr>
            <a:lvl4pPr marL="1829435" indent="0">
              <a:buNone/>
              <a:defRPr sz="1200"/>
            </a:lvl4pPr>
            <a:lvl5pPr marL="2439035" indent="0">
              <a:buNone/>
              <a:defRPr sz="1200"/>
            </a:lvl5pPr>
            <a:lvl6pPr marL="3049270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8705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917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DF659192-60C8-49F5-94DF-1E29C3FCC85C}" type="datetimeFigureOut">
              <a:rPr lang="zh-CN" altLang="en-US" smtClean="0"/>
              <a:t>2024/9/25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7770" y="6357822"/>
            <a:ext cx="3862811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42151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EB730883-2733-4EB0-9793-894FF9D50112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0" y="0"/>
            <a:ext cx="12198350" cy="76549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790" y="-47456"/>
            <a:ext cx="914444" cy="86040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0" name="矩形 9"/>
          <p:cNvSpPr/>
          <p:nvPr userDrawn="1"/>
        </p:nvSpPr>
        <p:spPr>
          <a:xfrm>
            <a:off x="-8058" y="6454129"/>
            <a:ext cx="12198350" cy="40837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 userDrawn="1"/>
        </p:nvSpPr>
        <p:spPr>
          <a:xfrm>
            <a:off x="-6072" y="6462394"/>
            <a:ext cx="2723823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1800" b="1" cap="none" spc="0" dirty="0">
                <a:ln w="0"/>
                <a:solidFill>
                  <a:srgbClr val="FAFAFA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1800" b="1" cap="none" spc="0" dirty="0">
                <a:ln w="0"/>
                <a:solidFill>
                  <a:srgbClr val="FAFAFA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大数据分析语言基础</a:t>
            </a:r>
            <a:r>
              <a:rPr lang="en-US" altLang="zh-CN" sz="1800" b="1" cap="none" spc="0" dirty="0">
                <a:ln w="0"/>
                <a:solidFill>
                  <a:srgbClr val="FAFAFA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endParaRPr lang="zh-CN" altLang="en-US" sz="1800" b="1" cap="none" spc="0" dirty="0">
              <a:ln w="0"/>
              <a:solidFill>
                <a:srgbClr val="FAFAFA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>
    <p:wip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90962" y="4801712"/>
            <a:ext cx="7319010" cy="566870"/>
          </a:xfrm>
          <a:prstGeom prst="rect">
            <a:avLst/>
          </a:prstGeom>
        </p:spPr>
        <p:txBody>
          <a:bodyPr lIns="121963" tIns="60981" rIns="121963" bIns="60981" anchor="b"/>
          <a:lstStyle>
            <a:lvl1pPr algn="l">
              <a:defRPr sz="27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90962" y="612916"/>
            <a:ext cx="7319010" cy="4115753"/>
          </a:xfrm>
          <a:prstGeom prst="rect">
            <a:avLst/>
          </a:prstGeom>
        </p:spPr>
        <p:txBody>
          <a:bodyPr lIns="121963" tIns="60981" rIns="121963" bIns="60981"/>
          <a:lstStyle>
            <a:lvl1pPr marL="0" indent="0">
              <a:buNone/>
              <a:defRPr sz="4300"/>
            </a:lvl1pPr>
            <a:lvl2pPr marL="609600" indent="0">
              <a:buNone/>
              <a:defRPr sz="3700"/>
            </a:lvl2pPr>
            <a:lvl3pPr marL="1219835" indent="0">
              <a:buNone/>
              <a:defRPr sz="3200"/>
            </a:lvl3pPr>
            <a:lvl4pPr marL="1829435" indent="0">
              <a:buNone/>
              <a:defRPr sz="2700"/>
            </a:lvl4pPr>
            <a:lvl5pPr marL="2439035" indent="0">
              <a:buNone/>
              <a:defRPr sz="2700"/>
            </a:lvl5pPr>
            <a:lvl6pPr marL="3049270" indent="0">
              <a:buNone/>
              <a:defRPr sz="2700"/>
            </a:lvl6pPr>
            <a:lvl7pPr marL="3658870" indent="0">
              <a:buNone/>
              <a:defRPr sz="2700"/>
            </a:lvl7pPr>
            <a:lvl8pPr marL="4268470" indent="0">
              <a:buNone/>
              <a:defRPr sz="2700"/>
            </a:lvl8pPr>
            <a:lvl9pPr marL="4878705" indent="0">
              <a:buNone/>
              <a:defRPr sz="27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90962" y="5368581"/>
            <a:ext cx="7319010" cy="805049"/>
          </a:xfrm>
          <a:prstGeom prst="rect">
            <a:avLst/>
          </a:prstGeom>
        </p:spPr>
        <p:txBody>
          <a:bodyPr lIns="121963" tIns="60981" rIns="121963" bIns="60981"/>
          <a:lstStyle>
            <a:lvl1pPr marL="0" indent="0">
              <a:buNone/>
              <a:defRPr sz="1900"/>
            </a:lvl1pPr>
            <a:lvl2pPr marL="609600" indent="0">
              <a:buNone/>
              <a:defRPr sz="1600"/>
            </a:lvl2pPr>
            <a:lvl3pPr marL="1219835" indent="0">
              <a:buNone/>
              <a:defRPr sz="1300"/>
            </a:lvl3pPr>
            <a:lvl4pPr marL="1829435" indent="0">
              <a:buNone/>
              <a:defRPr sz="1200"/>
            </a:lvl4pPr>
            <a:lvl5pPr marL="2439035" indent="0">
              <a:buNone/>
              <a:defRPr sz="1200"/>
            </a:lvl5pPr>
            <a:lvl6pPr marL="3049270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8705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917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DF659192-60C8-49F5-94DF-1E29C3FCC85C}" type="datetimeFigureOut">
              <a:rPr lang="zh-CN" altLang="en-US" smtClean="0"/>
              <a:t>2024/9/25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7770" y="6357822"/>
            <a:ext cx="3862811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42151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EB730883-2733-4EB0-9793-894FF9D50112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0" y="0"/>
            <a:ext cx="12198350" cy="76549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790" y="-47456"/>
            <a:ext cx="914444" cy="86040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0" name="矩形 9"/>
          <p:cNvSpPr/>
          <p:nvPr userDrawn="1"/>
        </p:nvSpPr>
        <p:spPr>
          <a:xfrm>
            <a:off x="-8058" y="6454129"/>
            <a:ext cx="12198350" cy="40837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 userDrawn="1"/>
        </p:nvSpPr>
        <p:spPr>
          <a:xfrm>
            <a:off x="-6072" y="6462394"/>
            <a:ext cx="2723823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1800" b="1" cap="none" spc="0" dirty="0">
                <a:ln w="0"/>
                <a:solidFill>
                  <a:srgbClr val="FAFAFA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1800" b="1" cap="none" spc="0" dirty="0">
                <a:ln w="0"/>
                <a:solidFill>
                  <a:srgbClr val="FAFAFA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大数据分析语言基础</a:t>
            </a:r>
            <a:r>
              <a:rPr lang="en-US" altLang="zh-CN" sz="1800" b="1" cap="none" spc="0" dirty="0">
                <a:ln w="0"/>
                <a:solidFill>
                  <a:srgbClr val="FAFAFA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endParaRPr lang="zh-CN" altLang="en-US" sz="1800" b="1" cap="none" spc="0" dirty="0">
              <a:ln w="0"/>
              <a:solidFill>
                <a:srgbClr val="FAFAFA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>
    <p:wip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918" y="274702"/>
            <a:ext cx="10978515" cy="1143265"/>
          </a:xfrm>
          <a:prstGeom prst="rect">
            <a:avLst/>
          </a:prstGeom>
        </p:spPr>
        <p:txBody>
          <a:bodyPr lIns="121963" tIns="60981" rIns="121963" bIns="60981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918" y="1600572"/>
            <a:ext cx="10978515" cy="4527011"/>
          </a:xfrm>
          <a:prstGeom prst="rect">
            <a:avLst/>
          </a:prstGeom>
        </p:spPr>
        <p:txBody>
          <a:bodyPr vert="eaVert" lIns="121963" tIns="60981" rIns="121963" bIns="6098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917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DF659192-60C8-49F5-94DF-1E29C3FCC85C}" type="datetimeFigureOut">
              <a:rPr lang="zh-CN" altLang="en-US" smtClean="0"/>
              <a:t>2024/9/25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7770" y="6357822"/>
            <a:ext cx="3862811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42151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EB730883-2733-4EB0-9793-894FF9D50112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0"/>
            <a:ext cx="12198350" cy="76549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790" y="-47456"/>
            <a:ext cx="914444" cy="86040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矩形 8"/>
          <p:cNvSpPr/>
          <p:nvPr userDrawn="1"/>
        </p:nvSpPr>
        <p:spPr>
          <a:xfrm>
            <a:off x="-8058" y="6454129"/>
            <a:ext cx="12198350" cy="40837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-6072" y="6462394"/>
            <a:ext cx="2723823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1800" b="1" cap="none" spc="0" dirty="0">
                <a:ln w="0"/>
                <a:solidFill>
                  <a:srgbClr val="FAFAFA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1800" b="1" cap="none" spc="0" dirty="0">
                <a:ln w="0"/>
                <a:solidFill>
                  <a:srgbClr val="FAFAFA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大数据分析语言基础</a:t>
            </a:r>
            <a:r>
              <a:rPr lang="en-US" altLang="zh-CN" sz="1800" b="1" cap="none" spc="0" dirty="0">
                <a:ln w="0"/>
                <a:solidFill>
                  <a:srgbClr val="FAFAFA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endParaRPr lang="zh-CN" altLang="en-US" sz="1800" b="1" cap="none" spc="0" dirty="0">
              <a:ln w="0"/>
              <a:solidFill>
                <a:srgbClr val="FAFAFA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>
    <p:wip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43804" y="206422"/>
            <a:ext cx="2744629" cy="4388867"/>
          </a:xfrm>
          <a:prstGeom prst="rect">
            <a:avLst/>
          </a:prstGeom>
        </p:spPr>
        <p:txBody>
          <a:bodyPr vert="eaVert" lIns="121963" tIns="60981" rIns="121963" bIns="60981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918" y="206422"/>
            <a:ext cx="8030580" cy="4388867"/>
          </a:xfrm>
          <a:prstGeom prst="rect">
            <a:avLst/>
          </a:prstGeom>
        </p:spPr>
        <p:txBody>
          <a:bodyPr vert="eaVert" lIns="121963" tIns="60981" rIns="121963" bIns="6098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917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DF659192-60C8-49F5-94DF-1E29C3FCC85C}" type="datetimeFigureOut">
              <a:rPr lang="zh-CN" altLang="en-US" smtClean="0"/>
              <a:t>2024/9/25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7770" y="6357822"/>
            <a:ext cx="3862811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42151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EB730883-2733-4EB0-9793-894FF9D50112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0"/>
            <a:ext cx="12198350" cy="76549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790" y="-47456"/>
            <a:ext cx="914444" cy="86040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矩形 8"/>
          <p:cNvSpPr/>
          <p:nvPr userDrawn="1"/>
        </p:nvSpPr>
        <p:spPr>
          <a:xfrm>
            <a:off x="-8058" y="6454129"/>
            <a:ext cx="12198350" cy="40837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-6072" y="6462394"/>
            <a:ext cx="2723823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1800" b="1" cap="none" spc="0" dirty="0">
                <a:ln w="0"/>
                <a:solidFill>
                  <a:srgbClr val="FAFAFA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1800" b="1" cap="none" spc="0" dirty="0">
                <a:ln w="0"/>
                <a:solidFill>
                  <a:srgbClr val="FAFAFA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大数据分析语言基础</a:t>
            </a:r>
            <a:r>
              <a:rPr lang="en-US" altLang="zh-CN" sz="1800" b="1" cap="none" spc="0" dirty="0">
                <a:ln w="0"/>
                <a:solidFill>
                  <a:srgbClr val="FAFAFA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endParaRPr lang="zh-CN" altLang="en-US" sz="1800" b="1" cap="none" spc="0" dirty="0">
              <a:ln w="0"/>
              <a:solidFill>
                <a:srgbClr val="FAFAFA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>
    <p:wip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0"/>
            <a:ext cx="12198350" cy="76549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790" y="-47456"/>
            <a:ext cx="914444" cy="86040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矩形 3"/>
          <p:cNvSpPr/>
          <p:nvPr userDrawn="1"/>
        </p:nvSpPr>
        <p:spPr>
          <a:xfrm>
            <a:off x="-8058" y="6454129"/>
            <a:ext cx="12198350" cy="40837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 userDrawn="1"/>
        </p:nvSpPr>
        <p:spPr>
          <a:xfrm>
            <a:off x="-6072" y="6462394"/>
            <a:ext cx="2723823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1800" b="1" cap="none" spc="0" dirty="0">
                <a:ln w="0"/>
                <a:solidFill>
                  <a:srgbClr val="FAFAFA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1800" b="1" cap="none" spc="0" dirty="0">
                <a:ln w="0"/>
                <a:solidFill>
                  <a:srgbClr val="FAFAFA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大数据分析语言基础</a:t>
            </a:r>
            <a:r>
              <a:rPr lang="en-US" altLang="zh-CN" sz="1800" b="1" cap="none" spc="0" dirty="0">
                <a:ln w="0"/>
                <a:solidFill>
                  <a:srgbClr val="FAFAFA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endParaRPr lang="zh-CN" altLang="en-US" sz="1800" b="1" cap="none" spc="0" dirty="0">
              <a:ln w="0"/>
              <a:solidFill>
                <a:srgbClr val="FAFAFA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>
    <p:wip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918" y="274701"/>
            <a:ext cx="10978515" cy="11432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918" y="1535469"/>
            <a:ext cx="5389723" cy="63991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9435" indent="0">
              <a:buNone/>
              <a:defRPr sz="1600" b="1"/>
            </a:lvl5pPr>
            <a:lvl6pPr marL="2286635" indent="0">
              <a:buNone/>
              <a:defRPr sz="1600" b="1"/>
            </a:lvl6pPr>
            <a:lvl7pPr marL="2743835" indent="0">
              <a:buNone/>
              <a:defRPr sz="1600" b="1"/>
            </a:lvl7pPr>
            <a:lvl8pPr marL="3201035" indent="0">
              <a:buNone/>
              <a:defRPr sz="1600" b="1"/>
            </a:lvl8pPr>
            <a:lvl9pPr marL="3658235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918" y="2175379"/>
            <a:ext cx="5389723" cy="3952203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6593" y="1535469"/>
            <a:ext cx="5391840" cy="63991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9435" indent="0">
              <a:buNone/>
              <a:defRPr sz="1600" b="1"/>
            </a:lvl5pPr>
            <a:lvl6pPr marL="2286635" indent="0">
              <a:buNone/>
              <a:defRPr sz="1600" b="1"/>
            </a:lvl6pPr>
            <a:lvl7pPr marL="2743835" indent="0">
              <a:buNone/>
              <a:defRPr sz="1600" b="1"/>
            </a:lvl7pPr>
            <a:lvl8pPr marL="3201035" indent="0">
              <a:buNone/>
              <a:defRPr sz="1600" b="1"/>
            </a:lvl8pPr>
            <a:lvl9pPr marL="3658235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6593" y="2175379"/>
            <a:ext cx="5391840" cy="3952203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7"/>
          <p:cNvSpPr>
            <a:spLocks noGrp="1" noChangeArrowheads="1"/>
          </p:cNvSpPr>
          <p:nvPr>
            <p:ph type="dt" sz="half" idx="10"/>
          </p:nvPr>
        </p:nvSpPr>
        <p:spPr>
          <a:xfrm>
            <a:off x="609917" y="6245084"/>
            <a:ext cx="2846282" cy="457306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46995A-94BE-41D3-9DC8-217D2F6F4485}" type="datetime1">
              <a:rPr lang="zh-CN" altLang="en-US"/>
              <a:t>2024/9/25</a:t>
            </a:fld>
            <a:endParaRPr lang="en-US" altLang="zh-CN"/>
          </a:p>
        </p:txBody>
      </p:sp>
      <p:sp>
        <p:nvSpPr>
          <p:cNvPr id="8" name="Rectangle 48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7770" y="6249847"/>
            <a:ext cx="3862811" cy="457306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49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42151" y="6245084"/>
            <a:ext cx="2846282" cy="457306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1133C983-41ED-4461-AC69-AA7BCDD3E083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 spd="slow" advTm="0">
    <p:wip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636" y="6521769"/>
            <a:ext cx="2744629" cy="365210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lang="zh-CN" altLang="en-US" sz="1800" kern="1200" smtClean="0">
                <a:solidFill>
                  <a:srgbClr val="C00000"/>
                </a:solidFill>
                <a:latin typeface="+mn-lt"/>
                <a:ea typeface="+mn-ea"/>
                <a:cs typeface="+mn-cs"/>
              </a:defRPr>
            </a:lvl1pPr>
          </a:lstStyle>
          <a:p>
            <a:fld id="{BBC18AD7-D9E8-48DE-B5E0-53D11EE22353}" type="datetime1">
              <a:rPr lang="en-US" altLang="zh-CN" smtClean="0"/>
              <a:t>9/25/24</a:t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440416" y="6521769"/>
            <a:ext cx="4116943" cy="365210"/>
          </a:xfrm>
          <a:prstGeom prst="rect">
            <a:avLst/>
          </a:prstGeom>
        </p:spPr>
        <p:txBody>
          <a:bodyPr/>
          <a:lstStyle>
            <a:lvl1pPr>
              <a:defRPr lang="zh-CN" altLang="en-US" sz="1800" kern="1200" dirty="0" smtClean="0">
                <a:solidFill>
                  <a:srgbClr val="C00000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zh-CN" altLang="en-US" dirty="0"/>
              <a:t>外经贸</a:t>
            </a:r>
            <a:r>
              <a:rPr lang="en-US" altLang="zh-CN" dirty="0"/>
              <a:t>-</a:t>
            </a:r>
            <a:r>
              <a:rPr lang="zh-CN" altLang="en-US" dirty="0"/>
              <a:t>信息学院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234222" y="6521769"/>
            <a:ext cx="2744629" cy="36521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C00000"/>
                </a:solidFill>
              </a:defRPr>
            </a:lvl1pPr>
          </a:lstStyle>
          <a:p>
            <a:fld id="{370D8578-DDD4-487D-A316-C8E65CC577E1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 advTm="0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ransition spd="slow" advTm="0">
    <p:wipe/>
  </p:transition>
  <p:txStyles>
    <p:titleStyle>
      <a:lvl1pPr algn="ctr" defTabSz="1219200" rtl="0" eaLnBrk="1" latinLnBrk="0" hangingPunct="1">
        <a:spcBef>
          <a:spcPct val="0"/>
        </a:spcBef>
        <a:buNone/>
        <a:defRPr sz="5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4300" kern="1200">
          <a:solidFill>
            <a:schemeClr val="tx1"/>
          </a:solidFill>
          <a:latin typeface="+mn-lt"/>
          <a:ea typeface="+mn-ea"/>
          <a:cs typeface="+mn-cs"/>
        </a:defRPr>
      </a:lvl1pPr>
      <a:lvl2pPr marL="991235" indent="-3810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+mn-lt"/>
          <a:ea typeface="+mn-ea"/>
          <a:cs typeface="+mn-cs"/>
        </a:defRPr>
      </a:lvl2pPr>
      <a:lvl3pPr marL="1524635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4235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447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»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35407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367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3905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3505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83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943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903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927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887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847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870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</p:sldLayoutIdLst>
  <p:transition spd="slow" advTm="0">
    <p:wipe/>
  </p:transition>
  <p:txStyles>
    <p:titleStyle>
      <a:lvl1pPr algn="ctr" defTabSz="1219200" rtl="0" eaLnBrk="1" latinLnBrk="0" hangingPunct="1">
        <a:spcBef>
          <a:spcPct val="0"/>
        </a:spcBef>
        <a:buNone/>
        <a:defRPr sz="5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4300" kern="1200">
          <a:solidFill>
            <a:schemeClr val="tx1"/>
          </a:solidFill>
          <a:latin typeface="+mn-lt"/>
          <a:ea typeface="+mn-ea"/>
          <a:cs typeface="+mn-cs"/>
        </a:defRPr>
      </a:lvl1pPr>
      <a:lvl2pPr marL="991235" indent="-3810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+mn-lt"/>
          <a:ea typeface="+mn-ea"/>
          <a:cs typeface="+mn-cs"/>
        </a:defRPr>
      </a:lvl2pPr>
      <a:lvl3pPr marL="1524635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4235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447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»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35407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367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3905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3505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83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943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903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927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887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847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870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3" Type="http://schemas.openxmlformats.org/officeDocument/2006/relationships/tags" Target="../tags/tag3.xml"/><Relationship Id="rId21" Type="http://schemas.openxmlformats.org/officeDocument/2006/relationships/slideLayout" Target="../slideLayouts/slideLayout2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tags" Target="../tags/tag20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tags" Target="../tags/tag19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28.xml"/><Relationship Id="rId13" Type="http://schemas.openxmlformats.org/officeDocument/2006/relationships/tags" Target="../tags/tag33.xml"/><Relationship Id="rId18" Type="http://schemas.openxmlformats.org/officeDocument/2006/relationships/tags" Target="../tags/tag38.xml"/><Relationship Id="rId3" Type="http://schemas.openxmlformats.org/officeDocument/2006/relationships/tags" Target="../tags/tag23.xml"/><Relationship Id="rId21" Type="http://schemas.openxmlformats.org/officeDocument/2006/relationships/slideLayout" Target="../slideLayouts/slideLayout2.xml"/><Relationship Id="rId7" Type="http://schemas.openxmlformats.org/officeDocument/2006/relationships/tags" Target="../tags/tag27.xml"/><Relationship Id="rId12" Type="http://schemas.openxmlformats.org/officeDocument/2006/relationships/tags" Target="../tags/tag32.xml"/><Relationship Id="rId17" Type="http://schemas.openxmlformats.org/officeDocument/2006/relationships/tags" Target="../tags/tag37.xml"/><Relationship Id="rId2" Type="http://schemas.openxmlformats.org/officeDocument/2006/relationships/tags" Target="../tags/tag22.xml"/><Relationship Id="rId16" Type="http://schemas.openxmlformats.org/officeDocument/2006/relationships/tags" Target="../tags/tag36.xml"/><Relationship Id="rId20" Type="http://schemas.openxmlformats.org/officeDocument/2006/relationships/tags" Target="../tags/tag40.xml"/><Relationship Id="rId1" Type="http://schemas.openxmlformats.org/officeDocument/2006/relationships/tags" Target="../tags/tag21.xml"/><Relationship Id="rId6" Type="http://schemas.openxmlformats.org/officeDocument/2006/relationships/tags" Target="../tags/tag26.xml"/><Relationship Id="rId11" Type="http://schemas.openxmlformats.org/officeDocument/2006/relationships/tags" Target="../tags/tag31.xml"/><Relationship Id="rId5" Type="http://schemas.openxmlformats.org/officeDocument/2006/relationships/tags" Target="../tags/tag25.xml"/><Relationship Id="rId15" Type="http://schemas.openxmlformats.org/officeDocument/2006/relationships/tags" Target="../tags/tag35.xml"/><Relationship Id="rId10" Type="http://schemas.openxmlformats.org/officeDocument/2006/relationships/tags" Target="../tags/tag30.xml"/><Relationship Id="rId19" Type="http://schemas.openxmlformats.org/officeDocument/2006/relationships/tags" Target="../tags/tag39.xml"/><Relationship Id="rId4" Type="http://schemas.openxmlformats.org/officeDocument/2006/relationships/tags" Target="../tags/tag24.xml"/><Relationship Id="rId9" Type="http://schemas.openxmlformats.org/officeDocument/2006/relationships/tags" Target="../tags/tag29.xml"/><Relationship Id="rId14" Type="http://schemas.openxmlformats.org/officeDocument/2006/relationships/tags" Target="../tags/tag34.xml"/><Relationship Id="rId2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48.xml"/><Relationship Id="rId13" Type="http://schemas.openxmlformats.org/officeDocument/2006/relationships/tags" Target="../tags/tag53.xml"/><Relationship Id="rId18" Type="http://schemas.openxmlformats.org/officeDocument/2006/relationships/tags" Target="../tags/tag58.xml"/><Relationship Id="rId3" Type="http://schemas.openxmlformats.org/officeDocument/2006/relationships/tags" Target="../tags/tag43.xml"/><Relationship Id="rId21" Type="http://schemas.openxmlformats.org/officeDocument/2006/relationships/slideLayout" Target="../slideLayouts/slideLayout2.xml"/><Relationship Id="rId7" Type="http://schemas.openxmlformats.org/officeDocument/2006/relationships/tags" Target="../tags/tag47.xml"/><Relationship Id="rId12" Type="http://schemas.openxmlformats.org/officeDocument/2006/relationships/tags" Target="../tags/tag52.xml"/><Relationship Id="rId17" Type="http://schemas.openxmlformats.org/officeDocument/2006/relationships/tags" Target="../tags/tag57.xml"/><Relationship Id="rId2" Type="http://schemas.openxmlformats.org/officeDocument/2006/relationships/tags" Target="../tags/tag42.xml"/><Relationship Id="rId16" Type="http://schemas.openxmlformats.org/officeDocument/2006/relationships/tags" Target="../tags/tag56.xml"/><Relationship Id="rId20" Type="http://schemas.openxmlformats.org/officeDocument/2006/relationships/tags" Target="../tags/tag60.xml"/><Relationship Id="rId1" Type="http://schemas.openxmlformats.org/officeDocument/2006/relationships/tags" Target="../tags/tag41.xml"/><Relationship Id="rId6" Type="http://schemas.openxmlformats.org/officeDocument/2006/relationships/tags" Target="../tags/tag46.xml"/><Relationship Id="rId11" Type="http://schemas.openxmlformats.org/officeDocument/2006/relationships/tags" Target="../tags/tag51.xml"/><Relationship Id="rId5" Type="http://schemas.openxmlformats.org/officeDocument/2006/relationships/tags" Target="../tags/tag45.xml"/><Relationship Id="rId15" Type="http://schemas.openxmlformats.org/officeDocument/2006/relationships/tags" Target="../tags/tag55.xml"/><Relationship Id="rId10" Type="http://schemas.openxmlformats.org/officeDocument/2006/relationships/tags" Target="../tags/tag50.xml"/><Relationship Id="rId19" Type="http://schemas.openxmlformats.org/officeDocument/2006/relationships/tags" Target="../tags/tag59.xml"/><Relationship Id="rId4" Type="http://schemas.openxmlformats.org/officeDocument/2006/relationships/tags" Target="../tags/tag44.xml"/><Relationship Id="rId9" Type="http://schemas.openxmlformats.org/officeDocument/2006/relationships/tags" Target="../tags/tag49.xml"/><Relationship Id="rId14" Type="http://schemas.openxmlformats.org/officeDocument/2006/relationships/tags" Target="../tags/tag54.xml"/><Relationship Id="rId22" Type="http://schemas.openxmlformats.org/officeDocument/2006/relationships/notesSlide" Target="../notesSlides/notesSlide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tags" Target="../tags/tag68.xml"/><Relationship Id="rId13" Type="http://schemas.openxmlformats.org/officeDocument/2006/relationships/tags" Target="../tags/tag73.xml"/><Relationship Id="rId18" Type="http://schemas.openxmlformats.org/officeDocument/2006/relationships/notesSlide" Target="../notesSlides/notesSlide7.xml"/><Relationship Id="rId3" Type="http://schemas.openxmlformats.org/officeDocument/2006/relationships/tags" Target="../tags/tag63.xml"/><Relationship Id="rId7" Type="http://schemas.openxmlformats.org/officeDocument/2006/relationships/tags" Target="../tags/tag67.xml"/><Relationship Id="rId12" Type="http://schemas.openxmlformats.org/officeDocument/2006/relationships/tags" Target="../tags/tag72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62.xml"/><Relationship Id="rId16" Type="http://schemas.openxmlformats.org/officeDocument/2006/relationships/tags" Target="../tags/tag76.xml"/><Relationship Id="rId1" Type="http://schemas.openxmlformats.org/officeDocument/2006/relationships/tags" Target="../tags/tag61.xml"/><Relationship Id="rId6" Type="http://schemas.openxmlformats.org/officeDocument/2006/relationships/tags" Target="../tags/tag66.xml"/><Relationship Id="rId11" Type="http://schemas.openxmlformats.org/officeDocument/2006/relationships/tags" Target="../tags/tag71.xml"/><Relationship Id="rId5" Type="http://schemas.openxmlformats.org/officeDocument/2006/relationships/tags" Target="../tags/tag65.xml"/><Relationship Id="rId15" Type="http://schemas.openxmlformats.org/officeDocument/2006/relationships/tags" Target="../tags/tag75.xml"/><Relationship Id="rId10" Type="http://schemas.openxmlformats.org/officeDocument/2006/relationships/tags" Target="../tags/tag70.xml"/><Relationship Id="rId4" Type="http://schemas.openxmlformats.org/officeDocument/2006/relationships/tags" Target="../tags/tag64.xml"/><Relationship Id="rId9" Type="http://schemas.openxmlformats.org/officeDocument/2006/relationships/tags" Target="../tags/tag69.xml"/><Relationship Id="rId14" Type="http://schemas.openxmlformats.org/officeDocument/2006/relationships/tags" Target="../tags/tag7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tags" Target="../tags/tag84.xml"/><Relationship Id="rId13" Type="http://schemas.openxmlformats.org/officeDocument/2006/relationships/notesSlide" Target="../notesSlides/notesSlide10.xml"/><Relationship Id="rId3" Type="http://schemas.openxmlformats.org/officeDocument/2006/relationships/tags" Target="../tags/tag79.xml"/><Relationship Id="rId7" Type="http://schemas.openxmlformats.org/officeDocument/2006/relationships/tags" Target="../tags/tag83.xml"/><Relationship Id="rId12" Type="http://schemas.openxmlformats.org/officeDocument/2006/relationships/slideLayout" Target="../slideLayouts/slideLayout2.xml"/><Relationship Id="rId2" Type="http://schemas.openxmlformats.org/officeDocument/2006/relationships/tags" Target="../tags/tag78.xml"/><Relationship Id="rId1" Type="http://schemas.openxmlformats.org/officeDocument/2006/relationships/tags" Target="../tags/tag77.xml"/><Relationship Id="rId6" Type="http://schemas.openxmlformats.org/officeDocument/2006/relationships/tags" Target="../tags/tag82.xml"/><Relationship Id="rId11" Type="http://schemas.openxmlformats.org/officeDocument/2006/relationships/tags" Target="../tags/tag87.xml"/><Relationship Id="rId5" Type="http://schemas.openxmlformats.org/officeDocument/2006/relationships/tags" Target="../tags/tag81.xml"/><Relationship Id="rId10" Type="http://schemas.openxmlformats.org/officeDocument/2006/relationships/tags" Target="../tags/tag86.xml"/><Relationship Id="rId4" Type="http://schemas.openxmlformats.org/officeDocument/2006/relationships/tags" Target="../tags/tag80.xml"/><Relationship Id="rId9" Type="http://schemas.openxmlformats.org/officeDocument/2006/relationships/tags" Target="../tags/tag8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tags" Target="../tags/tag95.xml"/><Relationship Id="rId13" Type="http://schemas.openxmlformats.org/officeDocument/2006/relationships/tags" Target="../tags/tag100.xml"/><Relationship Id="rId18" Type="http://schemas.openxmlformats.org/officeDocument/2006/relationships/tags" Target="../tags/tag105.xml"/><Relationship Id="rId3" Type="http://schemas.openxmlformats.org/officeDocument/2006/relationships/tags" Target="../tags/tag90.xml"/><Relationship Id="rId7" Type="http://schemas.openxmlformats.org/officeDocument/2006/relationships/tags" Target="../tags/tag94.xml"/><Relationship Id="rId12" Type="http://schemas.openxmlformats.org/officeDocument/2006/relationships/tags" Target="../tags/tag99.xml"/><Relationship Id="rId17" Type="http://schemas.openxmlformats.org/officeDocument/2006/relationships/tags" Target="../tags/tag104.xml"/><Relationship Id="rId2" Type="http://schemas.openxmlformats.org/officeDocument/2006/relationships/tags" Target="../tags/tag89.xml"/><Relationship Id="rId16" Type="http://schemas.openxmlformats.org/officeDocument/2006/relationships/tags" Target="../tags/tag103.xml"/><Relationship Id="rId20" Type="http://schemas.openxmlformats.org/officeDocument/2006/relationships/notesSlide" Target="../notesSlides/notesSlide15.xml"/><Relationship Id="rId1" Type="http://schemas.openxmlformats.org/officeDocument/2006/relationships/tags" Target="../tags/tag88.xml"/><Relationship Id="rId6" Type="http://schemas.openxmlformats.org/officeDocument/2006/relationships/tags" Target="../tags/tag93.xml"/><Relationship Id="rId11" Type="http://schemas.openxmlformats.org/officeDocument/2006/relationships/tags" Target="../tags/tag98.xml"/><Relationship Id="rId5" Type="http://schemas.openxmlformats.org/officeDocument/2006/relationships/tags" Target="../tags/tag92.xml"/><Relationship Id="rId15" Type="http://schemas.openxmlformats.org/officeDocument/2006/relationships/tags" Target="../tags/tag102.xml"/><Relationship Id="rId10" Type="http://schemas.openxmlformats.org/officeDocument/2006/relationships/tags" Target="../tags/tag97.xml"/><Relationship Id="rId19" Type="http://schemas.openxmlformats.org/officeDocument/2006/relationships/slideLayout" Target="../slideLayouts/slideLayout2.xml"/><Relationship Id="rId4" Type="http://schemas.openxmlformats.org/officeDocument/2006/relationships/tags" Target="../tags/tag91.xml"/><Relationship Id="rId9" Type="http://schemas.openxmlformats.org/officeDocument/2006/relationships/tags" Target="../tags/tag96.xml"/><Relationship Id="rId14" Type="http://schemas.openxmlformats.org/officeDocument/2006/relationships/tags" Target="../tags/tag10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baike.baidu.com/item/%E7%BB%93%E6%9E%84%E5%8C%96%E6%96%B9%E6%B3%95/9827043?fromModule=lemma_inlink" TargetMode="Externa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8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tags" Target="../tags/tag113.xml"/><Relationship Id="rId13" Type="http://schemas.openxmlformats.org/officeDocument/2006/relationships/tags" Target="../tags/tag118.xml"/><Relationship Id="rId18" Type="http://schemas.openxmlformats.org/officeDocument/2006/relationships/tags" Target="../tags/tag123.xml"/><Relationship Id="rId3" Type="http://schemas.openxmlformats.org/officeDocument/2006/relationships/tags" Target="../tags/tag108.xml"/><Relationship Id="rId21" Type="http://schemas.openxmlformats.org/officeDocument/2006/relationships/slideLayout" Target="../slideLayouts/slideLayout2.xml"/><Relationship Id="rId7" Type="http://schemas.openxmlformats.org/officeDocument/2006/relationships/tags" Target="../tags/tag112.xml"/><Relationship Id="rId12" Type="http://schemas.openxmlformats.org/officeDocument/2006/relationships/tags" Target="../tags/tag117.xml"/><Relationship Id="rId17" Type="http://schemas.openxmlformats.org/officeDocument/2006/relationships/tags" Target="../tags/tag122.xml"/><Relationship Id="rId2" Type="http://schemas.openxmlformats.org/officeDocument/2006/relationships/tags" Target="../tags/tag107.xml"/><Relationship Id="rId16" Type="http://schemas.openxmlformats.org/officeDocument/2006/relationships/tags" Target="../tags/tag121.xml"/><Relationship Id="rId20" Type="http://schemas.openxmlformats.org/officeDocument/2006/relationships/tags" Target="../tags/tag125.xml"/><Relationship Id="rId1" Type="http://schemas.openxmlformats.org/officeDocument/2006/relationships/tags" Target="../tags/tag106.xml"/><Relationship Id="rId6" Type="http://schemas.openxmlformats.org/officeDocument/2006/relationships/tags" Target="../tags/tag111.xml"/><Relationship Id="rId11" Type="http://schemas.openxmlformats.org/officeDocument/2006/relationships/tags" Target="../tags/tag116.xml"/><Relationship Id="rId5" Type="http://schemas.openxmlformats.org/officeDocument/2006/relationships/tags" Target="../tags/tag110.xml"/><Relationship Id="rId15" Type="http://schemas.openxmlformats.org/officeDocument/2006/relationships/tags" Target="../tags/tag120.xml"/><Relationship Id="rId10" Type="http://schemas.openxmlformats.org/officeDocument/2006/relationships/tags" Target="../tags/tag115.xml"/><Relationship Id="rId19" Type="http://schemas.openxmlformats.org/officeDocument/2006/relationships/tags" Target="../tags/tag124.xml"/><Relationship Id="rId4" Type="http://schemas.openxmlformats.org/officeDocument/2006/relationships/tags" Target="../tags/tag109.xml"/><Relationship Id="rId9" Type="http://schemas.openxmlformats.org/officeDocument/2006/relationships/tags" Target="../tags/tag114.xml"/><Relationship Id="rId14" Type="http://schemas.openxmlformats.org/officeDocument/2006/relationships/tags" Target="../tags/tag119.xml"/><Relationship Id="rId22" Type="http://schemas.openxmlformats.org/officeDocument/2006/relationships/notesSlide" Target="../notesSlides/notesSlide2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tags" Target="../tags/tag133.xml"/><Relationship Id="rId13" Type="http://schemas.openxmlformats.org/officeDocument/2006/relationships/tags" Target="../tags/tag138.xml"/><Relationship Id="rId18" Type="http://schemas.openxmlformats.org/officeDocument/2006/relationships/tags" Target="../tags/tag143.xml"/><Relationship Id="rId3" Type="http://schemas.openxmlformats.org/officeDocument/2006/relationships/tags" Target="../tags/tag128.xml"/><Relationship Id="rId21" Type="http://schemas.openxmlformats.org/officeDocument/2006/relationships/slideLayout" Target="../slideLayouts/slideLayout2.xml"/><Relationship Id="rId7" Type="http://schemas.openxmlformats.org/officeDocument/2006/relationships/tags" Target="../tags/tag132.xml"/><Relationship Id="rId12" Type="http://schemas.openxmlformats.org/officeDocument/2006/relationships/tags" Target="../tags/tag137.xml"/><Relationship Id="rId17" Type="http://schemas.openxmlformats.org/officeDocument/2006/relationships/tags" Target="../tags/tag142.xml"/><Relationship Id="rId2" Type="http://schemas.openxmlformats.org/officeDocument/2006/relationships/tags" Target="../tags/tag127.xml"/><Relationship Id="rId16" Type="http://schemas.openxmlformats.org/officeDocument/2006/relationships/tags" Target="../tags/tag141.xml"/><Relationship Id="rId20" Type="http://schemas.openxmlformats.org/officeDocument/2006/relationships/tags" Target="../tags/tag145.xml"/><Relationship Id="rId1" Type="http://schemas.openxmlformats.org/officeDocument/2006/relationships/tags" Target="../tags/tag126.xml"/><Relationship Id="rId6" Type="http://schemas.openxmlformats.org/officeDocument/2006/relationships/tags" Target="../tags/tag131.xml"/><Relationship Id="rId11" Type="http://schemas.openxmlformats.org/officeDocument/2006/relationships/tags" Target="../tags/tag136.xml"/><Relationship Id="rId5" Type="http://schemas.openxmlformats.org/officeDocument/2006/relationships/tags" Target="../tags/tag130.xml"/><Relationship Id="rId15" Type="http://schemas.openxmlformats.org/officeDocument/2006/relationships/tags" Target="../tags/tag140.xml"/><Relationship Id="rId10" Type="http://schemas.openxmlformats.org/officeDocument/2006/relationships/tags" Target="../tags/tag135.xml"/><Relationship Id="rId19" Type="http://schemas.openxmlformats.org/officeDocument/2006/relationships/tags" Target="../tags/tag144.xml"/><Relationship Id="rId4" Type="http://schemas.openxmlformats.org/officeDocument/2006/relationships/tags" Target="../tags/tag129.xml"/><Relationship Id="rId9" Type="http://schemas.openxmlformats.org/officeDocument/2006/relationships/tags" Target="../tags/tag134.xml"/><Relationship Id="rId14" Type="http://schemas.openxmlformats.org/officeDocument/2006/relationships/tags" Target="../tags/tag139.xml"/><Relationship Id="rId22" Type="http://schemas.openxmlformats.org/officeDocument/2006/relationships/notesSlide" Target="../notesSlides/notesSlide28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6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hyperlink" Target="https://so.csdn.net/so/search?q=python&amp;spm=1001.2101.3001.7020" TargetMode="Externa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50" y="0"/>
            <a:ext cx="12192000" cy="68580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159839" y="2286064"/>
            <a:ext cx="5692140" cy="829945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lvl="0" algn="l" defTabSz="121920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4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1C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方正大黑简体" panose="03000509000000000000" pitchFamily="2" charset="-122"/>
                <a:ea typeface="方正大黑简体" panose="03000509000000000000" pitchFamily="2" charset="-122"/>
                <a:sym typeface="+mn-ea"/>
              </a:rPr>
              <a:t>大数据分析语言基础</a:t>
            </a:r>
          </a:p>
        </p:txBody>
      </p:sp>
      <p:cxnSp>
        <p:nvCxnSpPr>
          <p:cNvPr id="25" name="直接连接符 24"/>
          <p:cNvCxnSpPr/>
          <p:nvPr/>
        </p:nvCxnSpPr>
        <p:spPr>
          <a:xfrm>
            <a:off x="5274517" y="3256648"/>
            <a:ext cx="6028912" cy="0"/>
          </a:xfrm>
          <a:prstGeom prst="line">
            <a:avLst/>
          </a:prstGeom>
          <a:ln w="254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027933" y="4199919"/>
            <a:ext cx="4407611" cy="553994"/>
          </a:xfrm>
          <a:prstGeom prst="rect">
            <a:avLst/>
          </a:prstGeom>
          <a:noFill/>
        </p:spPr>
        <p:txBody>
          <a:bodyPr wrap="none" lIns="121917" tIns="60958" rIns="121917" bIns="60958" rtlCol="0">
            <a:spAutoFit/>
          </a:bodyPr>
          <a:lstStyle/>
          <a:p>
            <a:pPr algn="r"/>
            <a:r>
              <a:rPr lang="zh-CN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安徽大学互联网学院  景琨</a:t>
            </a:r>
          </a:p>
        </p:txBody>
      </p:sp>
      <p:grpSp>
        <p:nvGrpSpPr>
          <p:cNvPr id="13" name="组合 12"/>
          <p:cNvGrpSpPr/>
          <p:nvPr/>
        </p:nvGrpSpPr>
        <p:grpSpPr>
          <a:xfrm>
            <a:off x="4391230" y="2176595"/>
            <a:ext cx="132770" cy="1724700"/>
            <a:chOff x="995161" y="2391860"/>
            <a:chExt cx="135370" cy="1758474"/>
          </a:xfrm>
        </p:grpSpPr>
        <p:cxnSp>
          <p:nvCxnSpPr>
            <p:cNvPr id="10" name="直接连接符 9"/>
            <p:cNvCxnSpPr/>
            <p:nvPr/>
          </p:nvCxnSpPr>
          <p:spPr>
            <a:xfrm>
              <a:off x="1130530" y="2391860"/>
              <a:ext cx="0" cy="1758474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等腰三角形 11"/>
            <p:cNvSpPr/>
            <p:nvPr/>
          </p:nvSpPr>
          <p:spPr>
            <a:xfrm rot="16200000">
              <a:off x="984331" y="3203412"/>
              <a:ext cx="157029" cy="135370"/>
            </a:xfrm>
            <a:prstGeom prst="triangl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矩形 1"/>
          <p:cNvSpPr/>
          <p:nvPr/>
        </p:nvSpPr>
        <p:spPr>
          <a:xfrm>
            <a:off x="5005486" y="3317895"/>
            <a:ext cx="6430010" cy="5219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altLang="zh-CN" sz="2800" kern="100" dirty="0">
                <a:ln>
                  <a:solidFill>
                    <a:schemeClr val="bg1"/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Impact" panose="020B0806030902050204" pitchFamily="34" charset="0"/>
                <a:ea typeface="方正综艺简体" panose="02010601030101010101" pitchFamily="2" charset="-122"/>
                <a:cs typeface="Impact" panose="020B0806030902050204" pitchFamily="34" charset="0"/>
              </a:rPr>
              <a:t>Language Preparation for Big Data Analysis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rcRect r="-3290" b="2859"/>
          <a:stretch>
            <a:fillRect/>
          </a:stretch>
        </p:blipFill>
        <p:spPr>
          <a:xfrm>
            <a:off x="10753934" y="179274"/>
            <a:ext cx="1347024" cy="1266826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 tmFilter="0,0; .5, 1; 1, 1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99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899"/>
                            </p:stCondLst>
                            <p:childTnLst>
                              <p:par>
                                <p:cTn id="2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399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30" grpId="0"/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007137" y="2629778"/>
            <a:ext cx="6696744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b="1" dirty="0">
                <a:solidFill>
                  <a:srgbClr val="0071C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4400" b="1" dirty="0">
                <a:solidFill>
                  <a:srgbClr val="0071C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4400" b="1" dirty="0">
                <a:solidFill>
                  <a:srgbClr val="0071C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章  </a:t>
            </a:r>
            <a:r>
              <a:rPr lang="zh-CN" sz="4400" b="1" dirty="0">
                <a:solidFill>
                  <a:srgbClr val="0071C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函数、模块和包</a:t>
            </a:r>
          </a:p>
        </p:txBody>
      </p:sp>
    </p:spTree>
  </p:cSld>
  <p:clrMapOvr>
    <a:masterClrMapping/>
  </p:clrMapOvr>
  <p:transition spd="slow" advTm="0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1"/>
            </p:custDataLst>
          </p:nvPr>
        </p:nvSpPr>
        <p:spPr>
          <a:xfrm>
            <a:off x="0" y="3810736"/>
            <a:ext cx="12198448" cy="3048588"/>
          </a:xfrm>
          <a:prstGeom prst="rect">
            <a:avLst/>
          </a:prstGeom>
          <a:pattFill prst="dkHorz">
            <a:fgClr>
              <a:srgbClr val="F2F2F2"/>
            </a:fgClr>
            <a:bgClr>
              <a:srgbClr val="FFFFFF"/>
            </a:bgClr>
          </a:patt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 sz="18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1677254" y="914251"/>
            <a:ext cx="8843875" cy="853503"/>
          </a:xfrm>
          <a:prstGeom prst="rect">
            <a:avLst/>
          </a:prstGeom>
          <a:solidFill>
            <a:srgbClr val="FFFFFF"/>
          </a:solidFill>
          <a:ln w="25400">
            <a:noFill/>
          </a:ln>
          <a:effectLst>
            <a:outerShdw blurRad="50800" dist="76200" dir="5400000" sx="101000" sy="101000" algn="t" rotWithShape="0">
              <a:srgbClr val="000000">
                <a:alpha val="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kumimoji="1" lang="zh-CN" altLang="en-US" sz="3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1" name="矩形 11"/>
          <p:cNvSpPr/>
          <p:nvPr>
            <p:custDataLst>
              <p:tags r:id="rId3"/>
            </p:custDataLst>
          </p:nvPr>
        </p:nvSpPr>
        <p:spPr>
          <a:xfrm>
            <a:off x="1677241" y="2194436"/>
            <a:ext cx="8843875" cy="3777441"/>
          </a:xfrm>
          <a:prstGeom prst="rect">
            <a:avLst/>
          </a:prstGeom>
          <a:solidFill>
            <a:srgbClr val="FFFFFF"/>
          </a:solidFill>
          <a:ln w="25400">
            <a:noFill/>
          </a:ln>
          <a:effectLst>
            <a:outerShdw blurRad="50800" dist="76200" dir="5400000" sx="101000" sy="101000" algn="t" rotWithShape="0">
              <a:srgbClr val="000000">
                <a:alpha val="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kumimoji="1" lang="zh-CN" altLang="en-US" sz="18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>
            <p:custDataLst>
              <p:tags r:id="rId4"/>
            </p:custDataLst>
          </p:nvPr>
        </p:nvSpPr>
        <p:spPr>
          <a:xfrm>
            <a:off x="1982200" y="1066680"/>
            <a:ext cx="8233950" cy="548639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3600" b="1" spc="3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主要内容</a:t>
            </a:r>
          </a:p>
        </p:txBody>
      </p:sp>
      <p:sp>
        <p:nvSpPr>
          <p:cNvPr id="12" name="弧形 11"/>
          <p:cNvSpPr/>
          <p:nvPr>
            <p:custDataLst>
              <p:tags r:id="rId5"/>
            </p:custDataLst>
          </p:nvPr>
        </p:nvSpPr>
        <p:spPr>
          <a:xfrm>
            <a:off x="3111500" y="2520962"/>
            <a:ext cx="727075" cy="716915"/>
          </a:xfrm>
          <a:prstGeom prst="arc">
            <a:avLst>
              <a:gd name="adj1" fmla="val 11619054"/>
              <a:gd name="adj2" fmla="val 10295063"/>
            </a:avLst>
          </a:prstGeom>
          <a:ln w="19050">
            <a:solidFill>
              <a:srgbClr val="1D6D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80"/>
          <p:cNvSpPr txBox="1"/>
          <p:nvPr>
            <p:custDataLst>
              <p:tags r:id="rId6"/>
            </p:custDataLst>
          </p:nvPr>
        </p:nvSpPr>
        <p:spPr>
          <a:xfrm>
            <a:off x="2833370" y="3355352"/>
            <a:ext cx="1371600" cy="2036922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sz="2800" b="1" spc="15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概述</a:t>
            </a:r>
          </a:p>
        </p:txBody>
      </p:sp>
      <p:sp>
        <p:nvSpPr>
          <p:cNvPr id="14" name="标题 5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3221990" y="2616212"/>
            <a:ext cx="554355" cy="509270"/>
          </a:xfrm>
          <a:prstGeom prst="rect">
            <a:avLst/>
          </a:prstGeom>
        </p:spPr>
        <p:txBody>
          <a:bodyPr vert="horz" lIns="0" tIns="0" rIns="0" bIns="0" rtlCol="0" anchor="ctr" anchorCtr="0">
            <a:normAutofit fontScale="90000"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kumimoji="0" lang="zh-CN" altLang="en-US" sz="24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indent="0" algn="ctr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en-US" altLang="zh-CN" sz="2700" b="1" dirty="0">
                <a:solidFill>
                  <a:srgbClr val="1D518C"/>
                </a:solidFill>
                <a:latin typeface="微软雅黑" panose="020B0503020204020204" pitchFamily="34" charset="-122"/>
              </a:rPr>
              <a:t>5.1</a:t>
            </a:r>
          </a:p>
        </p:txBody>
      </p:sp>
      <p:sp>
        <p:nvSpPr>
          <p:cNvPr id="15" name="菱形 14"/>
          <p:cNvSpPr/>
          <p:nvPr>
            <p:custDataLst>
              <p:tags r:id="rId8"/>
            </p:custDataLst>
          </p:nvPr>
        </p:nvSpPr>
        <p:spPr>
          <a:xfrm>
            <a:off x="2933065" y="2712097"/>
            <a:ext cx="301625" cy="301625"/>
          </a:xfrm>
          <a:prstGeom prst="diamond">
            <a:avLst/>
          </a:prstGeom>
          <a:solidFill>
            <a:srgbClr val="69A7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弧形 15"/>
          <p:cNvSpPr/>
          <p:nvPr>
            <p:custDataLst>
              <p:tags r:id="rId9"/>
            </p:custDataLst>
          </p:nvPr>
        </p:nvSpPr>
        <p:spPr>
          <a:xfrm>
            <a:off x="4790440" y="2520962"/>
            <a:ext cx="727075" cy="716915"/>
          </a:xfrm>
          <a:prstGeom prst="arc">
            <a:avLst>
              <a:gd name="adj1" fmla="val 11619054"/>
              <a:gd name="adj2" fmla="val 10295063"/>
            </a:avLst>
          </a:prstGeom>
          <a:ln w="19050">
            <a:solidFill>
              <a:srgbClr val="1D6D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80"/>
          <p:cNvSpPr txBox="1"/>
          <p:nvPr>
            <p:custDataLst>
              <p:tags r:id="rId10"/>
            </p:custDataLst>
          </p:nvPr>
        </p:nvSpPr>
        <p:spPr>
          <a:xfrm>
            <a:off x="4297680" y="3355340"/>
            <a:ext cx="1678940" cy="203708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sz="2800" b="1" spc="15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模块</a:t>
            </a:r>
          </a:p>
        </p:txBody>
      </p:sp>
      <p:sp>
        <p:nvSpPr>
          <p:cNvPr id="22" name="标题 5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4901565" y="2616212"/>
            <a:ext cx="554355" cy="509270"/>
          </a:xfrm>
          <a:prstGeom prst="rect">
            <a:avLst/>
          </a:prstGeom>
        </p:spPr>
        <p:txBody>
          <a:bodyPr vert="horz" lIns="0" tIns="0" rIns="0" bIns="0" rtlCol="0" anchor="ctr" anchorCtr="0">
            <a:normAutofit fontScale="90000"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kumimoji="0" lang="zh-CN" altLang="en-US" sz="24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indent="0" algn="ctr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en-US" altLang="zh-CN" sz="2700" b="1" dirty="0">
                <a:solidFill>
                  <a:srgbClr val="1D518C"/>
                </a:solidFill>
                <a:latin typeface="微软雅黑" panose="020B0503020204020204" pitchFamily="34" charset="-122"/>
              </a:rPr>
              <a:t>5.2</a:t>
            </a:r>
          </a:p>
        </p:txBody>
      </p:sp>
      <p:sp>
        <p:nvSpPr>
          <p:cNvPr id="23" name="菱形 22"/>
          <p:cNvSpPr/>
          <p:nvPr>
            <p:custDataLst>
              <p:tags r:id="rId12"/>
            </p:custDataLst>
          </p:nvPr>
        </p:nvSpPr>
        <p:spPr>
          <a:xfrm>
            <a:off x="4612005" y="2712097"/>
            <a:ext cx="301625" cy="301625"/>
          </a:xfrm>
          <a:prstGeom prst="diamond">
            <a:avLst/>
          </a:prstGeom>
          <a:solidFill>
            <a:srgbClr val="69A7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弧形 23"/>
          <p:cNvSpPr/>
          <p:nvPr>
            <p:custDataLst>
              <p:tags r:id="rId13"/>
            </p:custDataLst>
          </p:nvPr>
        </p:nvSpPr>
        <p:spPr>
          <a:xfrm>
            <a:off x="6470015" y="2520962"/>
            <a:ext cx="727075" cy="716915"/>
          </a:xfrm>
          <a:prstGeom prst="arc">
            <a:avLst>
              <a:gd name="adj1" fmla="val 11619054"/>
              <a:gd name="adj2" fmla="val 10295063"/>
            </a:avLst>
          </a:prstGeom>
          <a:ln w="19050">
            <a:solidFill>
              <a:srgbClr val="1D6D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文本框 80"/>
          <p:cNvSpPr txBox="1"/>
          <p:nvPr>
            <p:custDataLst>
              <p:tags r:id="rId14"/>
            </p:custDataLst>
          </p:nvPr>
        </p:nvSpPr>
        <p:spPr>
          <a:xfrm>
            <a:off x="5976620" y="3355340"/>
            <a:ext cx="1779270" cy="203708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sz="2800" b="1" spc="15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包</a:t>
            </a:r>
          </a:p>
        </p:txBody>
      </p:sp>
      <p:sp>
        <p:nvSpPr>
          <p:cNvPr id="26" name="标题 5"/>
          <p:cNvSpPr>
            <a:spLocks noGrp="1"/>
          </p:cNvSpPr>
          <p:nvPr>
            <p:custDataLst>
              <p:tags r:id="rId15"/>
            </p:custDataLst>
          </p:nvPr>
        </p:nvSpPr>
        <p:spPr>
          <a:xfrm>
            <a:off x="6580505" y="2616212"/>
            <a:ext cx="554355" cy="509270"/>
          </a:xfrm>
          <a:prstGeom prst="rect">
            <a:avLst/>
          </a:prstGeom>
        </p:spPr>
        <p:txBody>
          <a:bodyPr vert="horz" lIns="0" tIns="0" rIns="0" bIns="0" rtlCol="0" anchor="ctr" anchorCtr="0">
            <a:normAutofit fontScale="90000"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kumimoji="0" lang="zh-CN" altLang="en-US" sz="24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indent="0" algn="ctr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en-US" altLang="zh-CN" sz="2700" b="1" dirty="0">
                <a:solidFill>
                  <a:srgbClr val="1D518C"/>
                </a:solidFill>
                <a:latin typeface="微软雅黑" panose="020B0503020204020204" pitchFamily="34" charset="-122"/>
              </a:rPr>
              <a:t>5.3</a:t>
            </a:r>
          </a:p>
        </p:txBody>
      </p:sp>
      <p:sp>
        <p:nvSpPr>
          <p:cNvPr id="27" name="菱形 26"/>
          <p:cNvSpPr/>
          <p:nvPr>
            <p:custDataLst>
              <p:tags r:id="rId16"/>
            </p:custDataLst>
          </p:nvPr>
        </p:nvSpPr>
        <p:spPr>
          <a:xfrm>
            <a:off x="6291580" y="2712097"/>
            <a:ext cx="301625" cy="301625"/>
          </a:xfrm>
          <a:prstGeom prst="diamond">
            <a:avLst/>
          </a:prstGeom>
          <a:solidFill>
            <a:srgbClr val="69A7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弧形 27"/>
          <p:cNvSpPr/>
          <p:nvPr>
            <p:custDataLst>
              <p:tags r:id="rId17"/>
            </p:custDataLst>
          </p:nvPr>
        </p:nvSpPr>
        <p:spPr>
          <a:xfrm>
            <a:off x="8148955" y="2520962"/>
            <a:ext cx="727075" cy="716915"/>
          </a:xfrm>
          <a:prstGeom prst="arc">
            <a:avLst>
              <a:gd name="adj1" fmla="val 11619054"/>
              <a:gd name="adj2" fmla="val 10295063"/>
            </a:avLst>
          </a:prstGeom>
          <a:ln w="19050">
            <a:solidFill>
              <a:srgbClr val="1D6D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80"/>
          <p:cNvSpPr txBox="1"/>
          <p:nvPr>
            <p:custDataLst>
              <p:tags r:id="rId18"/>
            </p:custDataLst>
          </p:nvPr>
        </p:nvSpPr>
        <p:spPr>
          <a:xfrm>
            <a:off x="7871460" y="3355352"/>
            <a:ext cx="1371600" cy="2036922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sz="2800" b="1" spc="15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</a:p>
        </p:txBody>
      </p:sp>
      <p:sp>
        <p:nvSpPr>
          <p:cNvPr id="30" name="标题 5"/>
          <p:cNvSpPr>
            <a:spLocks noGrp="1"/>
          </p:cNvSpPr>
          <p:nvPr>
            <p:custDataLst>
              <p:tags r:id="rId19"/>
            </p:custDataLst>
          </p:nvPr>
        </p:nvSpPr>
        <p:spPr>
          <a:xfrm>
            <a:off x="8260080" y="2616212"/>
            <a:ext cx="554355" cy="509270"/>
          </a:xfrm>
          <a:prstGeom prst="rect">
            <a:avLst/>
          </a:prstGeom>
        </p:spPr>
        <p:txBody>
          <a:bodyPr vert="horz" lIns="0" tIns="0" rIns="0" bIns="0" rtlCol="0" anchor="ctr" anchorCtr="0">
            <a:normAutofit fontScale="90000"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kumimoji="0" lang="zh-CN" altLang="en-US" sz="24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indent="0" algn="ctr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en-US" altLang="zh-CN" sz="2700" b="1" dirty="0">
                <a:solidFill>
                  <a:srgbClr val="1D518C"/>
                </a:solidFill>
                <a:latin typeface="微软雅黑" panose="020B0503020204020204" pitchFamily="34" charset="-122"/>
              </a:rPr>
              <a:t>5.4</a:t>
            </a:r>
          </a:p>
        </p:txBody>
      </p:sp>
      <p:sp>
        <p:nvSpPr>
          <p:cNvPr id="31" name="菱形 30"/>
          <p:cNvSpPr/>
          <p:nvPr>
            <p:custDataLst>
              <p:tags r:id="rId20"/>
            </p:custDataLst>
          </p:nvPr>
        </p:nvSpPr>
        <p:spPr>
          <a:xfrm>
            <a:off x="7970520" y="2712097"/>
            <a:ext cx="301625" cy="301625"/>
          </a:xfrm>
          <a:prstGeom prst="diamond">
            <a:avLst/>
          </a:prstGeom>
          <a:solidFill>
            <a:srgbClr val="69A7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/>
          <p:cNvSpPr/>
          <p:nvPr/>
        </p:nvSpPr>
        <p:spPr>
          <a:xfrm>
            <a:off x="438150" y="1764665"/>
            <a:ext cx="1612900" cy="52197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/>
            <a:r>
              <a:rPr lang="zh-CN" altLang="en-US" sz="2800" b="1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方正大黑简体" panose="03000509000000000000" pitchFamily="2" charset="-122"/>
                <a:ea typeface="方正大黑简体" panose="03000509000000000000" pitchFamily="2" charset="-122"/>
              </a:rPr>
              <a:t>教学目标</a:t>
            </a:r>
          </a:p>
        </p:txBody>
      </p:sp>
      <p:sp>
        <p:nvSpPr>
          <p:cNvPr id="27" name="文本框 26"/>
          <p:cNvSpPr txBox="1"/>
          <p:nvPr/>
        </p:nvSpPr>
        <p:spPr>
          <a:xfrm>
            <a:off x="1922711" y="1656318"/>
            <a:ext cx="10025424" cy="1383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 fontAlgn="auto">
              <a:lnSpc>
                <a:spcPct val="150000"/>
              </a:lnSpc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   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熟练掌握</a:t>
            </a:r>
            <a:r>
              <a:rPr lang="zh-CN" sz="28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函数的定义及编写方法；熟练掌握模块使用方法；掌握函数参数传递方法</a:t>
            </a:r>
          </a:p>
        </p:txBody>
      </p:sp>
      <p:sp>
        <p:nvSpPr>
          <p:cNvPr id="30" name="矩形 29"/>
          <p:cNvSpPr/>
          <p:nvPr/>
        </p:nvSpPr>
        <p:spPr>
          <a:xfrm>
            <a:off x="437515" y="4304665"/>
            <a:ext cx="1612900" cy="52197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/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方正大黑简体" panose="03000509000000000000" pitchFamily="2" charset="-122"/>
                <a:ea typeface="方正大黑简体" panose="03000509000000000000" pitchFamily="2" charset="-122"/>
              </a:rPr>
              <a:t>教学学时</a:t>
            </a:r>
          </a:p>
        </p:txBody>
      </p:sp>
      <p:sp>
        <p:nvSpPr>
          <p:cNvPr id="31" name="文本框 30"/>
          <p:cNvSpPr txBox="1"/>
          <p:nvPr/>
        </p:nvSpPr>
        <p:spPr>
          <a:xfrm>
            <a:off x="2199005" y="4125595"/>
            <a:ext cx="8013700" cy="737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 fontAlgn="auto">
              <a:lnSpc>
                <a:spcPct val="150000"/>
              </a:lnSpc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   </a:t>
            </a:r>
            <a:r>
              <a:rPr lang="en-US" sz="28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4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+2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学时（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2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理论讲解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+2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上机实践）</a:t>
            </a:r>
          </a:p>
        </p:txBody>
      </p:sp>
    </p:spTree>
  </p:cSld>
  <p:clrMapOvr>
    <a:masterClrMapping/>
  </p:clrMapOvr>
  <p:transition spd="med" advTm="0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1"/>
            </p:custDataLst>
          </p:nvPr>
        </p:nvSpPr>
        <p:spPr>
          <a:xfrm>
            <a:off x="0" y="3810736"/>
            <a:ext cx="12198448" cy="3048588"/>
          </a:xfrm>
          <a:prstGeom prst="rect">
            <a:avLst/>
          </a:prstGeom>
          <a:pattFill prst="dkHorz">
            <a:fgClr>
              <a:srgbClr val="F2F2F2"/>
            </a:fgClr>
            <a:bgClr>
              <a:srgbClr val="FFFFFF"/>
            </a:bgClr>
          </a:patt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 sz="18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1677254" y="914251"/>
            <a:ext cx="8843875" cy="853503"/>
          </a:xfrm>
          <a:prstGeom prst="rect">
            <a:avLst/>
          </a:prstGeom>
          <a:solidFill>
            <a:srgbClr val="FFFFFF"/>
          </a:solidFill>
          <a:ln w="25400">
            <a:noFill/>
          </a:ln>
          <a:effectLst>
            <a:outerShdw blurRad="50800" dist="76200" dir="5400000" sx="101000" sy="101000" algn="t" rotWithShape="0">
              <a:srgbClr val="000000">
                <a:alpha val="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kumimoji="1" lang="zh-CN" altLang="en-US" sz="3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1" name="矩形 11"/>
          <p:cNvSpPr/>
          <p:nvPr>
            <p:custDataLst>
              <p:tags r:id="rId3"/>
            </p:custDataLst>
          </p:nvPr>
        </p:nvSpPr>
        <p:spPr>
          <a:xfrm>
            <a:off x="1677241" y="2194436"/>
            <a:ext cx="8843875" cy="3777441"/>
          </a:xfrm>
          <a:prstGeom prst="rect">
            <a:avLst/>
          </a:prstGeom>
          <a:solidFill>
            <a:srgbClr val="FFFFFF"/>
          </a:solidFill>
          <a:ln w="25400">
            <a:noFill/>
          </a:ln>
          <a:effectLst>
            <a:outerShdw blurRad="50800" dist="76200" dir="5400000" sx="101000" sy="101000" algn="t" rotWithShape="0">
              <a:srgbClr val="000000">
                <a:alpha val="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kumimoji="1" lang="zh-CN" altLang="en-US" sz="18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>
            <p:custDataLst>
              <p:tags r:id="rId4"/>
            </p:custDataLst>
          </p:nvPr>
        </p:nvSpPr>
        <p:spPr>
          <a:xfrm>
            <a:off x="1982200" y="1066680"/>
            <a:ext cx="8233950" cy="548639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3600" b="1" spc="3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主要内容</a:t>
            </a:r>
          </a:p>
        </p:txBody>
      </p:sp>
      <p:sp>
        <p:nvSpPr>
          <p:cNvPr id="12" name="弧形 11"/>
          <p:cNvSpPr/>
          <p:nvPr>
            <p:custDataLst>
              <p:tags r:id="rId5"/>
            </p:custDataLst>
          </p:nvPr>
        </p:nvSpPr>
        <p:spPr>
          <a:xfrm>
            <a:off x="3111500" y="2520962"/>
            <a:ext cx="727075" cy="716915"/>
          </a:xfrm>
          <a:prstGeom prst="arc">
            <a:avLst>
              <a:gd name="adj1" fmla="val 11619054"/>
              <a:gd name="adj2" fmla="val 10295063"/>
            </a:avLst>
          </a:prstGeom>
          <a:ln w="190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80"/>
          <p:cNvSpPr txBox="1"/>
          <p:nvPr>
            <p:custDataLst>
              <p:tags r:id="rId6"/>
            </p:custDataLst>
          </p:nvPr>
        </p:nvSpPr>
        <p:spPr>
          <a:xfrm>
            <a:off x="2833370" y="3355352"/>
            <a:ext cx="1371600" cy="2036922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sz="2800" b="1" spc="15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概述</a:t>
            </a:r>
          </a:p>
        </p:txBody>
      </p:sp>
      <p:sp>
        <p:nvSpPr>
          <p:cNvPr id="14" name="标题 5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3221990" y="2616212"/>
            <a:ext cx="554355" cy="509270"/>
          </a:xfrm>
          <a:prstGeom prst="rect">
            <a:avLst/>
          </a:prstGeom>
        </p:spPr>
        <p:txBody>
          <a:bodyPr vert="horz" lIns="0" tIns="0" rIns="0" bIns="0" rtlCol="0" anchor="ctr" anchorCtr="0">
            <a:normAutofit fontScale="90000"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kumimoji="0" lang="zh-CN" altLang="en-US" sz="24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indent="0" algn="ctr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en-US" altLang="zh-CN" sz="2700" b="1" dirty="0">
                <a:solidFill>
                  <a:srgbClr val="FF0000"/>
                </a:solidFill>
                <a:latin typeface="微软雅黑" panose="020B0503020204020204" pitchFamily="34" charset="-122"/>
              </a:rPr>
              <a:t>5.1</a:t>
            </a:r>
          </a:p>
        </p:txBody>
      </p:sp>
      <p:sp>
        <p:nvSpPr>
          <p:cNvPr id="15" name="菱形 14"/>
          <p:cNvSpPr/>
          <p:nvPr>
            <p:custDataLst>
              <p:tags r:id="rId8"/>
            </p:custDataLst>
          </p:nvPr>
        </p:nvSpPr>
        <p:spPr>
          <a:xfrm>
            <a:off x="2933065" y="2712097"/>
            <a:ext cx="301625" cy="301625"/>
          </a:xfrm>
          <a:prstGeom prst="diamond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弧形 15"/>
          <p:cNvSpPr/>
          <p:nvPr>
            <p:custDataLst>
              <p:tags r:id="rId9"/>
            </p:custDataLst>
          </p:nvPr>
        </p:nvSpPr>
        <p:spPr>
          <a:xfrm>
            <a:off x="4790440" y="2520962"/>
            <a:ext cx="727075" cy="716915"/>
          </a:xfrm>
          <a:prstGeom prst="arc">
            <a:avLst>
              <a:gd name="adj1" fmla="val 11619054"/>
              <a:gd name="adj2" fmla="val 10295063"/>
            </a:avLst>
          </a:prstGeom>
          <a:ln w="19050">
            <a:solidFill>
              <a:srgbClr val="1D6D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80"/>
          <p:cNvSpPr txBox="1"/>
          <p:nvPr>
            <p:custDataLst>
              <p:tags r:id="rId10"/>
            </p:custDataLst>
          </p:nvPr>
        </p:nvSpPr>
        <p:spPr>
          <a:xfrm>
            <a:off x="4297680" y="3355340"/>
            <a:ext cx="1678940" cy="203708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sz="2800" b="1" spc="15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模块</a:t>
            </a:r>
          </a:p>
        </p:txBody>
      </p:sp>
      <p:sp>
        <p:nvSpPr>
          <p:cNvPr id="22" name="标题 5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4901565" y="2616212"/>
            <a:ext cx="554355" cy="509270"/>
          </a:xfrm>
          <a:prstGeom prst="rect">
            <a:avLst/>
          </a:prstGeom>
        </p:spPr>
        <p:txBody>
          <a:bodyPr vert="horz" lIns="0" tIns="0" rIns="0" bIns="0" rtlCol="0" anchor="ctr" anchorCtr="0">
            <a:normAutofit fontScale="90000"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kumimoji="0" lang="zh-CN" altLang="en-US" sz="24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indent="0" algn="ctr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en-US" altLang="zh-CN" sz="2700" b="1" dirty="0">
                <a:solidFill>
                  <a:srgbClr val="1D518C"/>
                </a:solidFill>
                <a:latin typeface="微软雅黑" panose="020B0503020204020204" pitchFamily="34" charset="-122"/>
              </a:rPr>
              <a:t>5.2</a:t>
            </a:r>
          </a:p>
        </p:txBody>
      </p:sp>
      <p:sp>
        <p:nvSpPr>
          <p:cNvPr id="23" name="菱形 22"/>
          <p:cNvSpPr/>
          <p:nvPr>
            <p:custDataLst>
              <p:tags r:id="rId12"/>
            </p:custDataLst>
          </p:nvPr>
        </p:nvSpPr>
        <p:spPr>
          <a:xfrm>
            <a:off x="4612005" y="2712097"/>
            <a:ext cx="301625" cy="301625"/>
          </a:xfrm>
          <a:prstGeom prst="diamond">
            <a:avLst/>
          </a:prstGeom>
          <a:solidFill>
            <a:srgbClr val="69A7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弧形 23"/>
          <p:cNvSpPr/>
          <p:nvPr>
            <p:custDataLst>
              <p:tags r:id="rId13"/>
            </p:custDataLst>
          </p:nvPr>
        </p:nvSpPr>
        <p:spPr>
          <a:xfrm>
            <a:off x="6470015" y="2520962"/>
            <a:ext cx="727075" cy="716915"/>
          </a:xfrm>
          <a:prstGeom prst="arc">
            <a:avLst>
              <a:gd name="adj1" fmla="val 11619054"/>
              <a:gd name="adj2" fmla="val 10295063"/>
            </a:avLst>
          </a:prstGeom>
          <a:ln w="19050">
            <a:solidFill>
              <a:srgbClr val="1D6D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文本框 80"/>
          <p:cNvSpPr txBox="1"/>
          <p:nvPr>
            <p:custDataLst>
              <p:tags r:id="rId14"/>
            </p:custDataLst>
          </p:nvPr>
        </p:nvSpPr>
        <p:spPr>
          <a:xfrm>
            <a:off x="5976620" y="3355340"/>
            <a:ext cx="1779270" cy="203708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sz="2800" b="1" spc="15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包</a:t>
            </a:r>
          </a:p>
        </p:txBody>
      </p:sp>
      <p:sp>
        <p:nvSpPr>
          <p:cNvPr id="26" name="标题 5"/>
          <p:cNvSpPr>
            <a:spLocks noGrp="1"/>
          </p:cNvSpPr>
          <p:nvPr>
            <p:custDataLst>
              <p:tags r:id="rId15"/>
            </p:custDataLst>
          </p:nvPr>
        </p:nvSpPr>
        <p:spPr>
          <a:xfrm>
            <a:off x="6580505" y="2616212"/>
            <a:ext cx="554355" cy="509270"/>
          </a:xfrm>
          <a:prstGeom prst="rect">
            <a:avLst/>
          </a:prstGeom>
        </p:spPr>
        <p:txBody>
          <a:bodyPr vert="horz" lIns="0" tIns="0" rIns="0" bIns="0" rtlCol="0" anchor="ctr" anchorCtr="0">
            <a:normAutofit fontScale="90000"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kumimoji="0" lang="zh-CN" altLang="en-US" sz="24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indent="0" algn="ctr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en-US" altLang="zh-CN" sz="2700" b="1" dirty="0">
                <a:solidFill>
                  <a:srgbClr val="1D518C"/>
                </a:solidFill>
                <a:latin typeface="微软雅黑" panose="020B0503020204020204" pitchFamily="34" charset="-122"/>
              </a:rPr>
              <a:t>5.3</a:t>
            </a:r>
          </a:p>
        </p:txBody>
      </p:sp>
      <p:sp>
        <p:nvSpPr>
          <p:cNvPr id="27" name="菱形 26"/>
          <p:cNvSpPr/>
          <p:nvPr>
            <p:custDataLst>
              <p:tags r:id="rId16"/>
            </p:custDataLst>
          </p:nvPr>
        </p:nvSpPr>
        <p:spPr>
          <a:xfrm>
            <a:off x="6291580" y="2712097"/>
            <a:ext cx="301625" cy="301625"/>
          </a:xfrm>
          <a:prstGeom prst="diamond">
            <a:avLst/>
          </a:prstGeom>
          <a:solidFill>
            <a:srgbClr val="69A7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弧形 27"/>
          <p:cNvSpPr/>
          <p:nvPr>
            <p:custDataLst>
              <p:tags r:id="rId17"/>
            </p:custDataLst>
          </p:nvPr>
        </p:nvSpPr>
        <p:spPr>
          <a:xfrm>
            <a:off x="8148955" y="2520962"/>
            <a:ext cx="727075" cy="716915"/>
          </a:xfrm>
          <a:prstGeom prst="arc">
            <a:avLst>
              <a:gd name="adj1" fmla="val 11619054"/>
              <a:gd name="adj2" fmla="val 10295063"/>
            </a:avLst>
          </a:prstGeom>
          <a:ln w="19050">
            <a:solidFill>
              <a:srgbClr val="1D6D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80"/>
          <p:cNvSpPr txBox="1"/>
          <p:nvPr>
            <p:custDataLst>
              <p:tags r:id="rId18"/>
            </p:custDataLst>
          </p:nvPr>
        </p:nvSpPr>
        <p:spPr>
          <a:xfrm>
            <a:off x="7871460" y="3355352"/>
            <a:ext cx="1371600" cy="2036922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sz="2800" b="1" spc="15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</a:p>
        </p:txBody>
      </p:sp>
      <p:sp>
        <p:nvSpPr>
          <p:cNvPr id="30" name="标题 5"/>
          <p:cNvSpPr>
            <a:spLocks noGrp="1"/>
          </p:cNvSpPr>
          <p:nvPr>
            <p:custDataLst>
              <p:tags r:id="rId19"/>
            </p:custDataLst>
          </p:nvPr>
        </p:nvSpPr>
        <p:spPr>
          <a:xfrm>
            <a:off x="8260080" y="2616212"/>
            <a:ext cx="554355" cy="509270"/>
          </a:xfrm>
          <a:prstGeom prst="rect">
            <a:avLst/>
          </a:prstGeom>
        </p:spPr>
        <p:txBody>
          <a:bodyPr vert="horz" lIns="0" tIns="0" rIns="0" bIns="0" rtlCol="0" anchor="ctr" anchorCtr="0">
            <a:normAutofit fontScale="90000"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kumimoji="0" lang="zh-CN" altLang="en-US" sz="24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indent="0" algn="ctr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en-US" altLang="zh-CN" sz="2700" b="1" dirty="0">
                <a:solidFill>
                  <a:srgbClr val="1D518C"/>
                </a:solidFill>
                <a:latin typeface="微软雅黑" panose="020B0503020204020204" pitchFamily="34" charset="-122"/>
              </a:rPr>
              <a:t>5.4</a:t>
            </a:r>
          </a:p>
        </p:txBody>
      </p:sp>
      <p:sp>
        <p:nvSpPr>
          <p:cNvPr id="31" name="菱形 30"/>
          <p:cNvSpPr/>
          <p:nvPr>
            <p:custDataLst>
              <p:tags r:id="rId20"/>
            </p:custDataLst>
          </p:nvPr>
        </p:nvSpPr>
        <p:spPr>
          <a:xfrm>
            <a:off x="7970520" y="2712097"/>
            <a:ext cx="301625" cy="301625"/>
          </a:xfrm>
          <a:prstGeom prst="diamond">
            <a:avLst/>
          </a:prstGeom>
          <a:solidFill>
            <a:srgbClr val="69A7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内容占位符 2"/>
          <p:cNvSpPr>
            <a:spLocks noGrp="1"/>
          </p:cNvSpPr>
          <p:nvPr>
            <p:ph idx="1"/>
          </p:nvPr>
        </p:nvSpPr>
        <p:spPr>
          <a:xfrm>
            <a:off x="488315" y="1025525"/>
            <a:ext cx="6042908" cy="5225415"/>
          </a:xfrm>
        </p:spPr>
        <p:txBody>
          <a:bodyPr vert="horz" wrap="square" lIns="91456" tIns="45728" rIns="91456" bIns="45728" anchor="t"/>
          <a:lstStyle/>
          <a:p>
            <a:pPr marL="0" indent="0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sz="2800" b="1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Python程序的结构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Ø"/>
            </a:pPr>
            <a:r>
              <a:rPr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Python的程序由包(package)、模块(module)和函数组成</a:t>
            </a:r>
            <a:r>
              <a:rPr 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Ø"/>
            </a:pPr>
            <a:r>
              <a:rPr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模块是处理一类问题的集合，由函数和类组成</a:t>
            </a:r>
            <a:r>
              <a:rPr 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Ø"/>
            </a:pPr>
            <a:r>
              <a:rPr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包是由一系列模块组成的集合。包是一个完成特定任务的工具箱。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0205369" y="189434"/>
            <a:ext cx="20180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5.1 概述</a:t>
            </a:r>
            <a:endParaRPr 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6384290" y="772795"/>
            <a:ext cx="6962140" cy="5700395"/>
            <a:chOff x="10070" y="1217"/>
            <a:chExt cx="10964" cy="8977"/>
          </a:xfrm>
        </p:grpSpPr>
        <p:grpSp>
          <p:nvGrpSpPr>
            <p:cNvPr id="54" name="组 53"/>
            <p:cNvGrpSpPr/>
            <p:nvPr/>
          </p:nvGrpSpPr>
          <p:grpSpPr>
            <a:xfrm>
              <a:off x="10070" y="1528"/>
              <a:ext cx="7926" cy="8666"/>
              <a:chOff x="4682518" y="1326192"/>
              <a:chExt cx="5032784" cy="5502708"/>
            </a:xfrm>
          </p:grpSpPr>
          <p:sp>
            <p:nvSpPr>
              <p:cNvPr id="55" name="圆角矩形 54"/>
              <p:cNvSpPr/>
              <p:nvPr/>
            </p:nvSpPr>
            <p:spPr>
              <a:xfrm>
                <a:off x="4682518" y="1326192"/>
                <a:ext cx="1782574" cy="581330"/>
              </a:xfrm>
              <a:prstGeom prst="roundRect">
                <a:avLst/>
              </a:prstGeom>
              <a:solidFill>
                <a:srgbClr val="94212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2000" dirty="0" err="1">
                    <a:latin typeface="Monaco" charset="0"/>
                    <a:ea typeface="Monaco" charset="0"/>
                    <a:cs typeface="Monaco" charset="0"/>
                  </a:rPr>
                  <a:t>pyproject</a:t>
                </a:r>
                <a:endParaRPr kumimoji="1" lang="zh-CN" altLang="en-US" sz="2000" dirty="0">
                  <a:latin typeface="Monaco" charset="0"/>
                  <a:ea typeface="Monaco" charset="0"/>
                  <a:cs typeface="Monaco" charset="0"/>
                </a:endParaRPr>
              </a:p>
            </p:txBody>
          </p:sp>
          <p:cxnSp>
            <p:nvCxnSpPr>
              <p:cNvPr id="56" name="直线连接符 55"/>
              <p:cNvCxnSpPr/>
              <p:nvPr/>
            </p:nvCxnSpPr>
            <p:spPr>
              <a:xfrm flipH="1">
                <a:off x="5518892" y="1916832"/>
                <a:ext cx="0" cy="3591921"/>
              </a:xfrm>
              <a:prstGeom prst="line">
                <a:avLst/>
              </a:prstGeom>
              <a:ln w="38100">
                <a:solidFill>
                  <a:srgbClr val="9421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线连接符 56"/>
              <p:cNvCxnSpPr/>
              <p:nvPr/>
            </p:nvCxnSpPr>
            <p:spPr>
              <a:xfrm>
                <a:off x="5518892" y="2343703"/>
                <a:ext cx="946200" cy="0"/>
              </a:xfrm>
              <a:prstGeom prst="line">
                <a:avLst/>
              </a:prstGeom>
              <a:ln w="38100">
                <a:solidFill>
                  <a:srgbClr val="9421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8" name="文本框 57"/>
              <p:cNvSpPr txBox="1"/>
              <p:nvPr/>
            </p:nvSpPr>
            <p:spPr>
              <a:xfrm>
                <a:off x="6611946" y="2143648"/>
                <a:ext cx="187743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sz="2000" dirty="0">
                    <a:latin typeface="Monaco" charset="0"/>
                    <a:ea typeface="Monaco" charset="0"/>
                    <a:cs typeface="Monaco" charset="0"/>
                  </a:rPr>
                  <a:t>__</a:t>
                </a:r>
                <a:r>
                  <a:rPr kumimoji="1" lang="en-US" altLang="zh-CN" sz="2000" dirty="0" err="1">
                    <a:latin typeface="Monaco" charset="0"/>
                    <a:ea typeface="Monaco" charset="0"/>
                    <a:cs typeface="Monaco" charset="0"/>
                  </a:rPr>
                  <a:t>init</a:t>
                </a:r>
                <a:r>
                  <a:rPr kumimoji="1" lang="en-US" altLang="zh-CN" sz="2000" dirty="0">
                    <a:latin typeface="Monaco" charset="0"/>
                    <a:ea typeface="Monaco" charset="0"/>
                    <a:cs typeface="Monaco" charset="0"/>
                  </a:rPr>
                  <a:t>__.</a:t>
                </a:r>
                <a:r>
                  <a:rPr kumimoji="1" lang="en-US" altLang="zh-CN" sz="2000" dirty="0" err="1">
                    <a:latin typeface="Monaco" charset="0"/>
                    <a:ea typeface="Monaco" charset="0"/>
                    <a:cs typeface="Monaco" charset="0"/>
                  </a:rPr>
                  <a:t>py</a:t>
                </a:r>
                <a:endParaRPr kumimoji="1" lang="zh-CN" altLang="en-US" sz="2000" dirty="0">
                  <a:latin typeface="Monaco" charset="0"/>
                  <a:ea typeface="Monaco" charset="0"/>
                  <a:cs typeface="Monaco" charset="0"/>
                </a:endParaRPr>
              </a:p>
            </p:txBody>
          </p:sp>
          <p:cxnSp>
            <p:nvCxnSpPr>
              <p:cNvPr id="59" name="直线连接符 58"/>
              <p:cNvCxnSpPr/>
              <p:nvPr/>
            </p:nvCxnSpPr>
            <p:spPr>
              <a:xfrm>
                <a:off x="5518892" y="2780928"/>
                <a:ext cx="946200" cy="0"/>
              </a:xfrm>
              <a:prstGeom prst="line">
                <a:avLst/>
              </a:prstGeom>
              <a:ln w="38100">
                <a:solidFill>
                  <a:srgbClr val="9421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0" name="文本框 59"/>
              <p:cNvSpPr txBox="1"/>
              <p:nvPr/>
            </p:nvSpPr>
            <p:spPr>
              <a:xfrm>
                <a:off x="6611946" y="2580873"/>
                <a:ext cx="172354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sz="2000" dirty="0">
                    <a:latin typeface="Monaco" charset="0"/>
                    <a:ea typeface="Monaco" charset="0"/>
                    <a:cs typeface="Monaco" charset="0"/>
                  </a:rPr>
                  <a:t>module0.py</a:t>
                </a:r>
                <a:endParaRPr kumimoji="1" lang="zh-CN" altLang="en-US" sz="2000" dirty="0">
                  <a:latin typeface="Monaco" charset="0"/>
                  <a:ea typeface="Monaco" charset="0"/>
                  <a:cs typeface="Monaco" charset="0"/>
                </a:endParaRPr>
              </a:p>
            </p:txBody>
          </p:sp>
          <p:cxnSp>
            <p:nvCxnSpPr>
              <p:cNvPr id="61" name="直线连接符 60"/>
              <p:cNvCxnSpPr/>
              <p:nvPr/>
            </p:nvCxnSpPr>
            <p:spPr>
              <a:xfrm>
                <a:off x="5518892" y="3355499"/>
                <a:ext cx="473100" cy="0"/>
              </a:xfrm>
              <a:prstGeom prst="line">
                <a:avLst/>
              </a:prstGeom>
              <a:ln w="38100">
                <a:solidFill>
                  <a:srgbClr val="9421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2" name="圆角矩形 61"/>
              <p:cNvSpPr/>
              <p:nvPr/>
            </p:nvSpPr>
            <p:spPr>
              <a:xfrm>
                <a:off x="5991992" y="3064834"/>
                <a:ext cx="1782574" cy="581330"/>
              </a:xfrm>
              <a:prstGeom prst="roundRect">
                <a:avLst/>
              </a:prstGeom>
              <a:solidFill>
                <a:srgbClr val="94212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2000" dirty="0" err="1">
                    <a:latin typeface="Monaco" charset="0"/>
                    <a:ea typeface="Monaco" charset="0"/>
                    <a:cs typeface="Monaco" charset="0"/>
                  </a:rPr>
                  <a:t>Package_a</a:t>
                </a:r>
                <a:endParaRPr kumimoji="1" lang="zh-CN" altLang="en-US" sz="2000" dirty="0">
                  <a:latin typeface="Monaco" charset="0"/>
                  <a:ea typeface="Monaco" charset="0"/>
                  <a:cs typeface="Monaco" charset="0"/>
                </a:endParaRPr>
              </a:p>
            </p:txBody>
          </p:sp>
          <p:cxnSp>
            <p:nvCxnSpPr>
              <p:cNvPr id="63" name="直线连接符 62"/>
              <p:cNvCxnSpPr/>
              <p:nvPr/>
            </p:nvCxnSpPr>
            <p:spPr>
              <a:xfrm>
                <a:off x="6883279" y="3646164"/>
                <a:ext cx="0" cy="1238965"/>
              </a:xfrm>
              <a:prstGeom prst="line">
                <a:avLst/>
              </a:prstGeom>
              <a:ln w="38100">
                <a:solidFill>
                  <a:srgbClr val="9421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直线连接符 63"/>
              <p:cNvCxnSpPr/>
              <p:nvPr/>
            </p:nvCxnSpPr>
            <p:spPr>
              <a:xfrm>
                <a:off x="6883279" y="3988765"/>
                <a:ext cx="946200" cy="0"/>
              </a:xfrm>
              <a:prstGeom prst="line">
                <a:avLst/>
              </a:prstGeom>
              <a:ln w="38100">
                <a:solidFill>
                  <a:srgbClr val="9421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5" name="文本框 64"/>
              <p:cNvSpPr txBox="1"/>
              <p:nvPr/>
            </p:nvSpPr>
            <p:spPr>
              <a:xfrm>
                <a:off x="7837865" y="3788710"/>
                <a:ext cx="187743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sz="2000" dirty="0">
                    <a:latin typeface="Monaco" charset="0"/>
                    <a:ea typeface="Monaco" charset="0"/>
                    <a:cs typeface="Monaco" charset="0"/>
                  </a:rPr>
                  <a:t>__</a:t>
                </a:r>
                <a:r>
                  <a:rPr kumimoji="1" lang="en-US" altLang="zh-CN" sz="2000" dirty="0" err="1">
                    <a:latin typeface="Monaco" charset="0"/>
                    <a:ea typeface="Monaco" charset="0"/>
                    <a:cs typeface="Monaco" charset="0"/>
                  </a:rPr>
                  <a:t>init</a:t>
                </a:r>
                <a:r>
                  <a:rPr kumimoji="1" lang="en-US" altLang="zh-CN" sz="2000" dirty="0">
                    <a:latin typeface="Monaco" charset="0"/>
                    <a:ea typeface="Monaco" charset="0"/>
                    <a:cs typeface="Monaco" charset="0"/>
                  </a:rPr>
                  <a:t>__.</a:t>
                </a:r>
                <a:r>
                  <a:rPr kumimoji="1" lang="en-US" altLang="zh-CN" sz="2000" dirty="0" err="1">
                    <a:latin typeface="Monaco" charset="0"/>
                    <a:ea typeface="Monaco" charset="0"/>
                    <a:cs typeface="Monaco" charset="0"/>
                  </a:rPr>
                  <a:t>py</a:t>
                </a:r>
                <a:endParaRPr kumimoji="1" lang="zh-CN" altLang="en-US" sz="2000" dirty="0">
                  <a:latin typeface="Monaco" charset="0"/>
                  <a:ea typeface="Monaco" charset="0"/>
                  <a:cs typeface="Monaco" charset="0"/>
                </a:endParaRPr>
              </a:p>
            </p:txBody>
          </p:sp>
          <p:sp>
            <p:nvSpPr>
              <p:cNvPr id="66" name="文本框 65"/>
              <p:cNvSpPr txBox="1"/>
              <p:nvPr/>
            </p:nvSpPr>
            <p:spPr>
              <a:xfrm>
                <a:off x="7914808" y="4284846"/>
                <a:ext cx="172354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sz="2000" dirty="0">
                    <a:latin typeface="Monaco" charset="0"/>
                    <a:ea typeface="Monaco" charset="0"/>
                    <a:cs typeface="Monaco" charset="0"/>
                  </a:rPr>
                  <a:t>module1.py</a:t>
                </a:r>
                <a:endParaRPr kumimoji="1" lang="zh-CN" altLang="en-US" sz="2000" dirty="0">
                  <a:latin typeface="Monaco" charset="0"/>
                  <a:ea typeface="Monaco" charset="0"/>
                  <a:cs typeface="Monaco" charset="0"/>
                </a:endParaRPr>
              </a:p>
            </p:txBody>
          </p:sp>
          <p:cxnSp>
            <p:nvCxnSpPr>
              <p:cNvPr id="67" name="直线连接符 66"/>
              <p:cNvCxnSpPr/>
              <p:nvPr/>
            </p:nvCxnSpPr>
            <p:spPr>
              <a:xfrm>
                <a:off x="6891665" y="4484901"/>
                <a:ext cx="946200" cy="0"/>
              </a:xfrm>
              <a:prstGeom prst="line">
                <a:avLst/>
              </a:prstGeom>
              <a:ln w="38100">
                <a:solidFill>
                  <a:srgbClr val="9421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直线连接符 67"/>
              <p:cNvCxnSpPr/>
              <p:nvPr/>
            </p:nvCxnSpPr>
            <p:spPr>
              <a:xfrm>
                <a:off x="6891665" y="4885129"/>
                <a:ext cx="946200" cy="0"/>
              </a:xfrm>
              <a:prstGeom prst="line">
                <a:avLst/>
              </a:prstGeom>
              <a:ln w="38100">
                <a:solidFill>
                  <a:srgbClr val="9421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9" name="文本框 68"/>
              <p:cNvSpPr txBox="1"/>
              <p:nvPr/>
            </p:nvSpPr>
            <p:spPr>
              <a:xfrm>
                <a:off x="7914808" y="4685074"/>
                <a:ext cx="172354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sz="2000" dirty="0">
                    <a:latin typeface="Monaco" charset="0"/>
                    <a:ea typeface="Monaco" charset="0"/>
                    <a:cs typeface="Monaco" charset="0"/>
                  </a:rPr>
                  <a:t>module2.py</a:t>
                </a:r>
                <a:endParaRPr kumimoji="1" lang="zh-CN" altLang="en-US" sz="2000" dirty="0">
                  <a:latin typeface="Monaco" charset="0"/>
                  <a:ea typeface="Monaco" charset="0"/>
                  <a:cs typeface="Monaco" charset="0"/>
                </a:endParaRPr>
              </a:p>
            </p:txBody>
          </p:sp>
          <p:sp>
            <p:nvSpPr>
              <p:cNvPr id="70" name="圆角矩形 69"/>
              <p:cNvSpPr/>
              <p:nvPr/>
            </p:nvSpPr>
            <p:spPr>
              <a:xfrm>
                <a:off x="5991992" y="5208778"/>
                <a:ext cx="1782574" cy="581330"/>
              </a:xfrm>
              <a:prstGeom prst="roundRect">
                <a:avLst/>
              </a:prstGeom>
              <a:solidFill>
                <a:srgbClr val="94212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2000" dirty="0" err="1">
                    <a:latin typeface="Monaco" charset="0"/>
                    <a:ea typeface="Monaco" charset="0"/>
                    <a:cs typeface="Monaco" charset="0"/>
                  </a:rPr>
                  <a:t>Package_b</a:t>
                </a:r>
                <a:endParaRPr kumimoji="1" lang="zh-CN" altLang="en-US" sz="2000" dirty="0">
                  <a:latin typeface="Monaco" charset="0"/>
                  <a:ea typeface="Monaco" charset="0"/>
                  <a:cs typeface="Monaco" charset="0"/>
                </a:endParaRPr>
              </a:p>
            </p:txBody>
          </p:sp>
          <p:cxnSp>
            <p:nvCxnSpPr>
              <p:cNvPr id="71" name="直线连接符 70"/>
              <p:cNvCxnSpPr/>
              <p:nvPr/>
            </p:nvCxnSpPr>
            <p:spPr>
              <a:xfrm>
                <a:off x="6883279" y="5790108"/>
                <a:ext cx="0" cy="838737"/>
              </a:xfrm>
              <a:prstGeom prst="line">
                <a:avLst/>
              </a:prstGeom>
              <a:ln w="38100">
                <a:solidFill>
                  <a:srgbClr val="9421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直线连接符 71"/>
              <p:cNvCxnSpPr/>
              <p:nvPr/>
            </p:nvCxnSpPr>
            <p:spPr>
              <a:xfrm>
                <a:off x="6883279" y="6132709"/>
                <a:ext cx="946200" cy="0"/>
              </a:xfrm>
              <a:prstGeom prst="line">
                <a:avLst/>
              </a:prstGeom>
              <a:ln w="38100">
                <a:solidFill>
                  <a:srgbClr val="9421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3" name="文本框 72"/>
              <p:cNvSpPr txBox="1"/>
              <p:nvPr/>
            </p:nvSpPr>
            <p:spPr>
              <a:xfrm>
                <a:off x="7837865" y="5932654"/>
                <a:ext cx="187743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sz="2000" dirty="0">
                    <a:latin typeface="Monaco" charset="0"/>
                    <a:ea typeface="Monaco" charset="0"/>
                    <a:cs typeface="Monaco" charset="0"/>
                  </a:rPr>
                  <a:t>__</a:t>
                </a:r>
                <a:r>
                  <a:rPr kumimoji="1" lang="en-US" altLang="zh-CN" sz="2000" dirty="0" err="1">
                    <a:latin typeface="Monaco" charset="0"/>
                    <a:ea typeface="Monaco" charset="0"/>
                    <a:cs typeface="Monaco" charset="0"/>
                  </a:rPr>
                  <a:t>init</a:t>
                </a:r>
                <a:r>
                  <a:rPr kumimoji="1" lang="en-US" altLang="zh-CN" sz="2000" dirty="0">
                    <a:latin typeface="Monaco" charset="0"/>
                    <a:ea typeface="Monaco" charset="0"/>
                    <a:cs typeface="Monaco" charset="0"/>
                  </a:rPr>
                  <a:t>__.</a:t>
                </a:r>
                <a:r>
                  <a:rPr kumimoji="1" lang="en-US" altLang="zh-CN" sz="2000" dirty="0" err="1">
                    <a:latin typeface="Monaco" charset="0"/>
                    <a:ea typeface="Monaco" charset="0"/>
                    <a:cs typeface="Monaco" charset="0"/>
                  </a:rPr>
                  <a:t>py</a:t>
                </a:r>
                <a:endParaRPr kumimoji="1" lang="zh-CN" altLang="en-US" sz="2000" dirty="0">
                  <a:latin typeface="Monaco" charset="0"/>
                  <a:ea typeface="Monaco" charset="0"/>
                  <a:cs typeface="Monaco" charset="0"/>
                </a:endParaRPr>
              </a:p>
            </p:txBody>
          </p:sp>
          <p:sp>
            <p:nvSpPr>
              <p:cNvPr id="74" name="文本框 73"/>
              <p:cNvSpPr txBox="1"/>
              <p:nvPr/>
            </p:nvSpPr>
            <p:spPr>
              <a:xfrm>
                <a:off x="7914808" y="6428790"/>
                <a:ext cx="172354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sz="2000" dirty="0">
                    <a:latin typeface="Monaco" charset="0"/>
                    <a:ea typeface="Monaco" charset="0"/>
                    <a:cs typeface="Monaco" charset="0"/>
                  </a:rPr>
                  <a:t>module3.py</a:t>
                </a:r>
                <a:endParaRPr kumimoji="1" lang="zh-CN" altLang="en-US" sz="2000" dirty="0">
                  <a:latin typeface="Monaco" charset="0"/>
                  <a:ea typeface="Monaco" charset="0"/>
                  <a:cs typeface="Monaco" charset="0"/>
                </a:endParaRPr>
              </a:p>
            </p:txBody>
          </p:sp>
          <p:cxnSp>
            <p:nvCxnSpPr>
              <p:cNvPr id="75" name="直线连接符 74"/>
              <p:cNvCxnSpPr/>
              <p:nvPr/>
            </p:nvCxnSpPr>
            <p:spPr>
              <a:xfrm>
                <a:off x="6891665" y="6628845"/>
                <a:ext cx="946200" cy="0"/>
              </a:xfrm>
              <a:prstGeom prst="line">
                <a:avLst/>
              </a:prstGeom>
              <a:ln w="38100">
                <a:solidFill>
                  <a:srgbClr val="9421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直线连接符 75"/>
              <p:cNvCxnSpPr/>
              <p:nvPr/>
            </p:nvCxnSpPr>
            <p:spPr>
              <a:xfrm>
                <a:off x="5518892" y="5499443"/>
                <a:ext cx="473100" cy="0"/>
              </a:xfrm>
              <a:prstGeom prst="line">
                <a:avLst/>
              </a:prstGeom>
              <a:ln w="38100">
                <a:solidFill>
                  <a:srgbClr val="9421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9" name="内容占位符 1"/>
            <p:cNvSpPr txBox="1"/>
            <p:nvPr/>
          </p:nvSpPr>
          <p:spPr>
            <a:xfrm>
              <a:off x="13108" y="1217"/>
              <a:ext cx="7927" cy="2602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50000"/>
                </a:lnSpc>
                <a:buNone/>
              </a:pPr>
              <a:r>
                <a:rPr lang="zh-CN" altLang="en-US" sz="2400" b="1" dirty="0">
                  <a:solidFill>
                    <a:srgbClr val="942124"/>
                  </a:solidFill>
                </a:rPr>
                <a:t>一个简单的</a:t>
              </a:r>
              <a:r>
                <a:rPr lang="en-US" altLang="zh-CN" sz="2400" b="1" dirty="0">
                  <a:solidFill>
                    <a:srgbClr val="942124"/>
                  </a:solidFill>
                </a:rPr>
                <a:t>Python</a:t>
              </a:r>
              <a:r>
                <a:rPr lang="zh-CN" altLang="en-US" sz="2400" b="1" dirty="0">
                  <a:solidFill>
                    <a:srgbClr val="942124"/>
                  </a:solidFill>
                </a:rPr>
                <a:t>项目</a:t>
              </a:r>
              <a:endParaRPr lang="en-US" altLang="zh-CN" sz="2000" b="1" dirty="0">
                <a:solidFill>
                  <a:srgbClr val="942124"/>
                </a:solidFill>
              </a:endParaRPr>
            </a:p>
          </p:txBody>
        </p:sp>
      </p:grpSp>
    </p:spTree>
  </p:cSld>
  <p:clrMapOvr>
    <a:masterClrMapping/>
  </p:clrMapOvr>
  <p:transition spd="slow" advTm="0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内容占位符 2"/>
          <p:cNvSpPr>
            <a:spLocks noGrp="1"/>
          </p:cNvSpPr>
          <p:nvPr>
            <p:ph idx="1"/>
          </p:nvPr>
        </p:nvSpPr>
        <p:spPr>
          <a:xfrm>
            <a:off x="526415" y="1056005"/>
            <a:ext cx="11316335" cy="4349750"/>
          </a:xfrm>
        </p:spPr>
        <p:txBody>
          <a:bodyPr vert="horz" wrap="square" lIns="91456" tIns="45728" rIns="91456" bIns="45728" anchor="t"/>
          <a:lstStyle/>
          <a:p>
            <a:pPr marL="0" indent="0" algn="just" fontAlgn="auto">
              <a:lnSpc>
                <a:spcPts val="3580"/>
              </a:lnSpc>
              <a:spcBef>
                <a:spcPts val="0"/>
              </a:spcBef>
              <a:buNone/>
            </a:pPr>
            <a:endParaRPr lang="en-US" altLang="zh-CN" sz="2400" b="1" dirty="0">
              <a:latin typeface="+mn-ea"/>
              <a:cs typeface="+mn-ea"/>
            </a:endParaRPr>
          </a:p>
          <a:p>
            <a:pPr algn="just" fontAlgn="auto">
              <a:lnSpc>
                <a:spcPts val="3580"/>
              </a:lnSpc>
              <a:spcBef>
                <a:spcPts val="0"/>
              </a:spcBef>
              <a:buFont typeface="Wingdings" panose="05000000000000000000" charset="0"/>
              <a:buChar char="n"/>
            </a:pPr>
            <a:r>
              <a:rPr lang="zh-CN" altLang="en-US" sz="2400" b="1" dirty="0">
                <a:solidFill>
                  <a:srgbClr val="FF0000"/>
                </a:solidFill>
                <a:latin typeface="+mn-ea"/>
                <a:cs typeface="+mn-ea"/>
              </a:rPr>
              <a:t>函数是一段可重用的有名称的代码</a:t>
            </a:r>
            <a:r>
              <a:rPr lang="zh-CN" altLang="en-US" sz="2400" b="1" dirty="0">
                <a:solidFill>
                  <a:srgbClr val="7030A0"/>
                </a:solidFill>
                <a:latin typeface="+mn-ea"/>
                <a:cs typeface="+mn-ea"/>
              </a:rPr>
              <a:t>。</a:t>
            </a:r>
            <a:r>
              <a:rPr lang="zh-CN" altLang="en-US" sz="2400" b="1" dirty="0">
                <a:latin typeface="+mn-ea"/>
                <a:cs typeface="+mn-ea"/>
              </a:rPr>
              <a:t>通过输入的参数值，返回需要的结果，并可存储在文件中供以后使用。几乎任何</a:t>
            </a:r>
            <a:r>
              <a:rPr lang="en-US" altLang="zh-CN" sz="2400" b="1" dirty="0">
                <a:latin typeface="+mn-ea"/>
                <a:cs typeface="+mn-ea"/>
              </a:rPr>
              <a:t>Python</a:t>
            </a:r>
            <a:r>
              <a:rPr lang="zh-CN" altLang="en-US" sz="2400" b="1" dirty="0">
                <a:latin typeface="+mn-ea"/>
                <a:cs typeface="+mn-ea"/>
              </a:rPr>
              <a:t>代码都可放在函数中。</a:t>
            </a:r>
            <a:r>
              <a:rPr lang="en-US" altLang="zh-CN" sz="2400" b="1" dirty="0">
                <a:latin typeface="+mn-ea"/>
                <a:cs typeface="+mn-ea"/>
              </a:rPr>
              <a:t>Python</a:t>
            </a:r>
            <a:r>
              <a:rPr lang="zh-CN" altLang="en-US" sz="2400" b="1" dirty="0">
                <a:latin typeface="+mn-ea"/>
                <a:cs typeface="+mn-ea"/>
              </a:rPr>
              <a:t>为函数提供了强大支持。</a:t>
            </a:r>
          </a:p>
          <a:p>
            <a:pPr algn="just" fontAlgn="auto">
              <a:lnSpc>
                <a:spcPts val="3580"/>
              </a:lnSpc>
              <a:spcBef>
                <a:spcPts val="0"/>
              </a:spcBef>
              <a:buFont typeface="Wingdings" panose="05000000000000000000" charset="0"/>
              <a:buChar char="n"/>
            </a:pPr>
            <a:r>
              <a:rPr lang="zh-CN" altLang="en-US" sz="2400" b="1" dirty="0">
                <a:solidFill>
                  <a:srgbClr val="FF0000"/>
                </a:solidFill>
                <a:latin typeface="+mn-ea"/>
                <a:cs typeface="+mn-ea"/>
              </a:rPr>
              <a:t>模块是处理某类问题的集合，模块由函数和类组成</a:t>
            </a:r>
            <a:r>
              <a:rPr lang="zh-CN" altLang="en-US" sz="2400" b="1" dirty="0">
                <a:solidFill>
                  <a:srgbClr val="7030A0"/>
                </a:solidFill>
                <a:latin typeface="+mn-ea"/>
                <a:cs typeface="+mn-ea"/>
              </a:rPr>
              <a:t>。</a:t>
            </a:r>
            <a:r>
              <a:rPr lang="zh-CN" altLang="en-US" sz="2400" b="1" dirty="0">
                <a:latin typeface="+mn-ea"/>
                <a:cs typeface="+mn-ea"/>
              </a:rPr>
              <a:t>模块和常规</a:t>
            </a:r>
            <a:r>
              <a:rPr lang="en-US" altLang="zh-CN" sz="2400" b="1" dirty="0">
                <a:latin typeface="+mn-ea"/>
                <a:cs typeface="+mn-ea"/>
              </a:rPr>
              <a:t>Python</a:t>
            </a:r>
            <a:r>
              <a:rPr lang="zh-CN" altLang="en-US" sz="2400" b="1" dirty="0">
                <a:latin typeface="+mn-ea"/>
                <a:cs typeface="+mn-ea"/>
              </a:rPr>
              <a:t>程序之间的唯一区别是用途不同：模块用于编写其他程序。故模块通常没有</a:t>
            </a:r>
            <a:r>
              <a:rPr lang="en-US" altLang="zh-CN" sz="2400" b="1" dirty="0">
                <a:latin typeface="+mn-ea"/>
                <a:cs typeface="+mn-ea"/>
              </a:rPr>
              <a:t>main</a:t>
            </a:r>
            <a:r>
              <a:rPr lang="zh-CN" altLang="en-US" sz="2400" b="1" dirty="0">
                <a:latin typeface="+mn-ea"/>
                <a:cs typeface="+mn-ea"/>
              </a:rPr>
              <a:t>函数</a:t>
            </a:r>
          </a:p>
          <a:p>
            <a:pPr algn="just">
              <a:lnSpc>
                <a:spcPts val="3580"/>
              </a:lnSpc>
              <a:spcBef>
                <a:spcPts val="0"/>
              </a:spcBef>
              <a:buFont typeface="Wingdings" panose="05000000000000000000" charset="0"/>
              <a:buChar char="n"/>
            </a:pPr>
            <a:r>
              <a:rPr lang="zh-CN" altLang="en-US" sz="2400" b="1" dirty="0">
                <a:solidFill>
                  <a:srgbClr val="FF0000"/>
                </a:solidFill>
                <a:latin typeface="+mn-ea"/>
                <a:cs typeface="+mn-ea"/>
              </a:rPr>
              <a:t>包是一个完成特定任务的工具箱</a:t>
            </a:r>
            <a:r>
              <a:rPr lang="zh-CN" altLang="en-US" sz="2400" b="1" dirty="0">
                <a:latin typeface="+mn-ea"/>
                <a:cs typeface="+mn-ea"/>
              </a:rPr>
              <a:t>，</a:t>
            </a:r>
            <a:r>
              <a:rPr lang="en-US" altLang="zh-CN" sz="2400" b="1" dirty="0">
                <a:latin typeface="+mn-ea"/>
                <a:cs typeface="+mn-ea"/>
              </a:rPr>
              <a:t>Python</a:t>
            </a:r>
            <a:r>
              <a:rPr lang="zh-CN" altLang="en-US" sz="2400" b="1" dirty="0">
                <a:latin typeface="+mn-ea"/>
                <a:cs typeface="+mn-ea"/>
              </a:rPr>
              <a:t>提供了许多有用的工具包，如字符串处理、图形用户接口、</a:t>
            </a:r>
            <a:r>
              <a:rPr lang="en-US" altLang="zh-CN" sz="2400" b="1" dirty="0">
                <a:latin typeface="+mn-ea"/>
                <a:cs typeface="+mn-ea"/>
              </a:rPr>
              <a:t>Web</a:t>
            </a:r>
            <a:r>
              <a:rPr lang="zh-CN" altLang="en-US" sz="2400" b="1" dirty="0">
                <a:latin typeface="+mn-ea"/>
                <a:cs typeface="+mn-ea"/>
              </a:rPr>
              <a:t>应用、图像处理等。使用自带的工具包，可以提高程序开发效率、减少编程复杂度，达到代码重用的效果。</a:t>
            </a:r>
            <a:r>
              <a:rPr lang="en-US" altLang="zh-CN" sz="2400" b="1" dirty="0"/>
              <a:t>Python</a:t>
            </a:r>
            <a:r>
              <a:rPr lang="zh-CN" altLang="en-US" sz="2400" b="1" dirty="0"/>
              <a:t>自带的工具包和模块安装在其安装目录的</a:t>
            </a:r>
            <a:r>
              <a:rPr lang="en-US" altLang="zh-CN" sz="2400" b="1" dirty="0"/>
              <a:t>Lib</a:t>
            </a:r>
            <a:r>
              <a:rPr lang="zh-CN" altLang="en-US" sz="2400" b="1" dirty="0"/>
              <a:t>子目录中。</a:t>
            </a:r>
          </a:p>
          <a:p>
            <a:pPr marL="0" indent="0" algn="just" fontAlgn="auto">
              <a:lnSpc>
                <a:spcPts val="3580"/>
              </a:lnSpc>
              <a:spcBef>
                <a:spcPts val="0"/>
              </a:spcBef>
              <a:buNone/>
            </a:pPr>
            <a:endParaRPr lang="zh-CN" altLang="en-US" sz="2400" b="1" dirty="0">
              <a:latin typeface="+mn-ea"/>
              <a:cs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0205369" y="189434"/>
            <a:ext cx="20180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5.1 概述</a:t>
            </a:r>
            <a:endParaRPr 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1"/>
            </p:custDataLst>
          </p:nvPr>
        </p:nvSpPr>
        <p:spPr>
          <a:xfrm>
            <a:off x="0" y="3810736"/>
            <a:ext cx="12198448" cy="3048588"/>
          </a:xfrm>
          <a:prstGeom prst="rect">
            <a:avLst/>
          </a:prstGeom>
          <a:pattFill prst="dkHorz">
            <a:fgClr>
              <a:srgbClr val="F2F2F2"/>
            </a:fgClr>
            <a:bgClr>
              <a:srgbClr val="FFFFFF"/>
            </a:bgClr>
          </a:patt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 sz="18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1677254" y="914251"/>
            <a:ext cx="8843875" cy="853503"/>
          </a:xfrm>
          <a:prstGeom prst="rect">
            <a:avLst/>
          </a:prstGeom>
          <a:solidFill>
            <a:srgbClr val="FFFFFF"/>
          </a:solidFill>
          <a:ln w="25400">
            <a:noFill/>
          </a:ln>
          <a:effectLst>
            <a:outerShdw blurRad="50800" dist="76200" dir="5400000" sx="101000" sy="101000" algn="t" rotWithShape="0">
              <a:srgbClr val="000000">
                <a:alpha val="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kumimoji="1" lang="zh-CN" altLang="en-US" sz="3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1" name="矩形 11"/>
          <p:cNvSpPr/>
          <p:nvPr>
            <p:custDataLst>
              <p:tags r:id="rId3"/>
            </p:custDataLst>
          </p:nvPr>
        </p:nvSpPr>
        <p:spPr>
          <a:xfrm>
            <a:off x="1677241" y="2194437"/>
            <a:ext cx="8843875" cy="3323590"/>
          </a:xfrm>
          <a:prstGeom prst="rect">
            <a:avLst/>
          </a:prstGeom>
          <a:solidFill>
            <a:srgbClr val="FFFFFF"/>
          </a:solidFill>
          <a:ln w="25400">
            <a:noFill/>
          </a:ln>
          <a:effectLst>
            <a:outerShdw blurRad="50800" dist="76200" dir="5400000" sx="101000" sy="101000" algn="t" rotWithShape="0">
              <a:srgbClr val="000000">
                <a:alpha val="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kumimoji="1" lang="zh-CN" altLang="en-US" sz="18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>
            <p:custDataLst>
              <p:tags r:id="rId4"/>
            </p:custDataLst>
          </p:nvPr>
        </p:nvSpPr>
        <p:spPr>
          <a:xfrm>
            <a:off x="1982200" y="1066680"/>
            <a:ext cx="8233950" cy="548639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3600" b="1" spc="3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主要内容</a:t>
            </a:r>
          </a:p>
        </p:txBody>
      </p:sp>
      <p:sp>
        <p:nvSpPr>
          <p:cNvPr id="12" name="弧形 11"/>
          <p:cNvSpPr/>
          <p:nvPr>
            <p:custDataLst>
              <p:tags r:id="rId5"/>
            </p:custDataLst>
          </p:nvPr>
        </p:nvSpPr>
        <p:spPr>
          <a:xfrm>
            <a:off x="3111500" y="2520962"/>
            <a:ext cx="727075" cy="716915"/>
          </a:xfrm>
          <a:prstGeom prst="arc">
            <a:avLst>
              <a:gd name="adj1" fmla="val 11619054"/>
              <a:gd name="adj2" fmla="val 10295063"/>
            </a:avLst>
          </a:prstGeom>
          <a:ln w="19050">
            <a:solidFill>
              <a:srgbClr val="1D6D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80"/>
          <p:cNvSpPr txBox="1"/>
          <p:nvPr>
            <p:custDataLst>
              <p:tags r:id="rId6"/>
            </p:custDataLst>
          </p:nvPr>
        </p:nvSpPr>
        <p:spPr>
          <a:xfrm>
            <a:off x="2833370" y="3355352"/>
            <a:ext cx="1371600" cy="2036922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sz="2800" b="1" spc="15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概述</a:t>
            </a:r>
          </a:p>
        </p:txBody>
      </p:sp>
      <p:sp>
        <p:nvSpPr>
          <p:cNvPr id="14" name="标题 5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3221990" y="2616212"/>
            <a:ext cx="554355" cy="509270"/>
          </a:xfrm>
          <a:prstGeom prst="rect">
            <a:avLst/>
          </a:prstGeom>
        </p:spPr>
        <p:txBody>
          <a:bodyPr vert="horz" lIns="0" tIns="0" rIns="0" bIns="0" rtlCol="0" anchor="ctr" anchorCtr="0">
            <a:normAutofit fontScale="90000"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kumimoji="0" lang="zh-CN" altLang="en-US" sz="24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indent="0" algn="ctr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en-US" altLang="zh-CN" sz="2700" b="1" dirty="0">
                <a:solidFill>
                  <a:srgbClr val="1D518C"/>
                </a:solidFill>
                <a:latin typeface="微软雅黑" panose="020B0503020204020204" pitchFamily="34" charset="-122"/>
              </a:rPr>
              <a:t>5.1</a:t>
            </a:r>
          </a:p>
        </p:txBody>
      </p:sp>
      <p:sp>
        <p:nvSpPr>
          <p:cNvPr id="15" name="菱形 14"/>
          <p:cNvSpPr/>
          <p:nvPr>
            <p:custDataLst>
              <p:tags r:id="rId8"/>
            </p:custDataLst>
          </p:nvPr>
        </p:nvSpPr>
        <p:spPr>
          <a:xfrm>
            <a:off x="2933065" y="2712097"/>
            <a:ext cx="301625" cy="301625"/>
          </a:xfrm>
          <a:prstGeom prst="diamond">
            <a:avLst/>
          </a:prstGeom>
          <a:solidFill>
            <a:srgbClr val="69A7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弧形 15"/>
          <p:cNvSpPr/>
          <p:nvPr>
            <p:custDataLst>
              <p:tags r:id="rId9"/>
            </p:custDataLst>
          </p:nvPr>
        </p:nvSpPr>
        <p:spPr>
          <a:xfrm>
            <a:off x="4790440" y="2520962"/>
            <a:ext cx="727075" cy="716915"/>
          </a:xfrm>
          <a:prstGeom prst="arc">
            <a:avLst>
              <a:gd name="adj1" fmla="val 11619054"/>
              <a:gd name="adj2" fmla="val 10295063"/>
            </a:avLst>
          </a:prstGeom>
          <a:ln w="190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80"/>
          <p:cNvSpPr txBox="1"/>
          <p:nvPr>
            <p:custDataLst>
              <p:tags r:id="rId10"/>
            </p:custDataLst>
          </p:nvPr>
        </p:nvSpPr>
        <p:spPr>
          <a:xfrm>
            <a:off x="4297680" y="3355340"/>
            <a:ext cx="1678940" cy="203708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sz="2800" b="1" spc="15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模块</a:t>
            </a:r>
          </a:p>
        </p:txBody>
      </p:sp>
      <p:sp>
        <p:nvSpPr>
          <p:cNvPr id="22" name="标题 5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4901565" y="2616212"/>
            <a:ext cx="554355" cy="509270"/>
          </a:xfrm>
          <a:prstGeom prst="rect">
            <a:avLst/>
          </a:prstGeom>
        </p:spPr>
        <p:txBody>
          <a:bodyPr vert="horz" lIns="0" tIns="0" rIns="0" bIns="0" rtlCol="0" anchor="ctr" anchorCtr="0">
            <a:normAutofit fontScale="90000"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kumimoji="0" lang="zh-CN" altLang="en-US" sz="24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indent="0" algn="ctr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en-US" altLang="zh-CN" sz="2700" b="1" dirty="0">
                <a:solidFill>
                  <a:srgbClr val="FF0000"/>
                </a:solidFill>
                <a:latin typeface="微软雅黑" panose="020B0503020204020204" pitchFamily="34" charset="-122"/>
              </a:rPr>
              <a:t>5.2</a:t>
            </a:r>
          </a:p>
        </p:txBody>
      </p:sp>
      <p:sp>
        <p:nvSpPr>
          <p:cNvPr id="23" name="菱形 22"/>
          <p:cNvSpPr/>
          <p:nvPr>
            <p:custDataLst>
              <p:tags r:id="rId12"/>
            </p:custDataLst>
          </p:nvPr>
        </p:nvSpPr>
        <p:spPr>
          <a:xfrm>
            <a:off x="4612005" y="2712097"/>
            <a:ext cx="301625" cy="301625"/>
          </a:xfrm>
          <a:prstGeom prst="diamond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弧形 23"/>
          <p:cNvSpPr/>
          <p:nvPr>
            <p:custDataLst>
              <p:tags r:id="rId13"/>
            </p:custDataLst>
          </p:nvPr>
        </p:nvSpPr>
        <p:spPr>
          <a:xfrm>
            <a:off x="6470015" y="2520962"/>
            <a:ext cx="727075" cy="716915"/>
          </a:xfrm>
          <a:prstGeom prst="arc">
            <a:avLst>
              <a:gd name="adj1" fmla="val 11619054"/>
              <a:gd name="adj2" fmla="val 10295063"/>
            </a:avLst>
          </a:prstGeom>
          <a:ln w="19050">
            <a:solidFill>
              <a:srgbClr val="1D6D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文本框 80"/>
          <p:cNvSpPr txBox="1"/>
          <p:nvPr>
            <p:custDataLst>
              <p:tags r:id="rId14"/>
            </p:custDataLst>
          </p:nvPr>
        </p:nvSpPr>
        <p:spPr>
          <a:xfrm>
            <a:off x="5976620" y="3355340"/>
            <a:ext cx="1779270" cy="203708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sz="2800" b="1" spc="15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包</a:t>
            </a:r>
          </a:p>
        </p:txBody>
      </p:sp>
      <p:sp>
        <p:nvSpPr>
          <p:cNvPr id="26" name="标题 5"/>
          <p:cNvSpPr>
            <a:spLocks noGrp="1"/>
          </p:cNvSpPr>
          <p:nvPr>
            <p:custDataLst>
              <p:tags r:id="rId15"/>
            </p:custDataLst>
          </p:nvPr>
        </p:nvSpPr>
        <p:spPr>
          <a:xfrm>
            <a:off x="6580505" y="2616212"/>
            <a:ext cx="554355" cy="509270"/>
          </a:xfrm>
          <a:prstGeom prst="rect">
            <a:avLst/>
          </a:prstGeom>
        </p:spPr>
        <p:txBody>
          <a:bodyPr vert="horz" lIns="0" tIns="0" rIns="0" bIns="0" rtlCol="0" anchor="ctr" anchorCtr="0">
            <a:normAutofit fontScale="90000"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kumimoji="0" lang="zh-CN" altLang="en-US" sz="24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indent="0" algn="ctr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en-US" altLang="zh-CN" sz="2700" b="1" dirty="0">
                <a:solidFill>
                  <a:srgbClr val="1D518C"/>
                </a:solidFill>
                <a:latin typeface="微软雅黑" panose="020B0503020204020204" pitchFamily="34" charset="-122"/>
              </a:rPr>
              <a:t>5.3</a:t>
            </a:r>
          </a:p>
        </p:txBody>
      </p:sp>
      <p:sp>
        <p:nvSpPr>
          <p:cNvPr id="27" name="菱形 26"/>
          <p:cNvSpPr/>
          <p:nvPr>
            <p:custDataLst>
              <p:tags r:id="rId16"/>
            </p:custDataLst>
          </p:nvPr>
        </p:nvSpPr>
        <p:spPr>
          <a:xfrm>
            <a:off x="6291580" y="2712097"/>
            <a:ext cx="301625" cy="301625"/>
          </a:xfrm>
          <a:prstGeom prst="diamond">
            <a:avLst/>
          </a:prstGeom>
          <a:solidFill>
            <a:srgbClr val="69A7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弧形 27"/>
          <p:cNvSpPr/>
          <p:nvPr>
            <p:custDataLst>
              <p:tags r:id="rId17"/>
            </p:custDataLst>
          </p:nvPr>
        </p:nvSpPr>
        <p:spPr>
          <a:xfrm>
            <a:off x="8148955" y="2520962"/>
            <a:ext cx="727075" cy="716915"/>
          </a:xfrm>
          <a:prstGeom prst="arc">
            <a:avLst>
              <a:gd name="adj1" fmla="val 11619054"/>
              <a:gd name="adj2" fmla="val 10295063"/>
            </a:avLst>
          </a:prstGeom>
          <a:ln w="19050">
            <a:solidFill>
              <a:srgbClr val="1D6D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80"/>
          <p:cNvSpPr txBox="1"/>
          <p:nvPr>
            <p:custDataLst>
              <p:tags r:id="rId18"/>
            </p:custDataLst>
          </p:nvPr>
        </p:nvSpPr>
        <p:spPr>
          <a:xfrm>
            <a:off x="7871460" y="3355352"/>
            <a:ext cx="1371600" cy="2036922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sz="2800" b="1" spc="15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</a:p>
        </p:txBody>
      </p:sp>
      <p:sp>
        <p:nvSpPr>
          <p:cNvPr id="30" name="标题 5"/>
          <p:cNvSpPr>
            <a:spLocks noGrp="1"/>
          </p:cNvSpPr>
          <p:nvPr>
            <p:custDataLst>
              <p:tags r:id="rId19"/>
            </p:custDataLst>
          </p:nvPr>
        </p:nvSpPr>
        <p:spPr>
          <a:xfrm>
            <a:off x="8260080" y="2616212"/>
            <a:ext cx="554355" cy="509270"/>
          </a:xfrm>
          <a:prstGeom prst="rect">
            <a:avLst/>
          </a:prstGeom>
        </p:spPr>
        <p:txBody>
          <a:bodyPr vert="horz" lIns="0" tIns="0" rIns="0" bIns="0" rtlCol="0" anchor="ctr" anchorCtr="0">
            <a:normAutofit fontScale="90000"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kumimoji="0" lang="zh-CN" altLang="en-US" sz="24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indent="0" algn="ctr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en-US" altLang="zh-CN" sz="2700" b="1" dirty="0">
                <a:solidFill>
                  <a:srgbClr val="1D518C"/>
                </a:solidFill>
                <a:latin typeface="微软雅黑" panose="020B0503020204020204" pitchFamily="34" charset="-122"/>
              </a:rPr>
              <a:t>5.4</a:t>
            </a:r>
          </a:p>
        </p:txBody>
      </p:sp>
      <p:sp>
        <p:nvSpPr>
          <p:cNvPr id="31" name="菱形 30"/>
          <p:cNvSpPr/>
          <p:nvPr>
            <p:custDataLst>
              <p:tags r:id="rId20"/>
            </p:custDataLst>
          </p:nvPr>
        </p:nvSpPr>
        <p:spPr>
          <a:xfrm>
            <a:off x="7970520" y="2712097"/>
            <a:ext cx="301625" cy="301625"/>
          </a:xfrm>
          <a:prstGeom prst="diamond">
            <a:avLst/>
          </a:prstGeom>
          <a:solidFill>
            <a:srgbClr val="69A7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0205369" y="189434"/>
            <a:ext cx="20180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5.2 模块</a:t>
            </a:r>
            <a:endParaRPr 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内容占位符 1"/>
          <p:cNvSpPr>
            <a:spLocks noGrp="1"/>
          </p:cNvSpPr>
          <p:nvPr/>
        </p:nvSpPr>
        <p:spPr>
          <a:xfrm>
            <a:off x="483079" y="909514"/>
            <a:ext cx="10945216" cy="54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/>
              <a:t>内置电池（</a:t>
            </a:r>
            <a:r>
              <a:rPr lang="en-US" altLang="zh-CN" sz="2400" dirty="0">
                <a:latin typeface="Arial Black" panose="020B0A04020102020204" pitchFamily="34" charset="0"/>
                <a:cs typeface="Arial Black" panose="020B0A04020102020204" pitchFamily="34" charset="0"/>
              </a:rPr>
              <a:t>batteries</a:t>
            </a:r>
            <a:r>
              <a:rPr lang="zh-CN" altLang="en-US" sz="2400" dirty="0">
                <a:latin typeface="Arial Black" panose="020B0A04020102020204" pitchFamily="34" charset="0"/>
                <a:cs typeface="Arial Black" panose="020B0A04020102020204" pitchFamily="34" charset="0"/>
              </a:rPr>
              <a:t> </a:t>
            </a:r>
            <a:r>
              <a:rPr lang="en-US" altLang="zh-CN" sz="2400" dirty="0">
                <a:latin typeface="Arial Black" panose="020B0A04020102020204" pitchFamily="34" charset="0"/>
                <a:cs typeface="Arial Black" panose="020B0A04020102020204" pitchFamily="34" charset="0"/>
              </a:rPr>
              <a:t>included</a:t>
            </a:r>
            <a:r>
              <a:rPr lang="zh-CN" altLang="en-US" sz="2400" dirty="0"/>
              <a:t>）</a:t>
            </a:r>
            <a:r>
              <a:rPr lang="en-US" altLang="zh-CN" sz="2000" dirty="0">
                <a:solidFill>
                  <a:srgbClr val="FF0000"/>
                </a:solidFill>
              </a:rPr>
              <a:t>(Python </a:t>
            </a:r>
            <a:r>
              <a:rPr lang="zh-CN" altLang="en-US" sz="2000" dirty="0">
                <a:solidFill>
                  <a:srgbClr val="FF0000"/>
                </a:solidFill>
              </a:rPr>
              <a:t>自带丰富多样的标准库，开箱即用，动力十足</a:t>
            </a:r>
            <a:r>
              <a:rPr lang="en-US" altLang="zh-CN" sz="2000" dirty="0">
                <a:solidFill>
                  <a:srgbClr val="FF0000"/>
                </a:solidFill>
              </a:rPr>
              <a:t>)</a:t>
            </a:r>
            <a:r>
              <a:rPr lang="zh-CN" altLang="en-US" sz="2000" dirty="0">
                <a:solidFill>
                  <a:srgbClr val="FF0000"/>
                </a:solidFill>
              </a:rPr>
              <a:t> </a:t>
            </a:r>
            <a:r>
              <a:rPr lang="en-US" altLang="zh-CN" sz="1900" dirty="0"/>
              <a:t>Python </a:t>
            </a:r>
            <a:r>
              <a:rPr lang="zh-CN" altLang="en-US" sz="1900" dirty="0"/>
              <a:t>内置了 </a:t>
            </a:r>
            <a:r>
              <a:rPr lang="en-US" altLang="zh-CN" sz="1900" dirty="0"/>
              <a:t>200 </a:t>
            </a:r>
            <a:r>
              <a:rPr lang="zh-CN" altLang="en-US" sz="1900" dirty="0"/>
              <a:t>多个标准库，包括字符处理、数据类型、数值计算、文件处理、并发执行、网络通信、多媒体服务、图形界面、调试与开发、以及操作系统专有服务等等。</a:t>
            </a:r>
            <a:br>
              <a:rPr kumimoji="1" lang="en-US" altLang="zh-CN" sz="1900" dirty="0"/>
            </a:br>
            <a:r>
              <a:rPr lang="zh-CN" altLang="en-US" sz="2400" dirty="0"/>
              <a:t>第三方工具包</a:t>
            </a:r>
            <a:endParaRPr lang="en-US" altLang="zh-CN" sz="2400" dirty="0"/>
          </a:p>
          <a:p>
            <a:pPr lvl="1">
              <a:lnSpc>
                <a:spcPct val="150000"/>
              </a:lnSpc>
            </a:pPr>
            <a:r>
              <a:rPr lang="en-US" altLang="zh-CN" sz="2000" b="1" dirty="0"/>
              <a:t>Pandas</a:t>
            </a:r>
            <a:r>
              <a:rPr lang="zh-CN" altLang="en-US" sz="2000" dirty="0"/>
              <a:t>：数据处理与分析</a:t>
            </a:r>
            <a:endParaRPr lang="en-US" altLang="zh-CN" sz="2000" dirty="0"/>
          </a:p>
          <a:p>
            <a:pPr lvl="1">
              <a:lnSpc>
                <a:spcPct val="150000"/>
              </a:lnSpc>
            </a:pPr>
            <a:r>
              <a:rPr lang="en-US" altLang="zh-CN" sz="2000" b="1" dirty="0"/>
              <a:t>Numpy</a:t>
            </a:r>
            <a:r>
              <a:rPr lang="zh-CN" altLang="en-US" sz="2000" dirty="0"/>
              <a:t>：科学计算</a:t>
            </a:r>
            <a:endParaRPr lang="en-US" altLang="zh-CN" sz="2000" dirty="0"/>
          </a:p>
          <a:p>
            <a:pPr lvl="1">
              <a:lnSpc>
                <a:spcPct val="150000"/>
              </a:lnSpc>
            </a:pPr>
            <a:r>
              <a:rPr lang="en-US" altLang="zh-CN" sz="2000" b="1" dirty="0"/>
              <a:t>BeautifulSoup4</a:t>
            </a:r>
            <a:r>
              <a:rPr lang="zh-CN" altLang="en-US" sz="2000" dirty="0"/>
              <a:t>：处理</a:t>
            </a:r>
            <a:r>
              <a:rPr lang="en-US" altLang="zh-CN" sz="2000" dirty="0"/>
              <a:t>HTML</a:t>
            </a:r>
            <a:r>
              <a:rPr lang="zh-CN" altLang="en-US" sz="2000" dirty="0"/>
              <a:t>文档</a:t>
            </a:r>
            <a:endParaRPr lang="en-US" altLang="zh-CN" sz="2000" dirty="0"/>
          </a:p>
          <a:p>
            <a:pPr lvl="1">
              <a:lnSpc>
                <a:spcPct val="150000"/>
              </a:lnSpc>
            </a:pPr>
            <a:r>
              <a:rPr lang="en-US" altLang="zh-CN" sz="2000" b="1" dirty="0" err="1"/>
              <a:t>Matplotlib</a:t>
            </a:r>
            <a:r>
              <a:rPr lang="zh-CN" altLang="en-US" sz="2000" dirty="0"/>
              <a:t>：绘图</a:t>
            </a:r>
            <a:endParaRPr lang="en-US" altLang="zh-CN" sz="2000" dirty="0"/>
          </a:p>
          <a:p>
            <a:pPr lvl="1">
              <a:lnSpc>
                <a:spcPct val="150000"/>
              </a:lnSpc>
            </a:pPr>
            <a:r>
              <a:rPr lang="en-US" altLang="zh-CN" sz="2000" b="1" dirty="0" err="1"/>
              <a:t>Scikit</a:t>
            </a:r>
            <a:r>
              <a:rPr lang="en-US" altLang="zh-CN" sz="2000" b="1" dirty="0"/>
              <a:t>-learn</a:t>
            </a:r>
            <a:r>
              <a:rPr lang="zh-CN" altLang="en-US" sz="2000" dirty="0"/>
              <a:t>：基于</a:t>
            </a:r>
            <a:r>
              <a:rPr lang="en-US" altLang="zh-CN" sz="2000" dirty="0" err="1"/>
              <a:t>SciPy</a:t>
            </a:r>
            <a:r>
              <a:rPr lang="zh-CN" altLang="en-US" sz="2000" dirty="0"/>
              <a:t>和</a:t>
            </a:r>
            <a:r>
              <a:rPr lang="en-US" altLang="zh-CN" sz="2000" dirty="0"/>
              <a:t>Numpy</a:t>
            </a:r>
            <a:r>
              <a:rPr lang="zh-CN" altLang="en-US" sz="2000" dirty="0"/>
              <a:t>的开源机器学习模块</a:t>
            </a:r>
            <a:endParaRPr lang="en-US" altLang="zh-CN" sz="2000" dirty="0"/>
          </a:p>
          <a:p>
            <a:pPr lvl="1">
              <a:lnSpc>
                <a:spcPct val="150000"/>
              </a:lnSpc>
            </a:pPr>
            <a:r>
              <a:rPr lang="en-US" altLang="zh-CN" sz="2000" b="1" dirty="0" err="1"/>
              <a:t>Tensorflow</a:t>
            </a:r>
            <a:r>
              <a:rPr lang="zh-CN" altLang="en-US" sz="2000" dirty="0"/>
              <a:t>：深度学习框架</a:t>
            </a:r>
            <a:endParaRPr lang="en-US" altLang="zh-CN" sz="2000" dirty="0"/>
          </a:p>
        </p:txBody>
      </p:sp>
    </p:spTree>
  </p:cSld>
  <p:clrMapOvr>
    <a:masterClrMapping/>
  </p:clrMapOvr>
  <p:transition spd="slow" advTm="0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417195" y="772795"/>
            <a:ext cx="4720590" cy="756285"/>
          </a:xfrm>
        </p:spPr>
        <p:txBody>
          <a:bodyPr vert="horz" wrap="square" lIns="91456" tIns="45728" rIns="91456" bIns="45728" numCol="1" anchor="b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模块</a:t>
            </a:r>
            <a:r>
              <a:rPr lang="zh-CN" altLang="en-US" sz="2800" b="1" kern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</a:t>
            </a:r>
            <a:r>
              <a:rPr lang="en-US" altLang="zh-CN" sz="2800" b="1" kern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Module</a:t>
            </a:r>
            <a:r>
              <a:rPr lang="zh-CN" altLang="en-US" sz="2800" b="1" kern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82551" y="1772661"/>
            <a:ext cx="11161240" cy="27853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ts val="4200"/>
              </a:lnSpc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在计算机程序的开发过程中，随着程序代码越写越多，在一个文件里代码就会越来越长，越来越不容易维护。</a:t>
            </a:r>
          </a:p>
          <a:p>
            <a:pPr algn="just">
              <a:lnSpc>
                <a:spcPts val="42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为了编写可维护的代码，把很多函数分组，分别放到不同的文件里，这样，每个文件包含的代码就相对较少，很多编程语言都采用这种组织代码的方式。在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中，一个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py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文件就称之为一个模块（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Module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）。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0205369" y="189434"/>
            <a:ext cx="20180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5.2 模块</a:t>
            </a:r>
            <a:endParaRPr 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417195" y="772795"/>
            <a:ext cx="4720590" cy="756285"/>
          </a:xfrm>
        </p:spPr>
        <p:txBody>
          <a:bodyPr vert="horz" wrap="square" lIns="91456" tIns="45728" rIns="91456" bIns="45728" numCol="1" anchor="b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模块（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Module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）：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98575" y="1917626"/>
            <a:ext cx="1116124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ts val="4200"/>
              </a:lnSpc>
            </a:pP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使用模块的最大的好处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是大大提高了代码的可维护性。其次，编写代码不必从零开始。当一个模块编写完毕，就可以被其他地方引用。在编写程序的时候，也经常引用其他模块，包括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内置的模块和来自第三方的模块。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0205369" y="189434"/>
            <a:ext cx="20180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5.2 模块</a:t>
            </a:r>
            <a:endParaRPr 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0205369" y="189434"/>
            <a:ext cx="20180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5.2 模块</a:t>
            </a:r>
            <a:endParaRPr 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内容占位符 1"/>
          <p:cNvSpPr>
            <a:spLocks noGrp="1"/>
          </p:cNvSpPr>
          <p:nvPr/>
        </p:nvSpPr>
        <p:spPr>
          <a:xfrm>
            <a:off x="770255" y="2694305"/>
            <a:ext cx="10945495" cy="33280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导入模块几种方式：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import 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模块名 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{as 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别名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}</a:t>
            </a:r>
            <a:endParaRPr lang="zh-CN" altLang="en-US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from 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模块名 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import 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对象名 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{as 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别名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</a:t>
            </a:r>
          </a:p>
          <a:p>
            <a:pPr marL="966470" indent="10160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from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模块名 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import *</a:t>
            </a:r>
          </a:p>
          <a:p>
            <a:pPr marL="966470" indent="10160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from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模块名 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import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指定对象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</a:t>
            </a:r>
          </a:p>
        </p:txBody>
      </p:sp>
      <p:sp>
        <p:nvSpPr>
          <p:cNvPr id="2" name="矩形 1"/>
          <p:cNvSpPr/>
          <p:nvPr/>
        </p:nvSpPr>
        <p:spPr>
          <a:xfrm>
            <a:off x="482804" y="1202621"/>
            <a:ext cx="11233248" cy="1198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逻辑上来说模块就是一组功能的组合；实质上一个模块就是一个包含了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python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定义和声明的文件，文件名就是模块名字加上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.</a:t>
            </a:r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py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的后缀。</a:t>
            </a:r>
          </a:p>
        </p:txBody>
      </p:sp>
    </p:spTree>
  </p:cSld>
  <p:clrMapOvr>
    <a:masterClrMapping/>
  </p:clrMapOvr>
  <p:transition spd="slow" advTm="0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0205369" y="189434"/>
            <a:ext cx="20180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5.2 模块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38634" y="907981"/>
            <a:ext cx="11233248" cy="7372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、自定义模块</a:t>
            </a:r>
          </a:p>
        </p:txBody>
      </p:sp>
      <p:cxnSp>
        <p:nvCxnSpPr>
          <p:cNvPr id="42" name="直接连接符 41"/>
          <p:cNvCxnSpPr/>
          <p:nvPr>
            <p:custDataLst>
              <p:tags r:id="rId1"/>
            </p:custDataLst>
          </p:nvPr>
        </p:nvCxnSpPr>
        <p:spPr>
          <a:xfrm>
            <a:off x="3464481" y="3446079"/>
            <a:ext cx="293391" cy="0"/>
          </a:xfrm>
          <a:prstGeom prst="line">
            <a:avLst/>
          </a:prstGeom>
          <a:noFill/>
          <a:ln w="6350" cap="flat" cmpd="sng" algn="ctr">
            <a:solidFill>
              <a:srgbClr val="000000">
                <a:lumMod val="20000"/>
                <a:lumOff val="80000"/>
              </a:srgbClr>
            </a:solidFill>
            <a:prstDash val="solid"/>
            <a:miter lim="800000"/>
          </a:ln>
          <a:effectLst/>
        </p:spPr>
      </p:cxnSp>
      <p:sp>
        <p:nvSpPr>
          <p:cNvPr id="3" name="椭圆 2"/>
          <p:cNvSpPr/>
          <p:nvPr>
            <p:custDataLst>
              <p:tags r:id="rId2"/>
            </p:custDataLst>
          </p:nvPr>
        </p:nvSpPr>
        <p:spPr>
          <a:xfrm>
            <a:off x="2137412" y="2822203"/>
            <a:ext cx="1296144" cy="1296144"/>
          </a:xfrm>
          <a:prstGeom prst="ellipse">
            <a:avLst/>
          </a:prstGeom>
          <a:solidFill>
            <a:sysClr val="window" lastClr="FFFFFF"/>
          </a:solidFill>
          <a:ln w="57150" cap="flat" cmpd="sng" algn="ctr">
            <a:solidFill>
              <a:srgbClr val="1F74AD"/>
            </a:solidFill>
            <a:prstDash val="solid"/>
            <a:miter lim="800000"/>
          </a:ln>
          <a:effectLst/>
        </p:spPr>
        <p:txBody>
          <a:bodyPr wrap="none" tIns="0" bIns="0" anchor="ctr">
            <a:normAutofit/>
          </a:bodyPr>
          <a:lstStyle/>
          <a:p>
            <a:pPr algn="ctr">
              <a:lnSpc>
                <a:spcPct val="130000"/>
              </a:lnSpc>
            </a:pPr>
            <a:endParaRPr lang="zh-CN" alt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1976355" y="3198120"/>
            <a:ext cx="1618615" cy="462915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 fontAlgn="auto">
              <a:lnSpc>
                <a:spcPct val="120000"/>
              </a:lnSpc>
            </a:pPr>
            <a:r>
              <a:rPr lang="en-US" altLang="zh-CN" b="1" spc="300" dirty="0">
                <a:solidFill>
                  <a:srgbClr val="000000">
                    <a:lumMod val="75000"/>
                    <a:lumOff val="25000"/>
                  </a:srgbClr>
                </a:solidFill>
                <a:uFillTx/>
                <a:latin typeface="Impact" panose="020B0806030902050204" pitchFamily="34" charset="0"/>
                <a:ea typeface="微软雅黑" panose="020B0503020204020204" pitchFamily="34" charset="-122"/>
                <a:cs typeface="Impact" panose="020B0806030902050204" pitchFamily="34" charset="0"/>
              </a:rPr>
              <a:t>CalPro</a:t>
            </a:r>
          </a:p>
        </p:txBody>
      </p:sp>
      <p:cxnSp>
        <p:nvCxnSpPr>
          <p:cNvPr id="62" name="直接连接符 61"/>
          <p:cNvCxnSpPr/>
          <p:nvPr>
            <p:custDataLst>
              <p:tags r:id="rId4"/>
            </p:custDataLst>
          </p:nvPr>
        </p:nvCxnSpPr>
        <p:spPr>
          <a:xfrm>
            <a:off x="3758035" y="3982654"/>
            <a:ext cx="655619" cy="0"/>
          </a:xfrm>
          <a:prstGeom prst="line">
            <a:avLst/>
          </a:prstGeom>
          <a:noFill/>
          <a:ln w="6350" cap="flat" cmpd="sng" algn="ctr">
            <a:solidFill>
              <a:srgbClr val="000000">
                <a:lumMod val="20000"/>
                <a:lumOff val="80000"/>
              </a:srgbClr>
            </a:solidFill>
            <a:prstDash val="solid"/>
            <a:miter lim="800000"/>
          </a:ln>
          <a:effectLst/>
        </p:spPr>
      </p:cxnSp>
      <p:cxnSp>
        <p:nvCxnSpPr>
          <p:cNvPr id="61" name="直接连接符 60"/>
          <p:cNvCxnSpPr/>
          <p:nvPr>
            <p:custDataLst>
              <p:tags r:id="rId5"/>
            </p:custDataLst>
          </p:nvPr>
        </p:nvCxnSpPr>
        <p:spPr>
          <a:xfrm>
            <a:off x="3758035" y="2993360"/>
            <a:ext cx="655619" cy="0"/>
          </a:xfrm>
          <a:prstGeom prst="line">
            <a:avLst/>
          </a:prstGeom>
          <a:noFill/>
          <a:ln w="6350" cap="flat" cmpd="sng" algn="ctr">
            <a:solidFill>
              <a:srgbClr val="000000">
                <a:lumMod val="20000"/>
                <a:lumOff val="80000"/>
              </a:srgbClr>
            </a:solidFill>
            <a:prstDash val="solid"/>
            <a:miter lim="800000"/>
          </a:ln>
          <a:effectLst/>
        </p:spPr>
      </p:cxnSp>
      <p:sp>
        <p:nvSpPr>
          <p:cNvPr id="18" name="椭圆 17"/>
          <p:cNvSpPr/>
          <p:nvPr>
            <p:custDataLst>
              <p:tags r:id="rId6"/>
            </p:custDataLst>
          </p:nvPr>
        </p:nvSpPr>
        <p:spPr>
          <a:xfrm>
            <a:off x="4141812" y="2775049"/>
            <a:ext cx="463934" cy="463934"/>
          </a:xfrm>
          <a:prstGeom prst="ellipse">
            <a:avLst/>
          </a:prstGeom>
          <a:solidFill>
            <a:srgbClr val="1F74AD"/>
          </a:solidFill>
          <a:ln w="381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anchor="ctr"/>
          <a:lstStyle/>
          <a:p>
            <a:pPr algn="ctr">
              <a:lnSpc>
                <a:spcPct val="130000"/>
              </a:lnSpc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任意多边形 18"/>
          <p:cNvSpPr/>
          <p:nvPr>
            <p:custDataLst>
              <p:tags r:id="rId7"/>
            </p:custDataLst>
          </p:nvPr>
        </p:nvSpPr>
        <p:spPr bwMode="auto">
          <a:xfrm>
            <a:off x="4237660" y="2875908"/>
            <a:ext cx="272240" cy="262216"/>
          </a:xfrm>
          <a:custGeom>
            <a:avLst/>
            <a:gdLst>
              <a:gd name="connsiteX0" fmla="*/ 297615 w 597921"/>
              <a:gd name="connsiteY0" fmla="*/ 96957 h 598324"/>
              <a:gd name="connsiteX1" fmla="*/ 323434 w 597921"/>
              <a:gd name="connsiteY1" fmla="*/ 122740 h 598324"/>
              <a:gd name="connsiteX2" fmla="*/ 323434 w 597921"/>
              <a:gd name="connsiteY2" fmla="*/ 289852 h 598324"/>
              <a:gd name="connsiteX3" fmla="*/ 462572 w 597921"/>
              <a:gd name="connsiteY3" fmla="*/ 289852 h 598324"/>
              <a:gd name="connsiteX4" fmla="*/ 487913 w 597921"/>
              <a:gd name="connsiteY4" fmla="*/ 315157 h 598324"/>
              <a:gd name="connsiteX5" fmla="*/ 462572 w 597921"/>
              <a:gd name="connsiteY5" fmla="*/ 340463 h 598324"/>
              <a:gd name="connsiteX6" fmla="*/ 297615 w 597921"/>
              <a:gd name="connsiteY6" fmla="*/ 340463 h 598324"/>
              <a:gd name="connsiteX7" fmla="*/ 272274 w 597921"/>
              <a:gd name="connsiteY7" fmla="*/ 315157 h 598324"/>
              <a:gd name="connsiteX8" fmla="*/ 272274 w 597921"/>
              <a:gd name="connsiteY8" fmla="*/ 122740 h 598324"/>
              <a:gd name="connsiteX9" fmla="*/ 297615 w 597921"/>
              <a:gd name="connsiteY9" fmla="*/ 96957 h 598324"/>
              <a:gd name="connsiteX10" fmla="*/ 298127 w 597921"/>
              <a:gd name="connsiteY10" fmla="*/ 0 h 598324"/>
              <a:gd name="connsiteX11" fmla="*/ 597921 w 597921"/>
              <a:gd name="connsiteY11" fmla="*/ 299401 h 598324"/>
              <a:gd name="connsiteX12" fmla="*/ 298127 w 597921"/>
              <a:gd name="connsiteY12" fmla="*/ 598324 h 598324"/>
              <a:gd name="connsiteX13" fmla="*/ 35150 w 597921"/>
              <a:gd name="connsiteY13" fmla="*/ 442177 h 598324"/>
              <a:gd name="connsiteX14" fmla="*/ 34194 w 597921"/>
              <a:gd name="connsiteY14" fmla="*/ 432149 h 598324"/>
              <a:gd name="connsiteX15" fmla="*/ 40410 w 597921"/>
              <a:gd name="connsiteY15" fmla="*/ 424509 h 598324"/>
              <a:gd name="connsiteX16" fmla="*/ 74836 w 597921"/>
              <a:gd name="connsiteY16" fmla="*/ 407796 h 598324"/>
              <a:gd name="connsiteX17" fmla="*/ 91571 w 597921"/>
              <a:gd name="connsiteY17" fmla="*/ 413049 h 598324"/>
              <a:gd name="connsiteX18" fmla="*/ 298127 w 597921"/>
              <a:gd name="connsiteY18" fmla="*/ 534815 h 598324"/>
              <a:gd name="connsiteX19" fmla="*/ 534328 w 597921"/>
              <a:gd name="connsiteY19" fmla="*/ 299401 h 598324"/>
              <a:gd name="connsiteX20" fmla="*/ 298127 w 597921"/>
              <a:gd name="connsiteY20" fmla="*/ 63509 h 598324"/>
              <a:gd name="connsiteX21" fmla="*/ 145123 w 597921"/>
              <a:gd name="connsiteY21" fmla="*/ 120333 h 598324"/>
              <a:gd name="connsiteX22" fmla="*/ 200587 w 597921"/>
              <a:gd name="connsiteY22" fmla="*/ 142299 h 598324"/>
              <a:gd name="connsiteX23" fmla="*/ 208237 w 597921"/>
              <a:gd name="connsiteY23" fmla="*/ 152327 h 598324"/>
              <a:gd name="connsiteX24" fmla="*/ 203456 w 597921"/>
              <a:gd name="connsiteY24" fmla="*/ 164265 h 598324"/>
              <a:gd name="connsiteX25" fmla="*/ 48060 w 597921"/>
              <a:gd name="connsiteY25" fmla="*/ 285553 h 598324"/>
              <a:gd name="connsiteX26" fmla="*/ 35150 w 597921"/>
              <a:gd name="connsiteY26" fmla="*/ 287463 h 598324"/>
              <a:gd name="connsiteX27" fmla="*/ 27500 w 597921"/>
              <a:gd name="connsiteY27" fmla="*/ 277435 h 598324"/>
              <a:gd name="connsiteX28" fmla="*/ 246 w 597921"/>
              <a:gd name="connsiteY28" fmla="*/ 82132 h 598324"/>
              <a:gd name="connsiteX29" fmla="*/ 4550 w 597921"/>
              <a:gd name="connsiteY29" fmla="*/ 70194 h 598324"/>
              <a:gd name="connsiteX30" fmla="*/ 17459 w 597921"/>
              <a:gd name="connsiteY30" fmla="*/ 68762 h 598324"/>
              <a:gd name="connsiteX31" fmla="*/ 80574 w 597921"/>
              <a:gd name="connsiteY31" fmla="*/ 94070 h 598324"/>
              <a:gd name="connsiteX32" fmla="*/ 298127 w 597921"/>
              <a:gd name="connsiteY32" fmla="*/ 0 h 5983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597921" h="598324">
                <a:moveTo>
                  <a:pt x="297615" y="96957"/>
                </a:moveTo>
                <a:cubicBezTo>
                  <a:pt x="311959" y="96957"/>
                  <a:pt x="323434" y="108416"/>
                  <a:pt x="323434" y="122740"/>
                </a:cubicBezTo>
                <a:lnTo>
                  <a:pt x="323434" y="289852"/>
                </a:lnTo>
                <a:lnTo>
                  <a:pt x="462572" y="289852"/>
                </a:lnTo>
                <a:cubicBezTo>
                  <a:pt x="476438" y="289852"/>
                  <a:pt x="487913" y="301311"/>
                  <a:pt x="487913" y="315157"/>
                </a:cubicBezTo>
                <a:cubicBezTo>
                  <a:pt x="487913" y="329004"/>
                  <a:pt x="476438" y="340463"/>
                  <a:pt x="462572" y="340463"/>
                </a:cubicBezTo>
                <a:lnTo>
                  <a:pt x="297615" y="340463"/>
                </a:lnTo>
                <a:cubicBezTo>
                  <a:pt x="283749" y="340463"/>
                  <a:pt x="272274" y="329004"/>
                  <a:pt x="272274" y="315157"/>
                </a:cubicBezTo>
                <a:lnTo>
                  <a:pt x="272274" y="122740"/>
                </a:lnTo>
                <a:cubicBezTo>
                  <a:pt x="272274" y="108416"/>
                  <a:pt x="283749" y="96957"/>
                  <a:pt x="297615" y="96957"/>
                </a:cubicBezTo>
                <a:close/>
                <a:moveTo>
                  <a:pt x="298127" y="0"/>
                </a:moveTo>
                <a:cubicBezTo>
                  <a:pt x="463564" y="0"/>
                  <a:pt x="597921" y="134181"/>
                  <a:pt x="597921" y="299401"/>
                </a:cubicBezTo>
                <a:cubicBezTo>
                  <a:pt x="597921" y="464143"/>
                  <a:pt x="463564" y="598324"/>
                  <a:pt x="298127" y="598324"/>
                </a:cubicBezTo>
                <a:cubicBezTo>
                  <a:pt x="188155" y="598324"/>
                  <a:pt x="87268" y="538635"/>
                  <a:pt x="35150" y="442177"/>
                </a:cubicBezTo>
                <a:cubicBezTo>
                  <a:pt x="33238" y="438835"/>
                  <a:pt x="32760" y="435492"/>
                  <a:pt x="34194" y="432149"/>
                </a:cubicBezTo>
                <a:cubicBezTo>
                  <a:pt x="35150" y="428807"/>
                  <a:pt x="37541" y="425942"/>
                  <a:pt x="40410" y="424509"/>
                </a:cubicBezTo>
                <a:lnTo>
                  <a:pt x="74836" y="407796"/>
                </a:lnTo>
                <a:cubicBezTo>
                  <a:pt x="81052" y="404931"/>
                  <a:pt x="88702" y="407319"/>
                  <a:pt x="91571" y="413049"/>
                </a:cubicBezTo>
                <a:cubicBezTo>
                  <a:pt x="133169" y="488018"/>
                  <a:pt x="212540" y="534815"/>
                  <a:pt x="298127" y="534815"/>
                </a:cubicBezTo>
                <a:cubicBezTo>
                  <a:pt x="428181" y="534815"/>
                  <a:pt x="534328" y="429284"/>
                  <a:pt x="534328" y="299401"/>
                </a:cubicBezTo>
                <a:cubicBezTo>
                  <a:pt x="534328" y="169517"/>
                  <a:pt x="428181" y="63509"/>
                  <a:pt x="298127" y="63509"/>
                </a:cubicBezTo>
                <a:cubicBezTo>
                  <a:pt x="242185" y="63509"/>
                  <a:pt x="187677" y="83565"/>
                  <a:pt x="145123" y="120333"/>
                </a:cubicBezTo>
                <a:lnTo>
                  <a:pt x="200587" y="142299"/>
                </a:lnTo>
                <a:cubicBezTo>
                  <a:pt x="204890" y="144209"/>
                  <a:pt x="207759" y="148029"/>
                  <a:pt x="208237" y="152327"/>
                </a:cubicBezTo>
                <a:cubicBezTo>
                  <a:pt x="208715" y="157102"/>
                  <a:pt x="207281" y="161399"/>
                  <a:pt x="203456" y="164265"/>
                </a:cubicBezTo>
                <a:lnTo>
                  <a:pt x="48060" y="285553"/>
                </a:lnTo>
                <a:cubicBezTo>
                  <a:pt x="44235" y="288418"/>
                  <a:pt x="39454" y="289373"/>
                  <a:pt x="35150" y="287463"/>
                </a:cubicBezTo>
                <a:cubicBezTo>
                  <a:pt x="31325" y="285553"/>
                  <a:pt x="27978" y="281733"/>
                  <a:pt x="27500" y="277435"/>
                </a:cubicBezTo>
                <a:lnTo>
                  <a:pt x="246" y="82132"/>
                </a:lnTo>
                <a:cubicBezTo>
                  <a:pt x="-710" y="77835"/>
                  <a:pt x="1203" y="73060"/>
                  <a:pt x="4550" y="70194"/>
                </a:cubicBezTo>
                <a:cubicBezTo>
                  <a:pt x="8375" y="67807"/>
                  <a:pt x="13156" y="66852"/>
                  <a:pt x="17459" y="68762"/>
                </a:cubicBezTo>
                <a:lnTo>
                  <a:pt x="80574" y="94070"/>
                </a:lnTo>
                <a:cubicBezTo>
                  <a:pt x="137472" y="33426"/>
                  <a:pt x="214931" y="0"/>
                  <a:pt x="298127" y="0"/>
                </a:cubicBezTo>
                <a:close/>
              </a:path>
            </a:pathLst>
          </a:custGeom>
          <a:solidFill>
            <a:sysClr val="window" lastClr="FFFFFF"/>
          </a:solidFill>
          <a:ln>
            <a:noFill/>
          </a:ln>
        </p:spPr>
        <p:txBody>
          <a:bodyPr anchor="ctr"/>
          <a:lstStyle/>
          <a:p>
            <a:pPr algn="ctr">
              <a:lnSpc>
                <a:spcPct val="130000"/>
              </a:lnSpc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25"/>
          <p:cNvSpPr txBox="1"/>
          <p:nvPr>
            <p:custDataLst>
              <p:tags r:id="rId8"/>
            </p:custDataLst>
          </p:nvPr>
        </p:nvSpPr>
        <p:spPr>
          <a:xfrm>
            <a:off x="5741592" y="2940022"/>
            <a:ext cx="2648479" cy="405755"/>
          </a:xfrm>
          <a:prstGeom prst="rect">
            <a:avLst/>
          </a:prstGeom>
          <a:noFill/>
        </p:spPr>
        <p:txBody>
          <a:bodyPr wrap="square" lIns="90000" tIns="46800" rIns="90000" bIns="46800" anchor="t">
            <a:normAutofit/>
          </a:bodyPr>
          <a:lstStyle/>
          <a:p>
            <a:pPr defTabSz="913765" fontAlgn="auto">
              <a:lnSpc>
                <a:spcPct val="120000"/>
              </a:lnSpc>
              <a:spcBef>
                <a:spcPct val="0"/>
              </a:spcBef>
              <a:defRPr/>
            </a:pPr>
            <a:r>
              <a:rPr lang="zh-CN" altLang="en-US" sz="1400" spc="150" dirty="0">
                <a:solidFill>
                  <a:srgbClr val="000000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存储计算参数</a:t>
            </a:r>
          </a:p>
        </p:txBody>
      </p:sp>
      <p:sp>
        <p:nvSpPr>
          <p:cNvPr id="7" name="文本框 6"/>
          <p:cNvSpPr txBox="1"/>
          <p:nvPr>
            <p:custDataLst>
              <p:tags r:id="rId9"/>
            </p:custDataLst>
          </p:nvPr>
        </p:nvSpPr>
        <p:spPr>
          <a:xfrm>
            <a:off x="5741670" y="2502535"/>
            <a:ext cx="4016375" cy="405765"/>
          </a:xfrm>
          <a:prstGeom prst="rect">
            <a:avLst/>
          </a:prstGeom>
          <a:noFill/>
        </p:spPr>
        <p:txBody>
          <a:bodyPr wrap="square" lIns="90000" tIns="46800" rIns="90000" bIns="0" anchor="b">
            <a:noAutofit/>
          </a:bodyPr>
          <a:lstStyle>
            <a:defPPr>
              <a:defRPr lang="zh-CN"/>
            </a:defPPr>
            <a:lvl1pPr lvl="0" defTabSz="913765">
              <a:lnSpc>
                <a:spcPct val="140000"/>
              </a:lnSpc>
              <a:spcBef>
                <a:spcPct val="0"/>
              </a:spcBef>
              <a:defRPr sz="1600" b="1">
                <a:solidFill>
                  <a:srgbClr val="1F74AD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1pPr>
          </a:lstStyle>
          <a:p>
            <a:pPr fontAlgn="auto">
              <a:lnSpc>
                <a:spcPct val="120000"/>
              </a:lnSpc>
            </a:pPr>
            <a:r>
              <a:rPr lang="zh-CN" altLang="en-US" sz="2000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模块</a:t>
            </a:r>
            <a:r>
              <a:rPr lang="en-US" altLang="zh-CN" sz="2000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000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parameters.py</a:t>
            </a:r>
          </a:p>
        </p:txBody>
      </p:sp>
      <p:cxnSp>
        <p:nvCxnSpPr>
          <p:cNvPr id="33" name="直接连接符 32"/>
          <p:cNvCxnSpPr/>
          <p:nvPr>
            <p:custDataLst>
              <p:tags r:id="rId10"/>
            </p:custDataLst>
          </p:nvPr>
        </p:nvCxnSpPr>
        <p:spPr>
          <a:xfrm>
            <a:off x="4714077" y="2993360"/>
            <a:ext cx="795131" cy="0"/>
          </a:xfrm>
          <a:prstGeom prst="line">
            <a:avLst/>
          </a:prstGeom>
          <a:noFill/>
          <a:ln w="6350" cap="flat" cmpd="sng" algn="ctr">
            <a:solidFill>
              <a:srgbClr val="000000">
                <a:lumMod val="20000"/>
                <a:lumOff val="80000"/>
              </a:srgbClr>
            </a:solidFill>
            <a:prstDash val="solid"/>
            <a:miter lim="800000"/>
          </a:ln>
          <a:effectLst/>
        </p:spPr>
      </p:cxnSp>
      <p:sp>
        <p:nvSpPr>
          <p:cNvPr id="41" name="椭圆 40"/>
          <p:cNvSpPr/>
          <p:nvPr>
            <p:custDataLst>
              <p:tags r:id="rId11"/>
            </p:custDataLst>
          </p:nvPr>
        </p:nvSpPr>
        <p:spPr>
          <a:xfrm>
            <a:off x="4155601" y="3753224"/>
            <a:ext cx="463934" cy="463934"/>
          </a:xfrm>
          <a:prstGeom prst="ellipse">
            <a:avLst/>
          </a:prstGeom>
          <a:solidFill>
            <a:srgbClr val="3498DB"/>
          </a:solidFill>
          <a:ln w="381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anchor="ctr"/>
          <a:lstStyle/>
          <a:p>
            <a:pPr algn="ctr">
              <a:lnSpc>
                <a:spcPct val="130000"/>
              </a:lnSpc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任意多边形 16"/>
          <p:cNvSpPr/>
          <p:nvPr>
            <p:custDataLst>
              <p:tags r:id="rId12"/>
            </p:custDataLst>
          </p:nvPr>
        </p:nvSpPr>
        <p:spPr bwMode="auto">
          <a:xfrm>
            <a:off x="4252916" y="3858949"/>
            <a:ext cx="272240" cy="262216"/>
          </a:xfrm>
          <a:custGeom>
            <a:avLst/>
            <a:gdLst>
              <a:gd name="T0" fmla="*/ 4096 w 6827"/>
              <a:gd name="T1" fmla="*/ 4551 h 6827"/>
              <a:gd name="T2" fmla="*/ 6258 w 6827"/>
              <a:gd name="T3" fmla="*/ 4096 h 6827"/>
              <a:gd name="T4" fmla="*/ 2348 w 6827"/>
              <a:gd name="T5" fmla="*/ 4911 h 6827"/>
              <a:gd name="T6" fmla="*/ 569 w 6827"/>
              <a:gd name="T7" fmla="*/ 4551 h 6827"/>
              <a:gd name="T8" fmla="*/ 569 w 6827"/>
              <a:gd name="T9" fmla="*/ 3982 h 6827"/>
              <a:gd name="T10" fmla="*/ 1707 w 6827"/>
              <a:gd name="T11" fmla="*/ 2503 h 6827"/>
              <a:gd name="T12" fmla="*/ 3868 w 6827"/>
              <a:gd name="T13" fmla="*/ 2731 h 6827"/>
              <a:gd name="T14" fmla="*/ 5827 w 6827"/>
              <a:gd name="T15" fmla="*/ 2004 h 6827"/>
              <a:gd name="T16" fmla="*/ 6258 w 6827"/>
              <a:gd name="T17" fmla="*/ 1820 h 6827"/>
              <a:gd name="T18" fmla="*/ 4779 w 6827"/>
              <a:gd name="T19" fmla="*/ 0 h 6827"/>
              <a:gd name="T20" fmla="*/ 2854 w 6827"/>
              <a:gd name="T21" fmla="*/ 2381 h 6827"/>
              <a:gd name="T22" fmla="*/ 1239 w 6827"/>
              <a:gd name="T23" fmla="*/ 2257 h 6827"/>
              <a:gd name="T24" fmla="*/ 569 w 6827"/>
              <a:gd name="T25" fmla="*/ 2844 h 6827"/>
              <a:gd name="T26" fmla="*/ 569 w 6827"/>
              <a:gd name="T27" fmla="*/ 2276 h 6827"/>
              <a:gd name="T28" fmla="*/ 569 w 6827"/>
              <a:gd name="T29" fmla="*/ 1707 h 6827"/>
              <a:gd name="T30" fmla="*/ 569 w 6827"/>
              <a:gd name="T31" fmla="*/ 1138 h 6827"/>
              <a:gd name="T32" fmla="*/ 569 w 6827"/>
              <a:gd name="T33" fmla="*/ 569 h 6827"/>
              <a:gd name="T34" fmla="*/ 341 w 6827"/>
              <a:gd name="T35" fmla="*/ 0 h 6827"/>
              <a:gd name="T36" fmla="*/ 114 w 6827"/>
              <a:gd name="T37" fmla="*/ 569 h 6827"/>
              <a:gd name="T38" fmla="*/ 114 w 6827"/>
              <a:gd name="T39" fmla="*/ 1138 h 6827"/>
              <a:gd name="T40" fmla="*/ 114 w 6827"/>
              <a:gd name="T41" fmla="*/ 1707 h 6827"/>
              <a:gd name="T42" fmla="*/ 114 w 6827"/>
              <a:gd name="T43" fmla="*/ 2276 h 6827"/>
              <a:gd name="T44" fmla="*/ 114 w 6827"/>
              <a:gd name="T45" fmla="*/ 2844 h 6827"/>
              <a:gd name="T46" fmla="*/ 114 w 6827"/>
              <a:gd name="T47" fmla="*/ 3413 h 6827"/>
              <a:gd name="T48" fmla="*/ 114 w 6827"/>
              <a:gd name="T49" fmla="*/ 3982 h 6827"/>
              <a:gd name="T50" fmla="*/ 114 w 6827"/>
              <a:gd name="T51" fmla="*/ 4551 h 6827"/>
              <a:gd name="T52" fmla="*/ 114 w 6827"/>
              <a:gd name="T53" fmla="*/ 5120 h 6827"/>
              <a:gd name="T54" fmla="*/ 114 w 6827"/>
              <a:gd name="T55" fmla="*/ 5689 h 6827"/>
              <a:gd name="T56" fmla="*/ 114 w 6827"/>
              <a:gd name="T57" fmla="*/ 6258 h 6827"/>
              <a:gd name="T58" fmla="*/ 683 w 6827"/>
              <a:gd name="T59" fmla="*/ 6713 h 6827"/>
              <a:gd name="T60" fmla="*/ 1252 w 6827"/>
              <a:gd name="T61" fmla="*/ 6713 h 6827"/>
              <a:gd name="T62" fmla="*/ 1820 w 6827"/>
              <a:gd name="T63" fmla="*/ 6713 h 6827"/>
              <a:gd name="T64" fmla="*/ 2389 w 6827"/>
              <a:gd name="T65" fmla="*/ 6713 h 6827"/>
              <a:gd name="T66" fmla="*/ 2958 w 6827"/>
              <a:gd name="T67" fmla="*/ 6713 h 6827"/>
              <a:gd name="T68" fmla="*/ 3527 w 6827"/>
              <a:gd name="T69" fmla="*/ 6713 h 6827"/>
              <a:gd name="T70" fmla="*/ 4096 w 6827"/>
              <a:gd name="T71" fmla="*/ 6713 h 6827"/>
              <a:gd name="T72" fmla="*/ 4665 w 6827"/>
              <a:gd name="T73" fmla="*/ 6713 h 6827"/>
              <a:gd name="T74" fmla="*/ 5234 w 6827"/>
              <a:gd name="T75" fmla="*/ 6713 h 6827"/>
              <a:gd name="T76" fmla="*/ 5803 w 6827"/>
              <a:gd name="T77" fmla="*/ 6713 h 6827"/>
              <a:gd name="T78" fmla="*/ 6371 w 6827"/>
              <a:gd name="T79" fmla="*/ 6713 h 6827"/>
              <a:gd name="T80" fmla="*/ 6827 w 6827"/>
              <a:gd name="T81" fmla="*/ 6485 h 6827"/>
              <a:gd name="T82" fmla="*/ 6371 w 6827"/>
              <a:gd name="T83" fmla="*/ 6258 h 6827"/>
              <a:gd name="T84" fmla="*/ 5803 w 6827"/>
              <a:gd name="T85" fmla="*/ 6258 h 6827"/>
              <a:gd name="T86" fmla="*/ 5234 w 6827"/>
              <a:gd name="T87" fmla="*/ 6258 h 6827"/>
              <a:gd name="T88" fmla="*/ 4665 w 6827"/>
              <a:gd name="T89" fmla="*/ 6258 h 6827"/>
              <a:gd name="T90" fmla="*/ 4096 w 6827"/>
              <a:gd name="T91" fmla="*/ 6258 h 6827"/>
              <a:gd name="T92" fmla="*/ 3527 w 6827"/>
              <a:gd name="T93" fmla="*/ 6258 h 6827"/>
              <a:gd name="T94" fmla="*/ 2958 w 6827"/>
              <a:gd name="T95" fmla="*/ 6258 h 6827"/>
              <a:gd name="T96" fmla="*/ 2389 w 6827"/>
              <a:gd name="T97" fmla="*/ 6258 h 6827"/>
              <a:gd name="T98" fmla="*/ 1820 w 6827"/>
              <a:gd name="T99" fmla="*/ 6258 h 6827"/>
              <a:gd name="T100" fmla="*/ 1252 w 6827"/>
              <a:gd name="T101" fmla="*/ 6258 h 6827"/>
              <a:gd name="T102" fmla="*/ 683 w 6827"/>
              <a:gd name="T103" fmla="*/ 6258 h 68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6827" h="6827">
                <a:moveTo>
                  <a:pt x="1263" y="5234"/>
                </a:moveTo>
                <a:cubicBezTo>
                  <a:pt x="1316" y="5493"/>
                  <a:pt x="1546" y="5689"/>
                  <a:pt x="1820" y="5689"/>
                </a:cubicBezTo>
                <a:cubicBezTo>
                  <a:pt x="2114" y="5689"/>
                  <a:pt x="2354" y="5464"/>
                  <a:pt x="2383" y="5178"/>
                </a:cubicBezTo>
                <a:lnTo>
                  <a:pt x="3568" y="4191"/>
                </a:lnTo>
                <a:cubicBezTo>
                  <a:pt x="3652" y="4401"/>
                  <a:pt x="3856" y="4551"/>
                  <a:pt x="4096" y="4551"/>
                </a:cubicBezTo>
                <a:cubicBezTo>
                  <a:pt x="4348" y="4551"/>
                  <a:pt x="4560" y="4385"/>
                  <a:pt x="4635" y="4157"/>
                </a:cubicBezTo>
                <a:lnTo>
                  <a:pt x="5696" y="4736"/>
                </a:lnTo>
                <a:cubicBezTo>
                  <a:pt x="5732" y="5016"/>
                  <a:pt x="5969" y="5234"/>
                  <a:pt x="6258" y="5234"/>
                </a:cubicBezTo>
                <a:cubicBezTo>
                  <a:pt x="6571" y="5234"/>
                  <a:pt x="6827" y="4979"/>
                  <a:pt x="6827" y="4665"/>
                </a:cubicBezTo>
                <a:cubicBezTo>
                  <a:pt x="6827" y="4351"/>
                  <a:pt x="6571" y="4096"/>
                  <a:pt x="6258" y="4096"/>
                </a:cubicBezTo>
                <a:cubicBezTo>
                  <a:pt x="6006" y="4096"/>
                  <a:pt x="5794" y="4262"/>
                  <a:pt x="5719" y="4490"/>
                </a:cubicBezTo>
                <a:lnTo>
                  <a:pt x="4658" y="3911"/>
                </a:lnTo>
                <a:cubicBezTo>
                  <a:pt x="4622" y="3631"/>
                  <a:pt x="4385" y="3413"/>
                  <a:pt x="4096" y="3413"/>
                </a:cubicBezTo>
                <a:cubicBezTo>
                  <a:pt x="3802" y="3413"/>
                  <a:pt x="3563" y="3638"/>
                  <a:pt x="3533" y="3924"/>
                </a:cubicBezTo>
                <a:lnTo>
                  <a:pt x="2348" y="4911"/>
                </a:lnTo>
                <a:cubicBezTo>
                  <a:pt x="2265" y="4701"/>
                  <a:pt x="2060" y="4551"/>
                  <a:pt x="1820" y="4551"/>
                </a:cubicBezTo>
                <a:cubicBezTo>
                  <a:pt x="1546" y="4551"/>
                  <a:pt x="1316" y="4747"/>
                  <a:pt x="1263" y="5006"/>
                </a:cubicBezTo>
                <a:lnTo>
                  <a:pt x="455" y="5006"/>
                </a:lnTo>
                <a:lnTo>
                  <a:pt x="455" y="4551"/>
                </a:lnTo>
                <a:lnTo>
                  <a:pt x="569" y="4551"/>
                </a:lnTo>
                <a:cubicBezTo>
                  <a:pt x="632" y="4551"/>
                  <a:pt x="683" y="4500"/>
                  <a:pt x="683" y="4437"/>
                </a:cubicBezTo>
                <a:cubicBezTo>
                  <a:pt x="683" y="4374"/>
                  <a:pt x="632" y="4324"/>
                  <a:pt x="569" y="4324"/>
                </a:cubicBezTo>
                <a:lnTo>
                  <a:pt x="455" y="4324"/>
                </a:lnTo>
                <a:lnTo>
                  <a:pt x="455" y="3982"/>
                </a:lnTo>
                <a:lnTo>
                  <a:pt x="569" y="3982"/>
                </a:lnTo>
                <a:cubicBezTo>
                  <a:pt x="632" y="3982"/>
                  <a:pt x="683" y="3931"/>
                  <a:pt x="683" y="3868"/>
                </a:cubicBezTo>
                <a:cubicBezTo>
                  <a:pt x="683" y="3806"/>
                  <a:pt x="632" y="3755"/>
                  <a:pt x="569" y="3755"/>
                </a:cubicBezTo>
                <a:lnTo>
                  <a:pt x="480" y="3755"/>
                </a:lnTo>
                <a:lnTo>
                  <a:pt x="1407" y="2416"/>
                </a:lnTo>
                <a:cubicBezTo>
                  <a:pt x="1494" y="2470"/>
                  <a:pt x="1596" y="2503"/>
                  <a:pt x="1707" y="2503"/>
                </a:cubicBezTo>
                <a:cubicBezTo>
                  <a:pt x="1888" y="2503"/>
                  <a:pt x="2048" y="2416"/>
                  <a:pt x="2152" y="2284"/>
                </a:cubicBezTo>
                <a:lnTo>
                  <a:pt x="2752" y="2584"/>
                </a:lnTo>
                <a:cubicBezTo>
                  <a:pt x="2740" y="2631"/>
                  <a:pt x="2731" y="2680"/>
                  <a:pt x="2731" y="2731"/>
                </a:cubicBezTo>
                <a:cubicBezTo>
                  <a:pt x="2731" y="3044"/>
                  <a:pt x="2986" y="3300"/>
                  <a:pt x="3300" y="3300"/>
                </a:cubicBezTo>
                <a:cubicBezTo>
                  <a:pt x="3613" y="3300"/>
                  <a:pt x="3868" y="3044"/>
                  <a:pt x="3868" y="2731"/>
                </a:cubicBezTo>
                <a:cubicBezTo>
                  <a:pt x="3868" y="2608"/>
                  <a:pt x="3829" y="2496"/>
                  <a:pt x="3763" y="2403"/>
                </a:cubicBezTo>
                <a:lnTo>
                  <a:pt x="4488" y="1055"/>
                </a:lnTo>
                <a:cubicBezTo>
                  <a:pt x="4574" y="1107"/>
                  <a:pt x="4672" y="1138"/>
                  <a:pt x="4779" y="1138"/>
                </a:cubicBezTo>
                <a:cubicBezTo>
                  <a:pt x="4891" y="1138"/>
                  <a:pt x="4995" y="1104"/>
                  <a:pt x="5083" y="1048"/>
                </a:cubicBezTo>
                <a:lnTo>
                  <a:pt x="5827" y="2004"/>
                </a:lnTo>
                <a:cubicBezTo>
                  <a:pt x="5829" y="2007"/>
                  <a:pt x="5833" y="2009"/>
                  <a:pt x="5836" y="2011"/>
                </a:cubicBezTo>
                <a:cubicBezTo>
                  <a:pt x="5745" y="2112"/>
                  <a:pt x="5689" y="2244"/>
                  <a:pt x="5689" y="2389"/>
                </a:cubicBezTo>
                <a:cubicBezTo>
                  <a:pt x="5689" y="2703"/>
                  <a:pt x="5944" y="2958"/>
                  <a:pt x="6258" y="2958"/>
                </a:cubicBezTo>
                <a:cubicBezTo>
                  <a:pt x="6571" y="2958"/>
                  <a:pt x="6827" y="2703"/>
                  <a:pt x="6827" y="2389"/>
                </a:cubicBezTo>
                <a:cubicBezTo>
                  <a:pt x="6827" y="2076"/>
                  <a:pt x="6571" y="1820"/>
                  <a:pt x="6258" y="1820"/>
                </a:cubicBezTo>
                <a:cubicBezTo>
                  <a:pt x="6170" y="1820"/>
                  <a:pt x="6087" y="1842"/>
                  <a:pt x="6013" y="1878"/>
                </a:cubicBezTo>
                <a:cubicBezTo>
                  <a:pt x="6010" y="1874"/>
                  <a:pt x="6010" y="1869"/>
                  <a:pt x="6006" y="1864"/>
                </a:cubicBezTo>
                <a:lnTo>
                  <a:pt x="5248" y="890"/>
                </a:lnTo>
                <a:cubicBezTo>
                  <a:pt x="5311" y="798"/>
                  <a:pt x="5348" y="688"/>
                  <a:pt x="5348" y="569"/>
                </a:cubicBezTo>
                <a:cubicBezTo>
                  <a:pt x="5348" y="255"/>
                  <a:pt x="5092" y="0"/>
                  <a:pt x="4779" y="0"/>
                </a:cubicBezTo>
                <a:cubicBezTo>
                  <a:pt x="4465" y="0"/>
                  <a:pt x="4210" y="255"/>
                  <a:pt x="4210" y="569"/>
                </a:cubicBezTo>
                <a:cubicBezTo>
                  <a:pt x="4210" y="691"/>
                  <a:pt x="4249" y="804"/>
                  <a:pt x="4315" y="897"/>
                </a:cubicBezTo>
                <a:lnTo>
                  <a:pt x="3590" y="2244"/>
                </a:lnTo>
                <a:cubicBezTo>
                  <a:pt x="3505" y="2193"/>
                  <a:pt x="3406" y="2162"/>
                  <a:pt x="3300" y="2162"/>
                </a:cubicBezTo>
                <a:cubicBezTo>
                  <a:pt x="3118" y="2162"/>
                  <a:pt x="2959" y="2248"/>
                  <a:pt x="2854" y="2381"/>
                </a:cubicBezTo>
                <a:lnTo>
                  <a:pt x="2254" y="2081"/>
                </a:lnTo>
                <a:cubicBezTo>
                  <a:pt x="2267" y="2034"/>
                  <a:pt x="2276" y="1985"/>
                  <a:pt x="2276" y="1934"/>
                </a:cubicBezTo>
                <a:cubicBezTo>
                  <a:pt x="2276" y="1621"/>
                  <a:pt x="2020" y="1365"/>
                  <a:pt x="1707" y="1365"/>
                </a:cubicBezTo>
                <a:cubicBezTo>
                  <a:pt x="1393" y="1365"/>
                  <a:pt x="1138" y="1621"/>
                  <a:pt x="1138" y="1934"/>
                </a:cubicBezTo>
                <a:cubicBezTo>
                  <a:pt x="1138" y="2054"/>
                  <a:pt x="1176" y="2166"/>
                  <a:pt x="1239" y="2257"/>
                </a:cubicBezTo>
                <a:lnTo>
                  <a:pt x="593" y="3191"/>
                </a:lnTo>
                <a:cubicBezTo>
                  <a:pt x="585" y="3189"/>
                  <a:pt x="578" y="3186"/>
                  <a:pt x="569" y="3186"/>
                </a:cubicBezTo>
                <a:lnTo>
                  <a:pt x="455" y="3186"/>
                </a:lnTo>
                <a:lnTo>
                  <a:pt x="455" y="2844"/>
                </a:lnTo>
                <a:lnTo>
                  <a:pt x="569" y="2844"/>
                </a:lnTo>
                <a:cubicBezTo>
                  <a:pt x="632" y="2844"/>
                  <a:pt x="683" y="2794"/>
                  <a:pt x="683" y="2731"/>
                </a:cubicBezTo>
                <a:cubicBezTo>
                  <a:pt x="683" y="2668"/>
                  <a:pt x="632" y="2617"/>
                  <a:pt x="569" y="2617"/>
                </a:cubicBezTo>
                <a:lnTo>
                  <a:pt x="455" y="2617"/>
                </a:lnTo>
                <a:lnTo>
                  <a:pt x="455" y="2276"/>
                </a:lnTo>
                <a:lnTo>
                  <a:pt x="569" y="2276"/>
                </a:lnTo>
                <a:cubicBezTo>
                  <a:pt x="632" y="2276"/>
                  <a:pt x="683" y="2225"/>
                  <a:pt x="683" y="2162"/>
                </a:cubicBezTo>
                <a:cubicBezTo>
                  <a:pt x="683" y="2099"/>
                  <a:pt x="632" y="2048"/>
                  <a:pt x="569" y="2048"/>
                </a:cubicBezTo>
                <a:lnTo>
                  <a:pt x="455" y="2048"/>
                </a:lnTo>
                <a:lnTo>
                  <a:pt x="455" y="1707"/>
                </a:lnTo>
                <a:lnTo>
                  <a:pt x="569" y="1707"/>
                </a:lnTo>
                <a:cubicBezTo>
                  <a:pt x="632" y="1707"/>
                  <a:pt x="683" y="1656"/>
                  <a:pt x="683" y="1593"/>
                </a:cubicBezTo>
                <a:cubicBezTo>
                  <a:pt x="683" y="1530"/>
                  <a:pt x="632" y="1479"/>
                  <a:pt x="569" y="1479"/>
                </a:cubicBezTo>
                <a:lnTo>
                  <a:pt x="455" y="1479"/>
                </a:lnTo>
                <a:lnTo>
                  <a:pt x="455" y="1138"/>
                </a:lnTo>
                <a:lnTo>
                  <a:pt x="569" y="1138"/>
                </a:lnTo>
                <a:cubicBezTo>
                  <a:pt x="632" y="1138"/>
                  <a:pt x="683" y="1087"/>
                  <a:pt x="683" y="1024"/>
                </a:cubicBezTo>
                <a:cubicBezTo>
                  <a:pt x="683" y="961"/>
                  <a:pt x="632" y="910"/>
                  <a:pt x="569" y="910"/>
                </a:cubicBezTo>
                <a:lnTo>
                  <a:pt x="455" y="910"/>
                </a:lnTo>
                <a:lnTo>
                  <a:pt x="455" y="569"/>
                </a:lnTo>
                <a:lnTo>
                  <a:pt x="569" y="569"/>
                </a:lnTo>
                <a:cubicBezTo>
                  <a:pt x="632" y="569"/>
                  <a:pt x="683" y="518"/>
                  <a:pt x="683" y="455"/>
                </a:cubicBezTo>
                <a:cubicBezTo>
                  <a:pt x="683" y="392"/>
                  <a:pt x="632" y="341"/>
                  <a:pt x="569" y="341"/>
                </a:cubicBezTo>
                <a:lnTo>
                  <a:pt x="455" y="341"/>
                </a:lnTo>
                <a:lnTo>
                  <a:pt x="455" y="114"/>
                </a:lnTo>
                <a:cubicBezTo>
                  <a:pt x="455" y="51"/>
                  <a:pt x="404" y="0"/>
                  <a:pt x="341" y="0"/>
                </a:cubicBezTo>
                <a:cubicBezTo>
                  <a:pt x="278" y="0"/>
                  <a:pt x="228" y="51"/>
                  <a:pt x="228" y="114"/>
                </a:cubicBezTo>
                <a:lnTo>
                  <a:pt x="228" y="341"/>
                </a:lnTo>
                <a:lnTo>
                  <a:pt x="114" y="341"/>
                </a:lnTo>
                <a:cubicBezTo>
                  <a:pt x="51" y="341"/>
                  <a:pt x="0" y="392"/>
                  <a:pt x="0" y="455"/>
                </a:cubicBezTo>
                <a:cubicBezTo>
                  <a:pt x="0" y="518"/>
                  <a:pt x="51" y="569"/>
                  <a:pt x="114" y="569"/>
                </a:cubicBezTo>
                <a:lnTo>
                  <a:pt x="228" y="569"/>
                </a:lnTo>
                <a:lnTo>
                  <a:pt x="228" y="910"/>
                </a:lnTo>
                <a:lnTo>
                  <a:pt x="114" y="910"/>
                </a:lnTo>
                <a:cubicBezTo>
                  <a:pt x="51" y="910"/>
                  <a:pt x="0" y="961"/>
                  <a:pt x="0" y="1024"/>
                </a:cubicBezTo>
                <a:cubicBezTo>
                  <a:pt x="0" y="1087"/>
                  <a:pt x="51" y="1138"/>
                  <a:pt x="114" y="1138"/>
                </a:cubicBezTo>
                <a:lnTo>
                  <a:pt x="228" y="1138"/>
                </a:lnTo>
                <a:lnTo>
                  <a:pt x="228" y="1479"/>
                </a:lnTo>
                <a:lnTo>
                  <a:pt x="114" y="1479"/>
                </a:lnTo>
                <a:cubicBezTo>
                  <a:pt x="51" y="1479"/>
                  <a:pt x="0" y="1530"/>
                  <a:pt x="0" y="1593"/>
                </a:cubicBezTo>
                <a:cubicBezTo>
                  <a:pt x="0" y="1656"/>
                  <a:pt x="51" y="1707"/>
                  <a:pt x="114" y="1707"/>
                </a:cubicBezTo>
                <a:lnTo>
                  <a:pt x="228" y="1707"/>
                </a:lnTo>
                <a:lnTo>
                  <a:pt x="228" y="2048"/>
                </a:lnTo>
                <a:lnTo>
                  <a:pt x="114" y="2048"/>
                </a:lnTo>
                <a:cubicBezTo>
                  <a:pt x="51" y="2048"/>
                  <a:pt x="0" y="2099"/>
                  <a:pt x="0" y="2162"/>
                </a:cubicBezTo>
                <a:cubicBezTo>
                  <a:pt x="0" y="2225"/>
                  <a:pt x="51" y="2276"/>
                  <a:pt x="114" y="2276"/>
                </a:cubicBezTo>
                <a:lnTo>
                  <a:pt x="228" y="2276"/>
                </a:lnTo>
                <a:lnTo>
                  <a:pt x="228" y="2617"/>
                </a:lnTo>
                <a:lnTo>
                  <a:pt x="114" y="2617"/>
                </a:lnTo>
                <a:cubicBezTo>
                  <a:pt x="51" y="2617"/>
                  <a:pt x="0" y="2668"/>
                  <a:pt x="0" y="2731"/>
                </a:cubicBezTo>
                <a:cubicBezTo>
                  <a:pt x="0" y="2794"/>
                  <a:pt x="51" y="2844"/>
                  <a:pt x="114" y="2844"/>
                </a:cubicBezTo>
                <a:lnTo>
                  <a:pt x="228" y="2844"/>
                </a:lnTo>
                <a:lnTo>
                  <a:pt x="228" y="3186"/>
                </a:lnTo>
                <a:lnTo>
                  <a:pt x="114" y="3186"/>
                </a:lnTo>
                <a:cubicBezTo>
                  <a:pt x="51" y="3186"/>
                  <a:pt x="0" y="3237"/>
                  <a:pt x="0" y="3300"/>
                </a:cubicBezTo>
                <a:cubicBezTo>
                  <a:pt x="0" y="3362"/>
                  <a:pt x="51" y="3413"/>
                  <a:pt x="114" y="3413"/>
                </a:cubicBezTo>
                <a:lnTo>
                  <a:pt x="228" y="3413"/>
                </a:lnTo>
                <a:lnTo>
                  <a:pt x="228" y="3755"/>
                </a:lnTo>
                <a:lnTo>
                  <a:pt x="114" y="3755"/>
                </a:lnTo>
                <a:cubicBezTo>
                  <a:pt x="51" y="3755"/>
                  <a:pt x="0" y="3806"/>
                  <a:pt x="0" y="3868"/>
                </a:cubicBezTo>
                <a:cubicBezTo>
                  <a:pt x="0" y="3931"/>
                  <a:pt x="51" y="3982"/>
                  <a:pt x="114" y="3982"/>
                </a:cubicBezTo>
                <a:lnTo>
                  <a:pt x="228" y="3982"/>
                </a:lnTo>
                <a:lnTo>
                  <a:pt x="228" y="4324"/>
                </a:lnTo>
                <a:lnTo>
                  <a:pt x="114" y="4324"/>
                </a:lnTo>
                <a:cubicBezTo>
                  <a:pt x="51" y="4324"/>
                  <a:pt x="0" y="4374"/>
                  <a:pt x="0" y="4437"/>
                </a:cubicBezTo>
                <a:cubicBezTo>
                  <a:pt x="0" y="4500"/>
                  <a:pt x="51" y="4551"/>
                  <a:pt x="114" y="4551"/>
                </a:cubicBezTo>
                <a:lnTo>
                  <a:pt x="228" y="4551"/>
                </a:lnTo>
                <a:lnTo>
                  <a:pt x="228" y="4892"/>
                </a:lnTo>
                <a:lnTo>
                  <a:pt x="114" y="4892"/>
                </a:lnTo>
                <a:cubicBezTo>
                  <a:pt x="51" y="4892"/>
                  <a:pt x="0" y="4943"/>
                  <a:pt x="0" y="5006"/>
                </a:cubicBezTo>
                <a:cubicBezTo>
                  <a:pt x="0" y="5069"/>
                  <a:pt x="51" y="5120"/>
                  <a:pt x="114" y="5120"/>
                </a:cubicBezTo>
                <a:lnTo>
                  <a:pt x="228" y="5120"/>
                </a:lnTo>
                <a:lnTo>
                  <a:pt x="228" y="5461"/>
                </a:lnTo>
                <a:lnTo>
                  <a:pt x="114" y="5461"/>
                </a:lnTo>
                <a:cubicBezTo>
                  <a:pt x="51" y="5461"/>
                  <a:pt x="0" y="5512"/>
                  <a:pt x="0" y="5575"/>
                </a:cubicBezTo>
                <a:cubicBezTo>
                  <a:pt x="0" y="5638"/>
                  <a:pt x="51" y="5689"/>
                  <a:pt x="114" y="5689"/>
                </a:cubicBezTo>
                <a:lnTo>
                  <a:pt x="228" y="5689"/>
                </a:lnTo>
                <a:lnTo>
                  <a:pt x="228" y="6030"/>
                </a:lnTo>
                <a:lnTo>
                  <a:pt x="114" y="6030"/>
                </a:lnTo>
                <a:cubicBezTo>
                  <a:pt x="51" y="6030"/>
                  <a:pt x="0" y="6081"/>
                  <a:pt x="0" y="6144"/>
                </a:cubicBezTo>
                <a:cubicBezTo>
                  <a:pt x="0" y="6207"/>
                  <a:pt x="51" y="6258"/>
                  <a:pt x="114" y="6258"/>
                </a:cubicBezTo>
                <a:lnTo>
                  <a:pt x="228" y="6258"/>
                </a:lnTo>
                <a:lnTo>
                  <a:pt x="228" y="6485"/>
                </a:lnTo>
                <a:cubicBezTo>
                  <a:pt x="228" y="6548"/>
                  <a:pt x="278" y="6599"/>
                  <a:pt x="341" y="6599"/>
                </a:cubicBezTo>
                <a:lnTo>
                  <a:pt x="683" y="6599"/>
                </a:lnTo>
                <a:lnTo>
                  <a:pt x="683" y="6713"/>
                </a:lnTo>
                <a:cubicBezTo>
                  <a:pt x="683" y="6776"/>
                  <a:pt x="734" y="6827"/>
                  <a:pt x="796" y="6827"/>
                </a:cubicBezTo>
                <a:cubicBezTo>
                  <a:pt x="859" y="6827"/>
                  <a:pt x="910" y="6776"/>
                  <a:pt x="910" y="6713"/>
                </a:cubicBezTo>
                <a:lnTo>
                  <a:pt x="910" y="6599"/>
                </a:lnTo>
                <a:lnTo>
                  <a:pt x="1252" y="6599"/>
                </a:lnTo>
                <a:lnTo>
                  <a:pt x="1252" y="6713"/>
                </a:lnTo>
                <a:cubicBezTo>
                  <a:pt x="1252" y="6776"/>
                  <a:pt x="1302" y="6827"/>
                  <a:pt x="1365" y="6827"/>
                </a:cubicBezTo>
                <a:cubicBezTo>
                  <a:pt x="1428" y="6827"/>
                  <a:pt x="1479" y="6776"/>
                  <a:pt x="1479" y="6713"/>
                </a:cubicBezTo>
                <a:lnTo>
                  <a:pt x="1479" y="6599"/>
                </a:lnTo>
                <a:lnTo>
                  <a:pt x="1820" y="6599"/>
                </a:lnTo>
                <a:lnTo>
                  <a:pt x="1820" y="6713"/>
                </a:lnTo>
                <a:cubicBezTo>
                  <a:pt x="1820" y="6776"/>
                  <a:pt x="1871" y="6827"/>
                  <a:pt x="1934" y="6827"/>
                </a:cubicBezTo>
                <a:cubicBezTo>
                  <a:pt x="1997" y="6827"/>
                  <a:pt x="2048" y="6776"/>
                  <a:pt x="2048" y="6713"/>
                </a:cubicBezTo>
                <a:lnTo>
                  <a:pt x="2048" y="6599"/>
                </a:lnTo>
                <a:lnTo>
                  <a:pt x="2389" y="6599"/>
                </a:lnTo>
                <a:lnTo>
                  <a:pt x="2389" y="6713"/>
                </a:lnTo>
                <a:cubicBezTo>
                  <a:pt x="2389" y="6776"/>
                  <a:pt x="2440" y="6827"/>
                  <a:pt x="2503" y="6827"/>
                </a:cubicBezTo>
                <a:cubicBezTo>
                  <a:pt x="2566" y="6827"/>
                  <a:pt x="2617" y="6776"/>
                  <a:pt x="2617" y="6713"/>
                </a:cubicBezTo>
                <a:lnTo>
                  <a:pt x="2617" y="6599"/>
                </a:lnTo>
                <a:lnTo>
                  <a:pt x="2958" y="6599"/>
                </a:lnTo>
                <a:lnTo>
                  <a:pt x="2958" y="6713"/>
                </a:lnTo>
                <a:cubicBezTo>
                  <a:pt x="2958" y="6776"/>
                  <a:pt x="3009" y="6827"/>
                  <a:pt x="3072" y="6827"/>
                </a:cubicBezTo>
                <a:cubicBezTo>
                  <a:pt x="3135" y="6827"/>
                  <a:pt x="3186" y="6776"/>
                  <a:pt x="3186" y="6713"/>
                </a:cubicBezTo>
                <a:lnTo>
                  <a:pt x="3186" y="6599"/>
                </a:lnTo>
                <a:lnTo>
                  <a:pt x="3527" y="6599"/>
                </a:lnTo>
                <a:lnTo>
                  <a:pt x="3527" y="6713"/>
                </a:lnTo>
                <a:cubicBezTo>
                  <a:pt x="3527" y="6776"/>
                  <a:pt x="3578" y="6827"/>
                  <a:pt x="3641" y="6827"/>
                </a:cubicBezTo>
                <a:cubicBezTo>
                  <a:pt x="3704" y="6827"/>
                  <a:pt x="3755" y="6776"/>
                  <a:pt x="3755" y="6713"/>
                </a:cubicBezTo>
                <a:lnTo>
                  <a:pt x="3755" y="6599"/>
                </a:lnTo>
                <a:lnTo>
                  <a:pt x="4096" y="6599"/>
                </a:lnTo>
                <a:lnTo>
                  <a:pt x="4096" y="6713"/>
                </a:lnTo>
                <a:cubicBezTo>
                  <a:pt x="4096" y="6776"/>
                  <a:pt x="4147" y="6827"/>
                  <a:pt x="4210" y="6827"/>
                </a:cubicBezTo>
                <a:cubicBezTo>
                  <a:pt x="4273" y="6827"/>
                  <a:pt x="4323" y="6776"/>
                  <a:pt x="4323" y="6713"/>
                </a:cubicBezTo>
                <a:lnTo>
                  <a:pt x="4323" y="6599"/>
                </a:lnTo>
                <a:lnTo>
                  <a:pt x="4665" y="6599"/>
                </a:lnTo>
                <a:lnTo>
                  <a:pt x="4665" y="6713"/>
                </a:lnTo>
                <a:cubicBezTo>
                  <a:pt x="4665" y="6776"/>
                  <a:pt x="4716" y="6827"/>
                  <a:pt x="4779" y="6827"/>
                </a:cubicBezTo>
                <a:cubicBezTo>
                  <a:pt x="4842" y="6827"/>
                  <a:pt x="4892" y="6776"/>
                  <a:pt x="4892" y="6713"/>
                </a:cubicBezTo>
                <a:lnTo>
                  <a:pt x="4892" y="6599"/>
                </a:lnTo>
                <a:lnTo>
                  <a:pt x="5234" y="6599"/>
                </a:lnTo>
                <a:lnTo>
                  <a:pt x="5234" y="6713"/>
                </a:lnTo>
                <a:cubicBezTo>
                  <a:pt x="5234" y="6776"/>
                  <a:pt x="5285" y="6827"/>
                  <a:pt x="5347" y="6827"/>
                </a:cubicBezTo>
                <a:cubicBezTo>
                  <a:pt x="5410" y="6827"/>
                  <a:pt x="5461" y="6776"/>
                  <a:pt x="5461" y="6713"/>
                </a:cubicBezTo>
                <a:lnTo>
                  <a:pt x="5461" y="6599"/>
                </a:lnTo>
                <a:lnTo>
                  <a:pt x="5803" y="6599"/>
                </a:lnTo>
                <a:lnTo>
                  <a:pt x="5803" y="6713"/>
                </a:lnTo>
                <a:cubicBezTo>
                  <a:pt x="5803" y="6776"/>
                  <a:pt x="5853" y="6827"/>
                  <a:pt x="5916" y="6827"/>
                </a:cubicBezTo>
                <a:cubicBezTo>
                  <a:pt x="5979" y="6827"/>
                  <a:pt x="6030" y="6776"/>
                  <a:pt x="6030" y="6713"/>
                </a:cubicBezTo>
                <a:lnTo>
                  <a:pt x="6030" y="6599"/>
                </a:lnTo>
                <a:lnTo>
                  <a:pt x="6371" y="6599"/>
                </a:lnTo>
                <a:lnTo>
                  <a:pt x="6371" y="6713"/>
                </a:lnTo>
                <a:cubicBezTo>
                  <a:pt x="6371" y="6776"/>
                  <a:pt x="6422" y="6827"/>
                  <a:pt x="6485" y="6827"/>
                </a:cubicBezTo>
                <a:cubicBezTo>
                  <a:pt x="6548" y="6827"/>
                  <a:pt x="6599" y="6776"/>
                  <a:pt x="6599" y="6713"/>
                </a:cubicBezTo>
                <a:lnTo>
                  <a:pt x="6599" y="6599"/>
                </a:lnTo>
                <a:lnTo>
                  <a:pt x="6713" y="6599"/>
                </a:lnTo>
                <a:cubicBezTo>
                  <a:pt x="6776" y="6599"/>
                  <a:pt x="6827" y="6548"/>
                  <a:pt x="6827" y="6485"/>
                </a:cubicBezTo>
                <a:cubicBezTo>
                  <a:pt x="6827" y="6422"/>
                  <a:pt x="6776" y="6372"/>
                  <a:pt x="6713" y="6372"/>
                </a:cubicBezTo>
                <a:lnTo>
                  <a:pt x="6599" y="6372"/>
                </a:lnTo>
                <a:lnTo>
                  <a:pt x="6599" y="6258"/>
                </a:lnTo>
                <a:cubicBezTo>
                  <a:pt x="6599" y="6195"/>
                  <a:pt x="6548" y="6144"/>
                  <a:pt x="6485" y="6144"/>
                </a:cubicBezTo>
                <a:cubicBezTo>
                  <a:pt x="6422" y="6144"/>
                  <a:pt x="6371" y="6195"/>
                  <a:pt x="6371" y="6258"/>
                </a:cubicBezTo>
                <a:lnTo>
                  <a:pt x="6371" y="6372"/>
                </a:lnTo>
                <a:lnTo>
                  <a:pt x="6030" y="6372"/>
                </a:lnTo>
                <a:lnTo>
                  <a:pt x="6030" y="6258"/>
                </a:lnTo>
                <a:cubicBezTo>
                  <a:pt x="6030" y="6195"/>
                  <a:pt x="5979" y="6144"/>
                  <a:pt x="5916" y="6144"/>
                </a:cubicBezTo>
                <a:cubicBezTo>
                  <a:pt x="5853" y="6144"/>
                  <a:pt x="5803" y="6195"/>
                  <a:pt x="5803" y="6258"/>
                </a:cubicBezTo>
                <a:lnTo>
                  <a:pt x="5803" y="6372"/>
                </a:lnTo>
                <a:lnTo>
                  <a:pt x="5461" y="6372"/>
                </a:lnTo>
                <a:lnTo>
                  <a:pt x="5461" y="6258"/>
                </a:lnTo>
                <a:cubicBezTo>
                  <a:pt x="5461" y="6195"/>
                  <a:pt x="5410" y="6144"/>
                  <a:pt x="5347" y="6144"/>
                </a:cubicBezTo>
                <a:cubicBezTo>
                  <a:pt x="5285" y="6144"/>
                  <a:pt x="5234" y="6195"/>
                  <a:pt x="5234" y="6258"/>
                </a:cubicBezTo>
                <a:lnTo>
                  <a:pt x="5234" y="6372"/>
                </a:lnTo>
                <a:lnTo>
                  <a:pt x="4892" y="6372"/>
                </a:lnTo>
                <a:lnTo>
                  <a:pt x="4892" y="6258"/>
                </a:lnTo>
                <a:cubicBezTo>
                  <a:pt x="4892" y="6195"/>
                  <a:pt x="4842" y="6144"/>
                  <a:pt x="4779" y="6144"/>
                </a:cubicBezTo>
                <a:cubicBezTo>
                  <a:pt x="4716" y="6144"/>
                  <a:pt x="4665" y="6195"/>
                  <a:pt x="4665" y="6258"/>
                </a:cubicBezTo>
                <a:lnTo>
                  <a:pt x="4665" y="6372"/>
                </a:lnTo>
                <a:lnTo>
                  <a:pt x="4323" y="6372"/>
                </a:lnTo>
                <a:lnTo>
                  <a:pt x="4323" y="6258"/>
                </a:lnTo>
                <a:cubicBezTo>
                  <a:pt x="4323" y="6195"/>
                  <a:pt x="4273" y="6144"/>
                  <a:pt x="4210" y="6144"/>
                </a:cubicBezTo>
                <a:cubicBezTo>
                  <a:pt x="4147" y="6144"/>
                  <a:pt x="4096" y="6195"/>
                  <a:pt x="4096" y="6258"/>
                </a:cubicBezTo>
                <a:lnTo>
                  <a:pt x="4096" y="6372"/>
                </a:lnTo>
                <a:lnTo>
                  <a:pt x="3755" y="6372"/>
                </a:lnTo>
                <a:lnTo>
                  <a:pt x="3755" y="6258"/>
                </a:lnTo>
                <a:cubicBezTo>
                  <a:pt x="3755" y="6195"/>
                  <a:pt x="3704" y="6144"/>
                  <a:pt x="3641" y="6144"/>
                </a:cubicBezTo>
                <a:cubicBezTo>
                  <a:pt x="3578" y="6144"/>
                  <a:pt x="3527" y="6195"/>
                  <a:pt x="3527" y="6258"/>
                </a:cubicBezTo>
                <a:lnTo>
                  <a:pt x="3527" y="6372"/>
                </a:lnTo>
                <a:lnTo>
                  <a:pt x="3186" y="6372"/>
                </a:lnTo>
                <a:lnTo>
                  <a:pt x="3186" y="6258"/>
                </a:lnTo>
                <a:cubicBezTo>
                  <a:pt x="3186" y="6195"/>
                  <a:pt x="3135" y="6144"/>
                  <a:pt x="3072" y="6144"/>
                </a:cubicBezTo>
                <a:cubicBezTo>
                  <a:pt x="3009" y="6144"/>
                  <a:pt x="2958" y="6195"/>
                  <a:pt x="2958" y="6258"/>
                </a:cubicBezTo>
                <a:lnTo>
                  <a:pt x="2958" y="6372"/>
                </a:lnTo>
                <a:lnTo>
                  <a:pt x="2617" y="6372"/>
                </a:lnTo>
                <a:lnTo>
                  <a:pt x="2617" y="6258"/>
                </a:lnTo>
                <a:cubicBezTo>
                  <a:pt x="2617" y="6195"/>
                  <a:pt x="2566" y="6144"/>
                  <a:pt x="2503" y="6144"/>
                </a:cubicBezTo>
                <a:cubicBezTo>
                  <a:pt x="2440" y="6144"/>
                  <a:pt x="2389" y="6195"/>
                  <a:pt x="2389" y="6258"/>
                </a:cubicBezTo>
                <a:lnTo>
                  <a:pt x="2389" y="6372"/>
                </a:lnTo>
                <a:lnTo>
                  <a:pt x="2048" y="6372"/>
                </a:lnTo>
                <a:lnTo>
                  <a:pt x="2048" y="6258"/>
                </a:lnTo>
                <a:cubicBezTo>
                  <a:pt x="2048" y="6195"/>
                  <a:pt x="1997" y="6144"/>
                  <a:pt x="1934" y="6144"/>
                </a:cubicBezTo>
                <a:cubicBezTo>
                  <a:pt x="1871" y="6144"/>
                  <a:pt x="1820" y="6195"/>
                  <a:pt x="1820" y="6258"/>
                </a:cubicBezTo>
                <a:lnTo>
                  <a:pt x="1820" y="6372"/>
                </a:lnTo>
                <a:lnTo>
                  <a:pt x="1479" y="6372"/>
                </a:lnTo>
                <a:lnTo>
                  <a:pt x="1479" y="6258"/>
                </a:lnTo>
                <a:cubicBezTo>
                  <a:pt x="1479" y="6195"/>
                  <a:pt x="1428" y="6144"/>
                  <a:pt x="1365" y="6144"/>
                </a:cubicBezTo>
                <a:cubicBezTo>
                  <a:pt x="1302" y="6144"/>
                  <a:pt x="1252" y="6195"/>
                  <a:pt x="1252" y="6258"/>
                </a:cubicBezTo>
                <a:lnTo>
                  <a:pt x="1252" y="6372"/>
                </a:lnTo>
                <a:lnTo>
                  <a:pt x="910" y="6372"/>
                </a:lnTo>
                <a:lnTo>
                  <a:pt x="910" y="6258"/>
                </a:lnTo>
                <a:cubicBezTo>
                  <a:pt x="910" y="6195"/>
                  <a:pt x="859" y="6144"/>
                  <a:pt x="796" y="6144"/>
                </a:cubicBezTo>
                <a:cubicBezTo>
                  <a:pt x="734" y="6144"/>
                  <a:pt x="683" y="6195"/>
                  <a:pt x="683" y="6258"/>
                </a:cubicBezTo>
                <a:lnTo>
                  <a:pt x="683" y="6372"/>
                </a:lnTo>
                <a:lnTo>
                  <a:pt x="455" y="6372"/>
                </a:lnTo>
                <a:lnTo>
                  <a:pt x="455" y="5234"/>
                </a:lnTo>
                <a:lnTo>
                  <a:pt x="1263" y="5234"/>
                </a:lnTo>
                <a:close/>
              </a:path>
            </a:pathLst>
          </a:custGeom>
          <a:solidFill>
            <a:sysClr val="window" lastClr="FFFFFF"/>
          </a:solidFill>
          <a:ln>
            <a:noFill/>
          </a:ln>
        </p:spPr>
        <p:txBody>
          <a:bodyPr anchor="ctr"/>
          <a:lstStyle/>
          <a:p>
            <a:pPr algn="ctr">
              <a:lnSpc>
                <a:spcPct val="130000"/>
              </a:lnSpc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3" name="直接连接符 42"/>
          <p:cNvCxnSpPr/>
          <p:nvPr>
            <p:custDataLst>
              <p:tags r:id="rId13"/>
            </p:custDataLst>
          </p:nvPr>
        </p:nvCxnSpPr>
        <p:spPr>
          <a:xfrm flipH="1">
            <a:off x="4711926" y="3982654"/>
            <a:ext cx="799432" cy="0"/>
          </a:xfrm>
          <a:prstGeom prst="line">
            <a:avLst/>
          </a:prstGeom>
          <a:noFill/>
          <a:ln w="6350" cap="flat" cmpd="sng" algn="ctr">
            <a:solidFill>
              <a:srgbClr val="000000">
                <a:lumMod val="20000"/>
                <a:lumOff val="80000"/>
              </a:srgbClr>
            </a:solidFill>
            <a:prstDash val="solid"/>
            <a:miter lim="800000"/>
          </a:ln>
          <a:effectLst/>
        </p:spPr>
      </p:cxnSp>
      <p:sp>
        <p:nvSpPr>
          <p:cNvPr id="54" name="文本框 53"/>
          <p:cNvSpPr txBox="1"/>
          <p:nvPr>
            <p:custDataLst>
              <p:tags r:id="rId14"/>
            </p:custDataLst>
          </p:nvPr>
        </p:nvSpPr>
        <p:spPr>
          <a:xfrm>
            <a:off x="5741592" y="3928715"/>
            <a:ext cx="2648479" cy="405755"/>
          </a:xfrm>
          <a:prstGeom prst="rect">
            <a:avLst/>
          </a:prstGeom>
          <a:noFill/>
        </p:spPr>
        <p:txBody>
          <a:bodyPr wrap="square" lIns="90000" tIns="46800" rIns="90000" bIns="46800" anchor="t">
            <a:normAutofit/>
          </a:bodyPr>
          <a:lstStyle/>
          <a:p>
            <a:pPr defTabSz="913765" fontAlgn="auto">
              <a:lnSpc>
                <a:spcPct val="120000"/>
              </a:lnSpc>
              <a:spcBef>
                <a:spcPct val="0"/>
              </a:spcBef>
              <a:defRPr/>
            </a:pPr>
            <a:r>
              <a:rPr lang="zh-CN" altLang="en-US" sz="1400" spc="150" dirty="0">
                <a:solidFill>
                  <a:srgbClr val="000000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负责计算</a:t>
            </a:r>
          </a:p>
        </p:txBody>
      </p:sp>
      <p:sp>
        <p:nvSpPr>
          <p:cNvPr id="55" name="文本框 54"/>
          <p:cNvSpPr txBox="1"/>
          <p:nvPr>
            <p:custDataLst>
              <p:tags r:id="rId15"/>
            </p:custDataLst>
          </p:nvPr>
        </p:nvSpPr>
        <p:spPr>
          <a:xfrm>
            <a:off x="5741670" y="3491865"/>
            <a:ext cx="4016375" cy="405765"/>
          </a:xfrm>
          <a:prstGeom prst="rect">
            <a:avLst/>
          </a:prstGeom>
          <a:noFill/>
        </p:spPr>
        <p:txBody>
          <a:bodyPr wrap="square" lIns="90000" tIns="46800" rIns="90000" bIns="0" anchor="b">
            <a:noAutofit/>
          </a:bodyPr>
          <a:lstStyle>
            <a:defPPr>
              <a:defRPr lang="zh-CN"/>
            </a:defPPr>
            <a:lvl1pPr lvl="0" defTabSz="913765">
              <a:lnSpc>
                <a:spcPct val="140000"/>
              </a:lnSpc>
              <a:spcBef>
                <a:spcPct val="0"/>
              </a:spcBef>
              <a:defRPr sz="1600" b="1">
                <a:solidFill>
                  <a:srgbClr val="1F74AD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1pPr>
          </a:lstStyle>
          <a:p>
            <a:pPr fontAlgn="auto">
              <a:lnSpc>
                <a:spcPct val="120000"/>
              </a:lnSpc>
            </a:pPr>
            <a:r>
              <a:rPr lang="zh-CN" altLang="en-US" sz="2000" spc="300" dirty="0">
                <a:solidFill>
                  <a:srgbClr val="3498D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模块</a:t>
            </a:r>
            <a:r>
              <a:rPr lang="en-US" altLang="zh-CN" sz="2000" spc="300" dirty="0">
                <a:solidFill>
                  <a:srgbClr val="3498D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spc="300" dirty="0">
                <a:solidFill>
                  <a:srgbClr val="3498D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000" spc="300" dirty="0">
                <a:solidFill>
                  <a:srgbClr val="3498D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calculate.py</a:t>
            </a:r>
          </a:p>
        </p:txBody>
      </p:sp>
      <p:cxnSp>
        <p:nvCxnSpPr>
          <p:cNvPr id="12" name="直接连接符 11"/>
          <p:cNvCxnSpPr/>
          <p:nvPr>
            <p:custDataLst>
              <p:tags r:id="rId16"/>
            </p:custDataLst>
          </p:nvPr>
        </p:nvCxnSpPr>
        <p:spPr>
          <a:xfrm>
            <a:off x="3757872" y="3003373"/>
            <a:ext cx="0" cy="979281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</p:cxnSp>
      <p:sp>
        <p:nvSpPr>
          <p:cNvPr id="9" name="文本框 8"/>
          <p:cNvSpPr txBox="1"/>
          <p:nvPr/>
        </p:nvSpPr>
        <p:spPr>
          <a:xfrm>
            <a:off x="812165" y="1869440"/>
            <a:ext cx="170688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案例背景：</a:t>
            </a:r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812165" y="4737100"/>
            <a:ext cx="6745605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模块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负责计算圆形面积，需要调用模块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的参数</a:t>
            </a:r>
          </a:p>
        </p:txBody>
      </p:sp>
    </p:spTree>
  </p:cSld>
  <p:clrMapOvr>
    <a:masterClrMapping/>
  </p:clrMapOvr>
  <p:transition spd="slow" advTm="0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0205369" y="189434"/>
            <a:ext cx="20180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5.2 模块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38634" y="907981"/>
            <a:ext cx="11233248" cy="7372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、自定义模块</a:t>
            </a:r>
          </a:p>
        </p:txBody>
      </p:sp>
      <p:grpSp>
        <p:nvGrpSpPr>
          <p:cNvPr id="14" name="组合 13"/>
          <p:cNvGrpSpPr/>
          <p:nvPr/>
        </p:nvGrpSpPr>
        <p:grpSpPr>
          <a:xfrm>
            <a:off x="800100" y="1949450"/>
            <a:ext cx="4820920" cy="3072130"/>
            <a:chOff x="1260" y="3070"/>
            <a:chExt cx="7356" cy="4838"/>
          </a:xfrm>
        </p:grpSpPr>
        <p:sp>
          <p:nvSpPr>
            <p:cNvPr id="4" name="文本框 3"/>
            <p:cNvSpPr txBox="1"/>
            <p:nvPr/>
          </p:nvSpPr>
          <p:spPr>
            <a:xfrm>
              <a:off x="1260" y="4275"/>
              <a:ext cx="7356" cy="363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 anchor="t">
              <a:spAutoFit/>
            </a:bodyPr>
            <a:lstStyle/>
            <a:p>
              <a:r>
                <a:rPr lang="zh-CN" altLang="en-US" b="1">
                  <a:solidFill>
                    <a:schemeClr val="tx1"/>
                  </a:solidFill>
                  <a:latin typeface="Tahoma" panose="020B0604030504040204" pitchFamily="34" charset="0"/>
                  <a:cs typeface="Tahoma" panose="020B0604030504040204" pitchFamily="34" charset="0"/>
                </a:rPr>
                <a:t>PI = 3.1415926</a:t>
              </a:r>
            </a:p>
            <a:p>
              <a:endParaRPr lang="zh-CN" altLang="en-US" b="1">
                <a:solidFill>
                  <a:schemeClr val="tx1"/>
                </a:solidFill>
                <a:latin typeface="Tahoma" panose="020B0604030504040204" pitchFamily="34" charset="0"/>
                <a:cs typeface="Tahoma" panose="020B0604030504040204" pitchFamily="34" charset="0"/>
              </a:endParaRPr>
            </a:p>
            <a:p>
              <a:r>
                <a:rPr lang="zh-CN" altLang="en-US" b="1">
                  <a:solidFill>
                    <a:schemeClr val="tx1"/>
                  </a:solidFill>
                  <a:latin typeface="Tahoma" panose="020B0604030504040204" pitchFamily="34" charset="0"/>
                  <a:cs typeface="Tahoma" panose="020B0604030504040204" pitchFamily="34" charset="0"/>
                </a:rPr>
                <a:t>def paraTest():  </a:t>
              </a:r>
              <a:r>
                <a:rPr lang="zh-CN" altLang="en-US" b="1">
                  <a:solidFill>
                    <a:schemeClr val="tx1"/>
                  </a:solidFill>
                  <a:latin typeface="Tahoma" panose="020B0604030504040204" pitchFamily="34" charset="0"/>
                  <a:ea typeface="楷体" panose="02010609060101010101" pitchFamily="49" charset="-122"/>
                  <a:cs typeface="Tahoma" panose="020B0604030504040204" pitchFamily="34" charset="0"/>
                </a:rPr>
                <a:t>#定义测试函数</a:t>
              </a:r>
            </a:p>
            <a:p>
              <a:r>
                <a:rPr lang="zh-CN" altLang="en-US" b="1">
                  <a:solidFill>
                    <a:schemeClr val="tx1"/>
                  </a:solidFill>
                  <a:latin typeface="Tahoma" panose="020B0604030504040204" pitchFamily="34" charset="0"/>
                  <a:cs typeface="Tahoma" panose="020B0604030504040204" pitchFamily="34" charset="0"/>
                </a:rPr>
                <a:t>    print("PI = ", PI)</a:t>
              </a:r>
            </a:p>
            <a:p>
              <a:endParaRPr lang="zh-CN" altLang="en-US" b="1">
                <a:solidFill>
                  <a:schemeClr val="tx1"/>
                </a:solidFill>
                <a:latin typeface="Tahoma" panose="020B0604030504040204" pitchFamily="34" charset="0"/>
                <a:cs typeface="Tahoma" panose="020B0604030504040204" pitchFamily="34" charset="0"/>
              </a:endParaRPr>
            </a:p>
            <a:p>
              <a:r>
                <a:rPr lang="en-US" altLang="zh-CN" b="1">
                  <a:solidFill>
                    <a:schemeClr val="tx1"/>
                  </a:solidFill>
                  <a:latin typeface="Tahoma" panose="020B0604030504040204" pitchFamily="34" charset="0"/>
                  <a:cs typeface="Tahoma" panose="020B0604030504040204" pitchFamily="34" charset="0"/>
                </a:rPr>
                <a:t>paraTest()</a:t>
              </a: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1260" y="3070"/>
              <a:ext cx="6159" cy="725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zh-CN" altLang="en-US" b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参数模块parameters.py：</a:t>
              </a: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6031865" y="1092200"/>
            <a:ext cx="5753735" cy="4707255"/>
            <a:chOff x="10123" y="3174"/>
            <a:chExt cx="9061" cy="7413"/>
          </a:xfrm>
        </p:grpSpPr>
        <p:sp>
          <p:nvSpPr>
            <p:cNvPr id="11" name="文本框 10"/>
            <p:cNvSpPr txBox="1"/>
            <p:nvPr/>
          </p:nvSpPr>
          <p:spPr>
            <a:xfrm>
              <a:off x="10681" y="3174"/>
              <a:ext cx="5541" cy="725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zh-CN" altLang="en-US" b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计算模块</a:t>
              </a:r>
              <a:r>
                <a:rPr lang="en-US" altLang="zh-CN" b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calculate</a:t>
              </a:r>
              <a:r>
                <a:rPr lang="zh-CN" altLang="en-US" b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.py：</a:t>
              </a: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10123" y="4045"/>
              <a:ext cx="9061" cy="6542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 anchor="t">
              <a:spAutoFit/>
            </a:bodyPr>
            <a:lstStyle/>
            <a:p>
              <a:r>
                <a:rPr lang="zh-CN" altLang="en-US" b="1">
                  <a:solidFill>
                    <a:srgbClr val="FF0000"/>
                  </a:solidFill>
                  <a:latin typeface="Tahoma" panose="020B0604030504040204" pitchFamily="34" charset="0"/>
                  <a:cs typeface="Tahoma" panose="020B0604030504040204" pitchFamily="34" charset="0"/>
                </a:rPr>
                <a:t>from parameters import PI</a:t>
              </a:r>
            </a:p>
            <a:p>
              <a:endParaRPr lang="zh-CN" altLang="en-US" b="1">
                <a:solidFill>
                  <a:schemeClr val="tx1"/>
                </a:solidFill>
                <a:latin typeface="Tahoma" panose="020B0604030504040204" pitchFamily="34" charset="0"/>
                <a:cs typeface="Tahoma" panose="020B0604030504040204" pitchFamily="34" charset="0"/>
              </a:endParaRPr>
            </a:p>
            <a:p>
              <a:r>
                <a:rPr lang="zh-CN" altLang="en-US" b="1">
                  <a:solidFill>
                    <a:schemeClr val="tx1"/>
                  </a:solidFill>
                  <a:latin typeface="Tahoma" panose="020B0604030504040204" pitchFamily="34" charset="0"/>
                  <a:cs typeface="Tahoma" panose="020B0604030504040204" pitchFamily="34" charset="0"/>
                </a:rPr>
                <a:t>def calc_round_area(radius):                    </a:t>
              </a:r>
              <a:r>
                <a:rPr lang="zh-CN" altLang="en-US" b="1">
                  <a:solidFill>
                    <a:schemeClr val="tx1"/>
                  </a:solidFill>
                  <a:latin typeface="Tahoma" panose="020B0604030504040204" pitchFamily="34" charset="0"/>
                  <a:ea typeface="楷体" panose="02010609060101010101" pitchFamily="49" charset="-122"/>
                  <a:cs typeface="Tahoma" panose="020B0604030504040204" pitchFamily="34" charset="0"/>
                </a:rPr>
                <a:t>#定义圆形面积求解函数</a:t>
              </a:r>
              <a:endParaRPr lang="zh-CN" altLang="en-US" b="1">
                <a:solidFill>
                  <a:schemeClr val="tx1"/>
                </a:solidFill>
                <a:latin typeface="Tahoma" panose="020B0604030504040204" pitchFamily="34" charset="0"/>
                <a:cs typeface="Tahoma" panose="020B0604030504040204" pitchFamily="34" charset="0"/>
              </a:endParaRPr>
            </a:p>
            <a:p>
              <a:r>
                <a:rPr lang="zh-CN" altLang="en-US" b="1">
                  <a:solidFill>
                    <a:schemeClr val="tx1"/>
                  </a:solidFill>
                  <a:latin typeface="Tahoma" panose="020B0604030504040204" pitchFamily="34" charset="0"/>
                  <a:cs typeface="Tahoma" panose="020B0604030504040204" pitchFamily="34" charset="0"/>
                </a:rPr>
                <a:t>    return PI * (radius ** 2)</a:t>
              </a:r>
            </a:p>
            <a:p>
              <a:endParaRPr lang="zh-CN" altLang="en-US" b="1">
                <a:solidFill>
                  <a:schemeClr val="tx1"/>
                </a:solidFill>
                <a:latin typeface="Tahoma" panose="020B0604030504040204" pitchFamily="34" charset="0"/>
                <a:cs typeface="Tahoma" panose="020B0604030504040204" pitchFamily="34" charset="0"/>
              </a:endParaRPr>
            </a:p>
            <a:p>
              <a:r>
                <a:rPr lang="zh-CN" altLang="en-US" b="1">
                  <a:solidFill>
                    <a:schemeClr val="tx1"/>
                  </a:solidFill>
                  <a:latin typeface="Tahoma" panose="020B0604030504040204" pitchFamily="34" charset="0"/>
                  <a:cs typeface="Tahoma" panose="020B0604030504040204" pitchFamily="34" charset="0"/>
                </a:rPr>
                <a:t>def run():</a:t>
              </a:r>
            </a:p>
            <a:p>
              <a:r>
                <a:rPr lang="zh-CN" altLang="en-US" b="1">
                  <a:solidFill>
                    <a:schemeClr val="tx1"/>
                  </a:solidFill>
                  <a:latin typeface="Tahoma" panose="020B0604030504040204" pitchFamily="34" charset="0"/>
                  <a:cs typeface="Tahoma" panose="020B0604030504040204" pitchFamily="34" charset="0"/>
                </a:rPr>
                <a:t>    </a:t>
              </a:r>
              <a:r>
                <a:rPr lang="en-US" altLang="zh-CN" b="1">
                  <a:solidFill>
                    <a:schemeClr val="tx1"/>
                  </a:solidFill>
                  <a:latin typeface="Tahoma" panose="020B0604030504040204" pitchFamily="34" charset="0"/>
                  <a:cs typeface="Tahoma" panose="020B0604030504040204" pitchFamily="34" charset="0"/>
                </a:rPr>
                <a:t>Area = </a:t>
              </a:r>
              <a:r>
                <a:rPr lang="zh-CN" altLang="en-US" b="1">
                  <a:solidFill>
                    <a:schemeClr val="tx1"/>
                  </a:solidFill>
                  <a:latin typeface="Tahoma" panose="020B0604030504040204" pitchFamily="34" charset="0"/>
                  <a:cs typeface="Tahoma" panose="020B0604030504040204" pitchFamily="34" charset="0"/>
                  <a:sym typeface="+mn-ea"/>
                </a:rPr>
                <a:t>calc_round_area( 5 ))</a:t>
              </a:r>
              <a:endParaRPr lang="zh-CN" altLang="en-US" b="1">
                <a:solidFill>
                  <a:schemeClr val="tx1"/>
                </a:solidFill>
                <a:latin typeface="Tahoma" panose="020B0604030504040204" pitchFamily="34" charset="0"/>
                <a:cs typeface="Tahoma" panose="020B0604030504040204" pitchFamily="34" charset="0"/>
              </a:endParaRPr>
            </a:p>
            <a:p>
              <a:r>
                <a:rPr lang="zh-CN" altLang="en-US" b="1">
                  <a:solidFill>
                    <a:schemeClr val="tx1"/>
                  </a:solidFill>
                  <a:latin typeface="Tahoma" panose="020B0604030504040204" pitchFamily="34" charset="0"/>
                  <a:cs typeface="Tahoma" panose="020B0604030504040204" pitchFamily="34" charset="0"/>
                </a:rPr>
                <a:t>    print("</a:t>
              </a:r>
              <a:r>
                <a:rPr lang="zh-CN" altLang="en-US" b="1">
                  <a:solidFill>
                    <a:schemeClr val="tx1"/>
                  </a:solidFill>
                  <a:latin typeface="Tahoma" panose="020B0604030504040204" pitchFamily="34" charset="0"/>
                  <a:ea typeface="楷体" panose="02010609060101010101" pitchFamily="49" charset="-122"/>
                  <a:cs typeface="Tahoma" panose="020B0604030504040204" pitchFamily="34" charset="0"/>
                </a:rPr>
                <a:t>面积:</a:t>
              </a:r>
              <a:r>
                <a:rPr lang="zh-CN" altLang="en-US" b="1">
                  <a:solidFill>
                    <a:schemeClr val="tx1"/>
                  </a:solidFill>
                  <a:latin typeface="Tahoma" panose="020B0604030504040204" pitchFamily="34" charset="0"/>
                  <a:cs typeface="Tahoma" panose="020B0604030504040204" pitchFamily="34" charset="0"/>
                </a:rPr>
                <a:t> ",</a:t>
              </a:r>
              <a:r>
                <a:rPr lang="en-US" altLang="zh-CN" b="1">
                  <a:solidFill>
                    <a:schemeClr val="tx1"/>
                  </a:solidFill>
                  <a:latin typeface="Tahoma" panose="020B0604030504040204" pitchFamily="34" charset="0"/>
                  <a:cs typeface="Tahoma" panose="020B0604030504040204" pitchFamily="34" charset="0"/>
                </a:rPr>
                <a:t>Area</a:t>
              </a:r>
              <a:r>
                <a:rPr lang="zh-CN" altLang="en-US" b="1">
                  <a:solidFill>
                    <a:schemeClr val="tx1"/>
                  </a:solidFill>
                  <a:latin typeface="Tahoma" panose="020B0604030504040204" pitchFamily="34" charset="0"/>
                  <a:cs typeface="Tahoma" panose="020B0604030504040204" pitchFamily="34" charset="0"/>
                </a:rPr>
                <a:t>) </a:t>
              </a:r>
              <a:r>
                <a:rPr lang="zh-CN" altLang="en-US" b="1">
                  <a:solidFill>
                    <a:schemeClr val="tx1"/>
                  </a:solidFill>
                  <a:latin typeface="Tahoma" panose="020B0604030504040204" pitchFamily="34" charset="0"/>
                  <a:ea typeface="楷体" panose="02010609060101010101" pitchFamily="49" charset="-122"/>
                  <a:cs typeface="Tahoma" panose="020B0604030504040204" pitchFamily="34" charset="0"/>
                </a:rPr>
                <a:t>#调用求解函数</a:t>
              </a:r>
            </a:p>
            <a:p>
              <a:endParaRPr lang="zh-CN" altLang="en-US" b="1">
                <a:solidFill>
                  <a:schemeClr val="tx1"/>
                </a:solidFill>
                <a:latin typeface="Tahoma" panose="020B0604030504040204" pitchFamily="34" charset="0"/>
                <a:cs typeface="Tahoma" panose="020B0604030504040204" pitchFamily="34" charset="0"/>
              </a:endParaRPr>
            </a:p>
            <a:p>
              <a:r>
                <a:rPr lang="zh-CN" altLang="en-US" b="1">
                  <a:solidFill>
                    <a:schemeClr val="tx1"/>
                  </a:solidFill>
                  <a:latin typeface="Tahoma" panose="020B0604030504040204" pitchFamily="34" charset="0"/>
                  <a:cs typeface="Tahoma" panose="020B0604030504040204" pitchFamily="34" charset="0"/>
                </a:rPr>
                <a:t>run()</a:t>
              </a:r>
            </a:p>
          </p:txBody>
        </p:sp>
      </p:grpSp>
      <p:sp>
        <p:nvSpPr>
          <p:cNvPr id="16" name="文本框 15"/>
          <p:cNvSpPr txBox="1"/>
          <p:nvPr/>
        </p:nvSpPr>
        <p:spPr>
          <a:xfrm>
            <a:off x="396240" y="5480050"/>
            <a:ext cx="5417820" cy="82994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zh-CN" altLang="en-US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parameters.py必须要和</a:t>
            </a:r>
            <a:r>
              <a:rPr lang="en-US" altLang="zh-CN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calculate</a:t>
            </a:r>
            <a:r>
              <a:rPr lang="zh-CN" altLang="en-US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.py</a:t>
            </a:r>
          </a:p>
          <a:p>
            <a:pPr algn="l"/>
            <a:r>
              <a:rPr lang="en-US" altLang="zh-CN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保存在同一目录下。</a:t>
            </a:r>
          </a:p>
        </p:txBody>
      </p:sp>
      <p:sp>
        <p:nvSpPr>
          <p:cNvPr id="20" name="圆角矩形标注 19"/>
          <p:cNvSpPr/>
          <p:nvPr/>
        </p:nvSpPr>
        <p:spPr>
          <a:xfrm>
            <a:off x="8115300" y="5229860"/>
            <a:ext cx="2880360" cy="1080135"/>
          </a:xfrm>
          <a:prstGeom prst="wedgeRoundRectCallout">
            <a:avLst>
              <a:gd name="adj1" fmla="val -78240"/>
              <a:gd name="adj2" fmla="val -21075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zh-CN" b="1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PI=3.1415926</a:t>
            </a:r>
          </a:p>
          <a:p>
            <a:pPr algn="l"/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面积：</a:t>
            </a: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78.539815</a:t>
            </a:r>
          </a:p>
        </p:txBody>
      </p:sp>
    </p:spTree>
  </p:cSld>
  <p:clrMapOvr>
    <a:masterClrMapping/>
  </p:clrMapOvr>
  <p:transition spd="slow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6" grpId="1"/>
      <p:bldP spid="20" grpId="0" animBg="1"/>
      <p:bldP spid="20" grpId="1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0205369" y="189434"/>
            <a:ext cx="20180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5.2 模块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38634" y="907981"/>
            <a:ext cx="11233248" cy="7372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、自定义模块</a:t>
            </a:r>
          </a:p>
        </p:txBody>
      </p:sp>
      <p:grpSp>
        <p:nvGrpSpPr>
          <p:cNvPr id="14" name="组合 13"/>
          <p:cNvGrpSpPr/>
          <p:nvPr/>
        </p:nvGrpSpPr>
        <p:grpSpPr>
          <a:xfrm>
            <a:off x="818515" y="1960245"/>
            <a:ext cx="4801235" cy="3441700"/>
            <a:chOff x="1260" y="3070"/>
            <a:chExt cx="7561" cy="5420"/>
          </a:xfrm>
        </p:grpSpPr>
        <p:sp>
          <p:nvSpPr>
            <p:cNvPr id="4" name="文本框 3"/>
            <p:cNvSpPr txBox="1"/>
            <p:nvPr/>
          </p:nvSpPr>
          <p:spPr>
            <a:xfrm>
              <a:off x="1260" y="4275"/>
              <a:ext cx="7561" cy="4215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 anchor="t">
              <a:spAutoFit/>
            </a:bodyPr>
            <a:lstStyle/>
            <a:p>
              <a:r>
                <a:rPr lang="zh-CN" altLang="en-US" b="1">
                  <a:solidFill>
                    <a:schemeClr val="tx1"/>
                  </a:solidFill>
                  <a:latin typeface="Tahoma" panose="020B0604030504040204" pitchFamily="34" charset="0"/>
                  <a:cs typeface="Tahoma" panose="020B0604030504040204" pitchFamily="34" charset="0"/>
                </a:rPr>
                <a:t>PI = 3.1415926</a:t>
              </a:r>
            </a:p>
            <a:p>
              <a:endParaRPr lang="zh-CN" altLang="en-US" b="1">
                <a:solidFill>
                  <a:schemeClr val="tx1"/>
                </a:solidFill>
                <a:latin typeface="Tahoma" panose="020B0604030504040204" pitchFamily="34" charset="0"/>
                <a:cs typeface="Tahoma" panose="020B0604030504040204" pitchFamily="34" charset="0"/>
              </a:endParaRPr>
            </a:p>
            <a:p>
              <a:r>
                <a:rPr lang="zh-CN" altLang="en-US" b="1">
                  <a:solidFill>
                    <a:schemeClr val="tx1"/>
                  </a:solidFill>
                  <a:latin typeface="Tahoma" panose="020B0604030504040204" pitchFamily="34" charset="0"/>
                  <a:cs typeface="Tahoma" panose="020B0604030504040204" pitchFamily="34" charset="0"/>
                </a:rPr>
                <a:t>def paraTest():  </a:t>
              </a:r>
              <a:r>
                <a:rPr lang="zh-CN" altLang="en-US" b="1">
                  <a:solidFill>
                    <a:schemeClr val="tx1"/>
                  </a:solidFill>
                  <a:latin typeface="Tahoma" panose="020B0604030504040204" pitchFamily="34" charset="0"/>
                  <a:ea typeface="楷体" panose="02010609060101010101" pitchFamily="49" charset="-122"/>
                  <a:cs typeface="Tahoma" panose="020B0604030504040204" pitchFamily="34" charset="0"/>
                </a:rPr>
                <a:t>#定义测试函数</a:t>
              </a:r>
            </a:p>
            <a:p>
              <a:r>
                <a:rPr lang="zh-CN" altLang="en-US" b="1">
                  <a:solidFill>
                    <a:schemeClr val="tx1"/>
                  </a:solidFill>
                  <a:latin typeface="Tahoma" panose="020B0604030504040204" pitchFamily="34" charset="0"/>
                  <a:cs typeface="Tahoma" panose="020B0604030504040204" pitchFamily="34" charset="0"/>
                </a:rPr>
                <a:t>    print("PI = ", PI)</a:t>
              </a:r>
            </a:p>
            <a:p>
              <a:endParaRPr lang="en-US" altLang="zh-CN" dirty="0">
                <a:solidFill>
                  <a:schemeClr val="tx1"/>
                </a:solidFill>
                <a:latin typeface="Tahoma" panose="020B0604030504040204" pitchFamily="34" charset="0"/>
                <a:cs typeface="Tahoma" panose="020B0604030504040204" pitchFamily="34" charset="0"/>
              </a:endParaRPr>
            </a:p>
            <a:p>
              <a:r>
                <a:rPr lang="en-US" altLang="zh-CN" dirty="0">
                  <a:solidFill>
                    <a:srgbClr val="FF0000"/>
                  </a:solidFill>
                  <a:latin typeface="Tahoma" panose="020B0604030504040204" pitchFamily="34" charset="0"/>
                  <a:cs typeface="Tahoma" panose="020B0604030504040204" pitchFamily="34" charset="0"/>
                  <a:sym typeface="+mn-ea"/>
                </a:rPr>
                <a:t>if __name__=='__main__':</a:t>
              </a:r>
              <a:endParaRPr lang="en-US" altLang="zh-CN" dirty="0">
                <a:solidFill>
                  <a:srgbClr val="FF0000"/>
                </a:solidFill>
                <a:latin typeface="Tahoma" panose="020B0604030504040204" pitchFamily="34" charset="0"/>
                <a:cs typeface="Tahoma" panose="020B0604030504040204" pitchFamily="34" charset="0"/>
              </a:endParaRPr>
            </a:p>
            <a:p>
              <a:r>
                <a:rPr lang="en-US" altLang="zh-CN" b="1">
                  <a:solidFill>
                    <a:schemeClr val="tx1"/>
                  </a:solidFill>
                  <a:latin typeface="Tahoma" panose="020B0604030504040204" pitchFamily="34" charset="0"/>
                  <a:cs typeface="Tahoma" panose="020B0604030504040204" pitchFamily="34" charset="0"/>
                </a:rPr>
                <a:t>   paraTest()</a:t>
              </a: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1260" y="3070"/>
              <a:ext cx="6159" cy="725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zh-CN" altLang="en-US" b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参数模块parameters.py：</a:t>
              </a:r>
            </a:p>
          </p:txBody>
        </p:sp>
      </p:grpSp>
      <p:sp>
        <p:nvSpPr>
          <p:cNvPr id="3" name="矩形 2"/>
          <p:cNvSpPr/>
          <p:nvPr/>
        </p:nvSpPr>
        <p:spPr>
          <a:xfrm>
            <a:off x="6134641" y="1237300"/>
            <a:ext cx="5472608" cy="294794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just">
              <a:lnSpc>
                <a:spcPts val="3600"/>
              </a:lnSpc>
            </a:pPr>
            <a:r>
              <a:rPr lang="en-US" altLang="zh-CN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解释器把一个特殊变量</a:t>
            </a:r>
            <a:r>
              <a:rPr lang="en-US" altLang="zh-CN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__name__</a:t>
            </a:r>
            <a:r>
              <a:rPr lang="zh-CN" altLang="en-US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置为</a:t>
            </a:r>
            <a:r>
              <a:rPr lang="en-US" altLang="zh-CN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__main__</a:t>
            </a:r>
            <a:r>
              <a:rPr lang="zh-CN" altLang="en-US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，而如果在其他地方导入该模块时，</a:t>
            </a:r>
            <a:r>
              <a:rPr lang="en-US" altLang="zh-CN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if</a:t>
            </a:r>
            <a:r>
              <a:rPr lang="zh-CN" altLang="en-US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判断将失败，因此，这种</a:t>
            </a:r>
            <a:r>
              <a:rPr lang="en-US" altLang="zh-CN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if</a:t>
            </a:r>
            <a:r>
              <a:rPr lang="zh-CN" altLang="en-US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测试可以让一个模块通过命令行运行时执行一些额外的代码，最常见的就是运行测试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7137400" y="5094605"/>
            <a:ext cx="3840480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3200" b="1">
                <a:solidFill>
                  <a:srgbClr val="007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见风使舵，内外有别</a:t>
            </a:r>
          </a:p>
        </p:txBody>
      </p:sp>
    </p:spTree>
  </p:cSld>
  <p:clrMapOvr>
    <a:masterClrMapping/>
  </p:clrMapOvr>
  <p:transition spd="slow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38535" y="776543"/>
            <a:ext cx="4536504" cy="1383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zh-CN" sz="2800" dirty="0"/>
          </a:p>
          <a:p>
            <a:r>
              <a:rPr lang="en-US" altLang="zh-CN" sz="2800" dirty="0">
                <a:solidFill>
                  <a:srgbClr val="FF0000"/>
                </a:solidFill>
              </a:rPr>
              <a:t>if __name__=='__main__':</a:t>
            </a:r>
          </a:p>
          <a:p>
            <a:r>
              <a:rPr lang="en-US" altLang="zh-CN" sz="2800" dirty="0">
                <a:solidFill>
                  <a:srgbClr val="FF0000"/>
                </a:solidFill>
              </a:rPr>
              <a:t>    paraTest()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1850703" y="2585280"/>
            <a:ext cx="705148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Make a script both importable and executable</a:t>
            </a:r>
            <a:endParaRPr lang="zh-CN" altLang="en-US" sz="28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7" name="矩形 6"/>
          <p:cNvSpPr/>
          <p:nvPr/>
        </p:nvSpPr>
        <p:spPr>
          <a:xfrm>
            <a:off x="892810" y="3813175"/>
            <a:ext cx="10532110" cy="603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ts val="4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让你写的脚本模块既可以导入到别的模块中用，另外该模块自己也可执行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0205369" y="189434"/>
            <a:ext cx="20180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5.2 模块</a:t>
            </a:r>
          </a:p>
        </p:txBody>
      </p:sp>
    </p:spTree>
  </p:cSld>
  <p:clrMapOvr>
    <a:masterClrMapping/>
  </p:clrMapOvr>
  <p:transition spd="slow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0205369" y="189434"/>
            <a:ext cx="20180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5.2 模块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标题 1"/>
          <p:cNvSpPr>
            <a:spLocks noGrp="1"/>
          </p:cNvSpPr>
          <p:nvPr/>
        </p:nvSpPr>
        <p:spPr>
          <a:xfrm>
            <a:off x="500380" y="942975"/>
            <a:ext cx="4248785" cy="85725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kumimoji="0" lang="zh-CN"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altLang="en-US" sz="2800" dirty="0">
                <a:solidFill>
                  <a:srgbClr val="FF0000"/>
                </a:solidFill>
                <a:latin typeface="方正大黑简体" panose="03000509000000000000" pitchFamily="2" charset="-122"/>
                <a:ea typeface="方正大黑简体" panose="03000509000000000000" pitchFamily="2" charset="-122"/>
              </a:rPr>
              <a:t>操作自定义模块的方法：</a:t>
            </a:r>
            <a:endParaRPr lang="en-US" altLang="zh-CN" sz="2800" dirty="0">
              <a:solidFill>
                <a:srgbClr val="FF0000"/>
              </a:solidFill>
              <a:latin typeface="方正大黑简体" panose="03000509000000000000" pitchFamily="2" charset="-122"/>
              <a:ea typeface="方正大黑简体" panose="03000509000000000000" pitchFamily="2" charset="-122"/>
            </a:endParaRPr>
          </a:p>
        </p:txBody>
      </p:sp>
      <p:sp>
        <p:nvSpPr>
          <p:cNvPr id="9" name="Freeform 63"/>
          <p:cNvSpPr>
            <a:spLocks noChangeAspect="1"/>
          </p:cNvSpPr>
          <p:nvPr>
            <p:custDataLst>
              <p:tags r:id="rId1"/>
            </p:custDataLst>
          </p:nvPr>
        </p:nvSpPr>
        <p:spPr bwMode="auto">
          <a:xfrm>
            <a:off x="3339938" y="2277874"/>
            <a:ext cx="429632" cy="416928"/>
          </a:xfrm>
          <a:custGeom>
            <a:avLst/>
            <a:gdLst>
              <a:gd name="T0" fmla="*/ 244 w 312"/>
              <a:gd name="T1" fmla="*/ 0 h 303"/>
              <a:gd name="T2" fmla="*/ 209 w 312"/>
              <a:gd name="T3" fmla="*/ 12 h 303"/>
              <a:gd name="T4" fmla="*/ 181 w 312"/>
              <a:gd name="T5" fmla="*/ 49 h 303"/>
              <a:gd name="T6" fmla="*/ 198 w 312"/>
              <a:gd name="T7" fmla="*/ 112 h 303"/>
              <a:gd name="T8" fmla="*/ 195 w 312"/>
              <a:gd name="T9" fmla="*/ 112 h 303"/>
              <a:gd name="T10" fmla="*/ 177 w 312"/>
              <a:gd name="T11" fmla="*/ 92 h 303"/>
              <a:gd name="T12" fmla="*/ 92 w 312"/>
              <a:gd name="T13" fmla="*/ 177 h 303"/>
              <a:gd name="T14" fmla="*/ 71 w 312"/>
              <a:gd name="T15" fmla="*/ 174 h 303"/>
              <a:gd name="T16" fmla="*/ 29 w 312"/>
              <a:gd name="T17" fmla="*/ 192 h 303"/>
              <a:gd name="T18" fmla="*/ 7 w 312"/>
              <a:gd name="T19" fmla="*/ 255 h 303"/>
              <a:gd name="T20" fmla="*/ 14 w 312"/>
              <a:gd name="T21" fmla="*/ 266 h 303"/>
              <a:gd name="T22" fmla="*/ 14 w 312"/>
              <a:gd name="T23" fmla="*/ 266 h 303"/>
              <a:gd name="T24" fmla="*/ 53 w 312"/>
              <a:gd name="T25" fmla="*/ 228 h 303"/>
              <a:gd name="T26" fmla="*/ 80 w 312"/>
              <a:gd name="T27" fmla="*/ 255 h 303"/>
              <a:gd name="T28" fmla="*/ 40 w 312"/>
              <a:gd name="T29" fmla="*/ 296 h 303"/>
              <a:gd name="T30" fmla="*/ 70 w 312"/>
              <a:gd name="T31" fmla="*/ 303 h 303"/>
              <a:gd name="T32" fmla="*/ 100 w 312"/>
              <a:gd name="T33" fmla="*/ 295 h 303"/>
              <a:gd name="T34" fmla="*/ 134 w 312"/>
              <a:gd name="T35" fmla="*/ 244 h 303"/>
              <a:gd name="T36" fmla="*/ 116 w 312"/>
              <a:gd name="T37" fmla="*/ 191 h 303"/>
              <a:gd name="T38" fmla="*/ 118 w 312"/>
              <a:gd name="T39" fmla="*/ 190 h 303"/>
              <a:gd name="T40" fmla="*/ 138 w 312"/>
              <a:gd name="T41" fmla="*/ 209 h 303"/>
              <a:gd name="T42" fmla="*/ 222 w 312"/>
              <a:gd name="T43" fmla="*/ 126 h 303"/>
              <a:gd name="T44" fmla="*/ 245 w 312"/>
              <a:gd name="T45" fmla="*/ 129 h 303"/>
              <a:gd name="T46" fmla="*/ 256 w 312"/>
              <a:gd name="T47" fmla="*/ 127 h 303"/>
              <a:gd name="T48" fmla="*/ 298 w 312"/>
              <a:gd name="T49" fmla="*/ 97 h 303"/>
              <a:gd name="T50" fmla="*/ 302 w 312"/>
              <a:gd name="T51" fmla="*/ 34 h 303"/>
              <a:gd name="T52" fmla="*/ 260 w 312"/>
              <a:gd name="T53" fmla="*/ 75 h 303"/>
              <a:gd name="T54" fmla="*/ 234 w 312"/>
              <a:gd name="T55" fmla="*/ 48 h 303"/>
              <a:gd name="T56" fmla="*/ 274 w 312"/>
              <a:gd name="T57" fmla="*/ 7 h 303"/>
              <a:gd name="T58" fmla="*/ 244 w 312"/>
              <a:gd name="T59" fmla="*/ 0 h 3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312" h="303">
                <a:moveTo>
                  <a:pt x="244" y="0"/>
                </a:moveTo>
                <a:cubicBezTo>
                  <a:pt x="231" y="0"/>
                  <a:pt x="219" y="4"/>
                  <a:pt x="209" y="12"/>
                </a:cubicBezTo>
                <a:cubicBezTo>
                  <a:pt x="197" y="22"/>
                  <a:pt x="185" y="34"/>
                  <a:pt x="181" y="49"/>
                </a:cubicBezTo>
                <a:cubicBezTo>
                  <a:pt x="175" y="72"/>
                  <a:pt x="184" y="94"/>
                  <a:pt x="198" y="112"/>
                </a:cubicBezTo>
                <a:cubicBezTo>
                  <a:pt x="197" y="112"/>
                  <a:pt x="196" y="112"/>
                  <a:pt x="195" y="112"/>
                </a:cubicBezTo>
                <a:cubicBezTo>
                  <a:pt x="185" y="112"/>
                  <a:pt x="181" y="101"/>
                  <a:pt x="177" y="92"/>
                </a:cubicBezTo>
                <a:cubicBezTo>
                  <a:pt x="148" y="120"/>
                  <a:pt x="121" y="150"/>
                  <a:pt x="92" y="177"/>
                </a:cubicBezTo>
                <a:cubicBezTo>
                  <a:pt x="85" y="175"/>
                  <a:pt x="78" y="174"/>
                  <a:pt x="71" y="174"/>
                </a:cubicBezTo>
                <a:cubicBezTo>
                  <a:pt x="55" y="174"/>
                  <a:pt x="39" y="180"/>
                  <a:pt x="29" y="192"/>
                </a:cubicBezTo>
                <a:cubicBezTo>
                  <a:pt x="11" y="207"/>
                  <a:pt x="0" y="232"/>
                  <a:pt x="7" y="255"/>
                </a:cubicBezTo>
                <a:cubicBezTo>
                  <a:pt x="9" y="258"/>
                  <a:pt x="9" y="266"/>
                  <a:pt x="14" y="266"/>
                </a:cubicBezTo>
                <a:cubicBezTo>
                  <a:pt x="14" y="266"/>
                  <a:pt x="14" y="266"/>
                  <a:pt x="14" y="266"/>
                </a:cubicBezTo>
                <a:cubicBezTo>
                  <a:pt x="28" y="254"/>
                  <a:pt x="40" y="240"/>
                  <a:pt x="53" y="228"/>
                </a:cubicBezTo>
                <a:cubicBezTo>
                  <a:pt x="62" y="236"/>
                  <a:pt x="71" y="246"/>
                  <a:pt x="80" y="255"/>
                </a:cubicBezTo>
                <a:cubicBezTo>
                  <a:pt x="67" y="269"/>
                  <a:pt x="53" y="282"/>
                  <a:pt x="40" y="296"/>
                </a:cubicBezTo>
                <a:cubicBezTo>
                  <a:pt x="49" y="300"/>
                  <a:pt x="60" y="303"/>
                  <a:pt x="70" y="303"/>
                </a:cubicBezTo>
                <a:cubicBezTo>
                  <a:pt x="81" y="303"/>
                  <a:pt x="91" y="300"/>
                  <a:pt x="100" y="295"/>
                </a:cubicBezTo>
                <a:cubicBezTo>
                  <a:pt x="117" y="282"/>
                  <a:pt x="133" y="265"/>
                  <a:pt x="134" y="244"/>
                </a:cubicBezTo>
                <a:cubicBezTo>
                  <a:pt x="137" y="224"/>
                  <a:pt x="127" y="206"/>
                  <a:pt x="116" y="191"/>
                </a:cubicBezTo>
                <a:cubicBezTo>
                  <a:pt x="117" y="190"/>
                  <a:pt x="117" y="190"/>
                  <a:pt x="118" y="190"/>
                </a:cubicBezTo>
                <a:cubicBezTo>
                  <a:pt x="128" y="190"/>
                  <a:pt x="133" y="202"/>
                  <a:pt x="138" y="209"/>
                </a:cubicBezTo>
                <a:cubicBezTo>
                  <a:pt x="166" y="182"/>
                  <a:pt x="194" y="153"/>
                  <a:pt x="222" y="126"/>
                </a:cubicBezTo>
                <a:cubicBezTo>
                  <a:pt x="230" y="127"/>
                  <a:pt x="237" y="129"/>
                  <a:pt x="245" y="129"/>
                </a:cubicBezTo>
                <a:cubicBezTo>
                  <a:pt x="249" y="129"/>
                  <a:pt x="252" y="128"/>
                  <a:pt x="256" y="127"/>
                </a:cubicBezTo>
                <a:cubicBezTo>
                  <a:pt x="274" y="125"/>
                  <a:pt x="286" y="110"/>
                  <a:pt x="298" y="97"/>
                </a:cubicBezTo>
                <a:cubicBezTo>
                  <a:pt x="312" y="79"/>
                  <a:pt x="311" y="54"/>
                  <a:pt x="302" y="34"/>
                </a:cubicBezTo>
                <a:cubicBezTo>
                  <a:pt x="287" y="47"/>
                  <a:pt x="274" y="62"/>
                  <a:pt x="260" y="75"/>
                </a:cubicBezTo>
                <a:cubicBezTo>
                  <a:pt x="251" y="66"/>
                  <a:pt x="242" y="57"/>
                  <a:pt x="234" y="48"/>
                </a:cubicBezTo>
                <a:cubicBezTo>
                  <a:pt x="247" y="34"/>
                  <a:pt x="261" y="20"/>
                  <a:pt x="274" y="7"/>
                </a:cubicBezTo>
                <a:cubicBezTo>
                  <a:pt x="265" y="2"/>
                  <a:pt x="255" y="0"/>
                  <a:pt x="244" y="0"/>
                </a:cubicBezTo>
              </a:path>
            </a:pathLst>
          </a:custGeom>
          <a:solidFill>
            <a:srgbClr val="E4A90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endParaRPr lang="zh-CN" altLang="en-US" sz="135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任意多边形 58"/>
          <p:cNvSpPr/>
          <p:nvPr>
            <p:custDataLst>
              <p:tags r:id="rId2"/>
            </p:custDataLst>
          </p:nvPr>
        </p:nvSpPr>
        <p:spPr>
          <a:xfrm rot="5400000">
            <a:off x="3158018" y="2024482"/>
            <a:ext cx="845339" cy="923715"/>
          </a:xfrm>
          <a:custGeom>
            <a:avLst/>
            <a:gdLst>
              <a:gd name="connsiteX0" fmla="*/ 0 w 1149799"/>
              <a:gd name="connsiteY0" fmla="*/ 681503 h 1256402"/>
              <a:gd name="connsiteX1" fmla="*/ 459037 w 1149799"/>
              <a:gd name="connsiteY1" fmla="*/ 118283 h 1256402"/>
              <a:gd name="connsiteX2" fmla="*/ 510975 w 1149799"/>
              <a:gd name="connsiteY2" fmla="*/ 113048 h 1256402"/>
              <a:gd name="connsiteX3" fmla="*/ 593014 w 1149799"/>
              <a:gd name="connsiteY3" fmla="*/ 0 h 1256402"/>
              <a:gd name="connsiteX4" fmla="*/ 677913 w 1149799"/>
              <a:gd name="connsiteY4" fmla="*/ 116988 h 1256402"/>
              <a:gd name="connsiteX5" fmla="*/ 690762 w 1149799"/>
              <a:gd name="connsiteY5" fmla="*/ 118283 h 1256402"/>
              <a:gd name="connsiteX6" fmla="*/ 1149799 w 1149799"/>
              <a:gd name="connsiteY6" fmla="*/ 681503 h 1256402"/>
              <a:gd name="connsiteX7" fmla="*/ 574900 w 1149799"/>
              <a:gd name="connsiteY7" fmla="*/ 1256402 h 1256402"/>
              <a:gd name="connsiteX8" fmla="*/ 0 w 1149799"/>
              <a:gd name="connsiteY8" fmla="*/ 681503 h 12564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49799" h="1256402">
                <a:moveTo>
                  <a:pt x="0" y="681503"/>
                </a:moveTo>
                <a:cubicBezTo>
                  <a:pt x="0" y="403683"/>
                  <a:pt x="197065" y="171891"/>
                  <a:pt x="459037" y="118283"/>
                </a:cubicBezTo>
                <a:lnTo>
                  <a:pt x="510975" y="113048"/>
                </a:lnTo>
                <a:lnTo>
                  <a:pt x="593014" y="0"/>
                </a:lnTo>
                <a:lnTo>
                  <a:pt x="677913" y="116988"/>
                </a:lnTo>
                <a:lnTo>
                  <a:pt x="690762" y="118283"/>
                </a:lnTo>
                <a:cubicBezTo>
                  <a:pt x="952734" y="171891"/>
                  <a:pt x="1149799" y="403683"/>
                  <a:pt x="1149799" y="681503"/>
                </a:cubicBezTo>
                <a:cubicBezTo>
                  <a:pt x="1149799" y="999011"/>
                  <a:pt x="892408" y="1256402"/>
                  <a:pt x="574900" y="1256402"/>
                </a:cubicBezTo>
                <a:cubicBezTo>
                  <a:pt x="257391" y="1256402"/>
                  <a:pt x="0" y="999011"/>
                  <a:pt x="0" y="681503"/>
                </a:cubicBezTo>
                <a:close/>
              </a:path>
            </a:pathLst>
          </a:custGeom>
          <a:noFill/>
          <a:ln w="28575" cap="flat" cmpd="sng" algn="ctr">
            <a:solidFill>
              <a:srgbClr val="E4A903"/>
            </a:solidFill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/>
            <a:endParaRPr lang="zh-CN" altLang="en-US" sz="2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任意多边形 43"/>
          <p:cNvSpPr/>
          <p:nvPr>
            <p:custDataLst>
              <p:tags r:id="rId3"/>
            </p:custDataLst>
          </p:nvPr>
        </p:nvSpPr>
        <p:spPr>
          <a:xfrm>
            <a:off x="3326374" y="3749670"/>
            <a:ext cx="469470" cy="406840"/>
          </a:xfrm>
          <a:custGeom>
            <a:avLst/>
            <a:gdLst>
              <a:gd name="connsiteX0" fmla="*/ 114784 w 469470"/>
              <a:gd name="connsiteY0" fmla="*/ 209253 h 406840"/>
              <a:gd name="connsiteX1" fmla="*/ 104362 w 469470"/>
              <a:gd name="connsiteY1" fmla="*/ 209340 h 406840"/>
              <a:gd name="connsiteX2" fmla="*/ 100393 w 469470"/>
              <a:gd name="connsiteY2" fmla="*/ 215706 h 406840"/>
              <a:gd name="connsiteX3" fmla="*/ 121031 w 469470"/>
              <a:gd name="connsiteY3" fmla="*/ 319531 h 406840"/>
              <a:gd name="connsiteX4" fmla="*/ 143785 w 469470"/>
              <a:gd name="connsiteY4" fmla="*/ 351609 h 406840"/>
              <a:gd name="connsiteX5" fmla="*/ 169979 w 469470"/>
              <a:gd name="connsiteY5" fmla="*/ 351609 h 406840"/>
              <a:gd name="connsiteX6" fmla="*/ 174477 w 469470"/>
              <a:gd name="connsiteY6" fmla="*/ 341080 h 406840"/>
              <a:gd name="connsiteX7" fmla="*/ 151987 w 469470"/>
              <a:gd name="connsiteY7" fmla="*/ 224766 h 406840"/>
              <a:gd name="connsiteX8" fmla="*/ 142727 w 469470"/>
              <a:gd name="connsiteY8" fmla="*/ 209340 h 406840"/>
              <a:gd name="connsiteX9" fmla="*/ 125363 w 469470"/>
              <a:gd name="connsiteY9" fmla="*/ 209294 h 406840"/>
              <a:gd name="connsiteX10" fmla="*/ 114784 w 469470"/>
              <a:gd name="connsiteY10" fmla="*/ 209253 h 406840"/>
              <a:gd name="connsiteX11" fmla="*/ 101445 w 469470"/>
              <a:gd name="connsiteY11" fmla="*/ 158276 h 406840"/>
              <a:gd name="connsiteX12" fmla="*/ 101445 w 469470"/>
              <a:gd name="connsiteY12" fmla="*/ 158276 h 406840"/>
              <a:gd name="connsiteX13" fmla="*/ 101446 w 469470"/>
              <a:gd name="connsiteY13" fmla="*/ 158276 h 406840"/>
              <a:gd name="connsiteX14" fmla="*/ 12117 w 469470"/>
              <a:gd name="connsiteY14" fmla="*/ 137326 h 406840"/>
              <a:gd name="connsiteX15" fmla="*/ 73239 w 469470"/>
              <a:gd name="connsiteY15" fmla="*/ 137326 h 406840"/>
              <a:gd name="connsiteX16" fmla="*/ 73076 w 469470"/>
              <a:gd name="connsiteY16" fmla="*/ 143505 h 406840"/>
              <a:gd name="connsiteX17" fmla="*/ 93133 w 469470"/>
              <a:gd name="connsiteY17" fmla="*/ 175601 h 406840"/>
              <a:gd name="connsiteX18" fmla="*/ 148184 w 469470"/>
              <a:gd name="connsiteY18" fmla="*/ 160851 h 406840"/>
              <a:gd name="connsiteX19" fmla="*/ 161766 w 469470"/>
              <a:gd name="connsiteY19" fmla="*/ 137326 h 406840"/>
              <a:gd name="connsiteX20" fmla="*/ 248201 w 469470"/>
              <a:gd name="connsiteY20" fmla="*/ 137326 h 406840"/>
              <a:gd name="connsiteX21" fmla="*/ 246813 w 469470"/>
              <a:gd name="connsiteY21" fmla="*/ 140207 h 406840"/>
              <a:gd name="connsiteX22" fmla="*/ 236672 w 469470"/>
              <a:gd name="connsiteY22" fmla="*/ 190436 h 406840"/>
              <a:gd name="connsiteX23" fmla="*/ 237338 w 469470"/>
              <a:gd name="connsiteY23" fmla="*/ 203630 h 406840"/>
              <a:gd name="connsiteX24" fmla="*/ 238115 w 469470"/>
              <a:gd name="connsiteY24" fmla="*/ 208721 h 406840"/>
              <a:gd name="connsiteX25" fmla="*/ 236353 w 469470"/>
              <a:gd name="connsiteY25" fmla="*/ 208643 h 406840"/>
              <a:gd name="connsiteX26" fmla="*/ 217093 w 469470"/>
              <a:gd name="connsiteY26" fmla="*/ 208322 h 406840"/>
              <a:gd name="connsiteX27" fmla="*/ 208304 w 469470"/>
              <a:gd name="connsiteY27" fmla="*/ 208337 h 406840"/>
              <a:gd name="connsiteX28" fmla="*/ 198900 w 469470"/>
              <a:gd name="connsiteY28" fmla="*/ 208523 h 406840"/>
              <a:gd name="connsiteX29" fmla="*/ 188125 w 469470"/>
              <a:gd name="connsiteY29" fmla="*/ 220930 h 406840"/>
              <a:gd name="connsiteX30" fmla="*/ 203471 w 469470"/>
              <a:gd name="connsiteY30" fmla="*/ 344018 h 406840"/>
              <a:gd name="connsiteX31" fmla="*/ 209347 w 469470"/>
              <a:gd name="connsiteY31" fmla="*/ 352507 h 406840"/>
              <a:gd name="connsiteX32" fmla="*/ 230896 w 469470"/>
              <a:gd name="connsiteY32" fmla="*/ 352180 h 406840"/>
              <a:gd name="connsiteX33" fmla="*/ 236120 w 469470"/>
              <a:gd name="connsiteY33" fmla="*/ 343038 h 406840"/>
              <a:gd name="connsiteX34" fmla="*/ 247238 w 469470"/>
              <a:gd name="connsiteY34" fmla="*/ 250936 h 406840"/>
              <a:gd name="connsiteX35" fmla="*/ 248143 w 469470"/>
              <a:gd name="connsiteY35" fmla="*/ 243426 h 406840"/>
              <a:gd name="connsiteX36" fmla="*/ 252247 w 469470"/>
              <a:gd name="connsiteY36" fmla="*/ 251945 h 406840"/>
              <a:gd name="connsiteX37" fmla="*/ 274468 w 469470"/>
              <a:gd name="connsiteY37" fmla="*/ 281682 h 406840"/>
              <a:gd name="connsiteX38" fmla="*/ 276760 w 469470"/>
              <a:gd name="connsiteY38" fmla="*/ 283765 h 406840"/>
              <a:gd name="connsiteX39" fmla="*/ 273445 w 469470"/>
              <a:gd name="connsiteY39" fmla="*/ 301017 h 406840"/>
              <a:gd name="connsiteX40" fmla="*/ 265766 w 469470"/>
              <a:gd name="connsiteY40" fmla="*/ 341080 h 406840"/>
              <a:gd name="connsiteX41" fmla="*/ 270265 w 469470"/>
              <a:gd name="connsiteY41" fmla="*/ 351609 h 406840"/>
              <a:gd name="connsiteX42" fmla="*/ 296459 w 469470"/>
              <a:gd name="connsiteY42" fmla="*/ 351609 h 406840"/>
              <a:gd name="connsiteX43" fmla="*/ 319213 w 469470"/>
              <a:gd name="connsiteY43" fmla="*/ 319531 h 406840"/>
              <a:gd name="connsiteX44" fmla="*/ 320221 w 469470"/>
              <a:gd name="connsiteY44" fmla="*/ 314754 h 406840"/>
              <a:gd name="connsiteX45" fmla="*/ 320929 w 469470"/>
              <a:gd name="connsiteY45" fmla="*/ 311329 h 406840"/>
              <a:gd name="connsiteX46" fmla="*/ 327341 w 469470"/>
              <a:gd name="connsiteY46" fmla="*/ 313675 h 406840"/>
              <a:gd name="connsiteX47" fmla="*/ 365714 w 469470"/>
              <a:gd name="connsiteY47" fmla="*/ 319477 h 406840"/>
              <a:gd name="connsiteX48" fmla="*/ 367735 w 469470"/>
              <a:gd name="connsiteY48" fmla="*/ 319375 h 406840"/>
              <a:gd name="connsiteX49" fmla="*/ 350883 w 469470"/>
              <a:gd name="connsiteY49" fmla="*/ 386136 h 406840"/>
              <a:gd name="connsiteX50" fmla="*/ 329824 w 469470"/>
              <a:gd name="connsiteY50" fmla="*/ 406705 h 406840"/>
              <a:gd name="connsiteX51" fmla="*/ 110910 w 469470"/>
              <a:gd name="connsiteY51" fmla="*/ 406705 h 406840"/>
              <a:gd name="connsiteX52" fmla="*/ 85933 w 469470"/>
              <a:gd name="connsiteY52" fmla="*/ 388094 h 406840"/>
              <a:gd name="connsiteX53" fmla="*/ 42101 w 469470"/>
              <a:gd name="connsiteY53" fmla="*/ 212370 h 406840"/>
              <a:gd name="connsiteX54" fmla="*/ 41559 w 469470"/>
              <a:gd name="connsiteY54" fmla="*/ 210025 h 406840"/>
              <a:gd name="connsiteX55" fmla="*/ 12117 w 469470"/>
              <a:gd name="connsiteY55" fmla="*/ 210025 h 406840"/>
              <a:gd name="connsiteX56" fmla="*/ 0 w 469470"/>
              <a:gd name="connsiteY56" fmla="*/ 197908 h 406840"/>
              <a:gd name="connsiteX57" fmla="*/ 0 w 469470"/>
              <a:gd name="connsiteY57" fmla="*/ 149443 h 406840"/>
              <a:gd name="connsiteX58" fmla="*/ 12117 w 469470"/>
              <a:gd name="connsiteY58" fmla="*/ 137326 h 406840"/>
              <a:gd name="connsiteX59" fmla="*/ 365714 w 469470"/>
              <a:gd name="connsiteY59" fmla="*/ 122516 h 406840"/>
              <a:gd name="connsiteX60" fmla="*/ 349419 w 469470"/>
              <a:gd name="connsiteY60" fmla="*/ 138811 h 406840"/>
              <a:gd name="connsiteX61" fmla="*/ 349419 w 469470"/>
              <a:gd name="connsiteY61" fmla="*/ 176803 h 406840"/>
              <a:gd name="connsiteX62" fmla="*/ 314088 w 469470"/>
              <a:gd name="connsiteY62" fmla="*/ 176803 h 406840"/>
              <a:gd name="connsiteX63" fmla="*/ 297794 w 469470"/>
              <a:gd name="connsiteY63" fmla="*/ 193098 h 406840"/>
              <a:gd name="connsiteX64" fmla="*/ 314088 w 469470"/>
              <a:gd name="connsiteY64" fmla="*/ 209392 h 406840"/>
              <a:gd name="connsiteX65" fmla="*/ 349419 w 469470"/>
              <a:gd name="connsiteY65" fmla="*/ 209392 h 406840"/>
              <a:gd name="connsiteX66" fmla="*/ 349419 w 469470"/>
              <a:gd name="connsiteY66" fmla="*/ 242061 h 406840"/>
              <a:gd name="connsiteX67" fmla="*/ 365714 w 469470"/>
              <a:gd name="connsiteY67" fmla="*/ 258356 h 406840"/>
              <a:gd name="connsiteX68" fmla="*/ 382009 w 469470"/>
              <a:gd name="connsiteY68" fmla="*/ 242061 h 406840"/>
              <a:gd name="connsiteX69" fmla="*/ 382009 w 469470"/>
              <a:gd name="connsiteY69" fmla="*/ 209392 h 406840"/>
              <a:gd name="connsiteX70" fmla="*/ 417339 w 469470"/>
              <a:gd name="connsiteY70" fmla="*/ 209392 h 406840"/>
              <a:gd name="connsiteX71" fmla="*/ 433634 w 469470"/>
              <a:gd name="connsiteY71" fmla="*/ 193098 h 406840"/>
              <a:gd name="connsiteX72" fmla="*/ 417339 w 469470"/>
              <a:gd name="connsiteY72" fmla="*/ 176803 h 406840"/>
              <a:gd name="connsiteX73" fmla="*/ 382009 w 469470"/>
              <a:gd name="connsiteY73" fmla="*/ 176803 h 406840"/>
              <a:gd name="connsiteX74" fmla="*/ 382009 w 469470"/>
              <a:gd name="connsiteY74" fmla="*/ 138811 h 406840"/>
              <a:gd name="connsiteX75" fmla="*/ 365714 w 469470"/>
              <a:gd name="connsiteY75" fmla="*/ 122516 h 406840"/>
              <a:gd name="connsiteX76" fmla="*/ 365714 w 469470"/>
              <a:gd name="connsiteY76" fmla="*/ 86680 h 406840"/>
              <a:gd name="connsiteX77" fmla="*/ 469470 w 469470"/>
              <a:gd name="connsiteY77" fmla="*/ 190436 h 406840"/>
              <a:gd name="connsiteX78" fmla="*/ 365714 w 469470"/>
              <a:gd name="connsiteY78" fmla="*/ 294192 h 406840"/>
              <a:gd name="connsiteX79" fmla="*/ 261957 w 469470"/>
              <a:gd name="connsiteY79" fmla="*/ 190436 h 406840"/>
              <a:gd name="connsiteX80" fmla="*/ 365714 w 469470"/>
              <a:gd name="connsiteY80" fmla="*/ 86680 h 406840"/>
              <a:gd name="connsiteX81" fmla="*/ 169767 w 469470"/>
              <a:gd name="connsiteY81" fmla="*/ 944 h 406840"/>
              <a:gd name="connsiteX82" fmla="*/ 190691 w 469470"/>
              <a:gd name="connsiteY82" fmla="*/ 3698 h 406840"/>
              <a:gd name="connsiteX83" fmla="*/ 190691 w 469470"/>
              <a:gd name="connsiteY83" fmla="*/ 3699 h 406840"/>
              <a:gd name="connsiteX84" fmla="*/ 200783 w 469470"/>
              <a:gd name="connsiteY84" fmla="*/ 41366 h 406840"/>
              <a:gd name="connsiteX85" fmla="*/ 139112 w 469470"/>
              <a:gd name="connsiteY85" fmla="*/ 148183 h 406840"/>
              <a:gd name="connsiteX86" fmla="*/ 122369 w 469470"/>
              <a:gd name="connsiteY86" fmla="*/ 161031 h 406840"/>
              <a:gd name="connsiteX87" fmla="*/ 101445 w 469470"/>
              <a:gd name="connsiteY87" fmla="*/ 158276 h 406840"/>
              <a:gd name="connsiteX88" fmla="*/ 88598 w 469470"/>
              <a:gd name="connsiteY88" fmla="*/ 141533 h 406840"/>
              <a:gd name="connsiteX89" fmla="*/ 91353 w 469470"/>
              <a:gd name="connsiteY89" fmla="*/ 120610 h 406840"/>
              <a:gd name="connsiteX90" fmla="*/ 153024 w 469470"/>
              <a:gd name="connsiteY90" fmla="*/ 13791 h 406840"/>
              <a:gd name="connsiteX91" fmla="*/ 169767 w 469470"/>
              <a:gd name="connsiteY91" fmla="*/ 944 h 406840"/>
              <a:gd name="connsiteX92" fmla="*/ 276258 w 469470"/>
              <a:gd name="connsiteY92" fmla="*/ 69 h 406840"/>
              <a:gd name="connsiteX93" fmla="*/ 298219 w 469470"/>
              <a:gd name="connsiteY93" fmla="*/ 13792 h 406840"/>
              <a:gd name="connsiteX94" fmla="*/ 328830 w 469470"/>
              <a:gd name="connsiteY94" fmla="*/ 66813 h 406840"/>
              <a:gd name="connsiteX95" fmla="*/ 327341 w 469470"/>
              <a:gd name="connsiteY95" fmla="*/ 67196 h 406840"/>
              <a:gd name="connsiteX96" fmla="*/ 283632 w 469470"/>
              <a:gd name="connsiteY96" fmla="*/ 90861 h 406840"/>
              <a:gd name="connsiteX97" fmla="*/ 280618 w 469470"/>
              <a:gd name="connsiteY97" fmla="*/ 93601 h 406840"/>
              <a:gd name="connsiteX98" fmla="*/ 250459 w 469470"/>
              <a:gd name="connsiteY98" fmla="*/ 41365 h 406840"/>
              <a:gd name="connsiteX99" fmla="*/ 260552 w 469470"/>
              <a:gd name="connsiteY99" fmla="*/ 3699 h 406840"/>
              <a:gd name="connsiteX100" fmla="*/ 276258 w 469470"/>
              <a:gd name="connsiteY100" fmla="*/ 69 h 406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469470" h="406840">
                <a:moveTo>
                  <a:pt x="114784" y="209253"/>
                </a:moveTo>
                <a:cubicBezTo>
                  <a:pt x="111225" y="209255"/>
                  <a:pt x="107691" y="209278"/>
                  <a:pt x="104362" y="209340"/>
                </a:cubicBezTo>
                <a:cubicBezTo>
                  <a:pt x="101715" y="209388"/>
                  <a:pt x="99608" y="211762"/>
                  <a:pt x="100393" y="215706"/>
                </a:cubicBezTo>
                <a:cubicBezTo>
                  <a:pt x="104145" y="234557"/>
                  <a:pt x="116069" y="296363"/>
                  <a:pt x="121031" y="319531"/>
                </a:cubicBezTo>
                <a:cubicBezTo>
                  <a:pt x="125881" y="342182"/>
                  <a:pt x="131394" y="351160"/>
                  <a:pt x="143785" y="351609"/>
                </a:cubicBezTo>
                <a:cubicBezTo>
                  <a:pt x="156177" y="352058"/>
                  <a:pt x="163012" y="351895"/>
                  <a:pt x="169979" y="351609"/>
                </a:cubicBezTo>
                <a:cubicBezTo>
                  <a:pt x="175430" y="351386"/>
                  <a:pt x="176418" y="351201"/>
                  <a:pt x="174477" y="341080"/>
                </a:cubicBezTo>
                <a:cubicBezTo>
                  <a:pt x="170453" y="320086"/>
                  <a:pt x="156563" y="247392"/>
                  <a:pt x="151987" y="224766"/>
                </a:cubicBezTo>
                <a:cubicBezTo>
                  <a:pt x="151025" y="220008"/>
                  <a:pt x="151194" y="209217"/>
                  <a:pt x="142727" y="209340"/>
                </a:cubicBezTo>
                <a:cubicBezTo>
                  <a:pt x="138494" y="209401"/>
                  <a:pt x="132232" y="209340"/>
                  <a:pt x="125363" y="209294"/>
                </a:cubicBezTo>
                <a:cubicBezTo>
                  <a:pt x="121929" y="209271"/>
                  <a:pt x="118344" y="209252"/>
                  <a:pt x="114784" y="209253"/>
                </a:cubicBezTo>
                <a:close/>
                <a:moveTo>
                  <a:pt x="101445" y="158276"/>
                </a:moveTo>
                <a:lnTo>
                  <a:pt x="101445" y="158276"/>
                </a:lnTo>
                <a:lnTo>
                  <a:pt x="101446" y="158276"/>
                </a:lnTo>
                <a:close/>
                <a:moveTo>
                  <a:pt x="12117" y="137326"/>
                </a:moveTo>
                <a:lnTo>
                  <a:pt x="73239" y="137326"/>
                </a:lnTo>
                <a:lnTo>
                  <a:pt x="73076" y="143505"/>
                </a:lnTo>
                <a:cubicBezTo>
                  <a:pt x="73988" y="156410"/>
                  <a:pt x="81086" y="168646"/>
                  <a:pt x="93133" y="175601"/>
                </a:cubicBezTo>
                <a:cubicBezTo>
                  <a:pt x="112408" y="186730"/>
                  <a:pt x="137055" y="180126"/>
                  <a:pt x="148184" y="160851"/>
                </a:cubicBezTo>
                <a:lnTo>
                  <a:pt x="161766" y="137326"/>
                </a:lnTo>
                <a:lnTo>
                  <a:pt x="248201" y="137326"/>
                </a:lnTo>
                <a:lnTo>
                  <a:pt x="246813" y="140207"/>
                </a:lnTo>
                <a:cubicBezTo>
                  <a:pt x="240283" y="155646"/>
                  <a:pt x="236672" y="172619"/>
                  <a:pt x="236672" y="190436"/>
                </a:cubicBezTo>
                <a:cubicBezTo>
                  <a:pt x="236672" y="194890"/>
                  <a:pt x="236898" y="199292"/>
                  <a:pt x="237338" y="203630"/>
                </a:cubicBezTo>
                <a:lnTo>
                  <a:pt x="238115" y="208721"/>
                </a:lnTo>
                <a:lnTo>
                  <a:pt x="236353" y="208643"/>
                </a:lnTo>
                <a:cubicBezTo>
                  <a:pt x="231025" y="208460"/>
                  <a:pt x="223931" y="208349"/>
                  <a:pt x="217093" y="208322"/>
                </a:cubicBezTo>
                <a:cubicBezTo>
                  <a:pt x="214053" y="208310"/>
                  <a:pt x="211065" y="208315"/>
                  <a:pt x="208304" y="208337"/>
                </a:cubicBezTo>
                <a:cubicBezTo>
                  <a:pt x="204623" y="208367"/>
                  <a:pt x="201348" y="208428"/>
                  <a:pt x="198900" y="208523"/>
                </a:cubicBezTo>
                <a:cubicBezTo>
                  <a:pt x="189105" y="208904"/>
                  <a:pt x="187561" y="216439"/>
                  <a:pt x="188125" y="220930"/>
                </a:cubicBezTo>
                <a:cubicBezTo>
                  <a:pt x="193328" y="262333"/>
                  <a:pt x="202545" y="336454"/>
                  <a:pt x="203471" y="344018"/>
                </a:cubicBezTo>
                <a:cubicBezTo>
                  <a:pt x="204396" y="351581"/>
                  <a:pt x="204777" y="351146"/>
                  <a:pt x="209347" y="352507"/>
                </a:cubicBezTo>
                <a:lnTo>
                  <a:pt x="230896" y="352180"/>
                </a:lnTo>
                <a:cubicBezTo>
                  <a:pt x="235628" y="352108"/>
                  <a:pt x="235086" y="350765"/>
                  <a:pt x="236120" y="343038"/>
                </a:cubicBezTo>
                <a:cubicBezTo>
                  <a:pt x="236831" y="337726"/>
                  <a:pt x="243108" y="285234"/>
                  <a:pt x="247238" y="250936"/>
                </a:cubicBezTo>
                <a:lnTo>
                  <a:pt x="248143" y="243426"/>
                </a:lnTo>
                <a:lnTo>
                  <a:pt x="252247" y="251945"/>
                </a:lnTo>
                <a:cubicBezTo>
                  <a:pt x="258206" y="262915"/>
                  <a:pt x="265711" y="272925"/>
                  <a:pt x="274468" y="281682"/>
                </a:cubicBezTo>
                <a:lnTo>
                  <a:pt x="276760" y="283765"/>
                </a:lnTo>
                <a:lnTo>
                  <a:pt x="273445" y="301017"/>
                </a:lnTo>
                <a:cubicBezTo>
                  <a:pt x="270172" y="318064"/>
                  <a:pt x="267276" y="333207"/>
                  <a:pt x="265766" y="341080"/>
                </a:cubicBezTo>
                <a:cubicBezTo>
                  <a:pt x="263826" y="351201"/>
                  <a:pt x="264814" y="351386"/>
                  <a:pt x="270265" y="351609"/>
                </a:cubicBezTo>
                <a:cubicBezTo>
                  <a:pt x="277232" y="351895"/>
                  <a:pt x="284067" y="352058"/>
                  <a:pt x="296459" y="351609"/>
                </a:cubicBezTo>
                <a:cubicBezTo>
                  <a:pt x="308850" y="351160"/>
                  <a:pt x="314363" y="342182"/>
                  <a:pt x="319213" y="319531"/>
                </a:cubicBezTo>
                <a:cubicBezTo>
                  <a:pt x="319523" y="318083"/>
                  <a:pt x="319861" y="316484"/>
                  <a:pt x="320221" y="314754"/>
                </a:cubicBezTo>
                <a:lnTo>
                  <a:pt x="320929" y="311329"/>
                </a:lnTo>
                <a:lnTo>
                  <a:pt x="327341" y="313675"/>
                </a:lnTo>
                <a:cubicBezTo>
                  <a:pt x="339463" y="317446"/>
                  <a:pt x="352351" y="319477"/>
                  <a:pt x="365714" y="319477"/>
                </a:cubicBezTo>
                <a:lnTo>
                  <a:pt x="367735" y="319375"/>
                </a:lnTo>
                <a:lnTo>
                  <a:pt x="350883" y="386136"/>
                </a:lnTo>
                <a:cubicBezTo>
                  <a:pt x="347781" y="397399"/>
                  <a:pt x="338816" y="406772"/>
                  <a:pt x="329824" y="406705"/>
                </a:cubicBezTo>
                <a:cubicBezTo>
                  <a:pt x="257451" y="406158"/>
                  <a:pt x="122292" y="407194"/>
                  <a:pt x="110910" y="406705"/>
                </a:cubicBezTo>
                <a:cubicBezTo>
                  <a:pt x="99527" y="406215"/>
                  <a:pt x="89183" y="401289"/>
                  <a:pt x="85933" y="388094"/>
                </a:cubicBezTo>
                <a:cubicBezTo>
                  <a:pt x="78244" y="356880"/>
                  <a:pt x="52952" y="258555"/>
                  <a:pt x="42101" y="212370"/>
                </a:cubicBezTo>
                <a:lnTo>
                  <a:pt x="41559" y="210025"/>
                </a:lnTo>
                <a:lnTo>
                  <a:pt x="12117" y="210025"/>
                </a:lnTo>
                <a:cubicBezTo>
                  <a:pt x="5425" y="210025"/>
                  <a:pt x="0" y="204600"/>
                  <a:pt x="0" y="197908"/>
                </a:cubicBezTo>
                <a:lnTo>
                  <a:pt x="0" y="149443"/>
                </a:lnTo>
                <a:cubicBezTo>
                  <a:pt x="0" y="142751"/>
                  <a:pt x="5425" y="137326"/>
                  <a:pt x="12117" y="137326"/>
                </a:cubicBezTo>
                <a:close/>
                <a:moveTo>
                  <a:pt x="365714" y="122516"/>
                </a:moveTo>
                <a:cubicBezTo>
                  <a:pt x="356714" y="122516"/>
                  <a:pt x="349419" y="129812"/>
                  <a:pt x="349419" y="138811"/>
                </a:cubicBezTo>
                <a:lnTo>
                  <a:pt x="349419" y="176803"/>
                </a:lnTo>
                <a:lnTo>
                  <a:pt x="314088" y="176803"/>
                </a:lnTo>
                <a:cubicBezTo>
                  <a:pt x="305089" y="176803"/>
                  <a:pt x="297794" y="184098"/>
                  <a:pt x="297794" y="193098"/>
                </a:cubicBezTo>
                <a:cubicBezTo>
                  <a:pt x="297794" y="202097"/>
                  <a:pt x="305089" y="209392"/>
                  <a:pt x="314088" y="209392"/>
                </a:cubicBezTo>
                <a:lnTo>
                  <a:pt x="349419" y="209392"/>
                </a:lnTo>
                <a:lnTo>
                  <a:pt x="349419" y="242061"/>
                </a:lnTo>
                <a:cubicBezTo>
                  <a:pt x="349419" y="251061"/>
                  <a:pt x="356714" y="258356"/>
                  <a:pt x="365714" y="258356"/>
                </a:cubicBezTo>
                <a:cubicBezTo>
                  <a:pt x="374713" y="258356"/>
                  <a:pt x="382009" y="251061"/>
                  <a:pt x="382009" y="242061"/>
                </a:cubicBezTo>
                <a:lnTo>
                  <a:pt x="382009" y="209392"/>
                </a:lnTo>
                <a:lnTo>
                  <a:pt x="417339" y="209392"/>
                </a:lnTo>
                <a:cubicBezTo>
                  <a:pt x="426338" y="209392"/>
                  <a:pt x="433634" y="202097"/>
                  <a:pt x="433634" y="193098"/>
                </a:cubicBezTo>
                <a:cubicBezTo>
                  <a:pt x="433634" y="184098"/>
                  <a:pt x="426338" y="176803"/>
                  <a:pt x="417339" y="176803"/>
                </a:cubicBezTo>
                <a:lnTo>
                  <a:pt x="382009" y="176803"/>
                </a:lnTo>
                <a:lnTo>
                  <a:pt x="382009" y="138811"/>
                </a:lnTo>
                <a:cubicBezTo>
                  <a:pt x="382009" y="129812"/>
                  <a:pt x="374713" y="122516"/>
                  <a:pt x="365714" y="122516"/>
                </a:cubicBezTo>
                <a:close/>
                <a:moveTo>
                  <a:pt x="365714" y="86680"/>
                </a:moveTo>
                <a:cubicBezTo>
                  <a:pt x="423017" y="86680"/>
                  <a:pt x="469470" y="133133"/>
                  <a:pt x="469470" y="190436"/>
                </a:cubicBezTo>
                <a:cubicBezTo>
                  <a:pt x="469470" y="247739"/>
                  <a:pt x="423017" y="294192"/>
                  <a:pt x="365714" y="294192"/>
                </a:cubicBezTo>
                <a:cubicBezTo>
                  <a:pt x="308411" y="294192"/>
                  <a:pt x="261957" y="247739"/>
                  <a:pt x="261957" y="190436"/>
                </a:cubicBezTo>
                <a:cubicBezTo>
                  <a:pt x="261957" y="133133"/>
                  <a:pt x="308411" y="86680"/>
                  <a:pt x="365714" y="86680"/>
                </a:cubicBezTo>
                <a:close/>
                <a:moveTo>
                  <a:pt x="169767" y="944"/>
                </a:moveTo>
                <a:cubicBezTo>
                  <a:pt x="176584" y="-883"/>
                  <a:pt x="184097" y="-109"/>
                  <a:pt x="190691" y="3698"/>
                </a:cubicBezTo>
                <a:lnTo>
                  <a:pt x="190691" y="3699"/>
                </a:lnTo>
                <a:cubicBezTo>
                  <a:pt x="203879" y="11314"/>
                  <a:pt x="208398" y="28177"/>
                  <a:pt x="200783" y="41366"/>
                </a:cubicBezTo>
                <a:lnTo>
                  <a:pt x="139112" y="148183"/>
                </a:lnTo>
                <a:cubicBezTo>
                  <a:pt x="135305" y="154777"/>
                  <a:pt x="129185" y="159204"/>
                  <a:pt x="122369" y="161031"/>
                </a:cubicBezTo>
                <a:lnTo>
                  <a:pt x="101445" y="158276"/>
                </a:lnTo>
                <a:lnTo>
                  <a:pt x="88598" y="141533"/>
                </a:lnTo>
                <a:cubicBezTo>
                  <a:pt x="86772" y="134717"/>
                  <a:pt x="87546" y="127204"/>
                  <a:pt x="91353" y="120610"/>
                </a:cubicBezTo>
                <a:lnTo>
                  <a:pt x="153024" y="13791"/>
                </a:lnTo>
                <a:cubicBezTo>
                  <a:pt x="156832" y="7197"/>
                  <a:pt x="162951" y="2770"/>
                  <a:pt x="169767" y="944"/>
                </a:cubicBezTo>
                <a:close/>
                <a:moveTo>
                  <a:pt x="276258" y="69"/>
                </a:moveTo>
                <a:cubicBezTo>
                  <a:pt x="285088" y="693"/>
                  <a:pt x="293460" y="5549"/>
                  <a:pt x="298219" y="13792"/>
                </a:cubicBezTo>
                <a:lnTo>
                  <a:pt x="328830" y="66813"/>
                </a:lnTo>
                <a:lnTo>
                  <a:pt x="327341" y="67196"/>
                </a:lnTo>
                <a:cubicBezTo>
                  <a:pt x="311178" y="72223"/>
                  <a:pt x="296378" y="80342"/>
                  <a:pt x="283632" y="90861"/>
                </a:cubicBezTo>
                <a:lnTo>
                  <a:pt x="280618" y="93601"/>
                </a:lnTo>
                <a:lnTo>
                  <a:pt x="250459" y="41365"/>
                </a:lnTo>
                <a:cubicBezTo>
                  <a:pt x="242845" y="28177"/>
                  <a:pt x="247364" y="11313"/>
                  <a:pt x="260552" y="3699"/>
                </a:cubicBezTo>
                <a:cubicBezTo>
                  <a:pt x="265498" y="844"/>
                  <a:pt x="270960" y="-305"/>
                  <a:pt x="276258" y="69"/>
                </a:cubicBezTo>
                <a:close/>
              </a:path>
            </a:pathLst>
          </a:custGeom>
          <a:solidFill>
            <a:srgbClr val="E4A90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endParaRPr lang="zh-CN" altLang="en-US" sz="135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任意多边形 59"/>
          <p:cNvSpPr/>
          <p:nvPr>
            <p:custDataLst>
              <p:tags r:id="rId4"/>
            </p:custDataLst>
          </p:nvPr>
        </p:nvSpPr>
        <p:spPr>
          <a:xfrm rot="5400000">
            <a:off x="3158018" y="3487105"/>
            <a:ext cx="845339" cy="923715"/>
          </a:xfrm>
          <a:custGeom>
            <a:avLst/>
            <a:gdLst>
              <a:gd name="connsiteX0" fmla="*/ 0 w 1149799"/>
              <a:gd name="connsiteY0" fmla="*/ 681503 h 1256402"/>
              <a:gd name="connsiteX1" fmla="*/ 459037 w 1149799"/>
              <a:gd name="connsiteY1" fmla="*/ 118283 h 1256402"/>
              <a:gd name="connsiteX2" fmla="*/ 510975 w 1149799"/>
              <a:gd name="connsiteY2" fmla="*/ 113048 h 1256402"/>
              <a:gd name="connsiteX3" fmla="*/ 593014 w 1149799"/>
              <a:gd name="connsiteY3" fmla="*/ 0 h 1256402"/>
              <a:gd name="connsiteX4" fmla="*/ 677913 w 1149799"/>
              <a:gd name="connsiteY4" fmla="*/ 116988 h 1256402"/>
              <a:gd name="connsiteX5" fmla="*/ 690762 w 1149799"/>
              <a:gd name="connsiteY5" fmla="*/ 118283 h 1256402"/>
              <a:gd name="connsiteX6" fmla="*/ 1149799 w 1149799"/>
              <a:gd name="connsiteY6" fmla="*/ 681503 h 1256402"/>
              <a:gd name="connsiteX7" fmla="*/ 574900 w 1149799"/>
              <a:gd name="connsiteY7" fmla="*/ 1256402 h 1256402"/>
              <a:gd name="connsiteX8" fmla="*/ 0 w 1149799"/>
              <a:gd name="connsiteY8" fmla="*/ 681503 h 12564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49799" h="1256402">
                <a:moveTo>
                  <a:pt x="0" y="681503"/>
                </a:moveTo>
                <a:cubicBezTo>
                  <a:pt x="0" y="403683"/>
                  <a:pt x="197065" y="171891"/>
                  <a:pt x="459037" y="118283"/>
                </a:cubicBezTo>
                <a:lnTo>
                  <a:pt x="510975" y="113048"/>
                </a:lnTo>
                <a:lnTo>
                  <a:pt x="593014" y="0"/>
                </a:lnTo>
                <a:lnTo>
                  <a:pt x="677913" y="116988"/>
                </a:lnTo>
                <a:lnTo>
                  <a:pt x="690762" y="118283"/>
                </a:lnTo>
                <a:cubicBezTo>
                  <a:pt x="952734" y="171891"/>
                  <a:pt x="1149799" y="403683"/>
                  <a:pt x="1149799" y="681503"/>
                </a:cubicBezTo>
                <a:cubicBezTo>
                  <a:pt x="1149799" y="999011"/>
                  <a:pt x="892408" y="1256402"/>
                  <a:pt x="574900" y="1256402"/>
                </a:cubicBezTo>
                <a:cubicBezTo>
                  <a:pt x="257391" y="1256402"/>
                  <a:pt x="0" y="999011"/>
                  <a:pt x="0" y="681503"/>
                </a:cubicBezTo>
                <a:close/>
              </a:path>
            </a:pathLst>
          </a:custGeom>
          <a:noFill/>
          <a:ln w="28575" cap="flat" cmpd="sng" algn="ctr">
            <a:solidFill>
              <a:srgbClr val="E4A903"/>
            </a:solidFill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/>
            <a:endParaRPr lang="zh-CN" altLang="en-US" sz="2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Freeform 45"/>
          <p:cNvSpPr/>
          <p:nvPr>
            <p:custDataLst>
              <p:tags r:id="rId5"/>
            </p:custDataLst>
          </p:nvPr>
        </p:nvSpPr>
        <p:spPr bwMode="auto">
          <a:xfrm>
            <a:off x="3339938" y="5166678"/>
            <a:ext cx="377469" cy="331557"/>
          </a:xfrm>
          <a:custGeom>
            <a:avLst/>
            <a:gdLst>
              <a:gd name="T0" fmla="*/ 93 w 327"/>
              <a:gd name="T1" fmla="*/ 5 h 287"/>
              <a:gd name="T2" fmla="*/ 123 w 327"/>
              <a:gd name="T3" fmla="*/ 4 h 287"/>
              <a:gd name="T4" fmla="*/ 201 w 327"/>
              <a:gd name="T5" fmla="*/ 37 h 287"/>
              <a:gd name="T6" fmla="*/ 224 w 327"/>
              <a:gd name="T7" fmla="*/ 39 h 287"/>
              <a:gd name="T8" fmla="*/ 299 w 327"/>
              <a:gd name="T9" fmla="*/ 11 h 287"/>
              <a:gd name="T10" fmla="*/ 320 w 327"/>
              <a:gd name="T11" fmla="*/ 9 h 287"/>
              <a:gd name="T12" fmla="*/ 325 w 327"/>
              <a:gd name="T13" fmla="*/ 29 h 287"/>
              <a:gd name="T14" fmla="*/ 325 w 327"/>
              <a:gd name="T15" fmla="*/ 133 h 287"/>
              <a:gd name="T16" fmla="*/ 297 w 327"/>
              <a:gd name="T17" fmla="*/ 104 h 287"/>
              <a:gd name="T18" fmla="*/ 296 w 327"/>
              <a:gd name="T19" fmla="*/ 44 h 287"/>
              <a:gd name="T20" fmla="*/ 214 w 327"/>
              <a:gd name="T21" fmla="*/ 72 h 287"/>
              <a:gd name="T22" fmla="*/ 109 w 327"/>
              <a:gd name="T23" fmla="*/ 29 h 287"/>
              <a:gd name="T24" fmla="*/ 27 w 327"/>
              <a:gd name="T25" fmla="*/ 67 h 287"/>
              <a:gd name="T26" fmla="*/ 27 w 327"/>
              <a:gd name="T27" fmla="*/ 249 h 287"/>
              <a:gd name="T28" fmla="*/ 94 w 327"/>
              <a:gd name="T29" fmla="*/ 219 h 287"/>
              <a:gd name="T30" fmla="*/ 105 w 327"/>
              <a:gd name="T31" fmla="*/ 247 h 287"/>
              <a:gd name="T32" fmla="*/ 23 w 327"/>
              <a:gd name="T33" fmla="*/ 283 h 287"/>
              <a:gd name="T34" fmla="*/ 2 w 327"/>
              <a:gd name="T35" fmla="*/ 285 h 287"/>
              <a:gd name="T36" fmla="*/ 2 w 327"/>
              <a:gd name="T37" fmla="*/ 46 h 287"/>
              <a:gd name="T38" fmla="*/ 93 w 327"/>
              <a:gd name="T39" fmla="*/ 5 h 2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327" h="287">
                <a:moveTo>
                  <a:pt x="93" y="5"/>
                </a:moveTo>
                <a:cubicBezTo>
                  <a:pt x="102" y="0"/>
                  <a:pt x="113" y="0"/>
                  <a:pt x="123" y="4"/>
                </a:cubicBezTo>
                <a:cubicBezTo>
                  <a:pt x="149" y="15"/>
                  <a:pt x="175" y="25"/>
                  <a:pt x="201" y="37"/>
                </a:cubicBezTo>
                <a:cubicBezTo>
                  <a:pt x="208" y="41"/>
                  <a:pt x="216" y="42"/>
                  <a:pt x="224" y="39"/>
                </a:cubicBezTo>
                <a:cubicBezTo>
                  <a:pt x="249" y="30"/>
                  <a:pt x="274" y="20"/>
                  <a:pt x="299" y="11"/>
                </a:cubicBezTo>
                <a:cubicBezTo>
                  <a:pt x="305" y="8"/>
                  <a:pt x="313" y="7"/>
                  <a:pt x="320" y="9"/>
                </a:cubicBezTo>
                <a:cubicBezTo>
                  <a:pt x="327" y="13"/>
                  <a:pt x="325" y="22"/>
                  <a:pt x="325" y="29"/>
                </a:cubicBezTo>
                <a:cubicBezTo>
                  <a:pt x="325" y="64"/>
                  <a:pt x="326" y="99"/>
                  <a:pt x="325" y="133"/>
                </a:cubicBezTo>
                <a:cubicBezTo>
                  <a:pt x="316" y="123"/>
                  <a:pt x="307" y="113"/>
                  <a:pt x="297" y="104"/>
                </a:cubicBezTo>
                <a:cubicBezTo>
                  <a:pt x="296" y="84"/>
                  <a:pt x="297" y="64"/>
                  <a:pt x="296" y="44"/>
                </a:cubicBezTo>
                <a:cubicBezTo>
                  <a:pt x="268" y="50"/>
                  <a:pt x="242" y="66"/>
                  <a:pt x="214" y="72"/>
                </a:cubicBezTo>
                <a:cubicBezTo>
                  <a:pt x="178" y="61"/>
                  <a:pt x="144" y="43"/>
                  <a:pt x="109" y="29"/>
                </a:cubicBezTo>
                <a:cubicBezTo>
                  <a:pt x="98" y="34"/>
                  <a:pt x="44" y="59"/>
                  <a:pt x="27" y="67"/>
                </a:cubicBezTo>
                <a:cubicBezTo>
                  <a:pt x="26" y="81"/>
                  <a:pt x="25" y="203"/>
                  <a:pt x="27" y="249"/>
                </a:cubicBezTo>
                <a:cubicBezTo>
                  <a:pt x="50" y="241"/>
                  <a:pt x="72" y="229"/>
                  <a:pt x="94" y="219"/>
                </a:cubicBezTo>
                <a:cubicBezTo>
                  <a:pt x="101" y="227"/>
                  <a:pt x="103" y="237"/>
                  <a:pt x="105" y="247"/>
                </a:cubicBezTo>
                <a:cubicBezTo>
                  <a:pt x="77" y="258"/>
                  <a:pt x="51" y="272"/>
                  <a:pt x="23" y="283"/>
                </a:cubicBezTo>
                <a:cubicBezTo>
                  <a:pt x="16" y="287"/>
                  <a:pt x="9" y="285"/>
                  <a:pt x="2" y="285"/>
                </a:cubicBezTo>
                <a:cubicBezTo>
                  <a:pt x="1" y="235"/>
                  <a:pt x="0" y="77"/>
                  <a:pt x="2" y="46"/>
                </a:cubicBezTo>
                <a:cubicBezTo>
                  <a:pt x="32" y="32"/>
                  <a:pt x="63" y="19"/>
                  <a:pt x="93" y="5"/>
                </a:cubicBezTo>
                <a:close/>
              </a:path>
            </a:pathLst>
          </a:custGeom>
          <a:solidFill>
            <a:srgbClr val="E4A90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endParaRPr lang="zh-CN" altLang="en-US" sz="135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Freeform 46"/>
          <p:cNvSpPr>
            <a:spLocks noEditPoints="1"/>
          </p:cNvSpPr>
          <p:nvPr>
            <p:custDataLst>
              <p:tags r:id="rId6"/>
            </p:custDataLst>
          </p:nvPr>
        </p:nvSpPr>
        <p:spPr bwMode="auto">
          <a:xfrm>
            <a:off x="3463527" y="5281085"/>
            <a:ext cx="305748" cy="302521"/>
          </a:xfrm>
          <a:custGeom>
            <a:avLst/>
            <a:gdLst>
              <a:gd name="T0" fmla="*/ 13 w 265"/>
              <a:gd name="T1" fmla="*/ 118 h 262"/>
              <a:gd name="T2" fmla="*/ 98 w 265"/>
              <a:gd name="T3" fmla="*/ 2 h 262"/>
              <a:gd name="T4" fmla="*/ 167 w 265"/>
              <a:gd name="T5" fmla="*/ 21 h 262"/>
              <a:gd name="T6" fmla="*/ 198 w 265"/>
              <a:gd name="T7" fmla="*/ 58 h 262"/>
              <a:gd name="T8" fmla="*/ 206 w 265"/>
              <a:gd name="T9" fmla="*/ 110 h 262"/>
              <a:gd name="T10" fmla="*/ 184 w 265"/>
              <a:gd name="T11" fmla="*/ 167 h 262"/>
              <a:gd name="T12" fmla="*/ 215 w 265"/>
              <a:gd name="T13" fmla="*/ 181 h 262"/>
              <a:gd name="T14" fmla="*/ 255 w 265"/>
              <a:gd name="T15" fmla="*/ 220 h 262"/>
              <a:gd name="T16" fmla="*/ 224 w 265"/>
              <a:gd name="T17" fmla="*/ 252 h 262"/>
              <a:gd name="T18" fmla="*/ 177 w 265"/>
              <a:gd name="T19" fmla="*/ 211 h 262"/>
              <a:gd name="T20" fmla="*/ 161 w 265"/>
              <a:gd name="T21" fmla="*/ 183 h 262"/>
              <a:gd name="T22" fmla="*/ 90 w 265"/>
              <a:gd name="T23" fmla="*/ 195 h 262"/>
              <a:gd name="T24" fmla="*/ 13 w 265"/>
              <a:gd name="T25" fmla="*/ 118 h 262"/>
              <a:gd name="T26" fmla="*/ 100 w 265"/>
              <a:gd name="T27" fmla="*/ 36 h 262"/>
              <a:gd name="T28" fmla="*/ 50 w 265"/>
              <a:gd name="T29" fmla="*/ 74 h 262"/>
              <a:gd name="T30" fmla="*/ 82 w 265"/>
              <a:gd name="T31" fmla="*/ 158 h 262"/>
              <a:gd name="T32" fmla="*/ 171 w 265"/>
              <a:gd name="T33" fmla="*/ 115 h 262"/>
              <a:gd name="T34" fmla="*/ 100 w 265"/>
              <a:gd name="T35" fmla="*/ 36 h 2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265" h="262">
                <a:moveTo>
                  <a:pt x="13" y="118"/>
                </a:moveTo>
                <a:cubicBezTo>
                  <a:pt x="0" y="64"/>
                  <a:pt x="44" y="7"/>
                  <a:pt x="98" y="2"/>
                </a:cubicBezTo>
                <a:cubicBezTo>
                  <a:pt x="120" y="0"/>
                  <a:pt x="150" y="7"/>
                  <a:pt x="167" y="21"/>
                </a:cubicBezTo>
                <a:cubicBezTo>
                  <a:pt x="180" y="30"/>
                  <a:pt x="190" y="44"/>
                  <a:pt x="198" y="58"/>
                </a:cubicBezTo>
                <a:cubicBezTo>
                  <a:pt x="205" y="72"/>
                  <a:pt x="207" y="95"/>
                  <a:pt x="206" y="110"/>
                </a:cubicBezTo>
                <a:cubicBezTo>
                  <a:pt x="205" y="131"/>
                  <a:pt x="192" y="148"/>
                  <a:pt x="184" y="167"/>
                </a:cubicBezTo>
                <a:cubicBezTo>
                  <a:pt x="195" y="170"/>
                  <a:pt x="207" y="172"/>
                  <a:pt x="215" y="181"/>
                </a:cubicBezTo>
                <a:cubicBezTo>
                  <a:pt x="228" y="195"/>
                  <a:pt x="246" y="204"/>
                  <a:pt x="255" y="220"/>
                </a:cubicBezTo>
                <a:cubicBezTo>
                  <a:pt x="265" y="239"/>
                  <a:pt x="242" y="262"/>
                  <a:pt x="224" y="252"/>
                </a:cubicBezTo>
                <a:cubicBezTo>
                  <a:pt x="207" y="240"/>
                  <a:pt x="192" y="225"/>
                  <a:pt x="177" y="211"/>
                </a:cubicBezTo>
                <a:cubicBezTo>
                  <a:pt x="168" y="204"/>
                  <a:pt x="172" y="189"/>
                  <a:pt x="161" y="183"/>
                </a:cubicBezTo>
                <a:cubicBezTo>
                  <a:pt x="139" y="193"/>
                  <a:pt x="114" y="202"/>
                  <a:pt x="90" y="195"/>
                </a:cubicBezTo>
                <a:cubicBezTo>
                  <a:pt x="51" y="188"/>
                  <a:pt x="20" y="156"/>
                  <a:pt x="13" y="118"/>
                </a:cubicBezTo>
                <a:close/>
                <a:moveTo>
                  <a:pt x="100" y="36"/>
                </a:moveTo>
                <a:cubicBezTo>
                  <a:pt x="78" y="40"/>
                  <a:pt x="59" y="54"/>
                  <a:pt x="50" y="74"/>
                </a:cubicBezTo>
                <a:cubicBezTo>
                  <a:pt x="38" y="105"/>
                  <a:pt x="50" y="145"/>
                  <a:pt x="82" y="158"/>
                </a:cubicBezTo>
                <a:cubicBezTo>
                  <a:pt x="117" y="175"/>
                  <a:pt x="163" y="153"/>
                  <a:pt x="171" y="115"/>
                </a:cubicBezTo>
                <a:cubicBezTo>
                  <a:pt x="184" y="73"/>
                  <a:pt x="142" y="28"/>
                  <a:pt x="100" y="36"/>
                </a:cubicBezTo>
                <a:close/>
              </a:path>
            </a:pathLst>
          </a:custGeom>
          <a:solidFill>
            <a:srgbClr val="E4A90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endParaRPr lang="zh-CN" altLang="en-US" sz="135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Freeform 47"/>
          <p:cNvSpPr/>
          <p:nvPr>
            <p:custDataLst>
              <p:tags r:id="rId7"/>
            </p:custDataLst>
          </p:nvPr>
        </p:nvSpPr>
        <p:spPr bwMode="auto">
          <a:xfrm>
            <a:off x="3525819" y="5388543"/>
            <a:ext cx="69240" cy="73707"/>
          </a:xfrm>
          <a:custGeom>
            <a:avLst/>
            <a:gdLst>
              <a:gd name="T0" fmla="*/ 0 w 60"/>
              <a:gd name="T1" fmla="*/ 10 h 64"/>
              <a:gd name="T2" fmla="*/ 19 w 60"/>
              <a:gd name="T3" fmla="*/ 1 h 64"/>
              <a:gd name="T4" fmla="*/ 31 w 60"/>
              <a:gd name="T5" fmla="*/ 27 h 64"/>
              <a:gd name="T6" fmla="*/ 59 w 60"/>
              <a:gd name="T7" fmla="*/ 42 h 64"/>
              <a:gd name="T8" fmla="*/ 60 w 60"/>
              <a:gd name="T9" fmla="*/ 58 h 64"/>
              <a:gd name="T10" fmla="*/ 0 w 60"/>
              <a:gd name="T11" fmla="*/ 1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0" h="64">
                <a:moveTo>
                  <a:pt x="0" y="10"/>
                </a:moveTo>
                <a:cubicBezTo>
                  <a:pt x="1" y="0"/>
                  <a:pt x="12" y="0"/>
                  <a:pt x="19" y="1"/>
                </a:cubicBezTo>
                <a:cubicBezTo>
                  <a:pt x="21" y="10"/>
                  <a:pt x="24" y="20"/>
                  <a:pt x="31" y="27"/>
                </a:cubicBezTo>
                <a:cubicBezTo>
                  <a:pt x="38" y="35"/>
                  <a:pt x="49" y="38"/>
                  <a:pt x="59" y="42"/>
                </a:cubicBezTo>
                <a:cubicBezTo>
                  <a:pt x="60" y="47"/>
                  <a:pt x="60" y="52"/>
                  <a:pt x="60" y="58"/>
                </a:cubicBezTo>
                <a:cubicBezTo>
                  <a:pt x="31" y="64"/>
                  <a:pt x="4" y="38"/>
                  <a:pt x="0" y="10"/>
                </a:cubicBezTo>
                <a:close/>
              </a:path>
            </a:pathLst>
          </a:custGeom>
          <a:solidFill>
            <a:srgbClr val="E4A90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rmAutofit fontScale="25000" lnSpcReduction="20000"/>
          </a:bodyPr>
          <a:lstStyle/>
          <a:p>
            <a:endParaRPr lang="zh-CN" altLang="en-US" sz="135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任意多边形 59"/>
          <p:cNvSpPr/>
          <p:nvPr>
            <p:custDataLst>
              <p:tags r:id="rId8"/>
            </p:custDataLst>
          </p:nvPr>
        </p:nvSpPr>
        <p:spPr>
          <a:xfrm rot="5400000">
            <a:off x="3174538" y="4907635"/>
            <a:ext cx="845339" cy="923715"/>
          </a:xfrm>
          <a:custGeom>
            <a:avLst/>
            <a:gdLst>
              <a:gd name="connsiteX0" fmla="*/ 0 w 1149799"/>
              <a:gd name="connsiteY0" fmla="*/ 681503 h 1256402"/>
              <a:gd name="connsiteX1" fmla="*/ 459037 w 1149799"/>
              <a:gd name="connsiteY1" fmla="*/ 118283 h 1256402"/>
              <a:gd name="connsiteX2" fmla="*/ 510975 w 1149799"/>
              <a:gd name="connsiteY2" fmla="*/ 113048 h 1256402"/>
              <a:gd name="connsiteX3" fmla="*/ 593014 w 1149799"/>
              <a:gd name="connsiteY3" fmla="*/ 0 h 1256402"/>
              <a:gd name="connsiteX4" fmla="*/ 677913 w 1149799"/>
              <a:gd name="connsiteY4" fmla="*/ 116988 h 1256402"/>
              <a:gd name="connsiteX5" fmla="*/ 690762 w 1149799"/>
              <a:gd name="connsiteY5" fmla="*/ 118283 h 1256402"/>
              <a:gd name="connsiteX6" fmla="*/ 1149799 w 1149799"/>
              <a:gd name="connsiteY6" fmla="*/ 681503 h 1256402"/>
              <a:gd name="connsiteX7" fmla="*/ 574900 w 1149799"/>
              <a:gd name="connsiteY7" fmla="*/ 1256402 h 1256402"/>
              <a:gd name="connsiteX8" fmla="*/ 0 w 1149799"/>
              <a:gd name="connsiteY8" fmla="*/ 681503 h 12564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49799" h="1256402">
                <a:moveTo>
                  <a:pt x="0" y="681503"/>
                </a:moveTo>
                <a:cubicBezTo>
                  <a:pt x="0" y="403683"/>
                  <a:pt x="197065" y="171891"/>
                  <a:pt x="459037" y="118283"/>
                </a:cubicBezTo>
                <a:lnTo>
                  <a:pt x="510975" y="113048"/>
                </a:lnTo>
                <a:lnTo>
                  <a:pt x="593014" y="0"/>
                </a:lnTo>
                <a:lnTo>
                  <a:pt x="677913" y="116988"/>
                </a:lnTo>
                <a:lnTo>
                  <a:pt x="690762" y="118283"/>
                </a:lnTo>
                <a:cubicBezTo>
                  <a:pt x="952734" y="171891"/>
                  <a:pt x="1149799" y="403683"/>
                  <a:pt x="1149799" y="681503"/>
                </a:cubicBezTo>
                <a:cubicBezTo>
                  <a:pt x="1149799" y="999011"/>
                  <a:pt x="892408" y="1256402"/>
                  <a:pt x="574900" y="1256402"/>
                </a:cubicBezTo>
                <a:cubicBezTo>
                  <a:pt x="257391" y="1256402"/>
                  <a:pt x="0" y="999011"/>
                  <a:pt x="0" y="681503"/>
                </a:cubicBezTo>
                <a:close/>
              </a:path>
            </a:pathLst>
          </a:custGeom>
          <a:noFill/>
          <a:ln w="28575" cap="flat" cmpd="sng" algn="ctr">
            <a:solidFill>
              <a:srgbClr val="E4A903"/>
            </a:solidFill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/>
            <a:endParaRPr lang="zh-CN" altLang="en-US" sz="2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>
            <p:custDataLst>
              <p:tags r:id="rId9"/>
            </p:custDataLst>
          </p:nvPr>
        </p:nvSpPr>
        <p:spPr>
          <a:xfrm>
            <a:off x="4206409" y="1983494"/>
            <a:ext cx="4069545" cy="1052686"/>
          </a:xfrm>
          <a:prstGeom prst="rect">
            <a:avLst/>
          </a:prstGeom>
        </p:spPr>
        <p:txBody>
          <a:bodyPr wrap="square" anchor="ctr" anchorCtr="0">
            <a:normAutofit/>
          </a:bodyPr>
          <a:lstStyle>
            <a:defPPr>
              <a:defRPr lang="zh-CN"/>
            </a:defPPr>
            <a:lvl1pPr>
              <a:lnSpc>
                <a:spcPct val="120000"/>
              </a:lnSpc>
            </a:lvl1pPr>
          </a:lstStyle>
          <a:p>
            <a:r>
              <a:rPr lang="zh-CN" altLang="en-US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定义自己的模块</a:t>
            </a:r>
          </a:p>
        </p:txBody>
      </p:sp>
      <p:sp>
        <p:nvSpPr>
          <p:cNvPr id="8" name="文本框 7"/>
          <p:cNvSpPr txBox="1"/>
          <p:nvPr>
            <p:custDataLst>
              <p:tags r:id="rId10"/>
            </p:custDataLst>
          </p:nvPr>
        </p:nvSpPr>
        <p:spPr>
          <a:xfrm>
            <a:off x="4206409" y="3441698"/>
            <a:ext cx="4069545" cy="1052686"/>
          </a:xfrm>
          <a:prstGeom prst="rect">
            <a:avLst/>
          </a:prstGeom>
        </p:spPr>
        <p:txBody>
          <a:bodyPr wrap="square" anchor="ctr" anchorCtr="0">
            <a:normAutofit/>
          </a:bodyPr>
          <a:lstStyle>
            <a:defPPr>
              <a:defRPr lang="zh-CN"/>
            </a:defPPr>
            <a:lvl1pPr>
              <a:lnSpc>
                <a:spcPct val="120000"/>
              </a:lnSpc>
            </a:lvl1pPr>
          </a:lstStyle>
          <a:p>
            <a:r>
              <a:rPr lang="zh-CN" altLang="en-US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设置或更改路径</a:t>
            </a:r>
          </a:p>
        </p:txBody>
      </p:sp>
      <p:sp>
        <p:nvSpPr>
          <p:cNvPr id="12" name="文本框 11"/>
          <p:cNvSpPr txBox="1"/>
          <p:nvPr>
            <p:custDataLst>
              <p:tags r:id="rId11"/>
            </p:custDataLst>
          </p:nvPr>
        </p:nvSpPr>
        <p:spPr>
          <a:xfrm>
            <a:off x="4206409" y="4877258"/>
            <a:ext cx="4069545" cy="1052686"/>
          </a:xfrm>
          <a:prstGeom prst="rect">
            <a:avLst/>
          </a:prstGeom>
        </p:spPr>
        <p:txBody>
          <a:bodyPr wrap="square" anchor="ctr" anchorCtr="0">
            <a:normAutofit/>
          </a:bodyPr>
          <a:lstStyle>
            <a:defPPr>
              <a:defRPr lang="zh-CN"/>
            </a:defPPr>
            <a:lvl1pPr>
              <a:lnSpc>
                <a:spcPct val="120000"/>
              </a:lnSpc>
            </a:lvl1pPr>
          </a:lstStyle>
          <a:p>
            <a:r>
              <a:rPr lang="zh-CN" altLang="en-US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调用模块（</a:t>
            </a:r>
            <a:r>
              <a:rPr lang="en-US" altLang="zh-CN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import</a:t>
            </a:r>
            <a:r>
              <a:rPr lang="zh-CN" altLang="en-US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</a:p>
        </p:txBody>
      </p:sp>
      <p:sp>
        <p:nvSpPr>
          <p:cNvPr id="4" name="圆角矩形标注 3"/>
          <p:cNvSpPr/>
          <p:nvPr/>
        </p:nvSpPr>
        <p:spPr>
          <a:xfrm>
            <a:off x="6746875" y="2421890"/>
            <a:ext cx="4680585" cy="1440180"/>
          </a:xfrm>
          <a:prstGeom prst="wedgeRoundRectCallout">
            <a:avLst>
              <a:gd name="adj1" fmla="val -56023"/>
              <a:gd name="adj2" fmla="val 68959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如何导入的自定义模块</a:t>
            </a:r>
          </a:p>
        </p:txBody>
      </p:sp>
    </p:spTree>
  </p:cSld>
  <p:clrMapOvr>
    <a:masterClrMapping/>
  </p:clrMapOvr>
  <p:transition spd="slow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0205369" y="189434"/>
            <a:ext cx="20180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5.2 模块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02310" y="1676400"/>
            <a:ext cx="11520805" cy="42259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（1）同级目录下的调用</a:t>
            </a:r>
          </a:p>
          <a:p>
            <a:pPr>
              <a:lnSpc>
                <a:spcPct val="140000"/>
              </a:lnSpc>
            </a:pP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目录结构如下：</a:t>
            </a:r>
          </a:p>
          <a:p>
            <a:pPr>
              <a:lnSpc>
                <a:spcPct val="140000"/>
              </a:lnSpc>
            </a:pP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– src </a:t>
            </a:r>
          </a:p>
          <a:p>
            <a:pPr>
              <a:lnSpc>
                <a:spcPct val="140000"/>
              </a:lnSpc>
            </a:pP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|– mod1.py </a:t>
            </a:r>
          </a:p>
          <a:p>
            <a:pPr>
              <a:lnSpc>
                <a:spcPct val="140000"/>
              </a:lnSpc>
            </a:pP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|– test1.py</a:t>
            </a:r>
          </a:p>
          <a:p>
            <a:pPr>
              <a:lnSpc>
                <a:spcPct val="140000"/>
              </a:lnSpc>
            </a:pP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</a:p>
          <a:p>
            <a:pPr>
              <a:lnSpc>
                <a:spcPct val="140000"/>
              </a:lnSpc>
            </a:pP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若在程序test1.py中导入模块mod1, 则直接使用</a:t>
            </a: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import mod1 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或from mod1 import *</a:t>
            </a:r>
          </a:p>
        </p:txBody>
      </p:sp>
      <p:sp>
        <p:nvSpPr>
          <p:cNvPr id="11" name="标题 1"/>
          <p:cNvSpPr>
            <a:spLocks noGrp="1"/>
          </p:cNvSpPr>
          <p:nvPr/>
        </p:nvSpPr>
        <p:spPr>
          <a:xfrm>
            <a:off x="3975100" y="695960"/>
            <a:ext cx="4248785" cy="85725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kumimoji="0" lang="zh-CN"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altLang="en-US" sz="2800" dirty="0">
                <a:solidFill>
                  <a:srgbClr val="FF0000"/>
                </a:solidFill>
                <a:latin typeface="方正大黑简体" panose="03000509000000000000" pitchFamily="2" charset="-122"/>
                <a:ea typeface="方正大黑简体" panose="03000509000000000000" pitchFamily="2" charset="-122"/>
              </a:rPr>
              <a:t>导入自定义模块的方法</a:t>
            </a:r>
            <a:endParaRPr lang="en-US" altLang="zh-CN" sz="2800" dirty="0">
              <a:solidFill>
                <a:srgbClr val="FF0000"/>
              </a:solidFill>
              <a:latin typeface="方正大黑简体" panose="03000509000000000000" pitchFamily="2" charset="-122"/>
              <a:ea typeface="方正大黑简体" panose="03000509000000000000" pitchFamily="2" charset="-122"/>
            </a:endParaRPr>
          </a:p>
        </p:txBody>
      </p:sp>
    </p:spTree>
  </p:cSld>
  <p:clrMapOvr>
    <a:masterClrMapping/>
  </p:clrMapOvr>
  <p:transition spd="slow" advTm="0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0205369" y="189434"/>
            <a:ext cx="20180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5.2 模块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标题 1"/>
          <p:cNvSpPr>
            <a:spLocks noGrp="1"/>
          </p:cNvSpPr>
          <p:nvPr/>
        </p:nvSpPr>
        <p:spPr>
          <a:xfrm>
            <a:off x="3975100" y="695960"/>
            <a:ext cx="4248785" cy="85725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kumimoji="0" lang="zh-CN"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altLang="en-US" sz="2800" dirty="0">
                <a:solidFill>
                  <a:srgbClr val="FF0000"/>
                </a:solidFill>
                <a:latin typeface="方正大黑简体" panose="03000509000000000000" pitchFamily="2" charset="-122"/>
                <a:ea typeface="方正大黑简体" panose="03000509000000000000" pitchFamily="2" charset="-122"/>
              </a:rPr>
              <a:t>导入自定义模块的方法</a:t>
            </a:r>
            <a:endParaRPr lang="en-US" altLang="zh-CN" sz="2800" dirty="0">
              <a:solidFill>
                <a:srgbClr val="FF0000"/>
              </a:solidFill>
              <a:latin typeface="方正大黑简体" panose="03000509000000000000" pitchFamily="2" charset="-122"/>
              <a:ea typeface="方正大黑简体" panose="03000509000000000000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75615" y="1162050"/>
            <a:ext cx="11555095" cy="47428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）子目录下的调用</a:t>
            </a:r>
          </a:p>
          <a:p>
            <a:pPr>
              <a:lnSpc>
                <a:spcPct val="140000"/>
              </a:lnSpc>
            </a:pP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目录结构如下：</a:t>
            </a:r>
          </a:p>
          <a:p>
            <a:pPr>
              <a:lnSpc>
                <a:spcPct val="140000"/>
              </a:lnSpc>
            </a:pP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– src </a:t>
            </a:r>
          </a:p>
          <a:p>
            <a:pPr>
              <a:lnSpc>
                <a:spcPct val="140000"/>
              </a:lnSpc>
            </a:pP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|– mod1.py </a:t>
            </a:r>
          </a:p>
          <a:p>
            <a:pPr>
              <a:lnSpc>
                <a:spcPct val="140000"/>
              </a:lnSpc>
            </a:pP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|– lib </a:t>
            </a:r>
          </a:p>
          <a:p>
            <a:pPr>
              <a:lnSpc>
                <a:spcPct val="140000"/>
              </a:lnSpc>
            </a:pP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| |– mod2.py </a:t>
            </a:r>
          </a:p>
          <a:p>
            <a:pPr>
              <a:lnSpc>
                <a:spcPct val="140000"/>
              </a:lnSpc>
            </a:pP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|– test1.py</a:t>
            </a:r>
          </a:p>
          <a:p>
            <a:pPr>
              <a:lnSpc>
                <a:spcPct val="140000"/>
              </a:lnSpc>
            </a:pP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如果想在程序test1.py中导入模块mod2.py ，可以在lib件夹中建立空文件__init__.py文件 ，然后使用</a:t>
            </a: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import lib.mod2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7484745" y="2172970"/>
            <a:ext cx="2540000" cy="23069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spAutoFit/>
          </a:bodyPr>
          <a:lstStyle/>
          <a:p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– src </a:t>
            </a:r>
          </a:p>
          <a:p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|– mod1.py </a:t>
            </a:r>
          </a:p>
          <a:p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|– lib </a:t>
            </a:r>
          </a:p>
          <a:p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| |–__init__.py </a:t>
            </a:r>
          </a:p>
          <a:p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| |– mod2.py </a:t>
            </a:r>
          </a:p>
          <a:p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|– test1.py</a:t>
            </a:r>
          </a:p>
        </p:txBody>
      </p:sp>
    </p:spTree>
  </p:cSld>
  <p:clrMapOvr>
    <a:masterClrMapping/>
  </p:clrMapOvr>
  <p:transition spd="slow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2" grpId="1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0205369" y="189434"/>
            <a:ext cx="20180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5.2 模块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标题 1"/>
          <p:cNvSpPr>
            <a:spLocks noGrp="1"/>
          </p:cNvSpPr>
          <p:nvPr/>
        </p:nvSpPr>
        <p:spPr>
          <a:xfrm>
            <a:off x="3975100" y="695960"/>
            <a:ext cx="4248785" cy="85725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kumimoji="0" lang="zh-CN"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altLang="en-US" sz="2800" dirty="0">
                <a:solidFill>
                  <a:srgbClr val="FF0000"/>
                </a:solidFill>
                <a:latin typeface="方正大黑简体" panose="03000509000000000000" pitchFamily="2" charset="-122"/>
                <a:ea typeface="方正大黑简体" panose="03000509000000000000" pitchFamily="2" charset="-122"/>
              </a:rPr>
              <a:t>导入自定义模块的方法</a:t>
            </a:r>
            <a:endParaRPr lang="en-US" altLang="zh-CN" sz="2800" dirty="0">
              <a:solidFill>
                <a:srgbClr val="FF0000"/>
              </a:solidFill>
              <a:latin typeface="方正大黑简体" panose="03000509000000000000" pitchFamily="2" charset="-122"/>
              <a:ea typeface="方正大黑简体" panose="03000509000000000000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75615" y="1162050"/>
            <a:ext cx="11555095" cy="52590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 调用上级目录下的模块</a:t>
            </a:r>
          </a:p>
          <a:p>
            <a:pPr>
              <a:lnSpc>
                <a:spcPct val="140000"/>
              </a:lnSpc>
            </a:pP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目录结构如下：</a:t>
            </a:r>
          </a:p>
          <a:p>
            <a:pPr>
              <a:lnSpc>
                <a:spcPct val="140000"/>
              </a:lnSpc>
            </a:pP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– src </a:t>
            </a:r>
          </a:p>
          <a:p>
            <a:pPr>
              <a:lnSpc>
                <a:spcPct val="140000"/>
              </a:lnSpc>
            </a:pP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|– mod1.py </a:t>
            </a:r>
          </a:p>
          <a:p>
            <a:pPr>
              <a:lnSpc>
                <a:spcPct val="140000"/>
              </a:lnSpc>
            </a:pP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|– lib </a:t>
            </a:r>
          </a:p>
          <a:p>
            <a:pPr>
              <a:lnSpc>
                <a:spcPct val="140000"/>
              </a:lnSpc>
            </a:pP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| |– mod2.py </a:t>
            </a:r>
          </a:p>
          <a:p>
            <a:pPr>
              <a:lnSpc>
                <a:spcPct val="140000"/>
              </a:lnSpc>
            </a:pP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|– sub </a:t>
            </a:r>
          </a:p>
          <a:p>
            <a:pPr>
              <a:lnSpc>
                <a:spcPct val="140000"/>
              </a:lnSpc>
            </a:pP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| |– test2.py</a:t>
            </a:r>
          </a:p>
          <a:p>
            <a:pPr>
              <a:lnSpc>
                <a:spcPct val="140000"/>
              </a:lnSpc>
            </a:pP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要实现test2.py调用mod1.py和mod2.py ，做法先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调</a:t>
            </a: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到src目录下面，直接调用mod1，然后在lib上建__init__.py ，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其他方法同前面即可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8349615" y="1617345"/>
            <a:ext cx="2540000" cy="26765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spAutoFit/>
          </a:bodyPr>
          <a:lstStyle/>
          <a:p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– src </a:t>
            </a:r>
          </a:p>
          <a:p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|– mod1.py </a:t>
            </a:r>
          </a:p>
          <a:p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|– lib </a:t>
            </a:r>
          </a:p>
          <a:p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| |– mod2.py </a:t>
            </a:r>
          </a:p>
          <a:p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| |– </a:t>
            </a: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__init__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.py</a:t>
            </a:r>
            <a:endParaRPr lang="zh-CN" altLang="en-US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|– sub </a:t>
            </a:r>
          </a:p>
          <a:p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| |– test2.py</a:t>
            </a:r>
          </a:p>
        </p:txBody>
      </p:sp>
    </p:spTree>
  </p:cSld>
  <p:clrMapOvr>
    <a:masterClrMapping/>
  </p:clrMapOvr>
  <p:transition spd="slow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2" grpId="1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0205369" y="189434"/>
            <a:ext cx="20180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5.2 模块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标题 1"/>
          <p:cNvSpPr>
            <a:spLocks noGrp="1"/>
          </p:cNvSpPr>
          <p:nvPr/>
        </p:nvSpPr>
        <p:spPr>
          <a:xfrm>
            <a:off x="3975100" y="695960"/>
            <a:ext cx="4248785" cy="85725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kumimoji="0" lang="zh-CN"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altLang="en-US" sz="2800" dirty="0">
                <a:solidFill>
                  <a:srgbClr val="FF0000"/>
                </a:solidFill>
                <a:latin typeface="方正大黑简体" panose="03000509000000000000" pitchFamily="2" charset="-122"/>
                <a:ea typeface="方正大黑简体" panose="03000509000000000000" pitchFamily="2" charset="-122"/>
              </a:rPr>
              <a:t>导入自定义模块的方法</a:t>
            </a:r>
            <a:endParaRPr lang="en-US" altLang="zh-CN" sz="2800" dirty="0">
              <a:solidFill>
                <a:srgbClr val="FF0000"/>
              </a:solidFill>
              <a:latin typeface="方正大黑简体" panose="03000509000000000000" pitchFamily="2" charset="-122"/>
              <a:ea typeface="方正大黑简体" panose="03000509000000000000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75615" y="1162050"/>
            <a:ext cx="11555095" cy="11245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）完全处于不同的目录</a:t>
            </a:r>
          </a:p>
          <a:p>
            <a:pPr>
              <a:lnSpc>
                <a:spcPct val="140000"/>
              </a:lnSpc>
            </a:pPr>
            <a:endParaRPr lang="zh-CN" altLang="en-US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91820" y="2153285"/>
            <a:ext cx="2540000" cy="11988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spAutoFit/>
          </a:bodyPr>
          <a:lstStyle/>
          <a:p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– </a:t>
            </a: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</a:rPr>
              <a:t>fileA</a:t>
            </a:r>
            <a:endParaRPr lang="zh-CN" altLang="en-US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|– mod1.py </a:t>
            </a:r>
          </a:p>
          <a:p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</a:rPr>
              <a:t>- mod2.py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075930" y="2153285"/>
            <a:ext cx="2540000" cy="11988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spAutoFit/>
          </a:bodyPr>
          <a:lstStyle/>
          <a:p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– </a:t>
            </a: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</a:rPr>
              <a:t>fileB</a:t>
            </a:r>
            <a:endParaRPr lang="zh-CN" altLang="en-US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|– </a:t>
            </a: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</a:rPr>
              <a:t>test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1.py </a:t>
            </a:r>
          </a:p>
          <a:p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</a:rPr>
              <a:t>- test2.py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3567430" y="2522220"/>
            <a:ext cx="354393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test2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调用</a:t>
            </a: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mod1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模块？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3015615" y="4019550"/>
            <a:ext cx="354393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第一种，添加环境变量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3015615" y="5031740"/>
            <a:ext cx="70231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第二种，使用</a:t>
            </a: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sys.path.append(“D:\\fileA”)</a:t>
            </a:r>
            <a:endParaRPr lang="zh-CN" altLang="en-US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91820" y="3455670"/>
            <a:ext cx="354393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D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盘（</a:t>
            </a: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D:\\fileA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7964805" y="3455670"/>
            <a:ext cx="354393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E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盘（</a:t>
            </a: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E:\\fileB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</a:t>
            </a:r>
          </a:p>
        </p:txBody>
      </p:sp>
    </p:spTree>
  </p:cSld>
  <p:clrMapOvr>
    <a:masterClrMapping/>
  </p:clrMapOvr>
  <p:transition spd="slow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1" animBg="1"/>
      <p:bldP spid="3" grpId="1" animBg="1"/>
      <p:bldP spid="4" grpId="0"/>
      <p:bldP spid="4" grpId="1"/>
      <p:bldP spid="8" grpId="0"/>
      <p:bldP spid="9" grpId="0"/>
      <p:bldP spid="10" grpId="1"/>
      <p:bldP spid="11" grpId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0205369" y="189434"/>
            <a:ext cx="20180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5.2 模块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29590" y="772795"/>
            <a:ext cx="11555095" cy="6940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zh-CN" sz="28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28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、内建模块（</a:t>
            </a:r>
            <a:r>
              <a:rPr lang="en-US" altLang="zh-CN" sz="28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build-in modules</a:t>
            </a:r>
            <a:r>
              <a:rPr lang="zh-CN" altLang="en-US" sz="28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</a:p>
        </p:txBody>
      </p:sp>
      <p:cxnSp>
        <p:nvCxnSpPr>
          <p:cNvPr id="45" name="Shape 128"/>
          <p:cNvCxnSpPr/>
          <p:nvPr>
            <p:custDataLst>
              <p:tags r:id="rId1"/>
            </p:custDataLst>
          </p:nvPr>
        </p:nvCxnSpPr>
        <p:spPr>
          <a:xfrm flipV="1">
            <a:off x="5926559" y="2716005"/>
            <a:ext cx="2993377" cy="1214721"/>
          </a:xfrm>
          <a:prstGeom prst="bentConnector2">
            <a:avLst/>
          </a:prstGeom>
          <a:noFill/>
          <a:ln w="19050" cap="flat" cmpd="sng" algn="ctr">
            <a:solidFill>
              <a:sysClr val="window" lastClr="FFFFFF">
                <a:lumMod val="85000"/>
              </a:sysClr>
            </a:solidFill>
            <a:prstDash val="sysDash"/>
            <a:miter lim="800000"/>
          </a:ln>
          <a:effectLst/>
        </p:spPr>
      </p:cxnSp>
      <p:cxnSp>
        <p:nvCxnSpPr>
          <p:cNvPr id="27" name="Shape 124"/>
          <p:cNvCxnSpPr/>
          <p:nvPr>
            <p:custDataLst>
              <p:tags r:id="rId2"/>
            </p:custDataLst>
          </p:nvPr>
        </p:nvCxnSpPr>
        <p:spPr>
          <a:xfrm rot="10800000">
            <a:off x="3015524" y="2805034"/>
            <a:ext cx="2901347" cy="1125692"/>
          </a:xfrm>
          <a:prstGeom prst="bentConnector2">
            <a:avLst/>
          </a:prstGeom>
          <a:noFill/>
          <a:ln w="19050" cap="flat" cmpd="sng" algn="ctr">
            <a:solidFill>
              <a:sysClr val="window" lastClr="FFFFFF">
                <a:lumMod val="85000"/>
              </a:sysClr>
            </a:solidFill>
            <a:prstDash val="sysDash"/>
            <a:miter lim="800000"/>
            <a:tailEnd type="arrow"/>
          </a:ln>
          <a:effectLst/>
        </p:spPr>
      </p:cxnSp>
      <p:cxnSp>
        <p:nvCxnSpPr>
          <p:cNvPr id="28" name="Shape 124"/>
          <p:cNvCxnSpPr/>
          <p:nvPr>
            <p:custDataLst>
              <p:tags r:id="rId3"/>
            </p:custDataLst>
          </p:nvPr>
        </p:nvCxnSpPr>
        <p:spPr>
          <a:xfrm>
            <a:off x="6019040" y="4027251"/>
            <a:ext cx="2901347" cy="1125692"/>
          </a:xfrm>
          <a:prstGeom prst="bentConnector2">
            <a:avLst/>
          </a:prstGeom>
          <a:noFill/>
          <a:ln w="19050" cap="flat" cmpd="sng" algn="ctr">
            <a:solidFill>
              <a:sysClr val="window" lastClr="FFFFFF">
                <a:lumMod val="85000"/>
              </a:sysClr>
            </a:solidFill>
            <a:prstDash val="sysDash"/>
            <a:miter lim="800000"/>
            <a:tailEnd type="arrow"/>
          </a:ln>
          <a:effectLst/>
        </p:spPr>
      </p:cxnSp>
      <p:cxnSp>
        <p:nvCxnSpPr>
          <p:cNvPr id="29" name="Shape 128"/>
          <p:cNvCxnSpPr/>
          <p:nvPr>
            <p:custDataLst>
              <p:tags r:id="rId4"/>
            </p:custDataLst>
          </p:nvPr>
        </p:nvCxnSpPr>
        <p:spPr>
          <a:xfrm rot="10800000" flipV="1">
            <a:off x="3015975" y="4027251"/>
            <a:ext cx="2993377" cy="1214721"/>
          </a:xfrm>
          <a:prstGeom prst="bentConnector2">
            <a:avLst/>
          </a:prstGeom>
          <a:noFill/>
          <a:ln w="19050" cap="flat" cmpd="sng" algn="ctr">
            <a:solidFill>
              <a:sysClr val="window" lastClr="FFFFFF">
                <a:lumMod val="85000"/>
              </a:sysClr>
            </a:solidFill>
            <a:prstDash val="sysDash"/>
            <a:miter lim="800000"/>
          </a:ln>
          <a:effectLst/>
        </p:spPr>
      </p:cxnSp>
      <p:sp>
        <p:nvSpPr>
          <p:cNvPr id="30" name="矩形: 圆角 29"/>
          <p:cNvSpPr/>
          <p:nvPr>
            <p:custDataLst>
              <p:tags r:id="rId5"/>
            </p:custDataLst>
          </p:nvPr>
        </p:nvSpPr>
        <p:spPr>
          <a:xfrm>
            <a:off x="4289897" y="3496827"/>
            <a:ext cx="3359586" cy="964322"/>
          </a:xfrm>
          <a:prstGeom prst="roundRect">
            <a:avLst>
              <a:gd name="adj" fmla="val 50000"/>
            </a:avLst>
          </a:prstGeom>
          <a:solidFill>
            <a:sysClr val="window" lastClr="FFFFFF"/>
          </a:solidFill>
          <a:ln w="5080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1" name="矩形: 圆角 30"/>
          <p:cNvSpPr/>
          <p:nvPr>
            <p:custDataLst>
              <p:tags r:id="rId6"/>
            </p:custDataLst>
          </p:nvPr>
        </p:nvSpPr>
        <p:spPr>
          <a:xfrm>
            <a:off x="1837116" y="2260460"/>
            <a:ext cx="2361040" cy="964322"/>
          </a:xfrm>
          <a:prstGeom prst="roundRect">
            <a:avLst>
              <a:gd name="adj" fmla="val 50000"/>
            </a:avLst>
          </a:prstGeom>
          <a:solidFill>
            <a:sysClr val="window" lastClr="FFFFFF"/>
          </a:solidFill>
          <a:ln w="76200" cap="flat" cmpd="sng" algn="ctr">
            <a:solidFill>
              <a:srgbClr val="1F74AD">
                <a:lumMod val="60000"/>
                <a:lumOff val="4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2" name="矩形: 圆角 31"/>
          <p:cNvSpPr/>
          <p:nvPr>
            <p:custDataLst>
              <p:tags r:id="rId7"/>
            </p:custDataLst>
          </p:nvPr>
        </p:nvSpPr>
        <p:spPr>
          <a:xfrm>
            <a:off x="7739715" y="2260460"/>
            <a:ext cx="2361040" cy="964322"/>
          </a:xfrm>
          <a:prstGeom prst="roundRect">
            <a:avLst>
              <a:gd name="adj" fmla="val 50000"/>
            </a:avLst>
          </a:prstGeom>
          <a:solidFill>
            <a:sysClr val="window" lastClr="FFFFFF"/>
          </a:solidFill>
          <a:ln w="76200" cap="flat" cmpd="sng" algn="ctr">
            <a:solidFill>
              <a:srgbClr val="1AA3AA">
                <a:lumMod val="60000"/>
                <a:lumOff val="4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3" name="矩形 32"/>
          <p:cNvSpPr/>
          <p:nvPr>
            <p:custDataLst>
              <p:tags r:id="rId8"/>
            </p:custDataLst>
          </p:nvPr>
        </p:nvSpPr>
        <p:spPr>
          <a:xfrm>
            <a:off x="2138680" y="2451735"/>
            <a:ext cx="2479040" cy="36258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zh-CN" sz="2000" b="1" spc="300">
                <a:solidFill>
                  <a:srgbClr val="FF0000"/>
                </a:solidFill>
                <a:latin typeface="Arial Black" panose="020B0A04020102020204" pitchFamily="34" charset="0"/>
                <a:ea typeface="微软雅黑" panose="020B0503020204020204" pitchFamily="34" charset="-122"/>
                <a:cs typeface="Arial Black" panose="020B0A04020102020204" pitchFamily="34" charset="0"/>
                <a:sym typeface="Arial" panose="020B0604020202020204" pitchFamily="34" charset="0"/>
              </a:rPr>
              <a:t>collections</a:t>
            </a:r>
          </a:p>
        </p:txBody>
      </p:sp>
      <p:sp>
        <p:nvSpPr>
          <p:cNvPr id="34" name="椭圆 33"/>
          <p:cNvSpPr/>
          <p:nvPr>
            <p:custDataLst>
              <p:tags r:id="rId9"/>
            </p:custDataLst>
          </p:nvPr>
        </p:nvSpPr>
        <p:spPr>
          <a:xfrm>
            <a:off x="2068067" y="2671184"/>
            <a:ext cx="142875" cy="142875"/>
          </a:xfrm>
          <a:prstGeom prst="ellipse">
            <a:avLst/>
          </a:prstGeom>
          <a:solidFill>
            <a:srgbClr val="1F74AD">
              <a:lumMod val="60000"/>
              <a:lumOff val="4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5" name="椭圆 34"/>
          <p:cNvSpPr/>
          <p:nvPr>
            <p:custDataLst>
              <p:tags r:id="rId10"/>
            </p:custDataLst>
          </p:nvPr>
        </p:nvSpPr>
        <p:spPr>
          <a:xfrm>
            <a:off x="7969345" y="2671184"/>
            <a:ext cx="142875" cy="142875"/>
          </a:xfrm>
          <a:prstGeom prst="ellipse">
            <a:avLst/>
          </a:prstGeom>
          <a:solidFill>
            <a:srgbClr val="1AA3AA">
              <a:lumMod val="60000"/>
              <a:lumOff val="4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6" name="矩形 35"/>
          <p:cNvSpPr/>
          <p:nvPr>
            <p:custDataLst>
              <p:tags r:id="rId11"/>
            </p:custDataLst>
          </p:nvPr>
        </p:nvSpPr>
        <p:spPr>
          <a:xfrm>
            <a:off x="8112760" y="2451735"/>
            <a:ext cx="1988185" cy="36258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zh-CN" sz="2000" b="1" spc="300">
                <a:solidFill>
                  <a:srgbClr val="FF0000"/>
                </a:solidFill>
                <a:latin typeface="Arial Black" panose="020B0A04020102020204" pitchFamily="34" charset="0"/>
                <a:ea typeface="微软雅黑" panose="020B0503020204020204" pitchFamily="34" charset="-122"/>
                <a:cs typeface="Arial Black" panose="020B0A04020102020204" pitchFamily="34" charset="0"/>
                <a:sym typeface="Arial" panose="020B0604020202020204" pitchFamily="34" charset="0"/>
              </a:rPr>
              <a:t>datatime</a:t>
            </a:r>
          </a:p>
        </p:txBody>
      </p:sp>
      <p:sp>
        <p:nvSpPr>
          <p:cNvPr id="37" name="矩形: 圆角 36"/>
          <p:cNvSpPr/>
          <p:nvPr>
            <p:custDataLst>
              <p:tags r:id="rId12"/>
            </p:custDataLst>
          </p:nvPr>
        </p:nvSpPr>
        <p:spPr>
          <a:xfrm>
            <a:off x="1837116" y="4733194"/>
            <a:ext cx="2361040" cy="964322"/>
          </a:xfrm>
          <a:prstGeom prst="roundRect">
            <a:avLst>
              <a:gd name="adj" fmla="val 50000"/>
            </a:avLst>
          </a:prstGeom>
          <a:solidFill>
            <a:sysClr val="window" lastClr="FFFFFF"/>
          </a:solidFill>
          <a:ln w="76200" cap="flat" cmpd="sng" algn="ctr">
            <a:solidFill>
              <a:srgbClr val="69A35B">
                <a:lumMod val="60000"/>
                <a:lumOff val="4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8" name="矩形: 圆角 37"/>
          <p:cNvSpPr/>
          <p:nvPr>
            <p:custDataLst>
              <p:tags r:id="rId13"/>
            </p:custDataLst>
          </p:nvPr>
        </p:nvSpPr>
        <p:spPr>
          <a:xfrm>
            <a:off x="7739715" y="4733194"/>
            <a:ext cx="2361040" cy="964322"/>
          </a:xfrm>
          <a:prstGeom prst="roundRect">
            <a:avLst>
              <a:gd name="adj" fmla="val 50000"/>
            </a:avLst>
          </a:prstGeom>
          <a:solidFill>
            <a:sysClr val="window" lastClr="FFFFFF"/>
          </a:solidFill>
          <a:ln w="762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9" name="椭圆 38"/>
          <p:cNvSpPr/>
          <p:nvPr>
            <p:custDataLst>
              <p:tags r:id="rId14"/>
            </p:custDataLst>
          </p:nvPr>
        </p:nvSpPr>
        <p:spPr>
          <a:xfrm>
            <a:off x="2068067" y="5143918"/>
            <a:ext cx="142875" cy="142875"/>
          </a:xfrm>
          <a:prstGeom prst="ellipse">
            <a:avLst/>
          </a:prstGeom>
          <a:solidFill>
            <a:srgbClr val="69A35B">
              <a:lumMod val="60000"/>
              <a:lumOff val="4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0" name="椭圆 39"/>
          <p:cNvSpPr/>
          <p:nvPr>
            <p:custDataLst>
              <p:tags r:id="rId15"/>
            </p:custDataLst>
          </p:nvPr>
        </p:nvSpPr>
        <p:spPr>
          <a:xfrm>
            <a:off x="7969345" y="5143918"/>
            <a:ext cx="142875" cy="142875"/>
          </a:xfrm>
          <a:prstGeom prst="ellipse">
            <a:avLst/>
          </a:prstGeom>
          <a:solidFill>
            <a:srgbClr val="FFC000">
              <a:lumMod val="60000"/>
              <a:lumOff val="4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1" name="矩形 40"/>
          <p:cNvSpPr/>
          <p:nvPr>
            <p:custDataLst>
              <p:tags r:id="rId16"/>
            </p:custDataLst>
          </p:nvPr>
        </p:nvSpPr>
        <p:spPr>
          <a:xfrm>
            <a:off x="2210942" y="4924739"/>
            <a:ext cx="1755680" cy="36279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zh-CN" sz="2000" b="1" spc="300">
                <a:solidFill>
                  <a:srgbClr val="FF0000"/>
                </a:solidFill>
                <a:latin typeface="Arial Black" panose="020B0A04020102020204" pitchFamily="34" charset="0"/>
                <a:ea typeface="微软雅黑" panose="020B0503020204020204" pitchFamily="34" charset="-122"/>
                <a:cs typeface="Arial Black" panose="020B0A04020102020204" pitchFamily="34" charset="0"/>
                <a:sym typeface="Arial" panose="020B0604020202020204" pitchFamily="34" charset="0"/>
              </a:rPr>
              <a:t>json</a:t>
            </a:r>
          </a:p>
        </p:txBody>
      </p:sp>
      <p:sp>
        <p:nvSpPr>
          <p:cNvPr id="42" name="矩形 41"/>
          <p:cNvSpPr/>
          <p:nvPr>
            <p:custDataLst>
              <p:tags r:id="rId17"/>
            </p:custDataLst>
          </p:nvPr>
        </p:nvSpPr>
        <p:spPr>
          <a:xfrm>
            <a:off x="8112220" y="4996494"/>
            <a:ext cx="1755680" cy="36279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zh-CN" sz="2000" b="1" spc="3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random</a:t>
            </a:r>
          </a:p>
        </p:txBody>
      </p:sp>
      <p:sp>
        <p:nvSpPr>
          <p:cNvPr id="43" name="矩形 42"/>
          <p:cNvSpPr/>
          <p:nvPr>
            <p:custDataLst>
              <p:tags r:id="rId18"/>
            </p:custDataLst>
          </p:nvPr>
        </p:nvSpPr>
        <p:spPr>
          <a:xfrm>
            <a:off x="4528820" y="3509010"/>
            <a:ext cx="2806700" cy="940435"/>
          </a:xfrm>
          <a:prstGeom prst="rect">
            <a:avLst/>
          </a:prstGeom>
        </p:spPr>
        <p:txBody>
          <a:bodyPr wrap="square" lIns="91440" tIns="45720" rIns="91440" bIns="45720" anchor="ctr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2400" b="1" spc="30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Python</a:t>
            </a:r>
          </a:p>
          <a:p>
            <a:pPr algn="ctr">
              <a:lnSpc>
                <a:spcPct val="120000"/>
              </a:lnSpc>
            </a:pPr>
            <a:r>
              <a:rPr lang="zh-CN" altLang="en-US" sz="2400" b="1" spc="30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内建模块（部分）</a:t>
            </a:r>
          </a:p>
        </p:txBody>
      </p:sp>
    </p:spTree>
  </p:cSld>
  <p:clrMapOvr>
    <a:masterClrMapping/>
  </p:clrMapOvr>
  <p:transition spd="slow" advTm="0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0205369" y="189434"/>
            <a:ext cx="20180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5.2 模块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65455" y="772795"/>
            <a:ext cx="11555095" cy="6940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zh-CN" sz="28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28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、内建模块（</a:t>
            </a:r>
            <a:r>
              <a:rPr lang="en-US" altLang="zh-CN" sz="28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build-in modules</a:t>
            </a:r>
            <a:r>
              <a:rPr lang="zh-CN" altLang="en-US" sz="28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465455" y="1466850"/>
            <a:ext cx="11555095" cy="6076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40000"/>
              </a:lnSpc>
            </a:pPr>
            <a:r>
              <a:rPr lang="zh-CN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Counter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类（</a:t>
            </a: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collection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模块）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28675" y="2203450"/>
            <a:ext cx="10718800" cy="6076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40000"/>
              </a:lnSpc>
            </a:pPr>
            <a:r>
              <a:rPr lang="zh-CN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主要用来对某些数据类型（列表，元组等）中的元素进行计数统计。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898525" y="3253740"/>
            <a:ext cx="5463540" cy="2306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>
                <a:solidFill>
                  <a:srgbClr val="007A36"/>
                </a:solidFill>
              </a:rPr>
              <a:t>from collections import Counter</a:t>
            </a:r>
          </a:p>
          <a:p>
            <a:pPr>
              <a:lnSpc>
                <a:spcPct val="150000"/>
              </a:lnSpc>
            </a:pPr>
            <a:r>
              <a:rPr lang="zh-CN" altLang="en-US" b="1">
                <a:solidFill>
                  <a:srgbClr val="007A36"/>
                </a:solidFill>
              </a:rPr>
              <a:t>targets = [0,0,0,1,2,0,2,0,1,2,2,1,0,1,2]</a:t>
            </a:r>
          </a:p>
          <a:p>
            <a:pPr>
              <a:lnSpc>
                <a:spcPct val="150000"/>
              </a:lnSpc>
            </a:pPr>
            <a:r>
              <a:rPr lang="zh-CN" altLang="en-US" b="1">
                <a:solidFill>
                  <a:srgbClr val="007A36"/>
                </a:solidFill>
              </a:rPr>
              <a:t>results = Counter(targets)</a:t>
            </a:r>
          </a:p>
          <a:p>
            <a:pPr>
              <a:lnSpc>
                <a:spcPct val="150000"/>
              </a:lnSpc>
            </a:pPr>
            <a:r>
              <a:rPr lang="zh-CN" altLang="en-US" b="1">
                <a:solidFill>
                  <a:srgbClr val="007A36"/>
                </a:solidFill>
              </a:rPr>
              <a:t>print(results)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7045960" y="4064000"/>
            <a:ext cx="439229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800" b="1">
                <a:solidFill>
                  <a:srgbClr val="7030A0"/>
                </a:solidFill>
              </a:rPr>
              <a:t>Counter({0: </a:t>
            </a:r>
            <a:r>
              <a:rPr lang="en-US" altLang="zh-CN" sz="2800" b="1">
                <a:solidFill>
                  <a:srgbClr val="7030A0"/>
                </a:solidFill>
              </a:rPr>
              <a:t>6</a:t>
            </a:r>
            <a:r>
              <a:rPr lang="zh-CN" altLang="en-US" sz="2800" b="1">
                <a:solidFill>
                  <a:srgbClr val="7030A0"/>
                </a:solidFill>
              </a:rPr>
              <a:t>, </a:t>
            </a:r>
            <a:r>
              <a:rPr lang="en-US" altLang="zh-CN" sz="2800" b="1">
                <a:solidFill>
                  <a:srgbClr val="7030A0"/>
                </a:solidFill>
              </a:rPr>
              <a:t>2</a:t>
            </a:r>
            <a:r>
              <a:rPr lang="zh-CN" altLang="en-US" sz="2800" b="1">
                <a:solidFill>
                  <a:srgbClr val="7030A0"/>
                </a:solidFill>
              </a:rPr>
              <a:t>: 5, </a:t>
            </a:r>
            <a:r>
              <a:rPr lang="en-US" altLang="zh-CN" sz="2800" b="1">
                <a:solidFill>
                  <a:srgbClr val="7030A0"/>
                </a:solidFill>
              </a:rPr>
              <a:t>1</a:t>
            </a:r>
            <a:r>
              <a:rPr lang="zh-CN" altLang="en-US" sz="2800" b="1">
                <a:solidFill>
                  <a:srgbClr val="7030A0"/>
                </a:solidFill>
              </a:rPr>
              <a:t>: </a:t>
            </a:r>
            <a:r>
              <a:rPr lang="en-US" altLang="zh-CN" sz="2800" b="1">
                <a:solidFill>
                  <a:srgbClr val="7030A0"/>
                </a:solidFill>
              </a:rPr>
              <a:t>4</a:t>
            </a:r>
            <a:r>
              <a:rPr lang="zh-CN" altLang="en-US" sz="2800" b="1">
                <a:solidFill>
                  <a:srgbClr val="7030A0"/>
                </a:solidFill>
              </a:rPr>
              <a:t>})</a:t>
            </a:r>
          </a:p>
        </p:txBody>
      </p:sp>
    </p:spTree>
  </p:cSld>
  <p:clrMapOvr>
    <a:masterClrMapping/>
  </p:clrMapOvr>
  <p:transition spd="slow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8" grpId="0"/>
      <p:bldP spid="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0205369" y="189434"/>
            <a:ext cx="20180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5.2 模块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65455" y="772795"/>
            <a:ext cx="11555095" cy="6940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zh-CN" sz="28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28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、内建模块（</a:t>
            </a:r>
            <a:r>
              <a:rPr lang="en-US" altLang="zh-CN" sz="28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build-in modules</a:t>
            </a:r>
            <a:r>
              <a:rPr lang="zh-CN" altLang="en-US" sz="28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465455" y="1466850"/>
            <a:ext cx="11555095" cy="6076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40000"/>
              </a:lnSpc>
            </a:pPr>
            <a:r>
              <a:rPr lang="zh-CN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Counter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类（</a:t>
            </a: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collection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模块）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700700" y="2031909"/>
            <a:ext cx="10718800" cy="112646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40000"/>
              </a:lnSpc>
            </a:pPr>
            <a:r>
              <a:rPr 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常用方法</a:t>
            </a:r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most_common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(n)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表示某个数字，即出现频率最高的几个对象，通常以列表中内嵌元组的形式出现。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779462" y="3011160"/>
            <a:ext cx="5463540" cy="267765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b="1" dirty="0">
                <a:solidFill>
                  <a:srgbClr val="007A36"/>
                </a:solidFill>
              </a:rPr>
              <a:t>from collections import Counter</a:t>
            </a:r>
          </a:p>
          <a:p>
            <a:r>
              <a:rPr lang="zh-CN" altLang="en-US" b="1" dirty="0">
                <a:solidFill>
                  <a:srgbClr val="007A36"/>
                </a:solidFill>
              </a:rPr>
              <a:t>targets = [0,0,0,1,2,0,2,0,1,2,2,1,0,1,2]</a:t>
            </a:r>
          </a:p>
          <a:p>
            <a:r>
              <a:rPr lang="zh-CN" altLang="en-US" b="1" dirty="0">
                <a:solidFill>
                  <a:srgbClr val="007A36"/>
                </a:solidFill>
              </a:rPr>
              <a:t>results = Counter(targets)</a:t>
            </a:r>
          </a:p>
          <a:p>
            <a:r>
              <a:rPr lang="zh-CN" altLang="en-US" b="1" dirty="0">
                <a:solidFill>
                  <a:srgbClr val="007A36"/>
                </a:solidFill>
              </a:rPr>
              <a:t>print(results)</a:t>
            </a:r>
            <a:endParaRPr lang="en-US" altLang="zh-CN" b="1" dirty="0">
              <a:solidFill>
                <a:srgbClr val="007A36"/>
              </a:solidFill>
            </a:endParaRPr>
          </a:p>
          <a:p>
            <a:r>
              <a:rPr lang="zh-CN" altLang="en-US" b="1" dirty="0">
                <a:solidFill>
                  <a:srgbClr val="007A36"/>
                </a:solidFill>
              </a:rPr>
              <a:t>print(</a:t>
            </a:r>
            <a:r>
              <a:rPr lang="en-US" altLang="zh-CN" b="1" dirty="0" err="1">
                <a:solidFill>
                  <a:srgbClr val="007A36"/>
                </a:solidFill>
              </a:rPr>
              <a:t>dict</a:t>
            </a:r>
            <a:r>
              <a:rPr lang="en-US" altLang="zh-CN" b="1" dirty="0">
                <a:solidFill>
                  <a:srgbClr val="007A36"/>
                </a:solidFill>
              </a:rPr>
              <a:t>(</a:t>
            </a:r>
            <a:r>
              <a:rPr lang="zh-CN" altLang="en-US" b="1" dirty="0">
                <a:solidFill>
                  <a:srgbClr val="007A36"/>
                </a:solidFill>
              </a:rPr>
              <a:t>results</a:t>
            </a:r>
            <a:r>
              <a:rPr lang="en-US" altLang="zh-CN" b="1" dirty="0">
                <a:solidFill>
                  <a:srgbClr val="007A36"/>
                </a:solidFill>
              </a:rPr>
              <a:t>)</a:t>
            </a:r>
            <a:r>
              <a:rPr lang="zh-CN" altLang="en-US" b="1" dirty="0">
                <a:solidFill>
                  <a:srgbClr val="007A36"/>
                </a:solidFill>
              </a:rPr>
              <a:t>)</a:t>
            </a:r>
          </a:p>
          <a:p>
            <a:r>
              <a:rPr lang="en-US" altLang="zh-CN" b="1" dirty="0">
                <a:solidFill>
                  <a:srgbClr val="FF0000"/>
                </a:solidFill>
              </a:rPr>
              <a:t>print(</a:t>
            </a:r>
            <a:r>
              <a:rPr lang="en-US" altLang="zh-CN" b="1" dirty="0" err="1">
                <a:solidFill>
                  <a:srgbClr val="FF0000"/>
                </a:solidFill>
              </a:rPr>
              <a:t>results.most_common</a:t>
            </a:r>
            <a:r>
              <a:rPr lang="en-US" altLang="zh-CN" b="1" dirty="0">
                <a:solidFill>
                  <a:srgbClr val="FF0000"/>
                </a:solidFill>
              </a:rPr>
              <a:t>(2))</a:t>
            </a:r>
          </a:p>
          <a:p>
            <a:r>
              <a:rPr lang="en-US" altLang="zh-CN" b="1" dirty="0">
                <a:solidFill>
                  <a:srgbClr val="FF0000"/>
                </a:solidFill>
              </a:rPr>
              <a:t>print(</a:t>
            </a:r>
            <a:r>
              <a:rPr lang="en-US" altLang="zh-CN" b="1" dirty="0" err="1">
                <a:solidFill>
                  <a:srgbClr val="FF0000"/>
                </a:solidFill>
                <a:sym typeface="+mn-ea"/>
              </a:rPr>
              <a:t>results.most_common</a:t>
            </a:r>
            <a:r>
              <a:rPr lang="en-US" altLang="zh-CN" b="1" dirty="0">
                <a:solidFill>
                  <a:srgbClr val="FF0000"/>
                </a:solidFill>
                <a:sym typeface="+mn-ea"/>
              </a:rPr>
              <a:t>(2)[1][1])</a:t>
            </a:r>
            <a:endParaRPr lang="zh-CN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0100" y="3976688"/>
            <a:ext cx="4094219" cy="17121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0205369" y="189434"/>
            <a:ext cx="20180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5.2 模块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65455" y="772795"/>
            <a:ext cx="11555095" cy="6940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zh-CN" sz="28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28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、内建模块（</a:t>
            </a:r>
            <a:r>
              <a:rPr lang="en-US" altLang="zh-CN" sz="28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build-in modules</a:t>
            </a:r>
            <a:r>
              <a:rPr lang="zh-CN" altLang="en-US" sz="28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465455" y="1466850"/>
            <a:ext cx="11555095" cy="6076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40000"/>
              </a:lnSpc>
            </a:pPr>
            <a:r>
              <a:rPr lang="zh-CN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datatime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28675" y="2203450"/>
            <a:ext cx="10718800" cy="11245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处理日期和时间的标准库，提供一系列处理日期和时间的类，另外还支持各种针对日期的格式化输出。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898525" y="3253740"/>
            <a:ext cx="5463540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>
                <a:solidFill>
                  <a:srgbClr val="007A36"/>
                </a:solidFill>
              </a:rPr>
              <a:t>from datetime import datetime</a:t>
            </a:r>
          </a:p>
          <a:p>
            <a:pPr>
              <a:lnSpc>
                <a:spcPct val="150000"/>
              </a:lnSpc>
            </a:pPr>
            <a:r>
              <a:rPr lang="zh-CN" altLang="en-US" b="1">
                <a:solidFill>
                  <a:srgbClr val="007A36"/>
                </a:solidFill>
              </a:rPr>
              <a:t>nowtime = datetime.now()</a:t>
            </a:r>
          </a:p>
          <a:p>
            <a:pPr>
              <a:lnSpc>
                <a:spcPct val="150000"/>
              </a:lnSpc>
            </a:pPr>
            <a:r>
              <a:rPr lang="zh-CN" altLang="en-US" b="1">
                <a:solidFill>
                  <a:srgbClr val="007A36"/>
                </a:solidFill>
              </a:rPr>
              <a:t>print(nowtime)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898525" y="5372735"/>
            <a:ext cx="439229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sz="2800" b="1" dirty="0">
                <a:solidFill>
                  <a:srgbClr val="7030A0"/>
                </a:solidFill>
              </a:rPr>
              <a:t>202</a:t>
            </a:r>
            <a:r>
              <a:rPr lang="en-US" sz="2800" b="1" dirty="0">
                <a:solidFill>
                  <a:srgbClr val="7030A0"/>
                </a:solidFill>
              </a:rPr>
              <a:t>1</a:t>
            </a:r>
            <a:r>
              <a:rPr sz="2800" b="1" dirty="0">
                <a:solidFill>
                  <a:srgbClr val="7030A0"/>
                </a:solidFill>
              </a:rPr>
              <a:t>-</a:t>
            </a:r>
            <a:r>
              <a:rPr lang="en-US" sz="2800" b="1" dirty="0">
                <a:solidFill>
                  <a:srgbClr val="7030A0"/>
                </a:solidFill>
              </a:rPr>
              <a:t>04</a:t>
            </a:r>
            <a:r>
              <a:rPr sz="2800" b="1" dirty="0">
                <a:solidFill>
                  <a:srgbClr val="7030A0"/>
                </a:solidFill>
              </a:rPr>
              <a:t>-</a:t>
            </a:r>
            <a:r>
              <a:rPr lang="en-US" sz="2800" b="1" dirty="0">
                <a:solidFill>
                  <a:srgbClr val="7030A0"/>
                </a:solidFill>
              </a:rPr>
              <a:t>16</a:t>
            </a:r>
            <a:r>
              <a:rPr sz="2800" b="1" dirty="0">
                <a:solidFill>
                  <a:srgbClr val="7030A0"/>
                </a:solidFill>
              </a:rPr>
              <a:t> 1</a:t>
            </a:r>
            <a:r>
              <a:rPr lang="en-US" sz="2800" b="1" dirty="0">
                <a:solidFill>
                  <a:srgbClr val="7030A0"/>
                </a:solidFill>
              </a:rPr>
              <a:t>0</a:t>
            </a:r>
            <a:r>
              <a:rPr sz="2800" b="1" dirty="0">
                <a:solidFill>
                  <a:srgbClr val="7030A0"/>
                </a:solidFill>
              </a:rPr>
              <a:t>:31:03.145711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7239000" y="3199130"/>
            <a:ext cx="3046095" cy="119888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en-US" altLang="zh-CN" b="1">
                <a:solidFill>
                  <a:srgbClr val="007A36"/>
                </a:solidFill>
                <a:sym typeface="+mn-ea"/>
              </a:rPr>
              <a:t>print(</a:t>
            </a:r>
            <a:r>
              <a:rPr lang="zh-CN" altLang="en-US" b="1">
                <a:solidFill>
                  <a:srgbClr val="007A36"/>
                </a:solidFill>
                <a:sym typeface="+mn-ea"/>
              </a:rPr>
              <a:t>nowtime</a:t>
            </a:r>
            <a:r>
              <a:rPr lang="en-US" altLang="zh-CN" b="1">
                <a:solidFill>
                  <a:srgbClr val="007A36"/>
                </a:solidFill>
                <a:sym typeface="+mn-ea"/>
              </a:rPr>
              <a:t>.year)</a:t>
            </a:r>
          </a:p>
          <a:p>
            <a:pPr algn="l"/>
            <a:r>
              <a:rPr lang="en-US" altLang="zh-CN" b="1">
                <a:solidFill>
                  <a:srgbClr val="007A36"/>
                </a:solidFill>
                <a:sym typeface="+mn-ea"/>
              </a:rPr>
              <a:t>print(nowtime.month)</a:t>
            </a:r>
          </a:p>
          <a:p>
            <a:pPr algn="l"/>
            <a:r>
              <a:rPr lang="en-US" altLang="zh-CN" b="1">
                <a:solidFill>
                  <a:srgbClr val="007A36"/>
                </a:solidFill>
                <a:sym typeface="+mn-ea"/>
              </a:rPr>
              <a:t>print(nowtime.day)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7079615" y="4621530"/>
            <a:ext cx="4392295" cy="1383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sz="2800" b="1">
                <a:solidFill>
                  <a:srgbClr val="7030A0"/>
                </a:solidFill>
              </a:rPr>
              <a:t>202</a:t>
            </a:r>
            <a:r>
              <a:rPr lang="en-US" sz="2800" b="1">
                <a:solidFill>
                  <a:srgbClr val="7030A0"/>
                </a:solidFill>
              </a:rPr>
              <a:t>1</a:t>
            </a:r>
            <a:endParaRPr sz="2800" b="1">
              <a:solidFill>
                <a:srgbClr val="7030A0"/>
              </a:solidFill>
            </a:endParaRPr>
          </a:p>
          <a:p>
            <a:r>
              <a:rPr lang="en-US" sz="2800" b="1">
                <a:solidFill>
                  <a:srgbClr val="7030A0"/>
                </a:solidFill>
              </a:rPr>
              <a:t>4</a:t>
            </a:r>
          </a:p>
          <a:p>
            <a:r>
              <a:rPr lang="en-US" sz="2800" b="1">
                <a:solidFill>
                  <a:srgbClr val="7030A0"/>
                </a:solidFill>
              </a:rPr>
              <a:t>16</a:t>
            </a:r>
          </a:p>
        </p:txBody>
      </p:sp>
    </p:spTree>
  </p:cSld>
  <p:clrMapOvr>
    <a:masterClrMapping/>
  </p:clrMapOvr>
  <p:transition spd="slow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4" grpId="0"/>
      <p:bldP spid="6" grpId="0"/>
      <p:bldP spid="11" grpId="0"/>
      <p:bldP spid="11" grpId="1"/>
      <p:bldP spid="1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0205369" y="189434"/>
            <a:ext cx="20180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5.2 模块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65455" y="772795"/>
            <a:ext cx="11555095" cy="6940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zh-CN" sz="28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28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、内建模块（</a:t>
            </a:r>
            <a:r>
              <a:rPr lang="en-US" altLang="zh-CN" sz="28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build-in modules</a:t>
            </a:r>
            <a:r>
              <a:rPr lang="zh-CN" altLang="en-US" sz="28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465455" y="1466850"/>
            <a:ext cx="11555095" cy="6076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40000"/>
              </a:lnSpc>
            </a:pPr>
            <a:r>
              <a:rPr lang="zh-CN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datatime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83285" y="2074545"/>
            <a:ext cx="10718800" cy="11245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zh-CN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timestamp: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当前时间相对于纪元时间（</a:t>
            </a: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1970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年</a:t>
            </a: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月</a:t>
            </a: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日</a:t>
            </a: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0:00:00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）流逝的秒数称之为时间戳，调用</a:t>
            </a: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datetime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中的</a:t>
            </a: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timestamp()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函数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698500" y="3501390"/>
            <a:ext cx="6466205" cy="21583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日期转化为时间戳：</a:t>
            </a:r>
          </a:p>
          <a:p>
            <a:pPr>
              <a:lnSpc>
                <a:spcPct val="140000"/>
              </a:lnSpc>
            </a:pPr>
            <a:r>
              <a:rPr lang="zh-CN" altLang="en-US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now = datetime.now()</a:t>
            </a:r>
          </a:p>
          <a:p>
            <a:pPr>
              <a:lnSpc>
                <a:spcPct val="140000"/>
              </a:lnSpc>
            </a:pPr>
            <a:r>
              <a:rPr lang="zh-CN" altLang="en-US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timestamp = datetime.timestamp(now)</a:t>
            </a:r>
          </a:p>
          <a:p>
            <a:pPr>
              <a:lnSpc>
                <a:spcPct val="140000"/>
              </a:lnSpc>
            </a:pPr>
            <a:r>
              <a:rPr lang="zh-CN" altLang="en-US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print( timestamp)</a:t>
            </a:r>
          </a:p>
        </p:txBody>
      </p:sp>
    </p:spTree>
  </p:cSld>
  <p:clrMapOvr>
    <a:masterClrMapping/>
  </p:clrMapOvr>
  <p:transition spd="slow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8" grpId="0"/>
      <p:bldP spid="8" grpId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0205369" y="189434"/>
            <a:ext cx="20180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5.2 模块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65455" y="772795"/>
            <a:ext cx="11555095" cy="6940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zh-CN" sz="28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28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、内建模块（</a:t>
            </a:r>
            <a:r>
              <a:rPr lang="en-US" altLang="zh-CN" sz="28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build-in modules</a:t>
            </a:r>
            <a:r>
              <a:rPr lang="zh-CN" altLang="en-US" sz="28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465455" y="1466850"/>
            <a:ext cx="11555095" cy="6076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40000"/>
              </a:lnSpc>
            </a:pPr>
            <a:r>
              <a:rPr lang="zh-CN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datatime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83285" y="2074545"/>
            <a:ext cx="10718800" cy="11245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zh-CN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timestamp: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当前时间相对于纪元时间（</a:t>
            </a: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1970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年</a:t>
            </a: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月</a:t>
            </a: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日</a:t>
            </a: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0:00:00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）流逝的秒数称之为时间戳，调用</a:t>
            </a: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datetime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中的</a:t>
            </a: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timestamp()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函数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770255" y="3357880"/>
            <a:ext cx="9213850" cy="21583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时间戳到日期时间：</a:t>
            </a:r>
          </a:p>
          <a:p>
            <a:pPr>
              <a:lnSpc>
                <a:spcPct val="140000"/>
              </a:lnSpc>
            </a:pPr>
            <a:r>
              <a:rPr lang="zh-CN" altLang="en-US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timestamp = 1618531606</a:t>
            </a:r>
          </a:p>
          <a:p>
            <a:pPr>
              <a:lnSpc>
                <a:spcPct val="140000"/>
              </a:lnSpc>
            </a:pPr>
            <a:r>
              <a:rPr lang="zh-CN" altLang="en-US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dt_object = datetime.fromtimestamp(timestamp)</a:t>
            </a:r>
          </a:p>
          <a:p>
            <a:pPr>
              <a:lnSpc>
                <a:spcPct val="140000"/>
              </a:lnSpc>
            </a:pPr>
            <a:r>
              <a:rPr lang="zh-CN" altLang="en-US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print( timestamp)</a:t>
            </a:r>
            <a:r>
              <a:rPr lang="en-US" altLang="zh-CN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#2021-04-16 08:06:46</a:t>
            </a:r>
          </a:p>
        </p:txBody>
      </p:sp>
    </p:spTree>
  </p:cSld>
  <p:clrMapOvr>
    <a:masterClrMapping/>
  </p:clrMapOvr>
  <p:transition spd="slow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/>
      <p:bldP spid="8" grpId="0"/>
      <p:bldP spid="8" grpId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0205369" y="189434"/>
            <a:ext cx="20180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5.2 模块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65455" y="772795"/>
            <a:ext cx="11555095" cy="6940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zh-CN" sz="28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28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、内建模块（</a:t>
            </a:r>
            <a:r>
              <a:rPr lang="en-US" altLang="zh-CN" sz="28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build-in modules</a:t>
            </a:r>
            <a:r>
              <a:rPr lang="zh-CN" altLang="en-US" sz="28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465455" y="1466850"/>
            <a:ext cx="11555095" cy="6076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40000"/>
              </a:lnSpc>
            </a:pPr>
            <a:r>
              <a:rPr lang="zh-CN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datatime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770583" y="2061642"/>
            <a:ext cx="10718800" cy="11245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zh-CN" b="1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strptime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: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将字符串转换为时间。</a:t>
            </a:r>
          </a:p>
          <a:p>
            <a:pPr>
              <a:lnSpc>
                <a:spcPct val="140000"/>
              </a:lnSpc>
            </a:pPr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datetime.strptime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('2021-05-01 10:00','%Y-%m-%d %H:%M:%S')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70583" y="3213770"/>
            <a:ext cx="10718800" cy="16414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zh-CN" b="1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strftime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: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将时间转换为字符串。</a:t>
            </a:r>
          </a:p>
          <a:p>
            <a:pPr>
              <a:lnSpc>
                <a:spcPct val="140000"/>
              </a:lnSpc>
            </a:pPr>
            <a:r>
              <a:rPr lang="en-US" b="1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nowtime</a:t>
            </a:r>
            <a:r>
              <a:rPr 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= </a:t>
            </a:r>
            <a:r>
              <a:rPr lang="en-US" b="1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datetime.now</a:t>
            </a:r>
            <a:r>
              <a:rPr 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()</a:t>
            </a:r>
          </a:p>
          <a:p>
            <a:pPr>
              <a:lnSpc>
                <a:spcPct val="140000"/>
              </a:lnSpc>
            </a:pPr>
            <a:r>
              <a:rPr lang="en-US" b="1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nowtime.strftime</a:t>
            </a:r>
            <a:r>
              <a:rPr 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(“%Y”)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770583" y="4881677"/>
            <a:ext cx="10718800" cy="11245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zh-CN" b="1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timedelta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: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求时间差函数。</a:t>
            </a:r>
          </a:p>
          <a:p>
            <a:pPr>
              <a:lnSpc>
                <a:spcPct val="140000"/>
              </a:lnSpc>
            </a:pPr>
            <a:r>
              <a:rPr lang="en-US" b="1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nowtime+timedelta</a:t>
            </a:r>
            <a:r>
              <a:rPr 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(days=2)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  <p:bldP spid="9" grpId="0"/>
      <p:bldP spid="9" grpId="1"/>
      <p:bldP spid="10" grpId="0"/>
      <p:bldP spid="10" grpId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0205369" y="189434"/>
            <a:ext cx="20180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5.2 模块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65455" y="772795"/>
            <a:ext cx="11555095" cy="6940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zh-CN" sz="28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28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、内建模块（</a:t>
            </a:r>
            <a:r>
              <a:rPr lang="en-US" altLang="zh-CN" sz="28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build-in modules</a:t>
            </a:r>
            <a:r>
              <a:rPr lang="zh-CN" altLang="en-US" sz="28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465455" y="1466850"/>
            <a:ext cx="11555095" cy="6076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40000"/>
              </a:lnSpc>
            </a:pPr>
            <a:r>
              <a:rPr lang="zh-CN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lang="zh-CN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json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28675" y="2203450"/>
            <a:ext cx="6948170" cy="42259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>
              <a:lnSpc>
                <a:spcPct val="140000"/>
              </a:lnSpc>
            </a:pP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受</a:t>
            </a: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JavaScript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对象字面量语法启发的轻量级数据交换格式。类似字典。</a:t>
            </a:r>
          </a:p>
          <a:p>
            <a:pPr marL="342900" indent="-342900" algn="just">
              <a:lnSpc>
                <a:spcPct val="140000"/>
              </a:lnSpc>
              <a:buFont typeface="Wingdings" panose="05000000000000000000" charset="0"/>
              <a:buChar char="u"/>
            </a:pPr>
            <a:r>
              <a:rPr lang="en-US" altLang="zh-CN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dumps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en-US" altLang="zh-CN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loads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r>
              <a:rPr lang="en-US" altLang="zh-CN" b="1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dumps</a:t>
            </a:r>
            <a:r>
              <a:rPr lang="zh-CN" altLang="en-US" b="1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把</a:t>
            </a:r>
            <a:r>
              <a:rPr lang="en-US" altLang="zh-CN" b="1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python</a:t>
            </a:r>
            <a:r>
              <a:rPr lang="zh-CN" altLang="en-US" b="1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原始类型（字典、列表等）向</a:t>
            </a:r>
            <a:r>
              <a:rPr lang="en-US" altLang="zh-CN" b="1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JSON</a:t>
            </a:r>
            <a:r>
              <a:rPr lang="zh-CN" altLang="en-US" b="1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类型转换，</a:t>
            </a:r>
            <a:r>
              <a:rPr lang="en-US" altLang="zh-CN" b="1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loads</a:t>
            </a:r>
            <a:r>
              <a:rPr lang="zh-CN" altLang="en-US" b="1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把</a:t>
            </a:r>
            <a:r>
              <a:rPr lang="en-US" altLang="zh-CN" b="1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JSON</a:t>
            </a:r>
            <a:r>
              <a:rPr lang="zh-CN" altLang="en-US" b="1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类型向</a:t>
            </a:r>
            <a:r>
              <a:rPr lang="en-US" altLang="zh-CN" b="1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python</a:t>
            </a:r>
            <a:r>
              <a:rPr lang="zh-CN" altLang="en-US" b="1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的原始数据类型转换（字典）</a:t>
            </a:r>
          </a:p>
          <a:p>
            <a:pPr marL="342900" indent="-342900" algn="just">
              <a:lnSpc>
                <a:spcPct val="140000"/>
              </a:lnSpc>
              <a:buFont typeface="Wingdings" panose="05000000000000000000" charset="0"/>
              <a:buChar char="u"/>
            </a:pPr>
            <a:r>
              <a:rPr lang="en-US" altLang="zh-CN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dump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en-US" altLang="zh-CN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load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r>
              <a:rPr lang="zh-CN" b="1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不加</a:t>
            </a:r>
            <a:r>
              <a:rPr lang="en-US" altLang="zh-CN" b="1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s</a:t>
            </a:r>
            <a:r>
              <a:rPr lang="zh-CN" altLang="en-US" b="1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，主要处理的是文件，而不是字符串。</a:t>
            </a:r>
            <a:endParaRPr lang="en-US" altLang="zh-CN" b="1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just">
              <a:lnSpc>
                <a:spcPct val="140000"/>
              </a:lnSpc>
            </a:pPr>
            <a:endParaRPr lang="en-US" altLang="zh-CN" b="1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009889" y="1126007"/>
            <a:ext cx="3978525" cy="378565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t">
            <a:spAutoFit/>
          </a:bodyPr>
          <a:lstStyle/>
          <a:p>
            <a:pPr algn="l"/>
            <a:r>
              <a:rPr b="1" dirty="0">
                <a:solidFill>
                  <a:srgbClr val="007A36"/>
                </a:solidFill>
                <a:sym typeface="+mn-ea"/>
              </a:rPr>
              <a:t>import </a:t>
            </a:r>
            <a:r>
              <a:rPr b="1" dirty="0" err="1">
                <a:solidFill>
                  <a:srgbClr val="007A36"/>
                </a:solidFill>
                <a:sym typeface="+mn-ea"/>
              </a:rPr>
              <a:t>json</a:t>
            </a:r>
            <a:endParaRPr b="1" dirty="0">
              <a:solidFill>
                <a:srgbClr val="007A36"/>
              </a:solidFill>
              <a:sym typeface="+mn-ea"/>
            </a:endParaRPr>
          </a:p>
          <a:p>
            <a:pPr algn="l"/>
            <a:r>
              <a:rPr b="1" dirty="0">
                <a:solidFill>
                  <a:srgbClr val="007A36"/>
                </a:solidFill>
                <a:sym typeface="+mn-ea"/>
              </a:rPr>
              <a:t>data = {"</a:t>
            </a:r>
            <a:r>
              <a:rPr b="1" dirty="0" err="1">
                <a:solidFill>
                  <a:srgbClr val="007A36"/>
                </a:solidFill>
                <a:sym typeface="+mn-ea"/>
              </a:rPr>
              <a:t>name":"China</a:t>
            </a:r>
            <a:r>
              <a:rPr b="1" dirty="0">
                <a:solidFill>
                  <a:srgbClr val="007A36"/>
                </a:solidFill>
                <a:sym typeface="+mn-ea"/>
              </a:rPr>
              <a:t>",</a:t>
            </a:r>
          </a:p>
          <a:p>
            <a:pPr algn="l"/>
            <a:r>
              <a:rPr b="1" dirty="0">
                <a:solidFill>
                  <a:srgbClr val="007A36"/>
                </a:solidFill>
                <a:sym typeface="+mn-ea"/>
              </a:rPr>
              <a:t>       "Area":9600000,</a:t>
            </a:r>
          </a:p>
          <a:p>
            <a:pPr algn="l"/>
            <a:r>
              <a:rPr b="1" dirty="0">
                <a:solidFill>
                  <a:srgbClr val="007A36"/>
                </a:solidFill>
                <a:sym typeface="+mn-ea"/>
              </a:rPr>
              <a:t>       "Population":14,</a:t>
            </a:r>
          </a:p>
          <a:p>
            <a:pPr algn="l"/>
            <a:r>
              <a:rPr b="1" dirty="0">
                <a:solidFill>
                  <a:srgbClr val="007A36"/>
                </a:solidFill>
                <a:sym typeface="+mn-ea"/>
              </a:rPr>
              <a:t>       "</a:t>
            </a:r>
            <a:r>
              <a:rPr b="1" dirty="0" err="1">
                <a:solidFill>
                  <a:srgbClr val="007A36"/>
                </a:solidFill>
                <a:sym typeface="+mn-ea"/>
              </a:rPr>
              <a:t>flag":True</a:t>
            </a:r>
            <a:r>
              <a:rPr b="1" dirty="0">
                <a:solidFill>
                  <a:srgbClr val="007A36"/>
                </a:solidFill>
                <a:sym typeface="+mn-ea"/>
              </a:rPr>
              <a:t>,</a:t>
            </a:r>
          </a:p>
          <a:p>
            <a:pPr algn="l"/>
            <a:r>
              <a:rPr b="1" dirty="0">
                <a:solidFill>
                  <a:srgbClr val="007A36"/>
                </a:solidFill>
                <a:sym typeface="+mn-ea"/>
              </a:rPr>
              <a:t>        "</a:t>
            </a:r>
            <a:r>
              <a:rPr b="1" dirty="0" err="1">
                <a:solidFill>
                  <a:srgbClr val="007A36"/>
                </a:solidFill>
                <a:sym typeface="+mn-ea"/>
              </a:rPr>
              <a:t>Else":None</a:t>
            </a:r>
            <a:endParaRPr b="1" dirty="0">
              <a:solidFill>
                <a:srgbClr val="007A36"/>
              </a:solidFill>
              <a:sym typeface="+mn-ea"/>
            </a:endParaRPr>
          </a:p>
          <a:p>
            <a:pPr algn="l"/>
            <a:r>
              <a:rPr b="1" dirty="0">
                <a:solidFill>
                  <a:srgbClr val="007A36"/>
                </a:solidFill>
                <a:sym typeface="+mn-ea"/>
              </a:rPr>
              <a:t>       }</a:t>
            </a:r>
          </a:p>
          <a:p>
            <a:pPr algn="l"/>
            <a:r>
              <a:rPr b="1" dirty="0" err="1">
                <a:solidFill>
                  <a:srgbClr val="007A36"/>
                </a:solidFill>
                <a:sym typeface="+mn-ea"/>
              </a:rPr>
              <a:t>json_data</a:t>
            </a:r>
            <a:r>
              <a:rPr b="1" dirty="0">
                <a:solidFill>
                  <a:srgbClr val="007A36"/>
                </a:solidFill>
                <a:sym typeface="+mn-ea"/>
              </a:rPr>
              <a:t> = </a:t>
            </a:r>
            <a:r>
              <a:rPr b="1" dirty="0" err="1">
                <a:solidFill>
                  <a:srgbClr val="007A36"/>
                </a:solidFill>
                <a:sym typeface="+mn-ea"/>
              </a:rPr>
              <a:t>json.dumps</a:t>
            </a:r>
            <a:r>
              <a:rPr b="1" dirty="0">
                <a:solidFill>
                  <a:srgbClr val="007A36"/>
                </a:solidFill>
                <a:sym typeface="+mn-ea"/>
              </a:rPr>
              <a:t>(data)</a:t>
            </a:r>
          </a:p>
          <a:p>
            <a:pPr algn="l"/>
            <a:r>
              <a:rPr b="1" dirty="0">
                <a:solidFill>
                  <a:srgbClr val="007A36"/>
                </a:solidFill>
                <a:sym typeface="+mn-ea"/>
              </a:rPr>
              <a:t>print(</a:t>
            </a:r>
            <a:r>
              <a:rPr b="1" dirty="0" err="1">
                <a:solidFill>
                  <a:srgbClr val="007A36"/>
                </a:solidFill>
                <a:sym typeface="+mn-ea"/>
              </a:rPr>
              <a:t>json_data</a:t>
            </a:r>
            <a:r>
              <a:rPr b="1" dirty="0">
                <a:solidFill>
                  <a:srgbClr val="007A36"/>
                </a:solidFill>
                <a:sym typeface="+mn-ea"/>
              </a:rPr>
              <a:t>)</a:t>
            </a:r>
            <a:endParaRPr lang="en-US" b="1" dirty="0">
              <a:solidFill>
                <a:srgbClr val="007A36"/>
              </a:solidFill>
              <a:sym typeface="+mn-ea"/>
            </a:endParaRPr>
          </a:p>
          <a:p>
            <a:r>
              <a:rPr lang="en-US" b="1" dirty="0">
                <a:solidFill>
                  <a:srgbClr val="007A36"/>
                </a:solidFill>
                <a:sym typeface="+mn-ea"/>
              </a:rPr>
              <a:t>print(type(</a:t>
            </a:r>
            <a:r>
              <a:rPr lang="en-US" b="1" dirty="0" err="1">
                <a:solidFill>
                  <a:srgbClr val="007A36"/>
                </a:solidFill>
                <a:sym typeface="+mn-ea"/>
              </a:rPr>
              <a:t>json_data</a:t>
            </a:r>
            <a:r>
              <a:rPr lang="en-US" b="1" dirty="0">
                <a:solidFill>
                  <a:srgbClr val="007A36"/>
                </a:solidFill>
                <a:sym typeface="+mn-ea"/>
              </a:rPr>
              <a:t>))</a:t>
            </a:r>
            <a:endParaRPr b="1" dirty="0">
              <a:solidFill>
                <a:srgbClr val="007A36"/>
              </a:solidFill>
              <a:sym typeface="+mn-ea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6089" y="5302002"/>
            <a:ext cx="7467600" cy="866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11" grpId="0" bldLvl="0" animBg="1"/>
      <p:bldP spid="11" grpId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0205369" y="189434"/>
            <a:ext cx="20180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5.2 模块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65455" y="772795"/>
            <a:ext cx="11555095" cy="6940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zh-CN" sz="28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28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、内建模块（</a:t>
            </a:r>
            <a:r>
              <a:rPr lang="en-US" altLang="zh-CN" sz="28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build-in modules</a:t>
            </a:r>
            <a:r>
              <a:rPr lang="zh-CN" altLang="en-US" sz="28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465455" y="1466850"/>
            <a:ext cx="11555095" cy="6076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40000"/>
              </a:lnSpc>
            </a:pPr>
            <a:r>
              <a:rPr lang="zh-CN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lang="zh-CN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json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28675" y="2203450"/>
            <a:ext cx="5630540" cy="164352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>
              <a:lnSpc>
                <a:spcPct val="140000"/>
              </a:lnSpc>
            </a:pP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将一个</a:t>
            </a: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JSON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编码的字符串转换为一个</a:t>
            </a: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Python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数据类型：</a:t>
            </a:r>
            <a:r>
              <a:rPr lang="en-US" altLang="zh-CN" b="1" dirty="0">
                <a:solidFill>
                  <a:srgbClr val="FF0000"/>
                </a:solidFill>
                <a:latin typeface="Times New Roman" pitchFamily="18" charset="0"/>
                <a:ea typeface="楷体" panose="02010609060101010101" pitchFamily="49" charset="-122"/>
                <a:cs typeface="Times New Roman" pitchFamily="18" charset="0"/>
              </a:rPr>
              <a:t>loads </a:t>
            </a:r>
            <a:endParaRPr lang="en-US" altLang="zh-CN" b="1" dirty="0">
              <a:solidFill>
                <a:srgbClr val="FF0000"/>
              </a:solidFill>
              <a:latin typeface="Times New Roman" pitchFamily="18" charset="0"/>
              <a:ea typeface="微软雅黑" panose="020B0503020204020204" pitchFamily="34" charset="-122"/>
              <a:cs typeface="Times New Roman" pitchFamily="18" charset="0"/>
            </a:endParaRPr>
          </a:p>
          <a:p>
            <a:pPr algn="just">
              <a:lnSpc>
                <a:spcPct val="140000"/>
              </a:lnSpc>
            </a:pPr>
            <a:endParaRPr lang="en-US" altLang="zh-CN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590683" y="772999"/>
            <a:ext cx="5460973" cy="409342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t">
            <a:spAutoFit/>
          </a:bodyPr>
          <a:lstStyle/>
          <a:p>
            <a:r>
              <a:rPr lang="en-US" sz="2000" b="1" dirty="0">
                <a:solidFill>
                  <a:srgbClr val="007A36"/>
                </a:solidFill>
                <a:sym typeface="+mn-ea"/>
              </a:rPr>
              <a:t>import </a:t>
            </a:r>
            <a:r>
              <a:rPr lang="en-US" sz="2000" b="1" dirty="0" err="1">
                <a:solidFill>
                  <a:srgbClr val="007A36"/>
                </a:solidFill>
                <a:sym typeface="+mn-ea"/>
              </a:rPr>
              <a:t>json</a:t>
            </a:r>
            <a:endParaRPr lang="en-US" sz="2000" b="1" dirty="0">
              <a:solidFill>
                <a:srgbClr val="007A36"/>
              </a:solidFill>
              <a:sym typeface="+mn-ea"/>
            </a:endParaRPr>
          </a:p>
          <a:p>
            <a:r>
              <a:rPr lang="en-US" sz="2000" b="1" dirty="0">
                <a:solidFill>
                  <a:srgbClr val="007A36"/>
                </a:solidFill>
                <a:sym typeface="+mn-ea"/>
              </a:rPr>
              <a:t>data = {"</a:t>
            </a:r>
            <a:r>
              <a:rPr lang="en-US" sz="2000" b="1" dirty="0" err="1">
                <a:solidFill>
                  <a:srgbClr val="007A36"/>
                </a:solidFill>
                <a:sym typeface="+mn-ea"/>
              </a:rPr>
              <a:t>name":"China</a:t>
            </a:r>
            <a:r>
              <a:rPr lang="en-US" sz="2000" b="1" dirty="0">
                <a:solidFill>
                  <a:srgbClr val="007A36"/>
                </a:solidFill>
                <a:sym typeface="+mn-ea"/>
              </a:rPr>
              <a:t>",</a:t>
            </a:r>
          </a:p>
          <a:p>
            <a:r>
              <a:rPr lang="en-US" sz="2000" b="1" dirty="0">
                <a:solidFill>
                  <a:srgbClr val="007A36"/>
                </a:solidFill>
                <a:sym typeface="+mn-ea"/>
              </a:rPr>
              <a:t>       "Area":9600000,</a:t>
            </a:r>
          </a:p>
          <a:p>
            <a:r>
              <a:rPr lang="en-US" sz="2000" b="1" dirty="0">
                <a:solidFill>
                  <a:srgbClr val="007A36"/>
                </a:solidFill>
                <a:sym typeface="+mn-ea"/>
              </a:rPr>
              <a:t>       "Population":14,</a:t>
            </a:r>
          </a:p>
          <a:p>
            <a:r>
              <a:rPr lang="en-US" sz="2000" b="1" dirty="0">
                <a:solidFill>
                  <a:srgbClr val="007A36"/>
                </a:solidFill>
                <a:sym typeface="+mn-ea"/>
              </a:rPr>
              <a:t>       "</a:t>
            </a:r>
            <a:r>
              <a:rPr lang="en-US" sz="2000" b="1" dirty="0" err="1">
                <a:solidFill>
                  <a:srgbClr val="007A36"/>
                </a:solidFill>
                <a:sym typeface="+mn-ea"/>
              </a:rPr>
              <a:t>flag":True</a:t>
            </a:r>
            <a:r>
              <a:rPr lang="en-US" sz="2000" b="1" dirty="0">
                <a:solidFill>
                  <a:srgbClr val="007A36"/>
                </a:solidFill>
                <a:sym typeface="+mn-ea"/>
              </a:rPr>
              <a:t>,</a:t>
            </a:r>
          </a:p>
          <a:p>
            <a:r>
              <a:rPr lang="en-US" sz="2000" b="1" dirty="0">
                <a:solidFill>
                  <a:srgbClr val="007A36"/>
                </a:solidFill>
                <a:sym typeface="+mn-ea"/>
              </a:rPr>
              <a:t>        "</a:t>
            </a:r>
            <a:r>
              <a:rPr lang="en-US" sz="2000" b="1" dirty="0" err="1">
                <a:solidFill>
                  <a:srgbClr val="007A36"/>
                </a:solidFill>
                <a:sym typeface="+mn-ea"/>
              </a:rPr>
              <a:t>Else":None</a:t>
            </a:r>
            <a:endParaRPr lang="en-US" sz="2000" b="1" dirty="0">
              <a:solidFill>
                <a:srgbClr val="007A36"/>
              </a:solidFill>
              <a:sym typeface="+mn-ea"/>
            </a:endParaRPr>
          </a:p>
          <a:p>
            <a:r>
              <a:rPr lang="en-US" sz="2000" b="1" dirty="0">
                <a:solidFill>
                  <a:srgbClr val="007A36"/>
                </a:solidFill>
                <a:sym typeface="+mn-ea"/>
              </a:rPr>
              <a:t>       }</a:t>
            </a:r>
          </a:p>
          <a:p>
            <a:r>
              <a:rPr lang="en-US" sz="2000" b="1" dirty="0" err="1">
                <a:solidFill>
                  <a:srgbClr val="007A36"/>
                </a:solidFill>
                <a:sym typeface="+mn-ea"/>
              </a:rPr>
              <a:t>json_data</a:t>
            </a:r>
            <a:r>
              <a:rPr lang="en-US" sz="2000" b="1" dirty="0">
                <a:solidFill>
                  <a:srgbClr val="007A36"/>
                </a:solidFill>
                <a:sym typeface="+mn-ea"/>
              </a:rPr>
              <a:t> = </a:t>
            </a:r>
            <a:r>
              <a:rPr lang="en-US" sz="2000" b="1" dirty="0" err="1">
                <a:solidFill>
                  <a:srgbClr val="007A36"/>
                </a:solidFill>
                <a:sym typeface="+mn-ea"/>
              </a:rPr>
              <a:t>json.dumps</a:t>
            </a:r>
            <a:r>
              <a:rPr lang="en-US" sz="2000" b="1" dirty="0">
                <a:solidFill>
                  <a:srgbClr val="007A36"/>
                </a:solidFill>
                <a:sym typeface="+mn-ea"/>
              </a:rPr>
              <a:t>(data)</a:t>
            </a:r>
          </a:p>
          <a:p>
            <a:r>
              <a:rPr lang="en-US" sz="2000" b="1" dirty="0">
                <a:solidFill>
                  <a:srgbClr val="007A36"/>
                </a:solidFill>
                <a:sym typeface="+mn-ea"/>
              </a:rPr>
              <a:t>print('</a:t>
            </a:r>
            <a:r>
              <a:rPr lang="en-US" sz="2000" b="1" dirty="0" err="1">
                <a:solidFill>
                  <a:srgbClr val="007A36"/>
                </a:solidFill>
                <a:sym typeface="+mn-ea"/>
              </a:rPr>
              <a:t>json</a:t>
            </a:r>
            <a:r>
              <a:rPr lang="zh-CN" altLang="en-US" sz="2000" b="1" dirty="0">
                <a:solidFill>
                  <a:srgbClr val="007A36"/>
                </a:solidFill>
                <a:sym typeface="+mn-ea"/>
              </a:rPr>
              <a:t>字符串</a:t>
            </a:r>
            <a:r>
              <a:rPr lang="en-US" altLang="zh-CN" sz="2000" b="1" dirty="0">
                <a:solidFill>
                  <a:srgbClr val="007A36"/>
                </a:solidFill>
                <a:sym typeface="+mn-ea"/>
              </a:rPr>
              <a:t>:'+</a:t>
            </a:r>
            <a:r>
              <a:rPr lang="en-US" sz="2000" b="1" dirty="0" err="1">
                <a:solidFill>
                  <a:srgbClr val="007A36"/>
                </a:solidFill>
                <a:sym typeface="+mn-ea"/>
              </a:rPr>
              <a:t>json_data</a:t>
            </a:r>
            <a:r>
              <a:rPr lang="en-US" sz="2000" b="1" dirty="0">
                <a:solidFill>
                  <a:srgbClr val="007A36"/>
                </a:solidFill>
                <a:sym typeface="+mn-ea"/>
              </a:rPr>
              <a:t>)</a:t>
            </a:r>
          </a:p>
          <a:p>
            <a:r>
              <a:rPr lang="en-US" sz="2000" b="1" dirty="0">
                <a:solidFill>
                  <a:srgbClr val="007A36"/>
                </a:solidFill>
                <a:sym typeface="+mn-ea"/>
              </a:rPr>
              <a:t>data1 = </a:t>
            </a:r>
            <a:r>
              <a:rPr lang="en-US" sz="2000" b="1" dirty="0" err="1">
                <a:solidFill>
                  <a:srgbClr val="007A36"/>
                </a:solidFill>
                <a:sym typeface="+mn-ea"/>
              </a:rPr>
              <a:t>json.</a:t>
            </a:r>
            <a:r>
              <a:rPr lang="en-US" altLang="zh-CN" sz="2000" b="1" dirty="0" err="1">
                <a:solidFill>
                  <a:srgbClr val="007A36"/>
                </a:solidFill>
                <a:sym typeface="+mn-ea"/>
              </a:rPr>
              <a:t>load</a:t>
            </a:r>
            <a:r>
              <a:rPr lang="en-US" sz="2000" b="1" dirty="0" err="1">
                <a:solidFill>
                  <a:srgbClr val="007A36"/>
                </a:solidFill>
                <a:sym typeface="+mn-ea"/>
              </a:rPr>
              <a:t>s</a:t>
            </a:r>
            <a:r>
              <a:rPr lang="en-US" sz="2000" b="1" dirty="0">
                <a:solidFill>
                  <a:srgbClr val="007A36"/>
                </a:solidFill>
                <a:sym typeface="+mn-ea"/>
              </a:rPr>
              <a:t>(</a:t>
            </a:r>
            <a:r>
              <a:rPr lang="en-US" sz="2000" b="1" dirty="0" err="1">
                <a:solidFill>
                  <a:srgbClr val="007A36"/>
                </a:solidFill>
                <a:sym typeface="+mn-ea"/>
              </a:rPr>
              <a:t>json_data</a:t>
            </a:r>
            <a:r>
              <a:rPr lang="en-US" sz="2000" b="1" dirty="0">
                <a:solidFill>
                  <a:srgbClr val="007A36"/>
                </a:solidFill>
                <a:sym typeface="+mn-ea"/>
              </a:rPr>
              <a:t>)</a:t>
            </a:r>
          </a:p>
          <a:p>
            <a:r>
              <a:rPr lang="en-US" sz="2000" b="1" strike="sngStrike" dirty="0">
                <a:solidFill>
                  <a:srgbClr val="007A36"/>
                </a:solidFill>
                <a:sym typeface="+mn-ea"/>
              </a:rPr>
              <a:t>print('</a:t>
            </a:r>
            <a:r>
              <a:rPr lang="en-US" sz="2000" b="1" strike="sngStrike" dirty="0" err="1">
                <a:solidFill>
                  <a:srgbClr val="007A36"/>
                </a:solidFill>
                <a:sym typeface="+mn-ea"/>
              </a:rPr>
              <a:t>json</a:t>
            </a:r>
            <a:r>
              <a:rPr lang="zh-CN" altLang="en-US" sz="2000" b="1" strike="sngStrike" dirty="0">
                <a:solidFill>
                  <a:srgbClr val="007A36"/>
                </a:solidFill>
                <a:sym typeface="+mn-ea"/>
              </a:rPr>
              <a:t>转换为字典：</a:t>
            </a:r>
            <a:r>
              <a:rPr lang="en-US" altLang="zh-CN" sz="2000" b="1" strike="sngStrike" dirty="0">
                <a:solidFill>
                  <a:srgbClr val="007A36"/>
                </a:solidFill>
                <a:sym typeface="+mn-ea"/>
              </a:rPr>
              <a:t>'+</a:t>
            </a:r>
            <a:r>
              <a:rPr lang="en-US" sz="2000" b="1" strike="sngStrike" dirty="0">
                <a:solidFill>
                  <a:srgbClr val="007A36"/>
                </a:solidFill>
                <a:sym typeface="+mn-ea"/>
              </a:rPr>
              <a:t>data1)</a:t>
            </a:r>
          </a:p>
          <a:p>
            <a:r>
              <a:rPr lang="en-US" sz="2000" b="1" dirty="0">
                <a:solidFill>
                  <a:srgbClr val="007A36"/>
                </a:solidFill>
                <a:sym typeface="+mn-ea"/>
              </a:rPr>
              <a:t>print('</a:t>
            </a:r>
            <a:r>
              <a:rPr lang="en-US" sz="2000" b="1" dirty="0" err="1">
                <a:solidFill>
                  <a:srgbClr val="007A36"/>
                </a:solidFill>
                <a:sym typeface="+mn-ea"/>
              </a:rPr>
              <a:t>json</a:t>
            </a:r>
            <a:r>
              <a:rPr lang="zh-CN" altLang="en-US" sz="2000" b="1" dirty="0">
                <a:solidFill>
                  <a:srgbClr val="007A36"/>
                </a:solidFill>
                <a:sym typeface="+mn-ea"/>
              </a:rPr>
              <a:t>转换为字典：</a:t>
            </a:r>
            <a:r>
              <a:rPr lang="en-US" altLang="zh-CN" sz="2000" b="1" dirty="0">
                <a:solidFill>
                  <a:srgbClr val="007A36"/>
                </a:solidFill>
                <a:sym typeface="+mn-ea"/>
              </a:rPr>
              <a:t>',</a:t>
            </a:r>
            <a:r>
              <a:rPr lang="en-US" sz="2000" b="1" dirty="0">
                <a:solidFill>
                  <a:srgbClr val="007A36"/>
                </a:solidFill>
                <a:sym typeface="+mn-ea"/>
              </a:rPr>
              <a:t>data1)</a:t>
            </a:r>
          </a:p>
          <a:p>
            <a:r>
              <a:rPr lang="en-US" sz="2000" b="1" dirty="0">
                <a:solidFill>
                  <a:srgbClr val="007A36"/>
                </a:solidFill>
                <a:sym typeface="+mn-ea"/>
              </a:rPr>
              <a:t>print(type(</a:t>
            </a:r>
            <a:r>
              <a:rPr lang="en-US" altLang="zh-CN" sz="2000" b="1" dirty="0">
                <a:solidFill>
                  <a:srgbClr val="007A36"/>
                </a:solidFill>
                <a:sym typeface="+mn-ea"/>
              </a:rPr>
              <a:t>data1</a:t>
            </a:r>
            <a:r>
              <a:rPr lang="en-US" sz="2000" b="1" dirty="0">
                <a:solidFill>
                  <a:srgbClr val="007A36"/>
                </a:solidFill>
                <a:sym typeface="+mn-ea"/>
              </a:rPr>
              <a:t>))</a:t>
            </a:r>
            <a:endParaRPr sz="2000" b="1" dirty="0">
              <a:solidFill>
                <a:srgbClr val="007A36"/>
              </a:solidFill>
              <a:sym typeface="+mn-ea"/>
            </a:endParaRPr>
          </a:p>
        </p:txBody>
      </p:sp>
      <p:pic>
        <p:nvPicPr>
          <p:cNvPr id="1025" name="Picture 1" descr="C:\Users\ThinkPad\AppData\Roaming\Tencent\Users\19379577\QQ\WinTemp\RichOle\M}@}]N00OC(0X2JTRMZQ8{2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654" y="4866427"/>
            <a:ext cx="8753475" cy="1123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438377"/>
      </p:ext>
    </p:extLst>
  </p:cSld>
  <p:clrMapOvr>
    <a:masterClrMapping/>
  </p:clrMapOvr>
  <p:transition spd="slow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11" grpId="0" bldLvl="0" animBg="1"/>
      <p:bldP spid="11" grpId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70839" y="909512"/>
            <a:ext cx="687560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EA5F00"/>
                </a:solidFill>
                <a:latin typeface="微软雅黑" pitchFamily="34" charset="-122"/>
                <a:ea typeface="微软雅黑" pitchFamily="34" charset="-122"/>
              </a:rPr>
              <a:t>拓展：</a:t>
            </a:r>
            <a:r>
              <a:rPr lang="en-US" altLang="zh-CN" dirty="0">
                <a:solidFill>
                  <a:srgbClr val="EA5F00"/>
                </a:solidFill>
                <a:latin typeface="微软雅黑" pitchFamily="34" charset="-122"/>
                <a:ea typeface="微软雅黑" pitchFamily="34" charset="-122"/>
              </a:rPr>
              <a:t>XML</a:t>
            </a:r>
            <a:r>
              <a:rPr lang="zh-CN" altLang="en-US" dirty="0">
                <a:solidFill>
                  <a:srgbClr val="EA5F00"/>
                </a:solidFill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en-US" altLang="zh-CN" dirty="0">
                <a:solidFill>
                  <a:srgbClr val="EA5F00"/>
                </a:solidFill>
                <a:latin typeface="微软雅黑" pitchFamily="34" charset="-122"/>
                <a:ea typeface="微软雅黑" pitchFamily="34" charset="-122"/>
              </a:rPr>
              <a:t>JSON</a:t>
            </a:r>
            <a:r>
              <a:rPr lang="zh-CN" altLang="en-US" dirty="0">
                <a:solidFill>
                  <a:srgbClr val="EA5F00"/>
                </a:solidFill>
                <a:latin typeface="微软雅黑" pitchFamily="34" charset="-122"/>
                <a:ea typeface="微软雅黑" pitchFamily="34" charset="-122"/>
              </a:rPr>
              <a:t>都使用</a:t>
            </a:r>
            <a:r>
              <a:rPr lang="zh-CN" altLang="en-US" dirty="0">
                <a:solidFill>
                  <a:srgbClr val="EA5F00"/>
                </a:solidFill>
                <a:latin typeface="微软雅黑" pitchFamily="34" charset="-122"/>
                <a:ea typeface="微软雅黑" pitchFamily="34" charset="-122"/>
                <a:hlinkClick r:id="rId2"/>
              </a:rPr>
              <a:t>结构化方法</a:t>
            </a:r>
            <a:r>
              <a:rPr lang="zh-CN" altLang="en-US" dirty="0">
                <a:solidFill>
                  <a:srgbClr val="EA5F00"/>
                </a:solidFill>
                <a:latin typeface="微软雅黑" pitchFamily="34" charset="-122"/>
                <a:ea typeface="微软雅黑" pitchFamily="34" charset="-122"/>
              </a:rPr>
              <a:t>来标记数据</a:t>
            </a:r>
          </a:p>
        </p:txBody>
      </p:sp>
      <p:pic>
        <p:nvPicPr>
          <p:cNvPr id="1025" name="Picture 1" descr="C:\Users\ThinkPad\AppData\Roaming\Tencent\Users\19379577\QQ\WinTemp\RichOle\71_3H)93[0~PTATL{MQ3N9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4639" y="1402583"/>
            <a:ext cx="3347944" cy="4840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C:\Users\ThinkPad\AppData\Roaming\Tencent\Users\19379577\QQ\WinTemp\RichOle\_JP)B3290V`HWSE32EZO22Q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7127" y="1732735"/>
            <a:ext cx="3976117" cy="3976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318052"/>
      </p:ext>
    </p:extLst>
  </p:cSld>
  <p:clrMapOvr>
    <a:masterClrMapping/>
  </p:clrMapOvr>
  <p:transition spd="slow" advTm="0">
    <p:wip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0205369" y="189434"/>
            <a:ext cx="20180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5.2 模块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65455" y="772795"/>
            <a:ext cx="11555095" cy="6940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zh-CN" sz="28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28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、内建模块（</a:t>
            </a:r>
            <a:r>
              <a:rPr lang="en-US" altLang="zh-CN" sz="28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build-in modules</a:t>
            </a:r>
            <a:r>
              <a:rPr lang="zh-CN" altLang="en-US" sz="28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465455" y="1466850"/>
            <a:ext cx="11555095" cy="6076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40000"/>
              </a:lnSpc>
            </a:pPr>
            <a:r>
              <a:rPr 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</a:t>
            </a:r>
            <a:r>
              <a:rPr 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random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模块主要用于生成随机数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583" y="2061642"/>
            <a:ext cx="10729192" cy="112646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 algn="just">
              <a:lnSpc>
                <a:spcPct val="140000"/>
              </a:lnSpc>
              <a:buFont typeface="Wingdings" panose="05000000000000000000" charset="0"/>
              <a:buChar char="u"/>
            </a:pPr>
            <a:r>
              <a:rPr 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random()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r>
              <a:rPr lang="en-US" b="1" dirty="0" err="1">
                <a:latin typeface="Times New Roman" pitchFamily="18" charset="0"/>
                <a:ea typeface="楷体" panose="02010609060101010101" pitchFamily="49" charset="-122"/>
                <a:cs typeface="Times New Roman" pitchFamily="18" charset="0"/>
              </a:rPr>
              <a:t>random.random</a:t>
            </a:r>
            <a:r>
              <a:rPr lang="en-US" b="1" dirty="0">
                <a:latin typeface="Times New Roman" pitchFamily="18" charset="0"/>
                <a:ea typeface="楷体" panose="02010609060101010101" pitchFamily="49" charset="-122"/>
                <a:cs typeface="Times New Roman" pitchFamily="18" charset="0"/>
              </a:rPr>
              <a:t>(), </a:t>
            </a:r>
            <a:r>
              <a:rPr lang="zh-CN" altLang="en-US" b="1" dirty="0">
                <a:latin typeface="Times New Roman" pitchFamily="18" charset="0"/>
                <a:ea typeface="楷体" panose="02010609060101010101" pitchFamily="49" charset="-122"/>
                <a:cs typeface="Times New Roman" pitchFamily="18" charset="0"/>
              </a:rPr>
              <a:t>生成</a:t>
            </a:r>
            <a:r>
              <a:rPr lang="en-US" altLang="zh-CN" b="1" dirty="0">
                <a:latin typeface="Times New Roman" pitchFamily="18" charset="0"/>
                <a:ea typeface="楷体" panose="02010609060101010101" pitchFamily="49" charset="-122"/>
                <a:cs typeface="Times New Roman" pitchFamily="18" charset="0"/>
              </a:rPr>
              <a:t>0-1</a:t>
            </a:r>
            <a:r>
              <a:rPr lang="zh-CN" altLang="en-US" b="1" dirty="0">
                <a:latin typeface="Times New Roman" pitchFamily="18" charset="0"/>
                <a:ea typeface="楷体" panose="02010609060101010101" pitchFamily="49" charset="-122"/>
                <a:cs typeface="Times New Roman" pitchFamily="18" charset="0"/>
              </a:rPr>
              <a:t>之间的随机浮点数</a:t>
            </a:r>
            <a:r>
              <a:rPr lang="en-US" altLang="zh-CN" b="1" dirty="0">
                <a:latin typeface="Times New Roman" pitchFamily="18" charset="0"/>
                <a:ea typeface="楷体" panose="02010609060101010101" pitchFamily="49" charset="-122"/>
                <a:cs typeface="Times New Roman" pitchFamily="18" charset="0"/>
              </a:rPr>
              <a:t>,[0,1)</a:t>
            </a:r>
            <a:endParaRPr lang="zh-CN" altLang="en-US" b="1" dirty="0">
              <a:latin typeface="Times New Roman" pitchFamily="18" charset="0"/>
              <a:ea typeface="楷体" panose="02010609060101010101" pitchFamily="49" charset="-122"/>
              <a:cs typeface="Times New Roman" pitchFamily="18" charset="0"/>
            </a:endParaRPr>
          </a:p>
          <a:p>
            <a:pPr marL="342900" indent="-342900" algn="just">
              <a:lnSpc>
                <a:spcPct val="140000"/>
              </a:lnSpc>
              <a:buFont typeface="Wingdings" panose="05000000000000000000" charset="0"/>
              <a:buChar char="u"/>
            </a:pPr>
            <a:r>
              <a:rPr 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uniform(</a:t>
            </a:r>
            <a:r>
              <a:rPr lang="en-US" b="1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a,b</a:t>
            </a:r>
            <a:r>
              <a:rPr 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r>
              <a:rPr lang="zh-CN" altLang="en-US" b="1" dirty="0">
                <a:latin typeface="Times New Roman" pitchFamily="18" charset="0"/>
                <a:ea typeface="楷体" panose="02010609060101010101" pitchFamily="49" charset="-122"/>
                <a:cs typeface="Times New Roman" pitchFamily="18" charset="0"/>
              </a:rPr>
              <a:t>生成指定区间的随机实数</a:t>
            </a:r>
            <a:r>
              <a:rPr lang="en-US" altLang="zh-CN" b="1" dirty="0">
                <a:latin typeface="Times New Roman" pitchFamily="18" charset="0"/>
                <a:ea typeface="楷体" panose="02010609060101010101" pitchFamily="49" charset="-122"/>
                <a:cs typeface="Times New Roman" pitchFamily="18" charset="0"/>
              </a:rPr>
              <a:t>, </a:t>
            </a:r>
            <a:r>
              <a:rPr lang="en-US" b="1" dirty="0" err="1">
                <a:latin typeface="Times New Roman" pitchFamily="18" charset="0"/>
                <a:ea typeface="楷体" panose="02010609060101010101" pitchFamily="49" charset="-122"/>
                <a:cs typeface="Times New Roman" pitchFamily="18" charset="0"/>
                <a:sym typeface="+mn-ea"/>
              </a:rPr>
              <a:t>random.uniform</a:t>
            </a:r>
            <a:r>
              <a:rPr lang="en-US" b="1" dirty="0">
                <a:latin typeface="Times New Roman" pitchFamily="18" charset="0"/>
                <a:ea typeface="楷体" panose="02010609060101010101" pitchFamily="49" charset="-122"/>
                <a:cs typeface="Times New Roman" pitchFamily="18" charset="0"/>
                <a:sym typeface="+mn-ea"/>
              </a:rPr>
              <a:t>(5,10),[5,10]</a:t>
            </a:r>
            <a:endParaRPr lang="en-US" altLang="zh-CN" b="1" dirty="0">
              <a:latin typeface="Times New Roman" pitchFamily="18" charset="0"/>
              <a:ea typeface="楷体" panose="02010609060101010101" pitchFamily="49" charset="-122"/>
              <a:cs typeface="Times New Roman" pitchFamily="18" charset="0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97156" y="3357786"/>
            <a:ext cx="10724515" cy="112458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t">
            <a:spAutoFit/>
          </a:bodyPr>
          <a:lstStyle/>
          <a:p>
            <a:pPr algn="just">
              <a:lnSpc>
                <a:spcPct val="140000"/>
              </a:lnSpc>
            </a:pPr>
            <a:r>
              <a:rPr lang="zh-CN" altLang="en-US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随机种子的概念：</a:t>
            </a:r>
            <a:r>
              <a:rPr lang="zh-CN" altLang="en-US" b="1" dirty="0">
                <a:latin typeface="Times New Roman" pitchFamily="18" charset="0"/>
                <a:ea typeface="楷体" panose="02010609060101010101" pitchFamily="49" charset="-122"/>
                <a:cs typeface="Times New Roman" pitchFamily="18" charset="0"/>
                <a:sym typeface="+mn-ea"/>
              </a:rPr>
              <a:t>一旦指定随机种子</a:t>
            </a:r>
            <a:r>
              <a:rPr lang="en-US" altLang="zh-CN" b="1" dirty="0">
                <a:latin typeface="Times New Roman" pitchFamily="18" charset="0"/>
                <a:ea typeface="楷体" panose="02010609060101010101" pitchFamily="49" charset="-122"/>
                <a:cs typeface="Times New Roman" pitchFamily="18" charset="0"/>
                <a:sym typeface="+mn-ea"/>
              </a:rPr>
              <a:t>seed</a:t>
            </a:r>
            <a:r>
              <a:rPr lang="en-US" altLang="zh-CN" b="1" dirty="0">
                <a:latin typeface="Times New Roman" pitchFamily="18" charset="0"/>
                <a:ea typeface="楷体" panose="02010609060101010101" pitchFamily="49" charset="-122"/>
                <a:cs typeface="Times New Roman" pitchFamily="18" charset="0"/>
              </a:rPr>
              <a:t>, </a:t>
            </a:r>
            <a:r>
              <a:rPr lang="zh-CN" altLang="en-US" b="1" dirty="0">
                <a:latin typeface="Times New Roman" pitchFamily="18" charset="0"/>
                <a:ea typeface="楷体" panose="02010609060101010101" pitchFamily="49" charset="-122"/>
                <a:cs typeface="Times New Roman" pitchFamily="18" charset="0"/>
                <a:sym typeface="+mn-ea"/>
              </a:rPr>
              <a:t>后序产生的随机数都是相同的。</a:t>
            </a:r>
          </a:p>
          <a:p>
            <a:pPr algn="just">
              <a:lnSpc>
                <a:spcPct val="140000"/>
              </a:lnSpc>
            </a:pPr>
            <a:r>
              <a:rPr lang="zh-CN" altLang="en-US" b="1" dirty="0">
                <a:latin typeface="Times New Roman" pitchFamily="18" charset="0"/>
                <a:ea typeface="楷体" panose="02010609060101010101" pitchFamily="49" charset="-122"/>
                <a:cs typeface="Times New Roman" pitchFamily="18" charset="0"/>
              </a:rPr>
              <a:t>通过调用</a:t>
            </a:r>
            <a:r>
              <a:rPr lang="en-US" altLang="zh-CN" b="1" dirty="0" err="1">
                <a:latin typeface="Times New Roman" pitchFamily="18" charset="0"/>
                <a:ea typeface="楷体" panose="02010609060101010101" pitchFamily="49" charset="-122"/>
                <a:cs typeface="Times New Roman" pitchFamily="18" charset="0"/>
              </a:rPr>
              <a:t>random.seed</a:t>
            </a:r>
            <a:r>
              <a:rPr lang="en-US" altLang="zh-CN" b="1" dirty="0">
                <a:latin typeface="Times New Roman" pitchFamily="18" charset="0"/>
                <a:ea typeface="楷体" panose="02010609060101010101" pitchFamily="49" charset="-122"/>
                <a:cs typeface="Times New Roman" pitchFamily="18" charset="0"/>
              </a:rPr>
              <a:t>(n), n</a:t>
            </a:r>
            <a:r>
              <a:rPr lang="zh-CN" altLang="en-US" b="1" dirty="0">
                <a:latin typeface="Times New Roman" pitchFamily="18" charset="0"/>
                <a:ea typeface="楷体" panose="02010609060101010101" pitchFamily="49" charset="-122"/>
                <a:cs typeface="Times New Roman" pitchFamily="18" charset="0"/>
              </a:rPr>
              <a:t>为指定的随机种子</a:t>
            </a:r>
            <a:r>
              <a:rPr lang="en-US" altLang="zh-CN" b="1" dirty="0">
                <a:latin typeface="Times New Roman" pitchFamily="18" charset="0"/>
                <a:ea typeface="楷体" panose="02010609060101010101" pitchFamily="49" charset="-122"/>
                <a:cs typeface="Times New Roman" pitchFamily="18" charset="0"/>
              </a:rPr>
              <a:t>, </a:t>
            </a:r>
            <a:r>
              <a:rPr lang="zh-CN" altLang="en-US" b="1" dirty="0">
                <a:latin typeface="Times New Roman" pitchFamily="18" charset="0"/>
                <a:ea typeface="楷体" panose="02010609060101010101" pitchFamily="49" charset="-122"/>
                <a:cs typeface="Times New Roman" pitchFamily="18" charset="0"/>
              </a:rPr>
              <a:t>不指定会依据系统时间。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2282750" y="4714240"/>
            <a:ext cx="3001645" cy="119888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en-US" b="1" dirty="0">
                <a:solidFill>
                  <a:srgbClr val="007A36"/>
                </a:solidFill>
                <a:sym typeface="+mn-ea"/>
              </a:rPr>
              <a:t>import random</a:t>
            </a:r>
          </a:p>
          <a:p>
            <a:pPr algn="l"/>
            <a:r>
              <a:rPr lang="en-US" b="1" dirty="0" err="1">
                <a:solidFill>
                  <a:srgbClr val="007A36"/>
                </a:solidFill>
                <a:sym typeface="+mn-ea"/>
              </a:rPr>
              <a:t>random.seed</a:t>
            </a:r>
            <a:r>
              <a:rPr lang="en-US" b="1" dirty="0">
                <a:solidFill>
                  <a:srgbClr val="007A36"/>
                </a:solidFill>
                <a:sym typeface="+mn-ea"/>
              </a:rPr>
              <a:t>(100)</a:t>
            </a:r>
          </a:p>
          <a:p>
            <a:pPr algn="l"/>
            <a:r>
              <a:rPr lang="en-US" b="1" dirty="0" err="1">
                <a:solidFill>
                  <a:srgbClr val="007A36"/>
                </a:solidFill>
                <a:sym typeface="+mn-ea"/>
              </a:rPr>
              <a:t>random.uniform</a:t>
            </a:r>
            <a:r>
              <a:rPr lang="en-US" b="1" dirty="0">
                <a:solidFill>
                  <a:srgbClr val="007A36"/>
                </a:solidFill>
                <a:sym typeface="+mn-ea"/>
              </a:rPr>
              <a:t>(5,10)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6459215" y="5083492"/>
            <a:ext cx="3381375" cy="46037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t">
            <a:spAutoFit/>
          </a:bodyPr>
          <a:lstStyle/>
          <a:p>
            <a:r>
              <a:rPr lang="zh-CN" altLang="en-US" dirty="0"/>
              <a:t>5.728346275520652</a:t>
            </a:r>
          </a:p>
        </p:txBody>
      </p:sp>
    </p:spTree>
  </p:cSld>
  <p:clrMapOvr>
    <a:masterClrMapping/>
  </p:clrMapOvr>
  <p:transition spd="slow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4" grpId="0" bldLvl="0" animBg="1"/>
      <p:bldP spid="6" grpId="0"/>
      <p:bldP spid="6" grpId="1"/>
      <p:bldP spid="8" grpId="0" bldLvl="0" animBg="1"/>
      <p:bldP spid="8" grpId="1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0205369" y="189434"/>
            <a:ext cx="20180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5.2 模块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65455" y="772795"/>
            <a:ext cx="11555095" cy="6940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zh-CN" sz="28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28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、内建模块（</a:t>
            </a:r>
            <a:r>
              <a:rPr lang="en-US" altLang="zh-CN" sz="28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build-in modules</a:t>
            </a:r>
            <a:r>
              <a:rPr lang="zh-CN" altLang="en-US" sz="28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465455" y="1466850"/>
            <a:ext cx="11555095" cy="6076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40000"/>
              </a:lnSpc>
            </a:pPr>
            <a:r>
              <a:rPr lang="zh-CN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</a:t>
            </a:r>
            <a:r>
              <a:rPr lang="zh-CN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random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908050" y="2505075"/>
            <a:ext cx="10557510" cy="37090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 algn="just">
              <a:lnSpc>
                <a:spcPct val="140000"/>
              </a:lnSpc>
              <a:buFont typeface="Wingdings" panose="05000000000000000000" charset="0"/>
              <a:buChar char="u"/>
            </a:pPr>
            <a:r>
              <a:rPr lang="en-US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randint(a,b)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r>
              <a:rPr lang="zh-CN" altLang="en-US" b="1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生成指定区间随机整数。</a:t>
            </a:r>
            <a:r>
              <a:rPr lang="en-US" altLang="zh-CN" b="1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[a,b]</a:t>
            </a:r>
            <a:endParaRPr lang="zh-CN" altLang="en-US" b="1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marL="342900" indent="-342900" algn="just">
              <a:lnSpc>
                <a:spcPct val="140000"/>
              </a:lnSpc>
              <a:buFont typeface="Wingdings" panose="05000000000000000000" charset="0"/>
              <a:buChar char="u"/>
            </a:pPr>
            <a:r>
              <a:rPr lang="en-US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randrange(m,n,s)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r>
              <a:rPr lang="zh-CN" b="1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用于在指定范围内按指定基数递增的集合中获得一个随机数，</a:t>
            </a:r>
            <a:r>
              <a:rPr lang="en-US" altLang="zh-CN" b="1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m</a:t>
            </a:r>
            <a:r>
              <a:rPr lang="zh-CN" altLang="en-US" b="1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上限（包括），</a:t>
            </a:r>
            <a:r>
              <a:rPr lang="en-US" altLang="zh-CN" b="1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n</a:t>
            </a:r>
            <a:r>
              <a:rPr lang="zh-CN" altLang="en-US" b="1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下限（不包括），</a:t>
            </a:r>
            <a:r>
              <a:rPr lang="en-US" altLang="zh-CN" b="1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s</a:t>
            </a:r>
            <a:r>
              <a:rPr lang="zh-CN" altLang="en-US" b="1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是间隔。</a:t>
            </a:r>
          </a:p>
          <a:p>
            <a:pPr marL="342900" indent="-342900" algn="just">
              <a:lnSpc>
                <a:spcPct val="140000"/>
              </a:lnSpc>
              <a:buFont typeface="Wingdings" panose="05000000000000000000" charset="0"/>
              <a:buChar char="u"/>
            </a:pPr>
            <a:r>
              <a:rPr lang="en-US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choice(A)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</a:t>
            </a:r>
            <a:r>
              <a:rPr lang="zh-CN" b="1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用于在众多元素中选择一个元素，这个元素不一定是具体数值。</a:t>
            </a:r>
          </a:p>
          <a:p>
            <a:pPr marL="342900" indent="-342900" algn="just">
              <a:lnSpc>
                <a:spcPct val="140000"/>
              </a:lnSpc>
              <a:buFont typeface="Wingdings" panose="05000000000000000000" charset="0"/>
              <a:buChar char="u"/>
            </a:pPr>
            <a:r>
              <a:rPr lang="en-US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choices(A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</a:t>
            </a:r>
            <a:r>
              <a:rPr lang="en-US" altLang="zh-CN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k</a:t>
            </a:r>
            <a:r>
              <a:rPr lang="en-US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)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</a:t>
            </a:r>
            <a:r>
              <a:rPr lang="zh-CN" b="1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一次性挑选多个元素，</a:t>
            </a:r>
            <a:r>
              <a:rPr lang="en-US" altLang="zh-CN" b="1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k</a:t>
            </a:r>
            <a:r>
              <a:rPr lang="zh-CN" altLang="en-US" b="1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为挑选元素数量（</a:t>
            </a:r>
            <a:r>
              <a:rPr lang="zh-CN" altLang="en-US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放回采样</a:t>
            </a:r>
            <a:r>
              <a:rPr lang="zh-CN" altLang="en-US" b="1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）</a:t>
            </a:r>
          </a:p>
          <a:p>
            <a:pPr marL="342900" indent="-342900" algn="just">
              <a:lnSpc>
                <a:spcPct val="140000"/>
              </a:lnSpc>
              <a:buFont typeface="Wingdings" panose="05000000000000000000" charset="0"/>
              <a:buChar char="u"/>
            </a:pPr>
            <a:r>
              <a:rPr lang="en-US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sample(A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</a:t>
            </a:r>
            <a:r>
              <a:rPr lang="en-US" altLang="zh-CN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k</a:t>
            </a:r>
            <a:r>
              <a:rPr lang="en-US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)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</a:t>
            </a:r>
            <a:r>
              <a:rPr lang="zh-CN" b="1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一次性随机抽取多个不重复元素，</a:t>
            </a:r>
            <a:r>
              <a:rPr lang="en-US" altLang="zh-CN" b="1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k</a:t>
            </a:r>
            <a:r>
              <a:rPr lang="zh-CN" altLang="en-US" b="1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为挑选元素数量</a:t>
            </a:r>
          </a:p>
          <a:p>
            <a:pPr marL="342900" indent="-342900" algn="just">
              <a:lnSpc>
                <a:spcPct val="140000"/>
              </a:lnSpc>
              <a:buFont typeface="Wingdings" panose="05000000000000000000" charset="0"/>
              <a:buChar char="u"/>
            </a:pPr>
            <a:r>
              <a:rPr lang="en-US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shuffle()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</a:t>
            </a:r>
            <a:r>
              <a:rPr lang="zh-CN" altLang="en-US" b="1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随机打乱元素（类似洗牌）</a:t>
            </a:r>
            <a:endParaRPr lang="zh-CN" altLang="en-US" b="1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36295" y="1992630"/>
            <a:ext cx="5044440" cy="60769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just">
              <a:lnSpc>
                <a:spcPct val="140000"/>
              </a:lnSpc>
            </a:pPr>
            <a:r>
              <a:rPr 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random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模块主要用于生成随机数。</a:t>
            </a:r>
            <a:endParaRPr lang="zh-CN" altLang="en-US"/>
          </a:p>
        </p:txBody>
      </p:sp>
    </p:spTree>
  </p:cSld>
  <p:clrMapOvr>
    <a:masterClrMapping/>
  </p:clrMapOvr>
  <p:transition spd="slow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1"/>
            </p:custDataLst>
          </p:nvPr>
        </p:nvSpPr>
        <p:spPr>
          <a:xfrm>
            <a:off x="0" y="3810736"/>
            <a:ext cx="12198448" cy="3048588"/>
          </a:xfrm>
          <a:prstGeom prst="rect">
            <a:avLst/>
          </a:prstGeom>
          <a:pattFill prst="dkHorz">
            <a:fgClr>
              <a:srgbClr val="F2F2F2"/>
            </a:fgClr>
            <a:bgClr>
              <a:srgbClr val="FFFFFF"/>
            </a:bgClr>
          </a:patt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 sz="18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1677254" y="914251"/>
            <a:ext cx="8843875" cy="853503"/>
          </a:xfrm>
          <a:prstGeom prst="rect">
            <a:avLst/>
          </a:prstGeom>
          <a:solidFill>
            <a:srgbClr val="FFFFFF"/>
          </a:solidFill>
          <a:ln w="25400">
            <a:noFill/>
          </a:ln>
          <a:effectLst>
            <a:outerShdw blurRad="50800" dist="76200" dir="5400000" sx="101000" sy="101000" algn="t" rotWithShape="0">
              <a:srgbClr val="000000">
                <a:alpha val="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kumimoji="1" lang="zh-CN" altLang="en-US" sz="3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1" name="矩形 11"/>
          <p:cNvSpPr/>
          <p:nvPr>
            <p:custDataLst>
              <p:tags r:id="rId3"/>
            </p:custDataLst>
          </p:nvPr>
        </p:nvSpPr>
        <p:spPr>
          <a:xfrm>
            <a:off x="1677241" y="2194436"/>
            <a:ext cx="8843875" cy="3777441"/>
          </a:xfrm>
          <a:prstGeom prst="rect">
            <a:avLst/>
          </a:prstGeom>
          <a:solidFill>
            <a:srgbClr val="FFFFFF"/>
          </a:solidFill>
          <a:ln w="25400">
            <a:noFill/>
          </a:ln>
          <a:effectLst>
            <a:outerShdw blurRad="50800" dist="76200" dir="5400000" sx="101000" sy="101000" algn="t" rotWithShape="0">
              <a:srgbClr val="000000">
                <a:alpha val="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kumimoji="1" lang="zh-CN" altLang="en-US" sz="18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>
            <p:custDataLst>
              <p:tags r:id="rId4"/>
            </p:custDataLst>
          </p:nvPr>
        </p:nvSpPr>
        <p:spPr>
          <a:xfrm>
            <a:off x="1982200" y="1066680"/>
            <a:ext cx="8233950" cy="548639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3600" b="1" spc="3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主要内容</a:t>
            </a:r>
          </a:p>
        </p:txBody>
      </p:sp>
      <p:sp>
        <p:nvSpPr>
          <p:cNvPr id="12" name="弧形 11"/>
          <p:cNvSpPr/>
          <p:nvPr>
            <p:custDataLst>
              <p:tags r:id="rId5"/>
            </p:custDataLst>
          </p:nvPr>
        </p:nvSpPr>
        <p:spPr>
          <a:xfrm>
            <a:off x="3111500" y="2520962"/>
            <a:ext cx="727075" cy="716915"/>
          </a:xfrm>
          <a:prstGeom prst="arc">
            <a:avLst>
              <a:gd name="adj1" fmla="val 11619054"/>
              <a:gd name="adj2" fmla="val 10295063"/>
            </a:avLst>
          </a:prstGeom>
          <a:ln w="19050">
            <a:solidFill>
              <a:srgbClr val="1D6D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80"/>
          <p:cNvSpPr txBox="1"/>
          <p:nvPr>
            <p:custDataLst>
              <p:tags r:id="rId6"/>
            </p:custDataLst>
          </p:nvPr>
        </p:nvSpPr>
        <p:spPr>
          <a:xfrm>
            <a:off x="2833370" y="3355352"/>
            <a:ext cx="1371600" cy="2036922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sz="2800" b="1" spc="15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概述</a:t>
            </a:r>
          </a:p>
        </p:txBody>
      </p:sp>
      <p:sp>
        <p:nvSpPr>
          <p:cNvPr id="14" name="标题 5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3221990" y="2616212"/>
            <a:ext cx="554355" cy="509270"/>
          </a:xfrm>
          <a:prstGeom prst="rect">
            <a:avLst/>
          </a:prstGeom>
        </p:spPr>
        <p:txBody>
          <a:bodyPr vert="horz" lIns="0" tIns="0" rIns="0" bIns="0" rtlCol="0" anchor="ctr" anchorCtr="0">
            <a:normAutofit fontScale="90000"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kumimoji="0" lang="zh-CN" altLang="en-US" sz="24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indent="0" algn="ctr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en-US" altLang="zh-CN" sz="2700" b="1" dirty="0">
                <a:solidFill>
                  <a:srgbClr val="1D518C"/>
                </a:solidFill>
                <a:latin typeface="微软雅黑" panose="020B0503020204020204" pitchFamily="34" charset="-122"/>
              </a:rPr>
              <a:t>5.1</a:t>
            </a:r>
          </a:p>
        </p:txBody>
      </p:sp>
      <p:sp>
        <p:nvSpPr>
          <p:cNvPr id="15" name="菱形 14"/>
          <p:cNvSpPr/>
          <p:nvPr>
            <p:custDataLst>
              <p:tags r:id="rId8"/>
            </p:custDataLst>
          </p:nvPr>
        </p:nvSpPr>
        <p:spPr>
          <a:xfrm>
            <a:off x="2933065" y="2712097"/>
            <a:ext cx="301625" cy="301625"/>
          </a:xfrm>
          <a:prstGeom prst="diamond">
            <a:avLst/>
          </a:prstGeom>
          <a:solidFill>
            <a:srgbClr val="69A7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弧形 15"/>
          <p:cNvSpPr/>
          <p:nvPr>
            <p:custDataLst>
              <p:tags r:id="rId9"/>
            </p:custDataLst>
          </p:nvPr>
        </p:nvSpPr>
        <p:spPr>
          <a:xfrm>
            <a:off x="4790440" y="2520962"/>
            <a:ext cx="727075" cy="716915"/>
          </a:xfrm>
          <a:prstGeom prst="arc">
            <a:avLst>
              <a:gd name="adj1" fmla="val 11619054"/>
              <a:gd name="adj2" fmla="val 10295063"/>
            </a:avLst>
          </a:prstGeom>
          <a:ln w="19050">
            <a:solidFill>
              <a:srgbClr val="1D6D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80"/>
          <p:cNvSpPr txBox="1"/>
          <p:nvPr>
            <p:custDataLst>
              <p:tags r:id="rId10"/>
            </p:custDataLst>
          </p:nvPr>
        </p:nvSpPr>
        <p:spPr>
          <a:xfrm>
            <a:off x="4297680" y="3355340"/>
            <a:ext cx="1678940" cy="203708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sz="2800" b="1" spc="15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模块</a:t>
            </a:r>
          </a:p>
        </p:txBody>
      </p:sp>
      <p:sp>
        <p:nvSpPr>
          <p:cNvPr id="22" name="标题 5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4901565" y="2616212"/>
            <a:ext cx="554355" cy="509270"/>
          </a:xfrm>
          <a:prstGeom prst="rect">
            <a:avLst/>
          </a:prstGeom>
        </p:spPr>
        <p:txBody>
          <a:bodyPr vert="horz" lIns="0" tIns="0" rIns="0" bIns="0" rtlCol="0" anchor="ctr" anchorCtr="0">
            <a:normAutofit fontScale="90000"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kumimoji="0" lang="zh-CN" altLang="en-US" sz="24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indent="0" algn="ctr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en-US" altLang="zh-CN" sz="2700" b="1" dirty="0">
                <a:solidFill>
                  <a:srgbClr val="1D518C"/>
                </a:solidFill>
                <a:latin typeface="微软雅黑" panose="020B0503020204020204" pitchFamily="34" charset="-122"/>
              </a:rPr>
              <a:t>5.2</a:t>
            </a:r>
          </a:p>
        </p:txBody>
      </p:sp>
      <p:sp>
        <p:nvSpPr>
          <p:cNvPr id="23" name="菱形 22"/>
          <p:cNvSpPr/>
          <p:nvPr>
            <p:custDataLst>
              <p:tags r:id="rId12"/>
            </p:custDataLst>
          </p:nvPr>
        </p:nvSpPr>
        <p:spPr>
          <a:xfrm>
            <a:off x="4612005" y="2712097"/>
            <a:ext cx="301625" cy="301625"/>
          </a:xfrm>
          <a:prstGeom prst="diamond">
            <a:avLst/>
          </a:prstGeom>
          <a:solidFill>
            <a:srgbClr val="69A7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弧形 23"/>
          <p:cNvSpPr/>
          <p:nvPr>
            <p:custDataLst>
              <p:tags r:id="rId13"/>
            </p:custDataLst>
          </p:nvPr>
        </p:nvSpPr>
        <p:spPr>
          <a:xfrm>
            <a:off x="6470015" y="2520962"/>
            <a:ext cx="727075" cy="716915"/>
          </a:xfrm>
          <a:prstGeom prst="arc">
            <a:avLst>
              <a:gd name="adj1" fmla="val 11619054"/>
              <a:gd name="adj2" fmla="val 10295063"/>
            </a:avLst>
          </a:prstGeom>
          <a:ln w="190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文本框 80"/>
          <p:cNvSpPr txBox="1"/>
          <p:nvPr>
            <p:custDataLst>
              <p:tags r:id="rId14"/>
            </p:custDataLst>
          </p:nvPr>
        </p:nvSpPr>
        <p:spPr>
          <a:xfrm>
            <a:off x="5976620" y="3355340"/>
            <a:ext cx="1779270" cy="203708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sz="2800" b="1" spc="15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包</a:t>
            </a:r>
          </a:p>
        </p:txBody>
      </p:sp>
      <p:sp>
        <p:nvSpPr>
          <p:cNvPr id="26" name="标题 5"/>
          <p:cNvSpPr>
            <a:spLocks noGrp="1"/>
          </p:cNvSpPr>
          <p:nvPr>
            <p:custDataLst>
              <p:tags r:id="rId15"/>
            </p:custDataLst>
          </p:nvPr>
        </p:nvSpPr>
        <p:spPr>
          <a:xfrm>
            <a:off x="6580505" y="2616212"/>
            <a:ext cx="554355" cy="509270"/>
          </a:xfrm>
          <a:prstGeom prst="rect">
            <a:avLst/>
          </a:prstGeom>
        </p:spPr>
        <p:txBody>
          <a:bodyPr vert="horz" lIns="0" tIns="0" rIns="0" bIns="0" rtlCol="0" anchor="ctr" anchorCtr="0">
            <a:normAutofit fontScale="90000"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kumimoji="0" lang="zh-CN" altLang="en-US" sz="24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indent="0" algn="ctr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en-US" altLang="zh-CN" sz="2700" b="1" dirty="0">
                <a:solidFill>
                  <a:srgbClr val="FF0000"/>
                </a:solidFill>
                <a:latin typeface="微软雅黑" panose="020B0503020204020204" pitchFamily="34" charset="-122"/>
              </a:rPr>
              <a:t>5.3</a:t>
            </a:r>
          </a:p>
        </p:txBody>
      </p:sp>
      <p:sp>
        <p:nvSpPr>
          <p:cNvPr id="27" name="菱形 26"/>
          <p:cNvSpPr/>
          <p:nvPr>
            <p:custDataLst>
              <p:tags r:id="rId16"/>
            </p:custDataLst>
          </p:nvPr>
        </p:nvSpPr>
        <p:spPr>
          <a:xfrm>
            <a:off x="6291580" y="2712097"/>
            <a:ext cx="301625" cy="301625"/>
          </a:xfrm>
          <a:prstGeom prst="diamond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弧形 27"/>
          <p:cNvSpPr/>
          <p:nvPr>
            <p:custDataLst>
              <p:tags r:id="rId17"/>
            </p:custDataLst>
          </p:nvPr>
        </p:nvSpPr>
        <p:spPr>
          <a:xfrm>
            <a:off x="8148955" y="2520962"/>
            <a:ext cx="727075" cy="716915"/>
          </a:xfrm>
          <a:prstGeom prst="arc">
            <a:avLst>
              <a:gd name="adj1" fmla="val 11619054"/>
              <a:gd name="adj2" fmla="val 10295063"/>
            </a:avLst>
          </a:prstGeom>
          <a:ln w="19050">
            <a:solidFill>
              <a:srgbClr val="1D6D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80"/>
          <p:cNvSpPr txBox="1"/>
          <p:nvPr>
            <p:custDataLst>
              <p:tags r:id="rId18"/>
            </p:custDataLst>
          </p:nvPr>
        </p:nvSpPr>
        <p:spPr>
          <a:xfrm>
            <a:off x="7871460" y="3355352"/>
            <a:ext cx="1371600" cy="2036922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sz="2800" b="1" spc="15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</a:p>
        </p:txBody>
      </p:sp>
      <p:sp>
        <p:nvSpPr>
          <p:cNvPr id="30" name="标题 5"/>
          <p:cNvSpPr>
            <a:spLocks noGrp="1"/>
          </p:cNvSpPr>
          <p:nvPr>
            <p:custDataLst>
              <p:tags r:id="rId19"/>
            </p:custDataLst>
          </p:nvPr>
        </p:nvSpPr>
        <p:spPr>
          <a:xfrm>
            <a:off x="8260080" y="2616212"/>
            <a:ext cx="554355" cy="509270"/>
          </a:xfrm>
          <a:prstGeom prst="rect">
            <a:avLst/>
          </a:prstGeom>
        </p:spPr>
        <p:txBody>
          <a:bodyPr vert="horz" lIns="0" tIns="0" rIns="0" bIns="0" rtlCol="0" anchor="ctr" anchorCtr="0">
            <a:normAutofit fontScale="90000"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kumimoji="0" lang="zh-CN" altLang="en-US" sz="24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indent="0" algn="ctr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en-US" altLang="zh-CN" sz="2700" b="1" dirty="0">
                <a:solidFill>
                  <a:srgbClr val="1D518C"/>
                </a:solidFill>
                <a:latin typeface="微软雅黑" panose="020B0503020204020204" pitchFamily="34" charset="-122"/>
              </a:rPr>
              <a:t>5.4</a:t>
            </a:r>
          </a:p>
        </p:txBody>
      </p:sp>
      <p:sp>
        <p:nvSpPr>
          <p:cNvPr id="31" name="菱形 30"/>
          <p:cNvSpPr/>
          <p:nvPr>
            <p:custDataLst>
              <p:tags r:id="rId20"/>
            </p:custDataLst>
          </p:nvPr>
        </p:nvSpPr>
        <p:spPr>
          <a:xfrm>
            <a:off x="7970520" y="2712097"/>
            <a:ext cx="301625" cy="301625"/>
          </a:xfrm>
          <a:prstGeom prst="diamond">
            <a:avLst/>
          </a:prstGeom>
          <a:solidFill>
            <a:srgbClr val="69A7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0205369" y="189434"/>
            <a:ext cx="20180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</a:t>
            </a:r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包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43255" y="1243330"/>
            <a:ext cx="11555095" cy="6076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40000"/>
              </a:lnSpc>
            </a:pPr>
            <a:r>
              <a:rPr lang="zh-CN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大型软件：成千上万</a:t>
            </a: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Python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模块，把所有模块放入一个文件夹内，显然不利于管理。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643255" y="2277666"/>
            <a:ext cx="10873105" cy="2306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解决办法：</a:t>
            </a:r>
          </a:p>
          <a:p>
            <a:pPr algn="just">
              <a:lnSpc>
                <a:spcPct val="150000"/>
              </a:lnSpc>
            </a:pPr>
            <a:r>
              <a:rPr 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</a:t>
            </a:r>
            <a:r>
              <a:rPr lang="zh-CN" dirty="0">
                <a:latin typeface="微软雅黑" pitchFamily="34" charset="-122"/>
                <a:ea typeface="微软雅黑" pitchFamily="34" charset="-122"/>
                <a:cs typeface="Arial" panose="020B0604020202020204" pitchFamily="34" charset="0"/>
                <a:sym typeface="+mn-ea"/>
              </a:rPr>
              <a:t>按照功能不同，将多个模块分门别类存储在不同文件夹，以实现</a:t>
            </a:r>
            <a:r>
              <a:rPr lang="en-US" altLang="zh-CN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Arial" panose="020B0604020202020204" pitchFamily="34" charset="0"/>
                <a:sym typeface="+mn-ea"/>
              </a:rPr>
              <a:t>“</a:t>
            </a:r>
            <a:r>
              <a:rPr lang="zh-CN" altLang="en-US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Arial" panose="020B0604020202020204" pitchFamily="34" charset="0"/>
                <a:sym typeface="+mn-ea"/>
              </a:rPr>
              <a:t>物</a:t>
            </a:r>
            <a:r>
              <a:rPr lang="en-US" altLang="zh-CN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Arial" panose="020B0604020202020204" pitchFamily="34" charset="0"/>
                <a:sym typeface="+mn-ea"/>
              </a:rPr>
              <a:t>”</a:t>
            </a:r>
            <a:r>
              <a:rPr lang="zh-CN" altLang="en-US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Arial" panose="020B0604020202020204" pitchFamily="34" charset="0"/>
                <a:sym typeface="+mn-ea"/>
              </a:rPr>
              <a:t>以类聚</a:t>
            </a:r>
            <a:r>
              <a:rPr lang="en-US" altLang="zh-CN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Arial" panose="020B0604020202020204" pitchFamily="34" charset="0"/>
                <a:sym typeface="+mn-ea"/>
              </a:rPr>
              <a:t>”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Arial" panose="020B0604020202020204" pitchFamily="34" charset="0"/>
                <a:sym typeface="+mn-ea"/>
              </a:rPr>
              <a:t>，</a:t>
            </a:r>
            <a:r>
              <a:rPr lang="en-US" altLang="zh-CN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Arial" panose="020B0604020202020204" pitchFamily="34" charset="0"/>
                <a:sym typeface="+mn-ea"/>
              </a:rPr>
              <a:t>“</a:t>
            </a:r>
            <a:r>
              <a:rPr lang="zh-CN" altLang="en-US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Arial" panose="020B0604020202020204" pitchFamily="34" charset="0"/>
                <a:sym typeface="+mn-ea"/>
              </a:rPr>
              <a:t>码</a:t>
            </a:r>
            <a:r>
              <a:rPr lang="en-US" altLang="zh-CN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Arial" panose="020B0604020202020204" pitchFamily="34" charset="0"/>
                <a:sym typeface="+mn-ea"/>
              </a:rPr>
              <a:t>”</a:t>
            </a:r>
            <a:r>
              <a:rPr lang="zh-CN" altLang="en-US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Arial" panose="020B0604020202020204" pitchFamily="34" charset="0"/>
                <a:sym typeface="+mn-ea"/>
              </a:rPr>
              <a:t>以群分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Arial" panose="020B0604020202020204" pitchFamily="34" charset="0"/>
                <a:sym typeface="+mn-ea"/>
              </a:rPr>
              <a:t>,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Arial" panose="020B0604020202020204" pitchFamily="34" charset="0"/>
                <a:sym typeface="+mn-ea"/>
              </a:rPr>
              <a:t>将功能自成体系、模块彼此支撑的多个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Arial" panose="020B0604020202020204" pitchFamily="34" charset="0"/>
                <a:sym typeface="+mn-ea"/>
              </a:rPr>
              <a:t>Python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Arial" panose="020B0604020202020204" pitchFamily="34" charset="0"/>
                <a:sym typeface="+mn-ea"/>
              </a:rPr>
              <a:t>文件</a:t>
            </a:r>
            <a:r>
              <a:rPr lang="zh-CN" altLang="en-US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Arial" panose="020B0604020202020204" pitchFamily="34" charset="0"/>
                <a:sym typeface="+mn-ea"/>
              </a:rPr>
              <a:t>打包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Arial" panose="020B0604020202020204" pitchFamily="34" charset="0"/>
                <a:sym typeface="+mn-ea"/>
              </a:rPr>
              <a:t>在一起，将不同功能块分别存储在不同的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Arial" panose="020B0604020202020204" pitchFamily="34" charset="0"/>
                <a:sym typeface="+mn-ea"/>
              </a:rPr>
              <a:t>Python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Arial" panose="020B0604020202020204" pitchFamily="34" charset="0"/>
                <a:sym typeface="+mn-ea"/>
              </a:rPr>
              <a:t>文件夹中</a:t>
            </a:r>
          </a:p>
        </p:txBody>
      </p:sp>
    </p:spTree>
  </p:cSld>
  <p:clrMapOvr>
    <a:masterClrMapping/>
  </p:clrMapOvr>
  <p:transition spd="slow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9" grpId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417195" y="772795"/>
            <a:ext cx="4720590" cy="756285"/>
          </a:xfrm>
        </p:spPr>
        <p:txBody>
          <a:bodyPr vert="horz" wrap="square" lIns="91456" tIns="45728" rIns="91456" bIns="45728" numCol="1" anchor="b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包：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55142" y="1529006"/>
            <a:ext cx="1116124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多个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py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组成的一个文件夹。文件夹内的多个</a:t>
            </a:r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py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文件有特别的相关性，属于同一个业务和逻辑范畴，所以有必要放在一个文件夹下，并且可以方便别人引用。如：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假设</a:t>
            </a:r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abc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xyz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这两个模块名字与其他模块冲突了，可通过包来组织模块，避免冲突。方法是选择一个顶层包名，比如</a:t>
            </a:r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mycompany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，按照如下目录存放。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0205369" y="189434"/>
            <a:ext cx="20180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</a:t>
            </a:r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包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417195" y="772795"/>
            <a:ext cx="4720590" cy="756285"/>
          </a:xfrm>
        </p:spPr>
        <p:txBody>
          <a:bodyPr vert="horz" wrap="square" lIns="91456" tIns="45728" rIns="91456" bIns="45728" numCol="1" anchor="b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包：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523674" y="1818831"/>
            <a:ext cx="6866011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dirty="0" err="1"/>
              <a:t>mycompany</a:t>
            </a:r>
            <a:endParaRPr lang="en-US" altLang="zh-CN" sz="3200" dirty="0"/>
          </a:p>
          <a:p>
            <a:r>
              <a:rPr lang="en-US" altLang="zh-CN" sz="3200" dirty="0"/>
              <a:t>├─ __init__.py</a:t>
            </a:r>
          </a:p>
          <a:p>
            <a:r>
              <a:rPr lang="en-US" altLang="zh-CN" sz="3200" dirty="0"/>
              <a:t>├─ abc.py</a:t>
            </a:r>
          </a:p>
          <a:p>
            <a:r>
              <a:rPr lang="en-US" altLang="zh-CN" sz="3200" dirty="0"/>
              <a:t> └─ xyz.py</a:t>
            </a:r>
            <a:endParaRPr lang="zh-CN" altLang="en-US" sz="3200" dirty="0"/>
          </a:p>
        </p:txBody>
      </p:sp>
      <p:sp>
        <p:nvSpPr>
          <p:cNvPr id="6" name="线形标注 1 5"/>
          <p:cNvSpPr/>
          <p:nvPr/>
        </p:nvSpPr>
        <p:spPr>
          <a:xfrm>
            <a:off x="4942568" y="2681716"/>
            <a:ext cx="2690678" cy="648072"/>
          </a:xfrm>
          <a:prstGeom prst="borderCallout1">
            <a:avLst>
              <a:gd name="adj1" fmla="val 18750"/>
              <a:gd name="adj2" fmla="val -8333"/>
              <a:gd name="adj3" fmla="val 99864"/>
              <a:gd name="adj4" fmla="val -6014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模块名为</a:t>
            </a:r>
            <a:r>
              <a:rPr lang="en-US" altLang="zh-CN" b="1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abc</a:t>
            </a:r>
            <a:endParaRPr lang="zh-CN" altLang="en-US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线形标注 1 7"/>
          <p:cNvSpPr/>
          <p:nvPr/>
        </p:nvSpPr>
        <p:spPr>
          <a:xfrm>
            <a:off x="4875039" y="3880933"/>
            <a:ext cx="2690678" cy="648072"/>
          </a:xfrm>
          <a:prstGeom prst="borderCallout1">
            <a:avLst>
              <a:gd name="adj1" fmla="val 18750"/>
              <a:gd name="adj2" fmla="val -8333"/>
              <a:gd name="adj3" fmla="val -20172"/>
              <a:gd name="adj4" fmla="val -6014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模块名为</a:t>
            </a:r>
            <a:r>
              <a:rPr lang="en-US" altLang="zh-CN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xyz</a:t>
            </a:r>
            <a:endParaRPr lang="zh-CN" altLang="en-US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云形标注 6"/>
          <p:cNvSpPr/>
          <p:nvPr/>
        </p:nvSpPr>
        <p:spPr>
          <a:xfrm>
            <a:off x="4514999" y="1265212"/>
            <a:ext cx="2762686" cy="985061"/>
          </a:xfrm>
          <a:prstGeom prst="cloudCallout">
            <a:avLst>
              <a:gd name="adj1" fmla="val -53931"/>
              <a:gd name="adj2" fmla="val 6527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</a:p>
        </p:txBody>
      </p:sp>
      <p:sp>
        <p:nvSpPr>
          <p:cNvPr id="11" name="矩形 10"/>
          <p:cNvSpPr/>
          <p:nvPr/>
        </p:nvSpPr>
        <p:spPr>
          <a:xfrm>
            <a:off x="7958712" y="1265212"/>
            <a:ext cx="3780029" cy="45417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ts val="35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每一个包目录下面都会有一个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__init__.py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的文件，这个文件必须存在，否则，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就把这个目录当成普通目录，而不是一个包。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__init__.py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可以是空文件，也可以有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代码，因为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__init__.py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本身就是一个模块，而它的模块名就是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mycompany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0205369" y="189434"/>
            <a:ext cx="20180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</a:t>
            </a:r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包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 bldLvl="0" animBg="1"/>
      <p:bldP spid="8" grpId="0" bldLvl="0" animBg="1"/>
      <p:bldP spid="7" grpId="0" bldLvl="0" animBg="1"/>
      <p:bldP spid="11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417195" y="772795"/>
            <a:ext cx="4720590" cy="756285"/>
          </a:xfrm>
        </p:spPr>
        <p:txBody>
          <a:bodyPr vert="horz" wrap="square" lIns="91456" tIns="45728" rIns="91456" bIns="45728" numCol="1" anchor="b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包：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523674" y="1818831"/>
            <a:ext cx="6866011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dirty="0" err="1"/>
              <a:t>mycompany</a:t>
            </a:r>
            <a:endParaRPr lang="en-US" altLang="zh-CN" sz="3200" dirty="0"/>
          </a:p>
          <a:p>
            <a:r>
              <a:rPr lang="en-US" altLang="zh-CN" sz="3200" dirty="0"/>
              <a:t>├─ __init__.py</a:t>
            </a:r>
          </a:p>
          <a:p>
            <a:r>
              <a:rPr lang="en-US" altLang="zh-CN" sz="3200" dirty="0"/>
              <a:t>├─ abc.py</a:t>
            </a:r>
          </a:p>
          <a:p>
            <a:r>
              <a:rPr lang="en-US" altLang="zh-CN" sz="3200" dirty="0"/>
              <a:t> └─ xyz.py</a:t>
            </a:r>
            <a:endParaRPr lang="zh-CN" altLang="en-US" sz="3200" dirty="0"/>
          </a:p>
        </p:txBody>
      </p:sp>
      <p:sp>
        <p:nvSpPr>
          <p:cNvPr id="10" name="线形标注 1 9"/>
          <p:cNvSpPr/>
          <p:nvPr/>
        </p:nvSpPr>
        <p:spPr>
          <a:xfrm>
            <a:off x="5128871" y="2525846"/>
            <a:ext cx="5290783" cy="648072"/>
          </a:xfrm>
          <a:prstGeom prst="borderCallout1">
            <a:avLst>
              <a:gd name="adj1" fmla="val 18750"/>
              <a:gd name="adj2" fmla="val -8333"/>
              <a:gd name="adj3" fmla="val 87229"/>
              <a:gd name="adj4" fmla="val -3151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模块名为</a:t>
            </a:r>
            <a:r>
              <a:rPr lang="en-US" altLang="zh-CN" b="1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mycompany.abc</a:t>
            </a:r>
            <a:endParaRPr lang="zh-CN" altLang="en-US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线形标注 1 11"/>
          <p:cNvSpPr/>
          <p:nvPr/>
        </p:nvSpPr>
        <p:spPr>
          <a:xfrm>
            <a:off x="5120423" y="3748756"/>
            <a:ext cx="5290783" cy="648072"/>
          </a:xfrm>
          <a:prstGeom prst="borderCallout1">
            <a:avLst>
              <a:gd name="adj1" fmla="val 18750"/>
              <a:gd name="adj2" fmla="val -8333"/>
              <a:gd name="adj3" fmla="val -30702"/>
              <a:gd name="adj4" fmla="val -3460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模块名为</a:t>
            </a:r>
            <a:r>
              <a:rPr lang="en-US" altLang="zh-CN" b="1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mycompany.xyz</a:t>
            </a:r>
            <a:endParaRPr lang="zh-CN" altLang="en-US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205369" y="189434"/>
            <a:ext cx="20180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</a:t>
            </a:r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包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  <p:bldP spid="12" grpId="0" bldLvl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417195" y="772795"/>
            <a:ext cx="4720590" cy="756285"/>
          </a:xfrm>
        </p:spPr>
        <p:txBody>
          <a:bodyPr vert="horz" wrap="square" lIns="91456" tIns="45728" rIns="91456" bIns="45728" numCol="1" anchor="b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包：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914599" y="1845618"/>
            <a:ext cx="6099175" cy="35394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2800" dirty="0"/>
              <a:t>mycompany</a:t>
            </a:r>
          </a:p>
          <a:p>
            <a:r>
              <a:rPr lang="zh-CN" altLang="en-US" sz="2800" dirty="0"/>
              <a:t> ├─ web</a:t>
            </a:r>
          </a:p>
          <a:p>
            <a:r>
              <a:rPr lang="zh-CN" altLang="en-US" sz="2800" dirty="0"/>
              <a:t>  │  ├─ __init__.py</a:t>
            </a:r>
          </a:p>
          <a:p>
            <a:r>
              <a:rPr lang="zh-CN" altLang="en-US" sz="2800" dirty="0"/>
              <a:t>  │  ├─ utils.py</a:t>
            </a:r>
          </a:p>
          <a:p>
            <a:r>
              <a:rPr lang="zh-CN" altLang="en-US" sz="2800" dirty="0"/>
              <a:t>  │   └─ </a:t>
            </a:r>
            <a:r>
              <a:rPr lang="zh-CN" altLang="en-US" sz="2800" dirty="0">
                <a:solidFill>
                  <a:srgbClr val="FF0000"/>
                </a:solidFill>
              </a:rPr>
              <a:t>www.py</a:t>
            </a:r>
          </a:p>
          <a:p>
            <a:r>
              <a:rPr lang="zh-CN" altLang="en-US" sz="2800" dirty="0"/>
              <a:t> ├─ __init__.py</a:t>
            </a:r>
          </a:p>
          <a:p>
            <a:r>
              <a:rPr lang="zh-CN" altLang="en-US" sz="2800" dirty="0"/>
              <a:t> ├─ abc.py</a:t>
            </a:r>
          </a:p>
          <a:p>
            <a:r>
              <a:rPr lang="zh-CN" altLang="en-US" sz="2800" dirty="0"/>
              <a:t>  └─ xyz.py</a:t>
            </a:r>
          </a:p>
        </p:txBody>
      </p:sp>
      <p:sp>
        <p:nvSpPr>
          <p:cNvPr id="9" name="线形标注 1 8"/>
          <p:cNvSpPr/>
          <p:nvPr/>
        </p:nvSpPr>
        <p:spPr>
          <a:xfrm>
            <a:off x="5032187" y="3291297"/>
            <a:ext cx="5290783" cy="648072"/>
          </a:xfrm>
          <a:prstGeom prst="borderCallout1">
            <a:avLst>
              <a:gd name="adj1" fmla="val 18750"/>
              <a:gd name="adj2" fmla="val -8333"/>
              <a:gd name="adj3" fmla="val 87229"/>
              <a:gd name="adj4" fmla="val -3151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模块名为</a:t>
            </a:r>
            <a:r>
              <a:rPr lang="en-US" altLang="zh-CN" b="1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mycompany.web.www</a:t>
            </a:r>
            <a:endParaRPr lang="zh-CN" altLang="en-US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205369" y="189434"/>
            <a:ext cx="20180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</a:t>
            </a:r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包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ldLvl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1"/>
            </p:custDataLst>
          </p:nvPr>
        </p:nvSpPr>
        <p:spPr>
          <a:xfrm>
            <a:off x="0" y="3810736"/>
            <a:ext cx="12198448" cy="3048588"/>
          </a:xfrm>
          <a:prstGeom prst="rect">
            <a:avLst/>
          </a:prstGeom>
          <a:pattFill prst="dkHorz">
            <a:fgClr>
              <a:srgbClr val="F2F2F2"/>
            </a:fgClr>
            <a:bgClr>
              <a:srgbClr val="FFFFFF"/>
            </a:bgClr>
          </a:patt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 sz="18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1677254" y="914251"/>
            <a:ext cx="8843875" cy="853503"/>
          </a:xfrm>
          <a:prstGeom prst="rect">
            <a:avLst/>
          </a:prstGeom>
          <a:solidFill>
            <a:srgbClr val="FFFFFF"/>
          </a:solidFill>
          <a:ln w="25400">
            <a:noFill/>
          </a:ln>
          <a:effectLst>
            <a:outerShdw blurRad="50800" dist="76200" dir="5400000" sx="101000" sy="101000" algn="t" rotWithShape="0">
              <a:srgbClr val="000000">
                <a:alpha val="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kumimoji="1" lang="zh-CN" altLang="en-US" sz="3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1" name="矩形 11"/>
          <p:cNvSpPr/>
          <p:nvPr>
            <p:custDataLst>
              <p:tags r:id="rId3"/>
            </p:custDataLst>
          </p:nvPr>
        </p:nvSpPr>
        <p:spPr>
          <a:xfrm>
            <a:off x="1677241" y="2194436"/>
            <a:ext cx="8843875" cy="3777441"/>
          </a:xfrm>
          <a:prstGeom prst="rect">
            <a:avLst/>
          </a:prstGeom>
          <a:solidFill>
            <a:srgbClr val="FFFFFF"/>
          </a:solidFill>
          <a:ln w="25400">
            <a:noFill/>
          </a:ln>
          <a:effectLst>
            <a:outerShdw blurRad="50800" dist="76200" dir="5400000" sx="101000" sy="101000" algn="t" rotWithShape="0">
              <a:srgbClr val="000000">
                <a:alpha val="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kumimoji="1" lang="zh-CN" altLang="en-US" sz="18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>
            <p:custDataLst>
              <p:tags r:id="rId4"/>
            </p:custDataLst>
          </p:nvPr>
        </p:nvSpPr>
        <p:spPr>
          <a:xfrm>
            <a:off x="1982200" y="1066680"/>
            <a:ext cx="8233950" cy="548639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3600" b="1" spc="3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主要内容</a:t>
            </a:r>
          </a:p>
        </p:txBody>
      </p:sp>
      <p:sp>
        <p:nvSpPr>
          <p:cNvPr id="12" name="弧形 11"/>
          <p:cNvSpPr/>
          <p:nvPr>
            <p:custDataLst>
              <p:tags r:id="rId5"/>
            </p:custDataLst>
          </p:nvPr>
        </p:nvSpPr>
        <p:spPr>
          <a:xfrm>
            <a:off x="3111500" y="2520962"/>
            <a:ext cx="727075" cy="716915"/>
          </a:xfrm>
          <a:prstGeom prst="arc">
            <a:avLst>
              <a:gd name="adj1" fmla="val 11619054"/>
              <a:gd name="adj2" fmla="val 10295063"/>
            </a:avLst>
          </a:prstGeom>
          <a:ln w="19050">
            <a:solidFill>
              <a:srgbClr val="1D6D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80"/>
          <p:cNvSpPr txBox="1"/>
          <p:nvPr>
            <p:custDataLst>
              <p:tags r:id="rId6"/>
            </p:custDataLst>
          </p:nvPr>
        </p:nvSpPr>
        <p:spPr>
          <a:xfrm>
            <a:off x="2833370" y="3355352"/>
            <a:ext cx="1371600" cy="2036922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sz="2800" b="1" spc="15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概述</a:t>
            </a:r>
          </a:p>
        </p:txBody>
      </p:sp>
      <p:sp>
        <p:nvSpPr>
          <p:cNvPr id="14" name="标题 5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3221990" y="2616212"/>
            <a:ext cx="554355" cy="509270"/>
          </a:xfrm>
          <a:prstGeom prst="rect">
            <a:avLst/>
          </a:prstGeom>
        </p:spPr>
        <p:txBody>
          <a:bodyPr vert="horz" lIns="0" tIns="0" rIns="0" bIns="0" rtlCol="0" anchor="ctr" anchorCtr="0">
            <a:normAutofit fontScale="90000"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kumimoji="0" lang="zh-CN" altLang="en-US" sz="24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indent="0" algn="ctr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en-US" altLang="zh-CN" sz="2700" b="1" dirty="0">
                <a:solidFill>
                  <a:srgbClr val="1D518C"/>
                </a:solidFill>
                <a:latin typeface="微软雅黑" panose="020B0503020204020204" pitchFamily="34" charset="-122"/>
              </a:rPr>
              <a:t>5.1</a:t>
            </a:r>
          </a:p>
        </p:txBody>
      </p:sp>
      <p:sp>
        <p:nvSpPr>
          <p:cNvPr id="15" name="菱形 14"/>
          <p:cNvSpPr/>
          <p:nvPr>
            <p:custDataLst>
              <p:tags r:id="rId8"/>
            </p:custDataLst>
          </p:nvPr>
        </p:nvSpPr>
        <p:spPr>
          <a:xfrm>
            <a:off x="2933065" y="2712097"/>
            <a:ext cx="301625" cy="301625"/>
          </a:xfrm>
          <a:prstGeom prst="diamond">
            <a:avLst/>
          </a:prstGeom>
          <a:solidFill>
            <a:srgbClr val="69A7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弧形 15"/>
          <p:cNvSpPr/>
          <p:nvPr>
            <p:custDataLst>
              <p:tags r:id="rId9"/>
            </p:custDataLst>
          </p:nvPr>
        </p:nvSpPr>
        <p:spPr>
          <a:xfrm>
            <a:off x="4790440" y="2520962"/>
            <a:ext cx="727075" cy="716915"/>
          </a:xfrm>
          <a:prstGeom prst="arc">
            <a:avLst>
              <a:gd name="adj1" fmla="val 11619054"/>
              <a:gd name="adj2" fmla="val 10295063"/>
            </a:avLst>
          </a:prstGeom>
          <a:ln w="19050">
            <a:solidFill>
              <a:srgbClr val="1D6D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80"/>
          <p:cNvSpPr txBox="1"/>
          <p:nvPr>
            <p:custDataLst>
              <p:tags r:id="rId10"/>
            </p:custDataLst>
          </p:nvPr>
        </p:nvSpPr>
        <p:spPr>
          <a:xfrm>
            <a:off x="4297680" y="3355340"/>
            <a:ext cx="1678940" cy="203708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sz="2800" b="1" spc="15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模块</a:t>
            </a:r>
          </a:p>
        </p:txBody>
      </p:sp>
      <p:sp>
        <p:nvSpPr>
          <p:cNvPr id="22" name="标题 5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4901565" y="2616212"/>
            <a:ext cx="554355" cy="509270"/>
          </a:xfrm>
          <a:prstGeom prst="rect">
            <a:avLst/>
          </a:prstGeom>
        </p:spPr>
        <p:txBody>
          <a:bodyPr vert="horz" lIns="0" tIns="0" rIns="0" bIns="0" rtlCol="0" anchor="ctr" anchorCtr="0">
            <a:normAutofit fontScale="90000"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kumimoji="0" lang="zh-CN" altLang="en-US" sz="24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indent="0" algn="ctr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en-US" altLang="zh-CN" sz="2700" b="1" dirty="0">
                <a:solidFill>
                  <a:srgbClr val="1D518C"/>
                </a:solidFill>
                <a:latin typeface="微软雅黑" panose="020B0503020204020204" pitchFamily="34" charset="-122"/>
              </a:rPr>
              <a:t>5.2</a:t>
            </a:r>
          </a:p>
        </p:txBody>
      </p:sp>
      <p:sp>
        <p:nvSpPr>
          <p:cNvPr id="23" name="菱形 22"/>
          <p:cNvSpPr/>
          <p:nvPr>
            <p:custDataLst>
              <p:tags r:id="rId12"/>
            </p:custDataLst>
          </p:nvPr>
        </p:nvSpPr>
        <p:spPr>
          <a:xfrm>
            <a:off x="4612005" y="2712097"/>
            <a:ext cx="301625" cy="301625"/>
          </a:xfrm>
          <a:prstGeom prst="diamond">
            <a:avLst/>
          </a:prstGeom>
          <a:solidFill>
            <a:srgbClr val="69A7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弧形 23"/>
          <p:cNvSpPr/>
          <p:nvPr>
            <p:custDataLst>
              <p:tags r:id="rId13"/>
            </p:custDataLst>
          </p:nvPr>
        </p:nvSpPr>
        <p:spPr>
          <a:xfrm>
            <a:off x="6470015" y="2520962"/>
            <a:ext cx="727075" cy="716915"/>
          </a:xfrm>
          <a:prstGeom prst="arc">
            <a:avLst>
              <a:gd name="adj1" fmla="val 11619054"/>
              <a:gd name="adj2" fmla="val 10295063"/>
            </a:avLst>
          </a:prstGeom>
          <a:ln w="19050">
            <a:solidFill>
              <a:srgbClr val="1D6D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文本框 80"/>
          <p:cNvSpPr txBox="1"/>
          <p:nvPr>
            <p:custDataLst>
              <p:tags r:id="rId14"/>
            </p:custDataLst>
          </p:nvPr>
        </p:nvSpPr>
        <p:spPr>
          <a:xfrm>
            <a:off x="5976620" y="3355340"/>
            <a:ext cx="1779270" cy="203708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sz="2800" b="1" spc="15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包</a:t>
            </a:r>
          </a:p>
        </p:txBody>
      </p:sp>
      <p:sp>
        <p:nvSpPr>
          <p:cNvPr id="26" name="标题 5"/>
          <p:cNvSpPr>
            <a:spLocks noGrp="1"/>
          </p:cNvSpPr>
          <p:nvPr>
            <p:custDataLst>
              <p:tags r:id="rId15"/>
            </p:custDataLst>
          </p:nvPr>
        </p:nvSpPr>
        <p:spPr>
          <a:xfrm>
            <a:off x="6580505" y="2616212"/>
            <a:ext cx="554355" cy="509270"/>
          </a:xfrm>
          <a:prstGeom prst="rect">
            <a:avLst/>
          </a:prstGeom>
        </p:spPr>
        <p:txBody>
          <a:bodyPr vert="horz" lIns="0" tIns="0" rIns="0" bIns="0" rtlCol="0" anchor="ctr" anchorCtr="0">
            <a:normAutofit fontScale="90000"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kumimoji="0" lang="zh-CN" altLang="en-US" sz="24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indent="0" algn="ctr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en-US" altLang="zh-CN" sz="2700" b="1" dirty="0">
                <a:solidFill>
                  <a:srgbClr val="1D518C"/>
                </a:solidFill>
                <a:latin typeface="微软雅黑" panose="020B0503020204020204" pitchFamily="34" charset="-122"/>
              </a:rPr>
              <a:t>5.3</a:t>
            </a:r>
          </a:p>
        </p:txBody>
      </p:sp>
      <p:sp>
        <p:nvSpPr>
          <p:cNvPr id="27" name="菱形 26"/>
          <p:cNvSpPr/>
          <p:nvPr>
            <p:custDataLst>
              <p:tags r:id="rId16"/>
            </p:custDataLst>
          </p:nvPr>
        </p:nvSpPr>
        <p:spPr>
          <a:xfrm>
            <a:off x="6291580" y="2712097"/>
            <a:ext cx="301625" cy="301625"/>
          </a:xfrm>
          <a:prstGeom prst="diamond">
            <a:avLst/>
          </a:prstGeom>
          <a:solidFill>
            <a:srgbClr val="69A7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弧形 27"/>
          <p:cNvSpPr/>
          <p:nvPr>
            <p:custDataLst>
              <p:tags r:id="rId17"/>
            </p:custDataLst>
          </p:nvPr>
        </p:nvSpPr>
        <p:spPr>
          <a:xfrm>
            <a:off x="8148955" y="2520962"/>
            <a:ext cx="727075" cy="716915"/>
          </a:xfrm>
          <a:prstGeom prst="arc">
            <a:avLst>
              <a:gd name="adj1" fmla="val 11619054"/>
              <a:gd name="adj2" fmla="val 10295063"/>
            </a:avLst>
          </a:prstGeom>
          <a:ln w="190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80"/>
          <p:cNvSpPr txBox="1"/>
          <p:nvPr>
            <p:custDataLst>
              <p:tags r:id="rId18"/>
            </p:custDataLst>
          </p:nvPr>
        </p:nvSpPr>
        <p:spPr>
          <a:xfrm>
            <a:off x="7871460" y="3355352"/>
            <a:ext cx="1371600" cy="2036922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sz="2800" b="1" spc="15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</a:p>
        </p:txBody>
      </p:sp>
      <p:sp>
        <p:nvSpPr>
          <p:cNvPr id="30" name="标题 5"/>
          <p:cNvSpPr>
            <a:spLocks noGrp="1"/>
          </p:cNvSpPr>
          <p:nvPr>
            <p:custDataLst>
              <p:tags r:id="rId19"/>
            </p:custDataLst>
          </p:nvPr>
        </p:nvSpPr>
        <p:spPr>
          <a:xfrm>
            <a:off x="8260080" y="2616212"/>
            <a:ext cx="554355" cy="509270"/>
          </a:xfrm>
          <a:prstGeom prst="rect">
            <a:avLst/>
          </a:prstGeom>
        </p:spPr>
        <p:txBody>
          <a:bodyPr vert="horz" lIns="0" tIns="0" rIns="0" bIns="0" rtlCol="0" anchor="ctr" anchorCtr="0">
            <a:normAutofit fontScale="90000"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kumimoji="0" lang="zh-CN" altLang="en-US" sz="24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indent="0" algn="ctr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en-US" altLang="zh-CN" sz="2700" b="1" dirty="0">
                <a:solidFill>
                  <a:srgbClr val="FF0000"/>
                </a:solidFill>
                <a:latin typeface="微软雅黑" panose="020B0503020204020204" pitchFamily="34" charset="-122"/>
              </a:rPr>
              <a:t>5.4</a:t>
            </a:r>
          </a:p>
        </p:txBody>
      </p:sp>
      <p:sp>
        <p:nvSpPr>
          <p:cNvPr id="31" name="菱形 30"/>
          <p:cNvSpPr/>
          <p:nvPr>
            <p:custDataLst>
              <p:tags r:id="rId20"/>
            </p:custDataLst>
          </p:nvPr>
        </p:nvSpPr>
        <p:spPr>
          <a:xfrm>
            <a:off x="7970520" y="2712097"/>
            <a:ext cx="301625" cy="301625"/>
          </a:xfrm>
          <a:prstGeom prst="diamond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79730" y="909320"/>
            <a:ext cx="10976030" cy="504250"/>
          </a:xfrm>
        </p:spPr>
        <p:txBody>
          <a:bodyPr vert="horz" wrap="square" lIns="91456" tIns="45728" rIns="91456" bIns="45728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、函数的定义及调用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defRPr/>
            </a:pP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0205369" y="189434"/>
            <a:ext cx="20180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5.4 函数</a:t>
            </a:r>
            <a:endParaRPr 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986607" y="1556313"/>
            <a:ext cx="10369152" cy="43745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defTabSz="9144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charset="0"/>
              <a:buChar char="n"/>
              <a:defRPr/>
            </a:pPr>
            <a:r>
              <a:rPr lang="zh-CN" altLang="en-US" b="1" kern="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格式：</a:t>
            </a:r>
            <a:endParaRPr lang="en-US" altLang="zh-CN" b="1" kern="0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0" defTabSz="914400" eaLnBrk="0" fontAlgn="base" hangingPunct="0">
              <a:spcBef>
                <a:spcPct val="20000"/>
              </a:spcBef>
              <a:spcAft>
                <a:spcPct val="0"/>
              </a:spcAft>
              <a:defRPr/>
            </a:pPr>
            <a:r>
              <a:rPr lang="en-US" altLang="zh-CN" b="1" kern="0" dirty="0" err="1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def</a:t>
            </a:r>
            <a:r>
              <a:rPr lang="en-US" altLang="zh-CN" b="1" kern="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</a:t>
            </a:r>
            <a:r>
              <a:rPr lang="zh-CN" altLang="en-US" b="1" kern="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函数名</a:t>
            </a:r>
            <a:r>
              <a:rPr lang="en-US" altLang="zh-CN" b="1" kern="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(</a:t>
            </a:r>
            <a:r>
              <a:rPr lang="zh-CN" altLang="en-US" b="1" kern="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形参表</a:t>
            </a:r>
            <a:r>
              <a:rPr lang="en-US" altLang="zh-CN" b="1" kern="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):</a:t>
            </a:r>
          </a:p>
          <a:p>
            <a:pPr lvl="0" defTabSz="914400" eaLnBrk="0" fontAlgn="base" hangingPunct="0">
              <a:spcBef>
                <a:spcPct val="20000"/>
              </a:spcBef>
              <a:spcAft>
                <a:spcPct val="0"/>
              </a:spcAft>
              <a:defRPr/>
            </a:pPr>
            <a:r>
              <a:rPr lang="en-US" altLang="zh-CN" b="1" kern="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   </a:t>
            </a:r>
            <a:r>
              <a:rPr lang="zh-CN" altLang="en-US" b="1" kern="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函数体语句序列</a:t>
            </a:r>
            <a:endParaRPr lang="en-US" altLang="zh-CN" b="1" kern="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lvl="0" defTabSz="914400" eaLnBrk="0" fontAlgn="base" hangingPunct="0">
              <a:spcBef>
                <a:spcPct val="20000"/>
              </a:spcBef>
              <a:spcAft>
                <a:spcPct val="0"/>
              </a:spcAft>
              <a:defRPr/>
            </a:pPr>
            <a:r>
              <a:rPr lang="en-US" altLang="zh-CN" b="1" kern="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   [return </a:t>
            </a:r>
            <a:r>
              <a:rPr lang="zh-CN" altLang="en-US" b="1" kern="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表达式</a:t>
            </a:r>
            <a:r>
              <a:rPr lang="en-US" altLang="zh-CN" b="1" kern="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]    #</a:t>
            </a:r>
            <a:r>
              <a:rPr lang="zh-CN" altLang="en-US" b="1" kern="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可选项，即有的函数可以没有返回值。</a:t>
            </a:r>
            <a:endParaRPr lang="en-US" altLang="zh-CN" b="1" kern="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marL="342900" lvl="0" indent="-342900" defTabSz="9144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charset="0"/>
              <a:buChar char="n"/>
              <a:defRPr/>
            </a:pPr>
            <a:r>
              <a:rPr lang="zh-CN" altLang="en-US" b="1" kern="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函数调用：</a:t>
            </a:r>
            <a:endParaRPr lang="en-US" altLang="zh-CN" b="1" kern="0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0" defTabSz="914400" eaLnBrk="0" fontAlgn="base" hangingPunct="0">
              <a:spcBef>
                <a:spcPct val="20000"/>
              </a:spcBef>
              <a:spcAft>
                <a:spcPct val="0"/>
              </a:spcAft>
              <a:defRPr/>
            </a:pPr>
            <a:r>
              <a:rPr lang="zh-CN" altLang="en-US" b="1" kern="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函数名</a:t>
            </a:r>
            <a:r>
              <a:rPr lang="en-US" altLang="zh-CN" b="1" kern="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(</a:t>
            </a:r>
            <a:r>
              <a:rPr lang="zh-CN" altLang="en-US" b="1" kern="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实参表</a:t>
            </a:r>
            <a:r>
              <a:rPr lang="en-US" altLang="zh-CN" b="1" kern="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)</a:t>
            </a:r>
          </a:p>
          <a:p>
            <a:pPr marL="342900" lvl="0" indent="-342900" defTabSz="9144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charset="0"/>
              <a:buChar char="l"/>
              <a:defRPr/>
            </a:pPr>
            <a:r>
              <a:rPr lang="zh-CN" altLang="en-US" b="1" kern="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说明：</a:t>
            </a:r>
            <a:endParaRPr lang="en-US" altLang="zh-CN" b="1" kern="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marL="742950" lvl="1" indent="-285750" defTabSz="914400" eaLnBrk="0" fontAlgn="base" hangingPunct="0">
              <a:spcBef>
                <a:spcPct val="20000"/>
              </a:spcBef>
              <a:spcAft>
                <a:spcPct val="0"/>
              </a:spcAft>
              <a:buFontTx/>
              <a:buChar char="–"/>
              <a:defRPr/>
            </a:pPr>
            <a:r>
              <a:rPr lang="zh-CN" altLang="en-US" b="1" kern="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函数必须先定义，后使用；</a:t>
            </a:r>
            <a:endParaRPr lang="en-US" altLang="zh-CN" b="1" kern="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marL="742950" lvl="1" indent="-285750" defTabSz="914400" eaLnBrk="0" fontAlgn="base" hangingPunct="0">
              <a:spcBef>
                <a:spcPct val="20000"/>
              </a:spcBef>
              <a:spcAft>
                <a:spcPct val="0"/>
              </a:spcAft>
              <a:buFontTx/>
              <a:buChar char="–"/>
              <a:defRPr/>
            </a:pPr>
            <a:r>
              <a:rPr lang="zh-CN" altLang="en-US" b="1" kern="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函数名与变量名的命名规则相同，只能包含字母、数字和下划线</a:t>
            </a:r>
            <a:r>
              <a:rPr lang="en-US" altLang="zh-CN" b="1" kern="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_</a:t>
            </a:r>
            <a:r>
              <a:rPr lang="zh-CN" altLang="en-US" b="1" kern="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，且不能以数字打头。</a:t>
            </a:r>
          </a:p>
        </p:txBody>
      </p:sp>
    </p:spTree>
  </p:cSld>
  <p:clrMapOvr>
    <a:masterClrMapping/>
  </p:clrMapOvr>
  <p:transition spd="slow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0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0205369" y="189434"/>
            <a:ext cx="20180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5.4 函数</a:t>
            </a:r>
            <a:endParaRPr 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 2050"/>
          <p:cNvSpPr/>
          <p:nvPr/>
        </p:nvSpPr>
        <p:spPr bwMode="auto">
          <a:xfrm>
            <a:off x="534035" y="1113155"/>
            <a:ext cx="954405" cy="679450"/>
          </a:xfrm>
          <a:custGeom>
            <a:avLst/>
            <a:gdLst>
              <a:gd name="T0" fmla="*/ 942322 w 3841"/>
              <a:gd name="T1" fmla="*/ 1696878 h 3861"/>
              <a:gd name="T2" fmla="*/ 612206 w 3841"/>
              <a:gd name="T3" fmla="*/ 1630196 h 3861"/>
              <a:gd name="T4" fmla="*/ 0 w 3841"/>
              <a:gd name="T5" fmla="*/ 1797599 h 3861"/>
              <a:gd name="T6" fmla="*/ 282090 w 3841"/>
              <a:gd name="T7" fmla="*/ 1380724 h 3861"/>
              <a:gd name="T8" fmla="*/ 93719 w 3841"/>
              <a:gd name="T9" fmla="*/ 848206 h 3861"/>
              <a:gd name="T10" fmla="*/ 942322 w 3841"/>
              <a:gd name="T11" fmla="*/ 0 h 3861"/>
              <a:gd name="T12" fmla="*/ 1790924 w 3841"/>
              <a:gd name="T13" fmla="*/ 848206 h 3861"/>
              <a:gd name="T14" fmla="*/ 942322 w 3841"/>
              <a:gd name="T15" fmla="*/ 1696878 h 3861"/>
              <a:gd name="T16" fmla="*/ 682146 w 3841"/>
              <a:gd name="T17" fmla="*/ 1245496 h 3861"/>
              <a:gd name="T18" fmla="*/ 803375 w 3841"/>
              <a:gd name="T19" fmla="*/ 1371398 h 3861"/>
              <a:gd name="T20" fmla="*/ 956776 w 3841"/>
              <a:gd name="T21" fmla="*/ 1221248 h 3861"/>
              <a:gd name="T22" fmla="*/ 830884 w 3841"/>
              <a:gd name="T23" fmla="*/ 1092082 h 3861"/>
              <a:gd name="T24" fmla="*/ 682146 w 3841"/>
              <a:gd name="T25" fmla="*/ 1245496 h 3861"/>
              <a:gd name="T26" fmla="*/ 988948 w 3841"/>
              <a:gd name="T27" fmla="*/ 301698 h 3861"/>
              <a:gd name="T28" fmla="*/ 729705 w 3841"/>
              <a:gd name="T29" fmla="*/ 367913 h 3861"/>
              <a:gd name="T30" fmla="*/ 758613 w 3841"/>
              <a:gd name="T31" fmla="*/ 522726 h 3861"/>
              <a:gd name="T32" fmla="*/ 926002 w 3841"/>
              <a:gd name="T33" fmla="*/ 479826 h 3861"/>
              <a:gd name="T34" fmla="*/ 1015059 w 3841"/>
              <a:gd name="T35" fmla="*/ 553502 h 3861"/>
              <a:gd name="T36" fmla="*/ 892431 w 3841"/>
              <a:gd name="T37" fmla="*/ 723703 h 3861"/>
              <a:gd name="T38" fmla="*/ 752552 w 3841"/>
              <a:gd name="T39" fmla="*/ 978771 h 3861"/>
              <a:gd name="T40" fmla="*/ 747889 w 3841"/>
              <a:gd name="T41" fmla="*/ 1018406 h 3861"/>
              <a:gd name="T42" fmla="*/ 962837 w 3841"/>
              <a:gd name="T43" fmla="*/ 1018406 h 3861"/>
              <a:gd name="T44" fmla="*/ 970298 w 3841"/>
              <a:gd name="T45" fmla="*/ 981568 h 3861"/>
              <a:gd name="T46" fmla="*/ 1074741 w 3841"/>
              <a:gd name="T47" fmla="*/ 800643 h 3861"/>
              <a:gd name="T48" fmla="*/ 1242130 w 3841"/>
              <a:gd name="T49" fmla="*/ 510602 h 3861"/>
              <a:gd name="T50" fmla="*/ 988948 w 3841"/>
              <a:gd name="T51" fmla="*/ 301698 h 3861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</a:gdLst>
            <a:ahLst/>
            <a:cxnLst>
              <a:cxn ang="T52">
                <a:pos x="T0" y="T1"/>
              </a:cxn>
              <a:cxn ang="T53">
                <a:pos x="T2" y="T3"/>
              </a:cxn>
              <a:cxn ang="T54">
                <a:pos x="T4" y="T5"/>
              </a:cxn>
              <a:cxn ang="T55">
                <a:pos x="T6" y="T7"/>
              </a:cxn>
              <a:cxn ang="T56">
                <a:pos x="T8" y="T9"/>
              </a:cxn>
              <a:cxn ang="T57">
                <a:pos x="T10" y="T11"/>
              </a:cxn>
              <a:cxn ang="T58">
                <a:pos x="T12" y="T13"/>
              </a:cxn>
              <a:cxn ang="T59">
                <a:pos x="T14" y="T15"/>
              </a:cxn>
              <a:cxn ang="T60">
                <a:pos x="T16" y="T17"/>
              </a:cxn>
              <a:cxn ang="T61">
                <a:pos x="T18" y="T19"/>
              </a:cxn>
              <a:cxn ang="T62">
                <a:pos x="T20" y="T21"/>
              </a:cxn>
              <a:cxn ang="T63">
                <a:pos x="T22" y="T23"/>
              </a:cxn>
              <a:cxn ang="T64">
                <a:pos x="T24" y="T25"/>
              </a:cxn>
              <a:cxn ang="T65">
                <a:pos x="T26" y="T27"/>
              </a:cxn>
              <a:cxn ang="T66">
                <a:pos x="T28" y="T29"/>
              </a:cxn>
              <a:cxn ang="T67">
                <a:pos x="T30" y="T31"/>
              </a:cxn>
              <a:cxn ang="T68">
                <a:pos x="T32" y="T33"/>
              </a:cxn>
              <a:cxn ang="T69">
                <a:pos x="T34" y="T35"/>
              </a:cxn>
              <a:cxn ang="T70">
                <a:pos x="T36" y="T37"/>
              </a:cxn>
              <a:cxn ang="T71">
                <a:pos x="T38" y="T39"/>
              </a:cxn>
              <a:cxn ang="T72">
                <a:pos x="T40" y="T41"/>
              </a:cxn>
              <a:cxn ang="T73">
                <a:pos x="T42" y="T43"/>
              </a:cxn>
              <a:cxn ang="T74">
                <a:pos x="T44" y="T45"/>
              </a:cxn>
              <a:cxn ang="T75">
                <a:pos x="T46" y="T47"/>
              </a:cxn>
              <a:cxn ang="T76">
                <a:pos x="T48" y="T49"/>
              </a:cxn>
              <a:cxn ang="T77">
                <a:pos x="T50" y="T51"/>
              </a:cxn>
            </a:cxnLst>
            <a:rect l="0" t="0" r="r" b="b"/>
            <a:pathLst>
              <a:path w="3841" h="3861">
                <a:moveTo>
                  <a:pt x="2021" y="3639"/>
                </a:moveTo>
                <a:cubicBezTo>
                  <a:pt x="1770" y="3639"/>
                  <a:pt x="1531" y="3588"/>
                  <a:pt x="1313" y="3496"/>
                </a:cubicBezTo>
                <a:cubicBezTo>
                  <a:pt x="830" y="3861"/>
                  <a:pt x="0" y="3855"/>
                  <a:pt x="0" y="3855"/>
                </a:cubicBezTo>
                <a:cubicBezTo>
                  <a:pt x="0" y="3855"/>
                  <a:pt x="417" y="3566"/>
                  <a:pt x="605" y="2961"/>
                </a:cubicBezTo>
                <a:cubicBezTo>
                  <a:pt x="352" y="2648"/>
                  <a:pt x="201" y="2252"/>
                  <a:pt x="201" y="1819"/>
                </a:cubicBezTo>
                <a:cubicBezTo>
                  <a:pt x="201" y="814"/>
                  <a:pt x="1016" y="0"/>
                  <a:pt x="2021" y="0"/>
                </a:cubicBezTo>
                <a:cubicBezTo>
                  <a:pt x="3026" y="0"/>
                  <a:pt x="3841" y="814"/>
                  <a:pt x="3841" y="1819"/>
                </a:cubicBezTo>
                <a:cubicBezTo>
                  <a:pt x="3841" y="2824"/>
                  <a:pt x="3026" y="3639"/>
                  <a:pt x="2021" y="3639"/>
                </a:cubicBezTo>
                <a:close/>
                <a:moveTo>
                  <a:pt x="1463" y="2671"/>
                </a:moveTo>
                <a:cubicBezTo>
                  <a:pt x="1463" y="2826"/>
                  <a:pt x="1568" y="2941"/>
                  <a:pt x="1723" y="2941"/>
                </a:cubicBezTo>
                <a:cubicBezTo>
                  <a:pt x="1917" y="2941"/>
                  <a:pt x="2052" y="2806"/>
                  <a:pt x="2052" y="2619"/>
                </a:cubicBezTo>
                <a:cubicBezTo>
                  <a:pt x="2052" y="2457"/>
                  <a:pt x="1940" y="2342"/>
                  <a:pt x="1782" y="2342"/>
                </a:cubicBezTo>
                <a:cubicBezTo>
                  <a:pt x="1595" y="2342"/>
                  <a:pt x="1463" y="2497"/>
                  <a:pt x="1463" y="2671"/>
                </a:cubicBezTo>
                <a:close/>
                <a:moveTo>
                  <a:pt x="2121" y="647"/>
                </a:moveTo>
                <a:cubicBezTo>
                  <a:pt x="1874" y="647"/>
                  <a:pt x="1687" y="716"/>
                  <a:pt x="1565" y="789"/>
                </a:cubicBezTo>
                <a:cubicBezTo>
                  <a:pt x="1627" y="1121"/>
                  <a:pt x="1627" y="1121"/>
                  <a:pt x="1627" y="1121"/>
                </a:cubicBezTo>
                <a:cubicBezTo>
                  <a:pt x="1720" y="1065"/>
                  <a:pt x="1838" y="1029"/>
                  <a:pt x="1986" y="1029"/>
                </a:cubicBezTo>
                <a:cubicBezTo>
                  <a:pt x="2134" y="1032"/>
                  <a:pt x="2177" y="1101"/>
                  <a:pt x="2177" y="1187"/>
                </a:cubicBezTo>
                <a:cubicBezTo>
                  <a:pt x="2177" y="1302"/>
                  <a:pt x="2042" y="1414"/>
                  <a:pt x="1914" y="1552"/>
                </a:cubicBezTo>
                <a:cubicBezTo>
                  <a:pt x="1729" y="1747"/>
                  <a:pt x="1641" y="1921"/>
                  <a:pt x="1614" y="2099"/>
                </a:cubicBezTo>
                <a:cubicBezTo>
                  <a:pt x="1611" y="2125"/>
                  <a:pt x="1608" y="2155"/>
                  <a:pt x="1604" y="2184"/>
                </a:cubicBezTo>
                <a:cubicBezTo>
                  <a:pt x="2065" y="2184"/>
                  <a:pt x="2065" y="2184"/>
                  <a:pt x="2065" y="2184"/>
                </a:cubicBezTo>
                <a:cubicBezTo>
                  <a:pt x="2072" y="2155"/>
                  <a:pt x="2075" y="2128"/>
                  <a:pt x="2081" y="2105"/>
                </a:cubicBezTo>
                <a:cubicBezTo>
                  <a:pt x="2111" y="1957"/>
                  <a:pt x="2177" y="1845"/>
                  <a:pt x="2305" y="1717"/>
                </a:cubicBezTo>
                <a:cubicBezTo>
                  <a:pt x="2490" y="1526"/>
                  <a:pt x="2664" y="1358"/>
                  <a:pt x="2664" y="1095"/>
                </a:cubicBezTo>
                <a:cubicBezTo>
                  <a:pt x="2664" y="825"/>
                  <a:pt x="2437" y="647"/>
                  <a:pt x="2121" y="647"/>
                </a:cubicBezTo>
                <a:close/>
              </a:path>
            </a:pathLst>
          </a:custGeom>
          <a:solidFill>
            <a:srgbClr val="FF0000"/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anchorCtr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7" name="标题 1"/>
          <p:cNvSpPr>
            <a:spLocks noGrp="1"/>
          </p:cNvSpPr>
          <p:nvPr/>
        </p:nvSpPr>
        <p:spPr>
          <a:xfrm>
            <a:off x="1778695" y="1024255"/>
            <a:ext cx="2994025" cy="85725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kumimoji="0" lang="zh-CN"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dirty="0">
                <a:solidFill>
                  <a:srgbClr val="FF0000"/>
                </a:solidFill>
                <a:latin typeface="方正大黑简体" panose="03000509000000000000" pitchFamily="2" charset="-122"/>
                <a:ea typeface="方正大黑简体" panose="03000509000000000000" pitchFamily="2" charset="-122"/>
              </a:rPr>
              <a:t>形参？实参？</a:t>
            </a:r>
          </a:p>
        </p:txBody>
      </p:sp>
      <p:sp>
        <p:nvSpPr>
          <p:cNvPr id="8" name="矩形 7"/>
          <p:cNvSpPr/>
          <p:nvPr/>
        </p:nvSpPr>
        <p:spPr>
          <a:xfrm>
            <a:off x="1850703" y="2349674"/>
            <a:ext cx="7298059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Arial Black" panose="020B0A04020102020204" pitchFamily="34" charset="0"/>
              </a:rPr>
              <a:t>import math</a:t>
            </a:r>
          </a:p>
          <a:p>
            <a:endParaRPr lang="zh-CN" altLang="en-US" sz="2800" dirty="0">
              <a:latin typeface="Arial Black" panose="020B0A04020102020204" pitchFamily="34" charset="0"/>
            </a:endParaRPr>
          </a:p>
          <a:p>
            <a:r>
              <a:rPr lang="zh-CN" altLang="en-US" sz="2800" dirty="0">
                <a:solidFill>
                  <a:srgbClr val="FF0000"/>
                </a:solidFill>
                <a:latin typeface="Arial Black" panose="020B0A04020102020204" pitchFamily="34" charset="0"/>
              </a:rPr>
              <a:t>def area(radius):</a:t>
            </a:r>
          </a:p>
          <a:p>
            <a:r>
              <a:rPr lang="zh-CN" altLang="en-US" sz="2800" dirty="0">
                <a:solidFill>
                  <a:srgbClr val="FF0000"/>
                </a:solidFill>
                <a:latin typeface="Arial Black" panose="020B0A04020102020204" pitchFamily="34" charset="0"/>
              </a:rPr>
              <a:t>    return math.pi*radius**2</a:t>
            </a:r>
          </a:p>
          <a:p>
            <a:endParaRPr lang="zh-CN" altLang="en-US" sz="2800" dirty="0">
              <a:latin typeface="Arial Black" panose="020B0A04020102020204" pitchFamily="34" charset="0"/>
            </a:endParaRPr>
          </a:p>
          <a:p>
            <a:r>
              <a:rPr lang="zh-CN" altLang="en-US" sz="2800" dirty="0">
                <a:latin typeface="Arial Black" panose="020B0A04020102020204" pitchFamily="34" charset="0"/>
              </a:rPr>
              <a:t>print (area(5.5))</a:t>
            </a:r>
          </a:p>
          <a:p>
            <a:r>
              <a:rPr lang="zh-CN" altLang="en-US" sz="2800" dirty="0">
                <a:latin typeface="Arial Black" panose="020B0A04020102020204" pitchFamily="34" charset="0"/>
              </a:rPr>
              <a:t>print (2*(area(3)+area(4)))</a:t>
            </a:r>
          </a:p>
        </p:txBody>
      </p:sp>
      <p:sp>
        <p:nvSpPr>
          <p:cNvPr id="9" name="圆角矩形标注 8"/>
          <p:cNvSpPr/>
          <p:nvPr/>
        </p:nvSpPr>
        <p:spPr>
          <a:xfrm>
            <a:off x="4932723" y="1970405"/>
            <a:ext cx="5400600" cy="1368152"/>
          </a:xfrm>
          <a:prstGeom prst="wedgeRoundRectCallout">
            <a:avLst>
              <a:gd name="adj1" fmla="val -58808"/>
              <a:gd name="adj2" fmla="val 45434"/>
              <a:gd name="adj3" fmla="val 16667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umimoji="0"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形参是定义函数时声明的参数，是计划用来接收一个值的变量。</a:t>
            </a:r>
          </a:p>
        </p:txBody>
      </p:sp>
      <p:sp>
        <p:nvSpPr>
          <p:cNvPr id="10" name="圆角矩形标注 9"/>
          <p:cNvSpPr/>
          <p:nvPr/>
        </p:nvSpPr>
        <p:spPr>
          <a:xfrm>
            <a:off x="6948947" y="4077866"/>
            <a:ext cx="4032448" cy="874051"/>
          </a:xfrm>
          <a:prstGeom prst="wedgeRoundRectCallout">
            <a:avLst>
              <a:gd name="adj1" fmla="val -61076"/>
              <a:gd name="adj2" fmla="val 52807"/>
              <a:gd name="adj3" fmla="val 16667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914400"/>
            <a:r>
              <a:rPr lang="zh-CN" altLang="en-US" b="1" dirty="0">
                <a:solidFill>
                  <a:srgbClr val="0071C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实参是调用函数时传递给函数的值（存为一个对象）。</a:t>
            </a:r>
          </a:p>
        </p:txBody>
      </p:sp>
    </p:spTree>
  </p:cSld>
  <p:clrMapOvr>
    <a:masterClrMapping/>
  </p:clrMapOvr>
  <p:transition spd="slow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/>
      <p:bldP spid="9" grpId="0" animBg="1"/>
      <p:bldP spid="10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554559" y="1053530"/>
            <a:ext cx="8245415" cy="666621"/>
          </a:xfrm>
        </p:spPr>
        <p:txBody>
          <a:bodyPr vert="horz" wrap="square" lIns="91456" tIns="45728" rIns="91456" bIns="45728" numCol="1" anchor="b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练习：编写一元二次函数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</a:t>
            </a:r>
            <a:r>
              <a:rPr lang="en-US" altLang="zh-CN" sz="2800" b="1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(x)=ax</a:t>
            </a:r>
            <a:r>
              <a:rPr lang="en-US" altLang="zh-CN" sz="2800" b="1" kern="0" baseline="300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en-US" altLang="zh-CN" sz="2800" b="1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+bx+c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378971" y="1526286"/>
            <a:ext cx="7298059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zh-CN" altLang="en-US" sz="2800" dirty="0">
              <a:latin typeface="Arial Black" panose="020B0A04020102020204" pitchFamily="34" charset="0"/>
            </a:endParaRPr>
          </a:p>
          <a:p>
            <a:r>
              <a:rPr lang="zh-CN" altLang="en-US" sz="2800" dirty="0">
                <a:solidFill>
                  <a:srgbClr val="FF0000"/>
                </a:solidFill>
                <a:latin typeface="Arial Black" panose="020B0A04020102020204" pitchFamily="34" charset="0"/>
              </a:rPr>
              <a:t>def </a:t>
            </a:r>
            <a:r>
              <a:rPr lang="en-US" altLang="zh-CN" sz="2800" dirty="0">
                <a:solidFill>
                  <a:srgbClr val="FF0000"/>
                </a:solidFill>
                <a:latin typeface="Arial Black" panose="020B0A04020102020204" pitchFamily="34" charset="0"/>
              </a:rPr>
              <a:t>f</a:t>
            </a:r>
            <a:r>
              <a:rPr lang="zh-CN" altLang="en-US" sz="2800" dirty="0">
                <a:solidFill>
                  <a:srgbClr val="FF0000"/>
                </a:solidFill>
                <a:latin typeface="Arial Black" panose="020B0A04020102020204" pitchFamily="34" charset="0"/>
              </a:rPr>
              <a:t>(</a:t>
            </a:r>
            <a:r>
              <a:rPr lang="en-US" altLang="zh-CN" sz="2800" dirty="0" err="1">
                <a:solidFill>
                  <a:srgbClr val="FF0000"/>
                </a:solidFill>
                <a:latin typeface="Arial Black" panose="020B0A04020102020204" pitchFamily="34" charset="0"/>
              </a:rPr>
              <a:t>x,a,b,c</a:t>
            </a:r>
            <a:r>
              <a:rPr lang="zh-CN" altLang="en-US" sz="2800" dirty="0">
                <a:solidFill>
                  <a:srgbClr val="FF0000"/>
                </a:solidFill>
                <a:latin typeface="Arial Black" panose="020B0A04020102020204" pitchFamily="34" charset="0"/>
              </a:rPr>
              <a:t>):</a:t>
            </a:r>
          </a:p>
          <a:p>
            <a:r>
              <a:rPr lang="zh-CN" altLang="en-US" sz="2800" dirty="0">
                <a:solidFill>
                  <a:srgbClr val="FF0000"/>
                </a:solidFill>
                <a:latin typeface="Arial Black" panose="020B0A04020102020204" pitchFamily="34" charset="0"/>
              </a:rPr>
              <a:t>    return </a:t>
            </a:r>
            <a:r>
              <a:rPr lang="en-US" altLang="zh-CN" sz="2800" dirty="0">
                <a:solidFill>
                  <a:srgbClr val="FF0000"/>
                </a:solidFill>
                <a:latin typeface="Arial Black" panose="020B0A04020102020204" pitchFamily="34" charset="0"/>
              </a:rPr>
              <a:t>a*x**2+b*</a:t>
            </a:r>
            <a:r>
              <a:rPr lang="en-US" altLang="zh-CN" sz="2800" dirty="0" err="1">
                <a:solidFill>
                  <a:srgbClr val="FF0000"/>
                </a:solidFill>
                <a:latin typeface="Arial Black" panose="020B0A04020102020204" pitchFamily="34" charset="0"/>
              </a:rPr>
              <a:t>x+c</a:t>
            </a:r>
            <a:endParaRPr lang="zh-CN" altLang="en-US" sz="2800" dirty="0">
              <a:solidFill>
                <a:srgbClr val="FF0000"/>
              </a:solidFill>
              <a:latin typeface="Arial Black" panose="020B0A04020102020204" pitchFamily="34" charset="0"/>
            </a:endParaRPr>
          </a:p>
          <a:p>
            <a:endParaRPr lang="zh-CN" altLang="en-US" sz="2800" dirty="0">
              <a:latin typeface="Arial Black" panose="020B0A04020102020204" pitchFamily="34" charset="0"/>
            </a:endParaRPr>
          </a:p>
          <a:p>
            <a:r>
              <a:rPr lang="zh-CN" altLang="en-US" sz="2800" dirty="0">
                <a:latin typeface="Arial Black" panose="020B0A04020102020204" pitchFamily="34" charset="0"/>
              </a:rPr>
              <a:t>print (</a:t>
            </a:r>
            <a:r>
              <a:rPr lang="en-US" altLang="zh-CN" sz="2800" dirty="0">
                <a:solidFill>
                  <a:srgbClr val="FF0000"/>
                </a:solidFill>
                <a:latin typeface="Arial Black" panose="020B0A04020102020204" pitchFamily="34" charset="0"/>
              </a:rPr>
              <a:t>f</a:t>
            </a:r>
            <a:r>
              <a:rPr lang="zh-CN" altLang="en-US" sz="2800" dirty="0">
                <a:solidFill>
                  <a:srgbClr val="FF0000"/>
                </a:solidFill>
                <a:latin typeface="Arial Black" panose="020B0A04020102020204" pitchFamily="34" charset="0"/>
              </a:rPr>
              <a:t>(</a:t>
            </a:r>
            <a:r>
              <a:rPr lang="en-US" altLang="zh-CN" sz="2800" dirty="0">
                <a:solidFill>
                  <a:srgbClr val="FF0000"/>
                </a:solidFill>
                <a:latin typeface="Arial Black" panose="020B0A04020102020204" pitchFamily="34" charset="0"/>
              </a:rPr>
              <a:t>2,1,2,3</a:t>
            </a:r>
            <a:r>
              <a:rPr lang="zh-CN" altLang="en-US" sz="2800" dirty="0">
                <a:solidFill>
                  <a:srgbClr val="FF0000"/>
                </a:solidFill>
                <a:latin typeface="Arial Black" panose="020B0A04020102020204" pitchFamily="34" charset="0"/>
              </a:rPr>
              <a:t>)</a:t>
            </a:r>
            <a:r>
              <a:rPr lang="zh-CN" altLang="en-US" sz="2800" dirty="0">
                <a:latin typeface="Arial Black" panose="020B0A04020102020204" pitchFamily="34" charset="0"/>
              </a:rPr>
              <a:t>)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10205369" y="189434"/>
            <a:ext cx="20180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5.4 函数</a:t>
            </a:r>
            <a:endParaRPr 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圆角矩形标注 5"/>
          <p:cNvSpPr/>
          <p:nvPr/>
        </p:nvSpPr>
        <p:spPr>
          <a:xfrm>
            <a:off x="6459215" y="3038534"/>
            <a:ext cx="5400600" cy="1368152"/>
          </a:xfrm>
          <a:prstGeom prst="wedgeRoundRectCallout">
            <a:avLst>
              <a:gd name="adj1" fmla="val -57122"/>
              <a:gd name="adj2" fmla="val -46283"/>
              <a:gd name="adj3" fmla="val 16667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umimoji="0"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哪些是形参？哪些是实参？</a:t>
            </a:r>
          </a:p>
        </p:txBody>
      </p:sp>
      <p:sp>
        <p:nvSpPr>
          <p:cNvPr id="4" name="矩形 3"/>
          <p:cNvSpPr/>
          <p:nvPr/>
        </p:nvSpPr>
        <p:spPr>
          <a:xfrm>
            <a:off x="2066727" y="3933850"/>
            <a:ext cx="10945216" cy="20928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3900"/>
              </a:lnSpc>
            </a:pP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ahoma" panose="020B0604030504040204" pitchFamily="34" charset="0"/>
              </a:rPr>
              <a:t>形参是什么：</a:t>
            </a:r>
            <a:endParaRPr lang="en-US" altLang="zh-CN" sz="20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ahoma" panose="020B0604030504040204" pitchFamily="34" charset="0"/>
            </a:endParaRPr>
          </a:p>
          <a:p>
            <a:pPr lvl="1">
              <a:lnSpc>
                <a:spcPts val="3900"/>
              </a:lnSpc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定义函数时声明的参数，是计划接收值的变量。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3900"/>
              </a:lnSpc>
            </a:pP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ahoma" panose="020B0604030504040204" pitchFamily="34" charset="0"/>
              </a:rPr>
              <a:t>实参是什么：</a:t>
            </a:r>
            <a:endParaRPr lang="en-US" altLang="zh-CN" sz="20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ahoma" panose="020B0604030504040204" pitchFamily="34" charset="0"/>
            </a:endParaRPr>
          </a:p>
          <a:p>
            <a:pPr lvl="1">
              <a:lnSpc>
                <a:spcPts val="3900"/>
              </a:lnSpc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调用函数时传递给函数的值。</a:t>
            </a:r>
          </a:p>
        </p:txBody>
      </p:sp>
    </p:spTree>
  </p:cSld>
  <p:clrMapOvr>
    <a:masterClrMapping/>
  </p:clrMapOvr>
  <p:transition spd="slow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 animBg="1"/>
      <p:bldP spid="4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66527" y="909514"/>
            <a:ext cx="8245415" cy="652402"/>
          </a:xfrm>
        </p:spPr>
        <p:txBody>
          <a:bodyPr vert="horz" wrap="square" lIns="91456" tIns="45728" rIns="91456" bIns="45728" numCol="1" anchor="b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、函数的传递方式</a:t>
            </a:r>
          </a:p>
        </p:txBody>
      </p:sp>
      <p:sp>
        <p:nvSpPr>
          <p:cNvPr id="10243" name="内容占位符 2"/>
          <p:cNvSpPr>
            <a:spLocks noGrp="1"/>
          </p:cNvSpPr>
          <p:nvPr>
            <p:ph idx="1"/>
          </p:nvPr>
        </p:nvSpPr>
        <p:spPr>
          <a:xfrm>
            <a:off x="650875" y="2281555"/>
            <a:ext cx="11256645" cy="1599565"/>
          </a:xfrm>
        </p:spPr>
        <p:txBody>
          <a:bodyPr vert="horz" wrap="square" lIns="91456" tIns="45728" rIns="91456" bIns="45728" anchor="t"/>
          <a:lstStyle/>
          <a:p>
            <a:pPr marL="0" indent="0" algn="just">
              <a:lnSpc>
                <a:spcPct val="150000"/>
              </a:lnSpc>
              <a:buNone/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在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C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、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C++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中，参数的传递有</a:t>
            </a: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值传递、指针传递、引用传递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三种方式。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Python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支持的是</a:t>
            </a: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值传递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还是</a:t>
            </a: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引用传递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呢？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0205369" y="189434"/>
            <a:ext cx="20180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5.4 函数</a:t>
            </a:r>
            <a:endParaRPr 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 2050"/>
          <p:cNvSpPr/>
          <p:nvPr/>
        </p:nvSpPr>
        <p:spPr bwMode="auto">
          <a:xfrm>
            <a:off x="4207510" y="1602105"/>
            <a:ext cx="954405" cy="679450"/>
          </a:xfrm>
          <a:custGeom>
            <a:avLst/>
            <a:gdLst>
              <a:gd name="T0" fmla="*/ 942322 w 3841"/>
              <a:gd name="T1" fmla="*/ 1696878 h 3861"/>
              <a:gd name="T2" fmla="*/ 612206 w 3841"/>
              <a:gd name="T3" fmla="*/ 1630196 h 3861"/>
              <a:gd name="T4" fmla="*/ 0 w 3841"/>
              <a:gd name="T5" fmla="*/ 1797599 h 3861"/>
              <a:gd name="T6" fmla="*/ 282090 w 3841"/>
              <a:gd name="T7" fmla="*/ 1380724 h 3861"/>
              <a:gd name="T8" fmla="*/ 93719 w 3841"/>
              <a:gd name="T9" fmla="*/ 848206 h 3861"/>
              <a:gd name="T10" fmla="*/ 942322 w 3841"/>
              <a:gd name="T11" fmla="*/ 0 h 3861"/>
              <a:gd name="T12" fmla="*/ 1790924 w 3841"/>
              <a:gd name="T13" fmla="*/ 848206 h 3861"/>
              <a:gd name="T14" fmla="*/ 942322 w 3841"/>
              <a:gd name="T15" fmla="*/ 1696878 h 3861"/>
              <a:gd name="T16" fmla="*/ 682146 w 3841"/>
              <a:gd name="T17" fmla="*/ 1245496 h 3861"/>
              <a:gd name="T18" fmla="*/ 803375 w 3841"/>
              <a:gd name="T19" fmla="*/ 1371398 h 3861"/>
              <a:gd name="T20" fmla="*/ 956776 w 3841"/>
              <a:gd name="T21" fmla="*/ 1221248 h 3861"/>
              <a:gd name="T22" fmla="*/ 830884 w 3841"/>
              <a:gd name="T23" fmla="*/ 1092082 h 3861"/>
              <a:gd name="T24" fmla="*/ 682146 w 3841"/>
              <a:gd name="T25" fmla="*/ 1245496 h 3861"/>
              <a:gd name="T26" fmla="*/ 988948 w 3841"/>
              <a:gd name="T27" fmla="*/ 301698 h 3861"/>
              <a:gd name="T28" fmla="*/ 729705 w 3841"/>
              <a:gd name="T29" fmla="*/ 367913 h 3861"/>
              <a:gd name="T30" fmla="*/ 758613 w 3841"/>
              <a:gd name="T31" fmla="*/ 522726 h 3861"/>
              <a:gd name="T32" fmla="*/ 926002 w 3841"/>
              <a:gd name="T33" fmla="*/ 479826 h 3861"/>
              <a:gd name="T34" fmla="*/ 1015059 w 3841"/>
              <a:gd name="T35" fmla="*/ 553502 h 3861"/>
              <a:gd name="T36" fmla="*/ 892431 w 3841"/>
              <a:gd name="T37" fmla="*/ 723703 h 3861"/>
              <a:gd name="T38" fmla="*/ 752552 w 3841"/>
              <a:gd name="T39" fmla="*/ 978771 h 3861"/>
              <a:gd name="T40" fmla="*/ 747889 w 3841"/>
              <a:gd name="T41" fmla="*/ 1018406 h 3861"/>
              <a:gd name="T42" fmla="*/ 962837 w 3841"/>
              <a:gd name="T43" fmla="*/ 1018406 h 3861"/>
              <a:gd name="T44" fmla="*/ 970298 w 3841"/>
              <a:gd name="T45" fmla="*/ 981568 h 3861"/>
              <a:gd name="T46" fmla="*/ 1074741 w 3841"/>
              <a:gd name="T47" fmla="*/ 800643 h 3861"/>
              <a:gd name="T48" fmla="*/ 1242130 w 3841"/>
              <a:gd name="T49" fmla="*/ 510602 h 3861"/>
              <a:gd name="T50" fmla="*/ 988948 w 3841"/>
              <a:gd name="T51" fmla="*/ 301698 h 3861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</a:gdLst>
            <a:ahLst/>
            <a:cxnLst>
              <a:cxn ang="T52">
                <a:pos x="T0" y="T1"/>
              </a:cxn>
              <a:cxn ang="T53">
                <a:pos x="T2" y="T3"/>
              </a:cxn>
              <a:cxn ang="T54">
                <a:pos x="T4" y="T5"/>
              </a:cxn>
              <a:cxn ang="T55">
                <a:pos x="T6" y="T7"/>
              </a:cxn>
              <a:cxn ang="T56">
                <a:pos x="T8" y="T9"/>
              </a:cxn>
              <a:cxn ang="T57">
                <a:pos x="T10" y="T11"/>
              </a:cxn>
              <a:cxn ang="T58">
                <a:pos x="T12" y="T13"/>
              </a:cxn>
              <a:cxn ang="T59">
                <a:pos x="T14" y="T15"/>
              </a:cxn>
              <a:cxn ang="T60">
                <a:pos x="T16" y="T17"/>
              </a:cxn>
              <a:cxn ang="T61">
                <a:pos x="T18" y="T19"/>
              </a:cxn>
              <a:cxn ang="T62">
                <a:pos x="T20" y="T21"/>
              </a:cxn>
              <a:cxn ang="T63">
                <a:pos x="T22" y="T23"/>
              </a:cxn>
              <a:cxn ang="T64">
                <a:pos x="T24" y="T25"/>
              </a:cxn>
              <a:cxn ang="T65">
                <a:pos x="T26" y="T27"/>
              </a:cxn>
              <a:cxn ang="T66">
                <a:pos x="T28" y="T29"/>
              </a:cxn>
              <a:cxn ang="T67">
                <a:pos x="T30" y="T31"/>
              </a:cxn>
              <a:cxn ang="T68">
                <a:pos x="T32" y="T33"/>
              </a:cxn>
              <a:cxn ang="T69">
                <a:pos x="T34" y="T35"/>
              </a:cxn>
              <a:cxn ang="T70">
                <a:pos x="T36" y="T37"/>
              </a:cxn>
              <a:cxn ang="T71">
                <a:pos x="T38" y="T39"/>
              </a:cxn>
              <a:cxn ang="T72">
                <a:pos x="T40" y="T41"/>
              </a:cxn>
              <a:cxn ang="T73">
                <a:pos x="T42" y="T43"/>
              </a:cxn>
              <a:cxn ang="T74">
                <a:pos x="T44" y="T45"/>
              </a:cxn>
              <a:cxn ang="T75">
                <a:pos x="T46" y="T47"/>
              </a:cxn>
              <a:cxn ang="T76">
                <a:pos x="T48" y="T49"/>
              </a:cxn>
              <a:cxn ang="T77">
                <a:pos x="T50" y="T51"/>
              </a:cxn>
            </a:cxnLst>
            <a:rect l="0" t="0" r="r" b="b"/>
            <a:pathLst>
              <a:path w="3841" h="3861">
                <a:moveTo>
                  <a:pt x="2021" y="3639"/>
                </a:moveTo>
                <a:cubicBezTo>
                  <a:pt x="1770" y="3639"/>
                  <a:pt x="1531" y="3588"/>
                  <a:pt x="1313" y="3496"/>
                </a:cubicBezTo>
                <a:cubicBezTo>
                  <a:pt x="830" y="3861"/>
                  <a:pt x="0" y="3855"/>
                  <a:pt x="0" y="3855"/>
                </a:cubicBezTo>
                <a:cubicBezTo>
                  <a:pt x="0" y="3855"/>
                  <a:pt x="417" y="3566"/>
                  <a:pt x="605" y="2961"/>
                </a:cubicBezTo>
                <a:cubicBezTo>
                  <a:pt x="352" y="2648"/>
                  <a:pt x="201" y="2252"/>
                  <a:pt x="201" y="1819"/>
                </a:cubicBezTo>
                <a:cubicBezTo>
                  <a:pt x="201" y="814"/>
                  <a:pt x="1016" y="0"/>
                  <a:pt x="2021" y="0"/>
                </a:cubicBezTo>
                <a:cubicBezTo>
                  <a:pt x="3026" y="0"/>
                  <a:pt x="3841" y="814"/>
                  <a:pt x="3841" y="1819"/>
                </a:cubicBezTo>
                <a:cubicBezTo>
                  <a:pt x="3841" y="2824"/>
                  <a:pt x="3026" y="3639"/>
                  <a:pt x="2021" y="3639"/>
                </a:cubicBezTo>
                <a:close/>
                <a:moveTo>
                  <a:pt x="1463" y="2671"/>
                </a:moveTo>
                <a:cubicBezTo>
                  <a:pt x="1463" y="2826"/>
                  <a:pt x="1568" y="2941"/>
                  <a:pt x="1723" y="2941"/>
                </a:cubicBezTo>
                <a:cubicBezTo>
                  <a:pt x="1917" y="2941"/>
                  <a:pt x="2052" y="2806"/>
                  <a:pt x="2052" y="2619"/>
                </a:cubicBezTo>
                <a:cubicBezTo>
                  <a:pt x="2052" y="2457"/>
                  <a:pt x="1940" y="2342"/>
                  <a:pt x="1782" y="2342"/>
                </a:cubicBezTo>
                <a:cubicBezTo>
                  <a:pt x="1595" y="2342"/>
                  <a:pt x="1463" y="2497"/>
                  <a:pt x="1463" y="2671"/>
                </a:cubicBezTo>
                <a:close/>
                <a:moveTo>
                  <a:pt x="2121" y="647"/>
                </a:moveTo>
                <a:cubicBezTo>
                  <a:pt x="1874" y="647"/>
                  <a:pt x="1687" y="716"/>
                  <a:pt x="1565" y="789"/>
                </a:cubicBezTo>
                <a:cubicBezTo>
                  <a:pt x="1627" y="1121"/>
                  <a:pt x="1627" y="1121"/>
                  <a:pt x="1627" y="1121"/>
                </a:cubicBezTo>
                <a:cubicBezTo>
                  <a:pt x="1720" y="1065"/>
                  <a:pt x="1838" y="1029"/>
                  <a:pt x="1986" y="1029"/>
                </a:cubicBezTo>
                <a:cubicBezTo>
                  <a:pt x="2134" y="1032"/>
                  <a:pt x="2177" y="1101"/>
                  <a:pt x="2177" y="1187"/>
                </a:cubicBezTo>
                <a:cubicBezTo>
                  <a:pt x="2177" y="1302"/>
                  <a:pt x="2042" y="1414"/>
                  <a:pt x="1914" y="1552"/>
                </a:cubicBezTo>
                <a:cubicBezTo>
                  <a:pt x="1729" y="1747"/>
                  <a:pt x="1641" y="1921"/>
                  <a:pt x="1614" y="2099"/>
                </a:cubicBezTo>
                <a:cubicBezTo>
                  <a:pt x="1611" y="2125"/>
                  <a:pt x="1608" y="2155"/>
                  <a:pt x="1604" y="2184"/>
                </a:cubicBezTo>
                <a:cubicBezTo>
                  <a:pt x="2065" y="2184"/>
                  <a:pt x="2065" y="2184"/>
                  <a:pt x="2065" y="2184"/>
                </a:cubicBezTo>
                <a:cubicBezTo>
                  <a:pt x="2072" y="2155"/>
                  <a:pt x="2075" y="2128"/>
                  <a:pt x="2081" y="2105"/>
                </a:cubicBezTo>
                <a:cubicBezTo>
                  <a:pt x="2111" y="1957"/>
                  <a:pt x="2177" y="1845"/>
                  <a:pt x="2305" y="1717"/>
                </a:cubicBezTo>
                <a:cubicBezTo>
                  <a:pt x="2490" y="1526"/>
                  <a:pt x="2664" y="1358"/>
                  <a:pt x="2664" y="1095"/>
                </a:cubicBezTo>
                <a:cubicBezTo>
                  <a:pt x="2664" y="825"/>
                  <a:pt x="2437" y="647"/>
                  <a:pt x="2121" y="647"/>
                </a:cubicBezTo>
                <a:close/>
              </a:path>
            </a:pathLst>
          </a:custGeom>
          <a:solidFill>
            <a:srgbClr val="FF0000"/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anchorCtr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</p:spTree>
  </p:cSld>
  <p:clrMapOvr>
    <a:masterClrMapping/>
  </p:clrMapOvr>
  <p:transition spd="slow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内容占位符 2"/>
          <p:cNvSpPr txBox="1">
            <a:spLocks noGrp="1"/>
          </p:cNvSpPr>
          <p:nvPr>
            <p:ph idx="1"/>
          </p:nvPr>
        </p:nvSpPr>
        <p:spPr>
          <a:xfrm>
            <a:off x="287020" y="1383030"/>
            <a:ext cx="5452110" cy="4092575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marL="0" lvl="0" algn="l">
              <a:buClrTx/>
              <a:buSzTx/>
              <a:buFontTx/>
              <a:buNone/>
            </a:pPr>
            <a:r>
              <a:rPr sz="2000" b="1" dirty="0" err="1">
                <a:solidFill>
                  <a:srgbClr val="002060"/>
                </a:solidFill>
                <a:latin typeface="Times New Roman" pitchFamily="18" charset="0"/>
                <a:ea typeface="楷体" panose="02010609060101010101" pitchFamily="49" charset="-122"/>
                <a:cs typeface="Times New Roman" pitchFamily="18" charset="0"/>
                <a:sym typeface="+mn-ea"/>
              </a:rPr>
              <a:t>def</a:t>
            </a:r>
            <a:r>
              <a:rPr sz="2000" b="1" dirty="0">
                <a:solidFill>
                  <a:srgbClr val="002060"/>
                </a:solidFill>
                <a:latin typeface="Times New Roman" pitchFamily="18" charset="0"/>
                <a:ea typeface="楷体" panose="02010609060101010101" pitchFamily="49" charset="-122"/>
                <a:cs typeface="Times New Roman" pitchFamily="18" charset="0"/>
                <a:sym typeface="+mn-ea"/>
              </a:rPr>
              <a:t> fun(x):</a:t>
            </a:r>
          </a:p>
          <a:p>
            <a:pPr marL="0" lvl="0" algn="l">
              <a:buClrTx/>
              <a:buSzTx/>
              <a:buFontTx/>
              <a:buNone/>
            </a:pPr>
            <a:r>
              <a:rPr sz="2000" b="1" dirty="0">
                <a:solidFill>
                  <a:srgbClr val="002060"/>
                </a:solidFill>
                <a:latin typeface="Times New Roman" pitchFamily="18" charset="0"/>
                <a:ea typeface="楷体" panose="02010609060101010101" pitchFamily="49" charset="-122"/>
                <a:cs typeface="Times New Roman" pitchFamily="18" charset="0"/>
                <a:sym typeface="+mn-ea"/>
              </a:rPr>
              <a:t>    print('</a:t>
            </a:r>
            <a:r>
              <a:rPr sz="2000" b="1" dirty="0" err="1">
                <a:solidFill>
                  <a:srgbClr val="002060"/>
                </a:solidFill>
                <a:latin typeface="Times New Roman" pitchFamily="18" charset="0"/>
                <a:ea typeface="楷体" panose="02010609060101010101" pitchFamily="49" charset="-122"/>
                <a:cs typeface="Times New Roman" pitchFamily="18" charset="0"/>
                <a:sym typeface="+mn-ea"/>
              </a:rPr>
              <a:t>fun函数内部，形参x地址为</a:t>
            </a:r>
            <a:r>
              <a:rPr sz="2000" b="1" dirty="0">
                <a:solidFill>
                  <a:srgbClr val="002060"/>
                </a:solidFill>
                <a:latin typeface="Times New Roman" pitchFamily="18" charset="0"/>
                <a:ea typeface="楷体" panose="02010609060101010101" pitchFamily="49" charset="-122"/>
                <a:cs typeface="Times New Roman" pitchFamily="18" charset="0"/>
                <a:sym typeface="+mn-ea"/>
              </a:rPr>
              <a:t>:',id(x))</a:t>
            </a:r>
          </a:p>
          <a:p>
            <a:pPr marL="0" lvl="0" algn="l">
              <a:buClrTx/>
              <a:buSzTx/>
              <a:buFontTx/>
              <a:buNone/>
            </a:pPr>
            <a:r>
              <a:rPr sz="2000" b="1" dirty="0">
                <a:solidFill>
                  <a:srgbClr val="002060"/>
                </a:solidFill>
                <a:latin typeface="Times New Roman" pitchFamily="18" charset="0"/>
                <a:ea typeface="楷体" panose="02010609060101010101" pitchFamily="49" charset="-122"/>
                <a:cs typeface="Times New Roman" pitchFamily="18" charset="0"/>
                <a:sym typeface="+mn-ea"/>
              </a:rPr>
              <a:t>    print('</a:t>
            </a:r>
            <a:r>
              <a:rPr sz="2000" b="1" dirty="0" err="1">
                <a:solidFill>
                  <a:srgbClr val="002060"/>
                </a:solidFill>
                <a:latin typeface="Times New Roman" pitchFamily="18" charset="0"/>
                <a:ea typeface="楷体" panose="02010609060101010101" pitchFamily="49" charset="-122"/>
                <a:cs typeface="Times New Roman" pitchFamily="18" charset="0"/>
                <a:sym typeface="+mn-ea"/>
              </a:rPr>
              <a:t>fun函数内部，形参x的值为</a:t>
            </a:r>
            <a:r>
              <a:rPr sz="2000" b="1" dirty="0">
                <a:solidFill>
                  <a:srgbClr val="002060"/>
                </a:solidFill>
                <a:latin typeface="Times New Roman" pitchFamily="18" charset="0"/>
                <a:ea typeface="楷体" panose="02010609060101010101" pitchFamily="49" charset="-122"/>
                <a:cs typeface="Times New Roman" pitchFamily="18" charset="0"/>
                <a:sym typeface="+mn-ea"/>
              </a:rPr>
              <a:t>:',x)</a:t>
            </a:r>
          </a:p>
          <a:p>
            <a:pPr marL="0" lvl="0" algn="l">
              <a:buClrTx/>
              <a:buSzTx/>
              <a:buFontTx/>
              <a:buNone/>
            </a:pPr>
            <a:r>
              <a:rPr sz="2000" b="1" dirty="0">
                <a:solidFill>
                  <a:srgbClr val="002060"/>
                </a:solidFill>
                <a:latin typeface="Times New Roman" pitchFamily="18" charset="0"/>
                <a:ea typeface="楷体" panose="02010609060101010101" pitchFamily="49" charset="-122"/>
                <a:cs typeface="Times New Roman" pitchFamily="18" charset="0"/>
                <a:sym typeface="+mn-ea"/>
              </a:rPr>
              <a:t>    x = x+1</a:t>
            </a:r>
          </a:p>
          <a:p>
            <a:pPr marL="0" lvl="0" algn="l">
              <a:buClrTx/>
              <a:buSzTx/>
              <a:buFontTx/>
              <a:buNone/>
            </a:pPr>
            <a:r>
              <a:rPr sz="2000" b="1" dirty="0">
                <a:solidFill>
                  <a:srgbClr val="002060"/>
                </a:solidFill>
                <a:latin typeface="Times New Roman" pitchFamily="18" charset="0"/>
                <a:ea typeface="楷体" panose="02010609060101010101" pitchFamily="49" charset="-122"/>
                <a:cs typeface="Times New Roman" pitchFamily="18" charset="0"/>
                <a:sym typeface="+mn-ea"/>
              </a:rPr>
              <a:t>    print('</a:t>
            </a:r>
            <a:r>
              <a:rPr sz="2000" b="1" dirty="0" err="1">
                <a:solidFill>
                  <a:srgbClr val="002060"/>
                </a:solidFill>
                <a:latin typeface="Times New Roman" pitchFamily="18" charset="0"/>
                <a:ea typeface="楷体" panose="02010609060101010101" pitchFamily="49" charset="-122"/>
                <a:cs typeface="Times New Roman" pitchFamily="18" charset="0"/>
                <a:sym typeface="+mn-ea"/>
              </a:rPr>
              <a:t>fun函数内部，x的值更新为</a:t>
            </a:r>
            <a:r>
              <a:rPr sz="2000" b="1" dirty="0">
                <a:solidFill>
                  <a:srgbClr val="002060"/>
                </a:solidFill>
                <a:latin typeface="Times New Roman" pitchFamily="18" charset="0"/>
                <a:ea typeface="楷体" panose="02010609060101010101" pitchFamily="49" charset="-122"/>
                <a:cs typeface="Times New Roman" pitchFamily="18" charset="0"/>
                <a:sym typeface="+mn-ea"/>
              </a:rPr>
              <a:t>:',x)</a:t>
            </a:r>
          </a:p>
          <a:p>
            <a:pPr marL="0" lvl="0" algn="l">
              <a:buClrTx/>
              <a:buSzTx/>
              <a:buFontTx/>
              <a:buNone/>
            </a:pPr>
            <a:r>
              <a:rPr sz="2000" b="1" dirty="0">
                <a:solidFill>
                  <a:srgbClr val="002060"/>
                </a:solidFill>
                <a:latin typeface="Times New Roman" pitchFamily="18" charset="0"/>
                <a:ea typeface="楷体" panose="02010609060101010101" pitchFamily="49" charset="-122"/>
                <a:cs typeface="Times New Roman" pitchFamily="18" charset="0"/>
                <a:sym typeface="+mn-ea"/>
              </a:rPr>
              <a:t>    print('</a:t>
            </a:r>
            <a:r>
              <a:rPr sz="2000" b="1" dirty="0" err="1">
                <a:solidFill>
                  <a:srgbClr val="002060"/>
                </a:solidFill>
                <a:latin typeface="Times New Roman" pitchFamily="18" charset="0"/>
                <a:ea typeface="楷体" panose="02010609060101010101" pitchFamily="49" charset="-122"/>
                <a:cs typeface="Times New Roman" pitchFamily="18" charset="0"/>
                <a:sym typeface="+mn-ea"/>
              </a:rPr>
              <a:t>fun函数内部，x的地址更新为</a:t>
            </a:r>
            <a:r>
              <a:rPr sz="2000" b="1" dirty="0">
                <a:solidFill>
                  <a:srgbClr val="002060"/>
                </a:solidFill>
                <a:latin typeface="Times New Roman" pitchFamily="18" charset="0"/>
                <a:ea typeface="楷体" panose="02010609060101010101" pitchFamily="49" charset="-122"/>
                <a:cs typeface="Times New Roman" pitchFamily="18" charset="0"/>
                <a:sym typeface="+mn-ea"/>
              </a:rPr>
              <a:t>:',id(x))</a:t>
            </a:r>
          </a:p>
          <a:p>
            <a:pPr marL="0" lvl="0" algn="l">
              <a:buClrTx/>
              <a:buSzTx/>
              <a:buFontTx/>
              <a:buNone/>
            </a:pPr>
            <a:endParaRPr sz="2000" b="1" dirty="0">
              <a:solidFill>
                <a:srgbClr val="007A36"/>
              </a:solidFill>
              <a:latin typeface="Times New Roman" pitchFamily="18" charset="0"/>
              <a:ea typeface="楷体" panose="02010609060101010101" pitchFamily="49" charset="-122"/>
              <a:cs typeface="Times New Roman" pitchFamily="18" charset="0"/>
              <a:sym typeface="+mn-ea"/>
            </a:endParaRPr>
          </a:p>
          <a:p>
            <a:pPr marL="0" lvl="0" algn="l">
              <a:buClrTx/>
              <a:buSzTx/>
              <a:buFontTx/>
              <a:buNone/>
            </a:pPr>
            <a:r>
              <a:rPr sz="2000" b="1" dirty="0">
                <a:solidFill>
                  <a:srgbClr val="007A36"/>
                </a:solidFill>
                <a:latin typeface="Times New Roman" pitchFamily="18" charset="0"/>
                <a:ea typeface="楷体" panose="02010609060101010101" pitchFamily="49" charset="-122"/>
                <a:cs typeface="Times New Roman" pitchFamily="18" charset="0"/>
                <a:sym typeface="+mn-ea"/>
              </a:rPr>
              <a:t>a = 3</a:t>
            </a:r>
          </a:p>
          <a:p>
            <a:pPr marL="0" lvl="0" algn="l">
              <a:buClrTx/>
              <a:buSzTx/>
              <a:buFontTx/>
              <a:buNone/>
            </a:pPr>
            <a:r>
              <a:rPr sz="2000" b="1" dirty="0">
                <a:solidFill>
                  <a:srgbClr val="007A36"/>
                </a:solidFill>
                <a:latin typeface="Times New Roman" pitchFamily="18" charset="0"/>
                <a:ea typeface="楷体" panose="02010609060101010101" pitchFamily="49" charset="-122"/>
                <a:cs typeface="Times New Roman" pitchFamily="18" charset="0"/>
                <a:sym typeface="+mn-ea"/>
              </a:rPr>
              <a:t>print('</a:t>
            </a:r>
            <a:r>
              <a:rPr sz="2000" b="1" dirty="0" err="1">
                <a:solidFill>
                  <a:srgbClr val="007A36"/>
                </a:solidFill>
                <a:latin typeface="Times New Roman" pitchFamily="18" charset="0"/>
                <a:ea typeface="楷体" panose="02010609060101010101" pitchFamily="49" charset="-122"/>
                <a:cs typeface="Times New Roman" pitchFamily="18" charset="0"/>
                <a:sym typeface="+mn-ea"/>
              </a:rPr>
              <a:t>在fun函数外部，实参a的地址为</a:t>
            </a:r>
            <a:r>
              <a:rPr sz="2000" b="1" dirty="0">
                <a:solidFill>
                  <a:srgbClr val="007A36"/>
                </a:solidFill>
                <a:latin typeface="Times New Roman" pitchFamily="18" charset="0"/>
                <a:ea typeface="楷体" panose="02010609060101010101" pitchFamily="49" charset="-122"/>
                <a:cs typeface="Times New Roman" pitchFamily="18" charset="0"/>
                <a:sym typeface="+mn-ea"/>
              </a:rPr>
              <a:t>:',id(a))</a:t>
            </a:r>
          </a:p>
          <a:p>
            <a:pPr marL="0" lvl="0" algn="l">
              <a:buClrTx/>
              <a:buSzTx/>
              <a:buFontTx/>
              <a:buNone/>
            </a:pPr>
            <a:r>
              <a:rPr sz="2000" b="1" dirty="0">
                <a:solidFill>
                  <a:srgbClr val="007A36"/>
                </a:solidFill>
                <a:latin typeface="Times New Roman" pitchFamily="18" charset="0"/>
                <a:ea typeface="楷体" panose="02010609060101010101" pitchFamily="49" charset="-122"/>
                <a:cs typeface="Times New Roman" pitchFamily="18" charset="0"/>
                <a:sym typeface="+mn-ea"/>
              </a:rPr>
              <a:t>fun(a)</a:t>
            </a:r>
          </a:p>
          <a:p>
            <a:pPr marL="0" lvl="0" algn="l">
              <a:buClrTx/>
              <a:buSzTx/>
              <a:buFontTx/>
              <a:buNone/>
            </a:pPr>
            <a:r>
              <a:rPr sz="2000" b="1" dirty="0">
                <a:solidFill>
                  <a:srgbClr val="007A36"/>
                </a:solidFill>
                <a:latin typeface="Times New Roman" pitchFamily="18" charset="0"/>
                <a:ea typeface="楷体" panose="02010609060101010101" pitchFamily="49" charset="-122"/>
                <a:cs typeface="Times New Roman" pitchFamily="18" charset="0"/>
                <a:sym typeface="+mn-ea"/>
              </a:rPr>
              <a:t>print('</a:t>
            </a:r>
            <a:r>
              <a:rPr sz="2000" b="1" dirty="0" err="1">
                <a:solidFill>
                  <a:srgbClr val="007A36"/>
                </a:solidFill>
                <a:latin typeface="Times New Roman" pitchFamily="18" charset="0"/>
                <a:ea typeface="楷体" panose="02010609060101010101" pitchFamily="49" charset="-122"/>
                <a:cs typeface="Times New Roman" pitchFamily="18" charset="0"/>
                <a:sym typeface="+mn-ea"/>
              </a:rPr>
              <a:t>调用函数fun后，实参a的值为</a:t>
            </a:r>
            <a:r>
              <a:rPr sz="2000" b="1" dirty="0">
                <a:solidFill>
                  <a:srgbClr val="007A36"/>
                </a:solidFill>
                <a:latin typeface="Times New Roman" pitchFamily="18" charset="0"/>
                <a:ea typeface="楷体" panose="02010609060101010101" pitchFamily="49" charset="-122"/>
                <a:cs typeface="Times New Roman" pitchFamily="18" charset="0"/>
                <a:sym typeface="+mn-ea"/>
              </a:rPr>
              <a:t>:',a)</a:t>
            </a:r>
            <a:endParaRPr lang="en-US" sz="2000" b="1" dirty="0">
              <a:solidFill>
                <a:srgbClr val="007A36"/>
              </a:solidFill>
              <a:latin typeface="Times New Roman" pitchFamily="18" charset="0"/>
              <a:ea typeface="楷体" panose="02010609060101010101" pitchFamily="49" charset="-122"/>
              <a:cs typeface="Times New Roman" pitchFamily="18" charset="0"/>
              <a:sym typeface="+mn-ea"/>
            </a:endParaRPr>
          </a:p>
          <a:p>
            <a:pPr marL="0" lvl="0">
              <a:buNone/>
            </a:pPr>
            <a:r>
              <a:rPr lang="en-US" altLang="zh-CN" sz="2000" b="1" dirty="0">
                <a:solidFill>
                  <a:srgbClr val="007A36"/>
                </a:solidFill>
                <a:latin typeface="Times New Roman" pitchFamily="18" charset="0"/>
                <a:ea typeface="楷体" panose="02010609060101010101" pitchFamily="49" charset="-122"/>
                <a:cs typeface="Times New Roman" pitchFamily="18" charset="0"/>
                <a:sym typeface="+mn-ea"/>
              </a:rPr>
              <a:t>print('</a:t>
            </a:r>
            <a:r>
              <a:rPr lang="zh-CN" altLang="en-US" sz="2000" b="1" dirty="0">
                <a:solidFill>
                  <a:srgbClr val="007A36"/>
                </a:solidFill>
                <a:latin typeface="Times New Roman" pitchFamily="18" charset="0"/>
                <a:ea typeface="楷体" panose="02010609060101010101" pitchFamily="49" charset="-122"/>
                <a:cs typeface="Times New Roman" pitchFamily="18" charset="0"/>
                <a:sym typeface="+mn-ea"/>
              </a:rPr>
              <a:t>调用函数</a:t>
            </a:r>
            <a:r>
              <a:rPr lang="en-US" altLang="zh-CN" sz="2000" b="1" dirty="0">
                <a:solidFill>
                  <a:srgbClr val="007A36"/>
                </a:solidFill>
                <a:latin typeface="Times New Roman" pitchFamily="18" charset="0"/>
                <a:ea typeface="楷体" panose="02010609060101010101" pitchFamily="49" charset="-122"/>
                <a:cs typeface="Times New Roman" pitchFamily="18" charset="0"/>
                <a:sym typeface="+mn-ea"/>
              </a:rPr>
              <a:t>fun</a:t>
            </a:r>
            <a:r>
              <a:rPr lang="zh-CN" altLang="en-US" sz="2000" b="1" dirty="0">
                <a:solidFill>
                  <a:srgbClr val="007A36"/>
                </a:solidFill>
                <a:latin typeface="Times New Roman" pitchFamily="18" charset="0"/>
                <a:ea typeface="楷体" panose="02010609060101010101" pitchFamily="49" charset="-122"/>
                <a:cs typeface="Times New Roman" pitchFamily="18" charset="0"/>
                <a:sym typeface="+mn-ea"/>
              </a:rPr>
              <a:t>后，实参</a:t>
            </a:r>
            <a:r>
              <a:rPr lang="en-US" altLang="zh-CN" sz="2000" b="1" dirty="0">
                <a:solidFill>
                  <a:srgbClr val="007A36"/>
                </a:solidFill>
                <a:latin typeface="Times New Roman" pitchFamily="18" charset="0"/>
                <a:ea typeface="楷体" panose="02010609060101010101" pitchFamily="49" charset="-122"/>
                <a:cs typeface="Times New Roman" pitchFamily="18" charset="0"/>
                <a:sym typeface="+mn-ea"/>
              </a:rPr>
              <a:t>a</a:t>
            </a:r>
            <a:r>
              <a:rPr lang="zh-CN" altLang="en-US" sz="2000" b="1" dirty="0">
                <a:solidFill>
                  <a:srgbClr val="007A36"/>
                </a:solidFill>
                <a:latin typeface="Times New Roman" pitchFamily="18" charset="0"/>
                <a:ea typeface="楷体" panose="02010609060101010101" pitchFamily="49" charset="-122"/>
                <a:cs typeface="Times New Roman" pitchFamily="18" charset="0"/>
                <a:sym typeface="+mn-ea"/>
              </a:rPr>
              <a:t>的地址为</a:t>
            </a:r>
            <a:r>
              <a:rPr lang="en-US" altLang="zh-CN" sz="2000" b="1" dirty="0">
                <a:solidFill>
                  <a:srgbClr val="007A36"/>
                </a:solidFill>
                <a:latin typeface="Times New Roman" pitchFamily="18" charset="0"/>
                <a:ea typeface="楷体" panose="02010609060101010101" pitchFamily="49" charset="-122"/>
                <a:cs typeface="Times New Roman" pitchFamily="18" charset="0"/>
                <a:sym typeface="+mn-ea"/>
              </a:rPr>
              <a:t>:',id(a))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0205369" y="189434"/>
            <a:ext cx="20180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5.4 函数</a:t>
            </a:r>
            <a:endParaRPr 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848985" y="2049145"/>
            <a:ext cx="6116955" cy="261610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Overflow="overflow" horzOverflow="overflow" vert="horz" wrap="square" lIns="91440" tIns="45720" rIns="91440" bIns="45720" numCol="1" spcCol="0" rtlCol="0" fromWordArt="0" anchor="t" anchorCtr="0" compatLnSpc="1">
            <a:spAutoFit/>
          </a:bodyPr>
          <a:lstStyle/>
          <a:p>
            <a:pPr lvl="0" indent="-457200" algn="l">
              <a:spcBef>
                <a:spcPct val="20000"/>
              </a:spcBef>
              <a:buClrTx/>
              <a:buSzTx/>
              <a:buFontTx/>
            </a:pPr>
            <a:r>
              <a:rPr sz="2000" b="1" dirty="0" err="1">
                <a:solidFill>
                  <a:srgbClr val="002060"/>
                </a:solidFill>
                <a:latin typeface="Times New Roman" pitchFamily="18" charset="0"/>
                <a:ea typeface="楷体" panose="02010609060101010101" pitchFamily="49" charset="-122"/>
                <a:cs typeface="Times New Roman" pitchFamily="18" charset="0"/>
                <a:sym typeface="+mn-ea"/>
              </a:rPr>
              <a:t>在fun函数外部，实参a的地址为</a:t>
            </a:r>
            <a:r>
              <a:rPr sz="2000" b="1" dirty="0">
                <a:solidFill>
                  <a:srgbClr val="002060"/>
                </a:solidFill>
                <a:latin typeface="Times New Roman" pitchFamily="18" charset="0"/>
                <a:ea typeface="楷体" panose="02010609060101010101" pitchFamily="49" charset="-122"/>
                <a:cs typeface="Times New Roman" pitchFamily="18" charset="0"/>
                <a:sym typeface="+mn-ea"/>
              </a:rPr>
              <a:t>: 140720554218368</a:t>
            </a:r>
          </a:p>
          <a:p>
            <a:pPr lvl="0" indent="-457200" algn="l">
              <a:spcBef>
                <a:spcPct val="20000"/>
              </a:spcBef>
              <a:buClrTx/>
              <a:buSzTx/>
              <a:buFontTx/>
            </a:pPr>
            <a:r>
              <a:rPr sz="2000" b="1" dirty="0" err="1">
                <a:solidFill>
                  <a:srgbClr val="002060"/>
                </a:solidFill>
                <a:latin typeface="Times New Roman" pitchFamily="18" charset="0"/>
                <a:ea typeface="楷体" panose="02010609060101010101" pitchFamily="49" charset="-122"/>
                <a:cs typeface="Times New Roman" pitchFamily="18" charset="0"/>
                <a:sym typeface="+mn-ea"/>
              </a:rPr>
              <a:t>fun函数内部，形参x地址为</a:t>
            </a:r>
            <a:r>
              <a:rPr sz="2000" b="1" dirty="0">
                <a:solidFill>
                  <a:srgbClr val="002060"/>
                </a:solidFill>
                <a:latin typeface="Times New Roman" pitchFamily="18" charset="0"/>
                <a:ea typeface="楷体" panose="02010609060101010101" pitchFamily="49" charset="-122"/>
                <a:cs typeface="Times New Roman" pitchFamily="18" charset="0"/>
                <a:sym typeface="+mn-ea"/>
              </a:rPr>
              <a:t>: 140720554218368</a:t>
            </a:r>
          </a:p>
          <a:p>
            <a:pPr lvl="0" indent="-457200" algn="l">
              <a:spcBef>
                <a:spcPct val="20000"/>
              </a:spcBef>
              <a:buClrTx/>
              <a:buSzTx/>
              <a:buFontTx/>
            </a:pPr>
            <a:r>
              <a:rPr sz="2000" b="1" dirty="0" err="1">
                <a:solidFill>
                  <a:srgbClr val="002060"/>
                </a:solidFill>
                <a:latin typeface="Times New Roman" pitchFamily="18" charset="0"/>
                <a:ea typeface="楷体" panose="02010609060101010101" pitchFamily="49" charset="-122"/>
                <a:cs typeface="Times New Roman" pitchFamily="18" charset="0"/>
                <a:sym typeface="+mn-ea"/>
              </a:rPr>
              <a:t>fun函数内部，形参x的值为</a:t>
            </a:r>
            <a:r>
              <a:rPr sz="2000" b="1" dirty="0">
                <a:solidFill>
                  <a:srgbClr val="002060"/>
                </a:solidFill>
                <a:latin typeface="Times New Roman" pitchFamily="18" charset="0"/>
                <a:ea typeface="楷体" panose="02010609060101010101" pitchFamily="49" charset="-122"/>
                <a:cs typeface="Times New Roman" pitchFamily="18" charset="0"/>
                <a:sym typeface="+mn-ea"/>
              </a:rPr>
              <a:t>: 3</a:t>
            </a:r>
          </a:p>
          <a:p>
            <a:pPr lvl="0" indent="-457200" algn="l">
              <a:spcBef>
                <a:spcPct val="20000"/>
              </a:spcBef>
              <a:buClrTx/>
              <a:buSzTx/>
              <a:buFontTx/>
            </a:pPr>
            <a:r>
              <a:rPr sz="2000" b="1" dirty="0" err="1">
                <a:solidFill>
                  <a:srgbClr val="002060"/>
                </a:solidFill>
                <a:latin typeface="Times New Roman" pitchFamily="18" charset="0"/>
                <a:ea typeface="楷体" panose="02010609060101010101" pitchFamily="49" charset="-122"/>
                <a:cs typeface="Times New Roman" pitchFamily="18" charset="0"/>
                <a:sym typeface="+mn-ea"/>
              </a:rPr>
              <a:t>fun函数内部，x的值更新为</a:t>
            </a:r>
            <a:r>
              <a:rPr sz="2000" b="1" dirty="0">
                <a:solidFill>
                  <a:srgbClr val="002060"/>
                </a:solidFill>
                <a:latin typeface="Times New Roman" pitchFamily="18" charset="0"/>
                <a:ea typeface="楷体" panose="02010609060101010101" pitchFamily="49" charset="-122"/>
                <a:cs typeface="Times New Roman" pitchFamily="18" charset="0"/>
                <a:sym typeface="+mn-ea"/>
              </a:rPr>
              <a:t>: 4</a:t>
            </a:r>
          </a:p>
          <a:p>
            <a:pPr lvl="0" indent="-457200" algn="l">
              <a:spcBef>
                <a:spcPct val="20000"/>
              </a:spcBef>
              <a:buClrTx/>
              <a:buSzTx/>
              <a:buFontTx/>
            </a:pPr>
            <a:r>
              <a:rPr sz="2000" b="1" dirty="0" err="1">
                <a:solidFill>
                  <a:srgbClr val="002060"/>
                </a:solidFill>
                <a:latin typeface="Times New Roman" pitchFamily="18" charset="0"/>
                <a:ea typeface="楷体" panose="02010609060101010101" pitchFamily="49" charset="-122"/>
                <a:cs typeface="Times New Roman" pitchFamily="18" charset="0"/>
                <a:sym typeface="+mn-ea"/>
              </a:rPr>
              <a:t>fun函数内部，x的地址更新为</a:t>
            </a:r>
            <a:r>
              <a:rPr sz="2000" b="1" dirty="0">
                <a:solidFill>
                  <a:srgbClr val="002060"/>
                </a:solidFill>
                <a:latin typeface="Times New Roman" pitchFamily="18" charset="0"/>
                <a:ea typeface="楷体" panose="02010609060101010101" pitchFamily="49" charset="-122"/>
                <a:cs typeface="Times New Roman" pitchFamily="18" charset="0"/>
                <a:sym typeface="+mn-ea"/>
              </a:rPr>
              <a:t>: 140720554218400</a:t>
            </a:r>
          </a:p>
          <a:p>
            <a:pPr lvl="0" indent="-457200" algn="l">
              <a:spcBef>
                <a:spcPct val="20000"/>
              </a:spcBef>
              <a:buClrTx/>
              <a:buSzTx/>
              <a:buFontTx/>
            </a:pPr>
            <a:r>
              <a:rPr sz="2000" b="1" dirty="0" err="1">
                <a:solidFill>
                  <a:srgbClr val="002060"/>
                </a:solidFill>
                <a:latin typeface="Times New Roman" pitchFamily="18" charset="0"/>
                <a:ea typeface="楷体" panose="02010609060101010101" pitchFamily="49" charset="-122"/>
                <a:cs typeface="Times New Roman" pitchFamily="18" charset="0"/>
                <a:sym typeface="+mn-ea"/>
              </a:rPr>
              <a:t>调用函数fun后，实参a的值为</a:t>
            </a:r>
            <a:r>
              <a:rPr sz="2000" b="1" dirty="0">
                <a:solidFill>
                  <a:srgbClr val="002060"/>
                </a:solidFill>
                <a:latin typeface="Times New Roman" pitchFamily="18" charset="0"/>
                <a:ea typeface="楷体" panose="02010609060101010101" pitchFamily="49" charset="-122"/>
                <a:cs typeface="Times New Roman" pitchFamily="18" charset="0"/>
                <a:sym typeface="+mn-ea"/>
              </a:rPr>
              <a:t>: 3</a:t>
            </a:r>
            <a:endParaRPr lang="en-US" sz="2000" b="1" dirty="0">
              <a:solidFill>
                <a:srgbClr val="002060"/>
              </a:solidFill>
              <a:latin typeface="Times New Roman" pitchFamily="18" charset="0"/>
              <a:ea typeface="楷体" panose="02010609060101010101" pitchFamily="49" charset="-122"/>
              <a:cs typeface="Times New Roman" pitchFamily="18" charset="0"/>
              <a:sym typeface="+mn-ea"/>
            </a:endParaRPr>
          </a:p>
          <a:p>
            <a:pPr lvl="0" indent="-457200">
              <a:spcBef>
                <a:spcPct val="20000"/>
              </a:spcBef>
            </a:pPr>
            <a:r>
              <a:rPr lang="zh-CN" altLang="en-US" sz="2000" b="1" dirty="0">
                <a:solidFill>
                  <a:srgbClr val="002060"/>
                </a:solidFill>
                <a:latin typeface="Times New Roman" pitchFamily="18" charset="0"/>
                <a:ea typeface="楷体" panose="02010609060101010101" pitchFamily="49" charset="-122"/>
                <a:cs typeface="Times New Roman" pitchFamily="18" charset="0"/>
                <a:sym typeface="+mn-ea"/>
              </a:rPr>
              <a:t>调用函数</a:t>
            </a:r>
            <a:r>
              <a:rPr lang="en-US" altLang="zh-CN" sz="2000" b="1" dirty="0">
                <a:solidFill>
                  <a:srgbClr val="002060"/>
                </a:solidFill>
                <a:latin typeface="Times New Roman" pitchFamily="18" charset="0"/>
                <a:ea typeface="楷体" panose="02010609060101010101" pitchFamily="49" charset="-122"/>
                <a:cs typeface="Times New Roman" pitchFamily="18" charset="0"/>
                <a:sym typeface="+mn-ea"/>
              </a:rPr>
              <a:t>fun</a:t>
            </a:r>
            <a:r>
              <a:rPr lang="zh-CN" altLang="en-US" sz="2000" b="1" dirty="0">
                <a:solidFill>
                  <a:srgbClr val="002060"/>
                </a:solidFill>
                <a:latin typeface="Times New Roman" pitchFamily="18" charset="0"/>
                <a:ea typeface="楷体" panose="02010609060101010101" pitchFamily="49" charset="-122"/>
                <a:cs typeface="Times New Roman" pitchFamily="18" charset="0"/>
                <a:sym typeface="+mn-ea"/>
              </a:rPr>
              <a:t>后，实参</a:t>
            </a:r>
            <a:r>
              <a:rPr lang="en-US" altLang="zh-CN" sz="2000" b="1" dirty="0">
                <a:solidFill>
                  <a:srgbClr val="002060"/>
                </a:solidFill>
                <a:latin typeface="Times New Roman" pitchFamily="18" charset="0"/>
                <a:ea typeface="楷体" panose="02010609060101010101" pitchFamily="49" charset="-122"/>
                <a:cs typeface="Times New Roman" pitchFamily="18" charset="0"/>
                <a:sym typeface="+mn-ea"/>
              </a:rPr>
              <a:t>a</a:t>
            </a:r>
            <a:r>
              <a:rPr lang="zh-CN" altLang="en-US" sz="2000" b="1" dirty="0">
                <a:solidFill>
                  <a:srgbClr val="002060"/>
                </a:solidFill>
                <a:latin typeface="Times New Roman" pitchFamily="18" charset="0"/>
                <a:ea typeface="楷体" panose="02010609060101010101" pitchFamily="49" charset="-122"/>
                <a:cs typeface="Times New Roman" pitchFamily="18" charset="0"/>
                <a:sym typeface="+mn-ea"/>
              </a:rPr>
              <a:t>的地址为</a:t>
            </a:r>
            <a:r>
              <a:rPr lang="en-US" altLang="zh-CN" sz="2000" b="1" dirty="0">
                <a:solidFill>
                  <a:srgbClr val="002060"/>
                </a:solidFill>
                <a:latin typeface="Times New Roman" pitchFamily="18" charset="0"/>
                <a:ea typeface="楷体" panose="02010609060101010101" pitchFamily="49" charset="-122"/>
                <a:cs typeface="Times New Roman" pitchFamily="18" charset="0"/>
                <a:sym typeface="+mn-ea"/>
              </a:rPr>
              <a:t>: 140720554218368</a:t>
            </a:r>
            <a:endParaRPr sz="2000" b="1" dirty="0">
              <a:solidFill>
                <a:srgbClr val="002060"/>
              </a:solidFill>
              <a:latin typeface="Times New Roman" pitchFamily="18" charset="0"/>
              <a:ea typeface="楷体" panose="02010609060101010101" pitchFamily="49" charset="-122"/>
              <a:cs typeface="Times New Roman" pitchFamily="18" charset="0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155690" y="5475605"/>
            <a:ext cx="1808480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  <a:sym typeface="+mn-ea"/>
              </a:rPr>
              <a:t>引用传递</a:t>
            </a:r>
          </a:p>
        </p:txBody>
      </p:sp>
    </p:spTree>
  </p:cSld>
  <p:clrMapOvr>
    <a:masterClrMapping/>
  </p:clrMapOvr>
  <p:transition spd="slow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" grpId="1" build="p" animBg="1"/>
      <p:bldP spid="4" grpId="0" bldLvl="0" animBg="1"/>
      <p:bldP spid="5" grpId="0"/>
      <p:bldP spid="5" grpId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0205369" y="189434"/>
            <a:ext cx="20180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5.4 函数</a:t>
            </a:r>
            <a:endParaRPr 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1"/>
          <p:cNvSpPr>
            <a:spLocks noGrp="1"/>
          </p:cNvSpPr>
          <p:nvPr/>
        </p:nvSpPr>
        <p:spPr>
          <a:xfrm>
            <a:off x="266527" y="909514"/>
            <a:ext cx="8245415" cy="652402"/>
          </a:xfrm>
        </p:spPr>
        <p:txBody>
          <a:bodyPr vert="horz" wrap="square" lIns="91456" tIns="45728" rIns="91456" bIns="45728" numCol="1" anchor="b" anchorCtr="0" compatLnSpc="1"/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、函数的传递方式</a:t>
            </a:r>
          </a:p>
        </p:txBody>
      </p:sp>
      <p:sp>
        <p:nvSpPr>
          <p:cNvPr id="7" name="内容占位符 2"/>
          <p:cNvSpPr>
            <a:spLocks noGrp="1"/>
          </p:cNvSpPr>
          <p:nvPr/>
        </p:nvSpPr>
        <p:spPr>
          <a:xfrm>
            <a:off x="407035" y="1773610"/>
            <a:ext cx="11384280" cy="2167076"/>
          </a:xfrm>
        </p:spPr>
        <p:txBody>
          <a:bodyPr vert="horz" wrap="square" lIns="91456" tIns="45728" rIns="91456" bIns="45728" anchor="t"/>
          <a:lstStyle>
            <a:lvl1pPr marL="457200" indent="-4572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4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1235" indent="-3810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4635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4235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447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407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67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905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505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30000"/>
              </a:lnSpc>
              <a:spcBef>
                <a:spcPts val="20"/>
              </a:spcBef>
              <a:spcAft>
                <a:spcPts val="0"/>
              </a:spcAft>
              <a:buNone/>
            </a:pP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   Python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通过</a:t>
            </a: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名称绑定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的机制，把实际参数的值和形式参数的名称绑定在一起，即把形式参数传递到函数所在的局部命名空间中，形式参数和实际参数指向内存中同一个存储空间，实质上传递的是地址，地址即引用。（</a:t>
            </a:r>
            <a:r>
              <a:rPr lang="zh-CN" altLang="en-US" sz="2400" b="1" dirty="0">
                <a:solidFill>
                  <a:srgbClr val="FF0000"/>
                </a:solidFill>
                <a:latin typeface="方正大黑简体" panose="03000509000000000000" pitchFamily="2" charset="-122"/>
                <a:ea typeface="方正大黑简体" panose="03000509000000000000" pitchFamily="2" charset="-122"/>
                <a:cs typeface="楷体" panose="02010609060101010101" pitchFamily="49" charset="-122"/>
              </a:rPr>
              <a:t>引用传递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）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295844" y="3470506"/>
            <a:ext cx="11384915" cy="161274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   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注意传递参数时要区分</a:t>
            </a:r>
            <a:r>
              <a:rPr lang="zh-CN" altLang="en-US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可变对象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和</a:t>
            </a:r>
            <a:r>
              <a:rPr lang="zh-CN" altLang="en-US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不可变对象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。</a:t>
            </a:r>
          </a:p>
          <a:p>
            <a:pPr marL="0" indent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   </a:t>
            </a:r>
            <a:r>
              <a:rPr lang="zh-CN" altLang="en-US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可变对象作参数：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传递的就是地址，修改形参，等同修改了实参。</a:t>
            </a:r>
          </a:p>
          <a:p>
            <a:pPr marL="0" indent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   </a:t>
            </a:r>
            <a:r>
              <a:rPr lang="zh-CN" altLang="en-US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不可变对象作参数：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重构实参副本，对形参任何修改，不会对实参造成影响</a:t>
            </a:r>
          </a:p>
        </p:txBody>
      </p:sp>
    </p:spTree>
  </p:cSld>
  <p:clrMapOvr>
    <a:masterClrMapping/>
  </p:clrMapOvr>
  <p:transition spd="slow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  <p:bldP spid="8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内容占位符 2"/>
          <p:cNvSpPr txBox="1">
            <a:spLocks noGrp="1"/>
          </p:cNvSpPr>
          <p:nvPr>
            <p:ph idx="1"/>
          </p:nvPr>
        </p:nvSpPr>
        <p:spPr>
          <a:xfrm>
            <a:off x="1196975" y="1362075"/>
            <a:ext cx="5141595" cy="3562350"/>
          </a:xfr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marL="0" lvl="0" algn="l">
              <a:buClrTx/>
              <a:buSzTx/>
              <a:buFontTx/>
              <a:buNone/>
            </a:pPr>
            <a:r>
              <a:rPr sz="2400" b="1">
                <a:solidFill>
                  <a:srgbClr val="002060"/>
                </a:solidFill>
                <a:latin typeface="Tahoma" panose="020B0604030504040204" pitchFamily="34" charset="0"/>
                <a:ea typeface="楷体" panose="02010609060101010101" pitchFamily="49" charset="-122"/>
                <a:cs typeface="Tahoma" panose="020B0604030504040204" pitchFamily="34" charset="0"/>
                <a:sym typeface="+mn-ea"/>
              </a:rPr>
              <a:t>def changecolor(s):</a:t>
            </a:r>
          </a:p>
          <a:p>
            <a:pPr marL="0" lvl="0" algn="l">
              <a:buClrTx/>
              <a:buSzTx/>
              <a:buFontTx/>
              <a:buNone/>
            </a:pPr>
            <a:r>
              <a:rPr sz="2400" b="1">
                <a:solidFill>
                  <a:srgbClr val="002060"/>
                </a:solidFill>
                <a:latin typeface="Tahoma" panose="020B0604030504040204" pitchFamily="34" charset="0"/>
                <a:ea typeface="楷体" panose="02010609060101010101" pitchFamily="49" charset="-122"/>
                <a:cs typeface="Tahoma" panose="020B0604030504040204" pitchFamily="34" charset="0"/>
                <a:sym typeface="+mn-ea"/>
              </a:rPr>
              <a:t>    print("修改之前的颜色为:",s)</a:t>
            </a:r>
          </a:p>
          <a:p>
            <a:pPr marL="0" lvl="0" algn="l">
              <a:buClrTx/>
              <a:buSzTx/>
              <a:buFontTx/>
              <a:buNone/>
            </a:pPr>
            <a:r>
              <a:rPr sz="2400" b="1">
                <a:solidFill>
                  <a:srgbClr val="002060"/>
                </a:solidFill>
                <a:latin typeface="Tahoma" panose="020B0604030504040204" pitchFamily="34" charset="0"/>
                <a:ea typeface="楷体" panose="02010609060101010101" pitchFamily="49" charset="-122"/>
                <a:cs typeface="Tahoma" panose="020B0604030504040204" pitchFamily="34" charset="0"/>
                <a:sym typeface="+mn-ea"/>
              </a:rPr>
              <a:t>    s = "Blue"</a:t>
            </a:r>
          </a:p>
          <a:p>
            <a:pPr marL="0" lvl="0" algn="l">
              <a:buClrTx/>
              <a:buSzTx/>
              <a:buFontTx/>
              <a:buNone/>
            </a:pPr>
            <a:r>
              <a:rPr sz="2400" b="1">
                <a:solidFill>
                  <a:srgbClr val="002060"/>
                </a:solidFill>
                <a:latin typeface="Tahoma" panose="020B0604030504040204" pitchFamily="34" charset="0"/>
                <a:ea typeface="楷体" panose="02010609060101010101" pitchFamily="49" charset="-122"/>
                <a:cs typeface="Tahoma" panose="020B0604030504040204" pitchFamily="34" charset="0"/>
                <a:sym typeface="+mn-ea"/>
              </a:rPr>
              <a:t>    print("修改之后的颜色为:",s)</a:t>
            </a:r>
          </a:p>
          <a:p>
            <a:pPr marL="0" lvl="0" algn="l">
              <a:buClrTx/>
              <a:buSzTx/>
              <a:buFontTx/>
              <a:buNone/>
            </a:pPr>
            <a:endParaRPr sz="2400" b="1">
              <a:solidFill>
                <a:srgbClr val="002060"/>
              </a:solidFill>
              <a:latin typeface="Tahoma" panose="020B0604030504040204" pitchFamily="34" charset="0"/>
              <a:ea typeface="楷体" panose="02010609060101010101" pitchFamily="49" charset="-122"/>
              <a:cs typeface="Tahoma" panose="020B0604030504040204" pitchFamily="34" charset="0"/>
              <a:sym typeface="+mn-ea"/>
            </a:endParaRPr>
          </a:p>
          <a:p>
            <a:pPr marL="0" lvl="0" algn="l">
              <a:buClrTx/>
              <a:buSzTx/>
              <a:buFontTx/>
              <a:buNone/>
            </a:pPr>
            <a:r>
              <a:rPr sz="2400" b="1">
                <a:solidFill>
                  <a:srgbClr val="007A36"/>
                </a:solidFill>
                <a:latin typeface="Tahoma" panose="020B0604030504040204" pitchFamily="34" charset="0"/>
                <a:ea typeface="楷体" panose="02010609060101010101" pitchFamily="49" charset="-122"/>
                <a:cs typeface="Tahoma" panose="020B0604030504040204" pitchFamily="34" charset="0"/>
                <a:sym typeface="+mn-ea"/>
              </a:rPr>
              <a:t>b = "</a:t>
            </a:r>
            <a:r>
              <a:rPr sz="2400" b="1">
                <a:solidFill>
                  <a:srgbClr val="FF0000"/>
                </a:solidFill>
                <a:latin typeface="Tahoma" panose="020B0604030504040204" pitchFamily="34" charset="0"/>
                <a:ea typeface="楷体" panose="02010609060101010101" pitchFamily="49" charset="-122"/>
                <a:cs typeface="Tahoma" panose="020B0604030504040204" pitchFamily="34" charset="0"/>
                <a:sym typeface="+mn-ea"/>
              </a:rPr>
              <a:t>Red</a:t>
            </a:r>
            <a:r>
              <a:rPr sz="2400" b="1">
                <a:solidFill>
                  <a:srgbClr val="007A36"/>
                </a:solidFill>
                <a:latin typeface="Tahoma" panose="020B0604030504040204" pitchFamily="34" charset="0"/>
                <a:ea typeface="楷体" panose="02010609060101010101" pitchFamily="49" charset="-122"/>
                <a:cs typeface="Tahoma" panose="020B0604030504040204" pitchFamily="34" charset="0"/>
                <a:sym typeface="+mn-ea"/>
              </a:rPr>
              <a:t>"</a:t>
            </a:r>
          </a:p>
          <a:p>
            <a:pPr marL="0" lvl="0" algn="l">
              <a:buClrTx/>
              <a:buSzTx/>
              <a:buFontTx/>
              <a:buNone/>
            </a:pPr>
            <a:r>
              <a:rPr sz="2400" b="1">
                <a:solidFill>
                  <a:srgbClr val="007A36"/>
                </a:solidFill>
                <a:latin typeface="Tahoma" panose="020B0604030504040204" pitchFamily="34" charset="0"/>
                <a:ea typeface="楷体" panose="02010609060101010101" pitchFamily="49" charset="-122"/>
                <a:cs typeface="Tahoma" panose="020B0604030504040204" pitchFamily="34" charset="0"/>
                <a:sym typeface="+mn-ea"/>
              </a:rPr>
              <a:t>changecolor(b)</a:t>
            </a:r>
          </a:p>
          <a:p>
            <a:pPr marL="0" lvl="0" algn="l">
              <a:buClrTx/>
              <a:buSzTx/>
              <a:buFontTx/>
              <a:buNone/>
            </a:pPr>
            <a:r>
              <a:rPr sz="2400" b="1">
                <a:solidFill>
                  <a:srgbClr val="007A36"/>
                </a:solidFill>
                <a:latin typeface="Tahoma" panose="020B0604030504040204" pitchFamily="34" charset="0"/>
                <a:ea typeface="楷体" panose="02010609060101010101" pitchFamily="49" charset="-122"/>
                <a:cs typeface="Tahoma" panose="020B0604030504040204" pitchFamily="34" charset="0"/>
                <a:sym typeface="+mn-ea"/>
              </a:rPr>
              <a:t>print(b)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0205369" y="189434"/>
            <a:ext cx="20180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5.4 函数</a:t>
            </a:r>
            <a:endParaRPr 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241540" y="2038350"/>
            <a:ext cx="3879215" cy="134683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Overflow="overflow" horzOverflow="overflow" vert="horz" wrap="square" lIns="91440" tIns="45720" rIns="91440" bIns="45720" numCol="1" spcCol="0" rtlCol="0" fromWordArt="0" anchor="t" anchorCtr="0" compatLnSpc="1">
            <a:spAutoFit/>
          </a:bodyPr>
          <a:lstStyle/>
          <a:p>
            <a:pPr lvl="0" indent="-457200" algn="l">
              <a:spcBef>
                <a:spcPct val="20000"/>
              </a:spcBef>
              <a:buClrTx/>
              <a:buSzTx/>
              <a:buFontTx/>
            </a:pPr>
            <a:r>
              <a:rPr b="1">
                <a:solidFill>
                  <a:srgbClr val="002060"/>
                </a:solidFill>
                <a:latin typeface="Tahoma" panose="020B0604030504040204" pitchFamily="34" charset="0"/>
                <a:ea typeface="楷体" panose="02010609060101010101" pitchFamily="49" charset="-122"/>
                <a:cs typeface="Tahoma" panose="020B0604030504040204" pitchFamily="34" charset="0"/>
                <a:sym typeface="+mn-ea"/>
              </a:rPr>
              <a:t>修改之前的颜色为: </a:t>
            </a:r>
            <a:r>
              <a:rPr b="1">
                <a:solidFill>
                  <a:srgbClr val="FF0000"/>
                </a:solidFill>
                <a:latin typeface="Tahoma" panose="020B0604030504040204" pitchFamily="34" charset="0"/>
                <a:ea typeface="楷体" panose="02010609060101010101" pitchFamily="49" charset="-122"/>
                <a:cs typeface="Tahoma" panose="020B0604030504040204" pitchFamily="34" charset="0"/>
                <a:sym typeface="+mn-ea"/>
              </a:rPr>
              <a:t>Red</a:t>
            </a:r>
            <a:endParaRPr b="1">
              <a:solidFill>
                <a:srgbClr val="002060"/>
              </a:solidFill>
              <a:latin typeface="Tahoma" panose="020B0604030504040204" pitchFamily="34" charset="0"/>
              <a:ea typeface="楷体" panose="02010609060101010101" pitchFamily="49" charset="-122"/>
              <a:cs typeface="Tahoma" panose="020B0604030504040204" pitchFamily="34" charset="0"/>
              <a:sym typeface="+mn-ea"/>
            </a:endParaRPr>
          </a:p>
          <a:p>
            <a:pPr lvl="0" indent="-457200" algn="l">
              <a:spcBef>
                <a:spcPct val="20000"/>
              </a:spcBef>
              <a:buClrTx/>
              <a:buSzTx/>
              <a:buFontTx/>
            </a:pPr>
            <a:r>
              <a:rPr b="1">
                <a:solidFill>
                  <a:srgbClr val="002060"/>
                </a:solidFill>
                <a:latin typeface="Tahoma" panose="020B0604030504040204" pitchFamily="34" charset="0"/>
                <a:ea typeface="楷体" panose="02010609060101010101" pitchFamily="49" charset="-122"/>
                <a:cs typeface="Tahoma" panose="020B0604030504040204" pitchFamily="34" charset="0"/>
                <a:sym typeface="+mn-ea"/>
              </a:rPr>
              <a:t>修改之后的颜色为: Blue</a:t>
            </a:r>
          </a:p>
          <a:p>
            <a:pPr lvl="0" indent="-457200" algn="l">
              <a:spcBef>
                <a:spcPct val="20000"/>
              </a:spcBef>
              <a:buClrTx/>
              <a:buSzTx/>
              <a:buFontTx/>
            </a:pPr>
            <a:r>
              <a:rPr b="1">
                <a:solidFill>
                  <a:srgbClr val="FF0000"/>
                </a:solidFill>
                <a:latin typeface="Tahoma" panose="020B0604030504040204" pitchFamily="34" charset="0"/>
                <a:ea typeface="楷体" panose="02010609060101010101" pitchFamily="49" charset="-122"/>
                <a:cs typeface="Tahoma" panose="020B0604030504040204" pitchFamily="34" charset="0"/>
                <a:sym typeface="+mn-ea"/>
              </a:rPr>
              <a:t>Red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7882255" y="923925"/>
            <a:ext cx="3840480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  <a:sym typeface="+mn-ea"/>
              </a:rPr>
              <a:t>不可变对象作为参数</a:t>
            </a:r>
          </a:p>
        </p:txBody>
      </p:sp>
    </p:spTree>
  </p:cSld>
  <p:clrMapOvr>
    <a:masterClrMapping/>
  </p:clrMapOvr>
  <p:transition spd="slow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" grpId="1" build="p" animBg="1"/>
      <p:bldP spid="4" grpId="0" bldLvl="0" animBg="1"/>
      <p:bldP spid="5" grpId="1"/>
      <p:bldP spid="5" grpId="2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内容占位符 2"/>
          <p:cNvSpPr txBox="1">
            <a:spLocks noGrp="1"/>
          </p:cNvSpPr>
          <p:nvPr>
            <p:ph idx="1"/>
          </p:nvPr>
        </p:nvSpPr>
        <p:spPr>
          <a:xfrm>
            <a:off x="1122680" y="1383030"/>
            <a:ext cx="5141595" cy="3622675"/>
          </a:xfr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marL="0" lvl="0" algn="l">
              <a:buClrTx/>
              <a:buSzTx/>
              <a:buFontTx/>
              <a:buNone/>
            </a:pPr>
            <a:r>
              <a:rPr sz="28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ha" panose="020B0604020202020204" charset="0"/>
                <a:sym typeface="+mn-ea"/>
              </a:rPr>
              <a:t>def changelist(a):</a:t>
            </a:r>
          </a:p>
          <a:p>
            <a:pPr marL="0" lvl="0" algn="l">
              <a:buClrTx/>
              <a:buSzTx/>
              <a:buFontTx/>
              <a:buNone/>
            </a:pPr>
            <a:r>
              <a:rPr sz="28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ha" panose="020B0604020202020204" charset="0"/>
                <a:sym typeface="+mn-ea"/>
              </a:rPr>
              <a:t>    a.append("Anhui")</a:t>
            </a:r>
          </a:p>
          <a:p>
            <a:pPr marL="0" lvl="0" algn="l">
              <a:buClrTx/>
              <a:buSzTx/>
              <a:buFontTx/>
              <a:buNone/>
            </a:pPr>
            <a:r>
              <a:rPr sz="28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ha" panose="020B0604020202020204" charset="0"/>
                <a:sym typeface="+mn-ea"/>
              </a:rPr>
              <a:t>    return a</a:t>
            </a:r>
          </a:p>
          <a:p>
            <a:pPr marL="0" lvl="0" algn="l">
              <a:buClrTx/>
              <a:buSzTx/>
              <a:buFontTx/>
              <a:buNone/>
            </a:pPr>
            <a:endParaRPr sz="2800" b="1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atha" panose="020B0604020202020204" charset="0"/>
              <a:sym typeface="+mn-ea"/>
            </a:endParaRPr>
          </a:p>
          <a:p>
            <a:pPr marL="0" lvl="0" algn="l">
              <a:buClrTx/>
              <a:buSzTx/>
              <a:buFontTx/>
              <a:buNone/>
            </a:pPr>
            <a:r>
              <a:rPr sz="2800" b="1">
                <a:solidFill>
                  <a:srgbClr val="007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ha" panose="020B0604020202020204" charset="0"/>
                <a:sym typeface="+mn-ea"/>
              </a:rPr>
              <a:t>x = [1,2,3]</a:t>
            </a:r>
          </a:p>
          <a:p>
            <a:pPr marL="0" lvl="0" algn="l">
              <a:buClrTx/>
              <a:buSzTx/>
              <a:buFontTx/>
              <a:buNone/>
            </a:pPr>
            <a:r>
              <a:rPr sz="2800" b="1">
                <a:solidFill>
                  <a:srgbClr val="007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ha" panose="020B0604020202020204" charset="0"/>
                <a:sym typeface="+mn-ea"/>
              </a:rPr>
              <a:t>changelist(x)</a:t>
            </a:r>
          </a:p>
          <a:p>
            <a:pPr marL="0" lvl="0" algn="l">
              <a:buClrTx/>
              <a:buSzTx/>
              <a:buFontTx/>
              <a:buNone/>
            </a:pPr>
            <a:r>
              <a:rPr sz="2800" b="1">
                <a:solidFill>
                  <a:srgbClr val="007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ha" panose="020B0604020202020204" charset="0"/>
                <a:sym typeface="+mn-ea"/>
              </a:rPr>
              <a:t>print(x)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0205369" y="189434"/>
            <a:ext cx="20180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5.4 函数</a:t>
            </a:r>
            <a:endParaRPr 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115810" y="2712720"/>
            <a:ext cx="3879215" cy="46037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Overflow="overflow" horzOverflow="overflow" vert="horz" wrap="square" lIns="91440" tIns="45720" rIns="91440" bIns="45720" numCol="1" spcCol="0" rtlCol="0" fromWordArt="0" anchor="t" anchorCtr="0" compatLnSpc="1">
            <a:spAutoFit/>
          </a:bodyPr>
          <a:lstStyle/>
          <a:p>
            <a:pPr lvl="0" indent="-457200" algn="l">
              <a:spcBef>
                <a:spcPct val="20000"/>
              </a:spcBef>
              <a:buClrTx/>
              <a:buSzTx/>
              <a:buFontTx/>
            </a:pPr>
            <a:r>
              <a:rPr b="1">
                <a:latin typeface="微软雅黑" panose="020B0503020204020204" pitchFamily="34" charset="-122"/>
                <a:ea typeface="微软雅黑" panose="020B0503020204020204" pitchFamily="34" charset="-122"/>
                <a:cs typeface="Latha" panose="020B0604020202020204" charset="0"/>
                <a:sym typeface="+mn-ea"/>
              </a:rPr>
              <a:t>[1, 2, 3, </a:t>
            </a:r>
            <a:r>
              <a:rPr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ha" panose="020B0604020202020204" charset="0"/>
                <a:sym typeface="+mn-ea"/>
              </a:rPr>
              <a:t>'Anhui'</a:t>
            </a:r>
            <a:r>
              <a:rPr b="1">
                <a:latin typeface="微软雅黑" panose="020B0503020204020204" pitchFamily="34" charset="-122"/>
                <a:ea typeface="微软雅黑" panose="020B0503020204020204" pitchFamily="34" charset="-122"/>
                <a:cs typeface="Latha" panose="020B0604020202020204" charset="0"/>
                <a:sym typeface="+mn-ea"/>
              </a:rPr>
              <a:t>]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7882255" y="923925"/>
            <a:ext cx="3434080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  <a:sym typeface="+mn-ea"/>
              </a:rPr>
              <a:t>可变对象作为参数</a:t>
            </a:r>
          </a:p>
        </p:txBody>
      </p:sp>
    </p:spTree>
  </p:cSld>
  <p:clrMapOvr>
    <a:masterClrMapping/>
  </p:clrMapOvr>
  <p:transition spd="slow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" grpId="1" build="p" animBg="1"/>
      <p:bldP spid="4" grpId="0" bldLvl="0" animBg="1"/>
      <p:bldP spid="5" grpId="1"/>
      <p:bldP spid="5" grpId="2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0205369" y="189434"/>
            <a:ext cx="20180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5.4 函数</a:t>
            </a:r>
            <a:endParaRPr 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1"/>
          <p:cNvSpPr>
            <a:spLocks noGrp="1"/>
          </p:cNvSpPr>
          <p:nvPr/>
        </p:nvSpPr>
        <p:spPr>
          <a:xfrm>
            <a:off x="266527" y="909514"/>
            <a:ext cx="8245415" cy="652402"/>
          </a:xfrm>
        </p:spPr>
        <p:txBody>
          <a:bodyPr vert="horz" wrap="square" lIns="91456" tIns="45728" rIns="91456" bIns="45728" numCol="1" anchor="b" anchorCtr="0" compatLnSpc="1"/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、函数参数的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花式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传递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内容占位符 2"/>
          <p:cNvSpPr>
            <a:spLocks noGrp="1"/>
          </p:cNvSpPr>
          <p:nvPr/>
        </p:nvSpPr>
        <p:spPr>
          <a:xfrm>
            <a:off x="2816860" y="2131695"/>
            <a:ext cx="3941445" cy="2595245"/>
          </a:xfrm>
        </p:spPr>
        <p:txBody>
          <a:bodyPr vert="horz" wrap="square" lIns="91456" tIns="45728" rIns="91456" bIns="45728" anchor="t"/>
          <a:lstStyle>
            <a:lvl1pPr marL="457200" indent="-4572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4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1235" indent="-3810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4635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4235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447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407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67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905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505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30000"/>
              </a:lnSpc>
              <a:spcBef>
                <a:spcPts val="20"/>
              </a:spcBef>
              <a:spcAft>
                <a:spcPts val="0"/>
              </a:spcAft>
              <a:buFont typeface="Wingdings" panose="05000000000000000000" charset="0"/>
              <a:buChar char="n"/>
            </a:pPr>
            <a:r>
              <a:rPr lang="zh-CN" sz="2800" b="1" dirty="0">
                <a:solidFill>
                  <a:schemeClr val="accent1"/>
                </a:solidFill>
                <a:latin typeface="方正大黑简体" panose="03000509000000000000" pitchFamily="2" charset="-122"/>
                <a:ea typeface="方正大黑简体" panose="03000509000000000000" pitchFamily="2" charset="-122"/>
                <a:cs typeface="楷体" panose="02010609060101010101" pitchFamily="49" charset="-122"/>
              </a:rPr>
              <a:t>位置参数</a:t>
            </a:r>
          </a:p>
          <a:p>
            <a:pPr algn="just">
              <a:lnSpc>
                <a:spcPct val="130000"/>
              </a:lnSpc>
              <a:spcBef>
                <a:spcPts val="20"/>
              </a:spcBef>
              <a:spcAft>
                <a:spcPts val="0"/>
              </a:spcAft>
              <a:buFont typeface="Wingdings" panose="05000000000000000000" charset="0"/>
              <a:buChar char="n"/>
            </a:pPr>
            <a:r>
              <a:rPr lang="zh-CN" sz="2800" b="1" dirty="0">
                <a:solidFill>
                  <a:schemeClr val="accent1"/>
                </a:solidFill>
                <a:latin typeface="方正大黑简体" panose="03000509000000000000" pitchFamily="2" charset="-122"/>
                <a:ea typeface="方正大黑简体" panose="03000509000000000000" pitchFamily="2" charset="-122"/>
                <a:cs typeface="楷体" panose="02010609060101010101" pitchFamily="49" charset="-122"/>
              </a:rPr>
              <a:t>关键字参数</a:t>
            </a:r>
          </a:p>
          <a:p>
            <a:pPr algn="just">
              <a:lnSpc>
                <a:spcPct val="130000"/>
              </a:lnSpc>
              <a:spcBef>
                <a:spcPts val="20"/>
              </a:spcBef>
              <a:spcAft>
                <a:spcPts val="0"/>
              </a:spcAft>
              <a:buFont typeface="Wingdings" panose="05000000000000000000" charset="0"/>
              <a:buChar char="n"/>
            </a:pPr>
            <a:r>
              <a:rPr lang="zh-CN" sz="2800" b="1" dirty="0">
                <a:solidFill>
                  <a:schemeClr val="accent1"/>
                </a:solidFill>
                <a:latin typeface="方正大黑简体" panose="03000509000000000000" pitchFamily="2" charset="-122"/>
                <a:ea typeface="方正大黑简体" panose="03000509000000000000" pitchFamily="2" charset="-122"/>
                <a:cs typeface="楷体" panose="02010609060101010101" pitchFamily="49" charset="-122"/>
              </a:rPr>
              <a:t>可变参数</a:t>
            </a:r>
          </a:p>
          <a:p>
            <a:pPr algn="just">
              <a:lnSpc>
                <a:spcPct val="130000"/>
              </a:lnSpc>
              <a:spcBef>
                <a:spcPts val="20"/>
              </a:spcBef>
              <a:spcAft>
                <a:spcPts val="0"/>
              </a:spcAft>
              <a:buFont typeface="Wingdings" panose="05000000000000000000" charset="0"/>
              <a:buChar char="n"/>
            </a:pPr>
            <a:r>
              <a:rPr lang="zh-CN" sz="2800" b="1" dirty="0">
                <a:solidFill>
                  <a:schemeClr val="accent1"/>
                </a:solidFill>
                <a:latin typeface="方正大黑简体" panose="03000509000000000000" pitchFamily="2" charset="-122"/>
                <a:ea typeface="方正大黑简体" panose="03000509000000000000" pitchFamily="2" charset="-122"/>
                <a:cs typeface="楷体" panose="02010609060101010101" pitchFamily="49" charset="-122"/>
              </a:rPr>
              <a:t>默认参数</a:t>
            </a:r>
          </a:p>
        </p:txBody>
      </p:sp>
    </p:spTree>
  </p:cSld>
  <p:clrMapOvr>
    <a:masterClrMapping/>
  </p:clrMapOvr>
  <p:transition spd="slow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66700" y="792480"/>
            <a:ext cx="10258425" cy="714375"/>
          </a:xfrm>
        </p:spPr>
        <p:txBody>
          <a:bodyPr vert="horz" wrap="square" lIns="91456" tIns="45728" rIns="91456" bIns="45728" numCol="1" anchor="b" anchorCtr="0" compatLnSpc="1"/>
          <a:lstStyle/>
          <a:p>
            <a:pPr lvl="0" algn="l" defTabSz="914400" eaLnBrk="0" fontAlgn="base" hangingPunct="0">
              <a:lnSpc>
                <a:spcPct val="90000"/>
              </a:lnSpc>
              <a:spcAft>
                <a:spcPct val="0"/>
              </a:spcAft>
              <a:defRPr/>
            </a:pPr>
            <a:r>
              <a:rPr lang="en-US" altLang="zh-CN" sz="2800" b="1" kern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800" b="1" kern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800" b="1" kern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函数参数的</a:t>
            </a:r>
            <a:r>
              <a:rPr lang="en-US" altLang="zh-CN" sz="2800" b="1" kern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“</a:t>
            </a:r>
            <a:r>
              <a:rPr lang="zh-CN" altLang="en-US" sz="2800" b="1" kern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花式</a:t>
            </a:r>
            <a:r>
              <a:rPr lang="en-US" altLang="zh-CN" sz="2800" b="1" kern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”</a:t>
            </a:r>
            <a:r>
              <a:rPr lang="zh-CN" altLang="en-US" sz="2800" b="1" kern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传递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315" name="内容占位符 2"/>
          <p:cNvSpPr>
            <a:spLocks noGrp="1"/>
          </p:cNvSpPr>
          <p:nvPr>
            <p:ph idx="1"/>
          </p:nvPr>
        </p:nvSpPr>
        <p:spPr>
          <a:xfrm>
            <a:off x="518160" y="2245360"/>
            <a:ext cx="11161395" cy="1478915"/>
          </a:xfrm>
        </p:spPr>
        <p:txBody>
          <a:bodyPr vert="horz" wrap="square" lIns="91456" tIns="45728" rIns="91456" bIns="45728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位置参数：依据参数的位置而定，调用时，实参必须按照形参的类型一一对应（与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语言相似</a:t>
            </a:r>
            <a:r>
              <a:rPr 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10205369" y="189434"/>
            <a:ext cx="20180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5.4 函数</a:t>
            </a:r>
            <a:endParaRPr 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84835" y="1629410"/>
            <a:ext cx="6840855" cy="47815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lvl="0" algn="l" defTabSz="914400" eaLnBrk="0" fontAlgn="base" hangingPunct="0">
              <a:lnSpc>
                <a:spcPct val="90000"/>
              </a:lnSpc>
              <a:spcAft>
                <a:spcPct val="0"/>
              </a:spcAft>
              <a:defRPr/>
            </a:pPr>
            <a:r>
              <a:rPr lang="zh-CN" altLang="en-US" sz="2800" b="1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</a:t>
            </a:r>
            <a:r>
              <a:rPr lang="en-US" altLang="zh-CN" sz="2800" b="1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</a:t>
            </a:r>
            <a:r>
              <a:rPr lang="zh-CN" altLang="en-US" sz="2800" b="1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</a:t>
            </a:r>
            <a:r>
              <a:rPr lang="zh-CN" altLang="en-US" sz="2800" b="1" kern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位置参数（Positional Argument）</a:t>
            </a:r>
          </a:p>
        </p:txBody>
      </p:sp>
      <p:sp>
        <p:nvSpPr>
          <p:cNvPr id="7" name="圆角矩形标注 6"/>
          <p:cNvSpPr/>
          <p:nvPr/>
        </p:nvSpPr>
        <p:spPr>
          <a:xfrm>
            <a:off x="5203825" y="4195445"/>
            <a:ext cx="3819525" cy="1106170"/>
          </a:xfrm>
          <a:prstGeom prst="wedgeRoundRectCallout">
            <a:avLst>
              <a:gd name="adj1" fmla="val -86216"/>
              <a:gd name="adj2" fmla="val -69965"/>
              <a:gd name="adj3" fmla="val 16667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umimoji="0"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altLang="en-US" sz="2400" b="1" dirty="0">
                <a:solidFill>
                  <a:srgbClr val="FF0000"/>
                </a:solidFill>
                <a:latin typeface="方正大黑简体" panose="03000509000000000000" pitchFamily="2" charset="-122"/>
                <a:ea typeface="方正大黑简体" panose="03000509000000000000" pitchFamily="2" charset="-122"/>
              </a:rPr>
              <a:t>易出现将参数位置混淆</a:t>
            </a:r>
          </a:p>
        </p:txBody>
      </p:sp>
    </p:spTree>
  </p:cSld>
  <p:clrMapOvr>
    <a:masterClrMapping/>
  </p:clrMapOvr>
  <p:transition spd="slow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5" grpId="0" build="p"/>
      <p:bldP spid="13315" grpId="1" build="p"/>
      <p:bldP spid="7" grpId="0" bldLvl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内容占位符 2"/>
          <p:cNvSpPr>
            <a:spLocks noGrp="1"/>
          </p:cNvSpPr>
          <p:nvPr>
            <p:ph idx="1"/>
          </p:nvPr>
        </p:nvSpPr>
        <p:spPr>
          <a:xfrm>
            <a:off x="895931" y="2252653"/>
            <a:ext cx="10729192" cy="3384376"/>
          </a:xfrm>
        </p:spPr>
        <p:txBody>
          <a:bodyPr vert="horz" wrap="square" lIns="91456" tIns="45728" rIns="91456" bIns="45728" anchor="t"/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关键字参数（又称命名参数，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Named Argument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）优点：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清晰地指出了参数值，有助于提高程序的可读性；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关键字参数的顺序无关紧要。</a:t>
            </a:r>
            <a:r>
              <a:rPr lang="zh-CN" altLang="en-US" sz="2800" b="1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通过关键参数，</a:t>
            </a:r>
            <a:r>
              <a:rPr lang="zh-CN" altLang="en-US" sz="2800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实参顺序可以和形参顺序不一致</a:t>
            </a:r>
            <a:r>
              <a:rPr lang="zh-CN" altLang="en-US" sz="2800" b="1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，但不影响传递结果，</a:t>
            </a:r>
            <a:r>
              <a:rPr lang="zh-CN" altLang="en-US" sz="2800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避免了用户需要牢记位置参数顺序的麻烦</a:t>
            </a:r>
            <a:r>
              <a:rPr lang="zh-CN" altLang="en-US" sz="2800" b="1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。</a:t>
            </a:r>
            <a:endParaRPr lang="zh-CN" altLang="en-US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205369" y="189434"/>
            <a:ext cx="20180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5.4 函数</a:t>
            </a:r>
            <a:endParaRPr 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1"/>
          <p:cNvSpPr>
            <a:spLocks noGrp="1"/>
          </p:cNvSpPr>
          <p:nvPr/>
        </p:nvSpPr>
        <p:spPr>
          <a:xfrm>
            <a:off x="266700" y="792480"/>
            <a:ext cx="10258425" cy="714375"/>
          </a:xfrm>
        </p:spPr>
        <p:txBody>
          <a:bodyPr vert="horz" wrap="square" lIns="91456" tIns="45728" rIns="91456" bIns="45728" numCol="1" anchor="b" anchorCtr="0" compatLnSpc="1"/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 defTabSz="914400" eaLnBrk="0" fontAlgn="base" hangingPunct="0">
              <a:lnSpc>
                <a:spcPct val="90000"/>
              </a:lnSpc>
              <a:spcAft>
                <a:spcPct val="0"/>
              </a:spcAft>
              <a:defRPr/>
            </a:pPr>
            <a:r>
              <a:rPr lang="en-US" altLang="zh-CN" sz="2800" b="1" kern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800" b="1" kern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800" b="1" kern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函数参数的</a:t>
            </a:r>
            <a:r>
              <a:rPr lang="en-US" altLang="zh-CN" sz="2800" b="1" kern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“</a:t>
            </a:r>
            <a:r>
              <a:rPr lang="zh-CN" altLang="en-US" sz="2800" b="1" kern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花式</a:t>
            </a:r>
            <a:r>
              <a:rPr lang="en-US" altLang="zh-CN" sz="2800" b="1" kern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”</a:t>
            </a:r>
            <a:r>
              <a:rPr lang="zh-CN" altLang="en-US" sz="2800" b="1" kern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传递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84835" y="1629410"/>
            <a:ext cx="7108190" cy="47815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lvl="0" algn="l" defTabSz="914400" eaLnBrk="0" fontAlgn="base" hangingPunct="0">
              <a:lnSpc>
                <a:spcPct val="90000"/>
              </a:lnSpc>
              <a:spcAft>
                <a:spcPct val="0"/>
              </a:spcAft>
              <a:defRPr/>
            </a:pPr>
            <a:r>
              <a:rPr lang="zh-CN" altLang="en-US" sz="2800" b="1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</a:t>
            </a:r>
            <a:r>
              <a:rPr lang="en-US" altLang="zh-CN" sz="2800" b="1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</a:t>
            </a:r>
            <a:r>
              <a:rPr lang="zh-CN" altLang="en-US" sz="2800" b="1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）关键字</a:t>
            </a:r>
            <a:r>
              <a:rPr lang="zh-CN" altLang="en-US" sz="2800" b="1" kern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参数（</a:t>
            </a:r>
            <a:r>
              <a:rPr lang="en-US" altLang="zh-CN" sz="2800" b="1" kern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Keyword</a:t>
            </a:r>
            <a:r>
              <a:rPr lang="zh-CN" altLang="en-US" sz="2800" b="1" kern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Argument）</a:t>
            </a:r>
          </a:p>
        </p:txBody>
      </p:sp>
    </p:spTree>
  </p:cSld>
  <p:clrMapOvr>
    <a:masterClrMapping/>
  </p:clrMapOvr>
  <p:transition spd="slow" advTm="0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10543" y="693490"/>
            <a:ext cx="8245415" cy="940434"/>
          </a:xfrm>
        </p:spPr>
        <p:txBody>
          <a:bodyPr vert="horz" wrap="square" lIns="91456" tIns="45728" rIns="91456" bIns="45728" numCol="1" anchor="b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方正大黑简体" panose="03000509000000000000" pitchFamily="2" charset="-122"/>
                <a:ea typeface="方正大黑简体" panose="03000509000000000000" pitchFamily="2" charset="-122"/>
                <a:cs typeface="方正大黑简体" panose="03000509000000000000" pitchFamily="2" charset="-122"/>
              </a:rPr>
              <a:t>例：关键字参数示例 </a:t>
            </a:r>
          </a:p>
        </p:txBody>
      </p:sp>
      <p:sp>
        <p:nvSpPr>
          <p:cNvPr id="4" name="内容占位符 2"/>
          <p:cNvSpPr txBox="1"/>
          <p:nvPr/>
        </p:nvSpPr>
        <p:spPr>
          <a:xfrm>
            <a:off x="1490663" y="2025311"/>
            <a:ext cx="9937095" cy="367240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altLang="zh-CN" sz="2400" i="1" dirty="0">
                <a:latin typeface="Arial Black" panose="020B0A04020102020204" pitchFamily="34" charset="0"/>
              </a:rPr>
              <a:t>#</a:t>
            </a:r>
            <a:r>
              <a:rPr lang="zh-CN" altLang="pt-BR" sz="2400" i="1" dirty="0">
                <a:latin typeface="Arial Black" panose="020B0A04020102020204" pitchFamily="34" charset="0"/>
              </a:rPr>
              <a:t>例</a:t>
            </a:r>
            <a:r>
              <a:rPr lang="pt-BR" altLang="zh-CN" sz="2400" i="1" dirty="0">
                <a:latin typeface="Arial Black" panose="020B0A04020102020204" pitchFamily="34" charset="0"/>
              </a:rPr>
              <a:t> </a:t>
            </a:r>
          </a:p>
          <a:p>
            <a:pPr marL="0" indent="0">
              <a:buNone/>
            </a:pPr>
            <a:r>
              <a:rPr lang="pt-BR" altLang="zh-CN" sz="2400" dirty="0">
                <a:latin typeface="Arial Black" panose="020B0A04020102020204" pitchFamily="34" charset="0"/>
              </a:rPr>
              <a:t>def fun(name,age,score):</a:t>
            </a:r>
          </a:p>
          <a:p>
            <a:pPr marL="0" indent="0">
              <a:buNone/>
            </a:pPr>
            <a:r>
              <a:rPr lang="pt-BR" altLang="zh-CN" sz="2400" dirty="0">
                <a:latin typeface="Arial Black" panose="020B0A04020102020204" pitchFamily="34" charset="0"/>
              </a:rPr>
              <a:t>    print("姓名:{0},年龄:{1},分数:{2}".format(name,age,score))</a:t>
            </a:r>
          </a:p>
          <a:p>
            <a:pPr marL="0" indent="0">
              <a:buNone/>
            </a:pPr>
            <a:endParaRPr lang="pt-BR" altLang="zh-CN" sz="2400" dirty="0">
              <a:latin typeface="Arial Black" panose="020B0A04020102020204" pitchFamily="34" charset="0"/>
            </a:endParaRPr>
          </a:p>
          <a:p>
            <a:pPr marL="0" indent="0">
              <a:buNone/>
            </a:pPr>
            <a:endParaRPr lang="pt-BR" altLang="zh-CN" sz="2400" dirty="0">
              <a:latin typeface="Arial Black" panose="020B0A04020102020204" pitchFamily="34" charset="0"/>
            </a:endParaRPr>
          </a:p>
          <a:p>
            <a:pPr marL="0" indent="0">
              <a:buNone/>
            </a:pPr>
            <a:r>
              <a:rPr lang="pt-BR" altLang="zh-CN" sz="2400" dirty="0">
                <a:latin typeface="Arial Black" panose="020B0A04020102020204" pitchFamily="34" charset="0"/>
              </a:rPr>
              <a:t>fun("Tom",20,100)</a:t>
            </a:r>
          </a:p>
          <a:p>
            <a:pPr marL="0" indent="0">
              <a:buNone/>
            </a:pPr>
            <a:r>
              <a:rPr lang="pt-BR" altLang="zh-CN" sz="2400" dirty="0">
                <a:latin typeface="Arial Black" panose="020B0A04020102020204" pitchFamily="34" charset="0"/>
              </a:rPr>
              <a:t>fun(</a:t>
            </a:r>
            <a:r>
              <a:rPr lang="pt-BR" altLang="zh-CN" sz="2400" dirty="0">
                <a:solidFill>
                  <a:srgbClr val="FF0000"/>
                </a:solidFill>
                <a:latin typeface="Arial Black" panose="020B0A04020102020204" pitchFamily="34" charset="0"/>
              </a:rPr>
              <a:t>name="Tom",score=100,age=20</a:t>
            </a:r>
            <a:r>
              <a:rPr lang="pt-BR" altLang="zh-CN" sz="2400" dirty="0">
                <a:latin typeface="Arial Black" panose="020B0A04020102020204" pitchFamily="34" charset="0"/>
              </a:rPr>
              <a:t>)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0205369" y="189434"/>
            <a:ext cx="20180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5.4 函数</a:t>
            </a:r>
            <a:endParaRPr 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圆角矩形标注 7"/>
          <p:cNvSpPr/>
          <p:nvPr/>
        </p:nvSpPr>
        <p:spPr>
          <a:xfrm>
            <a:off x="6350635" y="3763010"/>
            <a:ext cx="5077460" cy="946785"/>
          </a:xfrm>
          <a:prstGeom prst="wedgeRoundRectCallout">
            <a:avLst>
              <a:gd name="adj1" fmla="val -60261"/>
              <a:gd name="adj2" fmla="val 49502"/>
              <a:gd name="adj3" fmla="val 16667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umimoji="0"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调用函数</a:t>
            </a:r>
            <a:r>
              <a:rPr lang="en-US" altLang="zh-CN" sz="24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f</a:t>
            </a:r>
            <a:r>
              <a:rPr lang="zh-CN" altLang="en-US" sz="24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的效果是等价的。第二行用的是</a:t>
            </a: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关键字参数</a:t>
            </a:r>
            <a:r>
              <a:rPr lang="zh-CN" altLang="en-US" sz="24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。</a:t>
            </a:r>
          </a:p>
        </p:txBody>
      </p:sp>
    </p:spTree>
  </p:cSld>
  <p:clrMapOvr>
    <a:masterClrMapping/>
  </p:clrMapOvr>
  <p:transition spd="slow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8" grpId="0" bldLvl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内容占位符 2"/>
          <p:cNvSpPr>
            <a:spLocks noGrp="1"/>
          </p:cNvSpPr>
          <p:nvPr>
            <p:ph idx="1"/>
          </p:nvPr>
        </p:nvSpPr>
        <p:spPr>
          <a:xfrm>
            <a:off x="895931" y="2252653"/>
            <a:ext cx="10729192" cy="3384376"/>
          </a:xfrm>
        </p:spPr>
        <p:txBody>
          <a:bodyPr vert="horz" wrap="square" lIns="91456" tIns="45728" rIns="91456" bIns="45728" anchor="t"/>
          <a:lstStyle/>
          <a:p>
            <a:pPr>
              <a:lnSpc>
                <a:spcPct val="150000"/>
              </a:lnSpc>
              <a:buFont typeface="Wingdings" panose="05000000000000000000" charset="0"/>
              <a:buChar char="n"/>
            </a:pPr>
            <a:r>
              <a:rPr 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函数调用时，参数个数不固定。最常见的像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语言中的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printf()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</a:p>
          <a:p>
            <a:pPr>
              <a:lnSpc>
                <a:spcPct val="150000"/>
              </a:lnSpc>
              <a:buFont typeface="Wingdings" panose="05000000000000000000" charset="0"/>
              <a:buChar char="n"/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在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Python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中，可以通过在形参前面加</a:t>
            </a: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一个星号</a:t>
            </a:r>
            <a:r>
              <a:rPr lang="en-US" altLang="zh-CN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“*”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,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即表明传递过来的实参个数不固定。</a:t>
            </a:r>
          </a:p>
          <a:p>
            <a:pPr>
              <a:lnSpc>
                <a:spcPct val="150000"/>
              </a:lnSpc>
              <a:buFont typeface="Wingdings" panose="05000000000000000000" charset="0"/>
              <a:buChar char="n"/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可变参数具体个数，实质上是被</a:t>
            </a: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收集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到以</a:t>
            </a: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形参名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为某个</a:t>
            </a: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特定标识符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的</a:t>
            </a: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元组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之中。故可变参数通常也称作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“</a:t>
            </a: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收集参数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”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0205369" y="189434"/>
            <a:ext cx="20180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5.4 函数</a:t>
            </a:r>
            <a:endParaRPr 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1"/>
          <p:cNvSpPr>
            <a:spLocks noGrp="1"/>
          </p:cNvSpPr>
          <p:nvPr/>
        </p:nvSpPr>
        <p:spPr>
          <a:xfrm>
            <a:off x="266700" y="792480"/>
            <a:ext cx="10258425" cy="714375"/>
          </a:xfrm>
        </p:spPr>
        <p:txBody>
          <a:bodyPr vert="horz" wrap="square" lIns="91456" tIns="45728" rIns="91456" bIns="45728" numCol="1" anchor="b" anchorCtr="0" compatLnSpc="1"/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 defTabSz="914400" eaLnBrk="0" fontAlgn="base" hangingPunct="0">
              <a:lnSpc>
                <a:spcPct val="90000"/>
              </a:lnSpc>
              <a:spcAft>
                <a:spcPct val="0"/>
              </a:spcAft>
              <a:defRPr/>
            </a:pPr>
            <a:r>
              <a:rPr lang="en-US" altLang="zh-CN" sz="2800" b="1" kern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800" b="1" kern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800" b="1" kern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函数参数的</a:t>
            </a:r>
            <a:r>
              <a:rPr lang="en-US" altLang="zh-CN" sz="2800" b="1" kern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“</a:t>
            </a:r>
            <a:r>
              <a:rPr lang="zh-CN" altLang="en-US" sz="2800" b="1" kern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花式</a:t>
            </a:r>
            <a:r>
              <a:rPr lang="en-US" altLang="zh-CN" sz="2800" b="1" kern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”</a:t>
            </a:r>
            <a:r>
              <a:rPr lang="zh-CN" altLang="en-US" sz="2800" b="1" kern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传递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84835" y="1629410"/>
            <a:ext cx="6677660" cy="47815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lvl="0" algn="l" defTabSz="914400" eaLnBrk="0" fontAlgn="base" hangingPunct="0">
              <a:lnSpc>
                <a:spcPct val="90000"/>
              </a:lnSpc>
              <a:spcAft>
                <a:spcPct val="0"/>
              </a:spcAft>
              <a:defRPr/>
            </a:pPr>
            <a:r>
              <a:rPr lang="zh-CN" altLang="en-US" sz="2800" b="1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</a:t>
            </a:r>
            <a:r>
              <a:rPr lang="en-US" altLang="zh-CN" sz="2800" b="1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</a:t>
            </a:r>
            <a:r>
              <a:rPr lang="zh-CN" altLang="en-US" sz="2800" b="1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）可变</a:t>
            </a:r>
            <a:r>
              <a:rPr lang="zh-CN" altLang="en-US" sz="2800" b="1" kern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参数（</a:t>
            </a:r>
            <a:r>
              <a:rPr lang="en-US" sz="2800" b="1" kern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Variable Parameter</a:t>
            </a:r>
            <a:r>
              <a:rPr lang="zh-CN" altLang="en-US" sz="2800" b="1" kern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</a:t>
            </a:r>
          </a:p>
        </p:txBody>
      </p:sp>
    </p:spTree>
  </p:cSld>
  <p:clrMapOvr>
    <a:masterClrMapping/>
  </p:clrMapOvr>
  <p:transition spd="slow" advTm="0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10543" y="693490"/>
            <a:ext cx="8245415" cy="940434"/>
          </a:xfrm>
        </p:spPr>
        <p:txBody>
          <a:bodyPr vert="horz" wrap="square" lIns="91456" tIns="45728" rIns="91456" bIns="45728" numCol="1" anchor="b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方正大黑简体" panose="03000509000000000000" pitchFamily="2" charset="-122"/>
                <a:ea typeface="方正大黑简体" panose="03000509000000000000" pitchFamily="2" charset="-122"/>
                <a:cs typeface="方正大黑简体" panose="03000509000000000000" pitchFamily="2" charset="-122"/>
              </a:rPr>
              <a:t>例：可变参数示例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方正大黑简体" panose="03000509000000000000" pitchFamily="2" charset="-122"/>
                <a:ea typeface="方正大黑简体" panose="03000509000000000000" pitchFamily="2" charset="-122"/>
                <a:cs typeface="方正大黑简体" panose="03000509000000000000" pitchFamily="2" charset="-122"/>
              </a:rPr>
              <a:t>1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方正大黑简体" panose="03000509000000000000" pitchFamily="2" charset="-122"/>
                <a:ea typeface="方正大黑简体" panose="03000509000000000000" pitchFamily="2" charset="-122"/>
                <a:cs typeface="方正大黑简体" panose="03000509000000000000" pitchFamily="2" charset="-122"/>
              </a:rPr>
              <a:t> （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方正大黑简体" panose="03000509000000000000" pitchFamily="2" charset="-122"/>
                <a:ea typeface="方正大黑简体" panose="03000509000000000000" pitchFamily="2" charset="-122"/>
                <a:cs typeface="方正大黑简体" panose="03000509000000000000" pitchFamily="2" charset="-122"/>
              </a:rPr>
              <a:t>*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方正大黑简体" panose="03000509000000000000" pitchFamily="2" charset="-122"/>
                <a:ea typeface="方正大黑简体" panose="03000509000000000000" pitchFamily="2" charset="-122"/>
                <a:cs typeface="方正大黑简体" panose="03000509000000000000" pitchFamily="2" charset="-122"/>
              </a:rPr>
              <a:t>）</a:t>
            </a:r>
          </a:p>
        </p:txBody>
      </p:sp>
      <p:sp>
        <p:nvSpPr>
          <p:cNvPr id="4" name="内容占位符 2"/>
          <p:cNvSpPr txBox="1"/>
          <p:nvPr/>
        </p:nvSpPr>
        <p:spPr>
          <a:xfrm>
            <a:off x="1490663" y="2025311"/>
            <a:ext cx="9937095" cy="367240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altLang="zh-CN" sz="2400" i="1" dirty="0">
                <a:latin typeface="Arial Black" panose="020B0A04020102020204" pitchFamily="34" charset="0"/>
              </a:rPr>
              <a:t>#</a:t>
            </a:r>
            <a:r>
              <a:rPr lang="zh-CN" altLang="pt-BR" sz="2400" i="1" dirty="0">
                <a:latin typeface="Arial Black" panose="020B0A04020102020204" pitchFamily="34" charset="0"/>
              </a:rPr>
              <a:t>例</a:t>
            </a:r>
            <a:r>
              <a:rPr lang="pt-BR" altLang="zh-CN" sz="2400" i="1" dirty="0">
                <a:latin typeface="Arial Black" panose="020B0A04020102020204" pitchFamily="34" charset="0"/>
              </a:rPr>
              <a:t> </a:t>
            </a:r>
          </a:p>
          <a:p>
            <a:pPr marL="0" indent="0">
              <a:buNone/>
            </a:pPr>
            <a:r>
              <a:rPr lang="pt-BR" altLang="zh-CN" sz="2400" dirty="0">
                <a:latin typeface="Arial Black" panose="020B0A04020102020204" pitchFamily="34" charset="0"/>
              </a:rPr>
              <a:t>def variablefun(name,</a:t>
            </a:r>
            <a:r>
              <a:rPr lang="pt-BR" altLang="zh-CN" sz="2400" dirty="0">
                <a:solidFill>
                  <a:srgbClr val="FF0000"/>
                </a:solidFill>
                <a:latin typeface="Arial Black" panose="020B0A04020102020204" pitchFamily="34" charset="0"/>
              </a:rPr>
              <a:t>*args</a:t>
            </a:r>
            <a:r>
              <a:rPr lang="pt-BR" altLang="zh-CN" sz="2400" dirty="0">
                <a:latin typeface="Arial Black" panose="020B0A04020102020204" pitchFamily="34" charset="0"/>
              </a:rPr>
              <a:t>):</a:t>
            </a:r>
          </a:p>
          <a:p>
            <a:pPr marL="0" indent="0">
              <a:buNone/>
            </a:pPr>
            <a:r>
              <a:rPr lang="pt-BR" altLang="zh-CN" sz="2400" dirty="0">
                <a:latin typeface="Arial Black" panose="020B0A04020102020204" pitchFamily="34" charset="0"/>
              </a:rPr>
              <a:t>    print("位置参数：",name)</a:t>
            </a:r>
          </a:p>
          <a:p>
            <a:pPr marL="0" indent="0">
              <a:buNone/>
            </a:pPr>
            <a:r>
              <a:rPr lang="pt-BR" altLang="zh-CN" sz="2400" dirty="0">
                <a:latin typeface="Arial Black" panose="020B0A04020102020204" pitchFamily="34" charset="0"/>
              </a:rPr>
              <a:t>    print("可变参数：",args)</a:t>
            </a:r>
          </a:p>
          <a:p>
            <a:pPr marL="0" indent="0">
              <a:buNone/>
            </a:pPr>
            <a:r>
              <a:rPr lang="pt-BR" altLang="zh-CN" sz="2400" dirty="0">
                <a:latin typeface="Arial Black" panose="020B0A04020102020204" pitchFamily="34" charset="0"/>
              </a:rPr>
              <a:t>    </a:t>
            </a:r>
          </a:p>
          <a:p>
            <a:pPr marL="0" indent="0">
              <a:buNone/>
            </a:pPr>
            <a:r>
              <a:rPr lang="pt-BR" altLang="zh-CN" sz="2400" dirty="0">
                <a:latin typeface="Arial Black" panose="020B0A04020102020204" pitchFamily="34" charset="0"/>
              </a:rPr>
              <a:t>variablefun("Python","简洁","优雅","面向对象")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0205369" y="189434"/>
            <a:ext cx="20180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5.4 函数</a:t>
            </a:r>
            <a:endParaRPr 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圆角矩形标注 7"/>
          <p:cNvSpPr/>
          <p:nvPr/>
        </p:nvSpPr>
        <p:spPr>
          <a:xfrm>
            <a:off x="4872355" y="5123180"/>
            <a:ext cx="6866255" cy="1213485"/>
          </a:xfrm>
          <a:prstGeom prst="wedgeRoundRectCallout">
            <a:avLst>
              <a:gd name="adj1" fmla="val -50786"/>
              <a:gd name="adj2" fmla="val -70408"/>
              <a:gd name="adj3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kumimoji="0"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r>
              <a:rPr lang="en-US" altLang="zh-CN" sz="24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位置参数： Python</a:t>
            </a:r>
          </a:p>
          <a:p>
            <a:pPr lvl="0" algn="l">
              <a:buClrTx/>
              <a:buSzTx/>
              <a:buFontTx/>
            </a:pPr>
            <a:r>
              <a:rPr lang="en-US" altLang="zh-CN" sz="24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可变参数： ('简洁', '优雅', '面向对象')</a:t>
            </a:r>
          </a:p>
        </p:txBody>
      </p:sp>
      <p:sp>
        <p:nvSpPr>
          <p:cNvPr id="3" name="圆角矩形标注 2"/>
          <p:cNvSpPr/>
          <p:nvPr/>
        </p:nvSpPr>
        <p:spPr>
          <a:xfrm>
            <a:off x="4966970" y="948055"/>
            <a:ext cx="6866255" cy="1213485"/>
          </a:xfrm>
          <a:prstGeom prst="wedgeRoundRectCallout">
            <a:avLst>
              <a:gd name="adj1" fmla="val -42980"/>
              <a:gd name="adj2" fmla="val 85007"/>
              <a:gd name="adj3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umimoji="0"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*</a:t>
            </a:r>
            <a:r>
              <a:rPr altLang="en-US" sz="24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号不是指针，仅代表身份标识</a:t>
            </a:r>
            <a:r>
              <a:rPr lang="en-US" altLang="zh-CN" sz="24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——</a:t>
            </a:r>
            <a:r>
              <a:rPr altLang="en-US" sz="24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可变参数，</a:t>
            </a:r>
            <a:r>
              <a:rPr lang="en-US" altLang="zh-CN" sz="24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args</a:t>
            </a:r>
            <a:r>
              <a:rPr altLang="en-US" sz="24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就是一个形参名。</a:t>
            </a:r>
          </a:p>
        </p:txBody>
      </p:sp>
    </p:spTree>
  </p:cSld>
  <p:clrMapOvr>
    <a:masterClrMapping/>
  </p:clrMapOvr>
  <p:transition spd="slow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8" grpId="0" bldLvl="0" animBg="1"/>
      <p:bldP spid="3" grpId="0" bldLvl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10543" y="693490"/>
            <a:ext cx="8245415" cy="940434"/>
          </a:xfrm>
        </p:spPr>
        <p:txBody>
          <a:bodyPr vert="horz" wrap="square" lIns="91456" tIns="45728" rIns="91456" bIns="45728" numCol="1" anchor="b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方正大黑简体" panose="03000509000000000000" pitchFamily="2" charset="-122"/>
                <a:ea typeface="方正大黑简体" panose="03000509000000000000" pitchFamily="2" charset="-122"/>
                <a:cs typeface="方正大黑简体" panose="03000509000000000000" pitchFamily="2" charset="-122"/>
              </a:rPr>
              <a:t>例：可变参数示例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方正大黑简体" panose="03000509000000000000" pitchFamily="2" charset="-122"/>
                <a:ea typeface="方正大黑简体" panose="03000509000000000000" pitchFamily="2" charset="-122"/>
                <a:cs typeface="方正大黑简体" panose="03000509000000000000" pitchFamily="2" charset="-122"/>
              </a:rPr>
              <a:t>2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方正大黑简体" panose="03000509000000000000" pitchFamily="2" charset="-122"/>
                <a:ea typeface="方正大黑简体" panose="03000509000000000000" pitchFamily="2" charset="-122"/>
                <a:cs typeface="方正大黑简体" panose="03000509000000000000" pitchFamily="2" charset="-122"/>
              </a:rPr>
              <a:t>（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方正大黑简体" panose="03000509000000000000" pitchFamily="2" charset="-122"/>
                <a:ea typeface="方正大黑简体" panose="03000509000000000000" pitchFamily="2" charset="-122"/>
                <a:cs typeface="方正大黑简体" panose="03000509000000000000" pitchFamily="2" charset="-122"/>
              </a:rPr>
              <a:t>*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方正大黑简体" panose="03000509000000000000" pitchFamily="2" charset="-122"/>
                <a:ea typeface="方正大黑简体" panose="03000509000000000000" pitchFamily="2" charset="-122"/>
                <a:cs typeface="方正大黑简体" panose="03000509000000000000" pitchFamily="2" charset="-122"/>
              </a:rPr>
              <a:t>） </a:t>
            </a:r>
          </a:p>
        </p:txBody>
      </p:sp>
      <p:sp>
        <p:nvSpPr>
          <p:cNvPr id="4" name="内容占位符 2"/>
          <p:cNvSpPr txBox="1"/>
          <p:nvPr/>
        </p:nvSpPr>
        <p:spPr>
          <a:xfrm>
            <a:off x="1576705" y="1811020"/>
            <a:ext cx="9937115" cy="42392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altLang="zh-CN" sz="2400" i="1" dirty="0">
                <a:latin typeface="Arial Black" panose="020B0A04020102020204" pitchFamily="34" charset="0"/>
              </a:rPr>
              <a:t>#</a:t>
            </a:r>
            <a:r>
              <a:rPr lang="zh-CN" altLang="pt-BR" sz="2400" i="1" dirty="0">
                <a:latin typeface="Arial Black" panose="020B0A04020102020204" pitchFamily="34" charset="0"/>
              </a:rPr>
              <a:t>例</a:t>
            </a:r>
            <a:r>
              <a:rPr lang="pt-BR" altLang="zh-CN" sz="2400" i="1" dirty="0">
                <a:latin typeface="Arial Black" panose="020B0A04020102020204" pitchFamily="34" charset="0"/>
              </a:rPr>
              <a:t> </a:t>
            </a:r>
          </a:p>
          <a:p>
            <a:pPr marL="0" indent="0">
              <a:buNone/>
            </a:pPr>
            <a:r>
              <a:rPr lang="pt-BR" altLang="zh-CN" sz="2400" dirty="0">
                <a:latin typeface="Arial Black" panose="020B0A04020102020204" pitchFamily="34" charset="0"/>
              </a:rPr>
              <a:t>def mysum(*args):</a:t>
            </a:r>
          </a:p>
          <a:p>
            <a:pPr marL="0" indent="0">
              <a:buNone/>
            </a:pPr>
            <a:r>
              <a:rPr lang="pt-BR" altLang="zh-CN" sz="2400" dirty="0">
                <a:latin typeface="Arial Black" panose="020B0A04020102020204" pitchFamily="34" charset="0"/>
              </a:rPr>
              <a:t>    fsum = 0</a:t>
            </a:r>
          </a:p>
          <a:p>
            <a:pPr marL="0" indent="0">
              <a:buNone/>
            </a:pPr>
            <a:r>
              <a:rPr lang="pt-BR" altLang="zh-CN" sz="2400" dirty="0">
                <a:latin typeface="Arial Black" panose="020B0A04020102020204" pitchFamily="34" charset="0"/>
              </a:rPr>
              <a:t>    for i in range(0,len(args)):</a:t>
            </a:r>
          </a:p>
          <a:p>
            <a:pPr marL="0" indent="0">
              <a:buNone/>
            </a:pPr>
            <a:r>
              <a:rPr lang="pt-BR" altLang="zh-CN" sz="2400" dirty="0">
                <a:latin typeface="Arial Black" panose="020B0A04020102020204" pitchFamily="34" charset="0"/>
              </a:rPr>
              <a:t>        fsum = fsum+args[i]</a:t>
            </a:r>
          </a:p>
          <a:p>
            <a:pPr marL="0" indent="0">
              <a:buNone/>
            </a:pPr>
            <a:r>
              <a:rPr lang="pt-BR" altLang="zh-CN" sz="2400" dirty="0">
                <a:latin typeface="Arial Black" panose="020B0A04020102020204" pitchFamily="34" charset="0"/>
              </a:rPr>
              <a:t>    return fsum</a:t>
            </a:r>
          </a:p>
          <a:p>
            <a:pPr marL="0" indent="0">
              <a:buNone/>
            </a:pPr>
            <a:endParaRPr lang="pt-BR" altLang="zh-CN" sz="2400" dirty="0">
              <a:latin typeface="Arial Black" panose="020B0A04020102020204" pitchFamily="34" charset="0"/>
            </a:endParaRPr>
          </a:p>
          <a:p>
            <a:pPr marL="0" indent="0">
              <a:buNone/>
            </a:pPr>
            <a:r>
              <a:rPr lang="pt-BR" altLang="zh-CN" sz="2400" dirty="0">
                <a:latin typeface="Arial Black" panose="020B0A04020102020204" pitchFamily="34" charset="0"/>
              </a:rPr>
              <a:t>print(mysum(10,20,30,40,50))</a:t>
            </a:r>
          </a:p>
          <a:p>
            <a:pPr marL="0" indent="0">
              <a:buNone/>
            </a:pPr>
            <a:r>
              <a:rPr lang="pt-BR" altLang="zh-CN" sz="2400" dirty="0">
                <a:latin typeface="Arial Black" panose="020B0A04020102020204" pitchFamily="34" charset="0"/>
              </a:rPr>
              <a:t>print(mysum(25.6,32,8))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0205369" y="189434"/>
            <a:ext cx="20180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5.4 函数</a:t>
            </a:r>
            <a:endParaRPr 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圆角矩形标注 7"/>
          <p:cNvSpPr/>
          <p:nvPr/>
        </p:nvSpPr>
        <p:spPr>
          <a:xfrm>
            <a:off x="6950075" y="4587875"/>
            <a:ext cx="1705610" cy="1213485"/>
          </a:xfrm>
          <a:prstGeom prst="wedgeRoundRectCallout">
            <a:avLst>
              <a:gd name="adj1" fmla="val -74013"/>
              <a:gd name="adj2" fmla="val 15201"/>
              <a:gd name="adj3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kumimoji="0"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r>
              <a:rPr lang="en-US" altLang="zh-CN" sz="24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150</a:t>
            </a:r>
          </a:p>
          <a:p>
            <a:pPr lvl="0" algn="l">
              <a:buClrTx/>
              <a:buSzTx/>
              <a:buFontTx/>
            </a:pPr>
            <a:r>
              <a:rPr lang="en-US" altLang="zh-CN" sz="24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65.6</a:t>
            </a:r>
          </a:p>
        </p:txBody>
      </p:sp>
    </p:spTree>
  </p:cSld>
  <p:clrMapOvr>
    <a:masterClrMapping/>
  </p:clrMapOvr>
  <p:transition spd="slow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8" grpId="0" bldLvl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内容占位符 2"/>
          <p:cNvSpPr>
            <a:spLocks noGrp="1"/>
          </p:cNvSpPr>
          <p:nvPr>
            <p:ph idx="1"/>
          </p:nvPr>
        </p:nvSpPr>
        <p:spPr>
          <a:xfrm>
            <a:off x="1002665" y="2273300"/>
            <a:ext cx="10728960" cy="1831975"/>
          </a:xfrm>
        </p:spPr>
        <p:txBody>
          <a:bodyPr vert="horz" wrap="square" lIns="91456" tIns="45728" rIns="91456" bIns="45728" anchor="t"/>
          <a:lstStyle/>
          <a:p>
            <a:pPr marL="0" indent="0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形参前面加</a:t>
            </a: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两个星号</a:t>
            </a:r>
            <a:r>
              <a:rPr lang="en-US" altLang="zh-CN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“*”</a:t>
            </a:r>
            <a:r>
              <a:rPr lang="zh-CN" altLang="en-US" sz="28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，表示？</a:t>
            </a:r>
          </a:p>
          <a:p>
            <a:pPr marL="0" indent="0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 sz="28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fun(**args)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0205369" y="189434"/>
            <a:ext cx="20180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5.4 函数</a:t>
            </a:r>
            <a:endParaRPr 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1"/>
          <p:cNvSpPr>
            <a:spLocks noGrp="1"/>
          </p:cNvSpPr>
          <p:nvPr/>
        </p:nvSpPr>
        <p:spPr>
          <a:xfrm>
            <a:off x="266700" y="792480"/>
            <a:ext cx="10258425" cy="714375"/>
          </a:xfrm>
        </p:spPr>
        <p:txBody>
          <a:bodyPr vert="horz" wrap="square" lIns="91456" tIns="45728" rIns="91456" bIns="45728" numCol="1" anchor="b" anchorCtr="0" compatLnSpc="1"/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 defTabSz="914400" eaLnBrk="0" fontAlgn="base" hangingPunct="0">
              <a:lnSpc>
                <a:spcPct val="90000"/>
              </a:lnSpc>
              <a:spcAft>
                <a:spcPct val="0"/>
              </a:spcAft>
              <a:defRPr/>
            </a:pPr>
            <a:r>
              <a:rPr lang="en-US" altLang="zh-CN" sz="2800" b="1" kern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800" b="1" kern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800" b="1" kern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函数参数的</a:t>
            </a:r>
            <a:r>
              <a:rPr lang="en-US" altLang="zh-CN" sz="2800" b="1" kern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“</a:t>
            </a:r>
            <a:r>
              <a:rPr lang="zh-CN" altLang="en-US" sz="2800" b="1" kern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花式</a:t>
            </a:r>
            <a:r>
              <a:rPr lang="en-US" altLang="zh-CN" sz="2800" b="1" kern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”</a:t>
            </a:r>
            <a:r>
              <a:rPr lang="zh-CN" altLang="en-US" sz="2800" b="1" kern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传递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84835" y="1629410"/>
            <a:ext cx="6677660" cy="47815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lvl="0" algn="l" defTabSz="914400" eaLnBrk="0" fontAlgn="base" hangingPunct="0">
              <a:lnSpc>
                <a:spcPct val="90000"/>
              </a:lnSpc>
              <a:spcAft>
                <a:spcPct val="0"/>
              </a:spcAft>
              <a:defRPr/>
            </a:pPr>
            <a:r>
              <a:rPr lang="zh-CN" altLang="en-US" sz="2800" b="1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</a:t>
            </a:r>
            <a:r>
              <a:rPr lang="en-US" altLang="zh-CN" sz="2800" b="1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</a:t>
            </a:r>
            <a:r>
              <a:rPr lang="zh-CN" altLang="en-US" sz="2800" b="1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）可变</a:t>
            </a:r>
            <a:r>
              <a:rPr lang="zh-CN" altLang="en-US" sz="2800" b="1" kern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参数（</a:t>
            </a:r>
            <a:r>
              <a:rPr lang="en-US" sz="2800" b="1" kern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Variable Parameter</a:t>
            </a:r>
            <a:r>
              <a:rPr lang="zh-CN" altLang="en-US" sz="2800" b="1" kern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</a:t>
            </a:r>
          </a:p>
        </p:txBody>
      </p:sp>
      <p:sp>
        <p:nvSpPr>
          <p:cNvPr id="2" name="内容占位符 2"/>
          <p:cNvSpPr>
            <a:spLocks noGrp="1"/>
          </p:cNvSpPr>
          <p:nvPr/>
        </p:nvSpPr>
        <p:spPr>
          <a:xfrm>
            <a:off x="1087120" y="3803015"/>
            <a:ext cx="10728960" cy="1831975"/>
          </a:xfrm>
        </p:spPr>
        <p:txBody>
          <a:bodyPr vert="horz" wrap="square" lIns="91456" tIns="45728" rIns="91456" bIns="45728" anchor="t"/>
          <a:lstStyle>
            <a:lvl1pPr marL="457200" indent="-4572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4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1235" indent="-3810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4635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4235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447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407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67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905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505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sz="28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**</a:t>
            </a:r>
            <a:r>
              <a:rPr lang="zh-CN" altLang="en-US" sz="28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的含义就是将</a:t>
            </a:r>
            <a:r>
              <a:rPr lang="en-US" altLang="zh-CN" sz="28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args</a:t>
            </a:r>
            <a:r>
              <a:rPr lang="zh-CN" altLang="en-US" sz="28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打包成字典</a:t>
            </a:r>
          </a:p>
        </p:txBody>
      </p:sp>
    </p:spTree>
  </p:cSld>
  <p:clrMapOvr>
    <a:masterClrMapping/>
  </p:clrMapOvr>
  <p:transition spd="slow" advTm="0"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10543" y="693490"/>
            <a:ext cx="8245415" cy="940434"/>
          </a:xfrm>
        </p:spPr>
        <p:txBody>
          <a:bodyPr vert="horz" wrap="square" lIns="91456" tIns="45728" rIns="91456" bIns="45728" numCol="1" anchor="b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方正大黑简体" panose="03000509000000000000" pitchFamily="2" charset="-122"/>
                <a:ea typeface="方正大黑简体" panose="03000509000000000000" pitchFamily="2" charset="-122"/>
                <a:cs typeface="方正大黑简体" panose="03000509000000000000" pitchFamily="2" charset="-122"/>
              </a:rPr>
              <a:t>例：可变参数示例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方正大黑简体" panose="03000509000000000000" pitchFamily="2" charset="-122"/>
                <a:ea typeface="方正大黑简体" panose="03000509000000000000" pitchFamily="2" charset="-122"/>
                <a:cs typeface="方正大黑简体" panose="03000509000000000000" pitchFamily="2" charset="-122"/>
              </a:rPr>
              <a:t>3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方正大黑简体" panose="03000509000000000000" pitchFamily="2" charset="-122"/>
                <a:ea typeface="方正大黑简体" panose="03000509000000000000" pitchFamily="2" charset="-122"/>
                <a:cs typeface="方正大黑简体" panose="03000509000000000000" pitchFamily="2" charset="-122"/>
              </a:rPr>
              <a:t>（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方正大黑简体" panose="03000509000000000000" pitchFamily="2" charset="-122"/>
                <a:ea typeface="方正大黑简体" panose="03000509000000000000" pitchFamily="2" charset="-122"/>
                <a:cs typeface="方正大黑简体" panose="03000509000000000000" pitchFamily="2" charset="-122"/>
              </a:rPr>
              <a:t>**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方正大黑简体" panose="03000509000000000000" pitchFamily="2" charset="-122"/>
                <a:ea typeface="方正大黑简体" panose="03000509000000000000" pitchFamily="2" charset="-122"/>
                <a:cs typeface="方正大黑简体" panose="03000509000000000000" pitchFamily="2" charset="-122"/>
              </a:rPr>
              <a:t>） </a:t>
            </a:r>
          </a:p>
        </p:txBody>
      </p:sp>
      <p:sp>
        <p:nvSpPr>
          <p:cNvPr id="4" name="内容占位符 2"/>
          <p:cNvSpPr txBox="1"/>
          <p:nvPr/>
        </p:nvSpPr>
        <p:spPr>
          <a:xfrm>
            <a:off x="1576705" y="1811020"/>
            <a:ext cx="9937115" cy="42392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altLang="zh-CN" sz="2400" i="1" dirty="0">
                <a:latin typeface="Arial Black" panose="020B0A04020102020204" pitchFamily="34" charset="0"/>
              </a:rPr>
              <a:t>#</a:t>
            </a:r>
            <a:r>
              <a:rPr lang="zh-CN" altLang="pt-BR" sz="2400" i="1" dirty="0">
                <a:latin typeface="Arial Black" panose="020B0A04020102020204" pitchFamily="34" charset="0"/>
              </a:rPr>
              <a:t>例</a:t>
            </a:r>
            <a:r>
              <a:rPr lang="pt-BR" altLang="zh-CN" sz="2400" i="1" dirty="0">
                <a:latin typeface="Arial Black" panose="020B0A04020102020204" pitchFamily="34" charset="0"/>
              </a:rPr>
              <a:t> </a:t>
            </a:r>
          </a:p>
          <a:p>
            <a:pPr marL="0" indent="0">
              <a:buNone/>
            </a:pPr>
            <a:r>
              <a:rPr lang="pt-BR" altLang="zh-CN" sz="2400" dirty="0">
                <a:latin typeface="Arial Black" panose="020B0A04020102020204" pitchFamily="34" charset="0"/>
              </a:rPr>
              <a:t>def fun(**args):</a:t>
            </a:r>
          </a:p>
          <a:p>
            <a:pPr marL="0" indent="0">
              <a:buNone/>
            </a:pPr>
            <a:r>
              <a:rPr lang="pt-BR" altLang="zh-CN" sz="2400" dirty="0">
                <a:latin typeface="Arial Black" panose="020B0A04020102020204" pitchFamily="34" charset="0"/>
              </a:rPr>
              <a:t>    print(args)</a:t>
            </a:r>
          </a:p>
          <a:p>
            <a:pPr marL="0" indent="0">
              <a:buNone/>
            </a:pPr>
            <a:endParaRPr lang="pt-BR" altLang="zh-CN" sz="2400" dirty="0">
              <a:latin typeface="Arial Black" panose="020B0A04020102020204" pitchFamily="34" charset="0"/>
            </a:endParaRPr>
          </a:p>
          <a:p>
            <a:pPr marL="0" indent="0">
              <a:buNone/>
            </a:pPr>
            <a:r>
              <a:rPr lang="pt-BR" altLang="zh-CN" sz="2400" dirty="0">
                <a:latin typeface="Arial Black" panose="020B0A04020102020204" pitchFamily="34" charset="0"/>
              </a:rPr>
              <a:t>fun()</a:t>
            </a:r>
          </a:p>
          <a:p>
            <a:pPr marL="0" indent="0">
              <a:buNone/>
            </a:pPr>
            <a:r>
              <a:rPr lang="pt-BR" altLang="zh-CN" sz="2400" dirty="0">
                <a:latin typeface="Arial Black" panose="020B0A04020102020204" pitchFamily="34" charset="0"/>
              </a:rPr>
              <a:t>fun(a=1,b=2)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0205369" y="189434"/>
            <a:ext cx="20180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5.4 函数</a:t>
            </a:r>
            <a:endParaRPr 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圆角矩形标注 7"/>
          <p:cNvSpPr/>
          <p:nvPr/>
        </p:nvSpPr>
        <p:spPr>
          <a:xfrm>
            <a:off x="4540250" y="2895600"/>
            <a:ext cx="2369185" cy="1213485"/>
          </a:xfrm>
          <a:prstGeom prst="wedgeRoundRectCallout">
            <a:avLst>
              <a:gd name="adj1" fmla="val -86585"/>
              <a:gd name="adj2" fmla="val 33673"/>
              <a:gd name="adj3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kumimoji="0"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r>
              <a:rPr lang="en-US" altLang="zh-CN" sz="24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{ }</a:t>
            </a:r>
          </a:p>
          <a:p>
            <a:pPr lvl="0" algn="l">
              <a:buClrTx/>
              <a:buSzTx/>
              <a:buFontTx/>
            </a:pPr>
            <a:r>
              <a:rPr lang="en-US" altLang="zh-CN" sz="24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{'a': 1, 'b': 2}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576705" y="4537075"/>
            <a:ext cx="1453515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pt-BR" altLang="zh-CN" dirty="0">
                <a:latin typeface="Arial Black" panose="020B0A04020102020204" pitchFamily="34" charset="0"/>
                <a:sym typeface="+mn-ea"/>
              </a:rPr>
              <a:t>fun(1,2)</a:t>
            </a: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3839210" y="4462145"/>
            <a:ext cx="6633845" cy="1782445"/>
          </a:xfrm>
          <a:prstGeom prst="rect">
            <a:avLst/>
          </a:prstGeom>
        </p:spPr>
      </p:pic>
    </p:spTree>
  </p:cSld>
  <p:clrMapOvr>
    <a:masterClrMapping/>
  </p:clrMapOvr>
  <p:transition spd="slow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8" grpId="0" bldLvl="0" animBg="1"/>
      <p:bldP spid="3" grpId="0"/>
      <p:bldP spid="3" grpId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10543" y="693490"/>
            <a:ext cx="8245415" cy="940434"/>
          </a:xfrm>
        </p:spPr>
        <p:txBody>
          <a:bodyPr vert="horz" wrap="square" lIns="91456" tIns="45728" rIns="91456" bIns="45728" numCol="1" anchor="b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方正大黑简体" panose="03000509000000000000" pitchFamily="2" charset="-122"/>
                <a:ea typeface="方正大黑简体" panose="03000509000000000000" pitchFamily="2" charset="-122"/>
                <a:cs typeface="方正大黑简体" panose="03000509000000000000" pitchFamily="2" charset="-122"/>
              </a:rPr>
              <a:t>例：可变参数示例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方正大黑简体" panose="03000509000000000000" pitchFamily="2" charset="-122"/>
                <a:ea typeface="方正大黑简体" panose="03000509000000000000" pitchFamily="2" charset="-122"/>
                <a:cs typeface="方正大黑简体" panose="03000509000000000000" pitchFamily="2" charset="-122"/>
              </a:rPr>
              <a:t>4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方正大黑简体" panose="03000509000000000000" pitchFamily="2" charset="-122"/>
                <a:ea typeface="方正大黑简体" panose="03000509000000000000" pitchFamily="2" charset="-122"/>
                <a:cs typeface="方正大黑简体" panose="03000509000000000000" pitchFamily="2" charset="-122"/>
              </a:rPr>
              <a:t>（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方正大黑简体" panose="03000509000000000000" pitchFamily="2" charset="-122"/>
                <a:ea typeface="方正大黑简体" panose="03000509000000000000" pitchFamily="2" charset="-122"/>
                <a:cs typeface="方正大黑简体" panose="03000509000000000000" pitchFamily="2" charset="-122"/>
              </a:rPr>
              <a:t>**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方正大黑简体" panose="03000509000000000000" pitchFamily="2" charset="-122"/>
                <a:ea typeface="方正大黑简体" panose="03000509000000000000" pitchFamily="2" charset="-122"/>
                <a:cs typeface="方正大黑简体" panose="03000509000000000000" pitchFamily="2" charset="-122"/>
              </a:rPr>
              <a:t>） </a:t>
            </a:r>
          </a:p>
        </p:txBody>
      </p:sp>
      <p:sp>
        <p:nvSpPr>
          <p:cNvPr id="4" name="内容占位符 2"/>
          <p:cNvSpPr txBox="1"/>
          <p:nvPr/>
        </p:nvSpPr>
        <p:spPr>
          <a:xfrm>
            <a:off x="1170305" y="1701602"/>
            <a:ext cx="9937115" cy="42392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altLang="zh-CN" sz="2400" i="1" dirty="0">
                <a:latin typeface="Arial Black" panose="020B0A04020102020204" pitchFamily="34" charset="0"/>
              </a:rPr>
              <a:t>#</a:t>
            </a:r>
            <a:r>
              <a:rPr lang="zh-CN" altLang="pt-BR" sz="2400" i="1" dirty="0">
                <a:latin typeface="Arial Black" panose="020B0A04020102020204" pitchFamily="34" charset="0"/>
              </a:rPr>
              <a:t>例</a:t>
            </a:r>
            <a:r>
              <a:rPr lang="pt-BR" altLang="zh-CN" sz="2400" i="1" dirty="0">
                <a:latin typeface="Arial Black" panose="020B0A04020102020204" pitchFamily="34" charset="0"/>
              </a:rPr>
              <a:t> </a:t>
            </a:r>
          </a:p>
          <a:p>
            <a:pPr marL="0" indent="0">
              <a:buNone/>
            </a:pPr>
            <a:r>
              <a:rPr lang="pt-BR" altLang="zh-CN" sz="2400" dirty="0">
                <a:latin typeface="Arial Black" panose="020B0A04020102020204" pitchFamily="34" charset="0"/>
              </a:rPr>
              <a:t>def fun(name,age,sex):</a:t>
            </a:r>
          </a:p>
          <a:p>
            <a:pPr marL="0" indent="0">
              <a:buNone/>
            </a:pPr>
            <a:r>
              <a:rPr lang="pt-BR" altLang="zh-CN" sz="2400" dirty="0">
                <a:latin typeface="Arial Black" panose="020B0A04020102020204" pitchFamily="34" charset="0"/>
              </a:rPr>
              <a:t>    print("姓名：",name)</a:t>
            </a:r>
          </a:p>
          <a:p>
            <a:pPr marL="0" indent="0">
              <a:buNone/>
            </a:pPr>
            <a:r>
              <a:rPr lang="pt-BR" altLang="zh-CN" sz="2400" dirty="0">
                <a:latin typeface="Arial Black" panose="020B0A04020102020204" pitchFamily="34" charset="0"/>
              </a:rPr>
              <a:t>    print("年龄：",sex)</a:t>
            </a:r>
            <a:r>
              <a:rPr lang="en-US" altLang="zh-CN" sz="2400" dirty="0">
                <a:latin typeface="Arial Black" panose="020B0A04020102020204" pitchFamily="34" charset="0"/>
              </a:rPr>
              <a:t> </a:t>
            </a:r>
            <a:r>
              <a:rPr lang="pt-BR" altLang="zh-CN" sz="2400" dirty="0">
                <a:latin typeface="Arial Black" panose="020B0A04020102020204" pitchFamily="34" charset="0"/>
              </a:rPr>
              <a:t>print("性别：",age)</a:t>
            </a:r>
          </a:p>
          <a:p>
            <a:pPr marL="0" indent="0">
              <a:buNone/>
            </a:pPr>
            <a:endParaRPr lang="pt-BR" altLang="zh-CN" sz="2400" dirty="0">
              <a:latin typeface="Arial Black" panose="020B0A04020102020204" pitchFamily="34" charset="0"/>
            </a:endParaRPr>
          </a:p>
          <a:p>
            <a:pPr marL="0" indent="0">
              <a:buNone/>
            </a:pPr>
            <a:r>
              <a:rPr lang="pt-BR" altLang="zh-CN" sz="2400" dirty="0">
                <a:latin typeface="Arial Black" panose="020B0A04020102020204" pitchFamily="34" charset="0"/>
              </a:rPr>
              <a:t>mydict = {'name':'Tom','age':20,'sex':'男'}</a:t>
            </a:r>
          </a:p>
          <a:p>
            <a:pPr marL="0" indent="0">
              <a:buNone/>
            </a:pPr>
            <a:r>
              <a:rPr lang="pt-BR" altLang="zh-CN" sz="2400" dirty="0">
                <a:latin typeface="Arial Black" panose="020B0A04020102020204" pitchFamily="34" charset="0"/>
              </a:rPr>
              <a:t>fun(</a:t>
            </a:r>
            <a:r>
              <a:rPr lang="pt-BR" altLang="zh-CN" sz="2400" dirty="0">
                <a:solidFill>
                  <a:srgbClr val="660033"/>
                </a:solidFill>
                <a:latin typeface="Arial Black" panose="020B0A04020102020204" pitchFamily="34" charset="0"/>
              </a:rPr>
              <a:t>mydict</a:t>
            </a:r>
            <a:r>
              <a:rPr lang="pt-BR" altLang="zh-CN" sz="2400" dirty="0">
                <a:latin typeface="Arial Black" panose="020B0A04020102020204" pitchFamily="34" charset="0"/>
              </a:rPr>
              <a:t>)</a:t>
            </a:r>
          </a:p>
          <a:p>
            <a:pPr marL="0" indent="0">
              <a:buNone/>
            </a:pPr>
            <a:r>
              <a:rPr lang="pt-BR" altLang="zh-CN" sz="2400" dirty="0">
                <a:latin typeface="Arial Black" panose="020B0A04020102020204" pitchFamily="34" charset="0"/>
              </a:rPr>
              <a:t>fun(</a:t>
            </a:r>
            <a:r>
              <a:rPr lang="pt-BR" altLang="zh-CN" sz="2400" dirty="0">
                <a:solidFill>
                  <a:srgbClr val="FF0000"/>
                </a:solidFill>
                <a:latin typeface="Arial Black" panose="020B0A04020102020204" pitchFamily="34" charset="0"/>
              </a:rPr>
              <a:t>**mydict</a:t>
            </a:r>
            <a:r>
              <a:rPr lang="pt-BR" altLang="zh-CN" sz="2400" dirty="0">
                <a:latin typeface="Arial Black" panose="020B0A04020102020204" pitchFamily="34" charset="0"/>
              </a:rPr>
              <a:t>)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0205369" y="189434"/>
            <a:ext cx="20180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5.4 函数</a:t>
            </a:r>
            <a:endParaRPr 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圆角矩形标注 7"/>
          <p:cNvSpPr/>
          <p:nvPr/>
        </p:nvSpPr>
        <p:spPr>
          <a:xfrm>
            <a:off x="6807956" y="5229994"/>
            <a:ext cx="2614885" cy="882774"/>
          </a:xfrm>
          <a:prstGeom prst="wedgeRoundRectCallout">
            <a:avLst>
              <a:gd name="adj1" fmla="val -175448"/>
              <a:gd name="adj2" fmla="val -71224"/>
              <a:gd name="adj3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kumimoji="0"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r>
              <a:rPr lang="en-US" altLang="zh-CN" sz="20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姓名： Tom</a:t>
            </a:r>
          </a:p>
          <a:p>
            <a:pPr lvl="0" algn="l">
              <a:buClrTx/>
              <a:buSzTx/>
              <a:buFontTx/>
            </a:pPr>
            <a:r>
              <a:rPr lang="en-US" altLang="zh-CN" sz="20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年龄： 男</a:t>
            </a:r>
          </a:p>
          <a:p>
            <a:pPr lvl="0" algn="l">
              <a:buClrTx/>
              <a:buSzTx/>
              <a:buFontTx/>
            </a:pPr>
            <a:r>
              <a:rPr lang="en-US" altLang="zh-CN" sz="20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性别： 20</a:t>
            </a:r>
          </a:p>
        </p:txBody>
      </p:sp>
      <p:sp>
        <p:nvSpPr>
          <p:cNvPr id="7" name="圆角矩形标注 6"/>
          <p:cNvSpPr/>
          <p:nvPr/>
        </p:nvSpPr>
        <p:spPr>
          <a:xfrm>
            <a:off x="8619455" y="3501802"/>
            <a:ext cx="2880320" cy="1574964"/>
          </a:xfrm>
          <a:prstGeom prst="wedgeRoundRectCallout">
            <a:avLst>
              <a:gd name="adj1" fmla="val -236994"/>
              <a:gd name="adj2" fmla="val 17534"/>
              <a:gd name="adj3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kumimoji="0"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r>
              <a:rPr lang="en-US" altLang="zh-CN" b="1" dirty="0" err="1">
                <a:solidFill>
                  <a:schemeClr val="accent2"/>
                </a:solidFill>
                <a:latin typeface="Arial Black" panose="020B0A04020102020204" pitchFamily="34" charset="0"/>
              </a:rPr>
              <a:t>TypeError</a:t>
            </a:r>
            <a:r>
              <a:rPr lang="en-US" altLang="zh-CN" b="1" dirty="0">
                <a:solidFill>
                  <a:schemeClr val="accent2"/>
                </a:solidFill>
                <a:latin typeface="Arial Black" panose="020B0A04020102020204" pitchFamily="34" charset="0"/>
              </a:rPr>
              <a:t>: fun() missing 2 required positional arguments: 'age' and 'sex'</a:t>
            </a:r>
            <a:endParaRPr lang="en-US" altLang="zh-CN" sz="20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1170305" y="4581922"/>
            <a:ext cx="2048550" cy="0"/>
          </a:xfrm>
          <a:prstGeom prst="line">
            <a:avLst/>
          </a:prstGeom>
          <a:ln w="41275" cmpd="sng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  <p:bldP spid="7" grpId="0" bldLvl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410543" y="693490"/>
            <a:ext cx="8245415" cy="940434"/>
          </a:xfrm>
        </p:spPr>
        <p:txBody>
          <a:bodyPr vert="horz" wrap="square" lIns="91456" tIns="45728" rIns="91456" bIns="45728" numCol="1" anchor="b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方正大黑简体" panose="03000509000000000000" pitchFamily="2" charset="-122"/>
                <a:ea typeface="方正大黑简体" panose="03000509000000000000" pitchFamily="2" charset="-122"/>
                <a:cs typeface="方正大黑简体" panose="03000509000000000000" pitchFamily="2" charset="-122"/>
              </a:rPr>
              <a:t>例：可变参数示例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方正大黑简体" panose="03000509000000000000" pitchFamily="2" charset="-122"/>
                <a:ea typeface="方正大黑简体" panose="03000509000000000000" pitchFamily="2" charset="-122"/>
                <a:cs typeface="方正大黑简体" panose="03000509000000000000" pitchFamily="2" charset="-122"/>
              </a:rPr>
              <a:t>4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方正大黑简体" panose="03000509000000000000" pitchFamily="2" charset="-122"/>
                <a:ea typeface="方正大黑简体" panose="03000509000000000000" pitchFamily="2" charset="-122"/>
                <a:cs typeface="方正大黑简体" panose="03000509000000000000" pitchFamily="2" charset="-122"/>
              </a:rPr>
              <a:t>（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方正大黑简体" panose="03000509000000000000" pitchFamily="2" charset="-122"/>
                <a:ea typeface="方正大黑简体" panose="03000509000000000000" pitchFamily="2" charset="-122"/>
                <a:cs typeface="方正大黑简体" panose="03000509000000000000" pitchFamily="2" charset="-122"/>
              </a:rPr>
              <a:t>**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方正大黑简体" panose="03000509000000000000" pitchFamily="2" charset="-122"/>
                <a:ea typeface="方正大黑简体" panose="03000509000000000000" pitchFamily="2" charset="-122"/>
                <a:cs typeface="方正大黑简体" panose="03000509000000000000" pitchFamily="2" charset="-122"/>
              </a:rPr>
              <a:t>） </a:t>
            </a:r>
          </a:p>
        </p:txBody>
      </p:sp>
      <p:sp>
        <p:nvSpPr>
          <p:cNvPr id="4" name="内容占位符 2"/>
          <p:cNvSpPr txBox="1"/>
          <p:nvPr/>
        </p:nvSpPr>
        <p:spPr>
          <a:xfrm>
            <a:off x="977096" y="1793240"/>
            <a:ext cx="9937115" cy="42392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altLang="zh-CN" sz="2400" i="1" dirty="0">
                <a:latin typeface="Arial Black" panose="020B0A04020102020204" pitchFamily="34" charset="0"/>
              </a:rPr>
              <a:t>#</a:t>
            </a:r>
            <a:r>
              <a:rPr lang="zh-CN" altLang="pt-BR" sz="2400" i="1" dirty="0">
                <a:latin typeface="Arial Black" panose="020B0A04020102020204" pitchFamily="34" charset="0"/>
              </a:rPr>
              <a:t>例</a:t>
            </a:r>
            <a:r>
              <a:rPr lang="pt-BR" altLang="zh-CN" sz="2400" i="1" dirty="0">
                <a:latin typeface="Arial Black" panose="020B0A04020102020204" pitchFamily="34" charset="0"/>
              </a:rPr>
              <a:t> </a:t>
            </a:r>
          </a:p>
          <a:p>
            <a:pPr marL="0" indent="0">
              <a:buNone/>
            </a:pPr>
            <a:r>
              <a:rPr lang="pt-BR" altLang="zh-CN" sz="2400" dirty="0">
                <a:latin typeface="Arial Black" panose="020B0A04020102020204" pitchFamily="34" charset="0"/>
              </a:rPr>
              <a:t>def fun(**args):</a:t>
            </a:r>
          </a:p>
          <a:p>
            <a:pPr marL="0" indent="0">
              <a:buNone/>
            </a:pPr>
            <a:r>
              <a:rPr lang="pt-BR" altLang="zh-CN" sz="2400" dirty="0">
                <a:latin typeface="Arial Black" panose="020B0A04020102020204" pitchFamily="34" charset="0"/>
              </a:rPr>
              <a:t>    print("</a:t>
            </a:r>
            <a:r>
              <a:rPr lang="zh-CN" altLang="en-US" sz="2400" dirty="0">
                <a:latin typeface="Arial Black" panose="020B0A04020102020204" pitchFamily="34" charset="0"/>
              </a:rPr>
              <a:t>姓名：</a:t>
            </a:r>
            <a:r>
              <a:rPr lang="en-US" altLang="zh-CN" sz="2400" dirty="0">
                <a:latin typeface="Arial Black" panose="020B0A04020102020204" pitchFamily="34" charset="0"/>
              </a:rPr>
              <a:t>",</a:t>
            </a:r>
            <a:r>
              <a:rPr lang="pt-BR" altLang="zh-CN" sz="2400" dirty="0">
                <a:latin typeface="Arial Black" panose="020B0A04020102020204" pitchFamily="34" charset="0"/>
              </a:rPr>
              <a:t>args.get('name'))</a:t>
            </a:r>
          </a:p>
          <a:p>
            <a:pPr marL="0" indent="0">
              <a:buNone/>
            </a:pPr>
            <a:r>
              <a:rPr lang="pt-BR" altLang="zh-CN" sz="2400" dirty="0">
                <a:latin typeface="Arial Black" panose="020B0A04020102020204" pitchFamily="34" charset="0"/>
              </a:rPr>
              <a:t>    print("</a:t>
            </a:r>
            <a:r>
              <a:rPr lang="zh-CN" altLang="en-US" sz="2400" dirty="0">
                <a:latin typeface="Arial Black" panose="020B0A04020102020204" pitchFamily="34" charset="0"/>
              </a:rPr>
              <a:t>年龄：</a:t>
            </a:r>
            <a:r>
              <a:rPr lang="en-US" altLang="zh-CN" sz="2400" dirty="0">
                <a:latin typeface="Arial Black" panose="020B0A04020102020204" pitchFamily="34" charset="0"/>
              </a:rPr>
              <a:t>",</a:t>
            </a:r>
            <a:r>
              <a:rPr lang="pt-BR" altLang="zh-CN" sz="2400" dirty="0">
                <a:latin typeface="Arial Black" panose="020B0A04020102020204" pitchFamily="34" charset="0"/>
              </a:rPr>
              <a:t>args.get('sex'))</a:t>
            </a:r>
          </a:p>
          <a:p>
            <a:pPr marL="0" indent="0">
              <a:buNone/>
            </a:pPr>
            <a:r>
              <a:rPr lang="pt-BR" altLang="zh-CN" sz="2400" dirty="0">
                <a:latin typeface="Arial Black" panose="020B0A04020102020204" pitchFamily="34" charset="0"/>
              </a:rPr>
              <a:t>    print("</a:t>
            </a:r>
            <a:r>
              <a:rPr lang="zh-CN" altLang="en-US" sz="2400" dirty="0">
                <a:latin typeface="Arial Black" panose="020B0A04020102020204" pitchFamily="34" charset="0"/>
              </a:rPr>
              <a:t>性别：</a:t>
            </a:r>
            <a:r>
              <a:rPr lang="en-US" altLang="zh-CN" sz="2400" dirty="0">
                <a:latin typeface="Arial Black" panose="020B0A04020102020204" pitchFamily="34" charset="0"/>
              </a:rPr>
              <a:t>",</a:t>
            </a:r>
            <a:r>
              <a:rPr lang="pt-BR" altLang="zh-CN" sz="2400" dirty="0">
                <a:latin typeface="Arial Black" panose="020B0A04020102020204" pitchFamily="34" charset="0"/>
              </a:rPr>
              <a:t>args.get('age'))</a:t>
            </a:r>
          </a:p>
          <a:p>
            <a:pPr marL="0" indent="0">
              <a:buNone/>
            </a:pPr>
            <a:r>
              <a:rPr lang="pt-BR" altLang="zh-CN" sz="2400" dirty="0">
                <a:latin typeface="Arial Black" panose="020B0A04020102020204" pitchFamily="34" charset="0"/>
              </a:rPr>
              <a:t>mydict = {'name':'Tom','age':20,'sex':'男'}</a:t>
            </a:r>
          </a:p>
          <a:p>
            <a:pPr marL="0" indent="0">
              <a:buNone/>
            </a:pPr>
            <a:r>
              <a:rPr lang="pt-BR" altLang="zh-CN" sz="2400" dirty="0">
                <a:latin typeface="Arial Black" panose="020B0A04020102020204" pitchFamily="34" charset="0"/>
              </a:rPr>
              <a:t>fun(</a:t>
            </a:r>
            <a:r>
              <a:rPr lang="pt-BR" altLang="zh-CN" sz="2400" dirty="0">
                <a:solidFill>
                  <a:srgbClr val="FF0000"/>
                </a:solidFill>
                <a:latin typeface="Arial Black" panose="020B0A04020102020204" pitchFamily="34" charset="0"/>
              </a:rPr>
              <a:t>**mydict</a:t>
            </a:r>
            <a:r>
              <a:rPr lang="pt-BR" altLang="zh-CN" sz="2400" dirty="0">
                <a:latin typeface="Arial Black" panose="020B0A04020102020204" pitchFamily="34" charset="0"/>
              </a:rPr>
              <a:t>)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0205369" y="189434"/>
            <a:ext cx="20180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5.4 函数</a:t>
            </a:r>
            <a:endParaRPr 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049" name="Picture 1" descr="C:\Users\ThinkPad\AppData\Roaming\Tencent\Users\19379577\QQ\WinTemp\RichOle\$PR1ZZ22M]%PM7%O1KZSGK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7407" y="4365898"/>
            <a:ext cx="2093086" cy="1436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26814506"/>
      </p:ext>
    </p:extLst>
  </p:cSld>
  <p:clrMapOvr>
    <a:masterClrMapping/>
  </p:clrMapOvr>
  <p:transition spd="slow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内容占位符 2"/>
          <p:cNvSpPr>
            <a:spLocks noGrp="1"/>
          </p:cNvSpPr>
          <p:nvPr>
            <p:ph idx="1"/>
          </p:nvPr>
        </p:nvSpPr>
        <p:spPr>
          <a:xfrm>
            <a:off x="518746" y="2171879"/>
            <a:ext cx="11161240" cy="2752724"/>
          </a:xfrm>
        </p:spPr>
        <p:txBody>
          <a:bodyPr vert="horz" wrap="square" lIns="91456" tIns="45728" rIns="91456" bIns="45728" anchor="t"/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实参个数小于形参个数时发生了什么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?</a:t>
            </a: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函数的参数支持默认值。当某个参数没有传递实际的值时，函数将使用默认参数计算。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0205369" y="189434"/>
            <a:ext cx="20180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5.4 函数</a:t>
            </a:r>
            <a:endParaRPr 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1"/>
          <p:cNvSpPr>
            <a:spLocks noGrp="1"/>
          </p:cNvSpPr>
          <p:nvPr/>
        </p:nvSpPr>
        <p:spPr>
          <a:xfrm>
            <a:off x="266700" y="792480"/>
            <a:ext cx="10258425" cy="714375"/>
          </a:xfrm>
        </p:spPr>
        <p:txBody>
          <a:bodyPr vert="horz" wrap="square" lIns="91456" tIns="45728" rIns="91456" bIns="45728" numCol="1" anchor="b" anchorCtr="0" compatLnSpc="1"/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 defTabSz="914400" eaLnBrk="0" fontAlgn="base" hangingPunct="0">
              <a:lnSpc>
                <a:spcPct val="90000"/>
              </a:lnSpc>
              <a:spcAft>
                <a:spcPct val="0"/>
              </a:spcAft>
              <a:defRPr/>
            </a:pPr>
            <a:r>
              <a:rPr lang="en-US" altLang="zh-CN" sz="2800" b="1" kern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800" b="1" kern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800" b="1" kern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函数参数的</a:t>
            </a:r>
            <a:r>
              <a:rPr lang="en-US" altLang="zh-CN" sz="2800" b="1" kern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“</a:t>
            </a:r>
            <a:r>
              <a:rPr lang="zh-CN" altLang="en-US" sz="2800" b="1" kern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花式</a:t>
            </a:r>
            <a:r>
              <a:rPr lang="en-US" altLang="zh-CN" sz="2800" b="1" kern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”</a:t>
            </a:r>
            <a:r>
              <a:rPr lang="zh-CN" altLang="en-US" sz="2800" b="1" kern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传递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84835" y="1629410"/>
            <a:ext cx="6529070" cy="47815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lvl="0" algn="l" defTabSz="914400" eaLnBrk="0" fontAlgn="base" hangingPunct="0">
              <a:lnSpc>
                <a:spcPct val="90000"/>
              </a:lnSpc>
              <a:spcAft>
                <a:spcPct val="0"/>
              </a:spcAft>
              <a:defRPr/>
            </a:pPr>
            <a:r>
              <a:rPr lang="zh-CN" altLang="en-US" sz="2800" b="1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</a:t>
            </a:r>
            <a:r>
              <a:rPr lang="en-US" altLang="zh-CN" sz="2800" b="1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4</a:t>
            </a:r>
            <a:r>
              <a:rPr lang="zh-CN" altLang="en-US" sz="2800" b="1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）默认</a:t>
            </a:r>
            <a:r>
              <a:rPr lang="zh-CN" altLang="en-US" sz="2800" b="1" kern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参数（</a:t>
            </a:r>
            <a:r>
              <a:rPr lang="en-US" sz="2800" b="1" kern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Default Parameter</a:t>
            </a:r>
            <a:r>
              <a:rPr lang="zh-CN" altLang="en-US" sz="2800" b="1" kern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</a:t>
            </a:r>
          </a:p>
        </p:txBody>
      </p:sp>
    </p:spTree>
  </p:cSld>
  <p:clrMapOvr>
    <a:masterClrMapping/>
  </p:clrMapOvr>
  <p:transition spd="slow" advTm="0"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10205369" y="189434"/>
            <a:ext cx="20180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5.4 函数</a:t>
            </a:r>
            <a:endParaRPr 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1202631" y="2107565"/>
            <a:ext cx="10369152" cy="417646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0" lang="zh-CN" sz="3200" b="1" kern="12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charset="-122"/>
                <a:cs typeface="Verdana" panose="020B060403050404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kumimoji="0" lang="zh-CN" sz="2800" b="1" kern="1200">
                <a:solidFill>
                  <a:schemeClr val="tx1"/>
                </a:solidFill>
                <a:latin typeface="+mn-lt"/>
                <a:ea typeface="+mn-ea"/>
                <a:cs typeface="Tahoma" panose="020B060403050404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0" lang="zh-CN" sz="2400" b="1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Tahoma" panose="020B060403050404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kumimoji="0" lang="zh-CN" sz="2400" b="1" kern="1200">
                <a:solidFill>
                  <a:schemeClr val="tx1"/>
                </a:solidFill>
                <a:latin typeface="+mn-lt"/>
                <a:ea typeface="+mn-ea"/>
                <a:cs typeface="Tahoma" panose="020B060403050404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kumimoji="0" lang="zh-CN" sz="2400" b="1" kern="1200">
                <a:solidFill>
                  <a:schemeClr val="tx1"/>
                </a:solidFill>
                <a:latin typeface="+mn-lt"/>
                <a:ea typeface="+mn-ea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0" lang="zh-CN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0" lang="zh-CN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0" lang="zh-CN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0" lang="zh-CN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400"/>
              </a:lnSpc>
              <a:buNone/>
            </a:pPr>
            <a:r>
              <a:rPr lang="zh-CN" altLang="en-US" sz="2800" dirty="0"/>
              <a:t>思考：写程序，用于合计电影票的总价。</a:t>
            </a:r>
            <a:endParaRPr lang="en-US" altLang="zh-CN" sz="2800" dirty="0"/>
          </a:p>
          <a:p>
            <a:pPr lvl="1">
              <a:lnSpc>
                <a:spcPts val="3400"/>
              </a:lnSpc>
            </a:pPr>
            <a:r>
              <a:rPr lang="zh-CN" altLang="en-US" dirty="0"/>
              <a:t>单张电影票的基准价一般是</a:t>
            </a:r>
            <a:r>
              <a:rPr lang="en-US" altLang="zh-CN" dirty="0"/>
              <a:t>20</a:t>
            </a:r>
            <a:r>
              <a:rPr lang="zh-CN" altLang="en-US" dirty="0"/>
              <a:t>元。热门大片可能卖到</a:t>
            </a:r>
            <a:r>
              <a:rPr lang="en-US" altLang="zh-CN" dirty="0"/>
              <a:t>30</a:t>
            </a:r>
            <a:r>
              <a:rPr lang="zh-CN" altLang="en-US" dirty="0"/>
              <a:t>元。</a:t>
            </a:r>
            <a:endParaRPr lang="en-US" altLang="zh-CN" dirty="0"/>
          </a:p>
          <a:p>
            <a:pPr lvl="1">
              <a:lnSpc>
                <a:spcPts val="3400"/>
              </a:lnSpc>
            </a:pPr>
            <a:r>
              <a:rPr lang="zh-CN" altLang="en-US" dirty="0"/>
              <a:t>年龄段不同票价不同。</a:t>
            </a:r>
            <a:endParaRPr lang="en-US" altLang="zh-CN" dirty="0"/>
          </a:p>
          <a:p>
            <a:pPr lvl="2">
              <a:lnSpc>
                <a:spcPts val="3400"/>
              </a:lnSpc>
            </a:pPr>
            <a:r>
              <a:rPr lang="en-US" altLang="zh-CN" dirty="0"/>
              <a:t>1</a:t>
            </a:r>
            <a:r>
              <a:rPr lang="zh-CN" altLang="en-US" dirty="0"/>
              <a:t>段：</a:t>
            </a:r>
            <a:r>
              <a:rPr lang="en-US" altLang="zh-CN" dirty="0"/>
              <a:t>6</a:t>
            </a:r>
            <a:r>
              <a:rPr lang="zh-CN" altLang="en-US" dirty="0"/>
              <a:t>岁（含）以下的儿童免票。</a:t>
            </a:r>
            <a:endParaRPr lang="en-US" altLang="zh-CN" dirty="0"/>
          </a:p>
          <a:p>
            <a:pPr lvl="2">
              <a:lnSpc>
                <a:spcPts val="3400"/>
              </a:lnSpc>
            </a:pPr>
            <a:r>
              <a:rPr lang="en-US" altLang="zh-CN" dirty="0"/>
              <a:t>2</a:t>
            </a:r>
            <a:r>
              <a:rPr lang="zh-CN" altLang="en-US" dirty="0"/>
              <a:t>段：</a:t>
            </a:r>
            <a:r>
              <a:rPr lang="en-US" altLang="zh-CN" dirty="0"/>
              <a:t>6</a:t>
            </a:r>
            <a:r>
              <a:rPr lang="zh-CN" altLang="en-US" dirty="0"/>
              <a:t>岁到</a:t>
            </a:r>
            <a:r>
              <a:rPr lang="en-US" altLang="zh-CN" dirty="0"/>
              <a:t>14</a:t>
            </a:r>
            <a:r>
              <a:rPr lang="zh-CN" altLang="en-US" dirty="0"/>
              <a:t>岁（含）半价。</a:t>
            </a:r>
            <a:endParaRPr lang="en-US" altLang="zh-CN" dirty="0"/>
          </a:p>
          <a:p>
            <a:pPr lvl="2">
              <a:lnSpc>
                <a:spcPts val="3400"/>
              </a:lnSpc>
            </a:pPr>
            <a:r>
              <a:rPr lang="en-US" altLang="zh-CN" dirty="0"/>
              <a:t>3</a:t>
            </a:r>
            <a:r>
              <a:rPr lang="zh-CN" altLang="en-US" dirty="0"/>
              <a:t>段：</a:t>
            </a:r>
            <a:r>
              <a:rPr lang="en-US" altLang="zh-CN" dirty="0"/>
              <a:t>14</a:t>
            </a:r>
            <a:r>
              <a:rPr lang="zh-CN" altLang="en-US" dirty="0"/>
              <a:t>岁到</a:t>
            </a:r>
            <a:r>
              <a:rPr lang="en-US" altLang="zh-CN" dirty="0"/>
              <a:t>65</a:t>
            </a:r>
            <a:r>
              <a:rPr lang="zh-CN" altLang="en-US" dirty="0"/>
              <a:t>岁全票。</a:t>
            </a:r>
            <a:endParaRPr lang="en-US" altLang="zh-CN" dirty="0"/>
          </a:p>
          <a:p>
            <a:pPr lvl="2">
              <a:lnSpc>
                <a:spcPts val="3400"/>
              </a:lnSpc>
            </a:pPr>
            <a:r>
              <a:rPr lang="en-US" altLang="zh-CN" dirty="0"/>
              <a:t>4</a:t>
            </a:r>
            <a:r>
              <a:rPr lang="zh-CN" altLang="en-US" dirty="0"/>
              <a:t>段：</a:t>
            </a:r>
            <a:r>
              <a:rPr lang="en-US" altLang="zh-CN" dirty="0"/>
              <a:t>65</a:t>
            </a:r>
            <a:r>
              <a:rPr lang="zh-CN" altLang="en-US" dirty="0"/>
              <a:t>岁以上（含）半价。</a:t>
            </a:r>
            <a:endParaRPr lang="en-US" altLang="zh-CN" dirty="0"/>
          </a:p>
          <a:p>
            <a:pPr lvl="1">
              <a:lnSpc>
                <a:spcPts val="3400"/>
              </a:lnSpc>
            </a:pPr>
            <a:r>
              <a:rPr lang="zh-CN" altLang="en-US" dirty="0"/>
              <a:t>针对各种电影票购买的组合，合计电影票总价。</a:t>
            </a:r>
          </a:p>
        </p:txBody>
      </p:sp>
      <p:sp>
        <p:nvSpPr>
          <p:cNvPr id="3" name="标题 1"/>
          <p:cNvSpPr>
            <a:spLocks noGrp="1"/>
          </p:cNvSpPr>
          <p:nvPr/>
        </p:nvSpPr>
        <p:spPr>
          <a:xfrm>
            <a:off x="266700" y="792480"/>
            <a:ext cx="10258425" cy="714375"/>
          </a:xfrm>
        </p:spPr>
        <p:txBody>
          <a:bodyPr vert="horz" wrap="square" lIns="91456" tIns="45728" rIns="91456" bIns="45728" numCol="1" anchor="b" anchorCtr="0" compatLnSpc="1"/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 defTabSz="914400" eaLnBrk="0" fontAlgn="base" hangingPunct="0">
              <a:lnSpc>
                <a:spcPct val="90000"/>
              </a:lnSpc>
              <a:spcAft>
                <a:spcPct val="0"/>
              </a:spcAft>
              <a:defRPr/>
            </a:pPr>
            <a:r>
              <a:rPr lang="en-US" altLang="zh-CN" sz="2800" b="1" kern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800" b="1" kern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800" b="1" kern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函数参数的</a:t>
            </a:r>
            <a:r>
              <a:rPr lang="en-US" altLang="zh-CN" sz="2800" b="1" kern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“</a:t>
            </a:r>
            <a:r>
              <a:rPr lang="zh-CN" altLang="en-US" sz="2800" b="1" kern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花式</a:t>
            </a:r>
            <a:r>
              <a:rPr lang="en-US" altLang="zh-CN" sz="2800" b="1" kern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”</a:t>
            </a:r>
            <a:r>
              <a:rPr lang="zh-CN" altLang="en-US" sz="2800" b="1" kern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传递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84835" y="1629410"/>
            <a:ext cx="6529070" cy="47815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lvl="0" algn="l" defTabSz="914400" eaLnBrk="0" fontAlgn="base" hangingPunct="0">
              <a:lnSpc>
                <a:spcPct val="90000"/>
              </a:lnSpc>
              <a:spcAft>
                <a:spcPct val="0"/>
              </a:spcAft>
              <a:defRPr/>
            </a:pPr>
            <a:r>
              <a:rPr lang="zh-CN" altLang="en-US" sz="2800" b="1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</a:t>
            </a:r>
            <a:r>
              <a:rPr lang="en-US" altLang="zh-CN" sz="2800" b="1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4</a:t>
            </a:r>
            <a:r>
              <a:rPr lang="zh-CN" altLang="en-US" sz="2800" b="1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）默认</a:t>
            </a:r>
            <a:r>
              <a:rPr lang="zh-CN" altLang="en-US" sz="2800" b="1" kern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参数（</a:t>
            </a:r>
            <a:r>
              <a:rPr lang="en-US" sz="2800" b="1" kern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Default Parameter</a:t>
            </a:r>
            <a:r>
              <a:rPr lang="zh-CN" altLang="en-US" sz="2800" b="1" kern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</a:t>
            </a:r>
          </a:p>
        </p:txBody>
      </p:sp>
    </p:spTree>
  </p:cSld>
  <p:clrMapOvr>
    <a:masterClrMapping/>
  </p:clrMapOvr>
  <p:transition spd="slow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10205369" y="189434"/>
            <a:ext cx="20180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5.4 函数</a:t>
            </a:r>
            <a:endParaRPr 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内容占位符 2"/>
          <p:cNvSpPr txBox="1"/>
          <p:nvPr/>
        </p:nvSpPr>
        <p:spPr>
          <a:xfrm>
            <a:off x="122511" y="981522"/>
            <a:ext cx="11809312" cy="529708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400" i="1" dirty="0"/>
              <a:t>#</a:t>
            </a:r>
            <a:r>
              <a:rPr lang="zh-CN" altLang="en-US" sz="2400" i="1" dirty="0"/>
              <a:t>例：计算电影票价</a:t>
            </a:r>
            <a:br>
              <a:rPr lang="zh-CN" altLang="en-US" sz="2400" i="1" dirty="0"/>
            </a:br>
            <a:r>
              <a:rPr lang="en-US" altLang="zh-CN" sz="2400" b="1" dirty="0" err="1"/>
              <a:t>def</a:t>
            </a:r>
            <a:r>
              <a:rPr lang="en-US" altLang="zh-CN" sz="2400" b="1" dirty="0"/>
              <a:t> </a:t>
            </a:r>
            <a:r>
              <a:rPr lang="en-US" altLang="zh-CN" sz="2400" dirty="0" err="1"/>
              <a:t>get_price</a:t>
            </a:r>
            <a:r>
              <a:rPr lang="en-US" altLang="zh-CN" sz="2400" dirty="0"/>
              <a:t>(</a:t>
            </a:r>
            <a:r>
              <a:rPr lang="en-US" altLang="zh-CN" sz="2400" b="1" dirty="0">
                <a:solidFill>
                  <a:srgbClr val="FF0000"/>
                </a:solidFill>
              </a:rPr>
              <a:t>price=20, </a:t>
            </a:r>
            <a:r>
              <a:rPr lang="en-US" altLang="zh-CN" sz="2400" b="1" dirty="0" err="1">
                <a:solidFill>
                  <a:srgbClr val="FF0000"/>
                </a:solidFill>
              </a:rPr>
              <a:t>age_type</a:t>
            </a:r>
            <a:r>
              <a:rPr lang="en-US" altLang="zh-CN" sz="2400" b="1" dirty="0">
                <a:solidFill>
                  <a:srgbClr val="FF0000"/>
                </a:solidFill>
              </a:rPr>
              <a:t> = 3</a:t>
            </a:r>
            <a:r>
              <a:rPr lang="en-US" altLang="zh-CN" sz="2400" dirty="0"/>
              <a:t>):</a:t>
            </a:r>
            <a:br>
              <a:rPr lang="en-US" altLang="zh-CN" sz="2400" dirty="0"/>
            </a:br>
            <a:r>
              <a:rPr lang="en-US" altLang="zh-CN" sz="2400" dirty="0"/>
              <a:t>    </a:t>
            </a:r>
            <a:r>
              <a:rPr lang="en-US" altLang="zh-CN" sz="2400" b="1" dirty="0"/>
              <a:t>if </a:t>
            </a:r>
            <a:r>
              <a:rPr lang="en-US" altLang="zh-CN" sz="2400" dirty="0" err="1"/>
              <a:t>age_type</a:t>
            </a:r>
            <a:r>
              <a:rPr lang="en-US" altLang="zh-CN" sz="2400" dirty="0"/>
              <a:t> == 1:</a:t>
            </a:r>
            <a:br>
              <a:rPr lang="en-US" altLang="zh-CN" sz="2400" dirty="0"/>
            </a:br>
            <a:r>
              <a:rPr lang="en-US" altLang="zh-CN" sz="2400" dirty="0"/>
              <a:t>        </a:t>
            </a:r>
            <a:r>
              <a:rPr lang="en-US" altLang="zh-CN" sz="2400" b="1" dirty="0"/>
              <a:t>return </a:t>
            </a:r>
            <a:r>
              <a:rPr lang="en-US" altLang="zh-CN" sz="2400" dirty="0"/>
              <a:t>0</a:t>
            </a:r>
            <a:br>
              <a:rPr lang="en-US" altLang="zh-CN" sz="2400" dirty="0"/>
            </a:br>
            <a:r>
              <a:rPr lang="en-US" altLang="zh-CN" sz="2400" dirty="0"/>
              <a:t>    </a:t>
            </a:r>
            <a:r>
              <a:rPr lang="en-US" altLang="zh-CN" sz="2400" b="1" dirty="0" err="1"/>
              <a:t>elif</a:t>
            </a:r>
            <a:r>
              <a:rPr lang="en-US" altLang="zh-CN" sz="2400" b="1" dirty="0"/>
              <a:t> </a:t>
            </a:r>
            <a:r>
              <a:rPr lang="en-US" altLang="zh-CN" sz="2400" dirty="0" err="1"/>
              <a:t>age_type</a:t>
            </a:r>
            <a:r>
              <a:rPr lang="en-US" altLang="zh-CN" sz="2400" dirty="0"/>
              <a:t> == 2:</a:t>
            </a:r>
            <a:br>
              <a:rPr lang="en-US" altLang="zh-CN" sz="2400" dirty="0"/>
            </a:br>
            <a:r>
              <a:rPr lang="en-US" altLang="zh-CN" sz="2400" dirty="0"/>
              <a:t>        </a:t>
            </a:r>
            <a:r>
              <a:rPr lang="en-US" altLang="zh-CN" sz="2400" b="1" dirty="0"/>
              <a:t>return </a:t>
            </a:r>
            <a:r>
              <a:rPr lang="en-US" altLang="zh-CN" sz="2400" dirty="0"/>
              <a:t>price * 0.5</a:t>
            </a:r>
            <a:br>
              <a:rPr lang="en-US" altLang="zh-CN" sz="2400" dirty="0"/>
            </a:br>
            <a:r>
              <a:rPr lang="en-US" altLang="zh-CN" sz="2400" dirty="0"/>
              <a:t>    </a:t>
            </a:r>
            <a:r>
              <a:rPr lang="en-US" altLang="zh-CN" sz="2400" b="1" dirty="0" err="1"/>
              <a:t>elif</a:t>
            </a:r>
            <a:r>
              <a:rPr lang="en-US" altLang="zh-CN" sz="2400" b="1" dirty="0"/>
              <a:t> </a:t>
            </a:r>
            <a:r>
              <a:rPr lang="en-US" altLang="zh-CN" sz="2400" dirty="0" err="1"/>
              <a:t>age_type</a:t>
            </a:r>
            <a:r>
              <a:rPr lang="en-US" altLang="zh-CN" sz="2400" dirty="0"/>
              <a:t> == 3:</a:t>
            </a:r>
            <a:br>
              <a:rPr lang="en-US" altLang="zh-CN" sz="2400" dirty="0"/>
            </a:br>
            <a:r>
              <a:rPr lang="en-US" altLang="zh-CN" sz="2400" dirty="0"/>
              <a:t>        </a:t>
            </a:r>
            <a:r>
              <a:rPr lang="en-US" altLang="zh-CN" sz="2400" b="1" dirty="0"/>
              <a:t>return </a:t>
            </a:r>
            <a:r>
              <a:rPr lang="en-US" altLang="zh-CN" sz="2400" dirty="0"/>
              <a:t>price</a:t>
            </a:r>
            <a:br>
              <a:rPr lang="en-US" altLang="zh-CN" sz="2400" dirty="0"/>
            </a:br>
            <a:r>
              <a:rPr lang="en-US" altLang="zh-CN" sz="2400" dirty="0"/>
              <a:t>    </a:t>
            </a:r>
            <a:r>
              <a:rPr lang="en-US" altLang="zh-CN" sz="2400" b="1" dirty="0" err="1"/>
              <a:t>elif</a:t>
            </a:r>
            <a:r>
              <a:rPr lang="en-US" altLang="zh-CN" sz="2400" b="1" dirty="0"/>
              <a:t> </a:t>
            </a:r>
            <a:r>
              <a:rPr lang="en-US" altLang="zh-CN" sz="2400" dirty="0" err="1"/>
              <a:t>age_type</a:t>
            </a:r>
            <a:r>
              <a:rPr lang="en-US" altLang="zh-CN" sz="2400" dirty="0"/>
              <a:t> == 4:</a:t>
            </a:r>
            <a:br>
              <a:rPr lang="en-US" altLang="zh-CN" sz="2400" dirty="0"/>
            </a:br>
            <a:r>
              <a:rPr lang="en-US" altLang="zh-CN" sz="2400" dirty="0"/>
              <a:t>        </a:t>
            </a:r>
            <a:r>
              <a:rPr lang="en-US" altLang="zh-CN" sz="2400" b="1" dirty="0"/>
              <a:t>return </a:t>
            </a:r>
            <a:r>
              <a:rPr lang="en-US" altLang="zh-CN" sz="2400" dirty="0"/>
              <a:t>price * 0.5</a:t>
            </a:r>
            <a:br>
              <a:rPr lang="en-US" altLang="zh-CN" sz="2400" dirty="0"/>
            </a:br>
            <a:r>
              <a:rPr lang="en-US" altLang="zh-CN" sz="2400" dirty="0"/>
              <a:t>total = </a:t>
            </a:r>
            <a:r>
              <a:rPr lang="en-US" altLang="zh-CN" sz="2400" b="1" dirty="0" err="1">
                <a:solidFill>
                  <a:srgbClr val="FF0000"/>
                </a:solidFill>
              </a:rPr>
              <a:t>get_price</a:t>
            </a:r>
            <a:r>
              <a:rPr lang="en-US" altLang="zh-CN" sz="2400" b="1" dirty="0">
                <a:solidFill>
                  <a:srgbClr val="FF0000"/>
                </a:solidFill>
              </a:rPr>
              <a:t>(</a:t>
            </a:r>
            <a:r>
              <a:rPr lang="en-US" altLang="zh-CN" sz="2400" b="1" dirty="0" err="1">
                <a:solidFill>
                  <a:srgbClr val="FF0000"/>
                </a:solidFill>
              </a:rPr>
              <a:t>age_type</a:t>
            </a:r>
            <a:r>
              <a:rPr lang="en-US" altLang="zh-CN" sz="2400" b="1" dirty="0">
                <a:solidFill>
                  <a:srgbClr val="FF0000"/>
                </a:solidFill>
              </a:rPr>
              <a:t>=1) </a:t>
            </a:r>
            <a:r>
              <a:rPr lang="en-US" altLang="zh-CN" sz="2400" dirty="0"/>
              <a:t>+ </a:t>
            </a:r>
            <a:r>
              <a:rPr lang="en-US" altLang="zh-CN" sz="2400" b="1" dirty="0" err="1">
                <a:solidFill>
                  <a:srgbClr val="FF0000"/>
                </a:solidFill>
              </a:rPr>
              <a:t>get_price</a:t>
            </a:r>
            <a:r>
              <a:rPr lang="en-US" altLang="zh-CN" sz="2400" b="1" dirty="0">
                <a:solidFill>
                  <a:srgbClr val="FF0000"/>
                </a:solidFill>
              </a:rPr>
              <a:t>(</a:t>
            </a:r>
            <a:r>
              <a:rPr lang="en-US" altLang="zh-CN" sz="2400" b="1" dirty="0" err="1">
                <a:solidFill>
                  <a:srgbClr val="FF0000"/>
                </a:solidFill>
              </a:rPr>
              <a:t>age_type</a:t>
            </a:r>
            <a:r>
              <a:rPr lang="en-US" altLang="zh-CN" sz="2400" b="1" dirty="0">
                <a:solidFill>
                  <a:srgbClr val="FF0000"/>
                </a:solidFill>
              </a:rPr>
              <a:t>=2)</a:t>
            </a:r>
            <a:r>
              <a:rPr lang="en-US" altLang="zh-CN" sz="2400" dirty="0"/>
              <a:t>+</a:t>
            </a:r>
            <a:r>
              <a:rPr lang="en-US" altLang="zh-CN" sz="2400" b="1" dirty="0" err="1">
                <a:solidFill>
                  <a:srgbClr val="FF0000"/>
                </a:solidFill>
              </a:rPr>
              <a:t>get_price</a:t>
            </a:r>
            <a:r>
              <a:rPr lang="en-US" altLang="zh-CN" sz="2400" b="1" dirty="0">
                <a:solidFill>
                  <a:srgbClr val="FF0000"/>
                </a:solidFill>
              </a:rPr>
              <a:t>()+</a:t>
            </a:r>
            <a:r>
              <a:rPr lang="en-US" altLang="zh-CN" sz="2400" dirty="0"/>
              <a:t> </a:t>
            </a:r>
            <a:r>
              <a:rPr lang="en-US" altLang="zh-CN" sz="2400" b="1" dirty="0" err="1">
                <a:solidFill>
                  <a:srgbClr val="FF0000"/>
                </a:solidFill>
              </a:rPr>
              <a:t>get_price</a:t>
            </a:r>
            <a:r>
              <a:rPr lang="en-US" altLang="zh-CN" sz="2400" b="1" dirty="0">
                <a:solidFill>
                  <a:srgbClr val="FF0000"/>
                </a:solidFill>
              </a:rPr>
              <a:t>(</a:t>
            </a:r>
            <a:r>
              <a:rPr lang="en-US" altLang="zh-CN" sz="2400" b="1" dirty="0" err="1">
                <a:solidFill>
                  <a:srgbClr val="FF0000"/>
                </a:solidFill>
              </a:rPr>
              <a:t>age_type</a:t>
            </a:r>
            <a:r>
              <a:rPr lang="en-US" altLang="zh-CN" sz="2400" b="1" dirty="0">
                <a:solidFill>
                  <a:srgbClr val="FF0000"/>
                </a:solidFill>
              </a:rPr>
              <a:t>=4)</a:t>
            </a:r>
            <a:br>
              <a:rPr lang="en-US" altLang="zh-CN" sz="2400" dirty="0"/>
            </a:br>
            <a:r>
              <a:rPr lang="en-US" altLang="zh-CN" sz="2400" dirty="0"/>
              <a:t>print(total)</a:t>
            </a:r>
            <a:endParaRPr lang="zh-CN" altLang="en-US" sz="2400" b="1" dirty="0">
              <a:solidFill>
                <a:srgbClr val="FF0000"/>
              </a:solidFill>
              <a:latin typeface="Microsoft YaHei UI" panose="020B0503020204020204" pitchFamily="34" charset="-122"/>
              <a:ea typeface="Microsoft YaHei UI" panose="020B0503020204020204" pitchFamily="34" charset="-122"/>
              <a:cs typeface="Tahoma" panose="020B0604030504040204" pitchFamily="34" charset="0"/>
            </a:endParaRPr>
          </a:p>
        </p:txBody>
      </p:sp>
      <p:sp>
        <p:nvSpPr>
          <p:cNvPr id="7" name="圆角矩形标注 6"/>
          <p:cNvSpPr/>
          <p:nvPr/>
        </p:nvSpPr>
        <p:spPr>
          <a:xfrm>
            <a:off x="3938935" y="3141762"/>
            <a:ext cx="3960440" cy="1525662"/>
          </a:xfrm>
          <a:prstGeom prst="wedgeRoundRectCallout">
            <a:avLst>
              <a:gd name="adj1" fmla="val -58677"/>
              <a:gd name="adj2" fmla="val 51961"/>
              <a:gd name="adj3" fmla="val 16667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umimoji="0"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b="1" dirty="0">
                <a:solidFill>
                  <a:schemeClr val="tx1"/>
                </a:solidFill>
              </a:rPr>
              <a:t>函数调用的实参数目小于形参数目。缺少的实参会用设定的</a:t>
            </a:r>
            <a:r>
              <a:rPr lang="zh-CN" altLang="en-US" sz="2400" b="1" dirty="0">
                <a:solidFill>
                  <a:srgbClr val="FF0000"/>
                </a:solidFill>
              </a:rPr>
              <a:t>默认值</a:t>
            </a:r>
            <a:r>
              <a:rPr lang="zh-CN" altLang="en-US" sz="2400" b="1" dirty="0">
                <a:solidFill>
                  <a:schemeClr val="tx1"/>
                </a:solidFill>
              </a:rPr>
              <a:t>来补充。</a:t>
            </a:r>
          </a:p>
        </p:txBody>
      </p:sp>
      <p:sp>
        <p:nvSpPr>
          <p:cNvPr id="8" name="圆角矩形标注 7"/>
          <p:cNvSpPr/>
          <p:nvPr/>
        </p:nvSpPr>
        <p:spPr>
          <a:xfrm>
            <a:off x="5091063" y="1649151"/>
            <a:ext cx="3384376" cy="1525662"/>
          </a:xfrm>
          <a:prstGeom prst="wedgeRoundRectCallout">
            <a:avLst>
              <a:gd name="adj1" fmla="val -59239"/>
              <a:gd name="adj2" fmla="val -42275"/>
              <a:gd name="adj3" fmla="val 16667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umimoji="0"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b="1" dirty="0">
                <a:solidFill>
                  <a:schemeClr val="tx1"/>
                </a:solidFill>
              </a:rPr>
              <a:t>参数默认值是在定义函数时设定。写法是：</a:t>
            </a:r>
            <a:endParaRPr lang="en-US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    </a:t>
            </a:r>
            <a:r>
              <a:rPr lang="zh-CN" altLang="en-US" sz="2400" b="1" dirty="0">
                <a:solidFill>
                  <a:srgbClr val="FF0000"/>
                </a:solidFill>
              </a:rPr>
              <a:t>参数名 </a:t>
            </a:r>
            <a:r>
              <a:rPr lang="en-US" altLang="zh-CN" sz="2400" b="1" dirty="0">
                <a:solidFill>
                  <a:srgbClr val="FF0000"/>
                </a:solidFill>
              </a:rPr>
              <a:t>= </a:t>
            </a:r>
            <a:r>
              <a:rPr lang="zh-CN" altLang="en-US" sz="2400" b="1" dirty="0">
                <a:solidFill>
                  <a:srgbClr val="FF0000"/>
                </a:solidFill>
              </a:rPr>
              <a:t>默认值</a:t>
            </a:r>
          </a:p>
        </p:txBody>
      </p:sp>
      <p:sp>
        <p:nvSpPr>
          <p:cNvPr id="10" name="圆角矩形标注 9"/>
          <p:cNvSpPr/>
          <p:nvPr/>
        </p:nvSpPr>
        <p:spPr>
          <a:xfrm>
            <a:off x="3744965" y="3217571"/>
            <a:ext cx="4442441" cy="1525662"/>
          </a:xfrm>
          <a:prstGeom prst="wedgeRoundRectCallout">
            <a:avLst>
              <a:gd name="adj1" fmla="val -58522"/>
              <a:gd name="adj2" fmla="val 54787"/>
              <a:gd name="adj3" fmla="val 16667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umimoji="0"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b="1" dirty="0">
                <a:solidFill>
                  <a:schemeClr val="tx1"/>
                </a:solidFill>
              </a:rPr>
              <a:t>调用</a:t>
            </a:r>
            <a:r>
              <a:rPr lang="en-US" altLang="zh-CN" sz="2400" b="1" dirty="0">
                <a:solidFill>
                  <a:schemeClr val="tx1"/>
                </a:solidFill>
              </a:rPr>
              <a:t> </a:t>
            </a:r>
            <a:r>
              <a:rPr lang="en-US" altLang="zh-CN" sz="2400" b="1" dirty="0" err="1">
                <a:solidFill>
                  <a:schemeClr val="tx1"/>
                </a:solidFill>
              </a:rPr>
              <a:t>get_price</a:t>
            </a:r>
            <a:r>
              <a:rPr lang="en-US" altLang="zh-CN" sz="2400" b="1" dirty="0">
                <a:solidFill>
                  <a:schemeClr val="tx1"/>
                </a:solidFill>
              </a:rPr>
              <a:t>(</a:t>
            </a:r>
            <a:r>
              <a:rPr lang="en-US" altLang="zh-CN" sz="2400" b="1" dirty="0" err="1">
                <a:solidFill>
                  <a:schemeClr val="tx1"/>
                </a:solidFill>
              </a:rPr>
              <a:t>age_type</a:t>
            </a:r>
            <a:r>
              <a:rPr lang="en-US" altLang="zh-CN" sz="2400" b="1" dirty="0">
                <a:solidFill>
                  <a:schemeClr val="tx1"/>
                </a:solidFill>
              </a:rPr>
              <a:t>=1)</a:t>
            </a:r>
            <a:r>
              <a:rPr lang="zh-CN" altLang="en-US" sz="2400" b="1" dirty="0">
                <a:solidFill>
                  <a:schemeClr val="tx1"/>
                </a:solidFill>
              </a:rPr>
              <a:t>，会</a:t>
            </a:r>
            <a:r>
              <a:rPr lang="zh-CN" altLang="en-US" sz="2400" b="1" dirty="0">
                <a:solidFill>
                  <a:srgbClr val="FF0000"/>
                </a:solidFill>
              </a:rPr>
              <a:t>自动补充</a:t>
            </a:r>
            <a:r>
              <a:rPr lang="en-US" altLang="zh-CN" sz="2400" b="1" dirty="0">
                <a:solidFill>
                  <a:schemeClr val="tx1"/>
                </a:solidFill>
              </a:rPr>
              <a:t>price</a:t>
            </a:r>
            <a:r>
              <a:rPr lang="zh-CN" altLang="en-US" sz="2400" b="1" dirty="0">
                <a:solidFill>
                  <a:schemeClr val="tx1"/>
                </a:solidFill>
              </a:rPr>
              <a:t>参数，等价于以下调用： </a:t>
            </a:r>
            <a:br>
              <a:rPr lang="en-US" altLang="zh-CN" sz="2400" b="1" dirty="0">
                <a:solidFill>
                  <a:schemeClr val="tx1"/>
                </a:solidFill>
              </a:rPr>
            </a:br>
            <a:r>
              <a:rPr lang="en-US" altLang="zh-CN" sz="2400" b="1" dirty="0">
                <a:solidFill>
                  <a:schemeClr val="tx1"/>
                </a:solidFill>
              </a:rPr>
              <a:t>       </a:t>
            </a:r>
            <a:r>
              <a:rPr lang="en-US" altLang="zh-CN" sz="2400" b="1" dirty="0" err="1">
                <a:solidFill>
                  <a:schemeClr val="tx1"/>
                </a:solidFill>
              </a:rPr>
              <a:t>get_price</a:t>
            </a:r>
            <a:r>
              <a:rPr lang="en-US" altLang="zh-CN" sz="2400" b="1" dirty="0">
                <a:solidFill>
                  <a:schemeClr val="tx1"/>
                </a:solidFill>
              </a:rPr>
              <a:t>(20, 1)</a:t>
            </a:r>
            <a:r>
              <a:rPr lang="zh-CN" altLang="en-US" sz="2400" b="1" dirty="0">
                <a:solidFill>
                  <a:schemeClr val="tx1"/>
                </a:solidFill>
              </a:rPr>
              <a:t>。</a:t>
            </a:r>
          </a:p>
        </p:txBody>
      </p:sp>
      <p:sp>
        <p:nvSpPr>
          <p:cNvPr id="11" name="圆角矩形标注 10"/>
          <p:cNvSpPr/>
          <p:nvPr/>
        </p:nvSpPr>
        <p:spPr>
          <a:xfrm>
            <a:off x="3988889" y="1746892"/>
            <a:ext cx="4104456" cy="1525662"/>
          </a:xfrm>
          <a:prstGeom prst="wedgeRoundRectCallout">
            <a:avLst>
              <a:gd name="adj1" fmla="val -57142"/>
              <a:gd name="adj2" fmla="val -52353"/>
              <a:gd name="adj3" fmla="val 16667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umimoji="0"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b="1" dirty="0">
                <a:solidFill>
                  <a:schemeClr val="tx1"/>
                </a:solidFill>
              </a:rPr>
              <a:t>请问，</a:t>
            </a:r>
            <a:r>
              <a:rPr lang="en-US" altLang="zh-CN" sz="2400" b="1" dirty="0">
                <a:solidFill>
                  <a:schemeClr val="tx1"/>
                </a:solidFill>
              </a:rPr>
              <a:t>price</a:t>
            </a:r>
            <a:r>
              <a:rPr lang="zh-CN" altLang="en-US" sz="2400" b="1" dirty="0">
                <a:solidFill>
                  <a:schemeClr val="tx1"/>
                </a:solidFill>
              </a:rPr>
              <a:t>的默认值设定为</a:t>
            </a:r>
            <a:r>
              <a:rPr lang="en-US" altLang="zh-CN" sz="2400" b="1" dirty="0">
                <a:solidFill>
                  <a:schemeClr val="tx1"/>
                </a:solidFill>
              </a:rPr>
              <a:t>30</a:t>
            </a:r>
            <a:r>
              <a:rPr lang="zh-CN" altLang="en-US" sz="2400" b="1" dirty="0">
                <a:solidFill>
                  <a:schemeClr val="tx1"/>
                </a:solidFill>
              </a:rPr>
              <a:t>合理吗？</a:t>
            </a:r>
            <a:r>
              <a:rPr lang="en-US" altLang="zh-CN" sz="2400" b="1" dirty="0">
                <a:solidFill>
                  <a:schemeClr val="tx1"/>
                </a:solidFill>
              </a:rPr>
              <a:t> </a:t>
            </a:r>
            <a:r>
              <a:rPr lang="en-US" altLang="zh-CN" sz="2400" b="1" dirty="0" err="1">
                <a:solidFill>
                  <a:schemeClr val="tx1"/>
                </a:solidFill>
              </a:rPr>
              <a:t>age_type</a:t>
            </a:r>
            <a:r>
              <a:rPr lang="zh-CN" altLang="en-US" sz="2400" b="1" dirty="0">
                <a:solidFill>
                  <a:schemeClr val="tx1"/>
                </a:solidFill>
              </a:rPr>
              <a:t>的默认值设定为</a:t>
            </a:r>
            <a:r>
              <a:rPr lang="en-US" altLang="zh-CN" sz="2400" b="1" dirty="0">
                <a:solidFill>
                  <a:schemeClr val="tx1"/>
                </a:solidFill>
              </a:rPr>
              <a:t>1</a:t>
            </a:r>
            <a:r>
              <a:rPr lang="zh-CN" altLang="en-US" sz="2400" b="1" dirty="0">
                <a:solidFill>
                  <a:schemeClr val="tx1"/>
                </a:solidFill>
              </a:rPr>
              <a:t>合理吗？</a:t>
            </a:r>
          </a:p>
        </p:txBody>
      </p:sp>
    </p:spTree>
  </p:cSld>
  <p:clrMapOvr>
    <a:masterClrMapping/>
  </p:clrMapOvr>
  <p:transition spd="slow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0" grpId="0" animBg="1"/>
      <p:bldP spid="11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10205369" y="189434"/>
            <a:ext cx="20180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5.4 函数</a:t>
            </a:r>
            <a:endParaRPr 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770583" y="1125538"/>
            <a:ext cx="1080120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</a:t>
            </a: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带默认值的参数不能位于没有默认值的参数前面。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 2050"/>
          <p:cNvSpPr/>
          <p:nvPr/>
        </p:nvSpPr>
        <p:spPr bwMode="auto">
          <a:xfrm>
            <a:off x="7950859" y="2261611"/>
            <a:ext cx="954405" cy="679450"/>
          </a:xfrm>
          <a:custGeom>
            <a:avLst/>
            <a:gdLst>
              <a:gd name="T0" fmla="*/ 942322 w 3841"/>
              <a:gd name="T1" fmla="*/ 1696878 h 3861"/>
              <a:gd name="T2" fmla="*/ 612206 w 3841"/>
              <a:gd name="T3" fmla="*/ 1630196 h 3861"/>
              <a:gd name="T4" fmla="*/ 0 w 3841"/>
              <a:gd name="T5" fmla="*/ 1797599 h 3861"/>
              <a:gd name="T6" fmla="*/ 282090 w 3841"/>
              <a:gd name="T7" fmla="*/ 1380724 h 3861"/>
              <a:gd name="T8" fmla="*/ 93719 w 3841"/>
              <a:gd name="T9" fmla="*/ 848206 h 3861"/>
              <a:gd name="T10" fmla="*/ 942322 w 3841"/>
              <a:gd name="T11" fmla="*/ 0 h 3861"/>
              <a:gd name="T12" fmla="*/ 1790924 w 3841"/>
              <a:gd name="T13" fmla="*/ 848206 h 3861"/>
              <a:gd name="T14" fmla="*/ 942322 w 3841"/>
              <a:gd name="T15" fmla="*/ 1696878 h 3861"/>
              <a:gd name="T16" fmla="*/ 682146 w 3841"/>
              <a:gd name="T17" fmla="*/ 1245496 h 3861"/>
              <a:gd name="T18" fmla="*/ 803375 w 3841"/>
              <a:gd name="T19" fmla="*/ 1371398 h 3861"/>
              <a:gd name="T20" fmla="*/ 956776 w 3841"/>
              <a:gd name="T21" fmla="*/ 1221248 h 3861"/>
              <a:gd name="T22" fmla="*/ 830884 w 3841"/>
              <a:gd name="T23" fmla="*/ 1092082 h 3861"/>
              <a:gd name="T24" fmla="*/ 682146 w 3841"/>
              <a:gd name="T25" fmla="*/ 1245496 h 3861"/>
              <a:gd name="T26" fmla="*/ 988948 w 3841"/>
              <a:gd name="T27" fmla="*/ 301698 h 3861"/>
              <a:gd name="T28" fmla="*/ 729705 w 3841"/>
              <a:gd name="T29" fmla="*/ 367913 h 3861"/>
              <a:gd name="T30" fmla="*/ 758613 w 3841"/>
              <a:gd name="T31" fmla="*/ 522726 h 3861"/>
              <a:gd name="T32" fmla="*/ 926002 w 3841"/>
              <a:gd name="T33" fmla="*/ 479826 h 3861"/>
              <a:gd name="T34" fmla="*/ 1015059 w 3841"/>
              <a:gd name="T35" fmla="*/ 553502 h 3861"/>
              <a:gd name="T36" fmla="*/ 892431 w 3841"/>
              <a:gd name="T37" fmla="*/ 723703 h 3861"/>
              <a:gd name="T38" fmla="*/ 752552 w 3841"/>
              <a:gd name="T39" fmla="*/ 978771 h 3861"/>
              <a:gd name="T40" fmla="*/ 747889 w 3841"/>
              <a:gd name="T41" fmla="*/ 1018406 h 3861"/>
              <a:gd name="T42" fmla="*/ 962837 w 3841"/>
              <a:gd name="T43" fmla="*/ 1018406 h 3861"/>
              <a:gd name="T44" fmla="*/ 970298 w 3841"/>
              <a:gd name="T45" fmla="*/ 981568 h 3861"/>
              <a:gd name="T46" fmla="*/ 1074741 w 3841"/>
              <a:gd name="T47" fmla="*/ 800643 h 3861"/>
              <a:gd name="T48" fmla="*/ 1242130 w 3841"/>
              <a:gd name="T49" fmla="*/ 510602 h 3861"/>
              <a:gd name="T50" fmla="*/ 988948 w 3841"/>
              <a:gd name="T51" fmla="*/ 301698 h 3861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</a:gdLst>
            <a:ahLst/>
            <a:cxnLst>
              <a:cxn ang="T52">
                <a:pos x="T0" y="T1"/>
              </a:cxn>
              <a:cxn ang="T53">
                <a:pos x="T2" y="T3"/>
              </a:cxn>
              <a:cxn ang="T54">
                <a:pos x="T4" y="T5"/>
              </a:cxn>
              <a:cxn ang="T55">
                <a:pos x="T6" y="T7"/>
              </a:cxn>
              <a:cxn ang="T56">
                <a:pos x="T8" y="T9"/>
              </a:cxn>
              <a:cxn ang="T57">
                <a:pos x="T10" y="T11"/>
              </a:cxn>
              <a:cxn ang="T58">
                <a:pos x="T12" y="T13"/>
              </a:cxn>
              <a:cxn ang="T59">
                <a:pos x="T14" y="T15"/>
              </a:cxn>
              <a:cxn ang="T60">
                <a:pos x="T16" y="T17"/>
              </a:cxn>
              <a:cxn ang="T61">
                <a:pos x="T18" y="T19"/>
              </a:cxn>
              <a:cxn ang="T62">
                <a:pos x="T20" y="T21"/>
              </a:cxn>
              <a:cxn ang="T63">
                <a:pos x="T22" y="T23"/>
              </a:cxn>
              <a:cxn ang="T64">
                <a:pos x="T24" y="T25"/>
              </a:cxn>
              <a:cxn ang="T65">
                <a:pos x="T26" y="T27"/>
              </a:cxn>
              <a:cxn ang="T66">
                <a:pos x="T28" y="T29"/>
              </a:cxn>
              <a:cxn ang="T67">
                <a:pos x="T30" y="T31"/>
              </a:cxn>
              <a:cxn ang="T68">
                <a:pos x="T32" y="T33"/>
              </a:cxn>
              <a:cxn ang="T69">
                <a:pos x="T34" y="T35"/>
              </a:cxn>
              <a:cxn ang="T70">
                <a:pos x="T36" y="T37"/>
              </a:cxn>
              <a:cxn ang="T71">
                <a:pos x="T38" y="T39"/>
              </a:cxn>
              <a:cxn ang="T72">
                <a:pos x="T40" y="T41"/>
              </a:cxn>
              <a:cxn ang="T73">
                <a:pos x="T42" y="T43"/>
              </a:cxn>
              <a:cxn ang="T74">
                <a:pos x="T44" y="T45"/>
              </a:cxn>
              <a:cxn ang="T75">
                <a:pos x="T46" y="T47"/>
              </a:cxn>
              <a:cxn ang="T76">
                <a:pos x="T48" y="T49"/>
              </a:cxn>
              <a:cxn ang="T77">
                <a:pos x="T50" y="T51"/>
              </a:cxn>
            </a:cxnLst>
            <a:rect l="0" t="0" r="r" b="b"/>
            <a:pathLst>
              <a:path w="3841" h="3861">
                <a:moveTo>
                  <a:pt x="2021" y="3639"/>
                </a:moveTo>
                <a:cubicBezTo>
                  <a:pt x="1770" y="3639"/>
                  <a:pt x="1531" y="3588"/>
                  <a:pt x="1313" y="3496"/>
                </a:cubicBezTo>
                <a:cubicBezTo>
                  <a:pt x="830" y="3861"/>
                  <a:pt x="0" y="3855"/>
                  <a:pt x="0" y="3855"/>
                </a:cubicBezTo>
                <a:cubicBezTo>
                  <a:pt x="0" y="3855"/>
                  <a:pt x="417" y="3566"/>
                  <a:pt x="605" y="2961"/>
                </a:cubicBezTo>
                <a:cubicBezTo>
                  <a:pt x="352" y="2648"/>
                  <a:pt x="201" y="2252"/>
                  <a:pt x="201" y="1819"/>
                </a:cubicBezTo>
                <a:cubicBezTo>
                  <a:pt x="201" y="814"/>
                  <a:pt x="1016" y="0"/>
                  <a:pt x="2021" y="0"/>
                </a:cubicBezTo>
                <a:cubicBezTo>
                  <a:pt x="3026" y="0"/>
                  <a:pt x="3841" y="814"/>
                  <a:pt x="3841" y="1819"/>
                </a:cubicBezTo>
                <a:cubicBezTo>
                  <a:pt x="3841" y="2824"/>
                  <a:pt x="3026" y="3639"/>
                  <a:pt x="2021" y="3639"/>
                </a:cubicBezTo>
                <a:close/>
                <a:moveTo>
                  <a:pt x="1463" y="2671"/>
                </a:moveTo>
                <a:cubicBezTo>
                  <a:pt x="1463" y="2826"/>
                  <a:pt x="1568" y="2941"/>
                  <a:pt x="1723" y="2941"/>
                </a:cubicBezTo>
                <a:cubicBezTo>
                  <a:pt x="1917" y="2941"/>
                  <a:pt x="2052" y="2806"/>
                  <a:pt x="2052" y="2619"/>
                </a:cubicBezTo>
                <a:cubicBezTo>
                  <a:pt x="2052" y="2457"/>
                  <a:pt x="1940" y="2342"/>
                  <a:pt x="1782" y="2342"/>
                </a:cubicBezTo>
                <a:cubicBezTo>
                  <a:pt x="1595" y="2342"/>
                  <a:pt x="1463" y="2497"/>
                  <a:pt x="1463" y="2671"/>
                </a:cubicBezTo>
                <a:close/>
                <a:moveTo>
                  <a:pt x="2121" y="647"/>
                </a:moveTo>
                <a:cubicBezTo>
                  <a:pt x="1874" y="647"/>
                  <a:pt x="1687" y="716"/>
                  <a:pt x="1565" y="789"/>
                </a:cubicBezTo>
                <a:cubicBezTo>
                  <a:pt x="1627" y="1121"/>
                  <a:pt x="1627" y="1121"/>
                  <a:pt x="1627" y="1121"/>
                </a:cubicBezTo>
                <a:cubicBezTo>
                  <a:pt x="1720" y="1065"/>
                  <a:pt x="1838" y="1029"/>
                  <a:pt x="1986" y="1029"/>
                </a:cubicBezTo>
                <a:cubicBezTo>
                  <a:pt x="2134" y="1032"/>
                  <a:pt x="2177" y="1101"/>
                  <a:pt x="2177" y="1187"/>
                </a:cubicBezTo>
                <a:cubicBezTo>
                  <a:pt x="2177" y="1302"/>
                  <a:pt x="2042" y="1414"/>
                  <a:pt x="1914" y="1552"/>
                </a:cubicBezTo>
                <a:cubicBezTo>
                  <a:pt x="1729" y="1747"/>
                  <a:pt x="1641" y="1921"/>
                  <a:pt x="1614" y="2099"/>
                </a:cubicBezTo>
                <a:cubicBezTo>
                  <a:pt x="1611" y="2125"/>
                  <a:pt x="1608" y="2155"/>
                  <a:pt x="1604" y="2184"/>
                </a:cubicBezTo>
                <a:cubicBezTo>
                  <a:pt x="2065" y="2184"/>
                  <a:pt x="2065" y="2184"/>
                  <a:pt x="2065" y="2184"/>
                </a:cubicBezTo>
                <a:cubicBezTo>
                  <a:pt x="2072" y="2155"/>
                  <a:pt x="2075" y="2128"/>
                  <a:pt x="2081" y="2105"/>
                </a:cubicBezTo>
                <a:cubicBezTo>
                  <a:pt x="2111" y="1957"/>
                  <a:pt x="2177" y="1845"/>
                  <a:pt x="2305" y="1717"/>
                </a:cubicBezTo>
                <a:cubicBezTo>
                  <a:pt x="2490" y="1526"/>
                  <a:pt x="2664" y="1358"/>
                  <a:pt x="2664" y="1095"/>
                </a:cubicBezTo>
                <a:cubicBezTo>
                  <a:pt x="2664" y="825"/>
                  <a:pt x="2437" y="647"/>
                  <a:pt x="2121" y="647"/>
                </a:cubicBezTo>
                <a:close/>
              </a:path>
            </a:pathLst>
          </a:custGeom>
          <a:solidFill>
            <a:srgbClr val="FF0000"/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anchorCtr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3" name="标题 1"/>
          <p:cNvSpPr>
            <a:spLocks noGrp="1"/>
          </p:cNvSpPr>
          <p:nvPr/>
        </p:nvSpPr>
        <p:spPr>
          <a:xfrm>
            <a:off x="9249734" y="2172711"/>
            <a:ext cx="2994025" cy="85725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kumimoji="0" lang="zh-CN"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dirty="0">
                <a:solidFill>
                  <a:srgbClr val="FF0000"/>
                </a:solidFill>
                <a:latin typeface="方正大黑简体" panose="03000509000000000000" pitchFamily="2" charset="-122"/>
                <a:ea typeface="方正大黑简体" panose="03000509000000000000" pitchFamily="2" charset="-122"/>
              </a:rPr>
              <a:t>为什么</a:t>
            </a:r>
          </a:p>
        </p:txBody>
      </p:sp>
      <p:sp>
        <p:nvSpPr>
          <p:cNvPr id="3" name="矩形 2"/>
          <p:cNvSpPr/>
          <p:nvPr/>
        </p:nvSpPr>
        <p:spPr>
          <a:xfrm>
            <a:off x="1346647" y="2493690"/>
            <a:ext cx="6099175" cy="224676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2800" dirty="0">
                <a:latin typeface="Arial Black" panose="020B0A04020102020204" pitchFamily="34" charset="0"/>
              </a:rPr>
              <a:t>def </a:t>
            </a:r>
            <a:r>
              <a:rPr lang="en-US" altLang="zh-CN" sz="2800" dirty="0">
                <a:latin typeface="Arial Black" panose="020B0A04020102020204" pitchFamily="34" charset="0"/>
              </a:rPr>
              <a:t>foo</a:t>
            </a:r>
            <a:r>
              <a:rPr lang="zh-CN" altLang="en-US" sz="2800" dirty="0">
                <a:latin typeface="Arial Black" panose="020B0A04020102020204" pitchFamily="34" charset="0"/>
              </a:rPr>
              <a:t>(</a:t>
            </a:r>
            <a:r>
              <a:rPr lang="en-US" altLang="zh-CN" sz="2800" dirty="0" err="1">
                <a:solidFill>
                  <a:srgbClr val="FF0000"/>
                </a:solidFill>
                <a:latin typeface="Arial Black" panose="020B0A04020102020204" pitchFamily="34" charset="0"/>
              </a:rPr>
              <a:t>x,y</a:t>
            </a:r>
            <a:r>
              <a:rPr lang="en-US" altLang="zh-CN" sz="2800" dirty="0">
                <a:solidFill>
                  <a:srgbClr val="FF0000"/>
                </a:solidFill>
                <a:latin typeface="Arial Black" panose="020B0A04020102020204" pitchFamily="34" charset="0"/>
              </a:rPr>
              <a:t>=1,z</a:t>
            </a:r>
            <a:r>
              <a:rPr lang="zh-CN" altLang="en-US" sz="2800" dirty="0">
                <a:latin typeface="Arial Black" panose="020B0A04020102020204" pitchFamily="34" charset="0"/>
              </a:rPr>
              <a:t>):</a:t>
            </a:r>
          </a:p>
          <a:p>
            <a:r>
              <a:rPr lang="zh-CN" altLang="en-US" sz="2800" dirty="0">
                <a:latin typeface="Arial Black" panose="020B0A04020102020204" pitchFamily="34" charset="0"/>
              </a:rPr>
              <a:t>    return </a:t>
            </a:r>
            <a:r>
              <a:rPr lang="en-US" altLang="zh-CN" sz="2800" dirty="0" err="1">
                <a:latin typeface="Arial Black" panose="020B0A04020102020204" pitchFamily="34" charset="0"/>
              </a:rPr>
              <a:t>x+y+z</a:t>
            </a:r>
            <a:endParaRPr lang="en-US" altLang="zh-CN" sz="2800" dirty="0">
              <a:latin typeface="Arial Black" panose="020B0A04020102020204" pitchFamily="34" charset="0"/>
            </a:endParaRPr>
          </a:p>
          <a:p>
            <a:endParaRPr lang="en-US" altLang="zh-CN" sz="2800" dirty="0">
              <a:latin typeface="Arial Black" panose="020B0A04020102020204" pitchFamily="34" charset="0"/>
            </a:endParaRPr>
          </a:p>
          <a:p>
            <a:r>
              <a:rPr lang="en-US" altLang="zh-CN" sz="2800" dirty="0">
                <a:latin typeface="Arial Black" panose="020B0A04020102020204" pitchFamily="34" charset="0"/>
              </a:rPr>
              <a:t>print (foo(1,2))</a:t>
            </a:r>
          </a:p>
          <a:p>
            <a:r>
              <a:rPr lang="en-US" altLang="zh-CN" sz="2800" dirty="0">
                <a:solidFill>
                  <a:srgbClr val="0000FF"/>
                </a:solidFill>
                <a:latin typeface="Arial Black" panose="020B0A04020102020204" pitchFamily="34" charset="0"/>
              </a:rPr>
              <a:t>print (foo(1,2,3))  ???</a:t>
            </a:r>
            <a:endParaRPr lang="zh-CN" altLang="en-US" sz="2800" dirty="0">
              <a:solidFill>
                <a:srgbClr val="0000FF"/>
              </a:solidFill>
              <a:latin typeface="Arial Black" panose="020B0A04020102020204" pitchFamily="34" charset="0"/>
            </a:endParaRPr>
          </a:p>
        </p:txBody>
      </p:sp>
      <p:pic>
        <p:nvPicPr>
          <p:cNvPr id="3073" name="Picture 1" descr="C:\Users\ThinkPad\AppData\Roaming\Tencent\Users\19379577\QQ\WinTemp\RichOle\3`IRHY_XR7_XJ9]398__$U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3469" y="3213770"/>
            <a:ext cx="4058194" cy="1895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3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10205369" y="189434"/>
            <a:ext cx="20180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5.4 函数</a:t>
            </a:r>
            <a:endParaRPr 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016768" y="772490"/>
            <a:ext cx="182614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默认参数</a:t>
            </a:r>
          </a:p>
        </p:txBody>
      </p:sp>
      <p:sp>
        <p:nvSpPr>
          <p:cNvPr id="5" name="矩形 4"/>
          <p:cNvSpPr/>
          <p:nvPr/>
        </p:nvSpPr>
        <p:spPr>
          <a:xfrm>
            <a:off x="770156" y="1258023"/>
            <a:ext cx="10657184" cy="3496342"/>
          </a:xfrm>
          <a:prstGeom prst="rect">
            <a:avLst/>
          </a:prstGeom>
        </p:spPr>
        <p:txBody>
          <a:bodyPr vert="horz" wrap="square" lIns="91456" tIns="45728" rIns="91456" bIns="45728" anchor="t"/>
          <a:lstStyle/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如何设置默认参数</a:t>
            </a:r>
            <a:r>
              <a:rPr lang="zh-CN" altLang="en-US" b="1" dirty="0">
                <a:latin typeface="+mn-ea"/>
              </a:rPr>
              <a:t>：当函数有多个参数时，把变化大的参数放前面，变化小的参数放后面。变化小的参数就可以作为默认参数。默认参数必须自右至左依次存在，如果一个参数有缺省参数，则其右侧的所有参数都必须有缺省参数（</a:t>
            </a:r>
            <a:r>
              <a:rPr lang="zh-CN" altLang="en-US" b="1">
                <a:solidFill>
                  <a:srgbClr val="FF0000"/>
                </a:solidFill>
                <a:sym typeface="+mn-ea"/>
              </a:rPr>
              <a:t>任何一个默认值参数右边不能有非默认值参数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）</a:t>
            </a:r>
            <a:endParaRPr lang="en-US" altLang="zh-CN" b="1" dirty="0">
              <a:latin typeface="+mn-ea"/>
            </a:endParaRPr>
          </a:p>
          <a:p>
            <a:pPr>
              <a:lnSpc>
                <a:spcPct val="150000"/>
              </a:lnSpc>
              <a:spcBef>
                <a:spcPct val="20000"/>
              </a:spcBef>
            </a:pPr>
            <a:r>
              <a:rPr lang="en-US" altLang="zh-CN" b="1" dirty="0">
                <a:latin typeface="+mn-ea"/>
              </a:rPr>
              <a:t>                   </a:t>
            </a:r>
            <a:r>
              <a:rPr lang="en-US" altLang="zh-CN" b="1" dirty="0" err="1">
                <a:latin typeface="+mn-ea"/>
              </a:rPr>
              <a:t>def</a:t>
            </a:r>
            <a:r>
              <a:rPr lang="en-US" altLang="zh-CN" b="1" dirty="0">
                <a:latin typeface="+mn-ea"/>
              </a:rPr>
              <a:t> </a:t>
            </a:r>
            <a:r>
              <a:rPr lang="en-US" altLang="zh-CN" b="1" dirty="0" err="1">
                <a:latin typeface="+mn-ea"/>
              </a:rPr>
              <a:t>func</a:t>
            </a:r>
            <a:r>
              <a:rPr lang="en-US" altLang="zh-CN" b="1" dirty="0">
                <a:latin typeface="+mn-ea"/>
              </a:rPr>
              <a:t>(</a:t>
            </a:r>
            <a:r>
              <a:rPr lang="en-US" altLang="zh-CN" b="1" dirty="0" err="1">
                <a:latin typeface="+mn-ea"/>
              </a:rPr>
              <a:t>a,b</a:t>
            </a:r>
            <a:r>
              <a:rPr lang="en-US" altLang="zh-CN" b="1" dirty="0">
                <a:latin typeface="+mn-ea"/>
              </a:rPr>
              <a:t>=20,c)   #</a:t>
            </a:r>
            <a:r>
              <a:rPr lang="zh-CN" altLang="en-US" b="1" dirty="0">
                <a:latin typeface="+mn-ea"/>
              </a:rPr>
              <a:t>错误</a:t>
            </a: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使用默认参数有什么好处</a:t>
            </a:r>
            <a:r>
              <a:rPr lang="zh-CN" altLang="en-US" b="1" dirty="0">
                <a:latin typeface="+mn-ea"/>
              </a:rPr>
              <a:t>：最大的好处是能降低调用函数的难度。</a:t>
            </a:r>
          </a:p>
        </p:txBody>
      </p:sp>
      <p:sp>
        <p:nvSpPr>
          <p:cNvPr id="10" name=" 2050"/>
          <p:cNvSpPr/>
          <p:nvPr/>
        </p:nvSpPr>
        <p:spPr bwMode="auto">
          <a:xfrm>
            <a:off x="3933860" y="5194459"/>
            <a:ext cx="954405" cy="679450"/>
          </a:xfrm>
          <a:custGeom>
            <a:avLst/>
            <a:gdLst>
              <a:gd name="T0" fmla="*/ 942322 w 3841"/>
              <a:gd name="T1" fmla="*/ 1696878 h 3861"/>
              <a:gd name="T2" fmla="*/ 612206 w 3841"/>
              <a:gd name="T3" fmla="*/ 1630196 h 3861"/>
              <a:gd name="T4" fmla="*/ 0 w 3841"/>
              <a:gd name="T5" fmla="*/ 1797599 h 3861"/>
              <a:gd name="T6" fmla="*/ 282090 w 3841"/>
              <a:gd name="T7" fmla="*/ 1380724 h 3861"/>
              <a:gd name="T8" fmla="*/ 93719 w 3841"/>
              <a:gd name="T9" fmla="*/ 848206 h 3861"/>
              <a:gd name="T10" fmla="*/ 942322 w 3841"/>
              <a:gd name="T11" fmla="*/ 0 h 3861"/>
              <a:gd name="T12" fmla="*/ 1790924 w 3841"/>
              <a:gd name="T13" fmla="*/ 848206 h 3861"/>
              <a:gd name="T14" fmla="*/ 942322 w 3841"/>
              <a:gd name="T15" fmla="*/ 1696878 h 3861"/>
              <a:gd name="T16" fmla="*/ 682146 w 3841"/>
              <a:gd name="T17" fmla="*/ 1245496 h 3861"/>
              <a:gd name="T18" fmla="*/ 803375 w 3841"/>
              <a:gd name="T19" fmla="*/ 1371398 h 3861"/>
              <a:gd name="T20" fmla="*/ 956776 w 3841"/>
              <a:gd name="T21" fmla="*/ 1221248 h 3861"/>
              <a:gd name="T22" fmla="*/ 830884 w 3841"/>
              <a:gd name="T23" fmla="*/ 1092082 h 3861"/>
              <a:gd name="T24" fmla="*/ 682146 w 3841"/>
              <a:gd name="T25" fmla="*/ 1245496 h 3861"/>
              <a:gd name="T26" fmla="*/ 988948 w 3841"/>
              <a:gd name="T27" fmla="*/ 301698 h 3861"/>
              <a:gd name="T28" fmla="*/ 729705 w 3841"/>
              <a:gd name="T29" fmla="*/ 367913 h 3861"/>
              <a:gd name="T30" fmla="*/ 758613 w 3841"/>
              <a:gd name="T31" fmla="*/ 522726 h 3861"/>
              <a:gd name="T32" fmla="*/ 926002 w 3841"/>
              <a:gd name="T33" fmla="*/ 479826 h 3861"/>
              <a:gd name="T34" fmla="*/ 1015059 w 3841"/>
              <a:gd name="T35" fmla="*/ 553502 h 3861"/>
              <a:gd name="T36" fmla="*/ 892431 w 3841"/>
              <a:gd name="T37" fmla="*/ 723703 h 3861"/>
              <a:gd name="T38" fmla="*/ 752552 w 3841"/>
              <a:gd name="T39" fmla="*/ 978771 h 3861"/>
              <a:gd name="T40" fmla="*/ 747889 w 3841"/>
              <a:gd name="T41" fmla="*/ 1018406 h 3861"/>
              <a:gd name="T42" fmla="*/ 962837 w 3841"/>
              <a:gd name="T43" fmla="*/ 1018406 h 3861"/>
              <a:gd name="T44" fmla="*/ 970298 w 3841"/>
              <a:gd name="T45" fmla="*/ 981568 h 3861"/>
              <a:gd name="T46" fmla="*/ 1074741 w 3841"/>
              <a:gd name="T47" fmla="*/ 800643 h 3861"/>
              <a:gd name="T48" fmla="*/ 1242130 w 3841"/>
              <a:gd name="T49" fmla="*/ 510602 h 3861"/>
              <a:gd name="T50" fmla="*/ 988948 w 3841"/>
              <a:gd name="T51" fmla="*/ 301698 h 3861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</a:gdLst>
            <a:ahLst/>
            <a:cxnLst>
              <a:cxn ang="T52">
                <a:pos x="T0" y="T1"/>
              </a:cxn>
              <a:cxn ang="T53">
                <a:pos x="T2" y="T3"/>
              </a:cxn>
              <a:cxn ang="T54">
                <a:pos x="T4" y="T5"/>
              </a:cxn>
              <a:cxn ang="T55">
                <a:pos x="T6" y="T7"/>
              </a:cxn>
              <a:cxn ang="T56">
                <a:pos x="T8" y="T9"/>
              </a:cxn>
              <a:cxn ang="T57">
                <a:pos x="T10" y="T11"/>
              </a:cxn>
              <a:cxn ang="T58">
                <a:pos x="T12" y="T13"/>
              </a:cxn>
              <a:cxn ang="T59">
                <a:pos x="T14" y="T15"/>
              </a:cxn>
              <a:cxn ang="T60">
                <a:pos x="T16" y="T17"/>
              </a:cxn>
              <a:cxn ang="T61">
                <a:pos x="T18" y="T19"/>
              </a:cxn>
              <a:cxn ang="T62">
                <a:pos x="T20" y="T21"/>
              </a:cxn>
              <a:cxn ang="T63">
                <a:pos x="T22" y="T23"/>
              </a:cxn>
              <a:cxn ang="T64">
                <a:pos x="T24" y="T25"/>
              </a:cxn>
              <a:cxn ang="T65">
                <a:pos x="T26" y="T27"/>
              </a:cxn>
              <a:cxn ang="T66">
                <a:pos x="T28" y="T29"/>
              </a:cxn>
              <a:cxn ang="T67">
                <a:pos x="T30" y="T31"/>
              </a:cxn>
              <a:cxn ang="T68">
                <a:pos x="T32" y="T33"/>
              </a:cxn>
              <a:cxn ang="T69">
                <a:pos x="T34" y="T35"/>
              </a:cxn>
              <a:cxn ang="T70">
                <a:pos x="T36" y="T37"/>
              </a:cxn>
              <a:cxn ang="T71">
                <a:pos x="T38" y="T39"/>
              </a:cxn>
              <a:cxn ang="T72">
                <a:pos x="T40" y="T41"/>
              </a:cxn>
              <a:cxn ang="T73">
                <a:pos x="T42" y="T43"/>
              </a:cxn>
              <a:cxn ang="T74">
                <a:pos x="T44" y="T45"/>
              </a:cxn>
              <a:cxn ang="T75">
                <a:pos x="T46" y="T47"/>
              </a:cxn>
              <a:cxn ang="T76">
                <a:pos x="T48" y="T49"/>
              </a:cxn>
              <a:cxn ang="T77">
                <a:pos x="T50" y="T51"/>
              </a:cxn>
            </a:cxnLst>
            <a:rect l="0" t="0" r="r" b="b"/>
            <a:pathLst>
              <a:path w="3841" h="3861">
                <a:moveTo>
                  <a:pt x="2021" y="3639"/>
                </a:moveTo>
                <a:cubicBezTo>
                  <a:pt x="1770" y="3639"/>
                  <a:pt x="1531" y="3588"/>
                  <a:pt x="1313" y="3496"/>
                </a:cubicBezTo>
                <a:cubicBezTo>
                  <a:pt x="830" y="3861"/>
                  <a:pt x="0" y="3855"/>
                  <a:pt x="0" y="3855"/>
                </a:cubicBezTo>
                <a:cubicBezTo>
                  <a:pt x="0" y="3855"/>
                  <a:pt x="417" y="3566"/>
                  <a:pt x="605" y="2961"/>
                </a:cubicBezTo>
                <a:cubicBezTo>
                  <a:pt x="352" y="2648"/>
                  <a:pt x="201" y="2252"/>
                  <a:pt x="201" y="1819"/>
                </a:cubicBezTo>
                <a:cubicBezTo>
                  <a:pt x="201" y="814"/>
                  <a:pt x="1016" y="0"/>
                  <a:pt x="2021" y="0"/>
                </a:cubicBezTo>
                <a:cubicBezTo>
                  <a:pt x="3026" y="0"/>
                  <a:pt x="3841" y="814"/>
                  <a:pt x="3841" y="1819"/>
                </a:cubicBezTo>
                <a:cubicBezTo>
                  <a:pt x="3841" y="2824"/>
                  <a:pt x="3026" y="3639"/>
                  <a:pt x="2021" y="3639"/>
                </a:cubicBezTo>
                <a:close/>
                <a:moveTo>
                  <a:pt x="1463" y="2671"/>
                </a:moveTo>
                <a:cubicBezTo>
                  <a:pt x="1463" y="2826"/>
                  <a:pt x="1568" y="2941"/>
                  <a:pt x="1723" y="2941"/>
                </a:cubicBezTo>
                <a:cubicBezTo>
                  <a:pt x="1917" y="2941"/>
                  <a:pt x="2052" y="2806"/>
                  <a:pt x="2052" y="2619"/>
                </a:cubicBezTo>
                <a:cubicBezTo>
                  <a:pt x="2052" y="2457"/>
                  <a:pt x="1940" y="2342"/>
                  <a:pt x="1782" y="2342"/>
                </a:cubicBezTo>
                <a:cubicBezTo>
                  <a:pt x="1595" y="2342"/>
                  <a:pt x="1463" y="2497"/>
                  <a:pt x="1463" y="2671"/>
                </a:cubicBezTo>
                <a:close/>
                <a:moveTo>
                  <a:pt x="2121" y="647"/>
                </a:moveTo>
                <a:cubicBezTo>
                  <a:pt x="1874" y="647"/>
                  <a:pt x="1687" y="716"/>
                  <a:pt x="1565" y="789"/>
                </a:cubicBezTo>
                <a:cubicBezTo>
                  <a:pt x="1627" y="1121"/>
                  <a:pt x="1627" y="1121"/>
                  <a:pt x="1627" y="1121"/>
                </a:cubicBezTo>
                <a:cubicBezTo>
                  <a:pt x="1720" y="1065"/>
                  <a:pt x="1838" y="1029"/>
                  <a:pt x="1986" y="1029"/>
                </a:cubicBezTo>
                <a:cubicBezTo>
                  <a:pt x="2134" y="1032"/>
                  <a:pt x="2177" y="1101"/>
                  <a:pt x="2177" y="1187"/>
                </a:cubicBezTo>
                <a:cubicBezTo>
                  <a:pt x="2177" y="1302"/>
                  <a:pt x="2042" y="1414"/>
                  <a:pt x="1914" y="1552"/>
                </a:cubicBezTo>
                <a:cubicBezTo>
                  <a:pt x="1729" y="1747"/>
                  <a:pt x="1641" y="1921"/>
                  <a:pt x="1614" y="2099"/>
                </a:cubicBezTo>
                <a:cubicBezTo>
                  <a:pt x="1611" y="2125"/>
                  <a:pt x="1608" y="2155"/>
                  <a:pt x="1604" y="2184"/>
                </a:cubicBezTo>
                <a:cubicBezTo>
                  <a:pt x="2065" y="2184"/>
                  <a:pt x="2065" y="2184"/>
                  <a:pt x="2065" y="2184"/>
                </a:cubicBezTo>
                <a:cubicBezTo>
                  <a:pt x="2072" y="2155"/>
                  <a:pt x="2075" y="2128"/>
                  <a:pt x="2081" y="2105"/>
                </a:cubicBezTo>
                <a:cubicBezTo>
                  <a:pt x="2111" y="1957"/>
                  <a:pt x="2177" y="1845"/>
                  <a:pt x="2305" y="1717"/>
                </a:cubicBezTo>
                <a:cubicBezTo>
                  <a:pt x="2490" y="1526"/>
                  <a:pt x="2664" y="1358"/>
                  <a:pt x="2664" y="1095"/>
                </a:cubicBezTo>
                <a:cubicBezTo>
                  <a:pt x="2664" y="825"/>
                  <a:pt x="2437" y="647"/>
                  <a:pt x="2121" y="647"/>
                </a:cubicBezTo>
                <a:close/>
              </a:path>
            </a:pathLst>
          </a:custGeom>
          <a:solidFill>
            <a:srgbClr val="FF0000"/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anchorCtr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1" name="标题 1"/>
          <p:cNvSpPr>
            <a:spLocks noGrp="1"/>
          </p:cNvSpPr>
          <p:nvPr/>
        </p:nvSpPr>
        <p:spPr>
          <a:xfrm>
            <a:off x="5466606" y="5105559"/>
            <a:ext cx="2994025" cy="85725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kumimoji="0" lang="zh-CN"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dirty="0">
                <a:solidFill>
                  <a:srgbClr val="FF0000"/>
                </a:solidFill>
                <a:latin typeface="方正大黑简体" panose="03000509000000000000" pitchFamily="2" charset="-122"/>
                <a:ea typeface="方正大黑简体" panose="03000509000000000000" pitchFamily="2" charset="-122"/>
              </a:rPr>
              <a:t>为什么</a:t>
            </a:r>
          </a:p>
        </p:txBody>
      </p:sp>
    </p:spTree>
  </p:cSld>
  <p:clrMapOvr>
    <a:masterClrMapping/>
  </p:clrMapOvr>
  <p:transition spd="slow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  <p:bldP spid="11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10205369" y="189434"/>
            <a:ext cx="20180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5.4 函数</a:t>
            </a:r>
            <a:endParaRPr 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186328" y="897067"/>
            <a:ext cx="182614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默认参数</a:t>
            </a: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613903" y="1566297"/>
            <a:ext cx="10225136" cy="662554"/>
          </a:xfrm>
          <a:prstGeom prst="rect">
            <a:avLst/>
          </a:prstGeom>
        </p:spPr>
        <p:txBody>
          <a:bodyPr vert="horz" wrap="square" lIns="91456" tIns="45728" rIns="91456" bIns="45728" anchor="t"/>
          <a:lstStyle/>
          <a:p>
            <a:pPr>
              <a:lnSpc>
                <a:spcPct val="150000"/>
              </a:lnSpc>
              <a:spcBef>
                <a:spcPct val="20000"/>
              </a:spcBef>
            </a:pPr>
            <a:r>
              <a:rPr lang="zh-CN" altLang="zh-CN" sz="28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写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一</a:t>
            </a:r>
            <a:r>
              <a:rPr lang="zh-CN" altLang="zh-CN" sz="28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个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新生</a:t>
            </a:r>
            <a:r>
              <a:rPr lang="zh-CN" altLang="zh-CN" sz="28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注册的函数，需要传入name和gender两个参数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：</a:t>
            </a:r>
            <a:r>
              <a:rPr lang="zh-CN" altLang="zh-CN" sz="28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</a:t>
            </a: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101431" y="2432194"/>
            <a:ext cx="4735653" cy="137287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33308" rIns="0" bIns="133308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ritannic Bold" panose="020B0903060703020204" charset="0"/>
                <a:cs typeface="Britannic Bold" panose="020B0903060703020204" charset="0"/>
              </a:rPr>
              <a:t>def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Britannic Bold" panose="020B0903060703020204" charset="0"/>
                <a:cs typeface="Britannic Bold" panose="020B0903060703020204" charset="0"/>
              </a:rPr>
              <a:t> 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990000"/>
                </a:solidFill>
                <a:effectLst/>
                <a:latin typeface="Britannic Bold" panose="020B0903060703020204" charset="0"/>
                <a:cs typeface="Britannic Bold" panose="020B0903060703020204" charset="0"/>
              </a:rPr>
              <a:t>enroll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Britannic Bold" panose="020B0903060703020204" charset="0"/>
                <a:cs typeface="Britannic Bold" panose="020B0903060703020204" charset="0"/>
              </a:rPr>
              <a:t>(name, gender):</a:t>
            </a:r>
            <a:endParaRPr kumimoji="0" lang="en-US" altLang="zh-CN" b="1" i="0" u="none" strike="noStrike" cap="none" normalizeH="0" baseline="0" dirty="0">
              <a:ln>
                <a:noFill/>
              </a:ln>
              <a:solidFill>
                <a:srgbClr val="444444"/>
              </a:solidFill>
              <a:effectLst/>
              <a:latin typeface="Britannic Bold" panose="020B0903060703020204" charset="0"/>
              <a:cs typeface="Britannic Bold" panose="020B090306070302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b="1" dirty="0">
                <a:solidFill>
                  <a:srgbClr val="444444"/>
                </a:solidFill>
                <a:latin typeface="Britannic Bold" panose="020B0903060703020204" charset="0"/>
                <a:cs typeface="Britannic Bold" panose="020B0903060703020204" charset="0"/>
              </a:rPr>
              <a:t>   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Britannic Bold" panose="020B0903060703020204" charset="0"/>
                <a:cs typeface="Britannic Bold" panose="020B0903060703020204" charset="0"/>
              </a:rPr>
              <a:t> print(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DD1144"/>
                </a:solidFill>
                <a:effectLst/>
                <a:latin typeface="Britannic Bold" panose="020B0903060703020204" charset="0"/>
                <a:cs typeface="Britannic Bold" panose="020B0903060703020204" charset="0"/>
              </a:rPr>
              <a:t>'name:'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Britannic Bold" panose="020B0903060703020204" charset="0"/>
                <a:cs typeface="Britannic Bold" panose="020B0903060703020204" charset="0"/>
              </a:rPr>
              <a:t>, name) </a:t>
            </a:r>
            <a:endParaRPr kumimoji="0" lang="en-US" altLang="zh-CN" b="1" i="0" u="none" strike="noStrike" cap="none" normalizeH="0" baseline="0" dirty="0">
              <a:ln>
                <a:noFill/>
              </a:ln>
              <a:solidFill>
                <a:srgbClr val="444444"/>
              </a:solidFill>
              <a:effectLst/>
              <a:latin typeface="Britannic Bold" panose="020B0903060703020204" charset="0"/>
              <a:cs typeface="Britannic Bold" panose="020B090306070302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b="1" dirty="0">
                <a:solidFill>
                  <a:srgbClr val="444444"/>
                </a:solidFill>
                <a:latin typeface="Britannic Bold" panose="020B0903060703020204" charset="0"/>
                <a:cs typeface="Britannic Bold" panose="020B0903060703020204" charset="0"/>
              </a:rPr>
              <a:t>    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Britannic Bold" panose="020B0903060703020204" charset="0"/>
                <a:cs typeface="Britannic Bold" panose="020B0903060703020204" charset="0"/>
              </a:rPr>
              <a:t>print(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DD1144"/>
                </a:solidFill>
                <a:effectLst/>
                <a:latin typeface="Britannic Bold" panose="020B0903060703020204" charset="0"/>
                <a:cs typeface="Britannic Bold" panose="020B0903060703020204" charset="0"/>
              </a:rPr>
              <a:t>'gender:'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Britannic Bold" panose="020B0903060703020204" charset="0"/>
                <a:cs typeface="Britannic Bold" panose="020B0903060703020204" charset="0"/>
              </a:rPr>
              <a:t>, gender)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ritannic Bold" panose="020B0903060703020204" charset="0"/>
                <a:cs typeface="Britannic Bold" panose="020B0903060703020204" charset="0"/>
              </a:rPr>
              <a:t> </a:t>
            </a:r>
          </a:p>
        </p:txBody>
      </p:sp>
      <p:sp>
        <p:nvSpPr>
          <p:cNvPr id="6" name="矩形 5"/>
          <p:cNvSpPr/>
          <p:nvPr/>
        </p:nvSpPr>
        <p:spPr>
          <a:xfrm>
            <a:off x="591391" y="4149874"/>
            <a:ext cx="11389928" cy="1383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如果要继续传入年龄、省等信息怎么办？这样会使得调用函数的复杂度大大增加。因此可以在加入默认参数：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r>
              <a:rPr lang="en-US" altLang="zh-CN" sz="2800" b="1" dirty="0">
                <a:solidFill>
                  <a:srgbClr val="99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     </a:t>
            </a:r>
            <a:r>
              <a:rPr lang="zh-CN" altLang="zh-CN" sz="2800" b="1" dirty="0">
                <a:solidFill>
                  <a:srgbClr val="990000"/>
                </a:solidFill>
                <a:latin typeface="Britannic Bold" panose="020B0903060703020204" charset="0"/>
                <a:ea typeface="楷体" panose="02010609060101010101" pitchFamily="49" charset="-122"/>
                <a:cs typeface="Britannic Bold" panose="020B0903060703020204" charset="0"/>
              </a:rPr>
              <a:t>enroll</a:t>
            </a:r>
            <a:r>
              <a:rPr lang="zh-CN" altLang="zh-CN" sz="2800" dirty="0">
                <a:solidFill>
                  <a:srgbClr val="444444"/>
                </a:solidFill>
                <a:latin typeface="Britannic Bold" panose="020B0903060703020204" charset="0"/>
                <a:ea typeface="楷体" panose="02010609060101010101" pitchFamily="49" charset="-122"/>
                <a:cs typeface="Britannic Bold" panose="020B0903060703020204" charset="0"/>
              </a:rPr>
              <a:t>(name, gender</a:t>
            </a:r>
            <a:r>
              <a:rPr lang="zh-CN" altLang="en-US" sz="2800" dirty="0">
                <a:solidFill>
                  <a:srgbClr val="444444"/>
                </a:solidFill>
                <a:latin typeface="Britannic Bold" panose="020B0903060703020204" charset="0"/>
                <a:ea typeface="楷体" panose="02010609060101010101" pitchFamily="49" charset="-122"/>
                <a:cs typeface="Britannic Bold" panose="020B0903060703020204" charset="0"/>
              </a:rPr>
              <a:t>，</a:t>
            </a:r>
            <a:r>
              <a:rPr lang="en-US" altLang="zh-CN" sz="2800" dirty="0">
                <a:solidFill>
                  <a:srgbClr val="444444"/>
                </a:solidFill>
                <a:latin typeface="Britannic Bold" panose="020B0903060703020204" charset="0"/>
                <a:ea typeface="楷体" panose="02010609060101010101" pitchFamily="49" charset="-122"/>
                <a:cs typeface="Britannic Bold" panose="020B0903060703020204" charset="0"/>
              </a:rPr>
              <a:t>age=18</a:t>
            </a:r>
            <a:r>
              <a:rPr lang="zh-CN" altLang="en-US" sz="2800" dirty="0">
                <a:solidFill>
                  <a:srgbClr val="444444"/>
                </a:solidFill>
                <a:latin typeface="Britannic Bold" panose="020B0903060703020204" charset="0"/>
                <a:ea typeface="楷体" panose="02010609060101010101" pitchFamily="49" charset="-122"/>
                <a:cs typeface="Britannic Bold" panose="020B0903060703020204" charset="0"/>
              </a:rPr>
              <a:t>，</a:t>
            </a:r>
            <a:r>
              <a:rPr lang="en-US" altLang="zh-CN" sz="2800" dirty="0">
                <a:solidFill>
                  <a:srgbClr val="444444"/>
                </a:solidFill>
                <a:latin typeface="Britannic Bold" panose="020B0903060703020204" charset="0"/>
                <a:ea typeface="楷体" panose="02010609060101010101" pitchFamily="49" charset="-122"/>
                <a:cs typeface="Britannic Bold" panose="020B0903060703020204" charset="0"/>
              </a:rPr>
              <a:t>city=</a:t>
            </a:r>
            <a:r>
              <a:rPr lang="zh-CN" altLang="zh-CN" sz="2800" b="1" dirty="0">
                <a:ln>
                  <a:noFill/>
                </a:ln>
                <a:solidFill>
                  <a:srgbClr val="DD1144"/>
                </a:solidFill>
                <a:effectLst/>
                <a:latin typeface="Britannic Bold" panose="020B0903060703020204" charset="0"/>
                <a:cs typeface="Britannic Bold" panose="020B0903060703020204" charset="0"/>
                <a:sym typeface="+mn-ea"/>
              </a:rPr>
              <a:t>'</a:t>
            </a:r>
            <a:r>
              <a:rPr lang="zh-CN" altLang="en-US" sz="2800" dirty="0">
                <a:solidFill>
                  <a:srgbClr val="444444"/>
                </a:solidFill>
                <a:latin typeface="Britannic Bold" panose="020B0903060703020204" charset="0"/>
                <a:ea typeface="楷体" panose="02010609060101010101" pitchFamily="49" charset="-122"/>
                <a:cs typeface="Britannic Bold" panose="020B0903060703020204" charset="0"/>
              </a:rPr>
              <a:t>安徽</a:t>
            </a:r>
            <a:r>
              <a:rPr lang="zh-CN" altLang="zh-CN" sz="2800" b="1" dirty="0">
                <a:ln>
                  <a:noFill/>
                </a:ln>
                <a:solidFill>
                  <a:srgbClr val="DD1144"/>
                </a:solidFill>
                <a:effectLst/>
                <a:latin typeface="Britannic Bold" panose="020B0903060703020204" charset="0"/>
                <a:cs typeface="Britannic Bold" panose="020B0903060703020204" charset="0"/>
                <a:sym typeface="+mn-ea"/>
              </a:rPr>
              <a:t>'</a:t>
            </a:r>
            <a:r>
              <a:rPr lang="zh-CN" altLang="zh-CN" sz="2800" dirty="0">
                <a:solidFill>
                  <a:srgbClr val="444444"/>
                </a:solidFill>
                <a:latin typeface="Britannic Bold" panose="020B0903060703020204" charset="0"/>
                <a:ea typeface="楷体" panose="02010609060101010101" pitchFamily="49" charset="-122"/>
                <a:cs typeface="Britannic Bold" panose="020B0903060703020204" charset="0"/>
              </a:rPr>
              <a:t>)</a:t>
            </a:r>
            <a:endParaRPr lang="zh-CN" altLang="en-US" sz="2800" b="1" dirty="0">
              <a:latin typeface="Britannic Bold" panose="020B0903060703020204" charset="0"/>
              <a:ea typeface="楷体" panose="02010609060101010101" pitchFamily="49" charset="-122"/>
              <a:cs typeface="Britannic Bold" panose="020B0903060703020204" charset="0"/>
            </a:endParaRPr>
          </a:p>
        </p:txBody>
      </p:sp>
    </p:spTree>
  </p:cSld>
  <p:clrMapOvr>
    <a:masterClrMapping/>
  </p:clrMapOvr>
  <p:transition spd="slow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6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10205369" y="189434"/>
            <a:ext cx="20180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5.4 函数</a:t>
            </a:r>
            <a:endParaRPr 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730523" y="831662"/>
            <a:ext cx="182614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默认参数</a:t>
            </a:r>
          </a:p>
        </p:txBody>
      </p:sp>
      <p:sp>
        <p:nvSpPr>
          <p:cNvPr id="39938" name="文本占位符 31746"/>
          <p:cNvSpPr>
            <a:spLocks noGrp="1"/>
          </p:cNvSpPr>
          <p:nvPr/>
        </p:nvSpPr>
        <p:spPr>
          <a:xfrm>
            <a:off x="477520" y="1416685"/>
            <a:ext cx="11005185" cy="3093229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>
            <a:lvl1pPr marL="342900" lvl="0" indent="-3429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har char="•"/>
              <a:defRPr sz="32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–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•"/>
              <a:defRPr sz="2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–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lnSpc>
                <a:spcPct val="150000"/>
              </a:lnSpc>
              <a:spcBef>
                <a:spcPct val="0"/>
              </a:spcBef>
              <a:buSzPct val="90000"/>
              <a:buFont typeface="Wingdings" panose="05000000000000000000" charset="0"/>
              <a:buChar char="§"/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另外，默认值参数如果使用不当，会导致很难发现的</a:t>
            </a: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逻辑错误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，例如：</a:t>
            </a:r>
          </a:p>
          <a:p>
            <a:pPr defTabSz="914400">
              <a:lnSpc>
                <a:spcPct val="100000"/>
              </a:lnSpc>
              <a:spcBef>
                <a:spcPts val="300"/>
              </a:spcBef>
              <a:buSzPct val="90000"/>
              <a:buFont typeface="Wingdings" panose="05000000000000000000" pitchFamily="2" charset="2"/>
              <a:buNone/>
            </a:pPr>
            <a:r>
              <a:rPr lang="en-US" altLang="zh-CN" sz="2000" dirty="0" err="1">
                <a:latin typeface="Times New Roman" pitchFamily="18" charset="0"/>
                <a:ea typeface="楷体" panose="02010609060101010101" pitchFamily="49" charset="-122"/>
                <a:cs typeface="Times New Roman" pitchFamily="18" charset="0"/>
              </a:rPr>
              <a:t>def</a:t>
            </a:r>
            <a:r>
              <a:rPr lang="en-US" altLang="zh-CN" sz="2000" dirty="0">
                <a:latin typeface="Times New Roman" pitchFamily="18" charset="0"/>
                <a:ea typeface="楷体" panose="02010609060101010101" pitchFamily="49" charset="-122"/>
                <a:cs typeface="Times New Roman" pitchFamily="18" charset="0"/>
              </a:rPr>
              <a:t> demo(</a:t>
            </a:r>
            <a:r>
              <a:rPr lang="en-US" altLang="zh-CN" sz="2000" dirty="0" err="1">
                <a:latin typeface="Times New Roman" pitchFamily="18" charset="0"/>
                <a:ea typeface="楷体" panose="02010609060101010101" pitchFamily="49" charset="-122"/>
                <a:cs typeface="Times New Roman" pitchFamily="18" charset="0"/>
              </a:rPr>
              <a:t>newitem,old_list</a:t>
            </a:r>
            <a:r>
              <a:rPr lang="en-US" altLang="zh-CN" sz="2000" dirty="0">
                <a:latin typeface="Times New Roman" pitchFamily="18" charset="0"/>
                <a:ea typeface="楷体" panose="02010609060101010101" pitchFamily="49" charset="-122"/>
                <a:cs typeface="Times New Roman" pitchFamily="18" charset="0"/>
              </a:rPr>
              <a:t>=[]):</a:t>
            </a:r>
          </a:p>
          <a:p>
            <a:pPr defTabSz="914400">
              <a:lnSpc>
                <a:spcPct val="100000"/>
              </a:lnSpc>
              <a:spcBef>
                <a:spcPts val="300"/>
              </a:spcBef>
              <a:buSzPct val="90000"/>
              <a:buFont typeface="Wingdings" panose="05000000000000000000" pitchFamily="2" charset="2"/>
              <a:buNone/>
            </a:pPr>
            <a:r>
              <a:rPr lang="en-US" altLang="zh-CN" sz="2000" dirty="0">
                <a:latin typeface="Times New Roman" pitchFamily="18" charset="0"/>
                <a:ea typeface="楷体" panose="02010609060101010101" pitchFamily="49" charset="-122"/>
                <a:cs typeface="Times New Roman" pitchFamily="18" charset="0"/>
              </a:rPr>
              <a:t>    </a:t>
            </a:r>
            <a:r>
              <a:rPr lang="en-US" altLang="zh-CN" sz="2000" dirty="0" err="1">
                <a:latin typeface="Times New Roman" pitchFamily="18" charset="0"/>
                <a:ea typeface="楷体" panose="02010609060101010101" pitchFamily="49" charset="-122"/>
                <a:cs typeface="Times New Roman" pitchFamily="18" charset="0"/>
              </a:rPr>
              <a:t>old_list.append</a:t>
            </a:r>
            <a:r>
              <a:rPr lang="en-US" altLang="zh-CN" sz="2000" dirty="0">
                <a:latin typeface="Times New Roman" pitchFamily="18" charset="0"/>
                <a:ea typeface="楷体" panose="02010609060101010101" pitchFamily="49" charset="-122"/>
                <a:cs typeface="Times New Roman" pitchFamily="18" charset="0"/>
              </a:rPr>
              <a:t>(</a:t>
            </a:r>
            <a:r>
              <a:rPr lang="en-US" altLang="zh-CN" sz="2000" dirty="0" err="1">
                <a:latin typeface="Times New Roman" pitchFamily="18" charset="0"/>
                <a:ea typeface="楷体" panose="02010609060101010101" pitchFamily="49" charset="-122"/>
                <a:cs typeface="Times New Roman" pitchFamily="18" charset="0"/>
              </a:rPr>
              <a:t>newitem</a:t>
            </a:r>
            <a:r>
              <a:rPr lang="en-US" altLang="zh-CN" sz="2000" dirty="0">
                <a:latin typeface="Times New Roman" pitchFamily="18" charset="0"/>
                <a:ea typeface="楷体" panose="02010609060101010101" pitchFamily="49" charset="-122"/>
                <a:cs typeface="Times New Roman" pitchFamily="18" charset="0"/>
              </a:rPr>
              <a:t>)</a:t>
            </a:r>
          </a:p>
          <a:p>
            <a:pPr defTabSz="914400">
              <a:lnSpc>
                <a:spcPct val="100000"/>
              </a:lnSpc>
              <a:spcBef>
                <a:spcPts val="300"/>
              </a:spcBef>
              <a:buSzPct val="90000"/>
              <a:buFont typeface="Wingdings" panose="05000000000000000000" pitchFamily="2" charset="2"/>
              <a:buNone/>
            </a:pPr>
            <a:r>
              <a:rPr lang="en-US" altLang="zh-CN" sz="2000" dirty="0">
                <a:latin typeface="Times New Roman" pitchFamily="18" charset="0"/>
                <a:ea typeface="楷体" panose="02010609060101010101" pitchFamily="49" charset="-122"/>
                <a:cs typeface="Times New Roman" pitchFamily="18" charset="0"/>
              </a:rPr>
              <a:t>    return </a:t>
            </a:r>
            <a:r>
              <a:rPr lang="en-US" altLang="zh-CN" sz="2000" dirty="0" err="1">
                <a:latin typeface="Times New Roman" pitchFamily="18" charset="0"/>
                <a:ea typeface="楷体" panose="02010609060101010101" pitchFamily="49" charset="-122"/>
                <a:cs typeface="Times New Roman" pitchFamily="18" charset="0"/>
              </a:rPr>
              <a:t>old_list</a:t>
            </a:r>
            <a:endParaRPr lang="en-US" altLang="zh-CN" sz="2000" dirty="0">
              <a:latin typeface="Times New Roman" pitchFamily="18" charset="0"/>
              <a:ea typeface="楷体" panose="02010609060101010101" pitchFamily="49" charset="-122"/>
              <a:cs typeface="Times New Roman" pitchFamily="18" charset="0"/>
            </a:endParaRPr>
          </a:p>
          <a:p>
            <a:pPr defTabSz="914400">
              <a:lnSpc>
                <a:spcPct val="100000"/>
              </a:lnSpc>
              <a:spcBef>
                <a:spcPts val="300"/>
              </a:spcBef>
              <a:buSzPct val="90000"/>
              <a:buFont typeface="Wingdings" panose="05000000000000000000" pitchFamily="2" charset="2"/>
              <a:buNone/>
            </a:pPr>
            <a:r>
              <a:rPr lang="en-US" altLang="zh-CN" sz="2000" dirty="0">
                <a:latin typeface="Times New Roman" pitchFamily="18" charset="0"/>
                <a:ea typeface="楷体" panose="02010609060101010101" pitchFamily="49" charset="-122"/>
                <a:cs typeface="Times New Roman" pitchFamily="18" charset="0"/>
              </a:rPr>
              <a:t>print(demo('5',[1,2,3,4]))   </a:t>
            </a:r>
          </a:p>
          <a:p>
            <a:pPr defTabSz="914400">
              <a:lnSpc>
                <a:spcPct val="100000"/>
              </a:lnSpc>
              <a:spcBef>
                <a:spcPts val="300"/>
              </a:spcBef>
              <a:buSzPct val="90000"/>
              <a:buFont typeface="Wingdings" panose="05000000000000000000" pitchFamily="2" charset="2"/>
              <a:buNone/>
            </a:pPr>
            <a:r>
              <a:rPr lang="en-US" altLang="zh-CN" sz="2000" dirty="0">
                <a:latin typeface="Times New Roman" pitchFamily="18" charset="0"/>
                <a:ea typeface="楷体" panose="02010609060101010101" pitchFamily="49" charset="-122"/>
                <a:cs typeface="Times New Roman" pitchFamily="18" charset="0"/>
              </a:rPr>
              <a:t>print(demo('</a:t>
            </a:r>
            <a:r>
              <a:rPr lang="en-US" altLang="zh-CN" sz="2000" dirty="0" err="1">
                <a:latin typeface="Times New Roman" pitchFamily="18" charset="0"/>
                <a:ea typeface="楷体" panose="02010609060101010101" pitchFamily="49" charset="-122"/>
                <a:cs typeface="Times New Roman" pitchFamily="18" charset="0"/>
              </a:rPr>
              <a:t>aaa</a:t>
            </a:r>
            <a:r>
              <a:rPr lang="en-US" altLang="zh-CN" sz="2000" dirty="0">
                <a:latin typeface="Times New Roman" pitchFamily="18" charset="0"/>
                <a:ea typeface="楷体" panose="02010609060101010101" pitchFamily="49" charset="-122"/>
                <a:cs typeface="Times New Roman" pitchFamily="18" charset="0"/>
              </a:rPr>
              <a:t>',['</a:t>
            </a:r>
            <a:r>
              <a:rPr lang="en-US" altLang="zh-CN" sz="2000" dirty="0" err="1">
                <a:latin typeface="Times New Roman" pitchFamily="18" charset="0"/>
                <a:ea typeface="楷体" panose="02010609060101010101" pitchFamily="49" charset="-122"/>
                <a:cs typeface="Times New Roman" pitchFamily="18" charset="0"/>
              </a:rPr>
              <a:t>a','b</a:t>
            </a:r>
            <a:r>
              <a:rPr lang="en-US" altLang="zh-CN" sz="2000" dirty="0">
                <a:latin typeface="Times New Roman" pitchFamily="18" charset="0"/>
                <a:ea typeface="楷体" panose="02010609060101010101" pitchFamily="49" charset="-122"/>
                <a:cs typeface="Times New Roman" pitchFamily="18" charset="0"/>
              </a:rPr>
              <a:t>'])) </a:t>
            </a:r>
          </a:p>
          <a:p>
            <a:pPr defTabSz="914400">
              <a:lnSpc>
                <a:spcPct val="100000"/>
              </a:lnSpc>
              <a:spcBef>
                <a:spcPts val="300"/>
              </a:spcBef>
              <a:buSzPct val="90000"/>
              <a:buFont typeface="Wingdings" panose="05000000000000000000" pitchFamily="2" charset="2"/>
              <a:buNone/>
            </a:pPr>
            <a:r>
              <a:rPr lang="en-US" altLang="zh-CN" sz="2000" dirty="0">
                <a:latin typeface="Times New Roman" pitchFamily="18" charset="0"/>
                <a:ea typeface="楷体" panose="02010609060101010101" pitchFamily="49" charset="-122"/>
                <a:cs typeface="Times New Roman" pitchFamily="18" charset="0"/>
              </a:rPr>
              <a:t>print(demo('a'))             </a:t>
            </a:r>
          </a:p>
          <a:p>
            <a:pPr defTabSz="914400">
              <a:lnSpc>
                <a:spcPct val="100000"/>
              </a:lnSpc>
              <a:spcBef>
                <a:spcPts val="300"/>
              </a:spcBef>
              <a:buSzPct val="90000"/>
              <a:buFont typeface="Wingdings" panose="05000000000000000000" pitchFamily="2" charset="2"/>
              <a:buNone/>
            </a:pPr>
            <a:r>
              <a:rPr lang="en-US" altLang="zh-CN" sz="2000" dirty="0">
                <a:latin typeface="Times New Roman" pitchFamily="18" charset="0"/>
                <a:ea typeface="楷体" panose="02010609060101010101" pitchFamily="49" charset="-122"/>
                <a:cs typeface="Times New Roman" pitchFamily="18" charset="0"/>
              </a:rPr>
              <a:t>print(demo('b'))             </a:t>
            </a:r>
          </a:p>
          <a:p>
            <a:pPr defTabSz="914400">
              <a:lnSpc>
                <a:spcPct val="80000"/>
              </a:lnSpc>
              <a:buSzPct val="90000"/>
              <a:buFont typeface="Wingdings" panose="05000000000000000000" pitchFamily="2" charset="2"/>
              <a:buNone/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试着想一想，这段代码会输出什么呢？</a:t>
            </a:r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5538561" y="2133650"/>
            <a:ext cx="1761920" cy="2016224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>
            <a:lvl1pPr marL="342900" lvl="0" indent="-3429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har char="•"/>
              <a:defRPr sz="32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–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•"/>
              <a:defRPr sz="2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–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1800" b="1" noProof="1">
                <a:solidFill>
                  <a:srgbClr val="FF0000"/>
                </a:solidFill>
              </a:rPr>
              <a:t>期望输出：</a:t>
            </a:r>
            <a:endParaRPr lang="en-US" altLang="zh-CN" sz="1800" b="1" strike="noStrike" noProof="1">
              <a:solidFill>
                <a:srgbClr val="FF0000"/>
              </a:solidFill>
            </a:endParaRPr>
          </a:p>
          <a:p>
            <a:pPr marL="0" indent="0" fontAlgn="base">
              <a:buNone/>
            </a:pPr>
            <a:r>
              <a:rPr lang="zh-CN" altLang="en-US" sz="1800" b="1" strike="noStrike" noProof="1">
                <a:solidFill>
                  <a:srgbClr val="FF0000"/>
                </a:solidFill>
              </a:rPr>
              <a:t>[1, 2, 3, 4, '5']</a:t>
            </a:r>
          </a:p>
          <a:p>
            <a:pPr marL="0" indent="0" fontAlgn="base">
              <a:buNone/>
            </a:pPr>
            <a:r>
              <a:rPr lang="zh-CN" altLang="en-US" sz="1800" b="1" strike="noStrike" noProof="1">
                <a:solidFill>
                  <a:srgbClr val="FF0000"/>
                </a:solidFill>
              </a:rPr>
              <a:t>['a', 'b', 'aaa']</a:t>
            </a:r>
          </a:p>
          <a:p>
            <a:pPr marL="0" indent="0" fontAlgn="base">
              <a:buNone/>
            </a:pPr>
            <a:r>
              <a:rPr lang="zh-CN" altLang="en-US" sz="1800" b="1" strike="noStrike" noProof="1">
                <a:solidFill>
                  <a:srgbClr val="FF0000"/>
                </a:solidFill>
              </a:rPr>
              <a:t>['a']</a:t>
            </a:r>
          </a:p>
          <a:p>
            <a:pPr marL="0" indent="0" fontAlgn="base">
              <a:buNone/>
            </a:pPr>
            <a:r>
              <a:rPr lang="zh-CN" altLang="en-US" sz="1800" b="1" strike="noStrike" noProof="1">
                <a:solidFill>
                  <a:srgbClr val="FF0000"/>
                </a:solidFill>
              </a:rPr>
              <a:t>['b']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498575" y="4869954"/>
            <a:ext cx="1118298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defTabSz="91440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SzPct val="90000"/>
              <a:buFont typeface="Wingdings" panose="05000000000000000000" charset="0"/>
              <a:buChar char="§"/>
            </a:pP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原因在于</a:t>
            </a:r>
            <a:r>
              <a:rPr lang="zh-CN" altLang="en-US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默认值参数的赋值只会在函数定义时被解释一次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。当使用</a:t>
            </a:r>
            <a:r>
              <a:rPr lang="zh-CN" altLang="en-US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可变对象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作为参数默认值时，一定要谨慎操作。正确的代码该怎么写呢？</a:t>
            </a:r>
            <a:endParaRPr lang="zh-CN" altLang="en-US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7588747" y="2133650"/>
            <a:ext cx="2401515" cy="16989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 fontAlgn="base">
              <a:spcBef>
                <a:spcPct val="20000"/>
              </a:spcBef>
              <a:spcAft>
                <a:spcPct val="0"/>
              </a:spcAft>
            </a:pPr>
            <a:r>
              <a:rPr lang="zh-CN" altLang="en-US" sz="1800" b="1" noProof="1">
                <a:solidFill>
                  <a:srgbClr val="C00000"/>
                </a:solidFill>
              </a:rPr>
              <a:t>实际输出：</a:t>
            </a:r>
            <a:endParaRPr lang="en-US" altLang="zh-CN" sz="1800" b="1" noProof="1">
              <a:solidFill>
                <a:srgbClr val="C00000"/>
              </a:solidFill>
            </a:endParaRPr>
          </a:p>
          <a:p>
            <a:pPr defTabSz="914400" fontAlgn="base">
              <a:spcBef>
                <a:spcPct val="20000"/>
              </a:spcBef>
              <a:spcAft>
                <a:spcPct val="0"/>
              </a:spcAft>
            </a:pPr>
            <a:r>
              <a:rPr lang="en-US" altLang="zh-CN" sz="1800" b="1" dirty="0">
                <a:solidFill>
                  <a:srgbClr val="C00000"/>
                </a:solidFill>
              </a:rPr>
              <a:t>[1, 2, 3, 4, '5']</a:t>
            </a:r>
          </a:p>
          <a:p>
            <a:pPr defTabSz="914400" fontAlgn="base">
              <a:spcBef>
                <a:spcPct val="20000"/>
              </a:spcBef>
              <a:spcAft>
                <a:spcPct val="0"/>
              </a:spcAft>
            </a:pPr>
            <a:r>
              <a:rPr lang="en-US" altLang="zh-CN" sz="1800" b="1" dirty="0">
                <a:solidFill>
                  <a:srgbClr val="C00000"/>
                </a:solidFill>
              </a:rPr>
              <a:t>['a', 'b', '</a:t>
            </a:r>
            <a:r>
              <a:rPr lang="en-US" altLang="zh-CN" sz="1800" b="1" dirty="0" err="1">
                <a:solidFill>
                  <a:srgbClr val="C00000"/>
                </a:solidFill>
              </a:rPr>
              <a:t>aaa</a:t>
            </a:r>
            <a:r>
              <a:rPr lang="en-US" altLang="zh-CN" sz="1800" b="1" dirty="0">
                <a:solidFill>
                  <a:srgbClr val="C00000"/>
                </a:solidFill>
              </a:rPr>
              <a:t>']</a:t>
            </a:r>
          </a:p>
          <a:p>
            <a:pPr defTabSz="914400" fontAlgn="base">
              <a:spcBef>
                <a:spcPct val="20000"/>
              </a:spcBef>
              <a:spcAft>
                <a:spcPct val="0"/>
              </a:spcAft>
            </a:pPr>
            <a:r>
              <a:rPr lang="en-US" altLang="zh-CN" sz="1800" b="1" dirty="0">
                <a:solidFill>
                  <a:srgbClr val="C00000"/>
                </a:solidFill>
              </a:rPr>
              <a:t>['a']</a:t>
            </a:r>
          </a:p>
          <a:p>
            <a:pPr defTabSz="914400" fontAlgn="base">
              <a:spcBef>
                <a:spcPct val="20000"/>
              </a:spcBef>
              <a:spcAft>
                <a:spcPct val="0"/>
              </a:spcAft>
            </a:pPr>
            <a:r>
              <a:rPr lang="en-US" altLang="zh-CN" sz="1800" b="1" dirty="0">
                <a:solidFill>
                  <a:srgbClr val="C00000"/>
                </a:solidFill>
              </a:rPr>
              <a:t>['a', 'b']</a:t>
            </a:r>
            <a:endParaRPr lang="zh-CN" altLang="en-US" sz="1800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ransition spd="slow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1"/>
      <p:bldP spid="5" grpId="2"/>
      <p:bldP spid="7" grpId="0"/>
      <p:bldP spid="7" grpId="1"/>
      <p:bldP spid="2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10205369" y="189434"/>
            <a:ext cx="20180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5.4 函数</a:t>
            </a:r>
            <a:endParaRPr 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730523" y="831662"/>
            <a:ext cx="182614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默认参数</a:t>
            </a:r>
          </a:p>
        </p:txBody>
      </p:sp>
      <p:sp>
        <p:nvSpPr>
          <p:cNvPr id="43010" name="文本占位符 32770"/>
          <p:cNvSpPr>
            <a:spLocks noGrp="1"/>
          </p:cNvSpPr>
          <p:nvPr/>
        </p:nvSpPr>
        <p:spPr>
          <a:xfrm>
            <a:off x="554559" y="1379449"/>
            <a:ext cx="10854055" cy="3778537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>
            <a:lvl1pPr marL="342900" lvl="0" indent="-3429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har char="•"/>
              <a:defRPr sz="32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–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•"/>
              <a:defRPr sz="2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–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buSzPct val="90000"/>
              <a:buFont typeface="Wingdings" panose="05000000000000000000" charset="0"/>
              <a:buChar char="§"/>
            </a:pP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终极解决方案：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改成下面的样子就不会有问题了（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不可变对象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  <a:p>
            <a:pPr defTabSz="914400">
              <a:lnSpc>
                <a:spcPct val="80000"/>
              </a:lnSpc>
              <a:buSzPct val="90000"/>
              <a:buFont typeface="Wingdings" panose="05000000000000000000" pitchFamily="2" charset="2"/>
              <a:buNone/>
            </a:pPr>
            <a:r>
              <a:rPr lang="en-US" altLang="zh-CN" sz="2000" dirty="0" err="1">
                <a:latin typeface="Consolas" panose="020B0609020204030204" pitchFamily="49" charset="0"/>
              </a:rPr>
              <a:t>def</a:t>
            </a:r>
            <a:r>
              <a:rPr lang="en-US" altLang="zh-CN" sz="2000" dirty="0">
                <a:latin typeface="Consolas" panose="020B0609020204030204" pitchFamily="49" charset="0"/>
              </a:rPr>
              <a:t> demo(</a:t>
            </a:r>
            <a:r>
              <a:rPr lang="en-US" altLang="zh-CN" sz="2000" dirty="0" err="1">
                <a:latin typeface="Consolas" panose="020B0609020204030204" pitchFamily="49" charset="0"/>
              </a:rPr>
              <a:t>newitem,</a:t>
            </a:r>
            <a:r>
              <a:rPr lang="en-US" altLang="zh-CN" sz="2000" dirty="0" err="1">
                <a:solidFill>
                  <a:srgbClr val="FF0000"/>
                </a:solidFill>
                <a:latin typeface="Consolas" panose="020B0609020204030204" pitchFamily="49" charset="0"/>
              </a:rPr>
              <a:t>old_list</a:t>
            </a:r>
            <a:r>
              <a:rPr lang="en-US" altLang="zh-CN" sz="2000" dirty="0">
                <a:solidFill>
                  <a:srgbClr val="FF0000"/>
                </a:solidFill>
                <a:latin typeface="Consolas" panose="020B0609020204030204" pitchFamily="49" charset="0"/>
              </a:rPr>
              <a:t>=None</a:t>
            </a:r>
            <a:r>
              <a:rPr lang="en-US" altLang="zh-CN" sz="2000" dirty="0">
                <a:latin typeface="Consolas" panose="020B0609020204030204" pitchFamily="49" charset="0"/>
              </a:rPr>
              <a:t>):</a:t>
            </a:r>
          </a:p>
          <a:p>
            <a:pPr defTabSz="914400">
              <a:lnSpc>
                <a:spcPct val="80000"/>
              </a:lnSpc>
              <a:buSzPct val="90000"/>
              <a:buFont typeface="Wingdings" panose="05000000000000000000" pitchFamily="2" charset="2"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</a:t>
            </a:r>
            <a:r>
              <a:rPr lang="en-US" altLang="zh-CN" sz="2000" dirty="0">
                <a:solidFill>
                  <a:srgbClr val="FF0000"/>
                </a:solidFill>
                <a:latin typeface="Consolas" panose="020B0609020204030204" pitchFamily="49" charset="0"/>
              </a:rPr>
              <a:t>if </a:t>
            </a:r>
            <a:r>
              <a:rPr lang="en-US" altLang="zh-CN" sz="2000" dirty="0" err="1">
                <a:solidFill>
                  <a:srgbClr val="FF0000"/>
                </a:solidFill>
                <a:latin typeface="Consolas" panose="020B0609020204030204" pitchFamily="49" charset="0"/>
              </a:rPr>
              <a:t>old_list</a:t>
            </a:r>
            <a:r>
              <a:rPr lang="en-US" altLang="zh-CN" sz="2000" dirty="0">
                <a:solidFill>
                  <a:srgbClr val="FF0000"/>
                </a:solidFill>
                <a:latin typeface="Consolas" panose="020B0609020204030204" pitchFamily="49" charset="0"/>
              </a:rPr>
              <a:t> is None:</a:t>
            </a:r>
          </a:p>
          <a:p>
            <a:pPr defTabSz="914400">
              <a:lnSpc>
                <a:spcPct val="80000"/>
              </a:lnSpc>
              <a:buSzPct val="90000"/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rgbClr val="FF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2000" dirty="0" err="1">
                <a:solidFill>
                  <a:srgbClr val="FF0000"/>
                </a:solidFill>
                <a:latin typeface="Consolas" panose="020B0609020204030204" pitchFamily="49" charset="0"/>
              </a:rPr>
              <a:t>old_list</a:t>
            </a:r>
            <a:r>
              <a:rPr lang="en-US" altLang="zh-CN" sz="2000" dirty="0">
                <a:solidFill>
                  <a:srgbClr val="FF0000"/>
                </a:solidFill>
                <a:latin typeface="Consolas" panose="020B0609020204030204" pitchFamily="49" charset="0"/>
              </a:rPr>
              <a:t>=[]</a:t>
            </a:r>
          </a:p>
          <a:p>
            <a:pPr defTabSz="914400">
              <a:lnSpc>
                <a:spcPct val="80000"/>
              </a:lnSpc>
              <a:buSzPct val="90000"/>
              <a:buFont typeface="Wingdings" panose="05000000000000000000" pitchFamily="2" charset="2"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</a:t>
            </a:r>
            <a:r>
              <a:rPr lang="en-US" altLang="zh-CN" sz="2000" dirty="0" err="1">
                <a:latin typeface="Consolas" panose="020B0609020204030204" pitchFamily="49" charset="0"/>
              </a:rPr>
              <a:t>old_list.append</a:t>
            </a:r>
            <a:r>
              <a:rPr lang="en-US" altLang="zh-CN" sz="2000" dirty="0">
                <a:latin typeface="Consolas" panose="020B0609020204030204" pitchFamily="49" charset="0"/>
              </a:rPr>
              <a:t>(</a:t>
            </a:r>
            <a:r>
              <a:rPr lang="en-US" altLang="zh-CN" sz="2000" dirty="0" err="1">
                <a:latin typeface="Consolas" panose="020B0609020204030204" pitchFamily="49" charset="0"/>
              </a:rPr>
              <a:t>newitem</a:t>
            </a:r>
            <a:r>
              <a:rPr lang="en-US" altLang="zh-CN" sz="2000" dirty="0">
                <a:latin typeface="Consolas" panose="020B0609020204030204" pitchFamily="49" charset="0"/>
              </a:rPr>
              <a:t>)</a:t>
            </a:r>
          </a:p>
          <a:p>
            <a:pPr defTabSz="914400">
              <a:lnSpc>
                <a:spcPct val="80000"/>
              </a:lnSpc>
              <a:buSzPct val="90000"/>
              <a:buFont typeface="Wingdings" panose="05000000000000000000" pitchFamily="2" charset="2"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return </a:t>
            </a:r>
            <a:r>
              <a:rPr lang="en-US" altLang="zh-CN" sz="2000" dirty="0" err="1">
                <a:latin typeface="Consolas" panose="020B0609020204030204" pitchFamily="49" charset="0"/>
              </a:rPr>
              <a:t>old_list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pPr defTabSz="914400">
              <a:lnSpc>
                <a:spcPct val="80000"/>
              </a:lnSpc>
              <a:buSzPct val="90000"/>
              <a:buFont typeface="Wingdings" panose="05000000000000000000" pitchFamily="2" charset="2"/>
              <a:buNone/>
            </a:pPr>
            <a:endParaRPr lang="en-US" altLang="zh-CN" sz="2000" dirty="0">
              <a:latin typeface="Consolas" panose="020B0609020204030204" pitchFamily="49" charset="0"/>
            </a:endParaRPr>
          </a:p>
          <a:p>
            <a:pPr defTabSz="914400">
              <a:lnSpc>
                <a:spcPct val="80000"/>
              </a:lnSpc>
              <a:buSzPct val="90000"/>
              <a:buFont typeface="Wingdings" panose="05000000000000000000" pitchFamily="2" charset="2"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print(demo('5',[1,2,3,4]))</a:t>
            </a:r>
          </a:p>
          <a:p>
            <a:pPr defTabSz="914400">
              <a:lnSpc>
                <a:spcPct val="80000"/>
              </a:lnSpc>
              <a:buSzPct val="90000"/>
              <a:buFont typeface="Wingdings" panose="05000000000000000000" pitchFamily="2" charset="2"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print(demo('</a:t>
            </a:r>
            <a:r>
              <a:rPr lang="en-US" altLang="zh-CN" sz="2000" dirty="0" err="1">
                <a:latin typeface="Consolas" panose="020B0609020204030204" pitchFamily="49" charset="0"/>
              </a:rPr>
              <a:t>aaa</a:t>
            </a:r>
            <a:r>
              <a:rPr lang="en-US" altLang="zh-CN" sz="2000" dirty="0">
                <a:latin typeface="Consolas" panose="020B0609020204030204" pitchFamily="49" charset="0"/>
              </a:rPr>
              <a:t>',['</a:t>
            </a:r>
            <a:r>
              <a:rPr lang="en-US" altLang="zh-CN" sz="2000" dirty="0" err="1">
                <a:latin typeface="Consolas" panose="020B0609020204030204" pitchFamily="49" charset="0"/>
              </a:rPr>
              <a:t>a','b</a:t>
            </a:r>
            <a:r>
              <a:rPr lang="en-US" altLang="zh-CN" sz="2000" dirty="0">
                <a:latin typeface="Consolas" panose="020B0609020204030204" pitchFamily="49" charset="0"/>
              </a:rPr>
              <a:t>']))</a:t>
            </a:r>
          </a:p>
          <a:p>
            <a:pPr defTabSz="914400">
              <a:lnSpc>
                <a:spcPct val="80000"/>
              </a:lnSpc>
              <a:buSzPct val="90000"/>
              <a:buFont typeface="Wingdings" panose="05000000000000000000" pitchFamily="2" charset="2"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print(demo('a'))</a:t>
            </a:r>
          </a:p>
          <a:p>
            <a:pPr defTabSz="914400">
              <a:lnSpc>
                <a:spcPct val="80000"/>
              </a:lnSpc>
              <a:buSzPct val="90000"/>
              <a:buFont typeface="Wingdings" panose="05000000000000000000" pitchFamily="2" charset="2"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print(demo('b'))</a:t>
            </a:r>
          </a:p>
        </p:txBody>
      </p:sp>
      <p:sp>
        <p:nvSpPr>
          <p:cNvPr id="2" name="矩形 1"/>
          <p:cNvSpPr/>
          <p:nvPr/>
        </p:nvSpPr>
        <p:spPr>
          <a:xfrm>
            <a:off x="5884227" y="2925738"/>
            <a:ext cx="6099175" cy="156966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dirty="0">
                <a:solidFill>
                  <a:srgbClr val="0000FF"/>
                </a:solidFill>
              </a:rPr>
              <a:t>[1, 2, 3, 4, '5']</a:t>
            </a:r>
          </a:p>
          <a:p>
            <a:r>
              <a:rPr lang="en-US" altLang="zh-CN" dirty="0">
                <a:solidFill>
                  <a:srgbClr val="0000FF"/>
                </a:solidFill>
              </a:rPr>
              <a:t>['a', 'b', '</a:t>
            </a:r>
            <a:r>
              <a:rPr lang="en-US" altLang="zh-CN" dirty="0" err="1">
                <a:solidFill>
                  <a:srgbClr val="0000FF"/>
                </a:solidFill>
              </a:rPr>
              <a:t>aaa</a:t>
            </a:r>
            <a:r>
              <a:rPr lang="en-US" altLang="zh-CN" dirty="0">
                <a:solidFill>
                  <a:srgbClr val="0000FF"/>
                </a:solidFill>
              </a:rPr>
              <a:t>']</a:t>
            </a:r>
          </a:p>
          <a:p>
            <a:r>
              <a:rPr lang="en-US" altLang="zh-CN" dirty="0">
                <a:solidFill>
                  <a:srgbClr val="0000FF"/>
                </a:solidFill>
              </a:rPr>
              <a:t>['a']</a:t>
            </a:r>
          </a:p>
          <a:p>
            <a:r>
              <a:rPr lang="en-US" altLang="zh-CN" dirty="0">
                <a:solidFill>
                  <a:srgbClr val="0000FF"/>
                </a:solidFill>
              </a:rPr>
              <a:t>['b']</a:t>
            </a:r>
            <a:endParaRPr lang="zh-CN" altLang="en-US" dirty="0">
              <a:solidFill>
                <a:srgbClr val="0000FF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626567" y="5013970"/>
            <a:ext cx="1094521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None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是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python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中的一个常量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,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他有自己的数据类型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NoneType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,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表示一个空对象；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hlinkClick r:id="rId2"/>
              </a:rPr>
              <a:t>python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中的不可变对象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en-US" altLang="zh-CN" b="1" dirty="0" err="1">
                <a:latin typeface="微软雅黑" pitchFamily="34" charset="-122"/>
                <a:ea typeface="微软雅黑" pitchFamily="34" charset="-122"/>
              </a:rPr>
              <a:t>int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、字符串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(string)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float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、元组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( tuple)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None</a:t>
            </a: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ransition spd="slow" advTm="0"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194519" y="693490"/>
            <a:ext cx="8245415" cy="652402"/>
          </a:xfrm>
        </p:spPr>
        <p:txBody>
          <a:bodyPr vert="horz" wrap="square" lIns="91456" tIns="45728" rIns="91456" bIns="45728" numCol="1" anchor="b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0" 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参数序列的打包与解包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0205369" y="189434"/>
            <a:ext cx="20180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5.4 函数</a:t>
            </a:r>
            <a:endParaRPr 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064510" y="1492885"/>
            <a:ext cx="4383405" cy="1383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800" dirty="0">
                <a:solidFill>
                  <a:srgbClr val="333333"/>
                </a:solidFill>
                <a:latin typeface="方正大黑简体" panose="03000509000000000000" pitchFamily="2" charset="-122"/>
                <a:ea typeface="方正大黑简体" panose="03000509000000000000" pitchFamily="2" charset="-122"/>
                <a:cs typeface="方正大黑简体" panose="03000509000000000000" pitchFamily="2" charset="-122"/>
              </a:rPr>
              <a:t>*  </a:t>
            </a:r>
            <a:r>
              <a:rPr lang="zh-CN" altLang="en-US" sz="2800" dirty="0">
                <a:solidFill>
                  <a:srgbClr val="333333"/>
                </a:solidFill>
                <a:latin typeface="方正大黑简体" panose="03000509000000000000" pitchFamily="2" charset="-122"/>
                <a:ea typeface="方正大黑简体" panose="03000509000000000000" pitchFamily="2" charset="-122"/>
                <a:cs typeface="方正大黑简体" panose="03000509000000000000" pitchFamily="2" charset="-122"/>
              </a:rPr>
              <a:t>：将参数构建成元组</a:t>
            </a:r>
          </a:p>
          <a:p>
            <a:pPr algn="just">
              <a:lnSpc>
                <a:spcPct val="150000"/>
              </a:lnSpc>
            </a:pPr>
            <a:r>
              <a:rPr lang="en-US" altLang="zh-CN" sz="2800" dirty="0">
                <a:solidFill>
                  <a:srgbClr val="333333"/>
                </a:solidFill>
                <a:latin typeface="方正大黑简体" panose="03000509000000000000" pitchFamily="2" charset="-122"/>
                <a:ea typeface="方正大黑简体" panose="03000509000000000000" pitchFamily="2" charset="-122"/>
                <a:cs typeface="方正大黑简体" panose="03000509000000000000" pitchFamily="2" charset="-122"/>
              </a:rPr>
              <a:t>** </a:t>
            </a:r>
            <a:r>
              <a:rPr lang="zh-CN" altLang="en-US" sz="2800" dirty="0">
                <a:solidFill>
                  <a:srgbClr val="333333"/>
                </a:solidFill>
                <a:latin typeface="方正大黑简体" panose="03000509000000000000" pitchFamily="2" charset="-122"/>
                <a:ea typeface="方正大黑简体" panose="03000509000000000000" pitchFamily="2" charset="-122"/>
                <a:cs typeface="方正大黑简体" panose="03000509000000000000" pitchFamily="2" charset="-122"/>
              </a:rPr>
              <a:t>：将参数构建成字典</a:t>
            </a:r>
          </a:p>
        </p:txBody>
      </p:sp>
      <p:sp>
        <p:nvSpPr>
          <p:cNvPr id="11" name="圆角矩形标注 10"/>
          <p:cNvSpPr/>
          <p:nvPr/>
        </p:nvSpPr>
        <p:spPr>
          <a:xfrm>
            <a:off x="7609024" y="1281437"/>
            <a:ext cx="4104456" cy="1525662"/>
          </a:xfrm>
          <a:prstGeom prst="wedgeRoundRectCallout">
            <a:avLst>
              <a:gd name="adj1" fmla="val -69922"/>
              <a:gd name="adj2" fmla="val 10100"/>
              <a:gd name="adj3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umimoji="0"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>
                <a:solidFill>
                  <a:srgbClr val="FFFF00"/>
                </a:solidFill>
                <a:latin typeface="方正大黑简体" panose="03000509000000000000" pitchFamily="2" charset="-122"/>
                <a:ea typeface="方正大黑简体" panose="03000509000000000000" pitchFamily="2" charset="-122"/>
              </a:rPr>
              <a:t>主要作用在形参上，如果作用在实参上，其内涵将发生变化。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969645" y="3220720"/>
            <a:ext cx="10259060" cy="1383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333333"/>
                </a:solidFill>
                <a:latin typeface="方正大黑简体" panose="03000509000000000000" pitchFamily="2" charset="-122"/>
                <a:ea typeface="方正大黑简体" panose="03000509000000000000" pitchFamily="2" charset="-122"/>
                <a:cs typeface="方正大黑简体" panose="03000509000000000000" pitchFamily="2" charset="-122"/>
                <a:sym typeface="+mn-ea"/>
              </a:rPr>
              <a:t>对于实参（列表、元组、字典、集合以及其他可迭代对象），如果</a:t>
            </a:r>
            <a:r>
              <a:rPr lang="en-US" altLang="zh-CN" sz="3200" dirty="0">
                <a:solidFill>
                  <a:srgbClr val="FF0000"/>
                </a:solidFill>
                <a:latin typeface="方正大黑简体" panose="03000509000000000000" pitchFamily="2" charset="-122"/>
                <a:ea typeface="方正大黑简体" panose="03000509000000000000" pitchFamily="2" charset="-122"/>
                <a:cs typeface="方正大黑简体" panose="03000509000000000000" pitchFamily="2" charset="-122"/>
                <a:sym typeface="+mn-ea"/>
              </a:rPr>
              <a:t>*</a:t>
            </a:r>
            <a:r>
              <a:rPr lang="zh-CN" altLang="en-US" dirty="0">
                <a:solidFill>
                  <a:srgbClr val="333333"/>
                </a:solidFill>
                <a:latin typeface="方正大黑简体" panose="03000509000000000000" pitchFamily="2" charset="-122"/>
                <a:ea typeface="方正大黑简体" panose="03000509000000000000" pitchFamily="2" charset="-122"/>
                <a:cs typeface="方正大黑简体" panose="03000509000000000000" pitchFamily="2" charset="-122"/>
                <a:sym typeface="+mn-ea"/>
              </a:rPr>
              <a:t>作用在这些数据类型上，其实就是</a:t>
            </a:r>
            <a:r>
              <a:rPr lang="zh-CN" altLang="en-US" b="1" dirty="0">
                <a:solidFill>
                  <a:srgbClr val="0000FF"/>
                </a:solidFill>
                <a:latin typeface="方正大黑简体" panose="03000509000000000000" pitchFamily="2" charset="-122"/>
                <a:ea typeface="方正大黑简体" panose="03000509000000000000" pitchFamily="2" charset="-122"/>
                <a:cs typeface="方正大黑简体" panose="03000509000000000000" pitchFamily="2" charset="-122"/>
                <a:sym typeface="+mn-ea"/>
              </a:rPr>
              <a:t>解包</a:t>
            </a:r>
            <a:r>
              <a:rPr lang="zh-CN" altLang="en-US" dirty="0">
                <a:solidFill>
                  <a:srgbClr val="333333"/>
                </a:solidFill>
                <a:latin typeface="方正大黑简体" panose="03000509000000000000" pitchFamily="2" charset="-122"/>
                <a:ea typeface="方正大黑简体" panose="03000509000000000000" pitchFamily="2" charset="-122"/>
                <a:cs typeface="方正大黑简体" panose="03000509000000000000" pitchFamily="2" charset="-122"/>
                <a:sym typeface="+mn-ea"/>
              </a:rPr>
              <a:t>（</a:t>
            </a:r>
            <a:r>
              <a:rPr lang="en-US" altLang="zh-CN" dirty="0">
                <a:solidFill>
                  <a:srgbClr val="333333"/>
                </a:solidFill>
                <a:latin typeface="方正大黑简体" panose="03000509000000000000" pitchFamily="2" charset="-122"/>
                <a:ea typeface="方正大黑简体" panose="03000509000000000000" pitchFamily="2" charset="-122"/>
                <a:cs typeface="方正大黑简体" panose="03000509000000000000" pitchFamily="2" charset="-122"/>
                <a:sym typeface="+mn-ea"/>
              </a:rPr>
              <a:t>unpacking</a:t>
            </a:r>
            <a:r>
              <a:rPr lang="zh-CN" altLang="en-US" dirty="0">
                <a:solidFill>
                  <a:srgbClr val="333333"/>
                </a:solidFill>
                <a:latin typeface="方正大黑简体" panose="03000509000000000000" pitchFamily="2" charset="-122"/>
                <a:ea typeface="方正大黑简体" panose="03000509000000000000" pitchFamily="2" charset="-122"/>
                <a:cs typeface="方正大黑简体" panose="03000509000000000000" pitchFamily="2" charset="-122"/>
                <a:sym typeface="+mn-ea"/>
              </a:rPr>
              <a:t>）。</a:t>
            </a:r>
          </a:p>
        </p:txBody>
      </p:sp>
    </p:spTree>
  </p:cSld>
  <p:clrMapOvr>
    <a:masterClrMapping/>
  </p:clrMapOvr>
  <p:transition spd="slow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 bldLvl="0" animBg="1"/>
      <p:bldP spid="5" grpId="0"/>
      <p:bldP spid="5" grpId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194519" y="693490"/>
            <a:ext cx="8245415" cy="652402"/>
          </a:xfrm>
        </p:spPr>
        <p:txBody>
          <a:bodyPr vert="horz" wrap="square" lIns="91456" tIns="45728" rIns="91456" bIns="45728" numCol="1" anchor="b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0" 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参数序列的打包与解包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0205369" y="189434"/>
            <a:ext cx="20180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5.4 函数</a:t>
            </a:r>
            <a:endParaRPr 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76605" y="1550035"/>
            <a:ext cx="10259060" cy="737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sz="2800" dirty="0">
                <a:solidFill>
                  <a:srgbClr val="333333"/>
                </a:solidFill>
                <a:latin typeface="方正大黑简体" panose="03000509000000000000" pitchFamily="2" charset="-122"/>
                <a:ea typeface="方正大黑简体" panose="03000509000000000000" pitchFamily="2" charset="-122"/>
                <a:cs typeface="方正大黑简体" panose="03000509000000000000" pitchFamily="2" charset="-122"/>
                <a:sym typeface="+mn-ea"/>
              </a:rPr>
              <a:t>打包（</a:t>
            </a:r>
            <a:r>
              <a:rPr lang="en-US" altLang="zh-CN" sz="2800" dirty="0">
                <a:solidFill>
                  <a:srgbClr val="333333"/>
                </a:solidFill>
                <a:latin typeface="方正大黑简体" panose="03000509000000000000" pitchFamily="2" charset="-122"/>
                <a:ea typeface="方正大黑简体" panose="03000509000000000000" pitchFamily="2" charset="-122"/>
                <a:cs typeface="方正大黑简体" panose="03000509000000000000" pitchFamily="2" charset="-122"/>
                <a:sym typeface="+mn-ea"/>
              </a:rPr>
              <a:t>packing</a:t>
            </a:r>
            <a:r>
              <a:rPr lang="zh-CN" sz="2800" dirty="0">
                <a:solidFill>
                  <a:srgbClr val="333333"/>
                </a:solidFill>
                <a:latin typeface="方正大黑简体" panose="03000509000000000000" pitchFamily="2" charset="-122"/>
                <a:ea typeface="方正大黑简体" panose="03000509000000000000" pitchFamily="2" charset="-122"/>
                <a:cs typeface="方正大黑简体" panose="03000509000000000000" pitchFamily="2" charset="-122"/>
                <a:sym typeface="+mn-ea"/>
              </a:rPr>
              <a:t>）与解包（</a:t>
            </a:r>
            <a:r>
              <a:rPr lang="en-US" altLang="zh-CN" sz="2800" dirty="0">
                <a:solidFill>
                  <a:srgbClr val="333333"/>
                </a:solidFill>
                <a:latin typeface="方正大黑简体" panose="03000509000000000000" pitchFamily="2" charset="-122"/>
                <a:ea typeface="方正大黑简体" panose="03000509000000000000" pitchFamily="2" charset="-122"/>
                <a:cs typeface="方正大黑简体" panose="03000509000000000000" pitchFamily="2" charset="-122"/>
                <a:sym typeface="+mn-ea"/>
              </a:rPr>
              <a:t>unpacking</a:t>
            </a:r>
            <a:r>
              <a:rPr lang="zh-CN" sz="2800" dirty="0">
                <a:solidFill>
                  <a:srgbClr val="333333"/>
                </a:solidFill>
                <a:latin typeface="方正大黑简体" panose="03000509000000000000" pitchFamily="2" charset="-122"/>
                <a:ea typeface="方正大黑简体" panose="03000509000000000000" pitchFamily="2" charset="-122"/>
                <a:cs typeface="方正大黑简体" panose="03000509000000000000" pitchFamily="2" charset="-122"/>
                <a:sym typeface="+mn-ea"/>
              </a:rPr>
              <a:t>）举例：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551940" y="2414905"/>
            <a:ext cx="4600575" cy="1383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/>
              <a:t>val = 10,20,30,40</a:t>
            </a:r>
          </a:p>
          <a:p>
            <a:pPr>
              <a:lnSpc>
                <a:spcPct val="150000"/>
              </a:lnSpc>
            </a:pPr>
            <a:r>
              <a:rPr lang="zh-CN" altLang="en-US" sz="2800" dirty="0"/>
              <a:t>type(val)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3171190" y="3128010"/>
            <a:ext cx="2528256" cy="738664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i="1" dirty="0">
                <a:solidFill>
                  <a:srgbClr val="FF0000"/>
                </a:solidFill>
                <a:sym typeface="+mn-ea"/>
              </a:rPr>
              <a:t># &lt;class 'tuple'&gt;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551940" y="4234180"/>
            <a:ext cx="4600575" cy="73723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/>
              <a:t>val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2481580" y="4234180"/>
            <a:ext cx="3670935" cy="73723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i="1">
                <a:solidFill>
                  <a:srgbClr val="FF0000"/>
                </a:solidFill>
                <a:sym typeface="+mn-ea"/>
              </a:rPr>
              <a:t># </a:t>
            </a:r>
            <a:r>
              <a:rPr lang="zh-CN" altLang="en-US" sz="2800" b="1" i="1">
                <a:solidFill>
                  <a:srgbClr val="FF0000"/>
                </a:solidFill>
                <a:sym typeface="+mn-ea"/>
              </a:rPr>
              <a:t>（</a:t>
            </a:r>
            <a:r>
              <a:rPr lang="en-US" altLang="zh-CN" sz="2800" b="1" i="1">
                <a:solidFill>
                  <a:srgbClr val="FF0000"/>
                </a:solidFill>
                <a:sym typeface="+mn-ea"/>
              </a:rPr>
              <a:t>10</a:t>
            </a:r>
            <a:r>
              <a:rPr lang="zh-CN" altLang="en-US" sz="2800" b="1" i="1">
                <a:solidFill>
                  <a:srgbClr val="FF0000"/>
                </a:solidFill>
                <a:sym typeface="+mn-ea"/>
              </a:rPr>
              <a:t>，</a:t>
            </a:r>
            <a:r>
              <a:rPr lang="en-US" altLang="zh-CN" sz="2800" b="1" i="1">
                <a:solidFill>
                  <a:srgbClr val="FF0000"/>
                </a:solidFill>
                <a:sym typeface="+mn-ea"/>
              </a:rPr>
              <a:t>20</a:t>
            </a:r>
            <a:r>
              <a:rPr lang="zh-CN" altLang="en-US" sz="2800" b="1" i="1">
                <a:solidFill>
                  <a:srgbClr val="FF0000"/>
                </a:solidFill>
                <a:sym typeface="+mn-ea"/>
              </a:rPr>
              <a:t>，</a:t>
            </a:r>
            <a:r>
              <a:rPr lang="en-US" altLang="zh-CN" sz="2800" b="1" i="1">
                <a:solidFill>
                  <a:srgbClr val="FF0000"/>
                </a:solidFill>
                <a:sym typeface="+mn-ea"/>
              </a:rPr>
              <a:t>30</a:t>
            </a:r>
            <a:r>
              <a:rPr lang="zh-CN" altLang="en-US" sz="2800" b="1" i="1">
                <a:solidFill>
                  <a:srgbClr val="FF0000"/>
                </a:solidFill>
                <a:sym typeface="+mn-ea"/>
              </a:rPr>
              <a:t>，</a:t>
            </a:r>
            <a:r>
              <a:rPr lang="en-US" altLang="zh-CN" sz="2800" b="1" i="1">
                <a:solidFill>
                  <a:srgbClr val="FF0000"/>
                </a:solidFill>
                <a:sym typeface="+mn-ea"/>
              </a:rPr>
              <a:t>40</a:t>
            </a:r>
            <a:r>
              <a:rPr lang="zh-CN" altLang="en-US" sz="2800" b="1" i="1">
                <a:solidFill>
                  <a:srgbClr val="FF0000"/>
                </a:solidFill>
                <a:sym typeface="+mn-ea"/>
              </a:rPr>
              <a:t>）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1551940" y="5229994"/>
            <a:ext cx="41865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将</a:t>
            </a:r>
            <a:r>
              <a:rPr lang="en-US" altLang="zh-CN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val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打包</a:t>
            </a:r>
            <a:r>
              <a:rPr lang="zh-CN" altLang="en-US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成了一个元组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6969760" y="2414905"/>
            <a:ext cx="4600575" cy="138499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t">
            <a:spAutoFit/>
          </a:bodyPr>
          <a:lstStyle/>
          <a:p>
            <a:r>
              <a:rPr lang="en-US" altLang="zh-CN" sz="2800" dirty="0" err="1"/>
              <a:t>val</a:t>
            </a:r>
            <a:r>
              <a:rPr lang="en-US" altLang="zh-CN" sz="2800" dirty="0"/>
              <a:t> = 10,20,30,40</a:t>
            </a:r>
          </a:p>
          <a:p>
            <a:r>
              <a:rPr lang="en-US" altLang="zh-CN" sz="2800" dirty="0" err="1"/>
              <a:t>a,b,c,d</a:t>
            </a:r>
            <a:r>
              <a:rPr lang="zh-CN" altLang="en-US" sz="2800" dirty="0"/>
              <a:t> = </a:t>
            </a:r>
            <a:r>
              <a:rPr lang="en-US" altLang="zh-CN" sz="2800" dirty="0" err="1"/>
              <a:t>val</a:t>
            </a:r>
            <a:endParaRPr lang="zh-CN" altLang="en-US" sz="2800" dirty="0"/>
          </a:p>
          <a:p>
            <a:r>
              <a:rPr lang="en-US" altLang="zh-CN" sz="2800" dirty="0"/>
              <a:t>print(</a:t>
            </a:r>
            <a:r>
              <a:rPr lang="en-US" altLang="zh-CN" sz="2800" dirty="0" err="1"/>
              <a:t>a,b,c,d</a:t>
            </a:r>
            <a:r>
              <a:rPr lang="en-US" altLang="zh-CN" sz="2800" dirty="0"/>
              <a:t>)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9142696" y="3129439"/>
            <a:ext cx="2125345" cy="73723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i="1" dirty="0">
                <a:solidFill>
                  <a:srgbClr val="FF0000"/>
                </a:solidFill>
                <a:sym typeface="+mn-ea"/>
              </a:rPr>
              <a:t># 10 20 30 40</a:t>
            </a:r>
            <a:endParaRPr lang="zh-CN" altLang="en-US" sz="2800" b="1" i="1" dirty="0">
              <a:solidFill>
                <a:srgbClr val="FF0000"/>
              </a:solidFill>
              <a:sym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969760" y="4234180"/>
            <a:ext cx="4600575" cy="73723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/>
              <a:t>type(a)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8524875" y="4234180"/>
            <a:ext cx="835025" cy="73723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i="1">
                <a:solidFill>
                  <a:srgbClr val="FF0000"/>
                </a:solidFill>
                <a:sym typeface="+mn-ea"/>
              </a:rPr>
              <a:t># int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6479540" y="5189220"/>
            <a:ext cx="558101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大黑简体" panose="03000509000000000000" pitchFamily="2" charset="-122"/>
                <a:sym typeface="+mn-ea"/>
              </a:rPr>
              <a:t>将可迭代对象的元素分别赋值给分散对象的过程，称为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大黑简体" panose="03000509000000000000" pitchFamily="2" charset="-122"/>
                <a:sym typeface="+mn-ea"/>
              </a:rPr>
              <a:t>解包</a:t>
            </a:r>
            <a:r>
              <a:rPr lang="zh-CN" altLang="en-US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大黑简体" panose="03000509000000000000" pitchFamily="2" charset="-122"/>
                <a:sym typeface="+mn-ea"/>
              </a:rPr>
              <a:t>。</a:t>
            </a:r>
          </a:p>
        </p:txBody>
      </p:sp>
    </p:spTree>
  </p:cSld>
  <p:clrMapOvr>
    <a:masterClrMapping/>
  </p:clrMapOvr>
  <p:transition spd="slow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3" grpId="0" bldLvl="0" animBg="1"/>
      <p:bldP spid="4" grpId="0"/>
      <p:bldP spid="8" grpId="0" bldLvl="0" animBg="1"/>
      <p:bldP spid="9" grpId="0"/>
      <p:bldP spid="10" grpId="0"/>
      <p:bldP spid="10" grpId="1"/>
      <p:bldP spid="12" grpId="0" bldLvl="0" animBg="1"/>
      <p:bldP spid="13" grpId="0"/>
      <p:bldP spid="14" grpId="0" bldLvl="0" animBg="1"/>
      <p:bldP spid="15" grpId="0"/>
      <p:bldP spid="16" grpId="0"/>
      <p:bldP spid="16" grpId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194519" y="693490"/>
            <a:ext cx="8245415" cy="652402"/>
          </a:xfrm>
        </p:spPr>
        <p:txBody>
          <a:bodyPr vert="horz" wrap="square" lIns="91456" tIns="45728" rIns="91456" bIns="45728" numCol="1" anchor="b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0" 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参数序列的打包与解包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0205369" y="189434"/>
            <a:ext cx="20180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5.4 函数</a:t>
            </a:r>
            <a:endParaRPr 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87400" y="1431925"/>
            <a:ext cx="3383280" cy="737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sz="2800" dirty="0">
                <a:solidFill>
                  <a:srgbClr val="333333"/>
                </a:solidFill>
                <a:latin typeface="方正大黑简体" panose="03000509000000000000" pitchFamily="2" charset="-122"/>
                <a:ea typeface="方正大黑简体" panose="03000509000000000000" pitchFamily="2" charset="-122"/>
                <a:cs typeface="方正大黑简体" panose="03000509000000000000" pitchFamily="2" charset="-122"/>
                <a:sym typeface="+mn-ea"/>
              </a:rPr>
              <a:t>解包需要注意两点：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787400" y="2169160"/>
            <a:ext cx="981900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charset="0"/>
              <a:buChar char="n"/>
            </a:pPr>
            <a:r>
              <a:rPr lang="zh-CN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被解包序列的元素数量必须与赋值符号（</a:t>
            </a:r>
            <a:r>
              <a:rPr lang="en-US" altLang="zh-CN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=</a:t>
            </a:r>
            <a:r>
              <a:rPr lang="zh-CN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）左边元素数量一致。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3639185" y="3067685"/>
            <a:ext cx="4600575" cy="1383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/>
              <a:t>val = 10,20,30</a:t>
            </a:r>
          </a:p>
          <a:p>
            <a:pPr>
              <a:lnSpc>
                <a:spcPct val="150000"/>
              </a:lnSpc>
            </a:pPr>
            <a:r>
              <a:rPr lang="en-US" altLang="zh-CN" sz="2800"/>
              <a:t>a,b,c,d</a:t>
            </a:r>
            <a:r>
              <a:rPr lang="zh-CN" altLang="en-US" sz="2800"/>
              <a:t> = </a:t>
            </a:r>
            <a:r>
              <a:rPr lang="en-US" altLang="zh-CN" sz="2800"/>
              <a:t>val</a:t>
            </a:r>
          </a:p>
        </p:txBody>
      </p:sp>
      <p:pic>
        <p:nvPicPr>
          <p:cNvPr id="11" name="图片 10" descr="resource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38290" y="3375660"/>
            <a:ext cx="841375" cy="841375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937895" y="4705350"/>
            <a:ext cx="1086802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charset="0"/>
              <a:buChar char="n"/>
            </a:pPr>
            <a:r>
              <a:rPr lang="zh-CN" altLang="en-US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支持解包操作不局限于元组，还有字典、列表等所有</a:t>
            </a:r>
            <a:r>
              <a:rPr lang="zh-CN" altLang="en-US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可迭代对象</a:t>
            </a:r>
            <a:r>
              <a:rPr lang="zh-CN" altLang="en-US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</a:p>
        </p:txBody>
      </p:sp>
    </p:spTree>
  </p:cSld>
  <p:clrMapOvr>
    <a:masterClrMapping/>
  </p:clrMapOvr>
  <p:transition spd="slow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10" grpId="0"/>
      <p:bldP spid="10" grpId="1"/>
      <p:bldP spid="7" grpId="0" bldLvl="0" animBg="1"/>
      <p:bldP spid="17" grpId="0"/>
      <p:bldP spid="17" grpId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194519" y="693490"/>
            <a:ext cx="8245415" cy="652402"/>
          </a:xfrm>
        </p:spPr>
        <p:txBody>
          <a:bodyPr vert="horz" wrap="square" lIns="91456" tIns="45728" rIns="91456" bIns="45728" numCol="1" anchor="b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0" 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参数序列的打包与解包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0205369" y="189434"/>
            <a:ext cx="20180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5.4 函数</a:t>
            </a:r>
            <a:endParaRPr 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87400" y="1431925"/>
            <a:ext cx="7163435" cy="737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sz="2800" dirty="0">
                <a:solidFill>
                  <a:srgbClr val="333333"/>
                </a:solidFill>
                <a:latin typeface="方正大黑简体" panose="03000509000000000000" pitchFamily="2" charset="-122"/>
                <a:ea typeface="方正大黑简体" panose="03000509000000000000" pitchFamily="2" charset="-122"/>
                <a:cs typeface="方正大黑简体" panose="03000509000000000000" pitchFamily="2" charset="-122"/>
                <a:sym typeface="+mn-ea"/>
              </a:rPr>
              <a:t>解包用在函数参数传递：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98525" y="2296795"/>
            <a:ext cx="4125595" cy="288988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t" anchorCtr="0" forceAA="0" compatLnSpc="1">
            <a:spAutoFit/>
          </a:bodyPr>
          <a:lstStyle/>
          <a:p>
            <a: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2800" dirty="0" err="1">
                <a:sym typeface="+mn-ea"/>
              </a:rPr>
              <a:t>def</a:t>
            </a:r>
            <a:r>
              <a:rPr lang="en-US" altLang="zh-CN" sz="2800" dirty="0">
                <a:sym typeface="+mn-ea"/>
              </a:rPr>
              <a:t> </a:t>
            </a:r>
            <a:r>
              <a:rPr lang="en-US" altLang="zh-CN" sz="2800" dirty="0" err="1">
                <a:sym typeface="+mn-ea"/>
              </a:rPr>
              <a:t>myfun</a:t>
            </a:r>
            <a:r>
              <a:rPr lang="en-US" altLang="zh-CN" sz="2800" dirty="0">
                <a:sym typeface="+mn-ea"/>
              </a:rPr>
              <a:t>(</a:t>
            </a:r>
            <a:r>
              <a:rPr lang="en-US" altLang="zh-CN" sz="2800" dirty="0" err="1">
                <a:sym typeface="+mn-ea"/>
              </a:rPr>
              <a:t>a,b,c,d</a:t>
            </a:r>
            <a:r>
              <a:rPr lang="en-US" altLang="zh-CN" sz="2800" dirty="0">
                <a:sym typeface="+mn-ea"/>
              </a:rPr>
              <a:t>):</a:t>
            </a:r>
          </a:p>
          <a:p>
            <a: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2800" dirty="0">
                <a:sym typeface="+mn-ea"/>
              </a:rPr>
              <a:t>    print(</a:t>
            </a:r>
            <a:r>
              <a:rPr lang="en-US" altLang="zh-CN" sz="2800" dirty="0" err="1">
                <a:sym typeface="+mn-ea"/>
              </a:rPr>
              <a:t>a,b,c,d</a:t>
            </a:r>
            <a:r>
              <a:rPr lang="en-US" altLang="zh-CN" sz="2800" dirty="0">
                <a:sym typeface="+mn-ea"/>
              </a:rPr>
              <a:t>)</a:t>
            </a:r>
          </a:p>
          <a:p>
            <a: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 lang="en-US" altLang="zh-CN" sz="2800" dirty="0">
              <a:sym typeface="+mn-ea"/>
            </a:endParaRPr>
          </a:p>
          <a:p>
            <a: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2800" dirty="0" err="1">
                <a:sym typeface="+mn-ea"/>
              </a:rPr>
              <a:t>mylist</a:t>
            </a:r>
            <a:r>
              <a:rPr lang="en-US" altLang="zh-CN" sz="2800" dirty="0">
                <a:sym typeface="+mn-ea"/>
              </a:rPr>
              <a:t> = [10,20,30,40]</a:t>
            </a:r>
          </a:p>
          <a:p>
            <a: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2800" dirty="0" err="1">
                <a:sym typeface="+mn-ea"/>
              </a:rPr>
              <a:t>myfun</a:t>
            </a:r>
            <a:r>
              <a:rPr lang="en-US" altLang="zh-CN" sz="2800" dirty="0">
                <a:sym typeface="+mn-ea"/>
              </a:rPr>
              <a:t>(</a:t>
            </a:r>
            <a:r>
              <a:rPr lang="en-US" altLang="zh-CN" sz="2800" dirty="0" err="1">
                <a:sym typeface="+mn-ea"/>
              </a:rPr>
              <a:t>mylist</a:t>
            </a:r>
            <a:r>
              <a:rPr lang="en-US" altLang="zh-CN" sz="2800" dirty="0">
                <a:sym typeface="+mn-ea"/>
              </a:rPr>
              <a:t>)</a:t>
            </a: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770755" y="2296795"/>
            <a:ext cx="7060565" cy="2739390"/>
          </a:xfrm>
          <a:prstGeom prst="rect">
            <a:avLst/>
          </a:prstGeom>
        </p:spPr>
      </p:pic>
      <p:sp>
        <p:nvSpPr>
          <p:cNvPr id="8" name="圆角矩形标注 7"/>
          <p:cNvSpPr/>
          <p:nvPr/>
        </p:nvSpPr>
        <p:spPr>
          <a:xfrm>
            <a:off x="5113655" y="5186680"/>
            <a:ext cx="4104640" cy="748665"/>
          </a:xfrm>
          <a:prstGeom prst="wedgeRoundRectCallout">
            <a:avLst>
              <a:gd name="adj1" fmla="val -95498"/>
              <a:gd name="adj2" fmla="val -83927"/>
              <a:gd name="adj3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umimoji="0"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dirty="0">
                <a:solidFill>
                  <a:srgbClr val="FFFF00"/>
                </a:solidFill>
                <a:latin typeface="方正大黑简体" panose="03000509000000000000" pitchFamily="2" charset="-122"/>
                <a:ea typeface="方正大黑简体" panose="03000509000000000000" pitchFamily="2" charset="-122"/>
              </a:rPr>
              <a:t>myfun(*mylist)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7788910" y="5275580"/>
            <a:ext cx="2416175" cy="57086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rtlCol="0" anchor="t">
            <a:spAutoFit/>
          </a:bodyPr>
          <a:lstStyle/>
          <a:p>
            <a: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i="1">
                <a:solidFill>
                  <a:srgbClr val="FF0000"/>
                </a:solidFill>
                <a:latin typeface="Arial Black" panose="020B0A04020102020204" pitchFamily="34" charset="0"/>
                <a:cs typeface="Arial Black" panose="020B0A04020102020204" pitchFamily="34" charset="0"/>
                <a:sym typeface="+mn-ea"/>
              </a:rPr>
              <a:t># 10 20 30 40</a:t>
            </a:r>
          </a:p>
        </p:txBody>
      </p:sp>
    </p:spTree>
  </p:cSld>
  <p:clrMapOvr>
    <a:masterClrMapping/>
  </p:clrMapOvr>
  <p:transition spd="slow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3" grpId="0" animBg="1"/>
      <p:bldP spid="8" grpId="0" bldLvl="0" animBg="1"/>
      <p:bldP spid="9" grpId="0" bldLvl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194519" y="693490"/>
            <a:ext cx="8245415" cy="652402"/>
          </a:xfrm>
        </p:spPr>
        <p:txBody>
          <a:bodyPr vert="horz" wrap="square" lIns="91456" tIns="45728" rIns="91456" bIns="45728" numCol="1" anchor="b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0" 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参数序列的打包与解包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0205369" y="189434"/>
            <a:ext cx="20180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5.4 函数</a:t>
            </a:r>
            <a:endParaRPr 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87400" y="1431925"/>
            <a:ext cx="7163435" cy="737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sz="2800" dirty="0">
                <a:solidFill>
                  <a:srgbClr val="333333"/>
                </a:solidFill>
                <a:latin typeface="方正大黑简体" panose="03000509000000000000" pitchFamily="2" charset="-122"/>
                <a:ea typeface="方正大黑简体" panose="03000509000000000000" pitchFamily="2" charset="-122"/>
                <a:cs typeface="方正大黑简体" panose="03000509000000000000" pitchFamily="2" charset="-122"/>
                <a:sym typeface="+mn-ea"/>
              </a:rPr>
              <a:t>解包用在函数参数传递：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98525" y="2061642"/>
            <a:ext cx="7905115" cy="288988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t" anchorCtr="0" forceAA="0" compatLnSpc="1">
            <a:spAutoFit/>
          </a:bodyPr>
          <a:lstStyle/>
          <a:p>
            <a: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2800" dirty="0" err="1">
                <a:sym typeface="+mn-ea"/>
              </a:rPr>
              <a:t>def</a:t>
            </a:r>
            <a:r>
              <a:rPr lang="en-US" altLang="zh-CN" sz="2800" dirty="0">
                <a:sym typeface="+mn-ea"/>
              </a:rPr>
              <a:t> </a:t>
            </a:r>
            <a:r>
              <a:rPr lang="en-US" altLang="zh-CN" sz="2800" dirty="0" err="1">
                <a:sym typeface="+mn-ea"/>
              </a:rPr>
              <a:t>myfun</a:t>
            </a:r>
            <a:r>
              <a:rPr lang="en-US" altLang="zh-CN" sz="2800" dirty="0">
                <a:sym typeface="+mn-ea"/>
              </a:rPr>
              <a:t>(</a:t>
            </a:r>
            <a:r>
              <a:rPr lang="en-US" altLang="zh-CN" sz="2800" dirty="0" err="1">
                <a:sym typeface="+mn-ea"/>
              </a:rPr>
              <a:t>a,b,c</a:t>
            </a:r>
            <a:r>
              <a:rPr lang="en-US" altLang="zh-CN" sz="2800" dirty="0">
                <a:sym typeface="+mn-ea"/>
              </a:rPr>
              <a:t>):</a:t>
            </a:r>
          </a:p>
          <a:p>
            <a: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2800" dirty="0">
                <a:sym typeface="+mn-ea"/>
              </a:rPr>
              <a:t>    print(</a:t>
            </a:r>
            <a:r>
              <a:rPr lang="en-US" altLang="zh-CN" sz="2800" dirty="0" err="1">
                <a:sym typeface="+mn-ea"/>
              </a:rPr>
              <a:t>a,b,c</a:t>
            </a:r>
            <a:r>
              <a:rPr lang="en-US" altLang="zh-CN" sz="2800" dirty="0">
                <a:sym typeface="+mn-ea"/>
              </a:rPr>
              <a:t>)</a:t>
            </a:r>
          </a:p>
          <a:p>
            <a: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 lang="en-US" altLang="zh-CN" sz="2800" dirty="0">
              <a:sym typeface="+mn-ea"/>
            </a:endParaRPr>
          </a:p>
          <a:p>
            <a: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2800" dirty="0" err="1">
                <a:sym typeface="+mn-ea"/>
              </a:rPr>
              <a:t>mydict</a:t>
            </a:r>
            <a:r>
              <a:rPr lang="en-US" altLang="zh-CN" sz="2800" dirty="0">
                <a:sym typeface="+mn-ea"/>
              </a:rPr>
              <a:t> = {'a':10,'b':20,'c':30}</a:t>
            </a:r>
          </a:p>
          <a:p>
            <a: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2800" dirty="0" err="1">
                <a:sym typeface="+mn-ea"/>
              </a:rPr>
              <a:t>myfun</a:t>
            </a:r>
            <a:r>
              <a:rPr lang="en-US" altLang="zh-CN" sz="2800" dirty="0">
                <a:sym typeface="+mn-ea"/>
              </a:rPr>
              <a:t>(</a:t>
            </a:r>
            <a:r>
              <a:rPr lang="en-US" altLang="zh-CN" dirty="0">
                <a:solidFill>
                  <a:srgbClr val="FF0000"/>
                </a:solidFill>
                <a:latin typeface="Arial Black" panose="020B0A04020102020204" pitchFamily="34" charset="0"/>
                <a:cs typeface="Arial Black" panose="020B0A04020102020204" pitchFamily="34" charset="0"/>
                <a:sym typeface="+mn-ea"/>
              </a:rPr>
              <a:t>*</a:t>
            </a:r>
            <a:r>
              <a:rPr lang="en-US" altLang="zh-CN" dirty="0" err="1">
                <a:solidFill>
                  <a:srgbClr val="FF0000"/>
                </a:solidFill>
                <a:latin typeface="Arial Black" panose="020B0A04020102020204" pitchFamily="34" charset="0"/>
                <a:cs typeface="Arial Black" panose="020B0A04020102020204" pitchFamily="34" charset="0"/>
                <a:sym typeface="+mn-ea"/>
              </a:rPr>
              <a:t>mydict</a:t>
            </a:r>
            <a:r>
              <a:rPr lang="en-US" altLang="zh-CN" sz="2800" dirty="0">
                <a:sym typeface="+mn-ea"/>
              </a:rPr>
              <a:t>)  </a:t>
            </a:r>
            <a:endParaRPr lang="en-US" altLang="zh-CN" sz="2800" i="1" dirty="0">
              <a:sym typeface="+mn-ea"/>
            </a:endParaRPr>
          </a:p>
        </p:txBody>
      </p:sp>
      <p:sp>
        <p:nvSpPr>
          <p:cNvPr id="8" name="圆角矩形标注 7"/>
          <p:cNvSpPr/>
          <p:nvPr/>
        </p:nvSpPr>
        <p:spPr>
          <a:xfrm>
            <a:off x="5767070" y="5315382"/>
            <a:ext cx="5261610" cy="748665"/>
          </a:xfrm>
          <a:prstGeom prst="wedgeRoundRectCallout">
            <a:avLst>
              <a:gd name="adj1" fmla="val -120807"/>
              <a:gd name="adj2" fmla="val -113952"/>
              <a:gd name="adj3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umimoji="0"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dirty="0">
                <a:solidFill>
                  <a:srgbClr val="FFFF00"/>
                </a:solidFill>
                <a:latin typeface="方正大黑简体" panose="03000509000000000000" pitchFamily="2" charset="-122"/>
                <a:ea typeface="方正大黑简体" panose="03000509000000000000" pitchFamily="2" charset="-122"/>
              </a:rPr>
              <a:t>myfun(</a:t>
            </a:r>
            <a:r>
              <a:rPr lang="en-US" altLang="zh-CN" sz="2400" dirty="0">
                <a:solidFill>
                  <a:srgbClr val="FFFF00"/>
                </a:solidFill>
                <a:latin typeface="方正大黑简体" panose="03000509000000000000" pitchFamily="2" charset="-122"/>
                <a:ea typeface="方正大黑简体" panose="03000509000000000000" pitchFamily="2" charset="-122"/>
                <a:sym typeface="+mn-ea"/>
              </a:rPr>
              <a:t>**mydic</a:t>
            </a:r>
            <a:r>
              <a:rPr lang="en-US" altLang="zh-CN" sz="2400" dirty="0">
                <a:solidFill>
                  <a:srgbClr val="FFFF00"/>
                </a:solidFill>
                <a:latin typeface="方正大黑简体" panose="03000509000000000000" pitchFamily="2" charset="-122"/>
                <a:ea typeface="方正大黑简体" panose="03000509000000000000" pitchFamily="2" charset="-122"/>
              </a:rPr>
              <a:t>) 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3573780" y="4300652"/>
            <a:ext cx="1298575" cy="57086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rtlCol="0" anchor="t">
            <a:spAutoFit/>
          </a:bodyPr>
          <a:lstStyle/>
          <a:p>
            <a: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i="1">
                <a:solidFill>
                  <a:srgbClr val="FF0000"/>
                </a:solidFill>
                <a:latin typeface="Arial Black" panose="020B0A04020102020204" pitchFamily="34" charset="0"/>
                <a:cs typeface="Arial Black" panose="020B0A04020102020204" pitchFamily="34" charset="0"/>
                <a:sym typeface="+mn-ea"/>
              </a:rPr>
              <a:t># a b c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8562975" y="5404282"/>
            <a:ext cx="1908175" cy="57086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rtlCol="0" anchor="t">
            <a:spAutoFit/>
          </a:bodyPr>
          <a:lstStyle/>
          <a:p>
            <a: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i="1">
                <a:solidFill>
                  <a:srgbClr val="FF0000"/>
                </a:solidFill>
                <a:latin typeface="Arial Black" panose="020B0A04020102020204" pitchFamily="34" charset="0"/>
                <a:cs typeface="Arial Black" panose="020B0A04020102020204" pitchFamily="34" charset="0"/>
                <a:sym typeface="+mn-ea"/>
              </a:rPr>
              <a:t># 10 20 30</a:t>
            </a:r>
          </a:p>
        </p:txBody>
      </p:sp>
    </p:spTree>
  </p:cSld>
  <p:clrMapOvr>
    <a:masterClrMapping/>
  </p:clrMapOvr>
  <p:transition spd="slow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3" grpId="0" bldLvl="0" animBg="1"/>
      <p:bldP spid="8" grpId="0" bldLvl="0" animBg="1"/>
      <p:bldP spid="7" grpId="0" animBg="1"/>
      <p:bldP spid="9" grpId="0" bldLvl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0205369" y="189434"/>
            <a:ext cx="20180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5.4 函数</a:t>
            </a:r>
            <a:endParaRPr 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21591" y="1250093"/>
            <a:ext cx="11355759" cy="1383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    当实参为字典，将字典用**拆解后进行关键字传参，格式：</a:t>
            </a:r>
            <a:endParaRPr lang="en-US" altLang="zh-CN" sz="2800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en-US" altLang="zh-CN" sz="28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sz="2800" dirty="0" err="1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def</a:t>
            </a:r>
            <a:r>
              <a:rPr lang="en-US" altLang="zh-CN" sz="28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800" dirty="0" err="1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func</a:t>
            </a:r>
            <a:r>
              <a:rPr lang="zh-CN" altLang="en-US" sz="28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8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a,b,c</a:t>
            </a:r>
            <a:r>
              <a:rPr lang="zh-CN" altLang="en-US" sz="28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9" name="矩形 8"/>
          <p:cNvSpPr/>
          <p:nvPr/>
        </p:nvSpPr>
        <p:spPr>
          <a:xfrm>
            <a:off x="699587" y="2959875"/>
            <a:ext cx="126188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实例：</a:t>
            </a:r>
          </a:p>
        </p:txBody>
      </p:sp>
      <p:sp>
        <p:nvSpPr>
          <p:cNvPr id="3" name="矩形 2"/>
          <p:cNvSpPr/>
          <p:nvPr/>
        </p:nvSpPr>
        <p:spPr>
          <a:xfrm>
            <a:off x="1966888" y="2959423"/>
            <a:ext cx="6099175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2800" dirty="0">
                <a:solidFill>
                  <a:srgbClr val="660033"/>
                </a:solidFill>
              </a:rPr>
              <a:t>d1 = {"c":33, "b":22, "a":11}</a:t>
            </a:r>
            <a:br>
              <a:rPr lang="en-US" altLang="zh-CN" sz="2800" dirty="0">
                <a:solidFill>
                  <a:srgbClr val="660033"/>
                </a:solidFill>
              </a:rPr>
            </a:br>
            <a:r>
              <a:rPr lang="en-US" altLang="zh-CN" sz="2800" dirty="0">
                <a:solidFill>
                  <a:srgbClr val="660033"/>
                </a:solidFill>
              </a:rPr>
              <a:t>myfun1(**d1)</a:t>
            </a:r>
            <a:endParaRPr lang="zh-CN" altLang="en-US" sz="2800" dirty="0">
              <a:solidFill>
                <a:srgbClr val="660033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699831" y="3913960"/>
            <a:ext cx="925338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字典的键名和形参名必须一致；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字典的键名必须为字符串，并符合关键字的命名；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字典的键名要在形参中存在。</a:t>
            </a:r>
          </a:p>
        </p:txBody>
      </p:sp>
      <p:sp>
        <p:nvSpPr>
          <p:cNvPr id="10" name="矩形 9"/>
          <p:cNvSpPr/>
          <p:nvPr/>
        </p:nvSpPr>
        <p:spPr>
          <a:xfrm>
            <a:off x="699587" y="4056200"/>
            <a:ext cx="126669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说明：</a:t>
            </a:r>
          </a:p>
        </p:txBody>
      </p:sp>
      <p:sp>
        <p:nvSpPr>
          <p:cNvPr id="8" name="标题 1"/>
          <p:cNvSpPr>
            <a:spLocks noGrp="1"/>
          </p:cNvSpPr>
          <p:nvPr/>
        </p:nvSpPr>
        <p:spPr>
          <a:xfrm>
            <a:off x="194519" y="693490"/>
            <a:ext cx="8245415" cy="652402"/>
          </a:xfrm>
        </p:spPr>
        <p:txBody>
          <a:bodyPr vert="horz" wrap="square" lIns="91456" tIns="45728" rIns="91456" bIns="45728" numCol="1" anchor="b" anchorCtr="0" compatLnSpc="1"/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0" 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参数序列的打包与解包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8101965" y="2072005"/>
            <a:ext cx="3675380" cy="2330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t" anchorCtr="0" forceAA="0" compatLnSpc="1">
            <a:spAutoFit/>
          </a:bodyPr>
          <a:lstStyle/>
          <a:p>
            <a: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2800" dirty="0" err="1">
                <a:sym typeface="+mn-ea"/>
              </a:rPr>
              <a:t>def</a:t>
            </a:r>
            <a:r>
              <a:rPr lang="en-US" altLang="zh-CN" sz="2800" dirty="0">
                <a:sym typeface="+mn-ea"/>
              </a:rPr>
              <a:t> myfun1(</a:t>
            </a:r>
            <a:r>
              <a:rPr lang="en-US" altLang="zh-CN" sz="2800" dirty="0" err="1">
                <a:sym typeface="+mn-ea"/>
              </a:rPr>
              <a:t>a,b,c</a:t>
            </a:r>
            <a:r>
              <a:rPr lang="en-US" altLang="zh-CN" sz="2800" dirty="0">
                <a:sym typeface="+mn-ea"/>
              </a:rPr>
              <a:t>):</a:t>
            </a:r>
          </a:p>
          <a:p>
            <a: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2800" i="1" dirty="0">
                <a:sym typeface="+mn-ea"/>
              </a:rPr>
              <a:t>       print(a)</a:t>
            </a:r>
          </a:p>
          <a:p>
            <a: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2800" i="1" dirty="0">
                <a:sym typeface="+mn-ea"/>
              </a:rPr>
              <a:t>       print(b)</a:t>
            </a:r>
          </a:p>
          <a:p>
            <a: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2800" i="1" dirty="0">
                <a:sym typeface="+mn-ea"/>
              </a:rPr>
              <a:t>       print(c)</a:t>
            </a:r>
          </a:p>
        </p:txBody>
      </p:sp>
      <p:sp>
        <p:nvSpPr>
          <p:cNvPr id="2" name="矩形 1"/>
          <p:cNvSpPr/>
          <p:nvPr/>
        </p:nvSpPr>
        <p:spPr>
          <a:xfrm>
            <a:off x="10252556" y="4579420"/>
            <a:ext cx="152479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00FF"/>
                </a:solidFill>
              </a:rPr>
              <a:t>11</a:t>
            </a:r>
          </a:p>
          <a:p>
            <a:r>
              <a:rPr lang="en-US" altLang="zh-CN" dirty="0">
                <a:solidFill>
                  <a:srgbClr val="0000FF"/>
                </a:solidFill>
              </a:rPr>
              <a:t>22</a:t>
            </a:r>
          </a:p>
          <a:p>
            <a:r>
              <a:rPr lang="en-US" altLang="zh-CN" dirty="0">
                <a:solidFill>
                  <a:srgbClr val="0000FF"/>
                </a:solidFill>
              </a:rPr>
              <a:t>33</a:t>
            </a:r>
            <a:endParaRPr lang="zh-CN" altLang="en-US" dirty="0">
              <a:solidFill>
                <a:srgbClr val="0000FF"/>
              </a:solidFill>
            </a:endParaRPr>
          </a:p>
        </p:txBody>
      </p:sp>
    </p:spTree>
  </p:cSld>
  <p:clrMapOvr>
    <a:masterClrMapping/>
  </p:clrMapOvr>
  <p:transition spd="slow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3" grpId="0"/>
      <p:bldP spid="4" grpId="0"/>
      <p:bldP spid="10" grpId="0"/>
      <p:bldP spid="11" grpId="0" bldLvl="0" animBg="1"/>
      <p:bldP spid="2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0205369" y="189434"/>
            <a:ext cx="20180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5.4 函数</a:t>
            </a:r>
            <a:endParaRPr 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307087" y="773592"/>
            <a:ext cx="902811" cy="662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0071C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举例</a:t>
            </a:r>
          </a:p>
        </p:txBody>
      </p:sp>
      <p:sp>
        <p:nvSpPr>
          <p:cNvPr id="8" name="矩形 7"/>
          <p:cNvSpPr/>
          <p:nvPr/>
        </p:nvSpPr>
        <p:spPr>
          <a:xfrm>
            <a:off x="554559" y="1512256"/>
            <a:ext cx="9721080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4400"/>
              </a:lnSpc>
            </a:pPr>
            <a:r>
              <a:rPr lang="en-US" altLang="zh-CN" sz="2800" dirty="0">
                <a:solidFill>
                  <a:srgbClr val="660033"/>
                </a:solidFill>
              </a:rPr>
              <a:t>myfun1(100, *[200, 300]) </a:t>
            </a:r>
          </a:p>
          <a:p>
            <a:pPr>
              <a:lnSpc>
                <a:spcPts val="4400"/>
              </a:lnSpc>
            </a:pPr>
            <a:r>
              <a:rPr lang="en-US" altLang="zh-CN" sz="2800" dirty="0">
                <a:solidFill>
                  <a:srgbClr val="660033"/>
                </a:solidFill>
              </a:rPr>
              <a:t>myfun1(*[10,20],30) </a:t>
            </a:r>
          </a:p>
          <a:p>
            <a:pPr>
              <a:lnSpc>
                <a:spcPts val="4400"/>
              </a:lnSpc>
            </a:pPr>
            <a:r>
              <a:rPr lang="en-US" altLang="zh-CN" sz="2800" dirty="0">
                <a:solidFill>
                  <a:srgbClr val="660033"/>
                </a:solidFill>
              </a:rPr>
              <a:t>myfun1(*[10], 20, *[30])</a:t>
            </a:r>
          </a:p>
          <a:p>
            <a:pPr>
              <a:lnSpc>
                <a:spcPts val="4400"/>
              </a:lnSpc>
            </a:pPr>
            <a:r>
              <a:rPr lang="en-US" altLang="zh-CN" sz="2800" dirty="0">
                <a:solidFill>
                  <a:srgbClr val="660033"/>
                </a:solidFill>
              </a:rPr>
              <a:t>myfun1(100, **{"c":300, "b":200})</a:t>
            </a:r>
          </a:p>
          <a:p>
            <a:pPr>
              <a:lnSpc>
                <a:spcPts val="4400"/>
              </a:lnSpc>
            </a:pPr>
            <a:r>
              <a:rPr lang="en-US" altLang="zh-CN" sz="2800" dirty="0">
                <a:solidFill>
                  <a:srgbClr val="660033"/>
                </a:solidFill>
              </a:rPr>
              <a:t>myfun1(**{"c":300, "b":200}, a = 100)</a:t>
            </a:r>
          </a:p>
          <a:p>
            <a:pPr>
              <a:lnSpc>
                <a:spcPts val="4400"/>
              </a:lnSpc>
            </a:pPr>
            <a:r>
              <a:rPr lang="en-US" altLang="zh-CN" sz="2800" dirty="0">
                <a:solidFill>
                  <a:srgbClr val="660033"/>
                </a:solidFill>
              </a:rPr>
              <a:t>myfun1(b = 200, c = 300, 100) </a:t>
            </a:r>
          </a:p>
        </p:txBody>
      </p:sp>
      <p:sp>
        <p:nvSpPr>
          <p:cNvPr id="7" name="线形标注 1 6"/>
          <p:cNvSpPr/>
          <p:nvPr/>
        </p:nvSpPr>
        <p:spPr>
          <a:xfrm>
            <a:off x="6628304" y="3280704"/>
            <a:ext cx="5290783" cy="648072"/>
          </a:xfrm>
          <a:prstGeom prst="borderCallout1">
            <a:avLst>
              <a:gd name="adj1" fmla="val 81459"/>
              <a:gd name="adj2" fmla="val -1749"/>
              <a:gd name="adj3" fmla="val 200024"/>
              <a:gd name="adj4" fmla="val -3138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 </a:t>
            </a:r>
            <a:r>
              <a:rPr lang="zh-CN" altLang="en-US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错的，默认参数顺序</a:t>
            </a:r>
            <a:endParaRPr lang="en-US" altLang="zh-CN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54559" y="4990131"/>
            <a:ext cx="635300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</a:rPr>
              <a:t>myfun1(a = 200, b = 300, 100)  ??? 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3" name="AutoShape 1" descr="C:\Users\ThinkPad\AppData\Roaming\Tencent\Users\19379577\QQ\WinTemp\RichOle\@[8E39GW_9K@C_NQU33A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" name="AutoShape 2" descr="C:\Users\ThinkPad\AppData\Roaming\Tencent\Users\19379577\QQ\WinTemp\RichOle\@[8E39GW_9K@C_NQU33A.png"/>
          <p:cNvSpPr>
            <a:spLocks noChangeAspect="1" noChangeArrowheads="1"/>
          </p:cNvSpPr>
          <p:nvPr/>
        </p:nvSpPr>
        <p:spPr bwMode="auto">
          <a:xfrm>
            <a:off x="152400" y="152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" name="AutoShape 3" descr="C:\Users\ThinkPad\AppData\Roaming\Tencent\Users\19379577\QQ\WinTemp\RichOle\@[8E39GW_9K@C_NQU33A.png"/>
          <p:cNvSpPr>
            <a:spLocks noChangeAspect="1" noChangeArrowheads="1"/>
          </p:cNvSpPr>
          <p:nvPr/>
        </p:nvSpPr>
        <p:spPr bwMode="auto">
          <a:xfrm>
            <a:off x="304800" y="3048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" name="AutoShape 4" descr="C:\Users\ThinkPad\AppData\Roaming\Tencent\Users\19379577\QQ\WinTemp\RichOle\@[8E39GW_9K@C_NQU33A.png"/>
          <p:cNvSpPr>
            <a:spLocks noChangeAspect="1" noChangeArrowheads="1"/>
          </p:cNvSpPr>
          <p:nvPr/>
        </p:nvSpPr>
        <p:spPr bwMode="auto">
          <a:xfrm>
            <a:off x="457200" y="4572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" name="AutoShape 7" descr="C:\Users\ThinkPad\AppData\Roaming\Tencent\Users\19379577\QQ\WinTemp\RichOle\@[8E39GW_9K@C_NQU33A.png"/>
          <p:cNvSpPr>
            <a:spLocks noChangeAspect="1" noChangeArrowheads="1"/>
          </p:cNvSpPr>
          <p:nvPr/>
        </p:nvSpPr>
        <p:spPr bwMode="auto">
          <a:xfrm>
            <a:off x="609600" y="609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4104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8556" y="4109068"/>
            <a:ext cx="3771900" cy="1762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2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Picture 1" descr="C:\Users\ThinkPad\AppData\Roaming\Tencent\Users\19379577\QQ\WinTemp\RichOle\P{B6XIM`~CP]54`_OW54N%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559" y="1125538"/>
            <a:ext cx="4608512" cy="4416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 descr="C:\Users\ThinkPad\AppData\Roaming\Tencent\Users\19379577\QQ\WinTemp\RichOle\9Y7JQ`FJE$8K$GWCUEJUEWM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5119" y="1629594"/>
            <a:ext cx="5200650" cy="3057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4688599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0205369" y="189434"/>
            <a:ext cx="20180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5.4 函数</a:t>
            </a:r>
            <a:endParaRPr 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025054" y="901630"/>
            <a:ext cx="4493538" cy="7386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0071C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补充：命名关键字参数传递</a:t>
            </a:r>
          </a:p>
        </p:txBody>
      </p:sp>
      <p:sp>
        <p:nvSpPr>
          <p:cNvPr id="3" name="矩形 2"/>
          <p:cNvSpPr/>
          <p:nvPr/>
        </p:nvSpPr>
        <p:spPr>
          <a:xfrm>
            <a:off x="914599" y="1845618"/>
            <a:ext cx="11593288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 err="1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def</a:t>
            </a:r>
            <a:r>
              <a:rPr lang="en-US" altLang="zh-CN" sz="28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8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函数名</a:t>
            </a:r>
            <a:r>
              <a:rPr lang="en-US" altLang="zh-CN" sz="28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(*, </a:t>
            </a:r>
            <a:r>
              <a:rPr lang="zh-CN" altLang="en-US" sz="28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关键字形参</a:t>
            </a:r>
            <a:r>
              <a:rPr lang="en-US" altLang="zh-CN" sz="28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):#</a:t>
            </a:r>
            <a:r>
              <a:rPr lang="zh-CN" altLang="en-US" b="1" dirty="0">
                <a:solidFill>
                  <a:srgbClr val="FF0000"/>
                </a:solidFill>
                <a:latin typeface="+mn-ea"/>
              </a:rPr>
              <a:t>*后全部为关键字形参</a:t>
            </a:r>
            <a:br>
              <a:rPr lang="en-US" altLang="zh-CN" sz="28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8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       </a:t>
            </a:r>
            <a:r>
              <a:rPr lang="zh-CN" altLang="en-US" sz="28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语句块</a:t>
            </a:r>
            <a:endParaRPr lang="en-US" altLang="zh-CN" sz="2800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8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zh-CN" sz="28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r>
              <a:rPr lang="en-US" altLang="zh-CN" sz="2800" dirty="0" err="1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def</a:t>
            </a:r>
            <a:r>
              <a:rPr lang="en-US" altLang="zh-CN" sz="28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8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函数名</a:t>
            </a:r>
            <a:r>
              <a:rPr lang="en-US" altLang="zh-CN" sz="28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(*</a:t>
            </a:r>
            <a:r>
              <a:rPr lang="en-US" altLang="zh-CN" sz="2800" dirty="0" err="1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args</a:t>
            </a:r>
            <a:r>
              <a:rPr lang="en-US" altLang="zh-CN" sz="28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en-US" sz="28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关键字形参</a:t>
            </a:r>
            <a:r>
              <a:rPr lang="en-US" altLang="zh-CN" sz="28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):#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</a:rPr>
              <a:t> *</a:t>
            </a:r>
            <a:r>
              <a:rPr lang="en-US" altLang="zh-CN" sz="2800" b="1" dirty="0" err="1">
                <a:solidFill>
                  <a:srgbClr val="FF0000"/>
                </a:solidFill>
                <a:latin typeface="+mn-ea"/>
              </a:rPr>
              <a:t>args</a:t>
            </a:r>
            <a:r>
              <a:rPr lang="zh-CN" altLang="en-US" b="1" dirty="0">
                <a:solidFill>
                  <a:srgbClr val="FF0000"/>
                </a:solidFill>
                <a:latin typeface="+mn-ea"/>
              </a:rPr>
              <a:t>后全部为关键字形参</a:t>
            </a:r>
            <a:endParaRPr lang="en-US" altLang="zh-CN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CN" sz="28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       </a:t>
            </a:r>
            <a:r>
              <a:rPr lang="zh-CN" altLang="en-US" sz="28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语句块</a:t>
            </a:r>
            <a:endParaRPr lang="zh-CN" altLang="en-US" sz="2800" b="0" i="0" dirty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88541" y="4437906"/>
            <a:ext cx="10657184" cy="1383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所有的关键字形参，必须用关键字传参或字典关键字传参进行参数传递</a:t>
            </a:r>
          </a:p>
        </p:txBody>
      </p:sp>
    </p:spTree>
  </p:cSld>
  <p:clrMapOvr>
    <a:masterClrMapping/>
  </p:clrMapOvr>
  <p:transition spd="slow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0205369" y="189434"/>
            <a:ext cx="20180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5.4 函数</a:t>
            </a:r>
            <a:endParaRPr 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025054" y="901630"/>
            <a:ext cx="4493538" cy="7386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0071C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补充：命名关键字参数传递</a:t>
            </a:r>
          </a:p>
        </p:txBody>
      </p:sp>
      <p:pic>
        <p:nvPicPr>
          <p:cNvPr id="5121" name="Picture 1" descr="C:\Users\ThinkPad\AppData\Roaming\Tencent\Users\19379577\QQ\WinTemp\RichOle\(@T%]7QUGW7RJJ2AYA7[LO8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575" y="1640294"/>
            <a:ext cx="7417306" cy="36617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矩形 3"/>
          <p:cNvSpPr/>
          <p:nvPr/>
        </p:nvSpPr>
        <p:spPr>
          <a:xfrm>
            <a:off x="8132531" y="1773610"/>
            <a:ext cx="396044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0000FF"/>
                </a:solidFill>
              </a:rPr>
              <a:t>参数列表中*符号，不是一个参数，而是一个分隔符。*分隔符后面的参数，在函数调用时，必须使用</a:t>
            </a:r>
            <a:r>
              <a:rPr lang="en-US" altLang="zh-CN" dirty="0">
                <a:solidFill>
                  <a:srgbClr val="0000FF"/>
                </a:solidFill>
              </a:rPr>
              <a:t>key=value</a:t>
            </a:r>
            <a:r>
              <a:rPr lang="zh-CN" altLang="en-US" dirty="0">
                <a:solidFill>
                  <a:srgbClr val="0000FF"/>
                </a:solidFill>
              </a:rPr>
              <a:t>形式。</a:t>
            </a:r>
          </a:p>
        </p:txBody>
      </p:sp>
    </p:spTree>
    <p:extLst>
      <p:ext uri="{BB962C8B-B14F-4D97-AF65-F5344CB8AC3E}">
        <p14:creationId xmlns:p14="http://schemas.microsoft.com/office/powerpoint/2010/main" val="495434659"/>
      </p:ext>
    </p:extLst>
  </p:cSld>
  <p:clrMapOvr>
    <a:masterClrMapping/>
  </p:clrMapOvr>
  <p:transition spd="slow" advTm="0"/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0205369" y="189434"/>
            <a:ext cx="20180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5.4 函数</a:t>
            </a:r>
            <a:endParaRPr 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130623" y="2421682"/>
            <a:ext cx="2808312" cy="31076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 err="1"/>
              <a:t>def</a:t>
            </a:r>
            <a:r>
              <a:rPr lang="en-US" altLang="zh-CN" sz="2800" dirty="0"/>
              <a:t> </a:t>
            </a:r>
            <a:r>
              <a:rPr lang="en-US" altLang="zh-CN" sz="2800" dirty="0" err="1"/>
              <a:t>func</a:t>
            </a:r>
            <a:r>
              <a:rPr lang="en-US" altLang="zh-CN" sz="2800" dirty="0"/>
              <a:t>(</a:t>
            </a:r>
            <a:r>
              <a:rPr lang="en-US" altLang="zh-CN" sz="2800" dirty="0" err="1"/>
              <a:t>x,y</a:t>
            </a:r>
            <a:r>
              <a:rPr lang="en-US" altLang="zh-CN" sz="2800" dirty="0"/>
              <a:t>,*,</a:t>
            </a:r>
            <a:r>
              <a:rPr lang="en-US" altLang="zh-CN" sz="2800" dirty="0" err="1"/>
              <a:t>a,b</a:t>
            </a:r>
            <a:r>
              <a:rPr lang="en-US" altLang="zh-CN" sz="2800" dirty="0"/>
              <a:t>):</a:t>
            </a:r>
          </a:p>
          <a:p>
            <a:r>
              <a:rPr lang="en-US" altLang="zh-CN" sz="2800" dirty="0"/>
              <a:t>      print(x)</a:t>
            </a:r>
          </a:p>
          <a:p>
            <a:r>
              <a:rPr lang="en-US" altLang="zh-CN" sz="2800" dirty="0"/>
              <a:t>      print(y)</a:t>
            </a:r>
          </a:p>
          <a:p>
            <a:r>
              <a:rPr lang="en-US" altLang="zh-CN" sz="2800" dirty="0"/>
              <a:t>      print(a)</a:t>
            </a:r>
          </a:p>
          <a:p>
            <a:r>
              <a:rPr lang="en-US" altLang="zh-CN" sz="2800" dirty="0"/>
              <a:t>      print(b)</a:t>
            </a:r>
          </a:p>
          <a:p>
            <a:endParaRPr lang="en-US" altLang="zh-CN" sz="2800" dirty="0"/>
          </a:p>
          <a:p>
            <a:r>
              <a:rPr lang="en-US" altLang="zh-CN" sz="2800" dirty="0" err="1"/>
              <a:t>func</a:t>
            </a:r>
            <a:r>
              <a:rPr lang="en-US" altLang="zh-CN" sz="2800" dirty="0"/>
              <a:t>(1,2,a=3,b=4)</a:t>
            </a:r>
            <a:endParaRPr lang="zh-CN" altLang="en-US" sz="2800" dirty="0"/>
          </a:p>
        </p:txBody>
      </p:sp>
      <p:sp>
        <p:nvSpPr>
          <p:cNvPr id="8" name="矩形 7"/>
          <p:cNvSpPr/>
          <p:nvPr/>
        </p:nvSpPr>
        <p:spPr>
          <a:xfrm>
            <a:off x="588819" y="1682438"/>
            <a:ext cx="144943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实例</a:t>
            </a:r>
            <a:r>
              <a:rPr lang="en-US" altLang="zh-CN" sz="2800" b="1" dirty="0">
                <a:solidFill>
                  <a:srgbClr val="FF0000"/>
                </a:solidFill>
              </a:rPr>
              <a:t>1</a:t>
            </a:r>
            <a:r>
              <a:rPr lang="zh-CN" altLang="en-US" sz="2800" b="1" dirty="0">
                <a:solidFill>
                  <a:srgbClr val="FF0000"/>
                </a:solidFill>
              </a:rPr>
              <a:t>：</a:t>
            </a:r>
          </a:p>
        </p:txBody>
      </p:sp>
      <p:sp>
        <p:nvSpPr>
          <p:cNvPr id="9" name="矩形 8"/>
          <p:cNvSpPr/>
          <p:nvPr/>
        </p:nvSpPr>
        <p:spPr>
          <a:xfrm>
            <a:off x="5307087" y="1939606"/>
            <a:ext cx="5904655" cy="31076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altLang="zh-CN" sz="2800" dirty="0" err="1"/>
              <a:t>def</a:t>
            </a:r>
            <a:r>
              <a:rPr altLang="zh-CN" sz="2800" dirty="0"/>
              <a:t> </a:t>
            </a:r>
            <a:r>
              <a:rPr altLang="zh-CN" sz="2800" dirty="0" err="1"/>
              <a:t>func</a:t>
            </a:r>
            <a:r>
              <a:rPr altLang="zh-CN" sz="2800" dirty="0"/>
              <a:t>(</a:t>
            </a:r>
            <a:r>
              <a:rPr altLang="zh-CN" sz="2800" dirty="0" err="1"/>
              <a:t>x,y</a:t>
            </a:r>
            <a:r>
              <a:rPr altLang="zh-CN" sz="2800" dirty="0"/>
              <a:t>,*</a:t>
            </a:r>
            <a:r>
              <a:rPr altLang="zh-CN" sz="2800" dirty="0" err="1"/>
              <a:t>args,a</a:t>
            </a:r>
            <a:r>
              <a:rPr altLang="zh-CN" sz="2800" dirty="0"/>
              <a:t>=1,b):</a:t>
            </a:r>
          </a:p>
          <a:p>
            <a:r>
              <a:rPr altLang="zh-CN" sz="2800" dirty="0"/>
              <a:t>    print(x)</a:t>
            </a:r>
          </a:p>
          <a:p>
            <a:r>
              <a:rPr altLang="zh-CN" sz="2800" dirty="0"/>
              <a:t>    print(y)</a:t>
            </a:r>
          </a:p>
          <a:p>
            <a:r>
              <a:rPr altLang="zh-CN" sz="2800" dirty="0"/>
              <a:t>    print(</a:t>
            </a:r>
            <a:r>
              <a:rPr altLang="zh-CN" sz="2800" dirty="0" err="1"/>
              <a:t>args</a:t>
            </a:r>
            <a:r>
              <a:rPr altLang="zh-CN" sz="2800" dirty="0"/>
              <a:t>)</a:t>
            </a:r>
          </a:p>
          <a:p>
            <a:r>
              <a:rPr altLang="zh-CN" sz="2800" dirty="0"/>
              <a:t>    print(</a:t>
            </a:r>
            <a:r>
              <a:rPr altLang="zh-CN" sz="2800" dirty="0" err="1"/>
              <a:t>a,b</a:t>
            </a:r>
            <a:r>
              <a:rPr altLang="zh-CN" sz="2800" dirty="0"/>
              <a:t>)</a:t>
            </a:r>
          </a:p>
          <a:p>
            <a:endParaRPr altLang="zh-CN" sz="2800" dirty="0"/>
          </a:p>
          <a:p>
            <a:r>
              <a:rPr lang="es-ES" altLang="zh-CN" sz="2800" dirty="0"/>
              <a:t>func(1,2,a=6,b=8)   </a:t>
            </a:r>
            <a:endParaRPr lang="en-US" altLang="zh-CN" sz="2000" b="1" dirty="0"/>
          </a:p>
        </p:txBody>
      </p:sp>
      <p:sp>
        <p:nvSpPr>
          <p:cNvPr id="10" name="矩形 9"/>
          <p:cNvSpPr/>
          <p:nvPr/>
        </p:nvSpPr>
        <p:spPr>
          <a:xfrm>
            <a:off x="4442991" y="5071179"/>
            <a:ext cx="7344816" cy="9531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号或*</a:t>
            </a:r>
            <a:r>
              <a:rPr lang="en-US" altLang="zh-CN" sz="28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args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之后，传值的时候须按照关键字参数进行传值</a:t>
            </a:r>
          </a:p>
        </p:txBody>
      </p:sp>
      <p:sp>
        <p:nvSpPr>
          <p:cNvPr id="3" name="矩形 2"/>
          <p:cNvSpPr/>
          <p:nvPr/>
        </p:nvSpPr>
        <p:spPr>
          <a:xfrm>
            <a:off x="4025054" y="901630"/>
            <a:ext cx="4493538" cy="7386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0071C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补充：命名关键字参数传递</a:t>
            </a:r>
          </a:p>
        </p:txBody>
      </p:sp>
      <p:sp>
        <p:nvSpPr>
          <p:cNvPr id="2" name="矩形 1"/>
          <p:cNvSpPr/>
          <p:nvPr/>
        </p:nvSpPr>
        <p:spPr>
          <a:xfrm>
            <a:off x="8488717" y="2435230"/>
            <a:ext cx="1177379" cy="17338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</a:pPr>
            <a:r>
              <a:rPr lang="en-US" altLang="zh-CN" b="1" dirty="0">
                <a:solidFill>
                  <a:srgbClr val="0000FF"/>
                </a:solidFill>
              </a:rPr>
              <a:t>1</a:t>
            </a:r>
          </a:p>
          <a:p>
            <a:pPr>
              <a:lnSpc>
                <a:spcPts val="3200"/>
              </a:lnSpc>
            </a:pPr>
            <a:r>
              <a:rPr lang="en-US" altLang="zh-CN" b="1" dirty="0">
                <a:solidFill>
                  <a:srgbClr val="0000FF"/>
                </a:solidFill>
              </a:rPr>
              <a:t>2</a:t>
            </a:r>
          </a:p>
          <a:p>
            <a:pPr>
              <a:lnSpc>
                <a:spcPts val="3200"/>
              </a:lnSpc>
            </a:pPr>
            <a:r>
              <a:rPr lang="en-US" altLang="zh-CN" b="1" dirty="0">
                <a:solidFill>
                  <a:srgbClr val="0000FF"/>
                </a:solidFill>
              </a:rPr>
              <a:t>()</a:t>
            </a:r>
          </a:p>
          <a:p>
            <a:pPr>
              <a:lnSpc>
                <a:spcPts val="3200"/>
              </a:lnSpc>
            </a:pPr>
            <a:r>
              <a:rPr lang="en-US" altLang="zh-CN" b="1" dirty="0">
                <a:solidFill>
                  <a:srgbClr val="0000FF"/>
                </a:solidFill>
              </a:rPr>
              <a:t>6 8</a:t>
            </a:r>
            <a:endParaRPr lang="zh-CN" altLang="en-US" b="1" dirty="0">
              <a:solidFill>
                <a:srgbClr val="0000FF"/>
              </a:solidFill>
            </a:endParaRPr>
          </a:p>
        </p:txBody>
      </p:sp>
    </p:spTree>
  </p:cSld>
  <p:clrMapOvr>
    <a:masterClrMapping/>
  </p:clrMapOvr>
  <p:transition spd="slow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9" grpId="0"/>
      <p:bldP spid="10" grpId="0"/>
      <p:bldP spid="2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0205369" y="189434"/>
            <a:ext cx="20180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5.4 函数</a:t>
            </a:r>
            <a:endParaRPr 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025054" y="901630"/>
            <a:ext cx="4493538" cy="7386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0071C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补充：命名关键字参数传递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591" y="2205658"/>
            <a:ext cx="4067175" cy="3400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9792" y="2223454"/>
            <a:ext cx="5008005" cy="35218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矩形 10"/>
          <p:cNvSpPr/>
          <p:nvPr/>
        </p:nvSpPr>
        <p:spPr>
          <a:xfrm>
            <a:off x="588819" y="1682438"/>
            <a:ext cx="288893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*后面的默认参数</a:t>
            </a:r>
          </a:p>
        </p:txBody>
      </p:sp>
    </p:spTree>
    <p:extLst>
      <p:ext uri="{BB962C8B-B14F-4D97-AF65-F5344CB8AC3E}">
        <p14:creationId xmlns:p14="http://schemas.microsoft.com/office/powerpoint/2010/main" val="3132755519"/>
      </p:ext>
    </p:extLst>
  </p:cSld>
  <p:clrMapOvr>
    <a:masterClrMapping/>
  </p:clrMapOvr>
  <p:transition spd="slow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0205369" y="189434"/>
            <a:ext cx="20180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5.4 函数</a:t>
            </a:r>
            <a:endParaRPr 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914599" y="1845618"/>
            <a:ext cx="144943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实例</a:t>
            </a:r>
            <a:r>
              <a:rPr lang="en-US" altLang="zh-CN" sz="2800" b="1" dirty="0">
                <a:solidFill>
                  <a:srgbClr val="FF0000"/>
                </a:solidFill>
              </a:rPr>
              <a:t>2</a:t>
            </a:r>
            <a:r>
              <a:rPr lang="zh-CN" altLang="en-US" sz="2800" b="1" dirty="0">
                <a:solidFill>
                  <a:srgbClr val="FF0000"/>
                </a:solidFill>
              </a:rPr>
              <a:t>：</a:t>
            </a:r>
          </a:p>
        </p:txBody>
      </p:sp>
      <p:sp>
        <p:nvSpPr>
          <p:cNvPr id="5" name="矩形 4"/>
          <p:cNvSpPr/>
          <p:nvPr/>
        </p:nvSpPr>
        <p:spPr>
          <a:xfrm>
            <a:off x="2364035" y="2385678"/>
            <a:ext cx="6586133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 err="1"/>
              <a:t>def</a:t>
            </a:r>
            <a:r>
              <a:rPr lang="en-US" altLang="zh-CN" sz="2800" dirty="0"/>
              <a:t> </a:t>
            </a:r>
            <a:r>
              <a:rPr lang="en-US" altLang="zh-CN" sz="2800" dirty="0" err="1"/>
              <a:t>fn</a:t>
            </a:r>
            <a:r>
              <a:rPr lang="en-US" altLang="zh-CN" sz="2800" dirty="0"/>
              <a:t>(*, a, b):       </a:t>
            </a:r>
          </a:p>
          <a:p>
            <a:r>
              <a:rPr lang="en-US" altLang="zh-CN" sz="2800" dirty="0"/>
              <a:t>      print("a</a:t>
            </a:r>
            <a:r>
              <a:rPr lang="zh-CN" altLang="en-US" sz="2800" dirty="0"/>
              <a:t>的值为：</a:t>
            </a:r>
            <a:r>
              <a:rPr lang="en-US" altLang="zh-CN" sz="2800" dirty="0"/>
              <a:t>", a) </a:t>
            </a:r>
          </a:p>
          <a:p>
            <a:r>
              <a:rPr lang="en-US" altLang="zh-CN" sz="2800" dirty="0"/>
              <a:t>      print("b</a:t>
            </a:r>
            <a:r>
              <a:rPr lang="zh-CN" altLang="en-US" sz="2800" dirty="0"/>
              <a:t>的值为：</a:t>
            </a:r>
            <a:r>
              <a:rPr lang="en-US" altLang="zh-CN" sz="2800" dirty="0"/>
              <a:t>", b)</a:t>
            </a:r>
          </a:p>
          <a:p>
            <a:endParaRPr lang="en-US" altLang="zh-CN" sz="2800" dirty="0"/>
          </a:p>
          <a:p>
            <a:r>
              <a:rPr lang="en-US" altLang="zh-CN" sz="2800" dirty="0" err="1"/>
              <a:t>fn</a:t>
            </a:r>
            <a:r>
              <a:rPr lang="en-US" altLang="zh-CN" sz="2800" dirty="0"/>
              <a:t>(1, 2) </a:t>
            </a:r>
          </a:p>
          <a:p>
            <a:r>
              <a:rPr lang="en-US" altLang="zh-CN" sz="2800" dirty="0" err="1"/>
              <a:t>fn</a:t>
            </a:r>
            <a:r>
              <a:rPr lang="en-US" altLang="zh-CN" sz="2800" dirty="0"/>
              <a:t>(a = 1, b = 2) </a:t>
            </a:r>
          </a:p>
          <a:p>
            <a:r>
              <a:rPr lang="en-US" altLang="zh-CN" sz="2800" dirty="0" err="1"/>
              <a:t>fn</a:t>
            </a:r>
            <a:r>
              <a:rPr lang="en-US" altLang="zh-CN" sz="2800" dirty="0"/>
              <a:t>(b = 0, a = 20) </a:t>
            </a:r>
          </a:p>
          <a:p>
            <a:r>
              <a:rPr lang="en-US" altLang="zh-CN" sz="2800" dirty="0" err="1"/>
              <a:t>fn</a:t>
            </a:r>
            <a:r>
              <a:rPr lang="en-US" altLang="zh-CN" sz="2800" dirty="0"/>
              <a:t>(**{"b":200, "a":100})</a:t>
            </a:r>
          </a:p>
        </p:txBody>
      </p:sp>
      <p:sp>
        <p:nvSpPr>
          <p:cNvPr id="11" name="线形标注 1 10"/>
          <p:cNvSpPr/>
          <p:nvPr/>
        </p:nvSpPr>
        <p:spPr>
          <a:xfrm>
            <a:off x="6747247" y="3507321"/>
            <a:ext cx="5290783" cy="648072"/>
          </a:xfrm>
          <a:prstGeom prst="borderCallout1">
            <a:avLst>
              <a:gd name="adj1" fmla="val 81459"/>
              <a:gd name="adj2" fmla="val -1749"/>
              <a:gd name="adj3" fmla="val 134261"/>
              <a:gd name="adj4" fmla="val -5812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 </a:t>
            </a:r>
            <a:r>
              <a:rPr lang="zh-CN" altLang="en-US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错的，</a:t>
            </a:r>
            <a:r>
              <a:rPr lang="en-US" altLang="zh-CN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必须是用关键字传参</a:t>
            </a:r>
            <a:endParaRPr lang="en-US" altLang="zh-CN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025054" y="901630"/>
            <a:ext cx="4493538" cy="7386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0071C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补充：命名关键字参数传递</a:t>
            </a:r>
          </a:p>
        </p:txBody>
      </p:sp>
    </p:spTree>
  </p:cSld>
  <p:clrMapOvr>
    <a:masterClrMapping/>
  </p:clrMapOvr>
  <p:transition spd="slow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5" grpId="0"/>
      <p:bldP spid="11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0205369" y="189434"/>
            <a:ext cx="20180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5.4 函数</a:t>
            </a:r>
            <a:endParaRPr 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914599" y="1845618"/>
            <a:ext cx="144943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实例</a:t>
            </a:r>
            <a:r>
              <a:rPr lang="en-US" altLang="zh-CN" sz="2800" b="1" dirty="0">
                <a:solidFill>
                  <a:srgbClr val="FF0000"/>
                </a:solidFill>
              </a:rPr>
              <a:t>3</a:t>
            </a:r>
            <a:r>
              <a:rPr lang="zh-CN" altLang="en-US" sz="2800" b="1" dirty="0">
                <a:solidFill>
                  <a:srgbClr val="FF0000"/>
                </a:solidFill>
              </a:rPr>
              <a:t>：</a:t>
            </a:r>
          </a:p>
        </p:txBody>
      </p:sp>
      <p:sp>
        <p:nvSpPr>
          <p:cNvPr id="3" name="矩形 2"/>
          <p:cNvSpPr/>
          <p:nvPr/>
        </p:nvSpPr>
        <p:spPr>
          <a:xfrm>
            <a:off x="914600" y="2709714"/>
            <a:ext cx="4248472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/>
              <a:t>def f2(*args, a, b):</a:t>
            </a:r>
          </a:p>
          <a:p>
            <a:r>
              <a:rPr lang="zh-CN" altLang="en-US" sz="2800" dirty="0"/>
              <a:t>    print("args=",args)</a:t>
            </a:r>
          </a:p>
          <a:p>
            <a:r>
              <a:rPr lang="zh-CN" altLang="en-US" sz="2800" dirty="0"/>
              <a:t>    print("a=",a)</a:t>
            </a:r>
          </a:p>
          <a:p>
            <a:r>
              <a:rPr lang="zh-CN" altLang="en-US" sz="2800" dirty="0"/>
              <a:t>    print("b=",b)</a:t>
            </a:r>
          </a:p>
          <a:p>
            <a:r>
              <a:rPr lang="zh-CN" altLang="en-US" sz="2800" dirty="0"/>
              <a:t>f2(1, 2, 3, 4, a=100, b=200)</a:t>
            </a:r>
          </a:p>
          <a:p>
            <a:r>
              <a:rPr lang="zh-CN" altLang="en-US" sz="2800" dirty="0"/>
              <a:t>f2(a=100, b=200)</a:t>
            </a:r>
          </a:p>
        </p:txBody>
      </p:sp>
      <p:sp>
        <p:nvSpPr>
          <p:cNvPr id="4" name="矩形 3"/>
          <p:cNvSpPr/>
          <p:nvPr/>
        </p:nvSpPr>
        <p:spPr>
          <a:xfrm>
            <a:off x="6459215" y="2421682"/>
            <a:ext cx="3049587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 err="1">
                <a:solidFill>
                  <a:srgbClr val="0071C1"/>
                </a:solidFill>
              </a:rPr>
              <a:t>args</a:t>
            </a:r>
            <a:r>
              <a:rPr lang="en-US" altLang="zh-CN" sz="2800" dirty="0">
                <a:solidFill>
                  <a:srgbClr val="0071C1"/>
                </a:solidFill>
              </a:rPr>
              <a:t>= (1, 2, 3, 4)</a:t>
            </a:r>
          </a:p>
          <a:p>
            <a:r>
              <a:rPr lang="en-US" altLang="zh-CN" sz="2800" dirty="0">
                <a:solidFill>
                  <a:srgbClr val="0071C1"/>
                </a:solidFill>
              </a:rPr>
              <a:t>a= 100</a:t>
            </a:r>
          </a:p>
          <a:p>
            <a:r>
              <a:rPr lang="en-US" altLang="zh-CN" sz="2800" dirty="0">
                <a:solidFill>
                  <a:srgbClr val="0071C1"/>
                </a:solidFill>
              </a:rPr>
              <a:t>b= 200</a:t>
            </a:r>
          </a:p>
          <a:p>
            <a:endParaRPr lang="en-US" altLang="zh-CN" sz="2800" dirty="0">
              <a:solidFill>
                <a:srgbClr val="0071C1"/>
              </a:solidFill>
            </a:endParaRPr>
          </a:p>
          <a:p>
            <a:r>
              <a:rPr lang="en-US" altLang="zh-CN" sz="2800" dirty="0" err="1">
                <a:solidFill>
                  <a:srgbClr val="0071C1"/>
                </a:solidFill>
              </a:rPr>
              <a:t>args</a:t>
            </a:r>
            <a:r>
              <a:rPr lang="en-US" altLang="zh-CN" sz="2800" dirty="0">
                <a:solidFill>
                  <a:srgbClr val="0071C1"/>
                </a:solidFill>
              </a:rPr>
              <a:t>= ()</a:t>
            </a:r>
          </a:p>
          <a:p>
            <a:r>
              <a:rPr lang="en-US" altLang="zh-CN" sz="2800" dirty="0">
                <a:solidFill>
                  <a:srgbClr val="0071C1"/>
                </a:solidFill>
              </a:rPr>
              <a:t>a= 100</a:t>
            </a:r>
          </a:p>
          <a:p>
            <a:r>
              <a:rPr lang="en-US" altLang="zh-CN" sz="2800" dirty="0">
                <a:solidFill>
                  <a:srgbClr val="0071C1"/>
                </a:solidFill>
              </a:rPr>
              <a:t>b= 200</a:t>
            </a:r>
            <a:endParaRPr lang="zh-CN" altLang="en-US" sz="2800" dirty="0">
              <a:solidFill>
                <a:srgbClr val="0071C1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878513" y="1845618"/>
            <a:ext cx="198804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输出结果：</a:t>
            </a:r>
          </a:p>
        </p:txBody>
      </p:sp>
      <p:sp>
        <p:nvSpPr>
          <p:cNvPr id="5" name="矩形 4"/>
          <p:cNvSpPr/>
          <p:nvPr/>
        </p:nvSpPr>
        <p:spPr>
          <a:xfrm>
            <a:off x="4025054" y="901630"/>
            <a:ext cx="4493538" cy="7386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0071C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补充：命名关键字参数传递</a:t>
            </a:r>
          </a:p>
        </p:txBody>
      </p:sp>
    </p:spTree>
  </p:cSld>
  <p:clrMapOvr>
    <a:masterClrMapping/>
  </p:clrMapOvr>
  <p:transition spd="slow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3" grpId="0"/>
      <p:bldP spid="4" grpId="0"/>
      <p:bldP spid="10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0205369" y="189434"/>
            <a:ext cx="20180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5.4 函数</a:t>
            </a:r>
            <a:endParaRPr 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16945" y="1248729"/>
            <a:ext cx="48526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函数参数自左至右的顺序为：</a:t>
            </a:r>
          </a:p>
        </p:txBody>
      </p:sp>
      <p:sp>
        <p:nvSpPr>
          <p:cNvPr id="9" name="矩形 8"/>
          <p:cNvSpPr/>
          <p:nvPr/>
        </p:nvSpPr>
        <p:spPr>
          <a:xfrm>
            <a:off x="1019627" y="2015781"/>
            <a:ext cx="1036915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660033"/>
                </a:solidFill>
              </a:rPr>
              <a:t>位置形参</a:t>
            </a:r>
            <a:r>
              <a:rPr lang="zh-CN" altLang="en-US" sz="2800" dirty="0"/>
              <a:t>， </a:t>
            </a:r>
            <a:r>
              <a:rPr lang="zh-CN" altLang="en-US" sz="2800" b="1" dirty="0">
                <a:solidFill>
                  <a:srgbClr val="660033"/>
                </a:solidFill>
              </a:rPr>
              <a:t>星号序列形参</a:t>
            </a:r>
            <a:r>
              <a:rPr lang="zh-CN" altLang="en-US" sz="2800" dirty="0"/>
              <a:t>， </a:t>
            </a:r>
            <a:r>
              <a:rPr lang="zh-CN" altLang="en-US" sz="2800" b="1" dirty="0">
                <a:solidFill>
                  <a:srgbClr val="660033"/>
                </a:solidFill>
              </a:rPr>
              <a:t>命名关键字形参</a:t>
            </a:r>
            <a:r>
              <a:rPr lang="zh-CN" altLang="en-US" sz="2800" dirty="0"/>
              <a:t>， </a:t>
            </a:r>
            <a:r>
              <a:rPr lang="zh-CN" altLang="en-US" sz="2800" b="1" dirty="0">
                <a:solidFill>
                  <a:srgbClr val="660033"/>
                </a:solidFill>
              </a:rPr>
              <a:t>双星号字典形参</a:t>
            </a:r>
          </a:p>
        </p:txBody>
      </p:sp>
      <p:sp>
        <p:nvSpPr>
          <p:cNvPr id="11" name="矩形 10"/>
          <p:cNvSpPr/>
          <p:nvPr/>
        </p:nvSpPr>
        <p:spPr>
          <a:xfrm>
            <a:off x="1019890" y="2782349"/>
            <a:ext cx="8208912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 err="1"/>
              <a:t>def</a:t>
            </a:r>
            <a:r>
              <a:rPr lang="en-US" altLang="zh-CN" sz="2800" dirty="0"/>
              <a:t> </a:t>
            </a:r>
            <a:r>
              <a:rPr lang="en-US" altLang="zh-CN" sz="2800" dirty="0" err="1"/>
              <a:t>fn</a:t>
            </a:r>
            <a:r>
              <a:rPr lang="en-US" altLang="zh-CN" sz="2800" dirty="0"/>
              <a:t>(a, b, *</a:t>
            </a:r>
            <a:r>
              <a:rPr lang="en-US" altLang="zh-CN" sz="2800" dirty="0" err="1"/>
              <a:t>args</a:t>
            </a:r>
            <a:r>
              <a:rPr lang="en-US" altLang="zh-CN" sz="2800" dirty="0"/>
              <a:t>, c,**</a:t>
            </a:r>
            <a:r>
              <a:rPr lang="en-US" altLang="zh-CN" sz="2800" dirty="0" err="1"/>
              <a:t>kwargs</a:t>
            </a:r>
            <a:r>
              <a:rPr lang="en-US" altLang="zh-CN" sz="2800" dirty="0"/>
              <a:t>):</a:t>
            </a:r>
          </a:p>
          <a:p>
            <a:r>
              <a:rPr lang="en-US" altLang="zh-CN" sz="2800" dirty="0"/>
              <a:t>       print (a)</a:t>
            </a:r>
          </a:p>
          <a:p>
            <a:r>
              <a:rPr lang="en-US" altLang="zh-CN" sz="2800" dirty="0"/>
              <a:t>       print (b)</a:t>
            </a:r>
          </a:p>
          <a:p>
            <a:r>
              <a:rPr lang="en-US" altLang="zh-CN" sz="2800" dirty="0"/>
              <a:t>       print(</a:t>
            </a:r>
            <a:r>
              <a:rPr lang="en-US" altLang="zh-CN" sz="2800" dirty="0" err="1"/>
              <a:t>args</a:t>
            </a:r>
            <a:r>
              <a:rPr lang="en-US" altLang="zh-CN" sz="2800" dirty="0"/>
              <a:t>)</a:t>
            </a:r>
          </a:p>
          <a:p>
            <a:r>
              <a:rPr lang="en-US" altLang="zh-CN" sz="2800" dirty="0"/>
              <a:t>       print(c)</a:t>
            </a:r>
          </a:p>
          <a:p>
            <a:r>
              <a:rPr lang="en-US" altLang="zh-CN" sz="2800" dirty="0"/>
              <a:t>       print(</a:t>
            </a:r>
            <a:r>
              <a:rPr lang="en-US" altLang="zh-CN" sz="2800" dirty="0" err="1"/>
              <a:t>kwargs</a:t>
            </a:r>
            <a:r>
              <a:rPr lang="en-US" altLang="zh-CN" sz="2800" dirty="0"/>
              <a:t>)      </a:t>
            </a:r>
          </a:p>
          <a:p>
            <a:r>
              <a:rPr lang="en-US" altLang="zh-CN" sz="2800" dirty="0" err="1"/>
              <a:t>fn</a:t>
            </a:r>
            <a:r>
              <a:rPr lang="en-US" altLang="zh-CN" sz="2800" dirty="0"/>
              <a:t>(100,200,300,400,c=5.5,d=6.6,e=7.7)</a:t>
            </a:r>
          </a:p>
        </p:txBody>
      </p:sp>
      <p:sp>
        <p:nvSpPr>
          <p:cNvPr id="12" name="矩形 11"/>
          <p:cNvSpPr/>
          <p:nvPr/>
        </p:nvSpPr>
        <p:spPr>
          <a:xfrm>
            <a:off x="23593" y="2876102"/>
            <a:ext cx="126669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实例：</a:t>
            </a:r>
          </a:p>
        </p:txBody>
      </p:sp>
      <p:sp>
        <p:nvSpPr>
          <p:cNvPr id="14" name="矩形 13"/>
          <p:cNvSpPr/>
          <p:nvPr/>
        </p:nvSpPr>
        <p:spPr>
          <a:xfrm>
            <a:off x="8439934" y="3608551"/>
            <a:ext cx="6099175" cy="224676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2800" dirty="0"/>
              <a:t>100</a:t>
            </a:r>
          </a:p>
          <a:p>
            <a:r>
              <a:rPr lang="zh-CN" altLang="en-US" sz="2800" dirty="0"/>
              <a:t>200</a:t>
            </a:r>
          </a:p>
          <a:p>
            <a:r>
              <a:rPr lang="zh-CN" altLang="en-US" sz="2800" dirty="0"/>
              <a:t>(300, 400)</a:t>
            </a:r>
          </a:p>
          <a:p>
            <a:r>
              <a:rPr lang="zh-CN" altLang="en-US" sz="2800" dirty="0"/>
              <a:t>5.5</a:t>
            </a:r>
          </a:p>
          <a:p>
            <a:r>
              <a:rPr lang="zh-CN" altLang="en-US" sz="2800" dirty="0"/>
              <a:t>{'d': 6.6, 'e': 7.7}</a:t>
            </a:r>
          </a:p>
        </p:txBody>
      </p:sp>
      <p:sp>
        <p:nvSpPr>
          <p:cNvPr id="15" name="矩形 14"/>
          <p:cNvSpPr/>
          <p:nvPr/>
        </p:nvSpPr>
        <p:spPr>
          <a:xfrm>
            <a:off x="7173241" y="2866181"/>
            <a:ext cx="126669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结果：</a:t>
            </a:r>
          </a:p>
        </p:txBody>
      </p:sp>
    </p:spTree>
  </p:cSld>
  <p:clrMapOvr>
    <a:masterClrMapping/>
  </p:clrMapOvr>
  <p:transition spd="slow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  <p:bldP spid="11" grpId="0"/>
      <p:bldP spid="12" grpId="0"/>
      <p:bldP spid="14" grpId="0"/>
      <p:bldP spid="15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0205369" y="189434"/>
            <a:ext cx="20180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5.4 函数</a:t>
            </a:r>
            <a:endParaRPr 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592810" y="1581093"/>
            <a:ext cx="8208912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 err="1"/>
              <a:t>def</a:t>
            </a:r>
            <a:r>
              <a:rPr lang="en-US" altLang="zh-CN" sz="2800" dirty="0"/>
              <a:t> </a:t>
            </a:r>
            <a:r>
              <a:rPr lang="en-US" altLang="zh-CN" sz="2800" dirty="0" err="1"/>
              <a:t>fn</a:t>
            </a:r>
            <a:r>
              <a:rPr lang="en-US" altLang="zh-CN" sz="2800" dirty="0"/>
              <a:t>(a, b, *</a:t>
            </a:r>
            <a:r>
              <a:rPr lang="en-US" altLang="zh-CN" sz="2800" dirty="0" err="1"/>
              <a:t>args,c</a:t>
            </a:r>
            <a:r>
              <a:rPr lang="en-US" altLang="zh-CN" sz="2800" dirty="0"/>
              <a:t>,**</a:t>
            </a:r>
            <a:r>
              <a:rPr lang="en-US" altLang="zh-CN" sz="2800" dirty="0" err="1"/>
              <a:t>kwargs</a:t>
            </a:r>
            <a:r>
              <a:rPr lang="en-US" altLang="zh-CN" sz="2800" dirty="0"/>
              <a:t>):</a:t>
            </a:r>
          </a:p>
          <a:p>
            <a:r>
              <a:rPr lang="en-US" altLang="zh-CN" sz="2800" dirty="0"/>
              <a:t>       print (a)</a:t>
            </a:r>
          </a:p>
          <a:p>
            <a:r>
              <a:rPr lang="en-US" altLang="zh-CN" sz="2800" dirty="0"/>
              <a:t>       print (b)</a:t>
            </a:r>
          </a:p>
          <a:p>
            <a:r>
              <a:rPr lang="en-US" altLang="zh-CN" sz="2800" dirty="0"/>
              <a:t>       print(</a:t>
            </a:r>
            <a:r>
              <a:rPr lang="en-US" altLang="zh-CN" sz="2800" dirty="0" err="1"/>
              <a:t>args</a:t>
            </a:r>
            <a:r>
              <a:rPr lang="en-US" altLang="zh-CN" sz="2800" dirty="0"/>
              <a:t>)</a:t>
            </a:r>
          </a:p>
          <a:p>
            <a:r>
              <a:rPr lang="en-US" altLang="zh-CN" sz="2800" dirty="0"/>
              <a:t>       print(c)</a:t>
            </a:r>
          </a:p>
          <a:p>
            <a:r>
              <a:rPr lang="en-US" altLang="zh-CN" sz="2800" dirty="0"/>
              <a:t>       print(</a:t>
            </a:r>
            <a:r>
              <a:rPr lang="en-US" altLang="zh-CN" sz="2800" dirty="0" err="1"/>
              <a:t>kwargs</a:t>
            </a:r>
            <a:r>
              <a:rPr lang="en-US" altLang="zh-CN" sz="2800" dirty="0"/>
              <a:t>)      </a:t>
            </a:r>
          </a:p>
          <a:p>
            <a:r>
              <a:rPr lang="de-DE" altLang="zh-CN" sz="2800" dirty="0">
                <a:solidFill>
                  <a:srgbClr val="FF0000"/>
                </a:solidFill>
              </a:rPr>
              <a:t>fn(10,20</a:t>
            </a:r>
            <a:r>
              <a:rPr lang="en-US" altLang="zh-CN" sz="2800" dirty="0">
                <a:solidFill>
                  <a:srgbClr val="FF0000"/>
                </a:solidFill>
              </a:rPr>
              <a:t>,</a:t>
            </a:r>
            <a:r>
              <a:rPr lang="zh-CN" altLang="de-DE" sz="2800" dirty="0">
                <a:solidFill>
                  <a:srgbClr val="FF0000"/>
                </a:solidFill>
              </a:rPr>
              <a:t>*</a:t>
            </a:r>
            <a:r>
              <a:rPr lang="de-DE" altLang="zh-CN" sz="2800" dirty="0">
                <a:solidFill>
                  <a:srgbClr val="FF0000"/>
                </a:solidFill>
              </a:rPr>
              <a:t>“AB”,c=30,**{“a”:100, “b”:200, </a:t>
            </a:r>
            <a:r>
              <a:rPr lang="en-US" altLang="zh-CN" sz="2800" dirty="0">
                <a:solidFill>
                  <a:srgbClr val="FF0000"/>
                </a:solidFill>
              </a:rPr>
              <a:t>“c</a:t>
            </a:r>
            <a:r>
              <a:rPr lang="de-DE" altLang="zh-CN" sz="2800" dirty="0">
                <a:solidFill>
                  <a:srgbClr val="FF0000"/>
                </a:solidFill>
              </a:rPr>
              <a:t>“:300})</a:t>
            </a:r>
            <a:endParaRPr lang="en-US" altLang="zh-CN" sz="2800" dirty="0">
              <a:solidFill>
                <a:srgbClr val="FF000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70347" y="909514"/>
            <a:ext cx="126669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实例：</a:t>
            </a:r>
          </a:p>
        </p:txBody>
      </p:sp>
      <p:sp>
        <p:nvSpPr>
          <p:cNvPr id="14" name="矩形 13"/>
          <p:cNvSpPr/>
          <p:nvPr/>
        </p:nvSpPr>
        <p:spPr>
          <a:xfrm>
            <a:off x="7395319" y="1481016"/>
            <a:ext cx="3971531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/>
              <a:t>10</a:t>
            </a:r>
          </a:p>
          <a:p>
            <a:r>
              <a:rPr lang="en-US" altLang="zh-CN" sz="2800" dirty="0"/>
              <a:t>20</a:t>
            </a:r>
          </a:p>
          <a:p>
            <a:r>
              <a:rPr lang="en-US" altLang="zh-CN" sz="2800" dirty="0"/>
              <a:t>('A', 'B')</a:t>
            </a:r>
          </a:p>
          <a:p>
            <a:r>
              <a:rPr lang="en-US" altLang="zh-CN" sz="2800" dirty="0"/>
              <a:t>30</a:t>
            </a:r>
          </a:p>
          <a:p>
            <a:r>
              <a:rPr lang="en-US" altLang="zh-CN" sz="2800" dirty="0"/>
              <a:t>{'x': 100, 'y': 200, 'z': 300}</a:t>
            </a:r>
            <a:endParaRPr lang="zh-CN" altLang="en-US" sz="2800" dirty="0"/>
          </a:p>
        </p:txBody>
      </p:sp>
      <p:sp>
        <p:nvSpPr>
          <p:cNvPr id="15" name="矩形 14"/>
          <p:cNvSpPr/>
          <p:nvPr/>
        </p:nvSpPr>
        <p:spPr>
          <a:xfrm>
            <a:off x="7539335" y="951731"/>
            <a:ext cx="126669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结果：</a:t>
            </a:r>
          </a:p>
        </p:txBody>
      </p:sp>
      <p:sp>
        <p:nvSpPr>
          <p:cNvPr id="3" name="乘号 2"/>
          <p:cNvSpPr/>
          <p:nvPr/>
        </p:nvSpPr>
        <p:spPr>
          <a:xfrm>
            <a:off x="1706687" y="5164439"/>
            <a:ext cx="1205751" cy="1008112"/>
          </a:xfrm>
          <a:prstGeom prst="mathMultiply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3" name="线形标注 1 12"/>
          <p:cNvSpPr/>
          <p:nvPr/>
        </p:nvSpPr>
        <p:spPr>
          <a:xfrm>
            <a:off x="4368781" y="4700184"/>
            <a:ext cx="7607799" cy="1005761"/>
          </a:xfrm>
          <a:prstGeom prst="borderCallout1">
            <a:avLst>
              <a:gd name="adj1" fmla="val 81459"/>
              <a:gd name="adj2" fmla="val -1749"/>
              <a:gd name="adj3" fmla="val -13735"/>
              <a:gd name="adj4" fmla="val -1539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 </a:t>
            </a:r>
            <a:r>
              <a:rPr lang="zh-CN" altLang="en-US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错的，关键字命名同前面重复，</a:t>
            </a:r>
            <a:endParaRPr lang="en-US" altLang="zh-CN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de-DE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fn(10,20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de-DE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*“AB”,c=30,**{“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de-DE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”:100, “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de-DE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":200, “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z</a:t>
            </a:r>
            <a:r>
              <a:rPr lang="de-DE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":300})</a:t>
            </a:r>
          </a:p>
          <a:p>
            <a:r>
              <a:rPr lang="es-E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fn(10,20,</a:t>
            </a:r>
            <a:r>
              <a:rPr lang="es-ES" altLang="zh-CN" sz="2000" b="1" dirty="0">
                <a:solidFill>
                  <a:schemeClr val="accent2">
                    <a:lumMod val="40000"/>
                    <a:lumOff val="6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'A','B',</a:t>
            </a:r>
            <a:r>
              <a:rPr lang="es-E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c=30,**{"x":100, "y":200, "z":300})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3" grpId="0" animBg="1"/>
      <p:bldP spid="13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0205369" y="189434"/>
            <a:ext cx="20180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5.4 函数</a:t>
            </a:r>
            <a:endParaRPr 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592810" y="2055896"/>
            <a:ext cx="8208912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 err="1"/>
              <a:t>def</a:t>
            </a:r>
            <a:r>
              <a:rPr lang="en-US" altLang="zh-CN" sz="2800" dirty="0"/>
              <a:t> </a:t>
            </a:r>
            <a:r>
              <a:rPr lang="en-US" altLang="zh-CN" sz="2800" dirty="0" err="1"/>
              <a:t>fn</a:t>
            </a:r>
            <a:r>
              <a:rPr lang="en-US" altLang="zh-CN" sz="2800" dirty="0"/>
              <a:t>(a, b, *</a:t>
            </a:r>
            <a:r>
              <a:rPr lang="en-US" altLang="zh-CN" sz="2800" dirty="0" err="1"/>
              <a:t>args,c</a:t>
            </a:r>
            <a:r>
              <a:rPr lang="en-US" altLang="zh-CN" sz="2800" dirty="0"/>
              <a:t>,**</a:t>
            </a:r>
            <a:r>
              <a:rPr lang="en-US" altLang="zh-CN" sz="2800" dirty="0" err="1"/>
              <a:t>kwargs</a:t>
            </a:r>
            <a:r>
              <a:rPr lang="en-US" altLang="zh-CN" sz="2800" dirty="0"/>
              <a:t>):</a:t>
            </a:r>
          </a:p>
          <a:p>
            <a:r>
              <a:rPr lang="en-US" altLang="zh-CN" sz="2800" dirty="0"/>
              <a:t>       print (a)</a:t>
            </a:r>
          </a:p>
          <a:p>
            <a:r>
              <a:rPr lang="en-US" altLang="zh-CN" sz="2800" dirty="0"/>
              <a:t>       print (b)</a:t>
            </a:r>
          </a:p>
          <a:p>
            <a:r>
              <a:rPr lang="en-US" altLang="zh-CN" sz="2800" dirty="0"/>
              <a:t>       print(</a:t>
            </a:r>
            <a:r>
              <a:rPr lang="en-US" altLang="zh-CN" sz="2800" dirty="0" err="1"/>
              <a:t>args</a:t>
            </a:r>
            <a:r>
              <a:rPr lang="en-US" altLang="zh-CN" sz="2800" dirty="0"/>
              <a:t>)</a:t>
            </a:r>
          </a:p>
          <a:p>
            <a:r>
              <a:rPr lang="en-US" altLang="zh-CN" sz="2800" dirty="0"/>
              <a:t>       print(c)</a:t>
            </a:r>
          </a:p>
          <a:p>
            <a:r>
              <a:rPr lang="en-US" altLang="zh-CN" sz="2800" dirty="0"/>
              <a:t>       print(</a:t>
            </a:r>
            <a:r>
              <a:rPr lang="en-US" altLang="zh-CN" sz="2800" dirty="0" err="1"/>
              <a:t>kwargs</a:t>
            </a:r>
            <a:r>
              <a:rPr lang="en-US" altLang="zh-CN" sz="2800" dirty="0"/>
              <a:t>)      </a:t>
            </a:r>
          </a:p>
          <a:p>
            <a:r>
              <a:rPr lang="de-DE" altLang="zh-CN" sz="2800" dirty="0">
                <a:solidFill>
                  <a:srgbClr val="FF0000"/>
                </a:solidFill>
              </a:rPr>
              <a:t>fn(10,*"AB",c=20,**{"x":100, "y":200, "z":300})</a:t>
            </a:r>
            <a:endParaRPr lang="en-US" altLang="zh-CN" sz="2800" dirty="0">
              <a:solidFill>
                <a:srgbClr val="FF000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70347" y="1384317"/>
            <a:ext cx="126669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实例：</a:t>
            </a:r>
          </a:p>
        </p:txBody>
      </p:sp>
      <p:sp>
        <p:nvSpPr>
          <p:cNvPr id="14" name="矩形 13"/>
          <p:cNvSpPr/>
          <p:nvPr/>
        </p:nvSpPr>
        <p:spPr>
          <a:xfrm>
            <a:off x="8251867" y="1977159"/>
            <a:ext cx="3971531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/>
              <a:t>10</a:t>
            </a:r>
          </a:p>
          <a:p>
            <a:r>
              <a:rPr lang="en-US" altLang="zh-CN" sz="2800" dirty="0"/>
              <a:t>A</a:t>
            </a:r>
          </a:p>
          <a:p>
            <a:r>
              <a:rPr lang="en-US" altLang="zh-CN" sz="2800" dirty="0"/>
              <a:t>('B',)</a:t>
            </a:r>
          </a:p>
          <a:p>
            <a:r>
              <a:rPr lang="en-US" altLang="zh-CN" sz="2800" dirty="0"/>
              <a:t>20</a:t>
            </a:r>
          </a:p>
          <a:p>
            <a:r>
              <a:rPr lang="en-US" altLang="zh-CN" sz="2800" dirty="0"/>
              <a:t>{'x': 100, 'y': 200, 'z': 300}</a:t>
            </a:r>
            <a:endParaRPr lang="zh-CN" altLang="en-US" sz="2800" dirty="0"/>
          </a:p>
        </p:txBody>
      </p:sp>
      <p:sp>
        <p:nvSpPr>
          <p:cNvPr id="15" name="矩形 14"/>
          <p:cNvSpPr/>
          <p:nvPr/>
        </p:nvSpPr>
        <p:spPr>
          <a:xfrm>
            <a:off x="7539335" y="1426534"/>
            <a:ext cx="126669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结果：</a:t>
            </a:r>
          </a:p>
        </p:txBody>
      </p:sp>
      <p:sp>
        <p:nvSpPr>
          <p:cNvPr id="2" name="矩形 1"/>
          <p:cNvSpPr/>
          <p:nvPr/>
        </p:nvSpPr>
        <p:spPr>
          <a:xfrm>
            <a:off x="698575" y="5234180"/>
            <a:ext cx="85975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0000FF"/>
                </a:solidFill>
              </a:rPr>
              <a:t>*</a:t>
            </a:r>
            <a:r>
              <a:rPr lang="en-US" altLang="zh-CN" dirty="0">
                <a:solidFill>
                  <a:srgbClr val="0000FF"/>
                </a:solidFill>
              </a:rPr>
              <a:t>*</a:t>
            </a:r>
            <a:r>
              <a:rPr lang="en-US" altLang="zh-CN" dirty="0" err="1">
                <a:solidFill>
                  <a:srgbClr val="0000FF"/>
                </a:solidFill>
              </a:rPr>
              <a:t>kwargs</a:t>
            </a:r>
            <a:r>
              <a:rPr lang="zh-CN" altLang="en-US" dirty="0">
                <a:solidFill>
                  <a:srgbClr val="0000FF"/>
                </a:solidFill>
              </a:rPr>
              <a:t>：可变关键字参数，实参是</a:t>
            </a:r>
            <a:r>
              <a:rPr lang="en-US" altLang="zh-CN" dirty="0">
                <a:solidFill>
                  <a:srgbClr val="0000FF"/>
                </a:solidFill>
              </a:rPr>
              <a:t>0</a:t>
            </a:r>
            <a:r>
              <a:rPr lang="zh-CN" altLang="en-US" dirty="0">
                <a:solidFill>
                  <a:srgbClr val="0000FF"/>
                </a:solidFill>
              </a:rPr>
              <a:t>个或多个关键字参数传递</a:t>
            </a:r>
          </a:p>
        </p:txBody>
      </p:sp>
    </p:spTree>
  </p:cSld>
  <p:clrMapOvr>
    <a:masterClrMapping/>
  </p:clrMapOvr>
  <p:transition spd="slow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0205369" y="189434"/>
            <a:ext cx="20180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5.4 函数</a:t>
            </a:r>
            <a:endParaRPr 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82551" y="1414792"/>
            <a:ext cx="11092776" cy="1955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以下函数可以接受任意的位置传参和关键字传参，但是注意，</a:t>
            </a:r>
            <a:r>
              <a:rPr lang="en-US" altLang="zh-CN" sz="2800" b="1" dirty="0" err="1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args</a:t>
            </a:r>
            <a:r>
              <a:rPr lang="zh-CN" altLang="en-US" sz="28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必须在</a:t>
            </a:r>
            <a:r>
              <a:rPr lang="en-US" altLang="zh-CN" sz="2800" b="1" dirty="0" err="1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kwargs</a:t>
            </a:r>
            <a:r>
              <a:rPr lang="zh-CN" altLang="en-US" sz="28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之前。</a:t>
            </a:r>
            <a:b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28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      </a:t>
            </a:r>
            <a:r>
              <a:rPr lang="en-US" altLang="zh-CN" sz="28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en-US" altLang="zh-CN" sz="2800" b="1" dirty="0" err="1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def</a:t>
            </a:r>
            <a:r>
              <a:rPr lang="en-US" altLang="zh-CN" sz="28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800" b="1" dirty="0" err="1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fn</a:t>
            </a:r>
            <a:r>
              <a:rPr lang="en-US" altLang="zh-CN" sz="28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(*</a:t>
            </a:r>
            <a:r>
              <a:rPr lang="en-US" altLang="zh-CN" sz="2800" b="1" dirty="0" err="1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args</a:t>
            </a:r>
            <a:r>
              <a:rPr lang="en-US" altLang="zh-CN" sz="28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**</a:t>
            </a:r>
            <a:r>
              <a:rPr lang="en-US" altLang="zh-CN" sz="2800" b="1" dirty="0" err="1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kwargs</a:t>
            </a:r>
            <a:r>
              <a:rPr lang="en-US" altLang="zh-CN" sz="28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):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562671" y="3429794"/>
            <a:ext cx="9447048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660033"/>
                </a:solidFill>
              </a:rPr>
              <a:t>*</a:t>
            </a:r>
            <a:r>
              <a:rPr lang="en-US" altLang="zh-CN" sz="2800" b="1" dirty="0" err="1">
                <a:solidFill>
                  <a:srgbClr val="660033"/>
                </a:solidFill>
              </a:rPr>
              <a:t>args</a:t>
            </a:r>
            <a:r>
              <a:rPr lang="zh-CN" altLang="en-US" sz="2800" b="1" dirty="0">
                <a:solidFill>
                  <a:srgbClr val="660033"/>
                </a:solidFill>
              </a:rPr>
              <a:t>与**</a:t>
            </a:r>
            <a:r>
              <a:rPr lang="en-US" altLang="zh-CN" sz="2800" b="1" dirty="0" err="1">
                <a:solidFill>
                  <a:srgbClr val="660033"/>
                </a:solidFill>
              </a:rPr>
              <a:t>kwargs</a:t>
            </a:r>
            <a:r>
              <a:rPr lang="zh-CN" altLang="en-US" sz="2800" b="1" dirty="0">
                <a:solidFill>
                  <a:srgbClr val="660033"/>
                </a:solidFill>
              </a:rPr>
              <a:t>的区别，两者都是</a:t>
            </a:r>
            <a:r>
              <a:rPr lang="en-US" altLang="zh-CN" sz="2800" b="1" dirty="0">
                <a:solidFill>
                  <a:srgbClr val="660033"/>
                </a:solidFill>
              </a:rPr>
              <a:t>python</a:t>
            </a:r>
            <a:r>
              <a:rPr lang="zh-CN" altLang="en-US" sz="2800" b="1" dirty="0">
                <a:solidFill>
                  <a:srgbClr val="660033"/>
                </a:solidFill>
              </a:rPr>
              <a:t>中的可变参数。 </a:t>
            </a:r>
            <a:br>
              <a:rPr lang="zh-CN" altLang="en-US" sz="2800" b="1" dirty="0">
                <a:solidFill>
                  <a:srgbClr val="660033"/>
                </a:solidFill>
              </a:rPr>
            </a:br>
            <a:r>
              <a:rPr lang="zh-CN" altLang="en-US" sz="2800" b="1" dirty="0">
                <a:solidFill>
                  <a:srgbClr val="660033"/>
                </a:solidFill>
              </a:rPr>
              <a:t>*</a:t>
            </a:r>
            <a:r>
              <a:rPr lang="en-US" altLang="zh-CN" sz="2800" b="1" dirty="0" err="1">
                <a:solidFill>
                  <a:srgbClr val="660033"/>
                </a:solidFill>
              </a:rPr>
              <a:t>args</a:t>
            </a:r>
            <a:r>
              <a:rPr lang="zh-CN" altLang="en-US" sz="2800" b="1" dirty="0">
                <a:solidFill>
                  <a:srgbClr val="660033"/>
                </a:solidFill>
              </a:rPr>
              <a:t>表示任何多个无名参数，它本质是一个</a:t>
            </a:r>
            <a:r>
              <a:rPr lang="en-US" altLang="zh-CN" sz="2800" b="1" dirty="0">
                <a:solidFill>
                  <a:srgbClr val="660033"/>
                </a:solidFill>
              </a:rPr>
              <a:t>tuple</a:t>
            </a:r>
            <a:r>
              <a:rPr lang="zh-CN" altLang="en-US" sz="2800" b="1" dirty="0">
                <a:solidFill>
                  <a:srgbClr val="660033"/>
                </a:solidFill>
              </a:rPr>
              <a:t>； </a:t>
            </a:r>
            <a:br>
              <a:rPr lang="zh-CN" altLang="en-US" sz="2800" b="1" dirty="0">
                <a:solidFill>
                  <a:srgbClr val="660033"/>
                </a:solidFill>
              </a:rPr>
            </a:br>
            <a:r>
              <a:rPr lang="zh-CN" altLang="en-US" sz="2800" b="1" dirty="0">
                <a:solidFill>
                  <a:srgbClr val="660033"/>
                </a:solidFill>
              </a:rPr>
              <a:t>**</a:t>
            </a:r>
            <a:r>
              <a:rPr lang="en-US" altLang="zh-CN" sz="2800" b="1" dirty="0" err="1">
                <a:solidFill>
                  <a:srgbClr val="660033"/>
                </a:solidFill>
              </a:rPr>
              <a:t>kwargs</a:t>
            </a:r>
            <a:r>
              <a:rPr lang="zh-CN" altLang="en-US" sz="2800" b="1" dirty="0">
                <a:solidFill>
                  <a:srgbClr val="660033"/>
                </a:solidFill>
              </a:rPr>
              <a:t>表示任何多个关键字参数，它本质上是一个</a:t>
            </a:r>
            <a:r>
              <a:rPr lang="en-US" altLang="zh-CN" sz="2800" b="1" dirty="0" err="1">
                <a:solidFill>
                  <a:srgbClr val="660033"/>
                </a:solidFill>
              </a:rPr>
              <a:t>dict</a:t>
            </a:r>
            <a:r>
              <a:rPr lang="zh-CN" altLang="en-US" sz="2800" b="1" dirty="0">
                <a:solidFill>
                  <a:srgbClr val="660033"/>
                </a:solidFill>
              </a:rPr>
              <a:t>。 </a:t>
            </a:r>
          </a:p>
        </p:txBody>
      </p:sp>
    </p:spTree>
  </p:cSld>
  <p:clrMapOvr>
    <a:masterClrMapping/>
  </p:clrMapOvr>
  <p:transition spd="slow" advTm="0"/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0205369" y="189434"/>
            <a:ext cx="20180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5.4 函数</a:t>
            </a:r>
            <a:endParaRPr 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0543" y="1701602"/>
            <a:ext cx="6099175" cy="397031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2800" dirty="0" err="1"/>
              <a:t>def</a:t>
            </a:r>
            <a:r>
              <a:rPr lang="en-US" altLang="zh-CN" sz="2800" dirty="0"/>
              <a:t> foo(*</a:t>
            </a:r>
            <a:r>
              <a:rPr lang="en-US" altLang="zh-CN" sz="2800" dirty="0" err="1"/>
              <a:t>args</a:t>
            </a:r>
            <a:r>
              <a:rPr lang="en-US" altLang="zh-CN" sz="2800" dirty="0"/>
              <a:t>, **</a:t>
            </a:r>
            <a:r>
              <a:rPr lang="en-US" altLang="zh-CN" sz="2800" dirty="0" err="1"/>
              <a:t>kwargs</a:t>
            </a:r>
            <a:r>
              <a:rPr lang="en-US" altLang="zh-CN" sz="2800" dirty="0"/>
              <a:t>):</a:t>
            </a:r>
          </a:p>
          <a:p>
            <a:r>
              <a:rPr lang="en-US" altLang="zh-CN" sz="2800" dirty="0"/>
              <a:t>    print ('</a:t>
            </a:r>
            <a:r>
              <a:rPr lang="en-US" altLang="zh-CN" sz="2800" dirty="0" err="1"/>
              <a:t>args</a:t>
            </a:r>
            <a:r>
              <a:rPr lang="en-US" altLang="zh-CN" sz="2800" dirty="0"/>
              <a:t> = ', </a:t>
            </a:r>
            <a:r>
              <a:rPr lang="en-US" altLang="zh-CN" sz="2800" dirty="0" err="1"/>
              <a:t>args</a:t>
            </a:r>
            <a:r>
              <a:rPr lang="en-US" altLang="zh-CN" sz="2800" dirty="0"/>
              <a:t>)</a:t>
            </a:r>
          </a:p>
          <a:p>
            <a:r>
              <a:rPr lang="en-US" altLang="zh-CN" sz="2800" dirty="0"/>
              <a:t>    print ('</a:t>
            </a:r>
            <a:r>
              <a:rPr lang="en-US" altLang="zh-CN" sz="2800" dirty="0" err="1"/>
              <a:t>kwargs</a:t>
            </a:r>
            <a:r>
              <a:rPr lang="en-US" altLang="zh-CN" sz="2800" dirty="0"/>
              <a:t> = ', </a:t>
            </a:r>
            <a:r>
              <a:rPr lang="en-US" altLang="zh-CN" sz="2800" dirty="0" err="1"/>
              <a:t>kwargs</a:t>
            </a:r>
            <a:r>
              <a:rPr lang="en-US" altLang="zh-CN" sz="2800" dirty="0"/>
              <a:t>)</a:t>
            </a:r>
          </a:p>
          <a:p>
            <a:endParaRPr lang="en-US" altLang="zh-CN" sz="2800" dirty="0"/>
          </a:p>
          <a:p>
            <a:r>
              <a:rPr lang="en-US" altLang="zh-CN" sz="2800" dirty="0"/>
              <a:t>foo(1,2,3,4)</a:t>
            </a:r>
          </a:p>
          <a:p>
            <a:r>
              <a:rPr lang="en-US" altLang="zh-CN" sz="2800" dirty="0"/>
              <a:t>foo(a=1,b=2,c=3)</a:t>
            </a:r>
          </a:p>
          <a:p>
            <a:r>
              <a:rPr lang="en-US" altLang="zh-CN" sz="2800" dirty="0"/>
              <a:t>foo(1,2,3,4, a=1,b=2,c=3)</a:t>
            </a:r>
          </a:p>
          <a:p>
            <a:r>
              <a:rPr lang="en-US" altLang="zh-CN" sz="2800" dirty="0"/>
              <a:t>foo('a', 1, None, a=1, b='2', c=3)</a:t>
            </a:r>
          </a:p>
          <a:p>
            <a:endParaRPr lang="en-US" altLang="zh-CN" sz="2800" dirty="0"/>
          </a:p>
        </p:txBody>
      </p:sp>
      <p:sp>
        <p:nvSpPr>
          <p:cNvPr id="8" name="线形标注 1 7"/>
          <p:cNvSpPr/>
          <p:nvPr/>
        </p:nvSpPr>
        <p:spPr>
          <a:xfrm>
            <a:off x="5019056" y="1989634"/>
            <a:ext cx="2808312" cy="885681"/>
          </a:xfrm>
          <a:prstGeom prst="borderCallout1">
            <a:avLst>
              <a:gd name="adj1" fmla="val 107679"/>
              <a:gd name="adj2" fmla="val -146"/>
              <a:gd name="adj3" fmla="val 188562"/>
              <a:gd name="adj4" fmla="val -9745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nl-NL" altLang="zh-CN" b="1" dirty="0">
                <a:solidFill>
                  <a:srgbClr val="FFFF00"/>
                </a:solidFill>
              </a:rPr>
              <a:t>args =  (1, 2, 3, 4) </a:t>
            </a:r>
          </a:p>
          <a:p>
            <a:r>
              <a:rPr lang="nl-NL" altLang="zh-CN" b="1" dirty="0">
                <a:solidFill>
                  <a:srgbClr val="FFFF00"/>
                </a:solidFill>
              </a:rPr>
              <a:t>kwargs =  {} </a:t>
            </a:r>
          </a:p>
        </p:txBody>
      </p:sp>
      <p:sp>
        <p:nvSpPr>
          <p:cNvPr id="9" name="线形标注 1 8"/>
          <p:cNvSpPr/>
          <p:nvPr/>
        </p:nvSpPr>
        <p:spPr>
          <a:xfrm>
            <a:off x="8187407" y="2565698"/>
            <a:ext cx="3816424" cy="885681"/>
          </a:xfrm>
          <a:prstGeom prst="borderCallout1">
            <a:avLst>
              <a:gd name="adj1" fmla="val 107679"/>
              <a:gd name="adj2" fmla="val -146"/>
              <a:gd name="adj3" fmla="val 175452"/>
              <a:gd name="adj4" fmla="val -13261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b="1" dirty="0" err="1">
                <a:solidFill>
                  <a:srgbClr val="FFFF00"/>
                </a:solidFill>
              </a:rPr>
              <a:t>args</a:t>
            </a:r>
            <a:r>
              <a:rPr lang="en-US" altLang="zh-CN" b="1" dirty="0">
                <a:solidFill>
                  <a:srgbClr val="FFFF00"/>
                </a:solidFill>
              </a:rPr>
              <a:t> =  () </a:t>
            </a:r>
          </a:p>
          <a:p>
            <a:r>
              <a:rPr lang="en-US" altLang="zh-CN" b="1" dirty="0" err="1">
                <a:solidFill>
                  <a:srgbClr val="FFFF00"/>
                </a:solidFill>
              </a:rPr>
              <a:t>kwargs</a:t>
            </a:r>
            <a:r>
              <a:rPr lang="en-US" altLang="zh-CN" b="1" dirty="0">
                <a:solidFill>
                  <a:srgbClr val="FFFF00"/>
                </a:solidFill>
              </a:rPr>
              <a:t> =  {'a': 1, 'c': 3, 'b': 2} </a:t>
            </a:r>
          </a:p>
        </p:txBody>
      </p:sp>
      <p:sp>
        <p:nvSpPr>
          <p:cNvPr id="10" name="线形标注 1 9"/>
          <p:cNvSpPr/>
          <p:nvPr/>
        </p:nvSpPr>
        <p:spPr>
          <a:xfrm>
            <a:off x="7611343" y="3805044"/>
            <a:ext cx="3816424" cy="885681"/>
          </a:xfrm>
          <a:prstGeom prst="borderCallout1">
            <a:avLst>
              <a:gd name="adj1" fmla="val 53600"/>
              <a:gd name="adj2" fmla="val -2808"/>
              <a:gd name="adj3" fmla="val 85320"/>
              <a:gd name="adj4" fmla="val -8849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b="1" dirty="0" err="1">
                <a:solidFill>
                  <a:srgbClr val="FFFF00"/>
                </a:solidFill>
              </a:rPr>
              <a:t>args</a:t>
            </a:r>
            <a:r>
              <a:rPr lang="en-US" altLang="zh-CN" b="1" dirty="0">
                <a:solidFill>
                  <a:srgbClr val="FFFF00"/>
                </a:solidFill>
              </a:rPr>
              <a:t> =  (1, 2, 3, 4) </a:t>
            </a:r>
          </a:p>
          <a:p>
            <a:r>
              <a:rPr lang="en-US" altLang="zh-CN" b="1" dirty="0" err="1">
                <a:solidFill>
                  <a:srgbClr val="FFFF00"/>
                </a:solidFill>
              </a:rPr>
              <a:t>kwargs</a:t>
            </a:r>
            <a:r>
              <a:rPr lang="en-US" altLang="zh-CN" b="1" dirty="0">
                <a:solidFill>
                  <a:srgbClr val="FFFF00"/>
                </a:solidFill>
              </a:rPr>
              <a:t> =  {'a': 1, 'c': 3, 'b': 2} </a:t>
            </a:r>
          </a:p>
        </p:txBody>
      </p:sp>
      <p:sp>
        <p:nvSpPr>
          <p:cNvPr id="11" name="线形标注 1 10"/>
          <p:cNvSpPr/>
          <p:nvPr/>
        </p:nvSpPr>
        <p:spPr>
          <a:xfrm>
            <a:off x="7397959" y="5244078"/>
            <a:ext cx="4533863" cy="885681"/>
          </a:xfrm>
          <a:prstGeom prst="borderCallout1">
            <a:avLst>
              <a:gd name="adj1" fmla="val 53600"/>
              <a:gd name="adj2" fmla="val -2808"/>
              <a:gd name="adj3" fmla="val -1535"/>
              <a:gd name="adj4" fmla="val -7252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b="1" dirty="0" err="1">
                <a:solidFill>
                  <a:srgbClr val="FFFF00"/>
                </a:solidFill>
              </a:rPr>
              <a:t>args</a:t>
            </a:r>
            <a:r>
              <a:rPr lang="en-US" altLang="zh-CN" b="1" dirty="0">
                <a:solidFill>
                  <a:srgbClr val="FFFF00"/>
                </a:solidFill>
              </a:rPr>
              <a:t> =  ('a', 1, None) </a:t>
            </a:r>
          </a:p>
          <a:p>
            <a:r>
              <a:rPr lang="en-US" altLang="zh-CN" b="1" dirty="0" err="1">
                <a:solidFill>
                  <a:srgbClr val="FFFF00"/>
                </a:solidFill>
              </a:rPr>
              <a:t>kwargs</a:t>
            </a:r>
            <a:r>
              <a:rPr lang="en-US" altLang="zh-CN" b="1" dirty="0">
                <a:solidFill>
                  <a:srgbClr val="FFFF00"/>
                </a:solidFill>
              </a:rPr>
              <a:t> =  {'a': 1, 'c': 3, 'b': '2'} </a:t>
            </a:r>
          </a:p>
        </p:txBody>
      </p:sp>
      <p:sp>
        <p:nvSpPr>
          <p:cNvPr id="12" name="矩形 11"/>
          <p:cNvSpPr/>
          <p:nvPr/>
        </p:nvSpPr>
        <p:spPr>
          <a:xfrm>
            <a:off x="482551" y="1178382"/>
            <a:ext cx="126669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练习：</a:t>
            </a:r>
          </a:p>
        </p:txBody>
      </p:sp>
    </p:spTree>
  </p:cSld>
  <p:clrMapOvr>
    <a:masterClrMapping/>
  </p:clrMapOvr>
  <p:transition spd="slow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66527" y="944939"/>
            <a:ext cx="8245415" cy="580394"/>
          </a:xfrm>
        </p:spPr>
        <p:txBody>
          <a:bodyPr vert="horz" wrap="square" lIns="91456" tIns="45728" rIns="91456" bIns="45728" numCol="1" anchor="b" anchorCtr="0" compatLnSpc="1"/>
          <a:lstStyle/>
          <a:p>
            <a:pPr marR="0" lvl="0" indent="0" algn="l" defTabSz="914400" eaLnBrk="0" fontAlgn="base" hangingPunct="0">
              <a:lnSpc>
                <a:spcPct val="90000"/>
              </a:lnSpc>
              <a:spcAft>
                <a:spcPct val="0"/>
              </a:spcAft>
              <a:buClrTx/>
              <a:buSzTx/>
              <a:defRPr/>
            </a:pPr>
            <a:r>
              <a:rPr lang="en-US" altLang="zh-CN" sz="2800" b="1" kern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800" b="1" kern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、函数式编程的高阶函数</a:t>
            </a:r>
            <a:endParaRPr lang="en-US" sz="2800" b="1" kern="0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53415" y="1948180"/>
            <a:ext cx="11089005" cy="2286000"/>
          </a:xfrm>
        </p:spPr>
        <p:txBody>
          <a:bodyPr vert="horz" wrap="square" lIns="91456" tIns="45728" rIns="91456" bIns="45728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charset="0"/>
              <a:buNone/>
              <a:defRPr/>
            </a:pPr>
            <a:r>
              <a:rPr kumimoji="0" 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函数式编程的一个重要特点：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charset="0"/>
              <a:buNone/>
              <a:defRPr/>
            </a:pPr>
            <a:r>
              <a:rPr kumimoji="0" 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   允许把函数本身作为参数传入另一个函数（对象），而且还可以返回一个函数。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0205369" y="189434"/>
            <a:ext cx="20180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5.4 函数</a:t>
            </a:r>
            <a:endParaRPr 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98576" y="4149874"/>
            <a:ext cx="1087320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 err="1">
                <a:solidFill>
                  <a:srgbClr val="0000FF"/>
                </a:solidFill>
                <a:latin typeface="Arial Black" panose="020B0A04020102020204" pitchFamily="34" charset="0"/>
              </a:rPr>
              <a:t>dict</a:t>
            </a:r>
            <a:r>
              <a:rPr lang="en-US" altLang="zh-CN" b="1" dirty="0">
                <a:solidFill>
                  <a:srgbClr val="0000FF"/>
                </a:solidFill>
                <a:latin typeface="Arial Black" panose="020B0A04020102020204" pitchFamily="34" charset="0"/>
              </a:rPr>
              <a:t>={'</a:t>
            </a:r>
            <a:r>
              <a:rPr lang="en-US" altLang="zh-CN" b="1" dirty="0" err="1">
                <a:solidFill>
                  <a:srgbClr val="0000FF"/>
                </a:solidFill>
                <a:latin typeface="Arial Black" panose="020B0A04020102020204" pitchFamily="34" charset="0"/>
              </a:rPr>
              <a:t>a':'apple','b':'grape','c':'orange','d':'banana</a:t>
            </a:r>
            <a:r>
              <a:rPr lang="en-US" altLang="zh-CN" b="1" dirty="0">
                <a:solidFill>
                  <a:srgbClr val="0000FF"/>
                </a:solidFill>
                <a:latin typeface="Arial Black" panose="020B0A04020102020204" pitchFamily="34" charset="0"/>
              </a:rPr>
              <a:t>'}</a:t>
            </a:r>
          </a:p>
          <a:p>
            <a:r>
              <a:rPr lang="en-US" altLang="zh-CN" dirty="0">
                <a:solidFill>
                  <a:srgbClr val="0000FF"/>
                </a:solidFill>
                <a:latin typeface="Arial Black" panose="020B0A04020102020204" pitchFamily="34" charset="0"/>
              </a:rPr>
              <a:t>print</a:t>
            </a:r>
            <a:r>
              <a:rPr lang="en-US" altLang="zh-CN" b="1" dirty="0">
                <a:solidFill>
                  <a:srgbClr val="0000FF"/>
                </a:solidFill>
                <a:latin typeface="Arial Black" panose="020B0A04020102020204" pitchFamily="34" charset="0"/>
              </a:rPr>
              <a:t> (sorted(</a:t>
            </a:r>
            <a:r>
              <a:rPr lang="en-US" altLang="zh-CN" b="1" dirty="0" err="1">
                <a:solidFill>
                  <a:srgbClr val="0000FF"/>
                </a:solidFill>
                <a:latin typeface="Arial Black" panose="020B0A04020102020204" pitchFamily="34" charset="0"/>
              </a:rPr>
              <a:t>dict.items</a:t>
            </a:r>
            <a:r>
              <a:rPr lang="en-US" altLang="zh-CN" b="1" dirty="0">
                <a:solidFill>
                  <a:srgbClr val="0000FF"/>
                </a:solidFill>
                <a:latin typeface="Arial Black" panose="020B0A04020102020204" pitchFamily="34" charset="0"/>
              </a:rPr>
              <a:t>(),key=lambda d:d[0]))  #</a:t>
            </a:r>
            <a:r>
              <a:rPr lang="zh-CN" altLang="en-US" b="1" dirty="0">
                <a:solidFill>
                  <a:srgbClr val="0000FF"/>
                </a:solidFill>
                <a:latin typeface="Arial Black" panose="020B0A04020102020204" pitchFamily="34" charset="0"/>
              </a:rPr>
              <a:t>按照</a:t>
            </a:r>
            <a:r>
              <a:rPr lang="en-US" altLang="zh-CN" b="1" dirty="0">
                <a:solidFill>
                  <a:srgbClr val="0000FF"/>
                </a:solidFill>
                <a:latin typeface="Arial Black" panose="020B0A04020102020204" pitchFamily="34" charset="0"/>
              </a:rPr>
              <a:t>key</a:t>
            </a:r>
            <a:r>
              <a:rPr lang="zh-CN" altLang="en-US" b="1" dirty="0">
                <a:solidFill>
                  <a:srgbClr val="0000FF"/>
                </a:solidFill>
                <a:latin typeface="Arial Black" panose="020B0A04020102020204" pitchFamily="34" charset="0"/>
              </a:rPr>
              <a:t>排序</a:t>
            </a:r>
            <a:endParaRPr lang="en-US" altLang="zh-CN" b="1" dirty="0">
              <a:solidFill>
                <a:srgbClr val="0000FF"/>
              </a:solidFill>
              <a:latin typeface="Arial Black" panose="020B0A04020102020204" pitchFamily="34" charset="0"/>
            </a:endParaRPr>
          </a:p>
          <a:p>
            <a:r>
              <a:rPr lang="en-US" altLang="zh-CN" dirty="0">
                <a:solidFill>
                  <a:srgbClr val="0000FF"/>
                </a:solidFill>
                <a:latin typeface="Arial Black" panose="020B0A04020102020204" pitchFamily="34" charset="0"/>
              </a:rPr>
              <a:t>print (sorted(</a:t>
            </a:r>
            <a:r>
              <a:rPr lang="en-US" altLang="zh-CN" dirty="0" err="1">
                <a:solidFill>
                  <a:srgbClr val="0000FF"/>
                </a:solidFill>
                <a:latin typeface="Arial Black" panose="020B0A04020102020204" pitchFamily="34" charset="0"/>
              </a:rPr>
              <a:t>dict.items</a:t>
            </a:r>
            <a:r>
              <a:rPr lang="en-US" altLang="zh-CN" dirty="0">
                <a:solidFill>
                  <a:srgbClr val="0000FF"/>
                </a:solidFill>
                <a:latin typeface="Arial Black" panose="020B0A04020102020204" pitchFamily="34" charset="0"/>
              </a:rPr>
              <a:t>(),key=lambda d:d[1]))  </a:t>
            </a:r>
            <a:r>
              <a:rPr lang="en-US" altLang="zh-CN" b="1" dirty="0">
                <a:solidFill>
                  <a:srgbClr val="0000FF"/>
                </a:solidFill>
                <a:latin typeface="Arial Black" panose="020B0A04020102020204" pitchFamily="34" charset="0"/>
              </a:rPr>
              <a:t>#</a:t>
            </a:r>
            <a:r>
              <a:rPr lang="zh-CN" altLang="en-US" b="1" dirty="0">
                <a:solidFill>
                  <a:srgbClr val="0000FF"/>
                </a:solidFill>
                <a:latin typeface="Arial Black" panose="020B0A04020102020204" pitchFamily="34" charset="0"/>
              </a:rPr>
              <a:t>按照</a:t>
            </a:r>
            <a:r>
              <a:rPr lang="en-US" altLang="zh-CN" b="1" dirty="0">
                <a:solidFill>
                  <a:srgbClr val="0000FF"/>
                </a:solidFill>
                <a:latin typeface="Arial Black" panose="020B0A04020102020204" pitchFamily="34" charset="0"/>
              </a:rPr>
              <a:t>value</a:t>
            </a:r>
            <a:r>
              <a:rPr lang="zh-CN" altLang="en-US" b="1" dirty="0">
                <a:solidFill>
                  <a:srgbClr val="0000FF"/>
                </a:solidFill>
                <a:latin typeface="Arial Black" panose="020B0A04020102020204" pitchFamily="34" charset="0"/>
              </a:rPr>
              <a:t>排序</a:t>
            </a:r>
            <a:endParaRPr lang="en-US" altLang="zh-CN" b="1" dirty="0">
              <a:solidFill>
                <a:srgbClr val="0000FF"/>
              </a:solidFill>
              <a:latin typeface="Arial Black" panose="020B0A04020102020204" pitchFamily="34" charset="0"/>
            </a:endParaRPr>
          </a:p>
          <a:p>
            <a:endParaRPr lang="zh-CN" altLang="en-US" dirty="0">
              <a:solidFill>
                <a:srgbClr val="0000FF"/>
              </a:solidFill>
              <a:latin typeface="Arial Black" panose="020B0A04020102020204" pitchFamily="34" charset="0"/>
            </a:endParaRPr>
          </a:p>
        </p:txBody>
      </p:sp>
    </p:spTree>
  </p:cSld>
  <p:clrMapOvr>
    <a:masterClrMapping/>
  </p:clrMapOvr>
  <p:transition spd="slow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266700" y="1664335"/>
            <a:ext cx="4593590" cy="580390"/>
          </a:xfrm>
        </p:spPr>
        <p:txBody>
          <a:bodyPr vert="horz" wrap="square" lIns="91456" tIns="45728" rIns="91456" bIns="45728" numCol="1" anchor="b" anchorCtr="0" compatLnSpc="1"/>
          <a:lstStyle/>
          <a:p>
            <a:pPr marR="0" lvl="0" indent="0" algn="l" defTabSz="914400" eaLnBrk="0" fontAlgn="base" hangingPunct="0">
              <a:lnSpc>
                <a:spcPct val="90000"/>
              </a:lnSpc>
              <a:spcAft>
                <a:spcPct val="0"/>
              </a:spcAft>
              <a:buClrTx/>
              <a:buSzTx/>
              <a:defRPr/>
            </a:pPr>
            <a:r>
              <a:rPr lang="zh-CN" sz="2800" b="1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800" b="1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sz="2800" b="1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2800" b="1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lambda</a:t>
            </a:r>
            <a:r>
              <a:rPr lang="zh-CN" altLang="en-US" sz="2800" b="1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0205369" y="189434"/>
            <a:ext cx="20180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5.4 函数</a:t>
            </a:r>
            <a:endParaRPr 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99153" y="2447992"/>
            <a:ext cx="10945216" cy="3784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lambda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函数，是一个匿名函数，创建语法：</a:t>
            </a:r>
          </a:p>
          <a:p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lambda </a:t>
            </a:r>
            <a:r>
              <a:rPr lang="en-US" altLang="zh-CN" dirty="0" err="1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parameters:expression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parameters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：可选，如果提供，通常是逗号分隔的变量表达式形式，即位置参数。</a:t>
            </a:r>
          </a:p>
          <a:p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expression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：不能包含分支或循环（但允许条件表达式），也不能包含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return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（或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yield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）函数。如果为元组，则应用圆括号将其包含起来。</a:t>
            </a:r>
          </a:p>
          <a:p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调用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lambda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函数，返回的结果是对表达式计算产生的结果。</a:t>
            </a:r>
          </a:p>
        </p:txBody>
      </p:sp>
      <p:sp>
        <p:nvSpPr>
          <p:cNvPr id="3" name="标题 1"/>
          <p:cNvSpPr>
            <a:spLocks noGrp="1"/>
          </p:cNvSpPr>
          <p:nvPr/>
        </p:nvSpPr>
        <p:spPr>
          <a:xfrm>
            <a:off x="266527" y="944939"/>
            <a:ext cx="8245415" cy="580394"/>
          </a:xfrm>
        </p:spPr>
        <p:txBody>
          <a:bodyPr vert="horz" wrap="square" lIns="91456" tIns="45728" rIns="91456" bIns="45728" numCol="1" anchor="b" anchorCtr="0" compatLnSpc="1"/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R="0" lvl="0" indent="0" algn="l" defTabSz="914400" eaLnBrk="0" fontAlgn="base" hangingPunct="0">
              <a:lnSpc>
                <a:spcPct val="90000"/>
              </a:lnSpc>
              <a:spcAft>
                <a:spcPct val="0"/>
              </a:spcAft>
              <a:buClrTx/>
              <a:buSzTx/>
              <a:defRPr/>
            </a:pPr>
            <a:r>
              <a:rPr lang="en-US" altLang="zh-CN" sz="2800" b="1" kern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800" b="1" kern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、函数式编程的高阶函数</a:t>
            </a:r>
            <a:endParaRPr lang="en-US" sz="2800" b="1" kern="0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/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0205369" y="189434"/>
            <a:ext cx="20180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5.4 函数</a:t>
            </a:r>
            <a:endParaRPr 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82551" y="1773610"/>
            <a:ext cx="8208912" cy="39693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根据参数是否为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决定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为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yes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还是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no</a:t>
            </a:r>
          </a:p>
          <a:p>
            <a:pPr>
              <a:lnSpc>
                <a:spcPct val="150000"/>
              </a:lnSpc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&gt;&gt;&gt; s = lambda x:"yes" if x==1 else "no"</a:t>
            </a:r>
          </a:p>
          <a:p>
            <a:pPr>
              <a:lnSpc>
                <a:spcPct val="150000"/>
              </a:lnSpc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&gt;&gt;&gt; s(0)</a:t>
            </a:r>
          </a:p>
          <a:p>
            <a:pPr>
              <a:lnSpc>
                <a:spcPct val="150000"/>
              </a:lnSpc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'no'</a:t>
            </a:r>
          </a:p>
          <a:p>
            <a:pPr>
              <a:lnSpc>
                <a:spcPct val="150000"/>
              </a:lnSpc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&gt;&gt;&gt; s(1)</a:t>
            </a:r>
          </a:p>
          <a:p>
            <a:pPr>
              <a:lnSpc>
                <a:spcPct val="150000"/>
              </a:lnSpc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'yes'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221630" y="3569658"/>
            <a:ext cx="7611343" cy="22713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lnSpc>
                <a:spcPts val="3400"/>
              </a:lnSpc>
            </a:pPr>
            <a:r>
              <a:rPr lang="zh-CN" altLang="en-US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0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例子中，将</a:t>
            </a:r>
            <a:r>
              <a:rPr lang="en-US" altLang="zh-CN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0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if...else</a:t>
            </a:r>
            <a:r>
              <a:rPr lang="zh-CN" altLang="en-US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0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语句缩减为单一的条件表达式，语法为：</a:t>
            </a:r>
          </a:p>
          <a:p>
            <a:pPr>
              <a:lnSpc>
                <a:spcPts val="3400"/>
              </a:lnSpc>
            </a:pPr>
            <a:r>
              <a:rPr lang="zh-CN" altLang="en-US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0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           </a:t>
            </a:r>
            <a:r>
              <a:rPr lang="en-US" altLang="zh-CN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0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expression1 if A else expression2</a:t>
            </a:r>
          </a:p>
          <a:p>
            <a:pPr>
              <a:lnSpc>
                <a:spcPts val="3400"/>
              </a:lnSpc>
            </a:pPr>
            <a:r>
              <a:rPr lang="zh-CN" altLang="en-US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0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如果</a:t>
            </a:r>
            <a:r>
              <a:rPr lang="en-US" altLang="zh-CN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0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</a:t>
            </a:r>
            <a:r>
              <a:rPr lang="zh-CN" altLang="en-US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0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为</a:t>
            </a:r>
            <a:r>
              <a:rPr lang="en-US" altLang="zh-CN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0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True</a:t>
            </a:r>
            <a:r>
              <a:rPr lang="zh-CN" altLang="en-US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0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，条件表达式的结果为</a:t>
            </a:r>
            <a:r>
              <a:rPr lang="en-US" altLang="zh-CN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0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expression1</a:t>
            </a:r>
            <a:r>
              <a:rPr lang="zh-CN" altLang="en-US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0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，否则为</a:t>
            </a:r>
            <a:r>
              <a:rPr lang="en-US" altLang="zh-CN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0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expression2</a:t>
            </a:r>
            <a:endParaRPr lang="en-US" altLang="zh-CN" b="1" i="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00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标题 1"/>
          <p:cNvSpPr>
            <a:spLocks noGrp="1"/>
          </p:cNvSpPr>
          <p:nvPr/>
        </p:nvSpPr>
        <p:spPr>
          <a:xfrm>
            <a:off x="4466590" y="915035"/>
            <a:ext cx="3265805" cy="580390"/>
          </a:xfrm>
        </p:spPr>
        <p:txBody>
          <a:bodyPr vert="horz" wrap="square" lIns="91456" tIns="45728" rIns="91456" bIns="45728" numCol="1" anchor="b" anchorCtr="0" compatLnSpc="1"/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R="0" lvl="0" indent="0" algn="l" defTabSz="914400" eaLnBrk="0" fontAlgn="base" hangingPunct="0">
              <a:lnSpc>
                <a:spcPct val="90000"/>
              </a:lnSpc>
              <a:spcAft>
                <a:spcPct val="0"/>
              </a:spcAft>
              <a:buClrTx/>
              <a:buSzTx/>
              <a:defRPr/>
            </a:pPr>
            <a:r>
              <a:rPr lang="en-US" altLang="zh-CN" sz="2800" b="1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lambda</a:t>
            </a:r>
            <a:r>
              <a:rPr lang="zh-CN" altLang="en-US" sz="2800" b="1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函数举例</a:t>
            </a:r>
            <a:endParaRPr lang="en-US" altLang="zh-CN" sz="2800" b="1" kern="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0205369" y="189434"/>
            <a:ext cx="20180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5.4 函数</a:t>
            </a:r>
            <a:endParaRPr 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772535" y="1773555"/>
            <a:ext cx="4653280" cy="1383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add = lambda x,y: x+y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add(3,5)  # 8</a:t>
            </a:r>
          </a:p>
        </p:txBody>
      </p:sp>
      <p:sp>
        <p:nvSpPr>
          <p:cNvPr id="4" name="标题 1"/>
          <p:cNvSpPr>
            <a:spLocks noGrp="1"/>
          </p:cNvSpPr>
          <p:nvPr/>
        </p:nvSpPr>
        <p:spPr>
          <a:xfrm>
            <a:off x="4466590" y="915035"/>
            <a:ext cx="3265805" cy="580390"/>
          </a:xfrm>
        </p:spPr>
        <p:txBody>
          <a:bodyPr vert="horz" wrap="square" lIns="91456" tIns="45728" rIns="91456" bIns="45728" numCol="1" anchor="b" anchorCtr="0" compatLnSpc="1"/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R="0" lvl="0" indent="0" algn="l" defTabSz="914400" eaLnBrk="0" fontAlgn="base" hangingPunct="0">
              <a:lnSpc>
                <a:spcPct val="90000"/>
              </a:lnSpc>
              <a:spcAft>
                <a:spcPct val="0"/>
              </a:spcAft>
              <a:buClrTx/>
              <a:buSzTx/>
              <a:defRPr/>
            </a:pPr>
            <a:r>
              <a:rPr lang="en-US" altLang="zh-CN" sz="2800" b="1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lambda</a:t>
            </a:r>
            <a:r>
              <a:rPr lang="zh-CN" altLang="en-US" sz="2800" b="1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函数举例</a:t>
            </a:r>
            <a:endParaRPr lang="en-US" altLang="zh-CN" sz="2800" b="1" kern="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2152015" y="3560445"/>
            <a:ext cx="6180455" cy="2275840"/>
            <a:chOff x="3389" y="5607"/>
            <a:chExt cx="9733" cy="3584"/>
          </a:xfrm>
        </p:grpSpPr>
        <p:sp>
          <p:nvSpPr>
            <p:cNvPr id="2" name="矩形 1"/>
            <p:cNvSpPr/>
            <p:nvPr/>
          </p:nvSpPr>
          <p:spPr>
            <a:xfrm>
              <a:off x="5300" y="6431"/>
              <a:ext cx="7822" cy="276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dirty="0">
                  <a:latin typeface="方正大黑简体" panose="03000509000000000000" pitchFamily="2" charset="-122"/>
                  <a:ea typeface="方正大黑简体" panose="03000509000000000000" pitchFamily="2" charset="-122"/>
                  <a:cs typeface="方正大黑简体" panose="03000509000000000000" pitchFamily="2" charset="-122"/>
                </a:rPr>
                <a:t>（</a:t>
              </a:r>
              <a:r>
                <a:rPr lang="en-US" altLang="zh-CN" dirty="0">
                  <a:latin typeface="方正大黑简体" panose="03000509000000000000" pitchFamily="2" charset="-122"/>
                  <a:ea typeface="方正大黑简体" panose="03000509000000000000" pitchFamily="2" charset="-122"/>
                  <a:cs typeface="方正大黑简体" panose="03000509000000000000" pitchFamily="2" charset="-122"/>
                </a:rPr>
                <a:t>1</a:t>
              </a:r>
              <a:r>
                <a:rPr lang="zh-CN" altLang="en-US" dirty="0">
                  <a:latin typeface="方正大黑简体" panose="03000509000000000000" pitchFamily="2" charset="-122"/>
                  <a:ea typeface="方正大黑简体" panose="03000509000000000000" pitchFamily="2" charset="-122"/>
                  <a:cs typeface="方正大黑简体" panose="03000509000000000000" pitchFamily="2" charset="-122"/>
                </a:rPr>
                <a:t>）</a:t>
              </a:r>
              <a:r>
                <a:rPr lang="zh-CN" altLang="en-US" b="1" dirty="0">
                  <a:solidFill>
                    <a:srgbClr val="FF0000"/>
                  </a:solidFill>
                  <a:latin typeface="方正大黑简体" panose="03000509000000000000" pitchFamily="2" charset="-122"/>
                  <a:ea typeface="方正大黑简体" panose="03000509000000000000" pitchFamily="2" charset="-122"/>
                  <a:cs typeface="方正大黑简体" panose="03000509000000000000" pitchFamily="2" charset="-122"/>
                </a:rPr>
                <a:t>lambda函数是匿名的</a:t>
              </a:r>
              <a:r>
                <a:rPr lang="zh-CN" altLang="en-US" dirty="0">
                  <a:latin typeface="方正大黑简体" panose="03000509000000000000" pitchFamily="2" charset="-122"/>
                  <a:ea typeface="方正大黑简体" panose="03000509000000000000" pitchFamily="2" charset="-122"/>
                  <a:cs typeface="方正大黑简体" panose="03000509000000000000" pitchFamily="2" charset="-122"/>
                </a:rPr>
                <a:t>。</a:t>
              </a:r>
              <a:endParaRPr lang="en-US" altLang="zh-CN" dirty="0">
                <a:latin typeface="方正大黑简体" panose="03000509000000000000" pitchFamily="2" charset="-122"/>
                <a:ea typeface="方正大黑简体" panose="03000509000000000000" pitchFamily="2" charset="-122"/>
                <a:cs typeface="方正大黑简体" panose="03000509000000000000" pitchFamily="2" charset="-122"/>
              </a:endParaRPr>
            </a:p>
            <a:p>
              <a:pPr algn="just">
                <a:lnSpc>
                  <a:spcPct val="150000"/>
                </a:lnSpc>
              </a:pPr>
              <a:r>
                <a:rPr lang="zh-CN" altLang="en-US" dirty="0">
                  <a:latin typeface="方正大黑简体" panose="03000509000000000000" pitchFamily="2" charset="-122"/>
                  <a:ea typeface="方正大黑简体" panose="03000509000000000000" pitchFamily="2" charset="-122"/>
                  <a:cs typeface="方正大黑简体" panose="03000509000000000000" pitchFamily="2" charset="-122"/>
                </a:rPr>
                <a:t>（</a:t>
              </a:r>
              <a:r>
                <a:rPr lang="en-US" altLang="zh-CN" dirty="0">
                  <a:latin typeface="方正大黑简体" panose="03000509000000000000" pitchFamily="2" charset="-122"/>
                  <a:ea typeface="方正大黑简体" panose="03000509000000000000" pitchFamily="2" charset="-122"/>
                  <a:cs typeface="方正大黑简体" panose="03000509000000000000" pitchFamily="2" charset="-122"/>
                </a:rPr>
                <a:t>2</a:t>
              </a:r>
              <a:r>
                <a:rPr lang="zh-CN" altLang="en-US" dirty="0">
                  <a:latin typeface="方正大黑简体" panose="03000509000000000000" pitchFamily="2" charset="-122"/>
                  <a:ea typeface="方正大黑简体" panose="03000509000000000000" pitchFamily="2" charset="-122"/>
                  <a:cs typeface="方正大黑简体" panose="03000509000000000000" pitchFamily="2" charset="-122"/>
                </a:rPr>
                <a:t>）</a:t>
              </a:r>
              <a:r>
                <a:rPr lang="zh-CN" altLang="en-US" b="1" dirty="0">
                  <a:solidFill>
                    <a:srgbClr val="FF0000"/>
                  </a:solidFill>
                  <a:latin typeface="方正大黑简体" panose="03000509000000000000" pitchFamily="2" charset="-122"/>
                  <a:ea typeface="方正大黑简体" panose="03000509000000000000" pitchFamily="2" charset="-122"/>
                  <a:cs typeface="方正大黑简体" panose="03000509000000000000" pitchFamily="2" charset="-122"/>
                </a:rPr>
                <a:t>lambda函数有输入和输出</a:t>
              </a:r>
              <a:endParaRPr lang="en-US" altLang="zh-CN" dirty="0">
                <a:latin typeface="方正大黑简体" panose="03000509000000000000" pitchFamily="2" charset="-122"/>
                <a:ea typeface="方正大黑简体" panose="03000509000000000000" pitchFamily="2" charset="-122"/>
                <a:cs typeface="方正大黑简体" panose="03000509000000000000" pitchFamily="2" charset="-122"/>
              </a:endParaRPr>
            </a:p>
            <a:p>
              <a:pPr algn="just">
                <a:lnSpc>
                  <a:spcPct val="150000"/>
                </a:lnSpc>
              </a:pPr>
              <a:r>
                <a:rPr lang="zh-CN" altLang="en-US" dirty="0">
                  <a:latin typeface="方正大黑简体" panose="03000509000000000000" pitchFamily="2" charset="-122"/>
                  <a:ea typeface="方正大黑简体" panose="03000509000000000000" pitchFamily="2" charset="-122"/>
                  <a:cs typeface="方正大黑简体" panose="03000509000000000000" pitchFamily="2" charset="-122"/>
                </a:rPr>
                <a:t>（</a:t>
              </a:r>
              <a:r>
                <a:rPr lang="en-US" altLang="zh-CN" dirty="0">
                  <a:latin typeface="方正大黑简体" panose="03000509000000000000" pitchFamily="2" charset="-122"/>
                  <a:ea typeface="方正大黑简体" panose="03000509000000000000" pitchFamily="2" charset="-122"/>
                  <a:cs typeface="方正大黑简体" panose="03000509000000000000" pitchFamily="2" charset="-122"/>
                </a:rPr>
                <a:t>3</a:t>
              </a:r>
              <a:r>
                <a:rPr lang="zh-CN" altLang="en-US" dirty="0">
                  <a:latin typeface="方正大黑简体" panose="03000509000000000000" pitchFamily="2" charset="-122"/>
                  <a:ea typeface="方正大黑简体" panose="03000509000000000000" pitchFamily="2" charset="-122"/>
                  <a:cs typeface="方正大黑简体" panose="03000509000000000000" pitchFamily="2" charset="-122"/>
                </a:rPr>
                <a:t>）</a:t>
              </a:r>
              <a:r>
                <a:rPr lang="zh-CN" altLang="en-US" b="1" dirty="0">
                  <a:solidFill>
                    <a:srgbClr val="FF0000"/>
                  </a:solidFill>
                  <a:latin typeface="方正大黑简体" panose="03000509000000000000" pitchFamily="2" charset="-122"/>
                  <a:ea typeface="方正大黑简体" panose="03000509000000000000" pitchFamily="2" charset="-122"/>
                  <a:cs typeface="方正大黑简体" panose="03000509000000000000" pitchFamily="2" charset="-122"/>
                </a:rPr>
                <a:t>lambda函数一般功能简单</a:t>
              </a:r>
              <a:endParaRPr lang="zh-CN" altLang="en-US" dirty="0">
                <a:latin typeface="方正大黑简体" panose="03000509000000000000" pitchFamily="2" charset="-122"/>
                <a:ea typeface="方正大黑简体" panose="03000509000000000000" pitchFamily="2" charset="-122"/>
                <a:cs typeface="方正大黑简体" panose="03000509000000000000" pitchFamily="2" charset="-122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3389" y="5607"/>
              <a:ext cx="5755" cy="82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800" b="1" dirty="0">
                  <a:ln w="0"/>
                  <a:solidFill>
                    <a:srgbClr val="FF00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lambda</a:t>
              </a:r>
              <a:r>
                <a:rPr lang="zh-CN" altLang="en-US" sz="2800" b="1" dirty="0">
                  <a:ln w="0"/>
                  <a:solidFill>
                    <a:srgbClr val="FF00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函数三个特性</a:t>
              </a:r>
              <a:endParaRPr lang="zh-CN" altLang="en-US" sz="2800" dirty="0"/>
            </a:p>
          </p:txBody>
        </p:sp>
      </p:grpSp>
    </p:spTree>
  </p:cSld>
  <p:clrMapOvr>
    <a:masterClrMapping/>
  </p:clrMapOvr>
  <p:transition spd="slow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266700" y="1664335"/>
            <a:ext cx="4593590" cy="580390"/>
          </a:xfrm>
        </p:spPr>
        <p:txBody>
          <a:bodyPr vert="horz" wrap="square" lIns="91456" tIns="45728" rIns="91456" bIns="45728" numCol="1" anchor="b" anchorCtr="0" compatLnSpc="1"/>
          <a:lstStyle/>
          <a:p>
            <a:pPr marR="0" lvl="0" indent="0" algn="l" defTabSz="914400" eaLnBrk="0" fontAlgn="base" hangingPunct="0">
              <a:lnSpc>
                <a:spcPct val="90000"/>
              </a:lnSpc>
              <a:spcAft>
                <a:spcPct val="0"/>
              </a:spcAft>
              <a:buClrTx/>
              <a:buSzTx/>
              <a:defRPr/>
            </a:pPr>
            <a:r>
              <a:rPr lang="zh-CN" sz="2800" b="1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800" b="1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sz="2800" b="1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2800" b="1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filter</a:t>
            </a:r>
            <a:r>
              <a:rPr lang="zh-CN" altLang="en-US" sz="2800" b="1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0205369" y="189434"/>
            <a:ext cx="20180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5.4 函数</a:t>
            </a:r>
            <a:endParaRPr 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99153" y="2308927"/>
            <a:ext cx="10945216" cy="39693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filter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函数是过滤器，作用于可迭代的数据序列，根据第一个参数，筛选出符合条件的元素。</a:t>
            </a:r>
          </a:p>
          <a:p>
            <a:pPr>
              <a:lnSpc>
                <a:spcPct val="150000"/>
              </a:lnSpc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filter(function,iterable)</a:t>
            </a:r>
          </a:p>
          <a:p>
            <a:pPr>
              <a:lnSpc>
                <a:spcPct val="150000"/>
              </a:lnSpc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# function——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判别函数</a:t>
            </a:r>
          </a:p>
          <a:p>
            <a:pPr>
              <a:lnSpc>
                <a:spcPct val="150000"/>
              </a:lnSpc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# iterable——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可迭代对象</a:t>
            </a:r>
          </a:p>
          <a:p>
            <a:pPr>
              <a:lnSpc>
                <a:spcPct val="150000"/>
              </a:lnSpc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#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返回值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——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返回一个迭代器对象</a:t>
            </a:r>
          </a:p>
        </p:txBody>
      </p:sp>
      <p:sp>
        <p:nvSpPr>
          <p:cNvPr id="3" name="标题 1"/>
          <p:cNvSpPr>
            <a:spLocks noGrp="1"/>
          </p:cNvSpPr>
          <p:nvPr/>
        </p:nvSpPr>
        <p:spPr>
          <a:xfrm>
            <a:off x="266527" y="944939"/>
            <a:ext cx="8245415" cy="580394"/>
          </a:xfrm>
        </p:spPr>
        <p:txBody>
          <a:bodyPr vert="horz" wrap="square" lIns="91456" tIns="45728" rIns="91456" bIns="45728" numCol="1" anchor="b" anchorCtr="0" compatLnSpc="1"/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R="0" lvl="0" indent="0" algn="l" defTabSz="914400" eaLnBrk="0" fontAlgn="base" hangingPunct="0">
              <a:lnSpc>
                <a:spcPct val="90000"/>
              </a:lnSpc>
              <a:spcAft>
                <a:spcPct val="0"/>
              </a:spcAft>
              <a:buClrTx/>
              <a:buSzTx/>
              <a:defRPr/>
            </a:pPr>
            <a:r>
              <a:rPr lang="en-US" altLang="zh-CN" sz="2800" b="1" kern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800" b="1" kern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、函数式编程的高阶函数</a:t>
            </a:r>
            <a:endParaRPr lang="en-US" sz="2800" b="1" kern="0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/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0205369" y="189434"/>
            <a:ext cx="20180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5.4 函数</a:t>
            </a:r>
            <a:endParaRPr 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86715" y="1591945"/>
            <a:ext cx="5349240" cy="457009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algn="l">
              <a:buClrTx/>
              <a:buSzTx/>
              <a:buNone/>
            </a:pPr>
            <a:r>
              <a:rPr lang="en-US" altLang="zh-CN" sz="2400" dirty="0">
                <a:sym typeface="+mn-ea"/>
              </a:rPr>
              <a:t>def findvowel(val):</a:t>
            </a:r>
          </a:p>
          <a:p>
            <a:pPr marL="0" lvl="0" algn="l">
              <a:buClrTx/>
              <a:buSzTx/>
              <a:buNone/>
            </a:pPr>
            <a:r>
              <a:rPr lang="en-US" altLang="zh-CN" sz="2400" dirty="0">
                <a:sym typeface="+mn-ea"/>
              </a:rPr>
              <a:t>    vowels = ['a','e','i','o','u']</a:t>
            </a:r>
          </a:p>
          <a:p>
            <a:pPr marL="0" lvl="0" algn="l">
              <a:buClrTx/>
              <a:buSzTx/>
              <a:buNone/>
            </a:pPr>
            <a:r>
              <a:rPr lang="en-US" altLang="zh-CN" sz="2400" dirty="0">
                <a:sym typeface="+mn-ea"/>
              </a:rPr>
              <a:t>    if val in vowels:</a:t>
            </a:r>
          </a:p>
          <a:p>
            <a:pPr marL="0" lvl="0" algn="l">
              <a:buClrTx/>
              <a:buSzTx/>
              <a:buNone/>
            </a:pPr>
            <a:r>
              <a:rPr lang="en-US" altLang="zh-CN" sz="2400" dirty="0">
                <a:sym typeface="+mn-ea"/>
              </a:rPr>
              <a:t>        return True</a:t>
            </a:r>
          </a:p>
          <a:p>
            <a:pPr marL="0" lvl="0" algn="l">
              <a:buClrTx/>
              <a:buSzTx/>
              <a:buNone/>
            </a:pPr>
            <a:r>
              <a:rPr lang="en-US" altLang="zh-CN" sz="2400" dirty="0">
                <a:sym typeface="+mn-ea"/>
              </a:rPr>
              <a:t>    else:</a:t>
            </a:r>
          </a:p>
          <a:p>
            <a:pPr marL="0" lvl="0" algn="l">
              <a:buClrTx/>
              <a:buSzTx/>
              <a:buNone/>
            </a:pPr>
            <a:r>
              <a:rPr lang="en-US" altLang="zh-CN" sz="2400" dirty="0">
                <a:sym typeface="+mn-ea"/>
              </a:rPr>
              <a:t>        return False</a:t>
            </a:r>
          </a:p>
          <a:p>
            <a:pPr marL="0" lvl="0" algn="l">
              <a:buClrTx/>
              <a:buSzTx/>
              <a:buNone/>
            </a:pPr>
            <a:endParaRPr lang="en-US" altLang="zh-CN" sz="2400" dirty="0">
              <a:sym typeface="+mn-ea"/>
            </a:endParaRPr>
          </a:p>
          <a:p>
            <a:pPr marL="0" lvl="0" algn="l">
              <a:buClrTx/>
              <a:buSzTx/>
              <a:buNone/>
            </a:pPr>
            <a:r>
              <a:rPr lang="en-US" altLang="zh-CN" sz="2400" dirty="0">
                <a:sym typeface="+mn-ea"/>
              </a:rPr>
              <a:t>testchars = ['a','b','c','m','n','p','o','e','x']</a:t>
            </a:r>
          </a:p>
          <a:p>
            <a:pPr marL="0" lvl="0" algn="l">
              <a:buClrTx/>
              <a:buSzTx/>
              <a:buNone/>
            </a:pPr>
            <a:r>
              <a:rPr lang="en-US" altLang="zh-CN" sz="2400" dirty="0">
                <a:sym typeface="+mn-ea"/>
              </a:rPr>
              <a:t>results = filter(findvowel,testchars)</a:t>
            </a:r>
          </a:p>
          <a:p>
            <a:pPr marL="0" lvl="0" algn="l">
              <a:buClrTx/>
              <a:buSzTx/>
              <a:buNone/>
            </a:pPr>
            <a:r>
              <a:rPr lang="en-US" altLang="zh-CN" sz="2400" dirty="0">
                <a:sym typeface="+mn-ea"/>
              </a:rPr>
              <a:t>results</a:t>
            </a:r>
          </a:p>
        </p:txBody>
      </p:sp>
      <p:sp>
        <p:nvSpPr>
          <p:cNvPr id="4" name="标题 1"/>
          <p:cNvSpPr>
            <a:spLocks noGrp="1"/>
          </p:cNvSpPr>
          <p:nvPr/>
        </p:nvSpPr>
        <p:spPr>
          <a:xfrm>
            <a:off x="4466590" y="915035"/>
            <a:ext cx="3265805" cy="580390"/>
          </a:xfrm>
        </p:spPr>
        <p:txBody>
          <a:bodyPr vert="horz" wrap="square" lIns="91456" tIns="45728" rIns="91456" bIns="45728" numCol="1" anchor="b" anchorCtr="0" compatLnSpc="1"/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R="0" lvl="0" indent="0" algn="l" defTabSz="914400" eaLnBrk="0" fontAlgn="base" hangingPunct="0">
              <a:lnSpc>
                <a:spcPct val="90000"/>
              </a:lnSpc>
              <a:spcAft>
                <a:spcPct val="0"/>
              </a:spcAft>
              <a:buClrTx/>
              <a:buSzTx/>
              <a:defRPr/>
            </a:pPr>
            <a:r>
              <a:rPr lang="en-US" altLang="zh-CN" sz="2800" b="1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filter</a:t>
            </a:r>
            <a:r>
              <a:rPr lang="zh-CN" altLang="en-US" sz="2800" b="1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函数举例</a:t>
            </a:r>
            <a:endParaRPr lang="en-US" altLang="zh-CN" sz="2800" b="1" kern="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453515" y="5553710"/>
            <a:ext cx="3915410" cy="49149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rtlCol="0" anchor="t">
            <a:spAutoFit/>
          </a:bodyPr>
          <a:lstStyle/>
          <a:p>
            <a: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2000" i="1">
                <a:solidFill>
                  <a:srgbClr val="FF0000"/>
                </a:solidFill>
                <a:latin typeface="Arial Black" panose="020B0A04020102020204" pitchFamily="34" charset="0"/>
                <a:cs typeface="Arial Black" panose="020B0A04020102020204" pitchFamily="34" charset="0"/>
                <a:sym typeface="+mn-ea"/>
              </a:rPr>
              <a:t># &lt;filter at 0x594b072e10&gt;</a:t>
            </a:r>
          </a:p>
        </p:txBody>
      </p:sp>
      <p:sp>
        <p:nvSpPr>
          <p:cNvPr id="8" name="圆角矩形标注 7"/>
          <p:cNvSpPr/>
          <p:nvPr/>
        </p:nvSpPr>
        <p:spPr>
          <a:xfrm>
            <a:off x="6990715" y="4633595"/>
            <a:ext cx="4854575" cy="748665"/>
          </a:xfrm>
          <a:prstGeom prst="wedgeRoundRectCallout">
            <a:avLst>
              <a:gd name="adj1" fmla="val -82536"/>
              <a:gd name="adj2" fmla="val 132103"/>
              <a:gd name="adj3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umimoji="0"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dirty="0">
                <a:solidFill>
                  <a:srgbClr val="FFFF00"/>
                </a:solidFill>
                <a:latin typeface="方正大黑简体" panose="03000509000000000000" pitchFamily="2" charset="-122"/>
                <a:ea typeface="方正大黑简体" panose="03000509000000000000" pitchFamily="2" charset="-122"/>
              </a:rPr>
              <a:t>list(results) 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8972550" y="4722495"/>
            <a:ext cx="2245995" cy="57086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rtlCol="0" anchor="t">
            <a:spAutoFit/>
          </a:bodyPr>
          <a:lstStyle/>
          <a:p>
            <a: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i="1">
                <a:solidFill>
                  <a:srgbClr val="FF0000"/>
                </a:solidFill>
                <a:latin typeface="Arial Black" panose="020B0A04020102020204" pitchFamily="34" charset="0"/>
                <a:cs typeface="Arial Black" panose="020B0A04020102020204" pitchFamily="34" charset="0"/>
                <a:sym typeface="+mn-ea"/>
              </a:rPr>
              <a:t># ['a', 'o', 'e']</a:t>
            </a:r>
          </a:p>
        </p:txBody>
      </p:sp>
      <p:sp>
        <p:nvSpPr>
          <p:cNvPr id="2" name="矩形 1"/>
          <p:cNvSpPr/>
          <p:nvPr/>
        </p:nvSpPr>
        <p:spPr>
          <a:xfrm>
            <a:off x="6128016" y="2965767"/>
            <a:ext cx="5314275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/>
              <a:t>返回一个可迭代的</a:t>
            </a:r>
            <a:r>
              <a:rPr lang="en-US" altLang="zh-CN" sz="2000" dirty="0"/>
              <a:t>filter</a:t>
            </a:r>
            <a:r>
              <a:rPr lang="zh-CN" altLang="en-US" sz="2000" dirty="0"/>
              <a:t>对象，</a:t>
            </a:r>
            <a:endParaRPr lang="en-US" altLang="zh-CN" sz="2000" dirty="0"/>
          </a:p>
          <a:p>
            <a:r>
              <a:rPr lang="zh-CN" altLang="en-US" sz="2000" dirty="0"/>
              <a:t>可以使用</a:t>
            </a:r>
            <a:r>
              <a:rPr lang="en-US" altLang="zh-CN" sz="2000" dirty="0"/>
              <a:t>list()</a:t>
            </a:r>
            <a:r>
              <a:rPr lang="zh-CN" altLang="en-US" sz="2000" dirty="0"/>
              <a:t>函数将其转化为列表，</a:t>
            </a:r>
            <a:endParaRPr lang="en-US" altLang="zh-CN" sz="2000" dirty="0"/>
          </a:p>
          <a:p>
            <a:r>
              <a:rPr lang="zh-CN" altLang="en-US" sz="2000" dirty="0"/>
              <a:t>这个列表包含过滤器对象中返回的所有的项。</a:t>
            </a:r>
          </a:p>
        </p:txBody>
      </p:sp>
    </p:spTree>
  </p:cSld>
  <p:clrMapOvr>
    <a:masterClrMapping/>
  </p:clrMapOvr>
  <p:transition spd="slow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8" grpId="0" bldLvl="0" animBg="1"/>
      <p:bldP spid="9" grpId="0" bldLvl="0" animBg="1"/>
      <p:bldP spid="2" grpId="0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0205369" y="189434"/>
            <a:ext cx="20180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5.4 函数</a:t>
            </a:r>
            <a:endParaRPr 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86715" y="1591945"/>
            <a:ext cx="5349240" cy="457009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algn="l">
              <a:buClrTx/>
              <a:buSzTx/>
              <a:buNone/>
            </a:pPr>
            <a:r>
              <a:rPr lang="en-US" altLang="zh-CN" sz="2400" dirty="0">
                <a:sym typeface="+mn-ea"/>
              </a:rPr>
              <a:t>def findvowel(val):</a:t>
            </a:r>
          </a:p>
          <a:p>
            <a:pPr marL="0" lvl="0" algn="l">
              <a:buClrTx/>
              <a:buSzTx/>
              <a:buNone/>
            </a:pPr>
            <a:r>
              <a:rPr lang="en-US" altLang="zh-CN" sz="2400" dirty="0">
                <a:sym typeface="+mn-ea"/>
              </a:rPr>
              <a:t>    vowels = ['a','e','i','o','u']</a:t>
            </a:r>
          </a:p>
          <a:p>
            <a:pPr marL="0" lvl="0" algn="l">
              <a:buClrTx/>
              <a:buSzTx/>
              <a:buNone/>
            </a:pPr>
            <a:r>
              <a:rPr lang="en-US" altLang="zh-CN" sz="2400" dirty="0">
                <a:sym typeface="+mn-ea"/>
              </a:rPr>
              <a:t>    if val in vowels:</a:t>
            </a:r>
          </a:p>
          <a:p>
            <a:pPr marL="0" lvl="0" algn="l">
              <a:buClrTx/>
              <a:buSzTx/>
              <a:buNone/>
            </a:pPr>
            <a:r>
              <a:rPr lang="en-US" altLang="zh-CN" sz="2400" dirty="0">
                <a:sym typeface="+mn-ea"/>
              </a:rPr>
              <a:t>        return True</a:t>
            </a:r>
          </a:p>
          <a:p>
            <a:pPr marL="0" lvl="0" algn="l">
              <a:buClrTx/>
              <a:buSzTx/>
              <a:buNone/>
            </a:pPr>
            <a:r>
              <a:rPr lang="en-US" altLang="zh-CN" sz="2400" dirty="0">
                <a:sym typeface="+mn-ea"/>
              </a:rPr>
              <a:t>    else:</a:t>
            </a:r>
          </a:p>
          <a:p>
            <a:pPr marL="0" lvl="0" algn="l">
              <a:buClrTx/>
              <a:buSzTx/>
              <a:buNone/>
            </a:pPr>
            <a:r>
              <a:rPr lang="en-US" altLang="zh-CN" sz="2400" dirty="0">
                <a:sym typeface="+mn-ea"/>
              </a:rPr>
              <a:t>        return False</a:t>
            </a:r>
          </a:p>
          <a:p>
            <a:pPr marL="0" lvl="0" algn="l">
              <a:buClrTx/>
              <a:buSzTx/>
              <a:buNone/>
            </a:pPr>
            <a:endParaRPr lang="en-US" altLang="zh-CN" sz="2400" dirty="0">
              <a:sym typeface="+mn-ea"/>
            </a:endParaRPr>
          </a:p>
          <a:p>
            <a:pPr marL="0" lvl="0" algn="l">
              <a:buClrTx/>
              <a:buSzTx/>
              <a:buNone/>
            </a:pPr>
            <a:r>
              <a:rPr lang="en-US" altLang="zh-CN" sz="2400" dirty="0">
                <a:sym typeface="+mn-ea"/>
              </a:rPr>
              <a:t>testchars = ['a','b','c','m','n','p','o','e','x']</a:t>
            </a:r>
          </a:p>
          <a:p>
            <a:pPr marL="0" lvl="0" algn="l">
              <a:buClrTx/>
              <a:buSzTx/>
              <a:buNone/>
            </a:pPr>
            <a:r>
              <a:rPr lang="en-US" altLang="zh-CN" sz="2400" dirty="0">
                <a:sym typeface="+mn-ea"/>
              </a:rPr>
              <a:t>results = filter(findvowel,testchars)</a:t>
            </a:r>
          </a:p>
          <a:p>
            <a:pPr marL="0" lvl="0" algn="l">
              <a:buClrTx/>
              <a:buSzTx/>
              <a:buNone/>
            </a:pPr>
            <a:r>
              <a:rPr lang="en-US" altLang="zh-CN" sz="2400" dirty="0">
                <a:sym typeface="+mn-ea"/>
              </a:rPr>
              <a:t>results</a:t>
            </a:r>
          </a:p>
        </p:txBody>
      </p:sp>
      <p:sp>
        <p:nvSpPr>
          <p:cNvPr id="4" name="标题 1"/>
          <p:cNvSpPr>
            <a:spLocks noGrp="1"/>
          </p:cNvSpPr>
          <p:nvPr/>
        </p:nvSpPr>
        <p:spPr>
          <a:xfrm>
            <a:off x="4466590" y="915035"/>
            <a:ext cx="3265805" cy="580390"/>
          </a:xfrm>
        </p:spPr>
        <p:txBody>
          <a:bodyPr vert="horz" wrap="square" lIns="91456" tIns="45728" rIns="91456" bIns="45728" numCol="1" anchor="b" anchorCtr="0" compatLnSpc="1"/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R="0" lvl="0" indent="0" algn="l" defTabSz="914400" eaLnBrk="0" fontAlgn="base" hangingPunct="0">
              <a:lnSpc>
                <a:spcPct val="90000"/>
              </a:lnSpc>
              <a:spcAft>
                <a:spcPct val="0"/>
              </a:spcAft>
              <a:buClrTx/>
              <a:buSzTx/>
              <a:defRPr/>
            </a:pPr>
            <a:r>
              <a:rPr lang="en-US" altLang="zh-CN" sz="2800" b="1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filter</a:t>
            </a:r>
            <a:r>
              <a:rPr lang="zh-CN" altLang="en-US" sz="2800" b="1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函数举例</a:t>
            </a:r>
            <a:endParaRPr lang="en-US" altLang="zh-CN" sz="2800" b="1" kern="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453515" y="5553710"/>
            <a:ext cx="3915410" cy="49149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rtlCol="0" anchor="t">
            <a:spAutoFit/>
          </a:bodyPr>
          <a:lstStyle/>
          <a:p>
            <a: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2000" i="1">
                <a:solidFill>
                  <a:srgbClr val="FF0000"/>
                </a:solidFill>
                <a:latin typeface="Arial Black" panose="020B0A04020102020204" pitchFamily="34" charset="0"/>
                <a:cs typeface="Arial Black" panose="020B0A04020102020204" pitchFamily="34" charset="0"/>
                <a:sym typeface="+mn-ea"/>
              </a:rPr>
              <a:t># &lt;filter at 0x594b072e10&gt;</a:t>
            </a:r>
          </a:p>
        </p:txBody>
      </p:sp>
      <p:sp>
        <p:nvSpPr>
          <p:cNvPr id="8" name="圆角矩形标注 7"/>
          <p:cNvSpPr/>
          <p:nvPr/>
        </p:nvSpPr>
        <p:spPr>
          <a:xfrm>
            <a:off x="6851650" y="5293360"/>
            <a:ext cx="4854575" cy="748665"/>
          </a:xfrm>
          <a:prstGeom prst="wedgeRoundRectCallout">
            <a:avLst>
              <a:gd name="adj1" fmla="val -77665"/>
              <a:gd name="adj2" fmla="val 26166"/>
              <a:gd name="adj3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umimoji="0"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dirty="0">
                <a:solidFill>
                  <a:srgbClr val="FFFF00"/>
                </a:solidFill>
                <a:latin typeface="方正大黑简体" panose="03000509000000000000" pitchFamily="2" charset="-122"/>
                <a:ea typeface="方正大黑简体" panose="03000509000000000000" pitchFamily="2" charset="-122"/>
              </a:rPr>
              <a:t>list(results) 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8994140" y="5382260"/>
            <a:ext cx="2245995" cy="57086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rtlCol="0" anchor="t">
            <a:spAutoFit/>
          </a:bodyPr>
          <a:lstStyle/>
          <a:p>
            <a: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i="1">
                <a:solidFill>
                  <a:srgbClr val="FF0000"/>
                </a:solidFill>
                <a:latin typeface="Arial Black" panose="020B0A04020102020204" pitchFamily="34" charset="0"/>
                <a:cs typeface="Arial Black" panose="020B0A04020102020204" pitchFamily="34" charset="0"/>
                <a:sym typeface="+mn-ea"/>
              </a:rPr>
              <a:t># ['a', 'o', 'e']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6510655" y="1591945"/>
            <a:ext cx="4906645" cy="18789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algn="l">
              <a:buClrTx/>
              <a:buSzTx/>
              <a:buNone/>
            </a:pPr>
            <a:r>
              <a:rPr lang="en-US" altLang="zh-CN" sz="2400" dirty="0">
                <a:sym typeface="+mn-ea"/>
              </a:rPr>
              <a:t>aList = [2,8,9,22,17,24,8,12,7]</a:t>
            </a:r>
          </a:p>
          <a:p>
            <a:pPr marL="0" lvl="0" algn="l">
              <a:buClrTx/>
              <a:buSzTx/>
              <a:buNone/>
            </a:pPr>
            <a:r>
              <a:rPr lang="en-US" altLang="zh-CN" sz="2400" dirty="0">
                <a:sym typeface="+mn-ea"/>
              </a:rPr>
              <a:t>data = filter(lambda x:x%3==0,aList)</a:t>
            </a:r>
          </a:p>
          <a:p>
            <a:pPr marL="0" lvl="0" algn="l">
              <a:buClrTx/>
              <a:buSzTx/>
              <a:buNone/>
            </a:pPr>
            <a:r>
              <a:rPr lang="en-US" altLang="zh-CN" sz="2400" dirty="0">
                <a:sym typeface="+mn-ea"/>
              </a:rPr>
              <a:t>newlist = list(data)</a:t>
            </a:r>
          </a:p>
          <a:p>
            <a:pPr marL="0" lvl="0" algn="l">
              <a:buClrTx/>
              <a:buSzTx/>
              <a:buNone/>
            </a:pPr>
            <a:r>
              <a:rPr lang="en-US" altLang="zh-CN" sz="2400" dirty="0">
                <a:sym typeface="+mn-ea"/>
              </a:rPr>
              <a:t>print(newlist)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8542655" y="2900045"/>
            <a:ext cx="2167581" cy="53347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rtlCol="0" anchor="t">
            <a:spAutoFit/>
          </a:bodyPr>
          <a:lstStyle/>
          <a:p>
            <a: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i="1" dirty="0">
                <a:solidFill>
                  <a:srgbClr val="FF0000"/>
                </a:solidFill>
                <a:latin typeface="Arial Black" panose="020B0A04020102020204" pitchFamily="34" charset="0"/>
                <a:cs typeface="Arial Black" panose="020B0A04020102020204" pitchFamily="34" charset="0"/>
                <a:sym typeface="+mn-ea"/>
              </a:rPr>
              <a:t># [9, 24, 12]</a:t>
            </a:r>
          </a:p>
        </p:txBody>
      </p:sp>
    </p:spTree>
  </p:cSld>
  <p:clrMapOvr>
    <a:masterClrMapping/>
  </p:clrMapOvr>
  <p:transition spd="slow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266700" y="1664335"/>
            <a:ext cx="4593590" cy="580390"/>
          </a:xfrm>
        </p:spPr>
        <p:txBody>
          <a:bodyPr vert="horz" wrap="square" lIns="91456" tIns="45728" rIns="91456" bIns="45728" numCol="1" anchor="b" anchorCtr="0" compatLnSpc="1"/>
          <a:lstStyle/>
          <a:p>
            <a:pPr marR="0" lvl="0" indent="0" algn="l" defTabSz="914400" eaLnBrk="0" fontAlgn="base" hangingPunct="0">
              <a:lnSpc>
                <a:spcPct val="90000"/>
              </a:lnSpc>
              <a:spcAft>
                <a:spcPct val="0"/>
              </a:spcAft>
              <a:buClrTx/>
              <a:buSzTx/>
              <a:defRPr/>
            </a:pPr>
            <a:r>
              <a:rPr lang="zh-CN" sz="2800" b="1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800" b="1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sz="2800" b="1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2800" b="1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map</a:t>
            </a:r>
            <a:r>
              <a:rPr lang="zh-CN" altLang="en-US" sz="2800" b="1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0205369" y="189434"/>
            <a:ext cx="20180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5.4 函数</a:t>
            </a:r>
            <a:endParaRPr 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99153" y="2308927"/>
            <a:ext cx="10945216" cy="39693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map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函数根据参数对象（一般为函数）制定的规则将一个可迭代对象转换为另外一个序列。</a:t>
            </a:r>
          </a:p>
          <a:p>
            <a:pPr>
              <a:lnSpc>
                <a:spcPct val="150000"/>
              </a:lnSpc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map(function,iterable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...)</a:t>
            </a:r>
          </a:p>
          <a:p>
            <a:pPr>
              <a:lnSpc>
                <a:spcPct val="150000"/>
              </a:lnSpc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# function——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映射函数</a:t>
            </a:r>
          </a:p>
          <a:p>
            <a:pPr>
              <a:lnSpc>
                <a:spcPct val="150000"/>
              </a:lnSpc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# iterable——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可迭代对象</a:t>
            </a:r>
          </a:p>
          <a:p>
            <a:pPr>
              <a:lnSpc>
                <a:spcPct val="150000"/>
              </a:lnSpc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#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返回值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——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返回迭代器</a:t>
            </a:r>
          </a:p>
        </p:txBody>
      </p:sp>
      <p:sp>
        <p:nvSpPr>
          <p:cNvPr id="3" name="标题 1"/>
          <p:cNvSpPr>
            <a:spLocks noGrp="1"/>
          </p:cNvSpPr>
          <p:nvPr/>
        </p:nvSpPr>
        <p:spPr>
          <a:xfrm>
            <a:off x="266527" y="944939"/>
            <a:ext cx="8245415" cy="580394"/>
          </a:xfrm>
        </p:spPr>
        <p:txBody>
          <a:bodyPr vert="horz" wrap="square" lIns="91456" tIns="45728" rIns="91456" bIns="45728" numCol="1" anchor="b" anchorCtr="0" compatLnSpc="1"/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R="0" lvl="0" indent="0" algn="l" defTabSz="914400" eaLnBrk="0" fontAlgn="base" hangingPunct="0">
              <a:lnSpc>
                <a:spcPct val="90000"/>
              </a:lnSpc>
              <a:spcAft>
                <a:spcPct val="0"/>
              </a:spcAft>
              <a:buClrTx/>
              <a:buSzTx/>
              <a:defRPr/>
            </a:pPr>
            <a:r>
              <a:rPr lang="en-US" altLang="zh-CN" sz="2800" b="1" kern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800" b="1" kern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、函数式编程的高阶函数</a:t>
            </a:r>
            <a:endParaRPr lang="en-US" sz="2800" b="1" kern="0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/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0205369" y="189434"/>
            <a:ext cx="20180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5.4 函数</a:t>
            </a:r>
            <a:endParaRPr 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86715" y="1591945"/>
            <a:ext cx="5694680" cy="457009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algn="l">
              <a:buClrTx/>
              <a:buSzTx/>
              <a:buNone/>
            </a:pPr>
            <a:r>
              <a:rPr lang="en-US" altLang="zh-CN" sz="2400" dirty="0">
                <a:sym typeface="+mn-ea"/>
              </a:rPr>
              <a:t>def myfunc(n):</a:t>
            </a:r>
          </a:p>
          <a:p>
            <a:pPr marL="0" lvl="0" algn="l">
              <a:buClrTx/>
              <a:buSzTx/>
              <a:buNone/>
            </a:pPr>
            <a:r>
              <a:rPr lang="en-US" altLang="zh-CN" sz="2400" dirty="0">
                <a:sym typeface="+mn-ea"/>
              </a:rPr>
              <a:t>    return len(n)</a:t>
            </a:r>
          </a:p>
          <a:p>
            <a:pPr marL="0" lvl="0" algn="l">
              <a:buClrTx/>
              <a:buSzTx/>
              <a:buNone/>
            </a:pPr>
            <a:endParaRPr lang="en-US" altLang="zh-CN" sz="2400" dirty="0">
              <a:sym typeface="+mn-ea"/>
            </a:endParaRPr>
          </a:p>
          <a:p>
            <a:pPr marL="0" lvl="0" algn="l">
              <a:buClrTx/>
              <a:buSzTx/>
              <a:buNone/>
            </a:pPr>
            <a:r>
              <a:rPr lang="en-US" altLang="zh-CN" sz="2400" dirty="0">
                <a:sym typeface="+mn-ea"/>
              </a:rPr>
              <a:t>colors = ('red','orange','blue','gray','yellow','white')</a:t>
            </a:r>
          </a:p>
          <a:p>
            <a:pPr marL="0" lvl="0" algn="l">
              <a:buClrTx/>
              <a:buSzTx/>
              <a:buNone/>
            </a:pPr>
            <a:r>
              <a:rPr lang="en-US" altLang="zh-CN" sz="2400" dirty="0">
                <a:sym typeface="+mn-ea"/>
              </a:rPr>
              <a:t>results = map(myfunc,colors)</a:t>
            </a:r>
          </a:p>
          <a:p>
            <a:pPr marL="0" lvl="0" algn="l">
              <a:buClrTx/>
              <a:buSzTx/>
              <a:buNone/>
            </a:pPr>
            <a:r>
              <a:rPr lang="en-US" altLang="zh-CN" sz="2400" dirty="0">
                <a:sym typeface="+mn-ea"/>
              </a:rPr>
              <a:t>results</a:t>
            </a:r>
          </a:p>
        </p:txBody>
      </p:sp>
      <p:sp>
        <p:nvSpPr>
          <p:cNvPr id="4" name="标题 1"/>
          <p:cNvSpPr>
            <a:spLocks noGrp="1"/>
          </p:cNvSpPr>
          <p:nvPr/>
        </p:nvSpPr>
        <p:spPr>
          <a:xfrm>
            <a:off x="4466590" y="915035"/>
            <a:ext cx="3265805" cy="580390"/>
          </a:xfrm>
        </p:spPr>
        <p:txBody>
          <a:bodyPr vert="horz" wrap="square" lIns="91456" tIns="45728" rIns="91456" bIns="45728" numCol="1" anchor="b" anchorCtr="0" compatLnSpc="1"/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R="0" lvl="0" indent="0" algn="l" defTabSz="914400" eaLnBrk="0" fontAlgn="base" hangingPunct="0">
              <a:lnSpc>
                <a:spcPct val="90000"/>
              </a:lnSpc>
              <a:spcAft>
                <a:spcPct val="0"/>
              </a:spcAft>
              <a:buClrTx/>
              <a:buSzTx/>
              <a:defRPr/>
            </a:pPr>
            <a:r>
              <a:rPr lang="en-US" altLang="zh-CN" sz="2800" b="1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map</a:t>
            </a:r>
            <a:r>
              <a:rPr lang="zh-CN" altLang="en-US" sz="2800" b="1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函数举例</a:t>
            </a:r>
            <a:endParaRPr lang="en-US" altLang="zh-CN" sz="2800" b="1" kern="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528445" y="4140200"/>
            <a:ext cx="3846830" cy="49149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rtlCol="0" anchor="t">
            <a:spAutoFit/>
          </a:bodyPr>
          <a:lstStyle/>
          <a:p>
            <a: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2000" i="1">
                <a:solidFill>
                  <a:srgbClr val="FF0000"/>
                </a:solidFill>
                <a:latin typeface="Arial Black" panose="020B0A04020102020204" pitchFamily="34" charset="0"/>
                <a:cs typeface="Arial Black" panose="020B0A04020102020204" pitchFamily="34" charset="0"/>
                <a:sym typeface="+mn-ea"/>
              </a:rPr>
              <a:t># &lt;map at 0x594ac96080&gt;</a:t>
            </a:r>
          </a:p>
        </p:txBody>
      </p:sp>
      <p:sp>
        <p:nvSpPr>
          <p:cNvPr id="8" name="圆角矩形标注 7"/>
          <p:cNvSpPr/>
          <p:nvPr/>
        </p:nvSpPr>
        <p:spPr>
          <a:xfrm>
            <a:off x="2952750" y="4736465"/>
            <a:ext cx="5810721" cy="748665"/>
          </a:xfrm>
          <a:prstGeom prst="wedgeRoundRectCallout">
            <a:avLst>
              <a:gd name="adj1" fmla="val -74787"/>
              <a:gd name="adj2" fmla="val -53901"/>
              <a:gd name="adj3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umimoji="0"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0" lang="zh-C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dirty="0">
                <a:solidFill>
                  <a:srgbClr val="FFFF00"/>
                </a:solidFill>
                <a:latin typeface="方正大黑简体" panose="03000509000000000000" pitchFamily="2" charset="-122"/>
                <a:ea typeface="方正大黑简体" panose="03000509000000000000" pitchFamily="2" charset="-122"/>
              </a:rPr>
              <a:t>list(results) 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5259705" y="4825365"/>
            <a:ext cx="2958465" cy="57086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rtlCol="0" anchor="t">
            <a:spAutoFit/>
          </a:bodyPr>
          <a:lstStyle/>
          <a:p>
            <a: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i="1">
                <a:solidFill>
                  <a:srgbClr val="FF0000"/>
                </a:solidFill>
                <a:latin typeface="Arial Black" panose="020B0A04020102020204" pitchFamily="34" charset="0"/>
                <a:cs typeface="Arial Black" panose="020B0A04020102020204" pitchFamily="34" charset="0"/>
                <a:sym typeface="+mn-ea"/>
              </a:rPr>
              <a:t># [3, 6, 4, 4, 6, 5]</a:t>
            </a:r>
          </a:p>
        </p:txBody>
      </p:sp>
    </p:spTree>
  </p:cSld>
  <p:clrMapOvr>
    <a:masterClrMapping/>
  </p:clrMapOvr>
  <p:transition spd="slow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8" grpId="0" bldLvl="0" animBg="1"/>
      <p:bldP spid="9" grpId="0" bldLvl="0" animBg="1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0205369" y="189434"/>
            <a:ext cx="20180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5.4 函数</a:t>
            </a:r>
            <a:endParaRPr 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标题 1"/>
          <p:cNvSpPr>
            <a:spLocks noGrp="1"/>
          </p:cNvSpPr>
          <p:nvPr/>
        </p:nvSpPr>
        <p:spPr>
          <a:xfrm>
            <a:off x="4466590" y="915035"/>
            <a:ext cx="3265805" cy="580390"/>
          </a:xfrm>
        </p:spPr>
        <p:txBody>
          <a:bodyPr vert="horz" wrap="square" lIns="91456" tIns="45728" rIns="91456" bIns="45728" numCol="1" anchor="b" anchorCtr="0" compatLnSpc="1"/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R="0" lvl="0" indent="0" algn="l" defTabSz="914400" eaLnBrk="0" fontAlgn="base" hangingPunct="0">
              <a:lnSpc>
                <a:spcPct val="90000"/>
              </a:lnSpc>
              <a:spcAft>
                <a:spcPct val="0"/>
              </a:spcAft>
              <a:buClrTx/>
              <a:buSzTx/>
              <a:defRPr/>
            </a:pPr>
            <a:r>
              <a:rPr lang="en-US" altLang="zh-CN" sz="2800" b="1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map</a:t>
            </a:r>
            <a:r>
              <a:rPr lang="zh-CN" altLang="en-US" sz="2800" b="1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函数举例</a:t>
            </a:r>
            <a:endParaRPr lang="en-US" altLang="zh-CN" sz="2800" b="1" kern="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98575" y="1711325"/>
            <a:ext cx="4906645" cy="254889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algn="l">
              <a:buClrTx/>
              <a:buSzTx/>
              <a:buNone/>
            </a:pPr>
            <a:r>
              <a:rPr lang="en-US" altLang="zh-CN" sz="2400" dirty="0">
                <a:sym typeface="+mn-ea"/>
              </a:rPr>
              <a:t>def myadd(a,b):</a:t>
            </a:r>
          </a:p>
          <a:p>
            <a:pPr marL="0" lvl="0" algn="l">
              <a:buClrTx/>
              <a:buSzTx/>
              <a:buNone/>
            </a:pPr>
            <a:r>
              <a:rPr lang="en-US" altLang="zh-CN" sz="2400" dirty="0">
                <a:sym typeface="+mn-ea"/>
              </a:rPr>
              <a:t>    return a+b</a:t>
            </a:r>
          </a:p>
          <a:p>
            <a:pPr marL="0" lvl="0" algn="l">
              <a:buClrTx/>
              <a:buSzTx/>
              <a:buNone/>
            </a:pPr>
            <a:endParaRPr lang="en-US" altLang="zh-CN" sz="2400" dirty="0">
              <a:sym typeface="+mn-ea"/>
            </a:endParaRPr>
          </a:p>
          <a:p>
            <a:pPr marL="0" lvl="0" algn="l">
              <a:buClrTx/>
              <a:buSzTx/>
              <a:buNone/>
            </a:pPr>
            <a:r>
              <a:rPr lang="en-US" altLang="zh-CN" sz="2400" dirty="0">
                <a:sym typeface="+mn-ea"/>
              </a:rPr>
              <a:t>result = map(myadd,[1,2,3],[4,5,6])</a:t>
            </a:r>
          </a:p>
          <a:p>
            <a:pPr marL="0" lvl="0" algn="l">
              <a:buClrTx/>
              <a:buSzTx/>
              <a:buNone/>
            </a:pPr>
            <a:r>
              <a:rPr lang="en-US" altLang="zh-CN" sz="2400" dirty="0">
                <a:sym typeface="+mn-ea"/>
              </a:rPr>
              <a:t>list(result)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2406090" y="3808730"/>
            <a:ext cx="1739265" cy="57086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rtlCol="0" anchor="t">
            <a:spAutoFit/>
          </a:bodyPr>
          <a:lstStyle/>
          <a:p>
            <a: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i="1">
                <a:solidFill>
                  <a:srgbClr val="FF0000"/>
                </a:solidFill>
                <a:latin typeface="Arial Black" panose="020B0A04020102020204" pitchFamily="34" charset="0"/>
                <a:cs typeface="Arial Black" panose="020B0A04020102020204" pitchFamily="34" charset="0"/>
                <a:sym typeface="+mn-ea"/>
              </a:rPr>
              <a:t># [5, 7, 9]</a:t>
            </a:r>
          </a:p>
        </p:txBody>
      </p:sp>
      <p:sp>
        <p:nvSpPr>
          <p:cNvPr id="10" name="文本框 1"/>
          <p:cNvSpPr txBox="1"/>
          <p:nvPr/>
        </p:nvSpPr>
        <p:spPr>
          <a:xfrm>
            <a:off x="5955159" y="1718195"/>
            <a:ext cx="4906645" cy="254889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algn="l">
              <a:buClrTx/>
              <a:buSzTx/>
              <a:buNone/>
            </a:pPr>
            <a:r>
              <a:rPr lang="en-US" altLang="zh-CN" sz="2400" dirty="0">
                <a:sym typeface="+mn-ea"/>
              </a:rPr>
              <a:t>def myadd(a,b):</a:t>
            </a:r>
          </a:p>
          <a:p>
            <a:pPr marL="0" lvl="0" algn="l">
              <a:buClrTx/>
              <a:buSzTx/>
              <a:buNone/>
            </a:pPr>
            <a:r>
              <a:rPr lang="en-US" altLang="zh-CN" sz="2400" dirty="0">
                <a:sym typeface="+mn-ea"/>
              </a:rPr>
              <a:t>    return a+b</a:t>
            </a:r>
          </a:p>
          <a:p>
            <a:pPr marL="0" lvl="0" algn="l">
              <a:buClrTx/>
              <a:buSzTx/>
              <a:buNone/>
            </a:pPr>
            <a:endParaRPr lang="en-US" altLang="zh-CN" sz="2400" dirty="0">
              <a:sym typeface="+mn-ea"/>
            </a:endParaRPr>
          </a:p>
          <a:p>
            <a:pPr marL="0" lvl="0" algn="l">
              <a:buClrTx/>
              <a:buSzTx/>
              <a:buNone/>
            </a:pPr>
            <a:r>
              <a:rPr lang="en-US" altLang="zh-CN" sz="2400" dirty="0">
                <a:sym typeface="+mn-ea"/>
              </a:rPr>
              <a:t>result = map(myadd,[1,2,3],[4,5,6,7,8])</a:t>
            </a:r>
          </a:p>
          <a:p>
            <a:pPr marL="0" lvl="0" algn="l">
              <a:buClrTx/>
              <a:buSzTx/>
              <a:buNone/>
            </a:pPr>
            <a:r>
              <a:rPr lang="en-US" altLang="zh-CN" sz="2400" dirty="0">
                <a:sym typeface="+mn-ea"/>
              </a:rPr>
              <a:t>list(result)</a:t>
            </a:r>
          </a:p>
        </p:txBody>
      </p:sp>
      <p:sp>
        <p:nvSpPr>
          <p:cNvPr id="11" name="文本框 4"/>
          <p:cNvSpPr txBox="1"/>
          <p:nvPr/>
        </p:nvSpPr>
        <p:spPr>
          <a:xfrm>
            <a:off x="7662674" y="3815600"/>
            <a:ext cx="1739265" cy="57086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rtlCol="0" anchor="t">
            <a:spAutoFit/>
          </a:bodyPr>
          <a:lstStyle/>
          <a:p>
            <a: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i="1">
                <a:solidFill>
                  <a:srgbClr val="FF0000"/>
                </a:solidFill>
                <a:latin typeface="Arial Black" panose="020B0A04020102020204" pitchFamily="34" charset="0"/>
                <a:cs typeface="Arial Black" panose="020B0A04020102020204" pitchFamily="34" charset="0"/>
                <a:sym typeface="+mn-ea"/>
              </a:rPr>
              <a:t># [5, 7, 9]</a:t>
            </a:r>
          </a:p>
        </p:txBody>
      </p:sp>
      <p:sp>
        <p:nvSpPr>
          <p:cNvPr id="3" name="矩形 2"/>
          <p:cNvSpPr/>
          <p:nvPr/>
        </p:nvSpPr>
        <p:spPr>
          <a:xfrm>
            <a:off x="698575" y="5013970"/>
            <a:ext cx="696409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0000FF"/>
                </a:solidFill>
              </a:rPr>
              <a:t>result = </a:t>
            </a:r>
            <a:r>
              <a:rPr lang="en-US" altLang="zh-CN" sz="2800" b="1" dirty="0" err="1">
                <a:solidFill>
                  <a:srgbClr val="0000FF"/>
                </a:solidFill>
              </a:rPr>
              <a:t>myadd</a:t>
            </a:r>
            <a:r>
              <a:rPr lang="en-US" altLang="zh-CN" sz="2800" b="1" dirty="0">
                <a:solidFill>
                  <a:srgbClr val="0000FF"/>
                </a:solidFill>
              </a:rPr>
              <a:t>([1,2,3],[4,5,6])   #</a:t>
            </a:r>
            <a:r>
              <a:rPr lang="zh-CN" altLang="en-US" sz="2800" b="1" dirty="0">
                <a:solidFill>
                  <a:srgbClr val="0000FF"/>
                </a:solidFill>
              </a:rPr>
              <a:t>？？？</a:t>
            </a:r>
          </a:p>
        </p:txBody>
      </p:sp>
    </p:spTree>
    <p:extLst>
      <p:ext uri="{BB962C8B-B14F-4D97-AF65-F5344CB8AC3E}">
        <p14:creationId xmlns:p14="http://schemas.microsoft.com/office/powerpoint/2010/main" val="1382869763"/>
      </p:ext>
    </p:extLst>
  </p:cSld>
  <p:clrMapOvr>
    <a:masterClrMapping/>
  </p:clrMapOvr>
  <p:transition spd="slow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  <p:bldP spid="11" grpId="0" bldLvl="0" animBg="1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266699" y="1664335"/>
            <a:ext cx="4824363" cy="580390"/>
          </a:xfrm>
        </p:spPr>
        <p:txBody>
          <a:bodyPr vert="horz" wrap="square" lIns="91456" tIns="45728" rIns="91456" bIns="45728" numCol="1" anchor="b" anchorCtr="0" compatLnSpc="1"/>
          <a:lstStyle/>
          <a:p>
            <a:pPr marR="0" lvl="0" indent="0" algn="l" defTabSz="914400" eaLnBrk="0" fontAlgn="base" hangingPunct="0">
              <a:lnSpc>
                <a:spcPct val="90000"/>
              </a:lnSpc>
              <a:spcAft>
                <a:spcPct val="0"/>
              </a:spcAft>
              <a:buClrTx/>
              <a:buSzTx/>
              <a:defRPr/>
            </a:pPr>
            <a:r>
              <a:rPr lang="zh-CN" sz="2800" b="1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800" b="1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sz="2800" b="1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2800" b="1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reduce</a:t>
            </a:r>
            <a:r>
              <a:rPr lang="zh-CN" altLang="en-US" sz="2800" b="1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0205369" y="189434"/>
            <a:ext cx="20180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5.4 函数</a:t>
            </a:r>
            <a:endParaRPr 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54559" y="2308860"/>
            <a:ext cx="11155045" cy="39693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reduce() 函数会对参数序列中元素进行</a:t>
            </a:r>
            <a:r>
              <a:rPr 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累计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。将数据减少到只有一个累计的数值。</a:t>
            </a:r>
          </a:p>
          <a:p>
            <a:pPr>
              <a:lnSpc>
                <a:spcPct val="150000"/>
              </a:lnSpc>
            </a:pPr>
            <a:r>
              <a:rPr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reduce(function, sequence[, initial])         -&gt; value</a:t>
            </a:r>
          </a:p>
          <a:p>
            <a:pPr>
              <a:lnSpc>
                <a:spcPct val="150000"/>
              </a:lnSpc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# function——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有两个参数的函数， 必需参数</a:t>
            </a:r>
          </a:p>
          <a:p>
            <a:pPr>
              <a:lnSpc>
                <a:spcPct val="150000"/>
              </a:lnSpc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# sequence——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tuple 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list 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dictionary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string等可迭代物，必需参数</a:t>
            </a:r>
          </a:p>
          <a:p>
            <a:pPr>
              <a:lnSpc>
                <a:spcPct val="150000"/>
              </a:lnSpc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# </a:t>
            </a:r>
            <a:r>
              <a:rPr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initial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——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初始值， 可选参数</a:t>
            </a:r>
          </a:p>
        </p:txBody>
      </p:sp>
      <p:sp>
        <p:nvSpPr>
          <p:cNvPr id="3" name="标题 1"/>
          <p:cNvSpPr>
            <a:spLocks noGrp="1"/>
          </p:cNvSpPr>
          <p:nvPr/>
        </p:nvSpPr>
        <p:spPr>
          <a:xfrm>
            <a:off x="266527" y="944939"/>
            <a:ext cx="8245415" cy="580394"/>
          </a:xfrm>
        </p:spPr>
        <p:txBody>
          <a:bodyPr vert="horz" wrap="square" lIns="91456" tIns="45728" rIns="91456" bIns="45728" numCol="1" anchor="b" anchorCtr="0" compatLnSpc="1"/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R="0" lvl="0" indent="0" algn="l" defTabSz="914400" eaLnBrk="0" fontAlgn="base" hangingPunct="0">
              <a:lnSpc>
                <a:spcPct val="90000"/>
              </a:lnSpc>
              <a:spcAft>
                <a:spcPct val="0"/>
              </a:spcAft>
              <a:buClrTx/>
              <a:buSzTx/>
              <a:defRPr/>
            </a:pPr>
            <a:r>
              <a:rPr lang="en-US" altLang="zh-CN" sz="2800" b="1" kern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800" b="1" kern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、函数式编程的高阶函数</a:t>
            </a:r>
            <a:endParaRPr lang="en-US" sz="2800" b="1" kern="0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/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0205369" y="189434"/>
            <a:ext cx="20180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5.4 函数</a:t>
            </a:r>
            <a:endParaRPr 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56235" y="1591945"/>
            <a:ext cx="5594985" cy="114871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algn="l">
              <a:buClrTx/>
              <a:buSzTx/>
              <a:buNone/>
            </a:pPr>
            <a:r>
              <a:rPr lang="en-US" altLang="zh-CN" sz="2400" dirty="0">
                <a:sym typeface="+mn-ea"/>
              </a:rPr>
              <a:t>from </a:t>
            </a:r>
            <a:r>
              <a:rPr lang="en-US" altLang="zh-CN" sz="2400" dirty="0">
                <a:solidFill>
                  <a:srgbClr val="00B050"/>
                </a:solidFill>
                <a:sym typeface="+mn-ea"/>
              </a:rPr>
              <a:t>functools </a:t>
            </a:r>
            <a:r>
              <a:rPr lang="en-US" altLang="zh-CN" sz="2400" dirty="0">
                <a:sym typeface="+mn-ea"/>
              </a:rPr>
              <a:t>import </a:t>
            </a:r>
            <a:r>
              <a:rPr lang="en-US" altLang="zh-CN" sz="2400" dirty="0">
                <a:solidFill>
                  <a:srgbClr val="00B050"/>
                </a:solidFill>
                <a:sym typeface="+mn-ea"/>
              </a:rPr>
              <a:t>reduce</a:t>
            </a:r>
          </a:p>
          <a:p>
            <a:pPr marL="0" lvl="0" algn="l">
              <a:buClrTx/>
              <a:buSzTx/>
              <a:buNone/>
            </a:pPr>
            <a:r>
              <a:rPr lang="en-US" altLang="zh-CN" sz="2400" dirty="0">
                <a:sym typeface="+mn-ea"/>
              </a:rPr>
              <a:t>reduce(</a:t>
            </a:r>
            <a:r>
              <a:rPr lang="en-US" altLang="zh-CN" sz="2400" dirty="0">
                <a:solidFill>
                  <a:srgbClr val="00B050"/>
                </a:solidFill>
                <a:sym typeface="+mn-ea"/>
              </a:rPr>
              <a:t>lambda </a:t>
            </a:r>
            <a:r>
              <a:rPr lang="en-US" altLang="zh-CN" sz="2400" dirty="0">
                <a:sym typeface="+mn-ea"/>
              </a:rPr>
              <a:t>x,y:x+y,[1,2,3,4,5])</a:t>
            </a:r>
          </a:p>
        </p:txBody>
      </p:sp>
      <p:sp>
        <p:nvSpPr>
          <p:cNvPr id="4" name="标题 1"/>
          <p:cNvSpPr>
            <a:spLocks noGrp="1"/>
          </p:cNvSpPr>
          <p:nvPr/>
        </p:nvSpPr>
        <p:spPr>
          <a:xfrm>
            <a:off x="4466590" y="915035"/>
            <a:ext cx="3265805" cy="580390"/>
          </a:xfrm>
        </p:spPr>
        <p:txBody>
          <a:bodyPr vert="horz" wrap="square" lIns="91456" tIns="45728" rIns="91456" bIns="45728" numCol="1" anchor="b" anchorCtr="0" compatLnSpc="1"/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R="0" lvl="0" indent="0" algn="l" defTabSz="914400" eaLnBrk="0" fontAlgn="base" hangingPunct="0">
              <a:lnSpc>
                <a:spcPct val="90000"/>
              </a:lnSpc>
              <a:spcAft>
                <a:spcPct val="0"/>
              </a:spcAft>
              <a:buClrTx/>
              <a:buSzTx/>
              <a:defRPr/>
            </a:pPr>
            <a:r>
              <a:rPr lang="en-US" altLang="zh-CN" sz="2800" b="1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reduce</a:t>
            </a:r>
            <a:r>
              <a:rPr lang="zh-CN" altLang="en-US" sz="2800" b="1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函数举例</a:t>
            </a:r>
            <a:endParaRPr lang="en-US" altLang="zh-CN" sz="2800" b="1" kern="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887345" y="2512060"/>
            <a:ext cx="774065" cy="49149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rtlCol="0" anchor="t">
            <a:spAutoFit/>
          </a:bodyPr>
          <a:lstStyle/>
          <a:p>
            <a: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2000" i="1">
                <a:solidFill>
                  <a:srgbClr val="FF0000"/>
                </a:solidFill>
                <a:latin typeface="Arial Black" panose="020B0A04020102020204" pitchFamily="34" charset="0"/>
                <a:cs typeface="Arial Black" panose="020B0A04020102020204" pitchFamily="34" charset="0"/>
                <a:sym typeface="+mn-ea"/>
              </a:rPr>
              <a:t># 15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356235" y="3267075"/>
            <a:ext cx="5594985" cy="114871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algn="l">
              <a:buClrTx/>
              <a:buSzTx/>
              <a:buNone/>
            </a:pPr>
            <a:r>
              <a:rPr lang="en-US" altLang="zh-CN" sz="2400" dirty="0">
                <a:sym typeface="+mn-ea"/>
              </a:rPr>
              <a:t>reduce(</a:t>
            </a:r>
            <a:r>
              <a:rPr lang="en-US" altLang="zh-CN" sz="2400" dirty="0">
                <a:solidFill>
                  <a:srgbClr val="00B050"/>
                </a:solidFill>
                <a:sym typeface="+mn-ea"/>
              </a:rPr>
              <a:t>lambda </a:t>
            </a:r>
            <a:r>
              <a:rPr lang="en-US" altLang="zh-CN" sz="2400" dirty="0">
                <a:sym typeface="+mn-ea"/>
              </a:rPr>
              <a:t>x,y:x+y,range(1,101))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2454910" y="3797935"/>
            <a:ext cx="1113155" cy="49149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rtlCol="0" anchor="t">
            <a:spAutoFit/>
          </a:bodyPr>
          <a:lstStyle/>
          <a:p>
            <a: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2000" i="1">
                <a:solidFill>
                  <a:srgbClr val="FF0000"/>
                </a:solidFill>
                <a:latin typeface="Arial Black" panose="020B0A04020102020204" pitchFamily="34" charset="0"/>
                <a:cs typeface="Arial Black" panose="020B0A04020102020204" pitchFamily="34" charset="0"/>
                <a:sym typeface="+mn-ea"/>
              </a:rPr>
              <a:t># 5050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356235" y="4739005"/>
            <a:ext cx="5594350" cy="114871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algn="l">
              <a:buClrTx/>
              <a:buSzTx/>
              <a:buNone/>
            </a:pPr>
            <a:r>
              <a:rPr lang="en-US" altLang="zh-CN" sz="2000" dirty="0">
                <a:sym typeface="+mn-ea"/>
              </a:rPr>
              <a:t> reduce(</a:t>
            </a:r>
            <a:r>
              <a:rPr lang="en-US" altLang="zh-CN" sz="2000" dirty="0">
                <a:solidFill>
                  <a:srgbClr val="00B050"/>
                </a:solidFill>
                <a:sym typeface="+mn-ea"/>
              </a:rPr>
              <a:t>lambda </a:t>
            </a:r>
            <a:r>
              <a:rPr lang="en-US" altLang="zh-CN" sz="2000" dirty="0">
                <a:sym typeface="+mn-ea"/>
              </a:rPr>
              <a:t>x, y: x * 10 + y, [1 , 2, 3, 4, 5])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2369820" y="5226050"/>
            <a:ext cx="1282700" cy="49149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rtlCol="0" anchor="t">
            <a:spAutoFit/>
          </a:bodyPr>
          <a:lstStyle/>
          <a:p>
            <a: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2000" i="1">
                <a:solidFill>
                  <a:srgbClr val="FF0000"/>
                </a:solidFill>
                <a:latin typeface="Arial Black" panose="020B0A04020102020204" pitchFamily="34" charset="0"/>
                <a:cs typeface="Arial Black" panose="020B0A04020102020204" pitchFamily="34" charset="0"/>
                <a:sym typeface="+mn-ea"/>
              </a:rPr>
              <a:t># 12345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6301105" y="1495425"/>
            <a:ext cx="5708015" cy="305117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algn="l">
              <a:buClrTx/>
              <a:buSzTx/>
              <a:buNone/>
            </a:pPr>
            <a:r>
              <a:rPr lang="en-US" altLang="zh-CN" sz="1800" dirty="0">
                <a:sym typeface="+mn-ea"/>
              </a:rPr>
              <a:t>students =({'name':'Tom', 'score':95, 'gender':'M'},</a:t>
            </a:r>
          </a:p>
          <a:p>
            <a:pPr marL="0" lvl="0" algn="l">
              <a:buClrTx/>
              <a:buSzTx/>
              <a:buNone/>
            </a:pPr>
            <a:r>
              <a:rPr lang="en-US" altLang="zh-CN" sz="1800" dirty="0">
                <a:sym typeface="+mn-ea"/>
              </a:rPr>
              <a:t>             {'name':'Jack', 'score':76, 'gender':'M'},</a:t>
            </a:r>
          </a:p>
          <a:p>
            <a:pPr marL="0" lvl="0" algn="l">
              <a:buClrTx/>
              <a:buSzTx/>
              <a:buNone/>
            </a:pPr>
            <a:r>
              <a:rPr lang="en-US" altLang="zh-CN" sz="1800" dirty="0">
                <a:sym typeface="+mn-ea"/>
              </a:rPr>
              <a:t>             {'name':'Alice', 'score':100, 'gender':'F'},</a:t>
            </a:r>
          </a:p>
          <a:p>
            <a:pPr marL="0" lvl="0" algn="l">
              <a:buClrTx/>
              <a:buSzTx/>
              <a:buNone/>
            </a:pPr>
            <a:r>
              <a:rPr lang="en-US" altLang="zh-CN" sz="1800" dirty="0">
                <a:sym typeface="+mn-ea"/>
              </a:rPr>
              <a:t>             {'name':'Kate', 'score':84, 'gender':'F'})</a:t>
            </a:r>
          </a:p>
          <a:p>
            <a:pPr marL="0" lvl="0" algn="l">
              <a:buClrTx/>
              <a:buSzTx/>
              <a:buNone/>
            </a:pPr>
            <a:r>
              <a:rPr lang="en-US" altLang="zh-CN" sz="1800" dirty="0">
                <a:sym typeface="+mn-ea"/>
              </a:rPr>
              <a:t>def func(para, value):</a:t>
            </a:r>
          </a:p>
          <a:p>
            <a:pPr marL="0" lvl="0" algn="l">
              <a:buClrTx/>
              <a:buSzTx/>
              <a:buNone/>
            </a:pPr>
            <a:r>
              <a:rPr lang="en-US" altLang="zh-CN" sz="1800" dirty="0">
                <a:sym typeface="+mn-ea"/>
              </a:rPr>
              <a:t>    isum = para+ value['score']</a:t>
            </a:r>
          </a:p>
          <a:p>
            <a:pPr marL="0" lvl="0" algn="l">
              <a:buClrTx/>
              <a:buSzTx/>
              <a:buNone/>
            </a:pPr>
            <a:r>
              <a:rPr lang="en-US" altLang="zh-CN" sz="1800" dirty="0">
                <a:sym typeface="+mn-ea"/>
              </a:rPr>
              <a:t>    return isum</a:t>
            </a:r>
          </a:p>
          <a:p>
            <a:pPr marL="0" lvl="0" algn="l">
              <a:buClrTx/>
              <a:buSzTx/>
              <a:buNone/>
            </a:pPr>
            <a:r>
              <a:rPr lang="en-US" altLang="zh-CN" sz="1800" dirty="0">
                <a:sym typeface="+mn-ea"/>
              </a:rPr>
              <a:t>results = reduce(func, students , 0)</a:t>
            </a:r>
          </a:p>
          <a:p>
            <a:pPr marL="0" lvl="0" algn="l">
              <a:buClrTx/>
              <a:buSzTx/>
              <a:buNone/>
            </a:pPr>
            <a:r>
              <a:rPr lang="en-US" altLang="zh-CN" sz="1800" dirty="0">
                <a:sym typeface="+mn-ea"/>
              </a:rPr>
              <a:t>print(results )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10676890" y="3707765"/>
            <a:ext cx="943610" cy="49149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rtlCol="0" anchor="t">
            <a:spAutoFit/>
          </a:bodyPr>
          <a:lstStyle/>
          <a:p>
            <a: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2000" i="1">
                <a:solidFill>
                  <a:srgbClr val="FF0000"/>
                </a:solidFill>
                <a:latin typeface="Arial Black" panose="020B0A04020102020204" pitchFamily="34" charset="0"/>
                <a:cs typeface="Arial Black" panose="020B0A04020102020204" pitchFamily="34" charset="0"/>
                <a:sym typeface="+mn-ea"/>
              </a:rPr>
              <a:t># 355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6447155" y="4739005"/>
            <a:ext cx="5020310" cy="49149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t" anchorCtr="0" forceAA="0" compatLnSpc="1">
            <a:spAutoFit/>
          </a:bodyPr>
          <a:lstStyle/>
          <a:p>
            <a: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2000" i="1">
                <a:solidFill>
                  <a:srgbClr val="FF0000"/>
                </a:solidFill>
                <a:latin typeface="Arial Black" panose="020B0A04020102020204" pitchFamily="34" charset="0"/>
                <a:cs typeface="Arial Black" panose="020B0A04020102020204" pitchFamily="34" charset="0"/>
                <a:sym typeface="+mn-ea"/>
              </a:rPr>
              <a:t>sum([x['score'] for x in students ])</a:t>
            </a:r>
          </a:p>
        </p:txBody>
      </p:sp>
    </p:spTree>
  </p:cSld>
  <p:clrMapOvr>
    <a:masterClrMapping/>
  </p:clrMapOvr>
  <p:transition spd="slow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7" grpId="0" bldLvl="0" animBg="1"/>
      <p:bldP spid="10" grpId="0" animBg="1"/>
      <p:bldP spid="11" grpId="0" bldLvl="0" animBg="1"/>
      <p:bldP spid="12" grpId="0" bldLvl="0" animBg="1"/>
      <p:bldP spid="12" grpId="1" animBg="1"/>
      <p:bldP spid="13" grpId="0" bldLvl="0" animBg="1"/>
      <p:bldP spid="14" grpId="0" animBg="1"/>
      <p:bldP spid="15" grpId="0" bldLvl="0" animBg="1"/>
      <p:bldP spid="16" grpId="0" animBg="1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0205369" y="189434"/>
            <a:ext cx="20180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5.4 函数</a:t>
            </a:r>
            <a:endParaRPr 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标题 1"/>
          <p:cNvSpPr>
            <a:spLocks noGrp="1"/>
          </p:cNvSpPr>
          <p:nvPr/>
        </p:nvSpPr>
        <p:spPr>
          <a:xfrm>
            <a:off x="4466590" y="915035"/>
            <a:ext cx="3265805" cy="580390"/>
          </a:xfrm>
        </p:spPr>
        <p:txBody>
          <a:bodyPr vert="horz" wrap="square" lIns="91456" tIns="45728" rIns="91456" bIns="45728" numCol="1" anchor="b" anchorCtr="0" compatLnSpc="1"/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R="0" lvl="0" indent="0" algn="l" defTabSz="914400" eaLnBrk="0" fontAlgn="base" hangingPunct="0">
              <a:lnSpc>
                <a:spcPct val="90000"/>
              </a:lnSpc>
              <a:spcAft>
                <a:spcPct val="0"/>
              </a:spcAft>
              <a:buClrTx/>
              <a:buSzTx/>
              <a:defRPr/>
            </a:pPr>
            <a:r>
              <a:rPr lang="en-US" altLang="zh-CN" sz="2800" b="1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reduce</a:t>
            </a:r>
            <a:r>
              <a:rPr lang="zh-CN" altLang="en-US" sz="2800" b="1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函数举例</a:t>
            </a:r>
            <a:endParaRPr lang="en-US" altLang="zh-CN" sz="2800" b="1" kern="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1577" y="1495425"/>
            <a:ext cx="8496944" cy="43290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51709537"/>
      </p:ext>
    </p:extLst>
  </p:cSld>
  <p:clrMapOvr>
    <a:masterClrMapping/>
  </p:clrMapOvr>
  <p:transition spd="slow" advTm="0"/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266699" y="1664335"/>
            <a:ext cx="4824363" cy="580390"/>
          </a:xfrm>
        </p:spPr>
        <p:txBody>
          <a:bodyPr vert="horz" wrap="square" lIns="91456" tIns="45728" rIns="91456" bIns="45728" numCol="1" anchor="b" anchorCtr="0" compatLnSpc="1"/>
          <a:lstStyle/>
          <a:p>
            <a:pPr marR="0" lvl="0" indent="0" algn="l" defTabSz="914400" eaLnBrk="0" fontAlgn="base" hangingPunct="0">
              <a:lnSpc>
                <a:spcPct val="90000"/>
              </a:lnSpc>
              <a:spcAft>
                <a:spcPct val="0"/>
              </a:spcAft>
              <a:buClrTx/>
              <a:buSzTx/>
              <a:defRPr/>
            </a:pPr>
            <a:r>
              <a:rPr lang="zh-CN" sz="2800" b="1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800" b="1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sz="2800" b="1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2800" b="1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sorted</a:t>
            </a:r>
            <a:r>
              <a:rPr lang="zh-CN" altLang="en-US" sz="2800" b="1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0205369" y="189434"/>
            <a:ext cx="20180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5.4 函数</a:t>
            </a:r>
            <a:endParaRPr 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54559" y="2308860"/>
            <a:ext cx="11155045" cy="39973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内置的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sorted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函数可实现对列表的排序。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sorted(</a:t>
            </a:r>
            <a:r>
              <a:rPr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[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70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60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-20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-30</a:t>
            </a:r>
            <a:r>
              <a:rPr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])         </a:t>
            </a:r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[-30</a:t>
            </a:r>
            <a:r>
              <a:rPr lang="zh-CN" altLang="en-US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-20</a:t>
            </a:r>
            <a:r>
              <a:rPr lang="zh-CN" altLang="en-US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10 </a:t>
            </a:r>
            <a:r>
              <a:rPr lang="zh-CN" altLang="en-US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60</a:t>
            </a:r>
            <a:r>
              <a:rPr lang="zh-CN" altLang="en-US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70]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sorted([70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60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-20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-30]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reverse=True)   </a:t>
            </a:r>
            <a: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[70</a:t>
            </a:r>
            <a:r>
              <a:rPr lang="zh-CN" altLang="en-US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60</a:t>
            </a:r>
            <a:r>
              <a:rPr lang="zh-CN" altLang="en-US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10</a:t>
            </a:r>
            <a:r>
              <a:rPr lang="zh-CN" altLang="en-US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-20</a:t>
            </a:r>
            <a:r>
              <a:rPr lang="zh-CN" altLang="en-US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-30]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sorted([70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60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-20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-30]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key=abs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 reverse=True)    #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函数名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[70, 60, -30, -20, 10]</a:t>
            </a:r>
          </a:p>
          <a:p>
            <a:pPr>
              <a:lnSpc>
                <a:spcPct val="150000"/>
              </a:lnSpc>
            </a:pPr>
            <a:endParaRPr lang="en-US" altLang="zh-CN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#sorted()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返回一个新列表</a:t>
            </a:r>
            <a:endParaRPr lang="en-US" altLang="zh-CN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标题 1"/>
          <p:cNvSpPr>
            <a:spLocks noGrp="1"/>
          </p:cNvSpPr>
          <p:nvPr/>
        </p:nvSpPr>
        <p:spPr>
          <a:xfrm>
            <a:off x="266527" y="944939"/>
            <a:ext cx="8245415" cy="580394"/>
          </a:xfrm>
        </p:spPr>
        <p:txBody>
          <a:bodyPr vert="horz" wrap="square" lIns="91456" tIns="45728" rIns="91456" bIns="45728" numCol="1" anchor="b" anchorCtr="0" compatLnSpc="1"/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R="0" lvl="0" indent="0" algn="l" defTabSz="914400" eaLnBrk="0" fontAlgn="base" hangingPunct="0">
              <a:lnSpc>
                <a:spcPct val="90000"/>
              </a:lnSpc>
              <a:spcAft>
                <a:spcPct val="0"/>
              </a:spcAft>
              <a:buClrTx/>
              <a:buSzTx/>
              <a:defRPr/>
            </a:pPr>
            <a:r>
              <a:rPr lang="en-US" altLang="zh-CN" sz="2800" b="1" kern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800" b="1" kern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、函数式编程的高阶函数</a:t>
            </a:r>
            <a:endParaRPr lang="en-US" sz="2800" b="1" kern="0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45681094"/>
      </p:ext>
    </p:extLst>
  </p:cSld>
  <p:clrMapOvr>
    <a:masterClrMapping/>
  </p:clrMapOvr>
  <p:transition spd="slow" advTm="0"/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266699" y="1664335"/>
            <a:ext cx="4824363" cy="580390"/>
          </a:xfrm>
        </p:spPr>
        <p:txBody>
          <a:bodyPr vert="horz" wrap="square" lIns="91456" tIns="45728" rIns="91456" bIns="45728" numCol="1" anchor="b" anchorCtr="0" compatLnSpc="1"/>
          <a:lstStyle/>
          <a:p>
            <a:pPr marR="0" lvl="0" indent="0" algn="l" defTabSz="914400" eaLnBrk="0" fontAlgn="base" hangingPunct="0">
              <a:lnSpc>
                <a:spcPct val="90000"/>
              </a:lnSpc>
              <a:spcAft>
                <a:spcPct val="0"/>
              </a:spcAft>
              <a:buClrTx/>
              <a:buSzTx/>
              <a:defRPr/>
            </a:pPr>
            <a:r>
              <a:rPr lang="zh-CN" sz="2800" b="1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800" b="1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sz="2800" b="1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2800" b="1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sorted</a:t>
            </a:r>
            <a:r>
              <a:rPr lang="zh-CN" altLang="en-US" sz="2800" b="1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0205369" y="189434"/>
            <a:ext cx="20180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5.4 函数</a:t>
            </a:r>
            <a:endParaRPr 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54559" y="2308860"/>
            <a:ext cx="11155045" cy="230832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 = </a:t>
            </a:r>
            <a:r>
              <a:rPr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[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70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60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-20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-30</a:t>
            </a:r>
            <a:r>
              <a:rPr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])         </a:t>
            </a:r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sorted( L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key=abs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 reverse=True)    #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函数名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Print(L)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#sorted()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返回一个新列表</a:t>
            </a:r>
            <a:endParaRPr lang="en-US" altLang="zh-CN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标题 1"/>
          <p:cNvSpPr>
            <a:spLocks noGrp="1"/>
          </p:cNvSpPr>
          <p:nvPr/>
        </p:nvSpPr>
        <p:spPr>
          <a:xfrm>
            <a:off x="266527" y="944939"/>
            <a:ext cx="8245415" cy="580394"/>
          </a:xfrm>
        </p:spPr>
        <p:txBody>
          <a:bodyPr vert="horz" wrap="square" lIns="91456" tIns="45728" rIns="91456" bIns="45728" numCol="1" anchor="b" anchorCtr="0" compatLnSpc="1"/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R="0" lvl="0" indent="0" algn="l" defTabSz="914400" eaLnBrk="0" fontAlgn="base" hangingPunct="0">
              <a:lnSpc>
                <a:spcPct val="90000"/>
              </a:lnSpc>
              <a:spcAft>
                <a:spcPct val="0"/>
              </a:spcAft>
              <a:buClrTx/>
              <a:buSzTx/>
              <a:defRPr/>
            </a:pPr>
            <a:r>
              <a:rPr lang="en-US" altLang="zh-CN" sz="2800" b="1" kern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800" b="1" kern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、函数式编程的高阶函数</a:t>
            </a:r>
            <a:endParaRPr lang="en-US" sz="2800" b="1" kern="0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789408"/>
      </p:ext>
    </p:extLst>
  </p:cSld>
  <p:clrMapOvr>
    <a:masterClrMapping/>
  </p:clrMapOvr>
  <p:transition spd="slow" advTm="0"/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266699" y="1664335"/>
            <a:ext cx="4824363" cy="580390"/>
          </a:xfrm>
        </p:spPr>
        <p:txBody>
          <a:bodyPr vert="horz" wrap="square" lIns="91456" tIns="45728" rIns="91456" bIns="45728" numCol="1" anchor="b" anchorCtr="0" compatLnSpc="1"/>
          <a:lstStyle/>
          <a:p>
            <a:pPr marR="0" lvl="0" indent="0" algn="l" defTabSz="914400" eaLnBrk="0" fontAlgn="base" hangingPunct="0">
              <a:lnSpc>
                <a:spcPct val="90000"/>
              </a:lnSpc>
              <a:spcAft>
                <a:spcPct val="0"/>
              </a:spcAft>
              <a:buClrTx/>
              <a:buSzTx/>
              <a:defRPr/>
            </a:pPr>
            <a:r>
              <a:rPr lang="zh-CN" sz="2800" b="1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800" b="1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sz="2800" b="1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2800" b="1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列表对象的</a:t>
            </a:r>
            <a:r>
              <a:rPr lang="en-US" altLang="zh-CN" sz="2800" b="1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sort()</a:t>
            </a:r>
            <a:r>
              <a:rPr lang="zh-CN" altLang="en-US" sz="2800" b="1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0205369" y="189434"/>
            <a:ext cx="20180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5.4 函数</a:t>
            </a:r>
            <a:endParaRPr 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54559" y="2308860"/>
            <a:ext cx="11155045" cy="230832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 = </a:t>
            </a:r>
            <a:r>
              <a:rPr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[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70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60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-20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-30</a:t>
            </a:r>
            <a:r>
              <a:rPr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])         </a:t>
            </a:r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L.sort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(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key=abs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 reverse=True)    #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函数名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Print(L)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#Sort ()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返回一个新列表</a:t>
            </a:r>
            <a:endParaRPr lang="en-US" altLang="zh-CN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标题 1"/>
          <p:cNvSpPr>
            <a:spLocks noGrp="1"/>
          </p:cNvSpPr>
          <p:nvPr/>
        </p:nvSpPr>
        <p:spPr>
          <a:xfrm>
            <a:off x="266527" y="944939"/>
            <a:ext cx="8245415" cy="580394"/>
          </a:xfrm>
        </p:spPr>
        <p:txBody>
          <a:bodyPr vert="horz" wrap="square" lIns="91456" tIns="45728" rIns="91456" bIns="45728" numCol="1" anchor="b" anchorCtr="0" compatLnSpc="1"/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R="0" lvl="0" indent="0" algn="l" defTabSz="914400" eaLnBrk="0" fontAlgn="base" hangingPunct="0">
              <a:lnSpc>
                <a:spcPct val="90000"/>
              </a:lnSpc>
              <a:spcAft>
                <a:spcPct val="0"/>
              </a:spcAft>
              <a:buClrTx/>
              <a:buSzTx/>
              <a:defRPr/>
            </a:pPr>
            <a:r>
              <a:rPr lang="en-US" altLang="zh-CN" sz="2800" b="1" kern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800" b="1" kern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、函数式编程的高阶函数</a:t>
            </a:r>
            <a:endParaRPr lang="en-US" sz="2800" b="1" kern="0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71093310"/>
      </p:ext>
    </p:extLst>
  </p:cSld>
  <p:clrMapOvr>
    <a:masterClrMapping/>
  </p:clrMapOvr>
  <p:transition spd="slow" advTm="0"/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0205369" y="189434"/>
            <a:ext cx="20180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5.4 函数</a:t>
            </a:r>
            <a:endParaRPr 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标题 1"/>
          <p:cNvSpPr txBox="1">
            <a:spLocks/>
          </p:cNvSpPr>
          <p:nvPr/>
        </p:nvSpPr>
        <p:spPr>
          <a:xfrm>
            <a:off x="482551" y="1061984"/>
            <a:ext cx="4824363" cy="580390"/>
          </a:xfrm>
        </p:spPr>
        <p:txBody>
          <a:bodyPr vert="horz" wrap="square" lIns="91456" tIns="45728" rIns="91456" bIns="45728" numCol="1" anchor="b" anchorCtr="0" compatLnSpc="1"/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defTabSz="914400" eaLnBrk="0" fontAlgn="base" hangingPunct="0">
              <a:lnSpc>
                <a:spcPct val="90000"/>
              </a:lnSpc>
              <a:spcAft>
                <a:spcPct val="0"/>
              </a:spcAft>
              <a:defRPr/>
            </a:pPr>
            <a:r>
              <a:rPr lang="en-US" altLang="zh-CN" sz="2800" b="1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P160 </a:t>
            </a:r>
            <a:r>
              <a:rPr lang="zh-CN" altLang="en-US" sz="2800" b="1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思考与提高</a:t>
            </a:r>
            <a:r>
              <a:rPr lang="en-US" altLang="zh-CN" sz="2800" b="1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-2</a:t>
            </a:r>
            <a:endParaRPr lang="zh-CN" altLang="en-US" sz="2800" b="1" kern="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54559" y="1773610"/>
            <a:ext cx="1295547" cy="5810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范例</a:t>
            </a:r>
            <a: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4-2</a:t>
            </a:r>
          </a:p>
        </p:txBody>
      </p:sp>
      <p:pic>
        <p:nvPicPr>
          <p:cNvPr id="2049" name="Picture 1" descr="C:\Users\ThinkPad\AppData\Roaming\Tencent\Users\19379577\QQ\WinTemp\RichOle\C78D[{YHPQHR7$KZ7_NLC$Q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4719" y="1773610"/>
            <a:ext cx="8290424" cy="2664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C:\Users\ThinkPad\AppData\Roaming\Tencent\Users\19379577\QQ\WinTemp\RichOle\OSBGL$O3VG{31)EPEGV9$LD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4719" y="4437906"/>
            <a:ext cx="8208912" cy="9755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0628829"/>
      </p:ext>
    </p:extLst>
  </p:cSld>
  <p:clrMapOvr>
    <a:masterClrMapping/>
  </p:clrMapOvr>
  <p:transition spd="slow" advTm="0"/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0205369" y="189434"/>
            <a:ext cx="20180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5.4 函数</a:t>
            </a:r>
            <a:endParaRPr 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标题 1"/>
          <p:cNvSpPr txBox="1">
            <a:spLocks/>
          </p:cNvSpPr>
          <p:nvPr/>
        </p:nvSpPr>
        <p:spPr>
          <a:xfrm>
            <a:off x="482551" y="1061984"/>
            <a:ext cx="4824363" cy="580390"/>
          </a:xfrm>
        </p:spPr>
        <p:txBody>
          <a:bodyPr vert="horz" wrap="square" lIns="91456" tIns="45728" rIns="91456" bIns="45728" numCol="1" anchor="b" anchorCtr="0" compatLnSpc="1"/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defTabSz="914400" eaLnBrk="0" fontAlgn="base" hangingPunct="0">
              <a:lnSpc>
                <a:spcPct val="90000"/>
              </a:lnSpc>
              <a:spcAft>
                <a:spcPct val="0"/>
              </a:spcAft>
              <a:defRPr/>
            </a:pPr>
            <a:r>
              <a:rPr lang="en-US" altLang="zh-CN" sz="2800" b="1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P160 </a:t>
            </a:r>
            <a:r>
              <a:rPr lang="zh-CN" altLang="en-US" sz="2800" b="1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思考与提高</a:t>
            </a:r>
          </a:p>
        </p:txBody>
      </p:sp>
      <p:sp>
        <p:nvSpPr>
          <p:cNvPr id="5" name="矩形 4"/>
          <p:cNvSpPr/>
          <p:nvPr/>
        </p:nvSpPr>
        <p:spPr>
          <a:xfrm>
            <a:off x="554559" y="1773610"/>
            <a:ext cx="1295547" cy="5810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范例</a:t>
            </a:r>
            <a: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4-2</a:t>
            </a:r>
          </a:p>
        </p:txBody>
      </p:sp>
      <p:pic>
        <p:nvPicPr>
          <p:cNvPr id="1025" name="Picture 1" descr="C:\Users\ThinkPad\AppData\Roaming\Tencent\Users\19379577\QQ\WinTemp\RichOle\Q}Z1PIJ2[G395[7VB}OEQCV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6727" y="1773610"/>
            <a:ext cx="7344816" cy="2560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C:\Users\ThinkPad\AppData\Roaming\Tencent\Users\19379577\QQ\WinTemp\RichOle\0EY%SNJZT68_RXXZVHGK%HP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7431" y="4334078"/>
            <a:ext cx="7416824" cy="2061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2563459"/>
      </p:ext>
    </p:extLst>
  </p:cSld>
  <p:clrMapOvr>
    <a:masterClrMapping/>
  </p:clrMapOvr>
  <p:transition spd="slow" advTm="0"/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0205369" y="189434"/>
            <a:ext cx="20180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5.4 函数</a:t>
            </a:r>
            <a:endParaRPr 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标题 1"/>
          <p:cNvSpPr txBox="1">
            <a:spLocks/>
          </p:cNvSpPr>
          <p:nvPr/>
        </p:nvSpPr>
        <p:spPr>
          <a:xfrm>
            <a:off x="482551" y="1061984"/>
            <a:ext cx="4824363" cy="580390"/>
          </a:xfrm>
        </p:spPr>
        <p:txBody>
          <a:bodyPr vert="horz" wrap="square" lIns="91456" tIns="45728" rIns="91456" bIns="45728" numCol="1" anchor="b" anchorCtr="0" compatLnSpc="1"/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defTabSz="914400" eaLnBrk="0" fontAlgn="base" hangingPunct="0">
              <a:lnSpc>
                <a:spcPct val="90000"/>
              </a:lnSpc>
              <a:spcAft>
                <a:spcPct val="0"/>
              </a:spcAft>
              <a:defRPr/>
            </a:pPr>
            <a:r>
              <a:rPr lang="en-US" altLang="zh-CN" sz="2800" b="1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P160 </a:t>
            </a:r>
            <a:r>
              <a:rPr lang="zh-CN" altLang="en-US" sz="2800" b="1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思考与提高</a:t>
            </a:r>
            <a:r>
              <a:rPr lang="en-US" altLang="zh-CN" sz="2800" b="1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-3</a:t>
            </a:r>
            <a:endParaRPr lang="zh-CN" altLang="en-US" sz="2800" b="1" kern="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073" name="Picture 1" descr="C:\Users\ThinkPad\AppData\Roaming\Tencent\Users\19379577\QQ\WinTemp\RichOle\FJ9O5W5VULQ]M6WN{YB9TTF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2631" y="1917626"/>
            <a:ext cx="9126330" cy="18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C:\Users\ThinkPad\AppData\Roaming\Tencent\Users\19379577\QQ\WinTemp\RichOle\HH}GIKT4KLV`5}C32{O]DW7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6647" y="3717826"/>
            <a:ext cx="7496175" cy="800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AutoShape 3" descr="C:\Users\ThinkPad\AppData\Roaming\Tencent\Users\19379577\QQ\WinTemp\RichOle\R)``N~J%8)YPIEGOM~B`K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" name="AutoShape 4" descr="C:\Users\ThinkPad\AppData\Roaming\Tencent\Users\19379577\QQ\WinTemp\RichOle\R)``N~J%8)YPIEGOM~B`K.png"/>
          <p:cNvSpPr>
            <a:spLocks noChangeAspect="1" noChangeArrowheads="1"/>
          </p:cNvSpPr>
          <p:nvPr/>
        </p:nvSpPr>
        <p:spPr bwMode="auto">
          <a:xfrm>
            <a:off x="152400" y="152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" name="AutoShape 5" descr="C:\Users\ThinkPad\AppData\Roaming\Tencent\Users\19379577\QQ\WinTemp\RichOle\R)``N~J%8)YPIEGOM~B`K.png"/>
          <p:cNvSpPr>
            <a:spLocks noChangeAspect="1" noChangeArrowheads="1"/>
          </p:cNvSpPr>
          <p:nvPr/>
        </p:nvSpPr>
        <p:spPr bwMode="auto">
          <a:xfrm>
            <a:off x="304800" y="3048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" name="AutoShape 6" descr="C:\Users\ThinkPad\AppData\Roaming\Tencent\Users\19379577\QQ\WinTemp\RichOle\R)``N~J%8)YPIEGOM~B`K.png"/>
          <p:cNvSpPr>
            <a:spLocks noChangeAspect="1" noChangeArrowheads="1"/>
          </p:cNvSpPr>
          <p:nvPr/>
        </p:nvSpPr>
        <p:spPr bwMode="auto">
          <a:xfrm>
            <a:off x="457200" y="4572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3079" name="Picture 7" descr="C:\Users\ThinkPad\AppData\Roaming\Tencent\Users\19379577\QQ\WinTemp\RichOle\SI3OH%PSZPPQ@J[I_K8TNIX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7122" y="4517926"/>
            <a:ext cx="75057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019597"/>
      </p:ext>
    </p:extLst>
  </p:cSld>
  <p:clrMapOvr>
    <a:masterClrMapping/>
  </p:clrMapOvr>
  <p:transition spd="slow" advTm="0"/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0205369" y="189434"/>
            <a:ext cx="20180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5.4 函数</a:t>
            </a:r>
            <a:endParaRPr 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标题 1"/>
          <p:cNvSpPr txBox="1">
            <a:spLocks/>
          </p:cNvSpPr>
          <p:nvPr/>
        </p:nvSpPr>
        <p:spPr>
          <a:xfrm>
            <a:off x="482551" y="1061984"/>
            <a:ext cx="4824363" cy="580390"/>
          </a:xfrm>
        </p:spPr>
        <p:txBody>
          <a:bodyPr vert="horz" wrap="square" lIns="91456" tIns="45728" rIns="91456" bIns="45728" numCol="1" anchor="b" anchorCtr="0" compatLnSpc="1"/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defTabSz="914400" eaLnBrk="0" fontAlgn="base" hangingPunct="0">
              <a:lnSpc>
                <a:spcPct val="90000"/>
              </a:lnSpc>
              <a:spcAft>
                <a:spcPct val="0"/>
              </a:spcAft>
              <a:defRPr/>
            </a:pPr>
            <a:r>
              <a:rPr lang="en-US" altLang="zh-CN" sz="2800" b="1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P160 </a:t>
            </a:r>
            <a:r>
              <a:rPr lang="zh-CN" altLang="en-US" sz="2800" b="1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思考与提高</a:t>
            </a:r>
            <a:r>
              <a:rPr lang="en-US" altLang="zh-CN" sz="2800" b="1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-4</a:t>
            </a:r>
            <a:endParaRPr lang="zh-CN" altLang="en-US" sz="2800" b="1" kern="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097" name="Picture 1" descr="C:\Users\ThinkPad\AppData\Roaming\Tencent\Users\19379577\QQ\WinTemp\RichOle\161D(XG{T8`EZ0OHREVICJV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8615" y="1773610"/>
            <a:ext cx="9854392" cy="936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 descr="C:\Users\ThinkPad\AppData\Roaming\Tencent\Users\19379577\QQ\WinTemp\RichOle\T66]G0L8CCAX8G{VE@B2)GV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9874" y="2709713"/>
            <a:ext cx="8792682" cy="936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9" name="Picture 3" descr="C:\Users\ThinkPad\AppData\Roaming\Tencent\Users\19379577\QQ\WinTemp\RichOle\(H@WCVNNQO5HJQ96U`NZ22E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5585" y="3861841"/>
            <a:ext cx="8792681" cy="976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6258665"/>
      </p:ext>
    </p:extLst>
  </p:cSld>
  <p:clrMapOvr>
    <a:masterClrMapping/>
  </p:clrMapOvr>
  <p:transition spd="slow" advTm="0"/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0205369" y="189434"/>
            <a:ext cx="20180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5.4 函数</a:t>
            </a:r>
            <a:endParaRPr 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标题 1"/>
          <p:cNvSpPr txBox="1">
            <a:spLocks/>
          </p:cNvSpPr>
          <p:nvPr/>
        </p:nvSpPr>
        <p:spPr>
          <a:xfrm>
            <a:off x="482551" y="1061984"/>
            <a:ext cx="4824363" cy="580390"/>
          </a:xfrm>
        </p:spPr>
        <p:txBody>
          <a:bodyPr vert="horz" wrap="square" lIns="91456" tIns="45728" rIns="91456" bIns="45728" numCol="1" anchor="b" anchorCtr="0" compatLnSpc="1"/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defTabSz="914400" eaLnBrk="0" fontAlgn="base" hangingPunct="0">
              <a:lnSpc>
                <a:spcPct val="90000"/>
              </a:lnSpc>
              <a:spcAft>
                <a:spcPct val="0"/>
              </a:spcAft>
              <a:defRPr/>
            </a:pPr>
            <a:r>
              <a:rPr lang="en-US" altLang="zh-CN" sz="2800" b="1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P160 </a:t>
            </a:r>
            <a:r>
              <a:rPr lang="zh-CN" altLang="en-US" sz="2800" b="1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思考与提高</a:t>
            </a:r>
            <a:r>
              <a:rPr lang="en-US" altLang="zh-CN" sz="2800" b="1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-5</a:t>
            </a:r>
            <a:endParaRPr lang="zh-CN" altLang="en-US" sz="2800" b="1" kern="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121" name="Picture 1" descr="C:\Users\ThinkPad\AppData\Roaming\Tencent\Users\19379577\QQ\WinTemp\RichOle\D]5(IUUW41NMPD(MO8H}_CI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607" y="1642374"/>
            <a:ext cx="8882288" cy="15713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8148195"/>
      </p:ext>
    </p:extLst>
  </p:cSld>
  <p:clrMapOvr>
    <a:masterClrMapping/>
  </p:clrMapOvr>
  <p:transition spd="slow" advTm="0"/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0205369" y="189434"/>
            <a:ext cx="20180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5.4 函数</a:t>
            </a:r>
            <a:endParaRPr 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标题 1"/>
          <p:cNvSpPr txBox="1">
            <a:spLocks/>
          </p:cNvSpPr>
          <p:nvPr/>
        </p:nvSpPr>
        <p:spPr>
          <a:xfrm>
            <a:off x="482551" y="1061984"/>
            <a:ext cx="4824363" cy="580390"/>
          </a:xfrm>
        </p:spPr>
        <p:txBody>
          <a:bodyPr vert="horz" wrap="square" lIns="91456" tIns="45728" rIns="91456" bIns="45728" numCol="1" anchor="b" anchorCtr="0" compatLnSpc="1"/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defTabSz="914400" eaLnBrk="0" fontAlgn="base" hangingPunct="0">
              <a:lnSpc>
                <a:spcPct val="90000"/>
              </a:lnSpc>
              <a:spcAft>
                <a:spcPct val="0"/>
              </a:spcAft>
              <a:defRPr/>
            </a:pPr>
            <a:r>
              <a:rPr lang="en-US" altLang="zh-CN" sz="2800" b="1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P160 </a:t>
            </a:r>
            <a:r>
              <a:rPr lang="zh-CN" altLang="en-US" sz="2800" b="1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思考与提高</a:t>
            </a:r>
            <a:r>
              <a:rPr lang="en-US" altLang="zh-CN" sz="2800" b="1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-5</a:t>
            </a:r>
            <a:endParaRPr lang="zh-CN" altLang="en-US" sz="2800" b="1" kern="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122" name="Picture 2" descr="C:\Users\ThinkPad\AppData\Roaming\Tencent\Users\19379577\QQ\WinTemp\RichOle\GZD~_D)YPWD3`G0]]PKTD1V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2711" y="1642374"/>
            <a:ext cx="7658100" cy="5048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7171816"/>
      </p:ext>
    </p:extLst>
  </p:cSld>
  <p:clrMapOvr>
    <a:masterClrMapping/>
  </p:clrMapOvr>
  <p:transition spd="slow" advTm="0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08726_1*i*1"/>
  <p:tag name="KSO_WM_TEMPLATE_CATEGORY" val="diagram"/>
  <p:tag name="KSO_WM_TEMPLATE_INDEX" val="20208726"/>
  <p:tag name="KSO_WM_UNIT_LAYERLEVEL" val="1"/>
  <p:tag name="KSO_WM_TAG_VERSION" val="1.0"/>
  <p:tag name="KSO_WM_BEAUTIFY_FLAG" val="#wm#"/>
  <p:tag name="KSO_WM_UNIT_BLOCK" val="0"/>
  <p:tag name="KSO_WM_UNIT_SM_LIMIT_TYPE" val="1"/>
  <p:tag name="KSO_WM_UNIT_DEC_AREA_ID" val="869a47cc434a46408bb65052c05f2790"/>
  <p:tag name="KSO_WM_UNIT_DECORATE_INFO" val="{&quot;ReferentInfo&quot;:{&quot;X&quot;:{&quot;Pos&quot;:0},&quot;Y&quot;:{&quot;Pos&quot;:0}},&quot;DecorateInfoX&quot;:{&quot;Pos&quot;:0,&quot;IsAbs&quot;:false},&quot;DecorateInfoY&quot;:{&quot;Pos&quot;:0,&quot;IsAbs&quot;:false},&quot;DecorateInfoW&quot;:{&quot;IsAbs&quot;:true},&quot;DecorateInfoH&quot;:{&quot;IsAbs&quot;:true}}"/>
  <p:tag name="KSO_WM_CHIP_GROUPID" val="5ef16cf55bb2a422ac9a2b39"/>
  <p:tag name="KSO_WM_CHIP_XID" val="5ef16cf55bb2a422ac9a2b3a"/>
  <p:tag name="KSO_WM_UNIT_FILL_FORE_SCHEMECOLOR_INDEX_BRIGHTNESS" val="0"/>
  <p:tag name="KSO_WM_UNIT_FILL_FORE_SCHEMECOLOR_INDEX" val="15"/>
  <p:tag name="KSO_WM_UNIT_FILL_BACK_SCHEMECOLOR_INDEX_BRIGHTNESS" val="0"/>
  <p:tag name="KSO_WM_UNIT_FILL_BACK_SCHEMECOLOR_INDEX" val="14"/>
  <p:tag name="KSO_WM_UNIT_FILL_TYPE" val="2"/>
  <p:tag name="KSO_WM_UNIT_TEXT_FILL_FORE_SCHEMECOLOR_INDEX_BRIGHTNESS" val="0"/>
  <p:tag name="KSO_WM_UNIT_TEXT_FILL_FORE_SCHEMECOLOR_INDEX" val="2"/>
  <p:tag name="KSO_WM_UNIT_TEXT_FILL_TYPE" val="1"/>
  <p:tag name="KSO_WM_UNIT_VALUE" val="477"/>
  <p:tag name="KSO_WM_TEMPLATE_ASSEMBLE_XID" val="5ef55454ea5a3ac527a189e3"/>
  <p:tag name="KSO_WM_TEMPLATE_ASSEMBLE_GROUPID" val="5ef55454ea5a3ac527a189e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208726_1*i*2"/>
  <p:tag name="KSO_WM_TEMPLATE_CATEGORY" val="diagram"/>
  <p:tag name="KSO_WM_TEMPLATE_INDEX" val="20208726"/>
  <p:tag name="KSO_WM_UNIT_LAYERLEVEL" val="1"/>
  <p:tag name="KSO_WM_TAG_VERSION" val="1.0"/>
  <p:tag name="KSO_WM_BEAUTIFY_FLAG" val="#wm#"/>
  <p:tag name="KSO_WM_UNIT_BLOCK" val="0"/>
  <p:tag name="KSO_WM_UNIT_SM_LIMIT_TYPE" val="2"/>
  <p:tag name="KSO_WM_UNIT_DEC_AREA_ID" val="c4ce87efa6da456eba5f87ab75ba3aa6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1},&quot;ReferentInfo&quot;:{&quot;Id&quot;:&quot;6618fb3c5f874e68a20589c3b602507e&quot;,&quot;X&quot;:{&quot;Pos&quot;:1},&quot;Y&quot;:{&quot;Pos&quot;:1}}}"/>
  <p:tag name="KSO_WM_CHIP_GROUPID" val="5ef16cf55bb2a422ac9a2b39"/>
  <p:tag name="KSO_WM_CHIP_XID" val="5ef16cf55bb2a422ac9a2b3a"/>
  <p:tag name="KSO_WM_UNIT_FILL_FORE_SCHEMECOLOR_INDEX_BRIGHTNESS" val="0"/>
  <p:tag name="KSO_WM_UNIT_FILL_FORE_SCHEMECOLOR_INDEX" val="14"/>
  <p:tag name="KSO_WM_UNIT_FILL_TYPE" val="1"/>
  <p:tag name="KSO_WM_UNIT_SHADOW_SCHEMECOLOR_INDEX_BRIGHTNESS" val="0"/>
  <p:tag name="KSO_WM_UNIT_SHADOW_SCHEMECOLOR_INDEX" val="13"/>
  <p:tag name="KSO_WM_UNIT_TEXT_FILL_FORE_SCHEMECOLOR_INDEX_BRIGHTNESS" val="0"/>
  <p:tag name="KSO_WM_UNIT_TEXT_FILL_FORE_SCHEMECOLOR_INDEX" val="2"/>
  <p:tag name="KSO_WM_UNIT_TEXT_FILL_TYPE" val="1"/>
  <p:tag name="KSO_WM_UNIT_VALUE" val="114"/>
  <p:tag name="KSO_WM_TEMPLATE_ASSEMBLE_XID" val="5ef55454ea5a3ac527a189e3"/>
  <p:tag name="KSO_WM_TEMPLATE_ASSEMBLE_GROUPID" val="5ef55454ea5a3ac527a189e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diagram20208726_1*i*7"/>
  <p:tag name="KSO_WM_TEMPLATE_CATEGORY" val="diagram"/>
  <p:tag name="KSO_WM_TEMPLATE_INDEX" val="20208726"/>
  <p:tag name="KSO_WM_UNIT_LAYERLEVEL" val="1"/>
  <p:tag name="KSO_WM_TAG_VERSION" val="1.0"/>
  <p:tag name="KSO_WM_BEAUTIFY_FLAG" val="#wm#"/>
  <p:tag name="KSO_WM_UNIT_BLOCK" val="0"/>
  <p:tag name="KSO_WM_UNIT_SM_LIMIT_TYPE" val="2"/>
  <p:tag name="KSO_WM_UNIT_DEC_AREA_ID" val="bcde86d968184e51b1cbdb20e2dfff00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1},&quot;ReferentInfo&quot;:{&quot;Id&quot;:&quot;2a0b84ff2b9a4700b2ebecd3d5d2b889&quot;,&quot;X&quot;:{&quot;Pos&quot;:1},&quot;Y&quot;:{&quot;Pos&quot;:1}}}"/>
  <p:tag name="KSO_WM_CHIP_GROUPID" val="5ef16cf55bb2a422ac9a2b39"/>
  <p:tag name="KSO_WM_CHIP_XID" val="5ef16cf55bb2a422ac9a2b3a"/>
  <p:tag name="KSO_WM_UNIT_FILL_FORE_SCHEMECOLOR_INDEX_BRIGHTNESS" val="0"/>
  <p:tag name="KSO_WM_UNIT_FILL_FORE_SCHEMECOLOR_INDEX" val="14"/>
  <p:tag name="KSO_WM_UNIT_FILL_TYPE" val="1"/>
  <p:tag name="KSO_WM_UNIT_SHADOW_SCHEMECOLOR_INDEX_BRIGHTNESS" val="0"/>
  <p:tag name="KSO_WM_UNIT_SHADOW_SCHEMECOLOR_INDEX" val="13"/>
  <p:tag name="KSO_WM_UNIT_TEXT_FILL_FORE_SCHEMECOLOR_INDEX_BRIGHTNESS" val="0"/>
  <p:tag name="KSO_WM_UNIT_TEXT_FILL_FORE_SCHEMECOLOR_INDEX" val="2"/>
  <p:tag name="KSO_WM_UNIT_TEXT_FILL_TYPE" val="1"/>
  <p:tag name="KSO_WM_UNIT_VALUE" val="380"/>
  <p:tag name="KSO_WM_TEMPLATE_ASSEMBLE_XID" val="5ef55454ea5a3ac527a189e3"/>
  <p:tag name="KSO_WM_TEMPLATE_ASSEMBLE_GROUPID" val="5ef55454ea5a3ac527a189e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27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08726_1*a*1"/>
  <p:tag name="KSO_WM_TEMPLATE_CATEGORY" val="diagram"/>
  <p:tag name="KSO_WM_TEMPLATE_INDEX" val="20208726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6618fb3c5f874e68a20589c3b602507e"/>
  <p:tag name="KSO_WM_ASSEMBLE_CHIP_INDEX" val="cf455a0210784292bf56397ada7cc389"/>
  <p:tag name="KSO_WM_UNIT_TEXT_FILL_FORE_SCHEMECOLOR_INDEX_BRIGHTNESS" val="0"/>
  <p:tag name="KSO_WM_UNIT_TEXT_FILL_FORE_SCHEMECOLOR_INDEX" val="13"/>
  <p:tag name="KSO_WM_UNIT_TEXT_FILL_TYPE" val="1"/>
  <p:tag name="KSO_WM_TEMPLATE_ASSEMBLE_XID" val="5ef55454ea5a3ac527a189e3"/>
  <p:tag name="KSO_WM_TEMPLATE_ASSEMBLE_GROUPID" val="5ef55454ea5a3ac527a189e3"/>
  <p:tag name="KSO_WM_UNIT_SMARTLAYOUT_COMPRESS_INFO" val="{&#10;    &quot;id&quot;: &quot;2020-06-26T09:50:13&quot;,&#10;    &quot;max&quot;: 9.9359201546418774,&#10;    &quot;parentMax&quot;: {&#10;        &quot;max&quot;: 2.3390404752793827&#10;    },&#10;    &quot;topChanged&quot;: 9.889445190429683&#10;}&#10;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2_1"/>
  <p:tag name="KSO_WM_UNIT_ID" val="diagram20210129_4*l_h_i*1_2_1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59da7e6ec43e4feb9298f18bea997348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1},&quot;ReferentInfo&quot;:{&quot;Id&quot;:&quot;b59d62ad1efa49a7814a432af9fe78d0&quot;,&quot;X&quot;:{&quot;Pos&quot;:1},&quot;Y&quot;:{&quot;Pos&quot;:1}},&quot;whChangeMode&quot;:0}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13"/>
  <p:tag name="KSO_WM_UNIT_TEXT_FILL_TYPE" val="1"/>
  <p:tag name="KSO_WM_UNIT_VALUE" val="6"/>
  <p:tag name="KSO_WM_UNIT_USESOURCEFORMAT_APPLY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添加正文，文字是您思想的提炼，请尽量言简意赅的阐述观点。"/>
  <p:tag name="KSO_WM_UNIT_NOCLEAR" val="0"/>
  <p:tag name="KSO_WM_UNIT_VALUE" val="49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10129_4*l_h_f*1_2_1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DEFAULT_FONT" val="14;20;2"/>
  <p:tag name="KSO_WM_UNIT_BLOCK" val="0"/>
  <p:tag name="KSO_WM_UNIT_DEC_AREA_ID" val="34b132e5c4a443288f0a499a2a868f21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TEXT_FILL_FORE_SCHEMECOLOR_INDEX_BRIGHTNESS" val="0.25"/>
  <p:tag name="KSO_WM_UNIT_TEXT_FILL_FORE_SCHEMECOLOR_INDEX" val="13"/>
  <p:tag name="KSO_WM_UNIT_TEXT_FILL_TYPE" val="1"/>
  <p:tag name="KSO_WM_UNIT_USESOURCEFORMAT_APPLY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2_2"/>
  <p:tag name="KSO_WM_UNIT_ID" val="diagram20210129_4*l_h_i*1_2_2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b59d62ad1efa49a7814a432af9fe78d0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2},&quot;ReferentInfo&quot;:{&quot;Id&quot;:&quot;34b132e5c4a443288f0a499a2a868f21&quot;,&quot;X&quot;:{&quot;Pos&quot;:1},&quot;Y&quot;:{&quot;Pos&quot;:0}},&quot;whChangeMode&quot;:0}"/>
  <p:tag name="KSO_WM_UNIT_DEFAULT_FONT" val="18;36;2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TEXT_FILL_FORE_SCHEMECOLOR_INDEX_BRIGHTNESS" val="-0.25"/>
  <p:tag name="KSO_WM_UNIT_TEXT_FILL_FORE_SCHEMECOLOR_INDEX" val="5"/>
  <p:tag name="KSO_WM_UNIT_TEXT_FILL_TYPE" val="1"/>
  <p:tag name="KSO_WM_UNIT_VALUE" val="1"/>
  <p:tag name="KSO_WM_UNIT_USESOURCEFORMAT_APPLY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2_2"/>
  <p:tag name="KSO_WM_UNIT_ID" val="diagram20210129_4*l_h_i*1_2_2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70d7a2d2c86d4c9db8b4a0d9151012cf"/>
  <p:tag name="KSO_WM_UNIT_DECORATE_INFO" val="{&quot;DecorateInfoH&quot;:{&quot;IsAbs&quot;:true},&quot;DecorateInfoW&quot;:{&quot;IsAbs&quot;:true},&quot;DecorateInfoX&quot;:{&quot;IsAbs&quot;:true,&quot;Pos&quot;:2},&quot;DecorateInfoY&quot;:{&quot;IsAbs&quot;:true,&quot;Pos&quot;:1},&quot;ReferentInfo&quot;:{&quot;Id&quot;:&quot;b59d62ad1efa49a7814a432af9fe78d0&quot;,&quot;X&quot;:{&quot;Pos&quot;:0},&quot;Y&quot;:{&quot;Pos&quot;:1}},&quot;whChangeMode&quot;:0}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FILL_FORE_SCHEMECOLOR_INDEX_BRIGHTNESS" val="0.4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1"/>
  <p:tag name="KSO_WM_UNIT_USESOURCEFORMAT_APPLY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3_1"/>
  <p:tag name="KSO_WM_UNIT_ID" val="diagram20210129_4*l_h_i*1_3_1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b6081f06af7546549cd304a627ac5bf6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1},&quot;ReferentInfo&quot;:{&quot;Id&quot;:&quot;7c5b9ba033db4be7921036f8d9ac71fa&quot;,&quot;X&quot;:{&quot;Pos&quot;:1},&quot;Y&quot;:{&quot;Pos&quot;:1}},&quot;whChangeMode&quot;:0}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13"/>
  <p:tag name="KSO_WM_UNIT_TEXT_FILL_TYPE" val="1"/>
  <p:tag name="KSO_WM_UNIT_VALUE" val="6"/>
  <p:tag name="KSO_WM_UNIT_USESOURCEFORMAT_APPLY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添加正文，文字是您思想的提炼，请尽量言简意赅的阐述观点。"/>
  <p:tag name="KSO_WM_UNIT_NOCLEAR" val="0"/>
  <p:tag name="KSO_WM_UNIT_VALUE" val="49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10129_4*l_h_f*1_3_1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DEFAULT_FONT" val="14;20;2"/>
  <p:tag name="KSO_WM_UNIT_BLOCK" val="0"/>
  <p:tag name="KSO_WM_UNIT_DEC_AREA_ID" val="9139da38a7254bbdae206e7c3badbfdc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TEXT_FILL_FORE_SCHEMECOLOR_INDEX_BRIGHTNESS" val="0.25"/>
  <p:tag name="KSO_WM_UNIT_TEXT_FILL_FORE_SCHEMECOLOR_INDEX" val="13"/>
  <p:tag name="KSO_WM_UNIT_TEXT_FILL_TYPE" val="1"/>
  <p:tag name="KSO_WM_UNIT_USESOURCEFORMAT_APPLY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3_2"/>
  <p:tag name="KSO_WM_UNIT_ID" val="diagram20210129_4*l_h_i*1_3_2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7c5b9ba033db4be7921036f8d9ac71fa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2},&quot;ReferentInfo&quot;:{&quot;Id&quot;:&quot;9139da38a7254bbdae206e7c3badbfdc&quot;,&quot;X&quot;:{&quot;Pos&quot;:1},&quot;Y&quot;:{&quot;Pos&quot;:0}},&quot;whChangeMode&quot;:0}"/>
  <p:tag name="KSO_WM_UNIT_DEFAULT_FONT" val="18;36;2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TEXT_FILL_FORE_SCHEMECOLOR_INDEX_BRIGHTNESS" val="-0.25"/>
  <p:tag name="KSO_WM_UNIT_TEXT_FILL_FORE_SCHEMECOLOR_INDEX" val="5"/>
  <p:tag name="KSO_WM_UNIT_TEXT_FILL_TYPE" val="1"/>
  <p:tag name="KSO_WM_UNIT_VALUE" val="1"/>
  <p:tag name="KSO_WM_UNIT_USESOURCEFORMAT_APPLY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3_2"/>
  <p:tag name="KSO_WM_UNIT_ID" val="diagram20210129_4*l_h_i*1_3_2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ec820f4b29364f0d9126a1b5fe20d73d"/>
  <p:tag name="KSO_WM_UNIT_DECORATE_INFO" val="{&quot;DecorateInfoH&quot;:{&quot;IsAbs&quot;:true},&quot;DecorateInfoW&quot;:{&quot;IsAbs&quot;:true},&quot;DecorateInfoX&quot;:{&quot;IsAbs&quot;:true,&quot;Pos&quot;:2},&quot;DecorateInfoY&quot;:{&quot;IsAbs&quot;:true,&quot;Pos&quot;:1},&quot;ReferentInfo&quot;:{&quot;Id&quot;:&quot;7c5b9ba033db4be7921036f8d9ac71fa&quot;,&quot;X&quot;:{&quot;Pos&quot;:0},&quot;Y&quot;:{&quot;Pos&quot;:1}},&quot;whChangeMode&quot;:0}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FILL_FORE_SCHEMECOLOR_INDEX_BRIGHTNESS" val="0.4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1"/>
  <p:tag name="KSO_WM_UNIT_USESOURCEFORMAT_APPLY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4_1"/>
  <p:tag name="KSO_WM_UNIT_ID" val="diagram20210129_4*l_h_i*1_4_1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39c131c2df22469293f4eda4cafa0add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1},&quot;ReferentInfo&quot;:{&quot;Id&quot;:&quot;7727769e63484bff8316e642df87776f&quot;,&quot;X&quot;:{&quot;Pos&quot;:1},&quot;Y&quot;:{&quot;Pos&quot;:1}},&quot;whChangeMode&quot;:0}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13"/>
  <p:tag name="KSO_WM_UNIT_TEXT_FILL_TYPE" val="1"/>
  <p:tag name="KSO_WM_UNIT_VALUE" val="6"/>
  <p:tag name="KSO_WM_UNIT_USESOURCEFORMAT_APPLY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添加正文，文字是您思想的提炼，请尽量言简意赅的阐述观点。"/>
  <p:tag name="KSO_WM_UNIT_NOCLEAR" val="0"/>
  <p:tag name="KSO_WM_UNIT_VALUE" val="49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4_1"/>
  <p:tag name="KSO_WM_UNIT_ID" val="diagram20210129_4*l_h_f*1_4_1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DEFAULT_FONT" val="14;20;2"/>
  <p:tag name="KSO_WM_UNIT_BLOCK" val="0"/>
  <p:tag name="KSO_WM_UNIT_DEC_AREA_ID" val="74d740d563994c26aa1d5848c3fc10f8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TEXT_FILL_FORE_SCHEMECOLOR_INDEX_BRIGHTNESS" val="0.25"/>
  <p:tag name="KSO_WM_UNIT_TEXT_FILL_FORE_SCHEMECOLOR_INDEX" val="13"/>
  <p:tag name="KSO_WM_UNIT_TEXT_FILL_TYPE" val="1"/>
  <p:tag name="KSO_WM_UNIT_USESOURCEFORMAT_APPLY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4_2"/>
  <p:tag name="KSO_WM_UNIT_ID" val="diagram20210129_4*l_h_i*1_4_2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7727769e63484bff8316e642df87776f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2},&quot;ReferentInfo&quot;:{&quot;Id&quot;:&quot;74d740d563994c26aa1d5848c3fc10f8&quot;,&quot;X&quot;:{&quot;Pos&quot;:1},&quot;Y&quot;:{&quot;Pos&quot;:0}},&quot;whChangeMode&quot;:0}"/>
  <p:tag name="KSO_WM_UNIT_DEFAULT_FONT" val="18;36;2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TEXT_FILL_FORE_SCHEMECOLOR_INDEX_BRIGHTNESS" val="-0.25"/>
  <p:tag name="KSO_WM_UNIT_TEXT_FILL_FORE_SCHEMECOLOR_INDEX" val="5"/>
  <p:tag name="KSO_WM_UNIT_TEXT_FILL_TYPE" val="1"/>
  <p:tag name="KSO_WM_UNIT_VALUE" val="1"/>
  <p:tag name="KSO_WM_UNIT_USESOURCEFORMAT_APPLY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4_2"/>
  <p:tag name="KSO_WM_UNIT_ID" val="diagram20210129_4*l_h_i*1_4_2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7268b2bc951b4a15b816214d5589381a"/>
  <p:tag name="KSO_WM_UNIT_DECORATE_INFO" val="{&quot;DecorateInfoH&quot;:{&quot;IsAbs&quot;:true},&quot;DecorateInfoW&quot;:{&quot;IsAbs&quot;:true},&quot;DecorateInfoX&quot;:{&quot;IsAbs&quot;:true,&quot;Pos&quot;:2},&quot;DecorateInfoY&quot;:{&quot;IsAbs&quot;:true,&quot;Pos&quot;:1},&quot;ReferentInfo&quot;:{&quot;Id&quot;:&quot;7727769e63484bff8316e642df87776f&quot;,&quot;X&quot;:{&quot;Pos&quot;:0},&quot;Y&quot;:{&quot;Pos&quot;:1}},&quot;whChangeMode&quot;:0}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FILL_FORE_SCHEMECOLOR_INDEX_BRIGHTNESS" val="0.4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1"/>
  <p:tag name="KSO_WM_UNIT_USESOURCEFORMAT_APPLY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5_1"/>
  <p:tag name="KSO_WM_UNIT_ID" val="diagram20210129_4*l_h_i*1_5_1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2fccc7cfe0a94a03964fef3a6bcbba88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1},&quot;ReferentInfo&quot;:{&quot;Id&quot;:&quot;53c010be7e1347ceaad05fcf213bdb85&quot;,&quot;X&quot;:{&quot;Pos&quot;:1},&quot;Y&quot;:{&quot;Pos&quot;:1}},&quot;whChangeMode&quot;:0}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13"/>
  <p:tag name="KSO_WM_UNIT_TEXT_FILL_TYPE" val="1"/>
  <p:tag name="KSO_WM_UNIT_VALUE" val="6"/>
  <p:tag name="KSO_WM_UNIT_USESOURCEFORMAT_APPLY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添加正文，文字是您思想的提炼，请尽量言简意赅的阐述观点。"/>
  <p:tag name="KSO_WM_UNIT_NOCLEAR" val="0"/>
  <p:tag name="KSO_WM_UNIT_VALUE" val="49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5_1"/>
  <p:tag name="KSO_WM_UNIT_ID" val="diagram20210129_4*l_h_f*1_5_1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DEFAULT_FONT" val="14;20;2"/>
  <p:tag name="KSO_WM_UNIT_BLOCK" val="0"/>
  <p:tag name="KSO_WM_UNIT_DEC_AREA_ID" val="84bac5f5da5744a784b90ba5919c6c07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TEXT_FILL_FORE_SCHEMECOLOR_INDEX_BRIGHTNESS" val="0.25"/>
  <p:tag name="KSO_WM_UNIT_TEXT_FILL_FORE_SCHEMECOLOR_INDEX" val="13"/>
  <p:tag name="KSO_WM_UNIT_TEXT_FILL_TYPE" val="1"/>
  <p:tag name="KSO_WM_UNIT_USESOURCEFORMAT_APPLY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5_2"/>
  <p:tag name="KSO_WM_UNIT_ID" val="diagram20210129_4*l_h_i*1_5_2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53c010be7e1347ceaad05fcf213bdb85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2},&quot;ReferentInfo&quot;:{&quot;Id&quot;:&quot;84bac5f5da5744a784b90ba5919c6c07&quot;,&quot;X&quot;:{&quot;Pos&quot;:1},&quot;Y&quot;:{&quot;Pos&quot;:0}},&quot;whChangeMode&quot;:0}"/>
  <p:tag name="KSO_WM_UNIT_DEFAULT_FONT" val="18;36;2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TEXT_FILL_FORE_SCHEMECOLOR_INDEX_BRIGHTNESS" val="-0.25"/>
  <p:tag name="KSO_WM_UNIT_TEXT_FILL_FORE_SCHEMECOLOR_INDEX" val="5"/>
  <p:tag name="KSO_WM_UNIT_TEXT_FILL_TYPE" val="1"/>
  <p:tag name="KSO_WM_UNIT_VALUE" val="1"/>
  <p:tag name="KSO_WM_UNIT_USESOURCEFORMAT_APPLY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5_2"/>
  <p:tag name="KSO_WM_UNIT_ID" val="diagram20210129_4*l_h_i*1_5_2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0b803d1f78ef49d09ddb1edf22e1f8f1"/>
  <p:tag name="KSO_WM_UNIT_DECORATE_INFO" val="{&quot;DecorateInfoH&quot;:{&quot;IsAbs&quot;:true},&quot;DecorateInfoW&quot;:{&quot;IsAbs&quot;:true},&quot;DecorateInfoX&quot;:{&quot;IsAbs&quot;:true,&quot;Pos&quot;:2},&quot;DecorateInfoY&quot;:{&quot;IsAbs&quot;:true,&quot;Pos&quot;:1},&quot;ReferentInfo&quot;:{&quot;Id&quot;:&quot;53c010be7e1347ceaad05fcf213bdb85&quot;,&quot;X&quot;:{&quot;Pos&quot;:0},&quot;Y&quot;:{&quot;Pos&quot;:1}},&quot;whChangeMode&quot;:0}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FILL_FORE_SCHEMECOLOR_INDEX_BRIGHTNESS" val="0.4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1"/>
  <p:tag name="KSO_WM_UNIT_USESOURCEFORMAT_APPLY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08726_1*i*1"/>
  <p:tag name="KSO_WM_TEMPLATE_CATEGORY" val="diagram"/>
  <p:tag name="KSO_WM_TEMPLATE_INDEX" val="20208726"/>
  <p:tag name="KSO_WM_UNIT_LAYERLEVEL" val="1"/>
  <p:tag name="KSO_WM_TAG_VERSION" val="1.0"/>
  <p:tag name="KSO_WM_BEAUTIFY_FLAG" val="#wm#"/>
  <p:tag name="KSO_WM_UNIT_BLOCK" val="0"/>
  <p:tag name="KSO_WM_UNIT_SM_LIMIT_TYPE" val="1"/>
  <p:tag name="KSO_WM_UNIT_DEC_AREA_ID" val="869a47cc434a46408bb65052c05f2790"/>
  <p:tag name="KSO_WM_UNIT_DECORATE_INFO" val="{&quot;ReferentInfo&quot;:{&quot;X&quot;:{&quot;Pos&quot;:0},&quot;Y&quot;:{&quot;Pos&quot;:0}},&quot;DecorateInfoX&quot;:{&quot;Pos&quot;:0,&quot;IsAbs&quot;:false},&quot;DecorateInfoY&quot;:{&quot;Pos&quot;:0,&quot;IsAbs&quot;:false},&quot;DecorateInfoW&quot;:{&quot;IsAbs&quot;:true},&quot;DecorateInfoH&quot;:{&quot;IsAbs&quot;:true}}"/>
  <p:tag name="KSO_WM_CHIP_GROUPID" val="5ef16cf55bb2a422ac9a2b39"/>
  <p:tag name="KSO_WM_CHIP_XID" val="5ef16cf55bb2a422ac9a2b3a"/>
  <p:tag name="KSO_WM_UNIT_FILL_FORE_SCHEMECOLOR_INDEX_BRIGHTNESS" val="0"/>
  <p:tag name="KSO_WM_UNIT_FILL_FORE_SCHEMECOLOR_INDEX" val="15"/>
  <p:tag name="KSO_WM_UNIT_FILL_BACK_SCHEMECOLOR_INDEX_BRIGHTNESS" val="0"/>
  <p:tag name="KSO_WM_UNIT_FILL_BACK_SCHEMECOLOR_INDEX" val="14"/>
  <p:tag name="KSO_WM_UNIT_FILL_TYPE" val="2"/>
  <p:tag name="KSO_WM_UNIT_TEXT_FILL_FORE_SCHEMECOLOR_INDEX_BRIGHTNESS" val="0"/>
  <p:tag name="KSO_WM_UNIT_TEXT_FILL_FORE_SCHEMECOLOR_INDEX" val="2"/>
  <p:tag name="KSO_WM_UNIT_TEXT_FILL_TYPE" val="1"/>
  <p:tag name="KSO_WM_UNIT_VALUE" val="477"/>
  <p:tag name="KSO_WM_TEMPLATE_ASSEMBLE_XID" val="5ef55454ea5a3ac527a189e3"/>
  <p:tag name="KSO_WM_TEMPLATE_ASSEMBLE_GROUPID" val="5ef55454ea5a3ac527a189e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208726_1*i*2"/>
  <p:tag name="KSO_WM_TEMPLATE_CATEGORY" val="diagram"/>
  <p:tag name="KSO_WM_TEMPLATE_INDEX" val="20208726"/>
  <p:tag name="KSO_WM_UNIT_LAYERLEVEL" val="1"/>
  <p:tag name="KSO_WM_TAG_VERSION" val="1.0"/>
  <p:tag name="KSO_WM_BEAUTIFY_FLAG" val="#wm#"/>
  <p:tag name="KSO_WM_UNIT_BLOCK" val="0"/>
  <p:tag name="KSO_WM_UNIT_SM_LIMIT_TYPE" val="2"/>
  <p:tag name="KSO_WM_UNIT_DEC_AREA_ID" val="c4ce87efa6da456eba5f87ab75ba3aa6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1},&quot;ReferentInfo&quot;:{&quot;Id&quot;:&quot;6618fb3c5f874e68a20589c3b602507e&quot;,&quot;X&quot;:{&quot;Pos&quot;:1},&quot;Y&quot;:{&quot;Pos&quot;:1}}}"/>
  <p:tag name="KSO_WM_CHIP_GROUPID" val="5ef16cf55bb2a422ac9a2b39"/>
  <p:tag name="KSO_WM_CHIP_XID" val="5ef16cf55bb2a422ac9a2b3a"/>
  <p:tag name="KSO_WM_UNIT_FILL_FORE_SCHEMECOLOR_INDEX_BRIGHTNESS" val="0"/>
  <p:tag name="KSO_WM_UNIT_FILL_FORE_SCHEMECOLOR_INDEX" val="14"/>
  <p:tag name="KSO_WM_UNIT_FILL_TYPE" val="1"/>
  <p:tag name="KSO_WM_UNIT_SHADOW_SCHEMECOLOR_INDEX_BRIGHTNESS" val="0"/>
  <p:tag name="KSO_WM_UNIT_SHADOW_SCHEMECOLOR_INDEX" val="13"/>
  <p:tag name="KSO_WM_UNIT_TEXT_FILL_FORE_SCHEMECOLOR_INDEX_BRIGHTNESS" val="0"/>
  <p:tag name="KSO_WM_UNIT_TEXT_FILL_FORE_SCHEMECOLOR_INDEX" val="2"/>
  <p:tag name="KSO_WM_UNIT_TEXT_FILL_TYPE" val="1"/>
  <p:tag name="KSO_WM_UNIT_VALUE" val="114"/>
  <p:tag name="KSO_WM_TEMPLATE_ASSEMBLE_XID" val="5ef55454ea5a3ac527a189e3"/>
  <p:tag name="KSO_WM_TEMPLATE_ASSEMBLE_GROUPID" val="5ef55454ea5a3ac527a189e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diagram20208726_1*i*7"/>
  <p:tag name="KSO_WM_TEMPLATE_CATEGORY" val="diagram"/>
  <p:tag name="KSO_WM_TEMPLATE_INDEX" val="20208726"/>
  <p:tag name="KSO_WM_UNIT_LAYERLEVEL" val="1"/>
  <p:tag name="KSO_WM_TAG_VERSION" val="1.0"/>
  <p:tag name="KSO_WM_BEAUTIFY_FLAG" val="#wm#"/>
  <p:tag name="KSO_WM_UNIT_BLOCK" val="0"/>
  <p:tag name="KSO_WM_UNIT_SM_LIMIT_TYPE" val="2"/>
  <p:tag name="KSO_WM_UNIT_DEC_AREA_ID" val="bcde86d968184e51b1cbdb20e2dfff00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1},&quot;ReferentInfo&quot;:{&quot;Id&quot;:&quot;2a0b84ff2b9a4700b2ebecd3d5d2b889&quot;,&quot;X&quot;:{&quot;Pos&quot;:1},&quot;Y&quot;:{&quot;Pos&quot;:1}}}"/>
  <p:tag name="KSO_WM_CHIP_GROUPID" val="5ef16cf55bb2a422ac9a2b39"/>
  <p:tag name="KSO_WM_CHIP_XID" val="5ef16cf55bb2a422ac9a2b3a"/>
  <p:tag name="KSO_WM_UNIT_FILL_FORE_SCHEMECOLOR_INDEX_BRIGHTNESS" val="0"/>
  <p:tag name="KSO_WM_UNIT_FILL_FORE_SCHEMECOLOR_INDEX" val="14"/>
  <p:tag name="KSO_WM_UNIT_FILL_TYPE" val="1"/>
  <p:tag name="KSO_WM_UNIT_SHADOW_SCHEMECOLOR_INDEX_BRIGHTNESS" val="0"/>
  <p:tag name="KSO_WM_UNIT_SHADOW_SCHEMECOLOR_INDEX" val="13"/>
  <p:tag name="KSO_WM_UNIT_TEXT_FILL_FORE_SCHEMECOLOR_INDEX_BRIGHTNESS" val="0"/>
  <p:tag name="KSO_WM_UNIT_TEXT_FILL_FORE_SCHEMECOLOR_INDEX" val="2"/>
  <p:tag name="KSO_WM_UNIT_TEXT_FILL_TYPE" val="1"/>
  <p:tag name="KSO_WM_UNIT_VALUE" val="380"/>
  <p:tag name="KSO_WM_TEMPLATE_ASSEMBLE_XID" val="5ef55454ea5a3ac527a189e3"/>
  <p:tag name="KSO_WM_TEMPLATE_ASSEMBLE_GROUPID" val="5ef55454ea5a3ac527a189e3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27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08726_1*a*1"/>
  <p:tag name="KSO_WM_TEMPLATE_CATEGORY" val="diagram"/>
  <p:tag name="KSO_WM_TEMPLATE_INDEX" val="20208726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6618fb3c5f874e68a20589c3b602507e"/>
  <p:tag name="KSO_WM_ASSEMBLE_CHIP_INDEX" val="cf455a0210784292bf56397ada7cc389"/>
  <p:tag name="KSO_WM_UNIT_TEXT_FILL_FORE_SCHEMECOLOR_INDEX_BRIGHTNESS" val="0"/>
  <p:tag name="KSO_WM_UNIT_TEXT_FILL_FORE_SCHEMECOLOR_INDEX" val="13"/>
  <p:tag name="KSO_WM_UNIT_TEXT_FILL_TYPE" val="1"/>
  <p:tag name="KSO_WM_TEMPLATE_ASSEMBLE_XID" val="5ef55454ea5a3ac527a189e3"/>
  <p:tag name="KSO_WM_TEMPLATE_ASSEMBLE_GROUPID" val="5ef55454ea5a3ac527a189e3"/>
  <p:tag name="KSO_WM_UNIT_SMARTLAYOUT_COMPRESS_INFO" val="{&#10;    &quot;id&quot;: &quot;2020-06-26T09:50:13&quot;,&#10;    &quot;max&quot;: 9.9359201546418774,&#10;    &quot;parentMax&quot;: {&#10;        &quot;max&quot;: 2.3390404752793827&#10;    },&#10;    &quot;topChanged&quot;: 9.889445190429683&#10;}&#10;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2_1"/>
  <p:tag name="KSO_WM_UNIT_ID" val="diagram20210129_4*l_h_i*1_2_1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59da7e6ec43e4feb9298f18bea997348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1},&quot;ReferentInfo&quot;:{&quot;Id&quot;:&quot;b59d62ad1efa49a7814a432af9fe78d0&quot;,&quot;X&quot;:{&quot;Pos&quot;:1},&quot;Y&quot;:{&quot;Pos&quot;:1}},&quot;whChangeMode&quot;:0}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13"/>
  <p:tag name="KSO_WM_UNIT_TEXT_FILL_TYPE" val="1"/>
  <p:tag name="KSO_WM_UNIT_VALUE" val="6"/>
  <p:tag name="KSO_WM_UNIT_USESOURCEFORMAT_APPLY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添加正文，文字是您思想的提炼，请尽量言简意赅的阐述观点。"/>
  <p:tag name="KSO_WM_UNIT_NOCLEAR" val="0"/>
  <p:tag name="KSO_WM_UNIT_VALUE" val="49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10129_4*l_h_f*1_2_1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DEFAULT_FONT" val="14;20;2"/>
  <p:tag name="KSO_WM_UNIT_BLOCK" val="0"/>
  <p:tag name="KSO_WM_UNIT_DEC_AREA_ID" val="34b132e5c4a443288f0a499a2a868f21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TEXT_FILL_FORE_SCHEMECOLOR_INDEX_BRIGHTNESS" val="0.25"/>
  <p:tag name="KSO_WM_UNIT_TEXT_FILL_FORE_SCHEMECOLOR_INDEX" val="13"/>
  <p:tag name="KSO_WM_UNIT_TEXT_FILL_TYPE" val="1"/>
  <p:tag name="KSO_WM_UNIT_USESOURCEFORMAT_APPLY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2_2"/>
  <p:tag name="KSO_WM_UNIT_ID" val="diagram20210129_4*l_h_i*1_2_2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b59d62ad1efa49a7814a432af9fe78d0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2},&quot;ReferentInfo&quot;:{&quot;Id&quot;:&quot;34b132e5c4a443288f0a499a2a868f21&quot;,&quot;X&quot;:{&quot;Pos&quot;:1},&quot;Y&quot;:{&quot;Pos&quot;:0}},&quot;whChangeMode&quot;:0}"/>
  <p:tag name="KSO_WM_UNIT_DEFAULT_FONT" val="18;36;2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TEXT_FILL_FORE_SCHEMECOLOR_INDEX_BRIGHTNESS" val="-0.25"/>
  <p:tag name="KSO_WM_UNIT_TEXT_FILL_FORE_SCHEMECOLOR_INDEX" val="5"/>
  <p:tag name="KSO_WM_UNIT_TEXT_FILL_TYPE" val="1"/>
  <p:tag name="KSO_WM_UNIT_VALUE" val="1"/>
  <p:tag name="KSO_WM_UNIT_USESOURCEFORMAT_APPLY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2_2"/>
  <p:tag name="KSO_WM_UNIT_ID" val="diagram20210129_4*l_h_i*1_2_2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70d7a2d2c86d4c9db8b4a0d9151012cf"/>
  <p:tag name="KSO_WM_UNIT_DECORATE_INFO" val="{&quot;DecorateInfoH&quot;:{&quot;IsAbs&quot;:true},&quot;DecorateInfoW&quot;:{&quot;IsAbs&quot;:true},&quot;DecorateInfoX&quot;:{&quot;IsAbs&quot;:true,&quot;Pos&quot;:2},&quot;DecorateInfoY&quot;:{&quot;IsAbs&quot;:true,&quot;Pos&quot;:1},&quot;ReferentInfo&quot;:{&quot;Id&quot;:&quot;b59d62ad1efa49a7814a432af9fe78d0&quot;,&quot;X&quot;:{&quot;Pos&quot;:0},&quot;Y&quot;:{&quot;Pos&quot;:1}},&quot;whChangeMode&quot;:0}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FILL_FORE_SCHEMECOLOR_INDEX_BRIGHTNESS" val="0.4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1"/>
  <p:tag name="KSO_WM_UNIT_USESOURCEFORMAT_APPLY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3_1"/>
  <p:tag name="KSO_WM_UNIT_ID" val="diagram20210129_4*l_h_i*1_3_1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b6081f06af7546549cd304a627ac5bf6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1},&quot;ReferentInfo&quot;:{&quot;Id&quot;:&quot;7c5b9ba033db4be7921036f8d9ac71fa&quot;,&quot;X&quot;:{&quot;Pos&quot;:1},&quot;Y&quot;:{&quot;Pos&quot;:1}},&quot;whChangeMode&quot;:0}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13"/>
  <p:tag name="KSO_WM_UNIT_TEXT_FILL_TYPE" val="1"/>
  <p:tag name="KSO_WM_UNIT_VALUE" val="6"/>
  <p:tag name="KSO_WM_UNIT_USESOURCEFORMAT_APPLY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添加正文，文字是您思想的提炼，请尽量言简意赅的阐述观点。"/>
  <p:tag name="KSO_WM_UNIT_NOCLEAR" val="0"/>
  <p:tag name="KSO_WM_UNIT_VALUE" val="49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10129_4*l_h_f*1_3_1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DEFAULT_FONT" val="14;20;2"/>
  <p:tag name="KSO_WM_UNIT_BLOCK" val="0"/>
  <p:tag name="KSO_WM_UNIT_DEC_AREA_ID" val="9139da38a7254bbdae206e7c3badbfdc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TEXT_FILL_FORE_SCHEMECOLOR_INDEX_BRIGHTNESS" val="0.25"/>
  <p:tag name="KSO_WM_UNIT_TEXT_FILL_FORE_SCHEMECOLOR_INDEX" val="13"/>
  <p:tag name="KSO_WM_UNIT_TEXT_FILL_TYPE" val="1"/>
  <p:tag name="KSO_WM_UNIT_USESOURCEFORMAT_APPLY" val="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3_2"/>
  <p:tag name="KSO_WM_UNIT_ID" val="diagram20210129_4*l_h_i*1_3_2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7c5b9ba033db4be7921036f8d9ac71fa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2},&quot;ReferentInfo&quot;:{&quot;Id&quot;:&quot;9139da38a7254bbdae206e7c3badbfdc&quot;,&quot;X&quot;:{&quot;Pos&quot;:1},&quot;Y&quot;:{&quot;Pos&quot;:0}},&quot;whChangeMode&quot;:0}"/>
  <p:tag name="KSO_WM_UNIT_DEFAULT_FONT" val="18;36;2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TEXT_FILL_FORE_SCHEMECOLOR_INDEX_BRIGHTNESS" val="-0.25"/>
  <p:tag name="KSO_WM_UNIT_TEXT_FILL_FORE_SCHEMECOLOR_INDEX" val="5"/>
  <p:tag name="KSO_WM_UNIT_TEXT_FILL_TYPE" val="1"/>
  <p:tag name="KSO_WM_UNIT_VALUE" val="1"/>
  <p:tag name="KSO_WM_UNIT_USESOURCEFORMAT_APPLY" val="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3_2"/>
  <p:tag name="KSO_WM_UNIT_ID" val="diagram20210129_4*l_h_i*1_3_2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ec820f4b29364f0d9126a1b5fe20d73d"/>
  <p:tag name="KSO_WM_UNIT_DECORATE_INFO" val="{&quot;DecorateInfoH&quot;:{&quot;IsAbs&quot;:true},&quot;DecorateInfoW&quot;:{&quot;IsAbs&quot;:true},&quot;DecorateInfoX&quot;:{&quot;IsAbs&quot;:true,&quot;Pos&quot;:2},&quot;DecorateInfoY&quot;:{&quot;IsAbs&quot;:true,&quot;Pos&quot;:1},&quot;ReferentInfo&quot;:{&quot;Id&quot;:&quot;7c5b9ba033db4be7921036f8d9ac71fa&quot;,&quot;X&quot;:{&quot;Pos&quot;:0},&quot;Y&quot;:{&quot;Pos&quot;:1}},&quot;whChangeMode&quot;:0}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FILL_FORE_SCHEMECOLOR_INDEX_BRIGHTNESS" val="0.4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1"/>
  <p:tag name="KSO_WM_UNIT_USESOURCEFORMAT_APPLY" val="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4_1"/>
  <p:tag name="KSO_WM_UNIT_ID" val="diagram20210129_4*l_h_i*1_4_1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39c131c2df22469293f4eda4cafa0add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1},&quot;ReferentInfo&quot;:{&quot;Id&quot;:&quot;7727769e63484bff8316e642df87776f&quot;,&quot;X&quot;:{&quot;Pos&quot;:1},&quot;Y&quot;:{&quot;Pos&quot;:1}},&quot;whChangeMode&quot;:0}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13"/>
  <p:tag name="KSO_WM_UNIT_TEXT_FILL_TYPE" val="1"/>
  <p:tag name="KSO_WM_UNIT_VALUE" val="6"/>
  <p:tag name="KSO_WM_UNIT_USESOURCEFORMAT_APPLY" val="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添加正文，文字是您思想的提炼，请尽量言简意赅的阐述观点。"/>
  <p:tag name="KSO_WM_UNIT_NOCLEAR" val="0"/>
  <p:tag name="KSO_WM_UNIT_VALUE" val="49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4_1"/>
  <p:tag name="KSO_WM_UNIT_ID" val="diagram20210129_4*l_h_f*1_4_1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DEFAULT_FONT" val="14;20;2"/>
  <p:tag name="KSO_WM_UNIT_BLOCK" val="0"/>
  <p:tag name="KSO_WM_UNIT_DEC_AREA_ID" val="74d740d563994c26aa1d5848c3fc10f8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TEXT_FILL_FORE_SCHEMECOLOR_INDEX_BRIGHTNESS" val="0.25"/>
  <p:tag name="KSO_WM_UNIT_TEXT_FILL_FORE_SCHEMECOLOR_INDEX" val="13"/>
  <p:tag name="KSO_WM_UNIT_TEXT_FILL_TYPE" val="1"/>
  <p:tag name="KSO_WM_UNIT_USESOURCEFORMAT_APPLY" val="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4_2"/>
  <p:tag name="KSO_WM_UNIT_ID" val="diagram20210129_4*l_h_i*1_4_2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7727769e63484bff8316e642df87776f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2},&quot;ReferentInfo&quot;:{&quot;Id&quot;:&quot;74d740d563994c26aa1d5848c3fc10f8&quot;,&quot;X&quot;:{&quot;Pos&quot;:1},&quot;Y&quot;:{&quot;Pos&quot;:0}},&quot;whChangeMode&quot;:0}"/>
  <p:tag name="KSO_WM_UNIT_DEFAULT_FONT" val="18;36;2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TEXT_FILL_FORE_SCHEMECOLOR_INDEX_BRIGHTNESS" val="-0.25"/>
  <p:tag name="KSO_WM_UNIT_TEXT_FILL_FORE_SCHEMECOLOR_INDEX" val="5"/>
  <p:tag name="KSO_WM_UNIT_TEXT_FILL_TYPE" val="1"/>
  <p:tag name="KSO_WM_UNIT_VALUE" val="1"/>
  <p:tag name="KSO_WM_UNIT_USESOURCEFORMAT_APPLY" val="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4_2"/>
  <p:tag name="KSO_WM_UNIT_ID" val="diagram20210129_4*l_h_i*1_4_2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7268b2bc951b4a15b816214d5589381a"/>
  <p:tag name="KSO_WM_UNIT_DECORATE_INFO" val="{&quot;DecorateInfoH&quot;:{&quot;IsAbs&quot;:true},&quot;DecorateInfoW&quot;:{&quot;IsAbs&quot;:true},&quot;DecorateInfoX&quot;:{&quot;IsAbs&quot;:true,&quot;Pos&quot;:2},&quot;DecorateInfoY&quot;:{&quot;IsAbs&quot;:true,&quot;Pos&quot;:1},&quot;ReferentInfo&quot;:{&quot;Id&quot;:&quot;7727769e63484bff8316e642df87776f&quot;,&quot;X&quot;:{&quot;Pos&quot;:0},&quot;Y&quot;:{&quot;Pos&quot;:1}},&quot;whChangeMode&quot;:0}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FILL_FORE_SCHEMECOLOR_INDEX_BRIGHTNESS" val="0.4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1"/>
  <p:tag name="KSO_WM_UNIT_USESOURCEFORMAT_APPLY" val="1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5_1"/>
  <p:tag name="KSO_WM_UNIT_ID" val="diagram20210129_4*l_h_i*1_5_1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2fccc7cfe0a94a03964fef3a6bcbba88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1},&quot;ReferentInfo&quot;:{&quot;Id&quot;:&quot;53c010be7e1347ceaad05fcf213bdb85&quot;,&quot;X&quot;:{&quot;Pos&quot;:1},&quot;Y&quot;:{&quot;Pos&quot;:1}},&quot;whChangeMode&quot;:0}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13"/>
  <p:tag name="KSO_WM_UNIT_TEXT_FILL_TYPE" val="1"/>
  <p:tag name="KSO_WM_UNIT_VALUE" val="6"/>
  <p:tag name="KSO_WM_UNIT_USESOURCEFORMAT_APPLY" val="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添加正文，文字是您思想的提炼，请尽量言简意赅的阐述观点。"/>
  <p:tag name="KSO_WM_UNIT_NOCLEAR" val="0"/>
  <p:tag name="KSO_WM_UNIT_VALUE" val="49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5_1"/>
  <p:tag name="KSO_WM_UNIT_ID" val="diagram20210129_4*l_h_f*1_5_1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DEFAULT_FONT" val="14;20;2"/>
  <p:tag name="KSO_WM_UNIT_BLOCK" val="0"/>
  <p:tag name="KSO_WM_UNIT_DEC_AREA_ID" val="84bac5f5da5744a784b90ba5919c6c07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TEXT_FILL_FORE_SCHEMECOLOR_INDEX_BRIGHTNESS" val="0.25"/>
  <p:tag name="KSO_WM_UNIT_TEXT_FILL_FORE_SCHEMECOLOR_INDEX" val="13"/>
  <p:tag name="KSO_WM_UNIT_TEXT_FILL_TYPE" val="1"/>
  <p:tag name="KSO_WM_UNIT_USESOURCEFORMAT_APPLY" val="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5_2"/>
  <p:tag name="KSO_WM_UNIT_ID" val="diagram20210129_4*l_h_i*1_5_2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53c010be7e1347ceaad05fcf213bdb85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2},&quot;ReferentInfo&quot;:{&quot;Id&quot;:&quot;84bac5f5da5744a784b90ba5919c6c07&quot;,&quot;X&quot;:{&quot;Pos&quot;:1},&quot;Y&quot;:{&quot;Pos&quot;:0}},&quot;whChangeMode&quot;:0}"/>
  <p:tag name="KSO_WM_UNIT_DEFAULT_FONT" val="18;36;2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TEXT_FILL_FORE_SCHEMECOLOR_INDEX_BRIGHTNESS" val="-0.25"/>
  <p:tag name="KSO_WM_UNIT_TEXT_FILL_FORE_SCHEMECOLOR_INDEX" val="5"/>
  <p:tag name="KSO_WM_UNIT_TEXT_FILL_TYPE" val="1"/>
  <p:tag name="KSO_WM_UNIT_VALUE" val="1"/>
  <p:tag name="KSO_WM_UNIT_USESOURCEFORMAT_APPLY" val="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5_2"/>
  <p:tag name="KSO_WM_UNIT_ID" val="diagram20210129_4*l_h_i*1_5_2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0b803d1f78ef49d09ddb1edf22e1f8f1"/>
  <p:tag name="KSO_WM_UNIT_DECORATE_INFO" val="{&quot;DecorateInfoH&quot;:{&quot;IsAbs&quot;:true},&quot;DecorateInfoW&quot;:{&quot;IsAbs&quot;:true},&quot;DecorateInfoX&quot;:{&quot;IsAbs&quot;:true,&quot;Pos&quot;:2},&quot;DecorateInfoY&quot;:{&quot;IsAbs&quot;:true,&quot;Pos&quot;:1},&quot;ReferentInfo&quot;:{&quot;Id&quot;:&quot;53c010be7e1347ceaad05fcf213bdb85&quot;,&quot;X&quot;:{&quot;Pos&quot;:0},&quot;Y&quot;:{&quot;Pos&quot;:1}},&quot;whChangeMode&quot;:0}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FILL_FORE_SCHEMECOLOR_INDEX_BRIGHTNESS" val="0.4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1"/>
  <p:tag name="KSO_WM_UNIT_USESOURCEFORMAT_APPLY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08726_1*i*1"/>
  <p:tag name="KSO_WM_TEMPLATE_CATEGORY" val="diagram"/>
  <p:tag name="KSO_WM_TEMPLATE_INDEX" val="20208726"/>
  <p:tag name="KSO_WM_UNIT_LAYERLEVEL" val="1"/>
  <p:tag name="KSO_WM_TAG_VERSION" val="1.0"/>
  <p:tag name="KSO_WM_BEAUTIFY_FLAG" val="#wm#"/>
  <p:tag name="KSO_WM_UNIT_BLOCK" val="0"/>
  <p:tag name="KSO_WM_UNIT_SM_LIMIT_TYPE" val="1"/>
  <p:tag name="KSO_WM_UNIT_DEC_AREA_ID" val="869a47cc434a46408bb65052c05f2790"/>
  <p:tag name="KSO_WM_UNIT_DECORATE_INFO" val="{&quot;ReferentInfo&quot;:{&quot;X&quot;:{&quot;Pos&quot;:0},&quot;Y&quot;:{&quot;Pos&quot;:0}},&quot;DecorateInfoX&quot;:{&quot;Pos&quot;:0,&quot;IsAbs&quot;:false},&quot;DecorateInfoY&quot;:{&quot;Pos&quot;:0,&quot;IsAbs&quot;:false},&quot;DecorateInfoW&quot;:{&quot;IsAbs&quot;:true},&quot;DecorateInfoH&quot;:{&quot;IsAbs&quot;:true}}"/>
  <p:tag name="KSO_WM_CHIP_GROUPID" val="5ef16cf55bb2a422ac9a2b39"/>
  <p:tag name="KSO_WM_CHIP_XID" val="5ef16cf55bb2a422ac9a2b3a"/>
  <p:tag name="KSO_WM_UNIT_FILL_FORE_SCHEMECOLOR_INDEX_BRIGHTNESS" val="0"/>
  <p:tag name="KSO_WM_UNIT_FILL_FORE_SCHEMECOLOR_INDEX" val="15"/>
  <p:tag name="KSO_WM_UNIT_FILL_BACK_SCHEMECOLOR_INDEX_BRIGHTNESS" val="0"/>
  <p:tag name="KSO_WM_UNIT_FILL_BACK_SCHEMECOLOR_INDEX" val="14"/>
  <p:tag name="KSO_WM_UNIT_FILL_TYPE" val="2"/>
  <p:tag name="KSO_WM_UNIT_TEXT_FILL_FORE_SCHEMECOLOR_INDEX_BRIGHTNESS" val="0"/>
  <p:tag name="KSO_WM_UNIT_TEXT_FILL_FORE_SCHEMECOLOR_INDEX" val="2"/>
  <p:tag name="KSO_WM_UNIT_TEXT_FILL_TYPE" val="1"/>
  <p:tag name="KSO_WM_UNIT_VALUE" val="477"/>
  <p:tag name="KSO_WM_TEMPLATE_ASSEMBLE_XID" val="5ef55454ea5a3ac527a189e3"/>
  <p:tag name="KSO_WM_TEMPLATE_ASSEMBLE_GROUPID" val="5ef55454ea5a3ac527a189e3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208726_1*i*2"/>
  <p:tag name="KSO_WM_TEMPLATE_CATEGORY" val="diagram"/>
  <p:tag name="KSO_WM_TEMPLATE_INDEX" val="20208726"/>
  <p:tag name="KSO_WM_UNIT_LAYERLEVEL" val="1"/>
  <p:tag name="KSO_WM_TAG_VERSION" val="1.0"/>
  <p:tag name="KSO_WM_BEAUTIFY_FLAG" val="#wm#"/>
  <p:tag name="KSO_WM_UNIT_BLOCK" val="0"/>
  <p:tag name="KSO_WM_UNIT_SM_LIMIT_TYPE" val="2"/>
  <p:tag name="KSO_WM_UNIT_DEC_AREA_ID" val="c4ce87efa6da456eba5f87ab75ba3aa6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1},&quot;ReferentInfo&quot;:{&quot;Id&quot;:&quot;6618fb3c5f874e68a20589c3b602507e&quot;,&quot;X&quot;:{&quot;Pos&quot;:1},&quot;Y&quot;:{&quot;Pos&quot;:1}}}"/>
  <p:tag name="KSO_WM_CHIP_GROUPID" val="5ef16cf55bb2a422ac9a2b39"/>
  <p:tag name="KSO_WM_CHIP_XID" val="5ef16cf55bb2a422ac9a2b3a"/>
  <p:tag name="KSO_WM_UNIT_FILL_FORE_SCHEMECOLOR_INDEX_BRIGHTNESS" val="0"/>
  <p:tag name="KSO_WM_UNIT_FILL_FORE_SCHEMECOLOR_INDEX" val="14"/>
  <p:tag name="KSO_WM_UNIT_FILL_TYPE" val="1"/>
  <p:tag name="KSO_WM_UNIT_SHADOW_SCHEMECOLOR_INDEX_BRIGHTNESS" val="0"/>
  <p:tag name="KSO_WM_UNIT_SHADOW_SCHEMECOLOR_INDEX" val="13"/>
  <p:tag name="KSO_WM_UNIT_TEXT_FILL_FORE_SCHEMECOLOR_INDEX_BRIGHTNESS" val="0"/>
  <p:tag name="KSO_WM_UNIT_TEXT_FILL_FORE_SCHEMECOLOR_INDEX" val="2"/>
  <p:tag name="KSO_WM_UNIT_TEXT_FILL_TYPE" val="1"/>
  <p:tag name="KSO_WM_UNIT_VALUE" val="114"/>
  <p:tag name="KSO_WM_TEMPLATE_ASSEMBLE_XID" val="5ef55454ea5a3ac527a189e3"/>
  <p:tag name="KSO_WM_TEMPLATE_ASSEMBLE_GROUPID" val="5ef55454ea5a3ac527a189e3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diagram20208726_1*i*7"/>
  <p:tag name="KSO_WM_TEMPLATE_CATEGORY" val="diagram"/>
  <p:tag name="KSO_WM_TEMPLATE_INDEX" val="20208726"/>
  <p:tag name="KSO_WM_UNIT_LAYERLEVEL" val="1"/>
  <p:tag name="KSO_WM_TAG_VERSION" val="1.0"/>
  <p:tag name="KSO_WM_BEAUTIFY_FLAG" val="#wm#"/>
  <p:tag name="KSO_WM_UNIT_BLOCK" val="0"/>
  <p:tag name="KSO_WM_UNIT_SM_LIMIT_TYPE" val="2"/>
  <p:tag name="KSO_WM_UNIT_DEC_AREA_ID" val="bcde86d968184e51b1cbdb20e2dfff00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1},&quot;ReferentInfo&quot;:{&quot;Id&quot;:&quot;2a0b84ff2b9a4700b2ebecd3d5d2b889&quot;,&quot;X&quot;:{&quot;Pos&quot;:1},&quot;Y&quot;:{&quot;Pos&quot;:1}}}"/>
  <p:tag name="KSO_WM_CHIP_GROUPID" val="5ef16cf55bb2a422ac9a2b39"/>
  <p:tag name="KSO_WM_CHIP_XID" val="5ef16cf55bb2a422ac9a2b3a"/>
  <p:tag name="KSO_WM_UNIT_FILL_FORE_SCHEMECOLOR_INDEX_BRIGHTNESS" val="0"/>
  <p:tag name="KSO_WM_UNIT_FILL_FORE_SCHEMECOLOR_INDEX" val="14"/>
  <p:tag name="KSO_WM_UNIT_FILL_TYPE" val="1"/>
  <p:tag name="KSO_WM_UNIT_SHADOW_SCHEMECOLOR_INDEX_BRIGHTNESS" val="0"/>
  <p:tag name="KSO_WM_UNIT_SHADOW_SCHEMECOLOR_INDEX" val="13"/>
  <p:tag name="KSO_WM_UNIT_TEXT_FILL_FORE_SCHEMECOLOR_INDEX_BRIGHTNESS" val="0"/>
  <p:tag name="KSO_WM_UNIT_TEXT_FILL_FORE_SCHEMECOLOR_INDEX" val="2"/>
  <p:tag name="KSO_WM_UNIT_TEXT_FILL_TYPE" val="1"/>
  <p:tag name="KSO_WM_UNIT_VALUE" val="380"/>
  <p:tag name="KSO_WM_TEMPLATE_ASSEMBLE_XID" val="5ef55454ea5a3ac527a189e3"/>
  <p:tag name="KSO_WM_TEMPLATE_ASSEMBLE_GROUPID" val="5ef55454ea5a3ac527a189e3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27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08726_1*a*1"/>
  <p:tag name="KSO_WM_TEMPLATE_CATEGORY" val="diagram"/>
  <p:tag name="KSO_WM_TEMPLATE_INDEX" val="20208726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6618fb3c5f874e68a20589c3b602507e"/>
  <p:tag name="KSO_WM_ASSEMBLE_CHIP_INDEX" val="cf455a0210784292bf56397ada7cc389"/>
  <p:tag name="KSO_WM_UNIT_TEXT_FILL_FORE_SCHEMECOLOR_INDEX_BRIGHTNESS" val="0"/>
  <p:tag name="KSO_WM_UNIT_TEXT_FILL_FORE_SCHEMECOLOR_INDEX" val="13"/>
  <p:tag name="KSO_WM_UNIT_TEXT_FILL_TYPE" val="1"/>
  <p:tag name="KSO_WM_TEMPLATE_ASSEMBLE_XID" val="5ef55454ea5a3ac527a189e3"/>
  <p:tag name="KSO_WM_TEMPLATE_ASSEMBLE_GROUPID" val="5ef55454ea5a3ac527a189e3"/>
  <p:tag name="KSO_WM_UNIT_SMARTLAYOUT_COMPRESS_INFO" val="{&#10;    &quot;id&quot;: &quot;2020-06-26T09:50:13&quot;,&#10;    &quot;max&quot;: 9.9359201546418774,&#10;    &quot;parentMax&quot;: {&#10;        &quot;max&quot;: 2.3390404752793827&#10;    },&#10;    &quot;topChanged&quot;: 9.889445190429683&#10;}&#10;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2_1"/>
  <p:tag name="KSO_WM_UNIT_ID" val="diagram20210129_4*l_h_i*1_2_1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59da7e6ec43e4feb9298f18bea997348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1},&quot;ReferentInfo&quot;:{&quot;Id&quot;:&quot;b59d62ad1efa49a7814a432af9fe78d0&quot;,&quot;X&quot;:{&quot;Pos&quot;:1},&quot;Y&quot;:{&quot;Pos&quot;:1}},&quot;whChangeMode&quot;:0}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13"/>
  <p:tag name="KSO_WM_UNIT_TEXT_FILL_TYPE" val="1"/>
  <p:tag name="KSO_WM_UNIT_VALUE" val="6"/>
  <p:tag name="KSO_WM_UNIT_USESOURCEFORMAT_APPLY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添加正文，文字是您思想的提炼，请尽量言简意赅的阐述观点。"/>
  <p:tag name="KSO_WM_UNIT_NOCLEAR" val="0"/>
  <p:tag name="KSO_WM_UNIT_VALUE" val="49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10129_4*l_h_f*1_2_1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DEFAULT_FONT" val="14;20;2"/>
  <p:tag name="KSO_WM_UNIT_BLOCK" val="0"/>
  <p:tag name="KSO_WM_UNIT_DEC_AREA_ID" val="34b132e5c4a443288f0a499a2a868f21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TEXT_FILL_FORE_SCHEMECOLOR_INDEX_BRIGHTNESS" val="0.25"/>
  <p:tag name="KSO_WM_UNIT_TEXT_FILL_FORE_SCHEMECOLOR_INDEX" val="13"/>
  <p:tag name="KSO_WM_UNIT_TEXT_FILL_TYPE" val="1"/>
  <p:tag name="KSO_WM_UNIT_USESOURCEFORMAT_APPLY" val="1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2_2"/>
  <p:tag name="KSO_WM_UNIT_ID" val="diagram20210129_4*l_h_i*1_2_2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b59d62ad1efa49a7814a432af9fe78d0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2},&quot;ReferentInfo&quot;:{&quot;Id&quot;:&quot;34b132e5c4a443288f0a499a2a868f21&quot;,&quot;X&quot;:{&quot;Pos&quot;:1},&quot;Y&quot;:{&quot;Pos&quot;:0}},&quot;whChangeMode&quot;:0}"/>
  <p:tag name="KSO_WM_UNIT_DEFAULT_FONT" val="18;36;2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TEXT_FILL_FORE_SCHEMECOLOR_INDEX_BRIGHTNESS" val="-0.25"/>
  <p:tag name="KSO_WM_UNIT_TEXT_FILL_FORE_SCHEMECOLOR_INDEX" val="5"/>
  <p:tag name="KSO_WM_UNIT_TEXT_FILL_TYPE" val="1"/>
  <p:tag name="KSO_WM_UNIT_VALUE" val="1"/>
  <p:tag name="KSO_WM_UNIT_USESOURCEFORMAT_APPLY" val="1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2_2"/>
  <p:tag name="KSO_WM_UNIT_ID" val="diagram20210129_4*l_h_i*1_2_2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70d7a2d2c86d4c9db8b4a0d9151012cf"/>
  <p:tag name="KSO_WM_UNIT_DECORATE_INFO" val="{&quot;DecorateInfoH&quot;:{&quot;IsAbs&quot;:true},&quot;DecorateInfoW&quot;:{&quot;IsAbs&quot;:true},&quot;DecorateInfoX&quot;:{&quot;IsAbs&quot;:true,&quot;Pos&quot;:2},&quot;DecorateInfoY&quot;:{&quot;IsAbs&quot;:true,&quot;Pos&quot;:1},&quot;ReferentInfo&quot;:{&quot;Id&quot;:&quot;b59d62ad1efa49a7814a432af9fe78d0&quot;,&quot;X&quot;:{&quot;Pos&quot;:0},&quot;Y&quot;:{&quot;Pos&quot;:1}},&quot;whChangeMode&quot;:0}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FILL_FORE_SCHEMECOLOR_INDEX_BRIGHTNESS" val="0.4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1"/>
  <p:tag name="KSO_WM_UNIT_USESOURCEFORMAT_APPLY" val="1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3_1"/>
  <p:tag name="KSO_WM_UNIT_ID" val="diagram20210129_4*l_h_i*1_3_1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b6081f06af7546549cd304a627ac5bf6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1},&quot;ReferentInfo&quot;:{&quot;Id&quot;:&quot;7c5b9ba033db4be7921036f8d9ac71fa&quot;,&quot;X&quot;:{&quot;Pos&quot;:1},&quot;Y&quot;:{&quot;Pos&quot;:1}},&quot;whChangeMode&quot;:0}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13"/>
  <p:tag name="KSO_WM_UNIT_TEXT_FILL_TYPE" val="1"/>
  <p:tag name="KSO_WM_UNIT_VALUE" val="6"/>
  <p:tag name="KSO_WM_UNIT_USESOURCEFORMAT_APPLY" val="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添加正文，文字是您思想的提炼，请尽量言简意赅的阐述观点。"/>
  <p:tag name="KSO_WM_UNIT_NOCLEAR" val="0"/>
  <p:tag name="KSO_WM_UNIT_VALUE" val="49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10129_4*l_h_f*1_3_1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DEFAULT_FONT" val="14;20;2"/>
  <p:tag name="KSO_WM_UNIT_BLOCK" val="0"/>
  <p:tag name="KSO_WM_UNIT_DEC_AREA_ID" val="9139da38a7254bbdae206e7c3badbfdc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TEXT_FILL_FORE_SCHEMECOLOR_INDEX_BRIGHTNESS" val="0.25"/>
  <p:tag name="KSO_WM_UNIT_TEXT_FILL_FORE_SCHEMECOLOR_INDEX" val="13"/>
  <p:tag name="KSO_WM_UNIT_TEXT_FILL_TYPE" val="1"/>
  <p:tag name="KSO_WM_UNIT_USESOURCEFORMAT_APPLY" val="1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3_2"/>
  <p:tag name="KSO_WM_UNIT_ID" val="diagram20210129_4*l_h_i*1_3_2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7c5b9ba033db4be7921036f8d9ac71fa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2},&quot;ReferentInfo&quot;:{&quot;Id&quot;:&quot;9139da38a7254bbdae206e7c3badbfdc&quot;,&quot;X&quot;:{&quot;Pos&quot;:1},&quot;Y&quot;:{&quot;Pos&quot;:0}},&quot;whChangeMode&quot;:0}"/>
  <p:tag name="KSO_WM_UNIT_DEFAULT_FONT" val="18;36;2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TEXT_FILL_FORE_SCHEMECOLOR_INDEX_BRIGHTNESS" val="-0.25"/>
  <p:tag name="KSO_WM_UNIT_TEXT_FILL_FORE_SCHEMECOLOR_INDEX" val="5"/>
  <p:tag name="KSO_WM_UNIT_TEXT_FILL_TYPE" val="1"/>
  <p:tag name="KSO_WM_UNIT_VALUE" val="1"/>
  <p:tag name="KSO_WM_UNIT_USESOURCEFORMAT_APPLY" val="1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3_2"/>
  <p:tag name="KSO_WM_UNIT_ID" val="diagram20210129_4*l_h_i*1_3_2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ec820f4b29364f0d9126a1b5fe20d73d"/>
  <p:tag name="KSO_WM_UNIT_DECORATE_INFO" val="{&quot;DecorateInfoH&quot;:{&quot;IsAbs&quot;:true},&quot;DecorateInfoW&quot;:{&quot;IsAbs&quot;:true},&quot;DecorateInfoX&quot;:{&quot;IsAbs&quot;:true,&quot;Pos&quot;:2},&quot;DecorateInfoY&quot;:{&quot;IsAbs&quot;:true,&quot;Pos&quot;:1},&quot;ReferentInfo&quot;:{&quot;Id&quot;:&quot;7c5b9ba033db4be7921036f8d9ac71fa&quot;,&quot;X&quot;:{&quot;Pos&quot;:0},&quot;Y&quot;:{&quot;Pos&quot;:1}},&quot;whChangeMode&quot;:0}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FILL_FORE_SCHEMECOLOR_INDEX_BRIGHTNESS" val="0.4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1"/>
  <p:tag name="KSO_WM_UNIT_USESOURCEFORMAT_APPLY" val="1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4_1"/>
  <p:tag name="KSO_WM_UNIT_ID" val="diagram20210129_4*l_h_i*1_4_1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39c131c2df22469293f4eda4cafa0add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1},&quot;ReferentInfo&quot;:{&quot;Id&quot;:&quot;7727769e63484bff8316e642df87776f&quot;,&quot;X&quot;:{&quot;Pos&quot;:1},&quot;Y&quot;:{&quot;Pos&quot;:1}},&quot;whChangeMode&quot;:0}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13"/>
  <p:tag name="KSO_WM_UNIT_TEXT_FILL_TYPE" val="1"/>
  <p:tag name="KSO_WM_UNIT_VALUE" val="6"/>
  <p:tag name="KSO_WM_UNIT_USESOURCEFORMAT_APPLY" val="1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添加正文，文字是您思想的提炼，请尽量言简意赅的阐述观点。"/>
  <p:tag name="KSO_WM_UNIT_NOCLEAR" val="0"/>
  <p:tag name="KSO_WM_UNIT_VALUE" val="49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4_1"/>
  <p:tag name="KSO_WM_UNIT_ID" val="diagram20210129_4*l_h_f*1_4_1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DEFAULT_FONT" val="14;20;2"/>
  <p:tag name="KSO_WM_UNIT_BLOCK" val="0"/>
  <p:tag name="KSO_WM_UNIT_DEC_AREA_ID" val="74d740d563994c26aa1d5848c3fc10f8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TEXT_FILL_FORE_SCHEMECOLOR_INDEX_BRIGHTNESS" val="0.25"/>
  <p:tag name="KSO_WM_UNIT_TEXT_FILL_FORE_SCHEMECOLOR_INDEX" val="13"/>
  <p:tag name="KSO_WM_UNIT_TEXT_FILL_TYPE" val="1"/>
  <p:tag name="KSO_WM_UNIT_USESOURCEFORMAT_APPLY" val="1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4_2"/>
  <p:tag name="KSO_WM_UNIT_ID" val="diagram20210129_4*l_h_i*1_4_2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7727769e63484bff8316e642df87776f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2},&quot;ReferentInfo&quot;:{&quot;Id&quot;:&quot;74d740d563994c26aa1d5848c3fc10f8&quot;,&quot;X&quot;:{&quot;Pos&quot;:1},&quot;Y&quot;:{&quot;Pos&quot;:0}},&quot;whChangeMode&quot;:0}"/>
  <p:tag name="KSO_WM_UNIT_DEFAULT_FONT" val="18;36;2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TEXT_FILL_FORE_SCHEMECOLOR_INDEX_BRIGHTNESS" val="-0.25"/>
  <p:tag name="KSO_WM_UNIT_TEXT_FILL_FORE_SCHEMECOLOR_INDEX" val="5"/>
  <p:tag name="KSO_WM_UNIT_TEXT_FILL_TYPE" val="1"/>
  <p:tag name="KSO_WM_UNIT_VALUE" val="1"/>
  <p:tag name="KSO_WM_UNIT_USESOURCEFORMAT_APPLY" val="1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4_2"/>
  <p:tag name="KSO_WM_UNIT_ID" val="diagram20210129_4*l_h_i*1_4_2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7268b2bc951b4a15b816214d5589381a"/>
  <p:tag name="KSO_WM_UNIT_DECORATE_INFO" val="{&quot;DecorateInfoH&quot;:{&quot;IsAbs&quot;:true},&quot;DecorateInfoW&quot;:{&quot;IsAbs&quot;:true},&quot;DecorateInfoX&quot;:{&quot;IsAbs&quot;:true,&quot;Pos&quot;:2},&quot;DecorateInfoY&quot;:{&quot;IsAbs&quot;:true,&quot;Pos&quot;:1},&quot;ReferentInfo&quot;:{&quot;Id&quot;:&quot;7727769e63484bff8316e642df87776f&quot;,&quot;X&quot;:{&quot;Pos&quot;:0},&quot;Y&quot;:{&quot;Pos&quot;:1}},&quot;whChangeMode&quot;:0}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FILL_FORE_SCHEMECOLOR_INDEX_BRIGHTNESS" val="0.4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1"/>
  <p:tag name="KSO_WM_UNIT_USESOURCEFORMAT_APPLY" val="1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5_1"/>
  <p:tag name="KSO_WM_UNIT_ID" val="diagram20210129_4*l_h_i*1_5_1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2fccc7cfe0a94a03964fef3a6bcbba88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1},&quot;ReferentInfo&quot;:{&quot;Id&quot;:&quot;53c010be7e1347ceaad05fcf213bdb85&quot;,&quot;X&quot;:{&quot;Pos&quot;:1},&quot;Y&quot;:{&quot;Pos&quot;:1}},&quot;whChangeMode&quot;:0}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13"/>
  <p:tag name="KSO_WM_UNIT_TEXT_FILL_TYPE" val="1"/>
  <p:tag name="KSO_WM_UNIT_VALUE" val="6"/>
  <p:tag name="KSO_WM_UNIT_USESOURCEFORMAT_APPLY" val="1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添加正文，文字是您思想的提炼，请尽量言简意赅的阐述观点。"/>
  <p:tag name="KSO_WM_UNIT_NOCLEAR" val="0"/>
  <p:tag name="KSO_WM_UNIT_VALUE" val="49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5_1"/>
  <p:tag name="KSO_WM_UNIT_ID" val="diagram20210129_4*l_h_f*1_5_1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DEFAULT_FONT" val="14;20;2"/>
  <p:tag name="KSO_WM_UNIT_BLOCK" val="0"/>
  <p:tag name="KSO_WM_UNIT_DEC_AREA_ID" val="84bac5f5da5744a784b90ba5919c6c07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TEXT_FILL_FORE_SCHEMECOLOR_INDEX_BRIGHTNESS" val="0.25"/>
  <p:tag name="KSO_WM_UNIT_TEXT_FILL_FORE_SCHEMECOLOR_INDEX" val="13"/>
  <p:tag name="KSO_WM_UNIT_TEXT_FILL_TYPE" val="1"/>
  <p:tag name="KSO_WM_UNIT_USESOURCEFORMAT_APPLY" val="1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5_2"/>
  <p:tag name="KSO_WM_UNIT_ID" val="diagram20210129_4*l_h_i*1_5_2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53c010be7e1347ceaad05fcf213bdb85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2},&quot;ReferentInfo&quot;:{&quot;Id&quot;:&quot;84bac5f5da5744a784b90ba5919c6c07&quot;,&quot;X&quot;:{&quot;Pos&quot;:1},&quot;Y&quot;:{&quot;Pos&quot;:0}},&quot;whChangeMode&quot;:0}"/>
  <p:tag name="KSO_WM_UNIT_DEFAULT_FONT" val="18;36;2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TEXT_FILL_FORE_SCHEMECOLOR_INDEX_BRIGHTNESS" val="-0.25"/>
  <p:tag name="KSO_WM_UNIT_TEXT_FILL_FORE_SCHEMECOLOR_INDEX" val="5"/>
  <p:tag name="KSO_WM_UNIT_TEXT_FILL_TYPE" val="1"/>
  <p:tag name="KSO_WM_UNIT_VALUE" val="1"/>
  <p:tag name="KSO_WM_UNIT_USESOURCEFORMAT_APPLY" val="1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5_2"/>
  <p:tag name="KSO_WM_UNIT_ID" val="diagram20210129_4*l_h_i*1_5_2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0b803d1f78ef49d09ddb1edf22e1f8f1"/>
  <p:tag name="KSO_WM_UNIT_DECORATE_INFO" val="{&quot;DecorateInfoH&quot;:{&quot;IsAbs&quot;:true},&quot;DecorateInfoW&quot;:{&quot;IsAbs&quot;:true},&quot;DecorateInfoX&quot;:{&quot;IsAbs&quot;:true,&quot;Pos&quot;:2},&quot;DecorateInfoY&quot;:{&quot;IsAbs&quot;:true,&quot;Pos&quot;:1},&quot;ReferentInfo&quot;:{&quot;Id&quot;:&quot;53c010be7e1347ceaad05fcf213bdb85&quot;,&quot;X&quot;:{&quot;Pos&quot;:0},&quot;Y&quot;:{&quot;Pos&quot;:1}},&quot;whChangeMode&quot;:0}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FILL_FORE_SCHEMECOLOR_INDEX_BRIGHTNESS" val="0.4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1"/>
  <p:tag name="KSO_WM_UNIT_USESOURCEFORMAT_APPLY" val="1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188036_1*n_h_i*1_2_3"/>
  <p:tag name="KSO_WM_TEMPLATE_CATEGORY" val="diagram"/>
  <p:tag name="KSO_WM_TEMPLATE_INDEX" val="20188036"/>
  <p:tag name="KSO_WM_UNIT_LAYERLEVEL" val="1_1_1"/>
  <p:tag name="KSO_WM_TAG_VERSION" val="1.0"/>
  <p:tag name="KSO_WM_BEAUTIFY_FLAG" val="#wm#"/>
  <p:tag name="KSO_WM_UNIT_TYPE" val="n_h_i"/>
  <p:tag name="KSO_WM_UNIT_INDEX" val="1_2_3"/>
  <p:tag name="KSO_WM_UNIT_COLOR_SCHEME_SHAPE_ID" val="42"/>
  <p:tag name="KSO_WM_UNIT_COLOR_SCHEME_PARENT_PAGE" val="0_5"/>
  <p:tag name="KSO_WM_UNIT_DECOLORIZATION" val="1"/>
  <p:tag name="KSO_WM_UNIT_LINE_FORE_SCHEMECOLOR_INDEX" val="13"/>
  <p:tag name="KSO_WM_UNIT_LINE_FILL_TYPE" val="2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i"/>
  <p:tag name="KSO_WM_UNIT_INDEX" val="1_1_1"/>
  <p:tag name="KSO_WM_UNIT_ID" val="diagram20188036_1*n_h_i*1_1_1"/>
  <p:tag name="KSO_WM_TEMPLATE_CATEGORY" val="diagram"/>
  <p:tag name="KSO_WM_TEMPLATE_INDEX" val="20188036"/>
  <p:tag name="KSO_WM_UNIT_LAYERLEVEL" val="1_1_1"/>
  <p:tag name="KSO_WM_TAG_VERSION" val="1.0"/>
  <p:tag name="KSO_WM_BEAUTIFY_FLAG" val="#wm#"/>
  <p:tag name="KSO_WM_UNIT_COLOR_SCHEME_SHAPE_ID" val="5"/>
  <p:tag name="KSO_WM_UNIT_COLOR_SCHEME_PARENT_PAGE" val="0_5"/>
  <p:tag name="KSO_WM_UNIT_FILL_FORE_SCHEMECOLOR_INDEX" val="14"/>
  <p:tag name="KSO_WM_UNIT_FILL_TYPE" val="1"/>
  <p:tag name="KSO_WM_UNIT_LINE_FORE_SCHEMECOLOR_INDEX" val="5"/>
  <p:tag name="KSO_WM_UNIT_LINE_FILL_TYPE" val="2"/>
  <p:tag name="KSO_WM_UNIT_TEXT_FILL_FORE_SCHEMECOLOR_INDEX" val="13"/>
  <p:tag name="KSO_WM_UNIT_TEXT_FILL_TYPE" val="1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PRESET_TEXT" val="添加标题"/>
  <p:tag name="KSO_WM_UNIT_VALUE" val="6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f"/>
  <p:tag name="KSO_WM_UNIT_INDEX" val="1_1_1"/>
  <p:tag name="KSO_WM_UNIT_ID" val="diagram20188036_1*n_h_f*1_1_1"/>
  <p:tag name="KSO_WM_TEMPLATE_CATEGORY" val="diagram"/>
  <p:tag name="KSO_WM_TEMPLATE_INDEX" val="20188036"/>
  <p:tag name="KSO_WM_UNIT_LAYERLEVEL" val="1_1_1"/>
  <p:tag name="KSO_WM_TAG_VERSION" val="1.0"/>
  <p:tag name="KSO_WM_BEAUTIFY_FLAG" val="#wm#"/>
  <p:tag name="KSO_WM_UNIT_NOCLEAR" val="0"/>
  <p:tag name="KSO_WM_UNIT_COLOR_SCHEME_SHAPE_ID" val="8"/>
  <p:tag name="KSO_WM_UNIT_COLOR_SCHEME_PARENT_PAGE" val="0_5"/>
  <p:tag name="KSO_WM_UNIT_TEXT_FILL_FORE_SCHEMECOLOR_INDEX" val="13"/>
  <p:tag name="KSO_WM_UNIT_TEXT_FILL_TYPE" val="1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188036_1*n_h_i*1_2_1"/>
  <p:tag name="KSO_WM_TEMPLATE_CATEGORY" val="diagram"/>
  <p:tag name="KSO_WM_TEMPLATE_INDEX" val="20188036"/>
  <p:tag name="KSO_WM_UNIT_LAYERLEVEL" val="1_1_1"/>
  <p:tag name="KSO_WM_TAG_VERSION" val="1.0"/>
  <p:tag name="KSO_WM_BEAUTIFY_FLAG" val="#wm#"/>
  <p:tag name="KSO_WM_UNIT_TYPE" val="n_h_i"/>
  <p:tag name="KSO_WM_UNIT_INDEX" val="1_2_1"/>
  <p:tag name="KSO_WM_UNIT_COLOR_SCHEME_SHAPE_ID" val="62"/>
  <p:tag name="KSO_WM_UNIT_COLOR_SCHEME_PARENT_PAGE" val="0_5"/>
  <p:tag name="KSO_WM_UNIT_DECOLORIZATION" val="1"/>
  <p:tag name="KSO_WM_UNIT_LINE_FORE_SCHEMECOLOR_INDEX" val="13"/>
  <p:tag name="KSO_WM_UNIT_LINE_FILL_TYPE" val="2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188036_1*n_h_i*1_2_2"/>
  <p:tag name="KSO_WM_TEMPLATE_CATEGORY" val="diagram"/>
  <p:tag name="KSO_WM_TEMPLATE_INDEX" val="20188036"/>
  <p:tag name="KSO_WM_UNIT_LAYERLEVEL" val="1_1_1"/>
  <p:tag name="KSO_WM_TAG_VERSION" val="1.0"/>
  <p:tag name="KSO_WM_BEAUTIFY_FLAG" val="#wm#"/>
  <p:tag name="KSO_WM_UNIT_TYPE" val="n_h_i"/>
  <p:tag name="KSO_WM_UNIT_INDEX" val="1_2_2"/>
  <p:tag name="KSO_WM_UNIT_COLOR_SCHEME_SHAPE_ID" val="61"/>
  <p:tag name="KSO_WM_UNIT_COLOR_SCHEME_PARENT_PAGE" val="0_5"/>
  <p:tag name="KSO_WM_UNIT_DECOLORIZATION" val="1"/>
  <p:tag name="KSO_WM_UNIT_LINE_FORE_SCHEMECOLOR_INDEX" val="13"/>
  <p:tag name="KSO_WM_UNIT_LINE_FILL_TYPE" val="2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i"/>
  <p:tag name="KSO_WM_UNIT_INDEX" val="1_2_1_2"/>
  <p:tag name="KSO_WM_UNIT_ID" val="diagram20188036_1*n_h_h_i*1_2_1_2"/>
  <p:tag name="KSO_WM_TEMPLATE_CATEGORY" val="diagram"/>
  <p:tag name="KSO_WM_TEMPLATE_INDEX" val="20188036"/>
  <p:tag name="KSO_WM_UNIT_LAYERLEVEL" val="1_1_1_1"/>
  <p:tag name="KSO_WM_TAG_VERSION" val="1.0"/>
  <p:tag name="KSO_WM_BEAUTIFY_FLAG" val="#wm#"/>
  <p:tag name="KSO_WM_UNIT_COLOR_SCHEME_SHAPE_ID" val="18"/>
  <p:tag name="KSO_WM_UNIT_COLOR_SCHEME_PARENT_PAGE" val="0_5"/>
  <p:tag name="KSO_WM_UNIT_FILL_FORE_SCHEMECOLOR_INDEX" val="5"/>
  <p:tag name="KSO_WM_UNIT_FILL_TYPE" val="1"/>
  <p:tag name="KSO_WM_UNIT_LINE_FORE_SCHEMECOLOR_INDEX" val="14"/>
  <p:tag name="KSO_WM_UNIT_LINE_FILL_TYPE" val="2"/>
  <p:tag name="KSO_WM_UNIT_TEXT_FILL_FORE_SCHEMECOLOR_INDEX" val="2"/>
  <p:tag name="KSO_WM_UNIT_TEXT_FILL_TYPE" val="1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i"/>
  <p:tag name="KSO_WM_UNIT_INDEX" val="1_2_1_3"/>
  <p:tag name="KSO_WM_UNIT_ID" val="diagram20188036_1*n_h_h_i*1_2_1_3"/>
  <p:tag name="KSO_WM_TEMPLATE_CATEGORY" val="diagram"/>
  <p:tag name="KSO_WM_TEMPLATE_INDEX" val="20188036"/>
  <p:tag name="KSO_WM_UNIT_LAYERLEVEL" val="1_1_1_1"/>
  <p:tag name="KSO_WM_TAG_VERSION" val="1.0"/>
  <p:tag name="KSO_WM_BEAUTIFY_FLAG" val="#wm#"/>
  <p:tag name="KSO_WM_UNIT_COLOR_SCHEME_SHAPE_ID" val="19"/>
  <p:tag name="KSO_WM_UNIT_COLOR_SCHEME_PARENT_PAGE" val="0_5"/>
  <p:tag name="KSO_WM_UNIT_FILL_FORE_SCHEMECOLOR_INDEX" val="14"/>
  <p:tag name="KSO_WM_UNIT_FILL_TYPE" val="1"/>
  <p:tag name="KSO_WM_UNIT_TEXT_FILL_FORE_SCHEMECOLOR_INDEX" val="13"/>
  <p:tag name="KSO_WM_UNIT_TEXT_FILL_TYPE" val="1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RESET_TEXT" val="单击此处添加文本具体内容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f"/>
  <p:tag name="KSO_WM_UNIT_INDEX" val="1_2_1_1"/>
  <p:tag name="KSO_WM_UNIT_ID" val="diagram20188036_1*n_h_h_f*1_2_1_1"/>
  <p:tag name="KSO_WM_TEMPLATE_CATEGORY" val="diagram"/>
  <p:tag name="KSO_WM_TEMPLATE_INDEX" val="20188036"/>
  <p:tag name="KSO_WM_UNIT_LAYERLEVEL" val="1_1_1_1"/>
  <p:tag name="KSO_WM_TAG_VERSION" val="1.0"/>
  <p:tag name="KSO_WM_BEAUTIFY_FLAG" val="#wm#"/>
  <p:tag name="KSO_WM_UNIT_NOCLEAR" val="0"/>
  <p:tag name="KSO_WM_UNIT_COLOR_SCHEME_SHAPE_ID" val="26"/>
  <p:tag name="KSO_WM_UNIT_COLOR_SCHEME_PARENT_PAGE" val="0_5"/>
  <p:tag name="KSO_WM_UNIT_TEXT_FILL_FORE_SCHEMECOLOR_INDEX" val="13"/>
  <p:tag name="KSO_WM_UNIT_TEXT_FILL_TYPE" val="1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188036_1*n_h_h_a*1_2_1_1"/>
  <p:tag name="KSO_WM_TEMPLATE_CATEGORY" val="diagram"/>
  <p:tag name="KSO_WM_TEMPLATE_INDEX" val="20188036"/>
  <p:tag name="KSO_WM_UNIT_LAYERLEVEL" val="1_1_1_1"/>
  <p:tag name="KSO_WM_TAG_VERSION" val="1.0"/>
  <p:tag name="KSO_WM_BEAUTIFY_FLAG" val="#wm#"/>
  <p:tag name="KSO_WM_UNIT_ISCONTENTSTITLE" val="0"/>
  <p:tag name="KSO_WM_UNIT_PRESET_TEXT" val="添加标题"/>
  <p:tag name="KSO_WM_UNIT_VALUE" val="10"/>
  <p:tag name="KSO_WM_UNIT_TYPE" val="n_h_h_a"/>
  <p:tag name="KSO_WM_UNIT_INDEX" val="1_2_1_1"/>
  <p:tag name="KSO_WM_UNIT_NOCLEAR" val="0"/>
  <p:tag name="KSO_WM_UNIT_COLOR_SCHEME_SHAPE_ID" val="7"/>
  <p:tag name="KSO_WM_UNIT_COLOR_SCHEME_PARENT_PAGE" val="0_5"/>
  <p:tag name="KSO_WM_UNIT_TEXT_FILL_FORE_SCHEMECOLOR_INDEX" val="5"/>
  <p:tag name="KSO_WM_UNIT_TEXT_FILL_TYPE" val="1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188036_1*n_h_h_i*1_2_1_1"/>
  <p:tag name="KSO_WM_TEMPLATE_CATEGORY" val="diagram"/>
  <p:tag name="KSO_WM_TEMPLATE_INDEX" val="20188036"/>
  <p:tag name="KSO_WM_UNIT_LAYERLEVEL" val="1_1_1_1"/>
  <p:tag name="KSO_WM_TAG_VERSION" val="1.0"/>
  <p:tag name="KSO_WM_BEAUTIFY_FLAG" val="#wm#"/>
  <p:tag name="KSO_WM_UNIT_TYPE" val="n_h_h_i"/>
  <p:tag name="KSO_WM_UNIT_INDEX" val="1_2_1_1"/>
  <p:tag name="KSO_WM_UNIT_COLOR_SCHEME_SHAPE_ID" val="33"/>
  <p:tag name="KSO_WM_UNIT_COLOR_SCHEME_PARENT_PAGE" val="0_5"/>
  <p:tag name="KSO_WM_UNIT_DECOLORIZATION" val="1"/>
  <p:tag name="KSO_WM_UNIT_LINE_FORE_SCHEMECOLOR_INDEX" val="13"/>
  <p:tag name="KSO_WM_UNIT_LINE_FILL_TYPE" val="2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i"/>
  <p:tag name="KSO_WM_UNIT_INDEX" val="1_2_2_1"/>
  <p:tag name="KSO_WM_UNIT_ID" val="diagram20188036_1*n_h_h_i*1_2_2_1"/>
  <p:tag name="KSO_WM_TEMPLATE_CATEGORY" val="diagram"/>
  <p:tag name="KSO_WM_TEMPLATE_INDEX" val="20188036"/>
  <p:tag name="KSO_WM_UNIT_LAYERLEVEL" val="1_1_1_1"/>
  <p:tag name="KSO_WM_TAG_VERSION" val="1.0"/>
  <p:tag name="KSO_WM_BEAUTIFY_FLAG" val="#wm#"/>
  <p:tag name="KSO_WM_UNIT_COLOR_SCHEME_SHAPE_ID" val="41"/>
  <p:tag name="KSO_WM_UNIT_COLOR_SCHEME_PARENT_PAGE" val="0_5"/>
  <p:tag name="KSO_WM_UNIT_FILL_FORE_SCHEMECOLOR_INDEX" val="6"/>
  <p:tag name="KSO_WM_UNIT_FILL_TYPE" val="1"/>
  <p:tag name="KSO_WM_UNIT_LINE_FORE_SCHEMECOLOR_INDEX" val="14"/>
  <p:tag name="KSO_WM_UNIT_LINE_FILL_TYPE" val="2"/>
  <p:tag name="KSO_WM_UNIT_TEXT_FILL_FORE_SCHEMECOLOR_INDEX" val="2"/>
  <p:tag name="KSO_WM_UNIT_TEXT_FILL_TYPE" val="1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i"/>
  <p:tag name="KSO_WM_UNIT_INDEX" val="1_2_2_3"/>
  <p:tag name="KSO_WM_UNIT_ID" val="diagram20188036_1*n_h_h_i*1_2_2_3"/>
  <p:tag name="KSO_WM_TEMPLATE_CATEGORY" val="diagram"/>
  <p:tag name="KSO_WM_TEMPLATE_INDEX" val="20188036"/>
  <p:tag name="KSO_WM_UNIT_LAYERLEVEL" val="1_1_1_1"/>
  <p:tag name="KSO_WM_TAG_VERSION" val="1.0"/>
  <p:tag name="KSO_WM_BEAUTIFY_FLAG" val="#wm#"/>
  <p:tag name="KSO_WM_UNIT_COLOR_SCHEME_SHAPE_ID" val="17"/>
  <p:tag name="KSO_WM_UNIT_COLOR_SCHEME_PARENT_PAGE" val="0_5"/>
  <p:tag name="KSO_WM_UNIT_FILL_FORE_SCHEMECOLOR_INDEX" val="14"/>
  <p:tag name="KSO_WM_UNIT_FILL_TYPE" val="1"/>
  <p:tag name="KSO_WM_UNIT_TEXT_FILL_FORE_SCHEMECOLOR_INDEX" val="13"/>
  <p:tag name="KSO_WM_UNIT_TEXT_FILL_TYPE" val="1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188036_1*n_h_h_i*1_2_2_2"/>
  <p:tag name="KSO_WM_TEMPLATE_CATEGORY" val="diagram"/>
  <p:tag name="KSO_WM_TEMPLATE_INDEX" val="20188036"/>
  <p:tag name="KSO_WM_UNIT_LAYERLEVEL" val="1_1_1_1"/>
  <p:tag name="KSO_WM_TAG_VERSION" val="1.0"/>
  <p:tag name="KSO_WM_BEAUTIFY_FLAG" val="#wm#"/>
  <p:tag name="KSO_WM_UNIT_TYPE" val="n_h_h_i"/>
  <p:tag name="KSO_WM_UNIT_INDEX" val="1_2_2_2"/>
  <p:tag name="KSO_WM_UNIT_COLOR_SCHEME_SHAPE_ID" val="43"/>
  <p:tag name="KSO_WM_UNIT_COLOR_SCHEME_PARENT_PAGE" val="0_5"/>
  <p:tag name="KSO_WM_UNIT_DECOLORIZATION" val="1"/>
  <p:tag name="KSO_WM_UNIT_LINE_FORE_SCHEMECOLOR_INDEX" val="13"/>
  <p:tag name="KSO_WM_UNIT_LINE_FILL_TYPE" val="2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RESET_TEXT" val="单击此处添加文本具体内容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f"/>
  <p:tag name="KSO_WM_UNIT_INDEX" val="1_2_2_1"/>
  <p:tag name="KSO_WM_UNIT_ID" val="diagram20188036_1*n_h_h_f*1_2_2_1"/>
  <p:tag name="KSO_WM_TEMPLATE_CATEGORY" val="diagram"/>
  <p:tag name="KSO_WM_TEMPLATE_INDEX" val="20188036"/>
  <p:tag name="KSO_WM_UNIT_LAYERLEVEL" val="1_1_1_1"/>
  <p:tag name="KSO_WM_TAG_VERSION" val="1.0"/>
  <p:tag name="KSO_WM_BEAUTIFY_FLAG" val="#wm#"/>
  <p:tag name="KSO_WM_UNIT_NOCLEAR" val="0"/>
  <p:tag name="KSO_WM_UNIT_COLOR_SCHEME_SHAPE_ID" val="54"/>
  <p:tag name="KSO_WM_UNIT_COLOR_SCHEME_PARENT_PAGE" val="0_5"/>
  <p:tag name="KSO_WM_UNIT_TEXT_FILL_FORE_SCHEMECOLOR_INDEX" val="13"/>
  <p:tag name="KSO_WM_UNIT_TEXT_FILL_TYPE" val="1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188036_1*n_h_h_a*1_2_2_1"/>
  <p:tag name="KSO_WM_TEMPLATE_CATEGORY" val="diagram"/>
  <p:tag name="KSO_WM_TEMPLATE_INDEX" val="20188036"/>
  <p:tag name="KSO_WM_UNIT_LAYERLEVEL" val="1_1_1_1"/>
  <p:tag name="KSO_WM_TAG_VERSION" val="1.0"/>
  <p:tag name="KSO_WM_BEAUTIFY_FLAG" val="#wm#"/>
  <p:tag name="KSO_WM_UNIT_ISCONTENTSTITLE" val="0"/>
  <p:tag name="KSO_WM_UNIT_PRESET_TEXT" val="添加标题"/>
  <p:tag name="KSO_WM_UNIT_VALUE" val="10"/>
  <p:tag name="KSO_WM_UNIT_TYPE" val="n_h_h_a"/>
  <p:tag name="KSO_WM_UNIT_INDEX" val="1_2_2_1"/>
  <p:tag name="KSO_WM_UNIT_NOCLEAR" val="0"/>
  <p:tag name="KSO_WM_UNIT_COLOR_SCHEME_SHAPE_ID" val="55"/>
  <p:tag name="KSO_WM_UNIT_COLOR_SCHEME_PARENT_PAGE" val="0_5"/>
  <p:tag name="KSO_WM_UNIT_TEXT_FILL_FORE_SCHEMECOLOR_INDEX" val="6"/>
  <p:tag name="KSO_WM_UNIT_TEXT_FILL_TYPE" val="1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i"/>
  <p:tag name="KSO_WM_UNIT_INDEX" val="1_2_4"/>
  <p:tag name="KSO_WM_UNIT_ID" val="diagram20188036_1*n_h_i*1_2_4"/>
  <p:tag name="KSO_WM_TEMPLATE_CATEGORY" val="diagram"/>
  <p:tag name="KSO_WM_TEMPLATE_INDEX" val="20188036"/>
  <p:tag name="KSO_WM_UNIT_LAYERLEVEL" val="1_1_1"/>
  <p:tag name="KSO_WM_TAG_VERSION" val="1.0"/>
  <p:tag name="KSO_WM_BEAUTIFY_FLAG" val="#wm#"/>
  <p:tag name="KSO_WM_UNIT_COLOR_SCHEME_SHAPE_ID" val="12"/>
  <p:tag name="KSO_WM_UNIT_COLOR_SCHEME_PARENT_PAGE" val="0_5"/>
  <p:tag name="KSO_WM_UNIT_DECOLORIZATION" val="1"/>
  <p:tag name="KSO_WM_UNIT_LINE_FORE_SCHEMECOLOR_INDEX" val="14"/>
  <p:tag name="KSO_WM_UNIT_LINE_FILL_TYPE" val="2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8711"/>
  <p:tag name="KSO_WM_UNIT_TYPE" val="l_h_i"/>
  <p:tag name="KSO_WM_UNIT_INDEX" val="1_1_1"/>
  <p:tag name="KSO_WM_UNIT_ID" val="diagram20168711_2*l_h_i*1_1_1"/>
  <p:tag name="KSO_WM_UNIT_LAYERLEVEL" val="1_1_1"/>
  <p:tag name="KSO_WM_DIAGRAM_GROUP_CODE" val="l1-1"/>
  <p:tag name="KSO_WM_UNIT_FILL_FORE_SCHEMECOLOR_INDEX" val="5"/>
  <p:tag name="KSO_WM_UNIT_FILL_TYPE" val="1"/>
  <p:tag name="KSO_WM_UNIT_TEXT_FILL_FORE_SCHEMECOLOR_INDEX" val="13"/>
  <p:tag name="KSO_WM_UNIT_TEXT_FILL_TYPE" val="1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8711"/>
  <p:tag name="KSO_WM_UNIT_TYPE" val="l_h_i"/>
  <p:tag name="KSO_WM_UNIT_INDEX" val="1_1_2"/>
  <p:tag name="KSO_WM_UNIT_ID" val="diagram20168711_2*l_h_i*1_1_2"/>
  <p:tag name="KSO_WM_UNIT_LAYERLEVEL" val="1_1_1"/>
  <p:tag name="KSO_WM_DIAGRAM_GROUP_CODE" val="l1-1"/>
  <p:tag name="KSO_WM_UNIT_LINE_FORE_SCHEMECOLOR_INDEX" val="5"/>
  <p:tag name="KSO_WM_UNIT_LINE_FILL_TYPE" val="2"/>
  <p:tag name="KSO_WM_UNIT_TEXT_FILL_FORE_SCHEMECOLOR_INDEX" val="2"/>
  <p:tag name="KSO_WM_UNIT_TEXT_FILL_TYPE" val="1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8711"/>
  <p:tag name="KSO_WM_UNIT_TYPE" val="l_h_i"/>
  <p:tag name="KSO_WM_UNIT_INDEX" val="1_2_1"/>
  <p:tag name="KSO_WM_UNIT_ID" val="diagram20168711_2*l_h_i*1_2_1"/>
  <p:tag name="KSO_WM_UNIT_LAYERLEVEL" val="1_1_1"/>
  <p:tag name="KSO_WM_DIAGRAM_GROUP_CODE" val="l1-1"/>
  <p:tag name="KSO_WM_UNIT_FILL_FORE_SCHEMECOLOR_INDEX" val="5"/>
  <p:tag name="KSO_WM_UNIT_FILL_TYPE" val="1"/>
  <p:tag name="KSO_WM_UNIT_TEXT_FILL_FORE_SCHEMECOLOR_INDEX" val="13"/>
  <p:tag name="KSO_WM_UNIT_TEXT_FILL_TYPE" val="1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8711"/>
  <p:tag name="KSO_WM_UNIT_TYPE" val="l_h_i"/>
  <p:tag name="KSO_WM_UNIT_INDEX" val="1_2_2"/>
  <p:tag name="KSO_WM_UNIT_ID" val="diagram20168711_2*l_h_i*1_2_2"/>
  <p:tag name="KSO_WM_UNIT_LAYERLEVEL" val="1_1_1"/>
  <p:tag name="KSO_WM_DIAGRAM_GROUP_CODE" val="l1-1"/>
  <p:tag name="KSO_WM_UNIT_LINE_FORE_SCHEMECOLOR_INDEX" val="5"/>
  <p:tag name="KSO_WM_UNIT_LINE_FILL_TYPE" val="2"/>
  <p:tag name="KSO_WM_UNIT_TEXT_FILL_FORE_SCHEMECOLOR_INDEX" val="2"/>
  <p:tag name="KSO_WM_UNIT_TEXT_FILL_TYPE" val="1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8711"/>
  <p:tag name="KSO_WM_UNIT_TYPE" val="l_h_i"/>
  <p:tag name="KSO_WM_UNIT_INDEX" val="1_3_1"/>
  <p:tag name="KSO_WM_UNIT_ID" val="diagram20168711_2*l_h_i*1_3_1"/>
  <p:tag name="KSO_WM_UNIT_LAYERLEVEL" val="1_1_1"/>
  <p:tag name="KSO_WM_DIAGRAM_GROUP_CODE" val="l1-1"/>
  <p:tag name="KSO_WM_UNIT_FILL_FORE_SCHEMECOLOR_INDEX" val="5"/>
  <p:tag name="KSO_WM_UNIT_FILL_TYPE" val="1"/>
  <p:tag name="KSO_WM_UNIT_TEXT_FILL_FORE_SCHEMECOLOR_INDEX" val="13"/>
  <p:tag name="KSO_WM_UNIT_TEXT_FILL_TYPE" val="1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8711"/>
  <p:tag name="KSO_WM_UNIT_TYPE" val="l_h_i"/>
  <p:tag name="KSO_WM_UNIT_INDEX" val="1_3_2"/>
  <p:tag name="KSO_WM_UNIT_ID" val="diagram20168711_2*l_h_i*1_3_2"/>
  <p:tag name="KSO_WM_UNIT_LAYERLEVEL" val="1_1_1"/>
  <p:tag name="KSO_WM_DIAGRAM_GROUP_CODE" val="l1-1"/>
  <p:tag name="KSO_WM_UNIT_FILL_FORE_SCHEMECOLOR_INDEX" val="5"/>
  <p:tag name="KSO_WM_UNIT_FILL_TYPE" val="1"/>
  <p:tag name="KSO_WM_UNIT_TEXT_FILL_FORE_SCHEMECOLOR_INDEX" val="13"/>
  <p:tag name="KSO_WM_UNIT_TEXT_FILL_TYPE" val="1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8711"/>
  <p:tag name="KSO_WM_UNIT_TYPE" val="l_h_i"/>
  <p:tag name="KSO_WM_UNIT_INDEX" val="1_3_3"/>
  <p:tag name="KSO_WM_UNIT_ID" val="diagram20168711_2*l_h_i*1_3_3"/>
  <p:tag name="KSO_WM_UNIT_LAYERLEVEL" val="1_1_1"/>
  <p:tag name="KSO_WM_DIAGRAM_GROUP_CODE" val="l1-1"/>
  <p:tag name="KSO_WM_UNIT_FILL_FORE_SCHEMECOLOR_INDEX" val="5"/>
  <p:tag name="KSO_WM_UNIT_FILL_TYPE" val="1"/>
  <p:tag name="KSO_WM_UNIT_TEXT_FILL_FORE_SCHEMECOLOR_INDEX" val="13"/>
  <p:tag name="KSO_WM_UNIT_TEXT_FILL_TYPE" val="1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8711"/>
  <p:tag name="KSO_WM_UNIT_TYPE" val="l_h_i"/>
  <p:tag name="KSO_WM_UNIT_INDEX" val="1_3_4"/>
  <p:tag name="KSO_WM_UNIT_ID" val="diagram20168711_2*l_h_i*1_3_4"/>
  <p:tag name="KSO_WM_UNIT_LAYERLEVEL" val="1_1_1"/>
  <p:tag name="KSO_WM_DIAGRAM_GROUP_CODE" val="l1-1"/>
  <p:tag name="KSO_WM_UNIT_LINE_FORE_SCHEMECOLOR_INDEX" val="5"/>
  <p:tag name="KSO_WM_UNIT_LINE_FILL_TYPE" val="2"/>
  <p:tag name="KSO_WM_UNIT_TEXT_FILL_FORE_SCHEMECOLOR_INDEX" val="2"/>
  <p:tag name="KSO_WM_UNIT_TEXT_FILL_TYPE" val="1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8711"/>
  <p:tag name="KSO_WM_UNIT_TYPE" val="l_h_f"/>
  <p:tag name="KSO_WM_UNIT_INDEX" val="1_1_1"/>
  <p:tag name="KSO_WM_UNIT_LAYERLEVEL" val="1_1_1"/>
  <p:tag name="KSO_WM_UNIT_VALUE" val="51"/>
  <p:tag name="KSO_WM_UNIT_HIGHLIGHT" val="0"/>
  <p:tag name="KSO_WM_UNIT_COMPATIBLE" val="0"/>
  <p:tag name="KSO_WM_UNIT_CLEAR" val="0"/>
  <p:tag name="KSO_WM_UNIT_PRESET_TEXT_INDEX" val="4"/>
  <p:tag name="KSO_WM_UNIT_PRESET_TEXT_LEN" val="57"/>
  <p:tag name="KSO_WM_DIAGRAM_GROUP_CODE" val="l1-1"/>
  <p:tag name="KSO_WM_UNIT_ID" val="diagram20168711_2*l_h_f*1_1_1"/>
  <p:tag name="KSO_WM_UNIT_TEXT_FILL_FORE_SCHEMECOLOR_INDEX" val="14"/>
  <p:tag name="KSO_WM_UNIT_TEXT_FILL_TYPE" val="1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8711"/>
  <p:tag name="KSO_WM_UNIT_TYPE" val="l_h_f"/>
  <p:tag name="KSO_WM_UNIT_INDEX" val="1_2_1"/>
  <p:tag name="KSO_WM_UNIT_LAYERLEVEL" val="1_1_1"/>
  <p:tag name="KSO_WM_UNIT_VALUE" val="51"/>
  <p:tag name="KSO_WM_UNIT_HIGHLIGHT" val="0"/>
  <p:tag name="KSO_WM_UNIT_COMPATIBLE" val="0"/>
  <p:tag name="KSO_WM_UNIT_CLEAR" val="0"/>
  <p:tag name="KSO_WM_UNIT_PRESET_TEXT_INDEX" val="4"/>
  <p:tag name="KSO_WM_UNIT_PRESET_TEXT_LEN" val="57"/>
  <p:tag name="KSO_WM_DIAGRAM_GROUP_CODE" val="l1-1"/>
  <p:tag name="KSO_WM_UNIT_ID" val="diagram20168711_2*l_h_f*1_2_1"/>
  <p:tag name="KSO_WM_UNIT_TEXT_FILL_FORE_SCHEMECOLOR_INDEX" val="14"/>
  <p:tag name="KSO_WM_UNIT_TEXT_FILL_TYPE" val="1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8711"/>
  <p:tag name="KSO_WM_UNIT_TYPE" val="l_h_f"/>
  <p:tag name="KSO_WM_UNIT_INDEX" val="1_3_1"/>
  <p:tag name="KSO_WM_UNIT_LAYERLEVEL" val="1_1_1"/>
  <p:tag name="KSO_WM_UNIT_VALUE" val="51"/>
  <p:tag name="KSO_WM_UNIT_HIGHLIGHT" val="0"/>
  <p:tag name="KSO_WM_UNIT_COMPATIBLE" val="0"/>
  <p:tag name="KSO_WM_UNIT_CLEAR" val="0"/>
  <p:tag name="KSO_WM_UNIT_PRESET_TEXT_INDEX" val="4"/>
  <p:tag name="KSO_WM_UNIT_PRESET_TEXT_LEN" val="57"/>
  <p:tag name="KSO_WM_DIAGRAM_GROUP_CODE" val="l1-1"/>
  <p:tag name="KSO_WM_UNIT_ID" val="diagram20168711_2*l_h_f*1_3_1"/>
  <p:tag name="KSO_WM_UNIT_TEXT_FILL_FORE_SCHEMECOLOR_INDEX" val="14"/>
  <p:tag name="KSO_WM_UNIT_TEXT_FILL_TYPE" val="1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i"/>
  <p:tag name="KSO_WM_UNIT_INDEX" val="1_1_3_3"/>
  <p:tag name="KSO_WM_UNIT_ID" val="diagram160202_4*n_h_h_i*1_1_3_3"/>
  <p:tag name="KSO_WM_TEMPLATE_CATEGORY" val="diagram"/>
  <p:tag name="KSO_WM_TEMPLATE_INDEX" val="160202"/>
  <p:tag name="KSO_WM_UNIT_LAYERLEVEL" val="1_1_1_1"/>
  <p:tag name="KSO_WM_TAG_VERSION" val="1.0"/>
  <p:tag name="KSO_WM_BEAUTIFY_FLAG" val="#wm#"/>
  <p:tag name="KSO_WM_UNIT_LINE_FORE_SCHEMECOLOR_INDEX" val="14"/>
  <p:tag name="KSO_WM_UNIT_LINE_FILL_TYPE" val="2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i"/>
  <p:tag name="KSO_WM_UNIT_INDEX" val="1_1_1_3"/>
  <p:tag name="KSO_WM_UNIT_ID" val="diagram160202_4*n_h_h_i*1_1_1_3"/>
  <p:tag name="KSO_WM_TEMPLATE_CATEGORY" val="diagram"/>
  <p:tag name="KSO_WM_TEMPLATE_INDEX" val="160202"/>
  <p:tag name="KSO_WM_UNIT_LAYERLEVEL" val="1_1_1_1"/>
  <p:tag name="KSO_WM_TAG_VERSION" val="1.0"/>
  <p:tag name="KSO_WM_BEAUTIFY_FLAG" val="#wm#"/>
  <p:tag name="KSO_WM_UNIT_LINE_FORE_SCHEMECOLOR_INDEX" val="14"/>
  <p:tag name="KSO_WM_UNIT_LINE_FILL_TYPE" val="2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i"/>
  <p:tag name="KSO_WM_UNIT_INDEX" val="1_1_6_3"/>
  <p:tag name="KSO_WM_UNIT_ID" val="diagram160202_4*n_h_h_i*1_1_6_3"/>
  <p:tag name="KSO_WM_TEMPLATE_CATEGORY" val="diagram"/>
  <p:tag name="KSO_WM_TEMPLATE_INDEX" val="160202"/>
  <p:tag name="KSO_WM_UNIT_LAYERLEVEL" val="1_1_1_1"/>
  <p:tag name="KSO_WM_TAG_VERSION" val="1.0"/>
  <p:tag name="KSO_WM_BEAUTIFY_FLAG" val="#wm#"/>
  <p:tag name="KSO_WM_UNIT_LINE_FORE_SCHEMECOLOR_INDEX" val="14"/>
  <p:tag name="KSO_WM_UNIT_LINE_FILL_TYPE" val="2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i"/>
  <p:tag name="KSO_WM_UNIT_INDEX" val="1_1_4_3"/>
  <p:tag name="KSO_WM_UNIT_ID" val="diagram160202_4*n_h_h_i*1_1_4_3"/>
  <p:tag name="KSO_WM_TEMPLATE_CATEGORY" val="diagram"/>
  <p:tag name="KSO_WM_TEMPLATE_INDEX" val="160202"/>
  <p:tag name="KSO_WM_UNIT_LAYERLEVEL" val="1_1_1_1"/>
  <p:tag name="KSO_WM_TAG_VERSION" val="1.0"/>
  <p:tag name="KSO_WM_BEAUTIFY_FLAG" val="#wm#"/>
  <p:tag name="KSO_WM_UNIT_LINE_FORE_SCHEMECOLOR_INDEX" val="14"/>
  <p:tag name="KSO_WM_UNIT_LINE_FILL_TYPE" val="2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i"/>
  <p:tag name="KSO_WM_UNIT_INDEX" val="1_2_1"/>
  <p:tag name="KSO_WM_UNIT_ID" val="diagram160202_4*n_h_i*1_2_1"/>
  <p:tag name="KSO_WM_TEMPLATE_CATEGORY" val="diagram"/>
  <p:tag name="KSO_WM_TEMPLATE_INDEX" val="160202"/>
  <p:tag name="KSO_WM_UNIT_LAYERLEVEL" val="1_1_1"/>
  <p:tag name="KSO_WM_TAG_VERSION" val="1.0"/>
  <p:tag name="KSO_WM_BEAUTIFY_FLAG" val="#wm#"/>
  <p:tag name="KSO_WM_UNIT_FILL_FORE_SCHEMECOLOR_INDEX" val="14"/>
  <p:tag name="KSO_WM_UNIT_FILL_TYPE" val="1"/>
  <p:tag name="KSO_WM_UNIT_LINE_FORE_SCHEMECOLOR_INDEX" val="14"/>
  <p:tag name="KSO_WM_UNIT_LINE_FILL_TYPE" val="2"/>
  <p:tag name="KSO_WM_UNIT_TEXT_FILL_FORE_SCHEMECOLOR_INDEX" val="2"/>
  <p:tag name="KSO_WM_UNIT_TEXT_FILL_TYPE" val="1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i"/>
  <p:tag name="KSO_WM_UNIT_INDEX" val="1_1_1_1"/>
  <p:tag name="KSO_WM_UNIT_ID" val="diagram160202_4*n_h_h_i*1_1_1_1"/>
  <p:tag name="KSO_WM_TEMPLATE_CATEGORY" val="diagram"/>
  <p:tag name="KSO_WM_TEMPLATE_INDEX" val="160202"/>
  <p:tag name="KSO_WM_UNIT_LAYERLEVEL" val="1_1_1_1"/>
  <p:tag name="KSO_WM_TAG_VERSION" val="1.0"/>
  <p:tag name="KSO_WM_BEAUTIFY_FLAG" val="#wm#"/>
  <p:tag name="KSO_WM_UNIT_FILL_FORE_SCHEMECOLOR_INDEX" val="14"/>
  <p:tag name="KSO_WM_UNIT_FILL_TYPE" val="1"/>
  <p:tag name="KSO_WM_UNIT_LINE_FORE_SCHEMECOLOR_INDEX" val="5"/>
  <p:tag name="KSO_WM_UNIT_LINE_FILL_TYPE" val="2"/>
  <p:tag name="KSO_WM_UNIT_TEXT_FILL_FORE_SCHEMECOLOR_INDEX" val="2"/>
  <p:tag name="KSO_WM_UNIT_TEXT_FILL_TYPE" val="1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i"/>
  <p:tag name="KSO_WM_UNIT_INDEX" val="1_1_3_1"/>
  <p:tag name="KSO_WM_UNIT_ID" val="diagram160202_4*n_h_h_i*1_1_3_1"/>
  <p:tag name="KSO_WM_TEMPLATE_CATEGORY" val="diagram"/>
  <p:tag name="KSO_WM_TEMPLATE_INDEX" val="160202"/>
  <p:tag name="KSO_WM_UNIT_LAYERLEVEL" val="1_1_1_1"/>
  <p:tag name="KSO_WM_TAG_VERSION" val="1.0"/>
  <p:tag name="KSO_WM_BEAUTIFY_FLAG" val="#wm#"/>
  <p:tag name="KSO_WM_UNIT_FILL_FORE_SCHEMECOLOR_INDEX" val="14"/>
  <p:tag name="KSO_WM_UNIT_FILL_TYPE" val="1"/>
  <p:tag name="KSO_WM_UNIT_LINE_FORE_SCHEMECOLOR_INDEX" val="7"/>
  <p:tag name="KSO_WM_UNIT_LINE_FILL_TYPE" val="2"/>
  <p:tag name="KSO_WM_UNIT_TEXT_FILL_FORE_SCHEMECOLOR_INDEX" val="2"/>
  <p:tag name="KSO_WM_UNIT_TEXT_FILL_TYPE" val="1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RESET_TEXT" val="添加标题"/>
  <p:tag name="KSO_WM_UNIT_NOCLEAR" val="0"/>
  <p:tag name="KSO_WM_UNIT_VALUE" val="7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f"/>
  <p:tag name="KSO_WM_UNIT_INDEX" val="1_1_1_1"/>
  <p:tag name="KSO_WM_UNIT_ID" val="diagram160202_4*n_h_h_f*1_1_1_1"/>
  <p:tag name="KSO_WM_TEMPLATE_CATEGORY" val="diagram"/>
  <p:tag name="KSO_WM_TEMPLATE_INDEX" val="160202"/>
  <p:tag name="KSO_WM_UNIT_LAYERLEVEL" val="1_1_1_1"/>
  <p:tag name="KSO_WM_TAG_VERSION" val="1.0"/>
  <p:tag name="KSO_WM_BEAUTIFY_FLAG" val="#wm#"/>
  <p:tag name="KSO_WM_UNIT_TEXT_FILL_FORE_SCHEMECOLOR_INDEX" val="5"/>
  <p:tag name="KSO_WM_UNIT_TEXT_FILL_TYPE" val="1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i"/>
  <p:tag name="KSO_WM_UNIT_INDEX" val="1_1_1_2"/>
  <p:tag name="KSO_WM_UNIT_ID" val="diagram160202_4*n_h_h_i*1_1_1_2"/>
  <p:tag name="KSO_WM_TEMPLATE_CATEGORY" val="diagram"/>
  <p:tag name="KSO_WM_TEMPLATE_INDEX" val="160202"/>
  <p:tag name="KSO_WM_UNIT_LAYERLEVEL" val="1_1_1_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i"/>
  <p:tag name="KSO_WM_UNIT_INDEX" val="1_1_3_2"/>
  <p:tag name="KSO_WM_UNIT_ID" val="diagram160202_4*n_h_h_i*1_1_3_2"/>
  <p:tag name="KSO_WM_TEMPLATE_CATEGORY" val="diagram"/>
  <p:tag name="KSO_WM_TEMPLATE_INDEX" val="160202"/>
  <p:tag name="KSO_WM_UNIT_LAYERLEVEL" val="1_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RESET_TEXT" val="添加标题"/>
  <p:tag name="KSO_WM_UNIT_NOCLEAR" val="0"/>
  <p:tag name="KSO_WM_UNIT_VALUE" val="7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f"/>
  <p:tag name="KSO_WM_UNIT_INDEX" val="1_1_3_1"/>
  <p:tag name="KSO_WM_UNIT_ID" val="diagram160202_4*n_h_h_f*1_1_3_1"/>
  <p:tag name="KSO_WM_TEMPLATE_CATEGORY" val="diagram"/>
  <p:tag name="KSO_WM_TEMPLATE_INDEX" val="160202"/>
  <p:tag name="KSO_WM_UNIT_LAYERLEVEL" val="1_1_1_1"/>
  <p:tag name="KSO_WM_TAG_VERSION" val="1.0"/>
  <p:tag name="KSO_WM_BEAUTIFY_FLAG" val="#wm#"/>
  <p:tag name="KSO_WM_UNIT_TEXT_FILL_FORE_SCHEMECOLOR_INDEX" val="7"/>
  <p:tag name="KSO_WM_UNIT_TEXT_FILL_TYPE" val="1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i"/>
  <p:tag name="KSO_WM_UNIT_INDEX" val="1_1_4_1"/>
  <p:tag name="KSO_WM_UNIT_ID" val="diagram160202_4*n_h_h_i*1_1_4_1"/>
  <p:tag name="KSO_WM_TEMPLATE_CATEGORY" val="diagram"/>
  <p:tag name="KSO_WM_TEMPLATE_INDEX" val="160202"/>
  <p:tag name="KSO_WM_UNIT_LAYERLEVEL" val="1_1_1_1"/>
  <p:tag name="KSO_WM_TAG_VERSION" val="1.0"/>
  <p:tag name="KSO_WM_BEAUTIFY_FLAG" val="#wm#"/>
  <p:tag name="KSO_WM_UNIT_FILL_FORE_SCHEMECOLOR_INDEX" val="14"/>
  <p:tag name="KSO_WM_UNIT_FILL_TYPE" val="1"/>
  <p:tag name="KSO_WM_UNIT_LINE_FORE_SCHEMECOLOR_INDEX" val="8"/>
  <p:tag name="KSO_WM_UNIT_LINE_FILL_TYPE" val="2"/>
  <p:tag name="KSO_WM_UNIT_TEXT_FILL_FORE_SCHEMECOLOR_INDEX" val="2"/>
  <p:tag name="KSO_WM_UNIT_TEXT_FILL_TYPE" val="1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i"/>
  <p:tag name="KSO_WM_UNIT_INDEX" val="1_1_6_1"/>
  <p:tag name="KSO_WM_UNIT_ID" val="diagram160202_4*n_h_h_i*1_1_6_1"/>
  <p:tag name="KSO_WM_TEMPLATE_CATEGORY" val="diagram"/>
  <p:tag name="KSO_WM_TEMPLATE_INDEX" val="160202"/>
  <p:tag name="KSO_WM_UNIT_LAYERLEVEL" val="1_1_1_1"/>
  <p:tag name="KSO_WM_TAG_VERSION" val="1.0"/>
  <p:tag name="KSO_WM_BEAUTIFY_FLAG" val="#wm#"/>
  <p:tag name="KSO_WM_UNIT_FILL_FORE_SCHEMECOLOR_INDEX" val="14"/>
  <p:tag name="KSO_WM_UNIT_FILL_TYPE" val="1"/>
  <p:tag name="KSO_WM_UNIT_LINE_FORE_SCHEMECOLOR_INDEX" val="10"/>
  <p:tag name="KSO_WM_UNIT_LINE_FILL_TYPE" val="2"/>
  <p:tag name="KSO_WM_UNIT_TEXT_FILL_FORE_SCHEMECOLOR_INDEX" val="2"/>
  <p:tag name="KSO_WM_UNIT_TEXT_FILL_TYPE" val="1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i"/>
  <p:tag name="KSO_WM_UNIT_INDEX" val="1_1_4_2"/>
  <p:tag name="KSO_WM_UNIT_ID" val="diagram160202_4*n_h_h_i*1_1_4_2"/>
  <p:tag name="KSO_WM_TEMPLATE_CATEGORY" val="diagram"/>
  <p:tag name="KSO_WM_TEMPLATE_INDEX" val="160202"/>
  <p:tag name="KSO_WM_UNIT_LAYERLEVEL" val="1_1_1_1"/>
  <p:tag name="KSO_WM_TAG_VERSION" val="1.0"/>
  <p:tag name="KSO_WM_BEAUTIFY_FLAG" val="#wm#"/>
  <p:tag name="KSO_WM_UNIT_FILL_FORE_SCHEMECOLOR_INDEX" val="8"/>
  <p:tag name="KSO_WM_UNIT_FILL_TYPE" val="1"/>
  <p:tag name="KSO_WM_UNIT_TEXT_FILL_FORE_SCHEMECOLOR_INDEX" val="2"/>
  <p:tag name="KSO_WM_UNIT_TEXT_FILL_TYPE" val="1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i"/>
  <p:tag name="KSO_WM_UNIT_INDEX" val="1_1_6_2"/>
  <p:tag name="KSO_WM_UNIT_ID" val="diagram160202_4*n_h_h_i*1_1_6_2"/>
  <p:tag name="KSO_WM_TEMPLATE_CATEGORY" val="diagram"/>
  <p:tag name="KSO_WM_TEMPLATE_INDEX" val="160202"/>
  <p:tag name="KSO_WM_UNIT_LAYERLEVEL" val="1_1_1_1"/>
  <p:tag name="KSO_WM_TAG_VERSION" val="1.0"/>
  <p:tag name="KSO_WM_BEAUTIFY_FLAG" val="#wm#"/>
  <p:tag name="KSO_WM_UNIT_FILL_FORE_SCHEMECOLOR_INDEX" val="10"/>
  <p:tag name="KSO_WM_UNIT_FILL_TYPE" val="1"/>
  <p:tag name="KSO_WM_UNIT_TEXT_FILL_FORE_SCHEMECOLOR_INDEX" val="2"/>
  <p:tag name="KSO_WM_UNIT_TEXT_FILL_TYPE" val="1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RESET_TEXT" val="添加标题"/>
  <p:tag name="KSO_WM_UNIT_NOCLEAR" val="0"/>
  <p:tag name="KSO_WM_UNIT_VALUE" val="7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f"/>
  <p:tag name="KSO_WM_UNIT_INDEX" val="1_1_4_1"/>
  <p:tag name="KSO_WM_UNIT_ID" val="diagram160202_4*n_h_h_f*1_1_4_1"/>
  <p:tag name="KSO_WM_TEMPLATE_CATEGORY" val="diagram"/>
  <p:tag name="KSO_WM_TEMPLATE_INDEX" val="160202"/>
  <p:tag name="KSO_WM_UNIT_LAYERLEVEL" val="1_1_1_1"/>
  <p:tag name="KSO_WM_TAG_VERSION" val="1.0"/>
  <p:tag name="KSO_WM_BEAUTIFY_FLAG" val="#wm#"/>
  <p:tag name="KSO_WM_UNIT_TEXT_FILL_FORE_SCHEMECOLOR_INDEX" val="8"/>
  <p:tag name="KSO_WM_UNIT_TEXT_FILL_TYPE" val="1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RESET_TEXT" val="添加标题"/>
  <p:tag name="KSO_WM_UNIT_NOCLEAR" val="0"/>
  <p:tag name="KSO_WM_UNIT_VALUE" val="7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f"/>
  <p:tag name="KSO_WM_UNIT_INDEX" val="1_1_6_1"/>
  <p:tag name="KSO_WM_UNIT_ID" val="diagram160202_4*n_h_h_f*1_1_6_1"/>
  <p:tag name="KSO_WM_TEMPLATE_CATEGORY" val="diagram"/>
  <p:tag name="KSO_WM_TEMPLATE_INDEX" val="160202"/>
  <p:tag name="KSO_WM_UNIT_LAYERLEVEL" val="1_1_1_1"/>
  <p:tag name="KSO_WM_TAG_VERSION" val="1.0"/>
  <p:tag name="KSO_WM_BEAUTIFY_FLAG" val="#wm#"/>
  <p:tag name="KSO_WM_UNIT_TEXT_FILL_FORE_SCHEMECOLOR_INDEX" val="10"/>
  <p:tag name="KSO_WM_UNIT_TEXT_FILL_TYPE" val="1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PRESET_TEXT" val="添加标题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a"/>
  <p:tag name="KSO_WM_UNIT_INDEX" val="1_2_1"/>
  <p:tag name="KSO_WM_UNIT_ID" val="diagram160202_4*n_h_a*1_2_1"/>
  <p:tag name="KSO_WM_TEMPLATE_CATEGORY" val="diagram"/>
  <p:tag name="KSO_WM_TEMPLATE_INDEX" val="160202"/>
  <p:tag name="KSO_WM_UNIT_LAYERLEVEL" val="1_1_1"/>
  <p:tag name="KSO_WM_TAG_VERSION" val="1.0"/>
  <p:tag name="KSO_WM_BEAUTIFY_FLAG" val="#wm#"/>
  <p:tag name="KSO_WM_UNIT_TEXT_FILL_FORE_SCHEMECOLOR_INDEX" val="13"/>
  <p:tag name="KSO_WM_UNIT_TEXT_FILL_TYPE" val="1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08726_1*i*1"/>
  <p:tag name="KSO_WM_TEMPLATE_CATEGORY" val="diagram"/>
  <p:tag name="KSO_WM_TEMPLATE_INDEX" val="20208726"/>
  <p:tag name="KSO_WM_UNIT_LAYERLEVEL" val="1"/>
  <p:tag name="KSO_WM_TAG_VERSION" val="1.0"/>
  <p:tag name="KSO_WM_BEAUTIFY_FLAG" val="#wm#"/>
  <p:tag name="KSO_WM_UNIT_BLOCK" val="0"/>
  <p:tag name="KSO_WM_UNIT_SM_LIMIT_TYPE" val="1"/>
  <p:tag name="KSO_WM_UNIT_DEC_AREA_ID" val="869a47cc434a46408bb65052c05f2790"/>
  <p:tag name="KSO_WM_UNIT_DECORATE_INFO" val="{&quot;ReferentInfo&quot;:{&quot;X&quot;:{&quot;Pos&quot;:0},&quot;Y&quot;:{&quot;Pos&quot;:0}},&quot;DecorateInfoX&quot;:{&quot;Pos&quot;:0,&quot;IsAbs&quot;:false},&quot;DecorateInfoY&quot;:{&quot;Pos&quot;:0,&quot;IsAbs&quot;:false},&quot;DecorateInfoW&quot;:{&quot;IsAbs&quot;:true},&quot;DecorateInfoH&quot;:{&quot;IsAbs&quot;:true}}"/>
  <p:tag name="KSO_WM_CHIP_GROUPID" val="5ef16cf55bb2a422ac9a2b39"/>
  <p:tag name="KSO_WM_CHIP_XID" val="5ef16cf55bb2a422ac9a2b3a"/>
  <p:tag name="KSO_WM_UNIT_FILL_FORE_SCHEMECOLOR_INDEX_BRIGHTNESS" val="0"/>
  <p:tag name="KSO_WM_UNIT_FILL_FORE_SCHEMECOLOR_INDEX" val="15"/>
  <p:tag name="KSO_WM_UNIT_FILL_BACK_SCHEMECOLOR_INDEX_BRIGHTNESS" val="0"/>
  <p:tag name="KSO_WM_UNIT_FILL_BACK_SCHEMECOLOR_INDEX" val="14"/>
  <p:tag name="KSO_WM_UNIT_FILL_TYPE" val="2"/>
  <p:tag name="KSO_WM_UNIT_TEXT_FILL_FORE_SCHEMECOLOR_INDEX_BRIGHTNESS" val="0"/>
  <p:tag name="KSO_WM_UNIT_TEXT_FILL_FORE_SCHEMECOLOR_INDEX" val="2"/>
  <p:tag name="KSO_WM_UNIT_TEXT_FILL_TYPE" val="1"/>
  <p:tag name="KSO_WM_UNIT_VALUE" val="477"/>
  <p:tag name="KSO_WM_TEMPLATE_ASSEMBLE_XID" val="5ef55454ea5a3ac527a189e3"/>
  <p:tag name="KSO_WM_TEMPLATE_ASSEMBLE_GROUPID" val="5ef55454ea5a3ac527a189e3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208726_1*i*2"/>
  <p:tag name="KSO_WM_TEMPLATE_CATEGORY" val="diagram"/>
  <p:tag name="KSO_WM_TEMPLATE_INDEX" val="20208726"/>
  <p:tag name="KSO_WM_UNIT_LAYERLEVEL" val="1"/>
  <p:tag name="KSO_WM_TAG_VERSION" val="1.0"/>
  <p:tag name="KSO_WM_BEAUTIFY_FLAG" val="#wm#"/>
  <p:tag name="KSO_WM_UNIT_BLOCK" val="0"/>
  <p:tag name="KSO_WM_UNIT_SM_LIMIT_TYPE" val="2"/>
  <p:tag name="KSO_WM_UNIT_DEC_AREA_ID" val="c4ce87efa6da456eba5f87ab75ba3aa6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1},&quot;ReferentInfo&quot;:{&quot;Id&quot;:&quot;6618fb3c5f874e68a20589c3b602507e&quot;,&quot;X&quot;:{&quot;Pos&quot;:1},&quot;Y&quot;:{&quot;Pos&quot;:1}}}"/>
  <p:tag name="KSO_WM_CHIP_GROUPID" val="5ef16cf55bb2a422ac9a2b39"/>
  <p:tag name="KSO_WM_CHIP_XID" val="5ef16cf55bb2a422ac9a2b3a"/>
  <p:tag name="KSO_WM_UNIT_FILL_FORE_SCHEMECOLOR_INDEX_BRIGHTNESS" val="0"/>
  <p:tag name="KSO_WM_UNIT_FILL_FORE_SCHEMECOLOR_INDEX" val="14"/>
  <p:tag name="KSO_WM_UNIT_FILL_TYPE" val="1"/>
  <p:tag name="KSO_WM_UNIT_SHADOW_SCHEMECOLOR_INDEX_BRIGHTNESS" val="0"/>
  <p:tag name="KSO_WM_UNIT_SHADOW_SCHEMECOLOR_INDEX" val="13"/>
  <p:tag name="KSO_WM_UNIT_TEXT_FILL_FORE_SCHEMECOLOR_INDEX_BRIGHTNESS" val="0"/>
  <p:tag name="KSO_WM_UNIT_TEXT_FILL_FORE_SCHEMECOLOR_INDEX" val="2"/>
  <p:tag name="KSO_WM_UNIT_TEXT_FILL_TYPE" val="1"/>
  <p:tag name="KSO_WM_UNIT_VALUE" val="114"/>
  <p:tag name="KSO_WM_TEMPLATE_ASSEMBLE_XID" val="5ef55454ea5a3ac527a189e3"/>
  <p:tag name="KSO_WM_TEMPLATE_ASSEMBLE_GROUPID" val="5ef55454ea5a3ac527a189e3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diagram20208726_1*i*7"/>
  <p:tag name="KSO_WM_TEMPLATE_CATEGORY" val="diagram"/>
  <p:tag name="KSO_WM_TEMPLATE_INDEX" val="20208726"/>
  <p:tag name="KSO_WM_UNIT_LAYERLEVEL" val="1"/>
  <p:tag name="KSO_WM_TAG_VERSION" val="1.0"/>
  <p:tag name="KSO_WM_BEAUTIFY_FLAG" val="#wm#"/>
  <p:tag name="KSO_WM_UNIT_BLOCK" val="0"/>
  <p:tag name="KSO_WM_UNIT_SM_LIMIT_TYPE" val="2"/>
  <p:tag name="KSO_WM_UNIT_DEC_AREA_ID" val="bcde86d968184e51b1cbdb20e2dfff00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1},&quot;ReferentInfo&quot;:{&quot;Id&quot;:&quot;2a0b84ff2b9a4700b2ebecd3d5d2b889&quot;,&quot;X&quot;:{&quot;Pos&quot;:1},&quot;Y&quot;:{&quot;Pos&quot;:1}}}"/>
  <p:tag name="KSO_WM_CHIP_GROUPID" val="5ef16cf55bb2a422ac9a2b39"/>
  <p:tag name="KSO_WM_CHIP_XID" val="5ef16cf55bb2a422ac9a2b3a"/>
  <p:tag name="KSO_WM_UNIT_FILL_FORE_SCHEMECOLOR_INDEX_BRIGHTNESS" val="0"/>
  <p:tag name="KSO_WM_UNIT_FILL_FORE_SCHEMECOLOR_INDEX" val="14"/>
  <p:tag name="KSO_WM_UNIT_FILL_TYPE" val="1"/>
  <p:tag name="KSO_WM_UNIT_SHADOW_SCHEMECOLOR_INDEX_BRIGHTNESS" val="0"/>
  <p:tag name="KSO_WM_UNIT_SHADOW_SCHEMECOLOR_INDEX" val="13"/>
  <p:tag name="KSO_WM_UNIT_TEXT_FILL_FORE_SCHEMECOLOR_INDEX_BRIGHTNESS" val="0"/>
  <p:tag name="KSO_WM_UNIT_TEXT_FILL_FORE_SCHEMECOLOR_INDEX" val="2"/>
  <p:tag name="KSO_WM_UNIT_TEXT_FILL_TYPE" val="1"/>
  <p:tag name="KSO_WM_UNIT_VALUE" val="380"/>
  <p:tag name="KSO_WM_TEMPLATE_ASSEMBLE_XID" val="5ef55454ea5a3ac527a189e3"/>
  <p:tag name="KSO_WM_TEMPLATE_ASSEMBLE_GROUPID" val="5ef55454ea5a3ac527a189e3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27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08726_1*a*1"/>
  <p:tag name="KSO_WM_TEMPLATE_CATEGORY" val="diagram"/>
  <p:tag name="KSO_WM_TEMPLATE_INDEX" val="20208726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6618fb3c5f874e68a20589c3b602507e"/>
  <p:tag name="KSO_WM_ASSEMBLE_CHIP_INDEX" val="cf455a0210784292bf56397ada7cc389"/>
  <p:tag name="KSO_WM_UNIT_TEXT_FILL_FORE_SCHEMECOLOR_INDEX_BRIGHTNESS" val="0"/>
  <p:tag name="KSO_WM_UNIT_TEXT_FILL_FORE_SCHEMECOLOR_INDEX" val="13"/>
  <p:tag name="KSO_WM_UNIT_TEXT_FILL_TYPE" val="1"/>
  <p:tag name="KSO_WM_TEMPLATE_ASSEMBLE_XID" val="5ef55454ea5a3ac527a189e3"/>
  <p:tag name="KSO_WM_TEMPLATE_ASSEMBLE_GROUPID" val="5ef55454ea5a3ac527a189e3"/>
  <p:tag name="KSO_WM_UNIT_SMARTLAYOUT_COMPRESS_INFO" val="{&#10;    &quot;id&quot;: &quot;2020-06-26T09:50:13&quot;,&#10;    &quot;max&quot;: 9.9359201546418774,&#10;    &quot;parentMax&quot;: {&#10;        &quot;max&quot;: 2.3390404752793827&#10;    },&#10;    &quot;topChanged&quot;: 9.889445190429683&#10;}&#10;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2_1"/>
  <p:tag name="KSO_WM_UNIT_ID" val="diagram20210129_4*l_h_i*1_2_1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59da7e6ec43e4feb9298f18bea997348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1},&quot;ReferentInfo&quot;:{&quot;Id&quot;:&quot;b59d62ad1efa49a7814a432af9fe78d0&quot;,&quot;X&quot;:{&quot;Pos&quot;:1},&quot;Y&quot;:{&quot;Pos&quot;:1}},&quot;whChangeMode&quot;:0}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13"/>
  <p:tag name="KSO_WM_UNIT_TEXT_FILL_TYPE" val="1"/>
  <p:tag name="KSO_WM_UNIT_VALUE" val="6"/>
  <p:tag name="KSO_WM_UNIT_USESOURCEFORMAT_APPLY" val="1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添加正文，文字是您思想的提炼，请尽量言简意赅的阐述观点。"/>
  <p:tag name="KSO_WM_UNIT_NOCLEAR" val="0"/>
  <p:tag name="KSO_WM_UNIT_VALUE" val="49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10129_4*l_h_f*1_2_1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DEFAULT_FONT" val="14;20;2"/>
  <p:tag name="KSO_WM_UNIT_BLOCK" val="0"/>
  <p:tag name="KSO_WM_UNIT_DEC_AREA_ID" val="34b132e5c4a443288f0a499a2a868f21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TEXT_FILL_FORE_SCHEMECOLOR_INDEX_BRIGHTNESS" val="0.25"/>
  <p:tag name="KSO_WM_UNIT_TEXT_FILL_FORE_SCHEMECOLOR_INDEX" val="13"/>
  <p:tag name="KSO_WM_UNIT_TEXT_FILL_TYPE" val="1"/>
  <p:tag name="KSO_WM_UNIT_USESOURCEFORMAT_APPLY" val="1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2_2"/>
  <p:tag name="KSO_WM_UNIT_ID" val="diagram20210129_4*l_h_i*1_2_2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b59d62ad1efa49a7814a432af9fe78d0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2},&quot;ReferentInfo&quot;:{&quot;Id&quot;:&quot;34b132e5c4a443288f0a499a2a868f21&quot;,&quot;X&quot;:{&quot;Pos&quot;:1},&quot;Y&quot;:{&quot;Pos&quot;:0}},&quot;whChangeMode&quot;:0}"/>
  <p:tag name="KSO_WM_UNIT_DEFAULT_FONT" val="18;36;2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TEXT_FILL_FORE_SCHEMECOLOR_INDEX_BRIGHTNESS" val="-0.25"/>
  <p:tag name="KSO_WM_UNIT_TEXT_FILL_FORE_SCHEMECOLOR_INDEX" val="5"/>
  <p:tag name="KSO_WM_UNIT_TEXT_FILL_TYPE" val="1"/>
  <p:tag name="KSO_WM_UNIT_VALUE" val="1"/>
  <p:tag name="KSO_WM_UNIT_USESOURCEFORMAT_APPLY" val="1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2_2"/>
  <p:tag name="KSO_WM_UNIT_ID" val="diagram20210129_4*l_h_i*1_2_2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70d7a2d2c86d4c9db8b4a0d9151012cf"/>
  <p:tag name="KSO_WM_UNIT_DECORATE_INFO" val="{&quot;DecorateInfoH&quot;:{&quot;IsAbs&quot;:true},&quot;DecorateInfoW&quot;:{&quot;IsAbs&quot;:true},&quot;DecorateInfoX&quot;:{&quot;IsAbs&quot;:true,&quot;Pos&quot;:2},&quot;DecorateInfoY&quot;:{&quot;IsAbs&quot;:true,&quot;Pos&quot;:1},&quot;ReferentInfo&quot;:{&quot;Id&quot;:&quot;b59d62ad1efa49a7814a432af9fe78d0&quot;,&quot;X&quot;:{&quot;Pos&quot;:0},&quot;Y&quot;:{&quot;Pos&quot;:1}},&quot;whChangeMode&quot;:0}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FILL_FORE_SCHEMECOLOR_INDEX_BRIGHTNESS" val="0.4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1"/>
  <p:tag name="KSO_WM_UNIT_USESOURCEFORMAT_APPLY" val="1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3_1"/>
  <p:tag name="KSO_WM_UNIT_ID" val="diagram20210129_4*l_h_i*1_3_1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b6081f06af7546549cd304a627ac5bf6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1},&quot;ReferentInfo&quot;:{&quot;Id&quot;:&quot;7c5b9ba033db4be7921036f8d9ac71fa&quot;,&quot;X&quot;:{&quot;Pos&quot;:1},&quot;Y&quot;:{&quot;Pos&quot;:1}},&quot;whChangeMode&quot;:0}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13"/>
  <p:tag name="KSO_WM_UNIT_TEXT_FILL_TYPE" val="1"/>
  <p:tag name="KSO_WM_UNIT_VALUE" val="6"/>
  <p:tag name="KSO_WM_UNIT_USESOURCEFORMAT_APPLY" val="1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添加正文，文字是您思想的提炼，请尽量言简意赅的阐述观点。"/>
  <p:tag name="KSO_WM_UNIT_NOCLEAR" val="0"/>
  <p:tag name="KSO_WM_UNIT_VALUE" val="49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10129_4*l_h_f*1_3_1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DEFAULT_FONT" val="14;20;2"/>
  <p:tag name="KSO_WM_UNIT_BLOCK" val="0"/>
  <p:tag name="KSO_WM_UNIT_DEC_AREA_ID" val="9139da38a7254bbdae206e7c3badbfdc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TEXT_FILL_FORE_SCHEMECOLOR_INDEX_BRIGHTNESS" val="0.25"/>
  <p:tag name="KSO_WM_UNIT_TEXT_FILL_FORE_SCHEMECOLOR_INDEX" val="13"/>
  <p:tag name="KSO_WM_UNIT_TEXT_FILL_TYPE" val="1"/>
  <p:tag name="KSO_WM_UNIT_USESOURCEFORMAT_APPLY" val="1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3_2"/>
  <p:tag name="KSO_WM_UNIT_ID" val="diagram20210129_4*l_h_i*1_3_2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7c5b9ba033db4be7921036f8d9ac71fa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2},&quot;ReferentInfo&quot;:{&quot;Id&quot;:&quot;9139da38a7254bbdae206e7c3badbfdc&quot;,&quot;X&quot;:{&quot;Pos&quot;:1},&quot;Y&quot;:{&quot;Pos&quot;:0}},&quot;whChangeMode&quot;:0}"/>
  <p:tag name="KSO_WM_UNIT_DEFAULT_FONT" val="18;36;2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TEXT_FILL_FORE_SCHEMECOLOR_INDEX_BRIGHTNESS" val="-0.25"/>
  <p:tag name="KSO_WM_UNIT_TEXT_FILL_FORE_SCHEMECOLOR_INDEX" val="5"/>
  <p:tag name="KSO_WM_UNIT_TEXT_FILL_TYPE" val="1"/>
  <p:tag name="KSO_WM_UNIT_VALUE" val="1"/>
  <p:tag name="KSO_WM_UNIT_USESOURCEFORMAT_APPLY" val="1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3_2"/>
  <p:tag name="KSO_WM_UNIT_ID" val="diagram20210129_4*l_h_i*1_3_2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ec820f4b29364f0d9126a1b5fe20d73d"/>
  <p:tag name="KSO_WM_UNIT_DECORATE_INFO" val="{&quot;DecorateInfoH&quot;:{&quot;IsAbs&quot;:true},&quot;DecorateInfoW&quot;:{&quot;IsAbs&quot;:true},&quot;DecorateInfoX&quot;:{&quot;IsAbs&quot;:true,&quot;Pos&quot;:2},&quot;DecorateInfoY&quot;:{&quot;IsAbs&quot;:true,&quot;Pos&quot;:1},&quot;ReferentInfo&quot;:{&quot;Id&quot;:&quot;7c5b9ba033db4be7921036f8d9ac71fa&quot;,&quot;X&quot;:{&quot;Pos&quot;:0},&quot;Y&quot;:{&quot;Pos&quot;:1}},&quot;whChangeMode&quot;:0}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FILL_FORE_SCHEMECOLOR_INDEX_BRIGHTNESS" val="0.4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1"/>
  <p:tag name="KSO_WM_UNIT_USESOURCEFORMAT_APPLY" val="1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4_1"/>
  <p:tag name="KSO_WM_UNIT_ID" val="diagram20210129_4*l_h_i*1_4_1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39c131c2df22469293f4eda4cafa0add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1},&quot;ReferentInfo&quot;:{&quot;Id&quot;:&quot;7727769e63484bff8316e642df87776f&quot;,&quot;X&quot;:{&quot;Pos&quot;:1},&quot;Y&quot;:{&quot;Pos&quot;:1}},&quot;whChangeMode&quot;:0}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13"/>
  <p:tag name="KSO_WM_UNIT_TEXT_FILL_TYPE" val="1"/>
  <p:tag name="KSO_WM_UNIT_VALUE" val="6"/>
  <p:tag name="KSO_WM_UNIT_USESOURCEFORMAT_APPLY" val="1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添加正文，文字是您思想的提炼，请尽量言简意赅的阐述观点。"/>
  <p:tag name="KSO_WM_UNIT_NOCLEAR" val="0"/>
  <p:tag name="KSO_WM_UNIT_VALUE" val="49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4_1"/>
  <p:tag name="KSO_WM_UNIT_ID" val="diagram20210129_4*l_h_f*1_4_1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DEFAULT_FONT" val="14;20;2"/>
  <p:tag name="KSO_WM_UNIT_BLOCK" val="0"/>
  <p:tag name="KSO_WM_UNIT_DEC_AREA_ID" val="74d740d563994c26aa1d5848c3fc10f8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TEXT_FILL_FORE_SCHEMECOLOR_INDEX_BRIGHTNESS" val="0.25"/>
  <p:tag name="KSO_WM_UNIT_TEXT_FILL_FORE_SCHEMECOLOR_INDEX" val="13"/>
  <p:tag name="KSO_WM_UNIT_TEXT_FILL_TYPE" val="1"/>
  <p:tag name="KSO_WM_UNIT_USESOURCEFORMAT_APPLY" val="1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4_2"/>
  <p:tag name="KSO_WM_UNIT_ID" val="diagram20210129_4*l_h_i*1_4_2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7727769e63484bff8316e642df87776f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2},&quot;ReferentInfo&quot;:{&quot;Id&quot;:&quot;74d740d563994c26aa1d5848c3fc10f8&quot;,&quot;X&quot;:{&quot;Pos&quot;:1},&quot;Y&quot;:{&quot;Pos&quot;:0}},&quot;whChangeMode&quot;:0}"/>
  <p:tag name="KSO_WM_UNIT_DEFAULT_FONT" val="18;36;2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TEXT_FILL_FORE_SCHEMECOLOR_INDEX_BRIGHTNESS" val="-0.25"/>
  <p:tag name="KSO_WM_UNIT_TEXT_FILL_FORE_SCHEMECOLOR_INDEX" val="5"/>
  <p:tag name="KSO_WM_UNIT_TEXT_FILL_TYPE" val="1"/>
  <p:tag name="KSO_WM_UNIT_VALUE" val="1"/>
  <p:tag name="KSO_WM_UNIT_USESOURCEFORMAT_APPLY" val="1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4_2"/>
  <p:tag name="KSO_WM_UNIT_ID" val="diagram20210129_4*l_h_i*1_4_2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7268b2bc951b4a15b816214d5589381a"/>
  <p:tag name="KSO_WM_UNIT_DECORATE_INFO" val="{&quot;DecorateInfoH&quot;:{&quot;IsAbs&quot;:true},&quot;DecorateInfoW&quot;:{&quot;IsAbs&quot;:true},&quot;DecorateInfoX&quot;:{&quot;IsAbs&quot;:true,&quot;Pos&quot;:2},&quot;DecorateInfoY&quot;:{&quot;IsAbs&quot;:true,&quot;Pos&quot;:1},&quot;ReferentInfo&quot;:{&quot;Id&quot;:&quot;7727769e63484bff8316e642df87776f&quot;,&quot;X&quot;:{&quot;Pos&quot;:0},&quot;Y&quot;:{&quot;Pos&quot;:1}},&quot;whChangeMode&quot;:0}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FILL_FORE_SCHEMECOLOR_INDEX_BRIGHTNESS" val="0.4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1"/>
  <p:tag name="KSO_WM_UNIT_USESOURCEFORMAT_APPLY" val="1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5_1"/>
  <p:tag name="KSO_WM_UNIT_ID" val="diagram20210129_4*l_h_i*1_5_1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2fccc7cfe0a94a03964fef3a6bcbba88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1},&quot;ReferentInfo&quot;:{&quot;Id&quot;:&quot;53c010be7e1347ceaad05fcf213bdb85&quot;,&quot;X&quot;:{&quot;Pos&quot;:1},&quot;Y&quot;:{&quot;Pos&quot;:1}},&quot;whChangeMode&quot;:0}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13"/>
  <p:tag name="KSO_WM_UNIT_TEXT_FILL_TYPE" val="1"/>
  <p:tag name="KSO_WM_UNIT_VALUE" val="6"/>
  <p:tag name="KSO_WM_UNIT_USESOURCEFORMAT_APPLY" val="1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添加正文，文字是您思想的提炼，请尽量言简意赅的阐述观点。"/>
  <p:tag name="KSO_WM_UNIT_NOCLEAR" val="0"/>
  <p:tag name="KSO_WM_UNIT_VALUE" val="49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5_1"/>
  <p:tag name="KSO_WM_UNIT_ID" val="diagram20210129_4*l_h_f*1_5_1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DEFAULT_FONT" val="14;20;2"/>
  <p:tag name="KSO_WM_UNIT_BLOCK" val="0"/>
  <p:tag name="KSO_WM_UNIT_DEC_AREA_ID" val="84bac5f5da5744a784b90ba5919c6c07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TEXT_FILL_FORE_SCHEMECOLOR_INDEX_BRIGHTNESS" val="0.25"/>
  <p:tag name="KSO_WM_UNIT_TEXT_FILL_FORE_SCHEMECOLOR_INDEX" val="13"/>
  <p:tag name="KSO_WM_UNIT_TEXT_FILL_TYPE" val="1"/>
  <p:tag name="KSO_WM_UNIT_USESOURCEFORMAT_APPLY" val="1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5_2"/>
  <p:tag name="KSO_WM_UNIT_ID" val="diagram20210129_4*l_h_i*1_5_2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53c010be7e1347ceaad05fcf213bdb85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2},&quot;ReferentInfo&quot;:{&quot;Id&quot;:&quot;84bac5f5da5744a784b90ba5919c6c07&quot;,&quot;X&quot;:{&quot;Pos&quot;:1},&quot;Y&quot;:{&quot;Pos&quot;:0}},&quot;whChangeMode&quot;:0}"/>
  <p:tag name="KSO_WM_UNIT_DEFAULT_FONT" val="18;36;2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TEXT_FILL_FORE_SCHEMECOLOR_INDEX_BRIGHTNESS" val="-0.25"/>
  <p:tag name="KSO_WM_UNIT_TEXT_FILL_FORE_SCHEMECOLOR_INDEX" val="5"/>
  <p:tag name="KSO_WM_UNIT_TEXT_FILL_TYPE" val="1"/>
  <p:tag name="KSO_WM_UNIT_VALUE" val="1"/>
  <p:tag name="KSO_WM_UNIT_USESOURCEFORMAT_APPLY" val="1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5_2"/>
  <p:tag name="KSO_WM_UNIT_ID" val="diagram20210129_4*l_h_i*1_5_2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0b803d1f78ef49d09ddb1edf22e1f8f1"/>
  <p:tag name="KSO_WM_UNIT_DECORATE_INFO" val="{&quot;DecorateInfoH&quot;:{&quot;IsAbs&quot;:true},&quot;DecorateInfoW&quot;:{&quot;IsAbs&quot;:true},&quot;DecorateInfoX&quot;:{&quot;IsAbs&quot;:true,&quot;Pos&quot;:2},&quot;DecorateInfoY&quot;:{&quot;IsAbs&quot;:true,&quot;Pos&quot;:1},&quot;ReferentInfo&quot;:{&quot;Id&quot;:&quot;53c010be7e1347ceaad05fcf213bdb85&quot;,&quot;X&quot;:{&quot;Pos&quot;:0},&quot;Y&quot;:{&quot;Pos&quot;:1}},&quot;whChangeMode&quot;:0}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FILL_FORE_SCHEMECOLOR_INDEX_BRIGHTNESS" val="0.4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1"/>
  <p:tag name="KSO_WM_UNIT_USESOURCEFORMAT_APPLY" val="1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08726_1*i*1"/>
  <p:tag name="KSO_WM_TEMPLATE_CATEGORY" val="diagram"/>
  <p:tag name="KSO_WM_TEMPLATE_INDEX" val="20208726"/>
  <p:tag name="KSO_WM_UNIT_LAYERLEVEL" val="1"/>
  <p:tag name="KSO_WM_TAG_VERSION" val="1.0"/>
  <p:tag name="KSO_WM_BEAUTIFY_FLAG" val="#wm#"/>
  <p:tag name="KSO_WM_UNIT_BLOCK" val="0"/>
  <p:tag name="KSO_WM_UNIT_SM_LIMIT_TYPE" val="1"/>
  <p:tag name="KSO_WM_UNIT_DEC_AREA_ID" val="869a47cc434a46408bb65052c05f2790"/>
  <p:tag name="KSO_WM_UNIT_DECORATE_INFO" val="{&quot;ReferentInfo&quot;:{&quot;X&quot;:{&quot;Pos&quot;:0},&quot;Y&quot;:{&quot;Pos&quot;:0}},&quot;DecorateInfoX&quot;:{&quot;Pos&quot;:0,&quot;IsAbs&quot;:false},&quot;DecorateInfoY&quot;:{&quot;Pos&quot;:0,&quot;IsAbs&quot;:false},&quot;DecorateInfoW&quot;:{&quot;IsAbs&quot;:true},&quot;DecorateInfoH&quot;:{&quot;IsAbs&quot;:true}}"/>
  <p:tag name="KSO_WM_CHIP_GROUPID" val="5ef16cf55bb2a422ac9a2b39"/>
  <p:tag name="KSO_WM_CHIP_XID" val="5ef16cf55bb2a422ac9a2b3a"/>
  <p:tag name="KSO_WM_UNIT_FILL_FORE_SCHEMECOLOR_INDEX_BRIGHTNESS" val="0"/>
  <p:tag name="KSO_WM_UNIT_FILL_FORE_SCHEMECOLOR_INDEX" val="15"/>
  <p:tag name="KSO_WM_UNIT_FILL_BACK_SCHEMECOLOR_INDEX_BRIGHTNESS" val="0"/>
  <p:tag name="KSO_WM_UNIT_FILL_BACK_SCHEMECOLOR_INDEX" val="14"/>
  <p:tag name="KSO_WM_UNIT_FILL_TYPE" val="2"/>
  <p:tag name="KSO_WM_UNIT_TEXT_FILL_FORE_SCHEMECOLOR_INDEX_BRIGHTNESS" val="0"/>
  <p:tag name="KSO_WM_UNIT_TEXT_FILL_FORE_SCHEMECOLOR_INDEX" val="2"/>
  <p:tag name="KSO_WM_UNIT_TEXT_FILL_TYPE" val="1"/>
  <p:tag name="KSO_WM_UNIT_VALUE" val="477"/>
  <p:tag name="KSO_WM_TEMPLATE_ASSEMBLE_XID" val="5ef55454ea5a3ac527a189e3"/>
  <p:tag name="KSO_WM_TEMPLATE_ASSEMBLE_GROUPID" val="5ef55454ea5a3ac527a189e3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208726_1*i*2"/>
  <p:tag name="KSO_WM_TEMPLATE_CATEGORY" val="diagram"/>
  <p:tag name="KSO_WM_TEMPLATE_INDEX" val="20208726"/>
  <p:tag name="KSO_WM_UNIT_LAYERLEVEL" val="1"/>
  <p:tag name="KSO_WM_TAG_VERSION" val="1.0"/>
  <p:tag name="KSO_WM_BEAUTIFY_FLAG" val="#wm#"/>
  <p:tag name="KSO_WM_UNIT_BLOCK" val="0"/>
  <p:tag name="KSO_WM_UNIT_SM_LIMIT_TYPE" val="2"/>
  <p:tag name="KSO_WM_UNIT_DEC_AREA_ID" val="c4ce87efa6da456eba5f87ab75ba3aa6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1},&quot;ReferentInfo&quot;:{&quot;Id&quot;:&quot;6618fb3c5f874e68a20589c3b602507e&quot;,&quot;X&quot;:{&quot;Pos&quot;:1},&quot;Y&quot;:{&quot;Pos&quot;:1}}}"/>
  <p:tag name="KSO_WM_CHIP_GROUPID" val="5ef16cf55bb2a422ac9a2b39"/>
  <p:tag name="KSO_WM_CHIP_XID" val="5ef16cf55bb2a422ac9a2b3a"/>
  <p:tag name="KSO_WM_UNIT_FILL_FORE_SCHEMECOLOR_INDEX_BRIGHTNESS" val="0"/>
  <p:tag name="KSO_WM_UNIT_FILL_FORE_SCHEMECOLOR_INDEX" val="14"/>
  <p:tag name="KSO_WM_UNIT_FILL_TYPE" val="1"/>
  <p:tag name="KSO_WM_UNIT_SHADOW_SCHEMECOLOR_INDEX_BRIGHTNESS" val="0"/>
  <p:tag name="KSO_WM_UNIT_SHADOW_SCHEMECOLOR_INDEX" val="13"/>
  <p:tag name="KSO_WM_UNIT_TEXT_FILL_FORE_SCHEMECOLOR_INDEX_BRIGHTNESS" val="0"/>
  <p:tag name="KSO_WM_UNIT_TEXT_FILL_FORE_SCHEMECOLOR_INDEX" val="2"/>
  <p:tag name="KSO_WM_UNIT_TEXT_FILL_TYPE" val="1"/>
  <p:tag name="KSO_WM_UNIT_VALUE" val="114"/>
  <p:tag name="KSO_WM_TEMPLATE_ASSEMBLE_XID" val="5ef55454ea5a3ac527a189e3"/>
  <p:tag name="KSO_WM_TEMPLATE_ASSEMBLE_GROUPID" val="5ef55454ea5a3ac527a189e3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diagram20208726_1*i*7"/>
  <p:tag name="KSO_WM_TEMPLATE_CATEGORY" val="diagram"/>
  <p:tag name="KSO_WM_TEMPLATE_INDEX" val="20208726"/>
  <p:tag name="KSO_WM_UNIT_LAYERLEVEL" val="1"/>
  <p:tag name="KSO_WM_TAG_VERSION" val="1.0"/>
  <p:tag name="KSO_WM_BEAUTIFY_FLAG" val="#wm#"/>
  <p:tag name="KSO_WM_UNIT_BLOCK" val="0"/>
  <p:tag name="KSO_WM_UNIT_SM_LIMIT_TYPE" val="2"/>
  <p:tag name="KSO_WM_UNIT_DEC_AREA_ID" val="bcde86d968184e51b1cbdb20e2dfff00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1},&quot;ReferentInfo&quot;:{&quot;Id&quot;:&quot;2a0b84ff2b9a4700b2ebecd3d5d2b889&quot;,&quot;X&quot;:{&quot;Pos&quot;:1},&quot;Y&quot;:{&quot;Pos&quot;:1}}}"/>
  <p:tag name="KSO_WM_CHIP_GROUPID" val="5ef16cf55bb2a422ac9a2b39"/>
  <p:tag name="KSO_WM_CHIP_XID" val="5ef16cf55bb2a422ac9a2b3a"/>
  <p:tag name="KSO_WM_UNIT_FILL_FORE_SCHEMECOLOR_INDEX_BRIGHTNESS" val="0"/>
  <p:tag name="KSO_WM_UNIT_FILL_FORE_SCHEMECOLOR_INDEX" val="14"/>
  <p:tag name="KSO_WM_UNIT_FILL_TYPE" val="1"/>
  <p:tag name="KSO_WM_UNIT_SHADOW_SCHEMECOLOR_INDEX_BRIGHTNESS" val="0"/>
  <p:tag name="KSO_WM_UNIT_SHADOW_SCHEMECOLOR_INDEX" val="13"/>
  <p:tag name="KSO_WM_UNIT_TEXT_FILL_FORE_SCHEMECOLOR_INDEX_BRIGHTNESS" val="0"/>
  <p:tag name="KSO_WM_UNIT_TEXT_FILL_FORE_SCHEMECOLOR_INDEX" val="2"/>
  <p:tag name="KSO_WM_UNIT_TEXT_FILL_TYPE" val="1"/>
  <p:tag name="KSO_WM_UNIT_VALUE" val="380"/>
  <p:tag name="KSO_WM_TEMPLATE_ASSEMBLE_XID" val="5ef55454ea5a3ac527a189e3"/>
  <p:tag name="KSO_WM_TEMPLATE_ASSEMBLE_GROUPID" val="5ef55454ea5a3ac527a189e3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27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08726_1*a*1"/>
  <p:tag name="KSO_WM_TEMPLATE_CATEGORY" val="diagram"/>
  <p:tag name="KSO_WM_TEMPLATE_INDEX" val="20208726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6618fb3c5f874e68a20589c3b602507e"/>
  <p:tag name="KSO_WM_ASSEMBLE_CHIP_INDEX" val="cf455a0210784292bf56397ada7cc389"/>
  <p:tag name="KSO_WM_UNIT_TEXT_FILL_FORE_SCHEMECOLOR_INDEX_BRIGHTNESS" val="0"/>
  <p:tag name="KSO_WM_UNIT_TEXT_FILL_FORE_SCHEMECOLOR_INDEX" val="13"/>
  <p:tag name="KSO_WM_UNIT_TEXT_FILL_TYPE" val="1"/>
  <p:tag name="KSO_WM_TEMPLATE_ASSEMBLE_XID" val="5ef55454ea5a3ac527a189e3"/>
  <p:tag name="KSO_WM_TEMPLATE_ASSEMBLE_GROUPID" val="5ef55454ea5a3ac527a189e3"/>
  <p:tag name="KSO_WM_UNIT_SMARTLAYOUT_COMPRESS_INFO" val="{&#10;    &quot;id&quot;: &quot;2020-06-26T09:50:13&quot;,&#10;    &quot;max&quot;: 9.9359201546418774,&#10;    &quot;parentMax&quot;: {&#10;        &quot;max&quot;: 2.3390404752793827&#10;    },&#10;    &quot;topChanged&quot;: 9.889445190429683&#10;}&#10;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2_1"/>
  <p:tag name="KSO_WM_UNIT_ID" val="diagram20210129_4*l_h_i*1_2_1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59da7e6ec43e4feb9298f18bea997348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1},&quot;ReferentInfo&quot;:{&quot;Id&quot;:&quot;b59d62ad1efa49a7814a432af9fe78d0&quot;,&quot;X&quot;:{&quot;Pos&quot;:1},&quot;Y&quot;:{&quot;Pos&quot;:1}},&quot;whChangeMode&quot;:0}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13"/>
  <p:tag name="KSO_WM_UNIT_TEXT_FILL_TYPE" val="1"/>
  <p:tag name="KSO_WM_UNIT_VALUE" val="6"/>
  <p:tag name="KSO_WM_UNIT_USESOURCEFORMAT_APPLY" val="1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添加正文，文字是您思想的提炼，请尽量言简意赅的阐述观点。"/>
  <p:tag name="KSO_WM_UNIT_NOCLEAR" val="0"/>
  <p:tag name="KSO_WM_UNIT_VALUE" val="49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10129_4*l_h_f*1_2_1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DEFAULT_FONT" val="14;20;2"/>
  <p:tag name="KSO_WM_UNIT_BLOCK" val="0"/>
  <p:tag name="KSO_WM_UNIT_DEC_AREA_ID" val="34b132e5c4a443288f0a499a2a868f21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TEXT_FILL_FORE_SCHEMECOLOR_INDEX_BRIGHTNESS" val="0.25"/>
  <p:tag name="KSO_WM_UNIT_TEXT_FILL_FORE_SCHEMECOLOR_INDEX" val="13"/>
  <p:tag name="KSO_WM_UNIT_TEXT_FILL_TYPE" val="1"/>
  <p:tag name="KSO_WM_UNIT_USESOURCEFORMAT_APPLY" val="1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2_2"/>
  <p:tag name="KSO_WM_UNIT_ID" val="diagram20210129_4*l_h_i*1_2_2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b59d62ad1efa49a7814a432af9fe78d0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2},&quot;ReferentInfo&quot;:{&quot;Id&quot;:&quot;34b132e5c4a443288f0a499a2a868f21&quot;,&quot;X&quot;:{&quot;Pos&quot;:1},&quot;Y&quot;:{&quot;Pos&quot;:0}},&quot;whChangeMode&quot;:0}"/>
  <p:tag name="KSO_WM_UNIT_DEFAULT_FONT" val="18;36;2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TEXT_FILL_FORE_SCHEMECOLOR_INDEX_BRIGHTNESS" val="-0.25"/>
  <p:tag name="KSO_WM_UNIT_TEXT_FILL_FORE_SCHEMECOLOR_INDEX" val="5"/>
  <p:tag name="KSO_WM_UNIT_TEXT_FILL_TYPE" val="1"/>
  <p:tag name="KSO_WM_UNIT_VALUE" val="1"/>
  <p:tag name="KSO_WM_UNIT_USESOURCEFORMAT_APPLY" val="1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2_2"/>
  <p:tag name="KSO_WM_UNIT_ID" val="diagram20210129_4*l_h_i*1_2_2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70d7a2d2c86d4c9db8b4a0d9151012cf"/>
  <p:tag name="KSO_WM_UNIT_DECORATE_INFO" val="{&quot;DecorateInfoH&quot;:{&quot;IsAbs&quot;:true},&quot;DecorateInfoW&quot;:{&quot;IsAbs&quot;:true},&quot;DecorateInfoX&quot;:{&quot;IsAbs&quot;:true,&quot;Pos&quot;:2},&quot;DecorateInfoY&quot;:{&quot;IsAbs&quot;:true,&quot;Pos&quot;:1},&quot;ReferentInfo&quot;:{&quot;Id&quot;:&quot;b59d62ad1efa49a7814a432af9fe78d0&quot;,&quot;X&quot;:{&quot;Pos&quot;:0},&quot;Y&quot;:{&quot;Pos&quot;:1}},&quot;whChangeMode&quot;:0}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FILL_FORE_SCHEMECOLOR_INDEX_BRIGHTNESS" val="0.4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1"/>
  <p:tag name="KSO_WM_UNIT_USESOURCEFORMAT_APPLY" val="1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3_1"/>
  <p:tag name="KSO_WM_UNIT_ID" val="diagram20210129_4*l_h_i*1_3_1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b6081f06af7546549cd304a627ac5bf6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1},&quot;ReferentInfo&quot;:{&quot;Id&quot;:&quot;7c5b9ba033db4be7921036f8d9ac71fa&quot;,&quot;X&quot;:{&quot;Pos&quot;:1},&quot;Y&quot;:{&quot;Pos&quot;:1}},&quot;whChangeMode&quot;:0}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13"/>
  <p:tag name="KSO_WM_UNIT_TEXT_FILL_TYPE" val="1"/>
  <p:tag name="KSO_WM_UNIT_VALUE" val="6"/>
  <p:tag name="KSO_WM_UNIT_USESOURCEFORMAT_APPLY" val="1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添加正文，文字是您思想的提炼，请尽量言简意赅的阐述观点。"/>
  <p:tag name="KSO_WM_UNIT_NOCLEAR" val="0"/>
  <p:tag name="KSO_WM_UNIT_VALUE" val="49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10129_4*l_h_f*1_3_1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DEFAULT_FONT" val="14;20;2"/>
  <p:tag name="KSO_WM_UNIT_BLOCK" val="0"/>
  <p:tag name="KSO_WM_UNIT_DEC_AREA_ID" val="9139da38a7254bbdae206e7c3badbfdc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TEXT_FILL_FORE_SCHEMECOLOR_INDEX_BRIGHTNESS" val="0.25"/>
  <p:tag name="KSO_WM_UNIT_TEXT_FILL_FORE_SCHEMECOLOR_INDEX" val="13"/>
  <p:tag name="KSO_WM_UNIT_TEXT_FILL_TYPE" val="1"/>
  <p:tag name="KSO_WM_UNIT_USESOURCEFORMAT_APPLY" val="1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3_2"/>
  <p:tag name="KSO_WM_UNIT_ID" val="diagram20210129_4*l_h_i*1_3_2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7c5b9ba033db4be7921036f8d9ac71fa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2},&quot;ReferentInfo&quot;:{&quot;Id&quot;:&quot;9139da38a7254bbdae206e7c3badbfdc&quot;,&quot;X&quot;:{&quot;Pos&quot;:1},&quot;Y&quot;:{&quot;Pos&quot;:0}},&quot;whChangeMode&quot;:0}"/>
  <p:tag name="KSO_WM_UNIT_DEFAULT_FONT" val="18;36;2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TEXT_FILL_FORE_SCHEMECOLOR_INDEX_BRIGHTNESS" val="-0.25"/>
  <p:tag name="KSO_WM_UNIT_TEXT_FILL_FORE_SCHEMECOLOR_INDEX" val="5"/>
  <p:tag name="KSO_WM_UNIT_TEXT_FILL_TYPE" val="1"/>
  <p:tag name="KSO_WM_UNIT_VALUE" val="1"/>
  <p:tag name="KSO_WM_UNIT_USESOURCEFORMAT_APPLY" val="1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3_2"/>
  <p:tag name="KSO_WM_UNIT_ID" val="diagram20210129_4*l_h_i*1_3_2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ec820f4b29364f0d9126a1b5fe20d73d"/>
  <p:tag name="KSO_WM_UNIT_DECORATE_INFO" val="{&quot;DecorateInfoH&quot;:{&quot;IsAbs&quot;:true},&quot;DecorateInfoW&quot;:{&quot;IsAbs&quot;:true},&quot;DecorateInfoX&quot;:{&quot;IsAbs&quot;:true,&quot;Pos&quot;:2},&quot;DecorateInfoY&quot;:{&quot;IsAbs&quot;:true,&quot;Pos&quot;:1},&quot;ReferentInfo&quot;:{&quot;Id&quot;:&quot;7c5b9ba033db4be7921036f8d9ac71fa&quot;,&quot;X&quot;:{&quot;Pos&quot;:0},&quot;Y&quot;:{&quot;Pos&quot;:1}},&quot;whChangeMode&quot;:0}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FILL_FORE_SCHEMECOLOR_INDEX_BRIGHTNESS" val="0.4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1"/>
  <p:tag name="KSO_WM_UNIT_USESOURCEFORMAT_APPLY" val="1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4_1"/>
  <p:tag name="KSO_WM_UNIT_ID" val="diagram20210129_4*l_h_i*1_4_1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39c131c2df22469293f4eda4cafa0add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1},&quot;ReferentInfo&quot;:{&quot;Id&quot;:&quot;7727769e63484bff8316e642df87776f&quot;,&quot;X&quot;:{&quot;Pos&quot;:1},&quot;Y&quot;:{&quot;Pos&quot;:1}},&quot;whChangeMode&quot;:0}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13"/>
  <p:tag name="KSO_WM_UNIT_TEXT_FILL_TYPE" val="1"/>
  <p:tag name="KSO_WM_UNIT_VALUE" val="6"/>
  <p:tag name="KSO_WM_UNIT_USESOURCEFORMAT_APPLY" val="1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添加正文，文字是您思想的提炼，请尽量言简意赅的阐述观点。"/>
  <p:tag name="KSO_WM_UNIT_NOCLEAR" val="0"/>
  <p:tag name="KSO_WM_UNIT_VALUE" val="49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4_1"/>
  <p:tag name="KSO_WM_UNIT_ID" val="diagram20210129_4*l_h_f*1_4_1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DEFAULT_FONT" val="14;20;2"/>
  <p:tag name="KSO_WM_UNIT_BLOCK" val="0"/>
  <p:tag name="KSO_WM_UNIT_DEC_AREA_ID" val="74d740d563994c26aa1d5848c3fc10f8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TEXT_FILL_FORE_SCHEMECOLOR_INDEX_BRIGHTNESS" val="0.25"/>
  <p:tag name="KSO_WM_UNIT_TEXT_FILL_FORE_SCHEMECOLOR_INDEX" val="13"/>
  <p:tag name="KSO_WM_UNIT_TEXT_FILL_TYPE" val="1"/>
  <p:tag name="KSO_WM_UNIT_USESOURCEFORMAT_APPLY" val="1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4_2"/>
  <p:tag name="KSO_WM_UNIT_ID" val="diagram20210129_4*l_h_i*1_4_2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7727769e63484bff8316e642df87776f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2},&quot;ReferentInfo&quot;:{&quot;Id&quot;:&quot;74d740d563994c26aa1d5848c3fc10f8&quot;,&quot;X&quot;:{&quot;Pos&quot;:1},&quot;Y&quot;:{&quot;Pos&quot;:0}},&quot;whChangeMode&quot;:0}"/>
  <p:tag name="KSO_WM_UNIT_DEFAULT_FONT" val="18;36;2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TEXT_FILL_FORE_SCHEMECOLOR_INDEX_BRIGHTNESS" val="-0.25"/>
  <p:tag name="KSO_WM_UNIT_TEXT_FILL_FORE_SCHEMECOLOR_INDEX" val="5"/>
  <p:tag name="KSO_WM_UNIT_TEXT_FILL_TYPE" val="1"/>
  <p:tag name="KSO_WM_UNIT_VALUE" val="1"/>
  <p:tag name="KSO_WM_UNIT_USESOURCEFORMAT_APPLY" val="1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4_2"/>
  <p:tag name="KSO_WM_UNIT_ID" val="diagram20210129_4*l_h_i*1_4_2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7268b2bc951b4a15b816214d5589381a"/>
  <p:tag name="KSO_WM_UNIT_DECORATE_INFO" val="{&quot;DecorateInfoH&quot;:{&quot;IsAbs&quot;:true},&quot;DecorateInfoW&quot;:{&quot;IsAbs&quot;:true},&quot;DecorateInfoX&quot;:{&quot;IsAbs&quot;:true,&quot;Pos&quot;:2},&quot;DecorateInfoY&quot;:{&quot;IsAbs&quot;:true,&quot;Pos&quot;:1},&quot;ReferentInfo&quot;:{&quot;Id&quot;:&quot;7727769e63484bff8316e642df87776f&quot;,&quot;X&quot;:{&quot;Pos&quot;:0},&quot;Y&quot;:{&quot;Pos&quot;:1}},&quot;whChangeMode&quot;:0}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FILL_FORE_SCHEMECOLOR_INDEX_BRIGHTNESS" val="0.4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1"/>
  <p:tag name="KSO_WM_UNIT_USESOURCEFORMAT_APPLY" val="1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5_1"/>
  <p:tag name="KSO_WM_UNIT_ID" val="diagram20210129_4*l_h_i*1_5_1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2fccc7cfe0a94a03964fef3a6bcbba88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1},&quot;ReferentInfo&quot;:{&quot;Id&quot;:&quot;53c010be7e1347ceaad05fcf213bdb85&quot;,&quot;X&quot;:{&quot;Pos&quot;:1},&quot;Y&quot;:{&quot;Pos&quot;:1}},&quot;whChangeMode&quot;:0}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13"/>
  <p:tag name="KSO_WM_UNIT_TEXT_FILL_TYPE" val="1"/>
  <p:tag name="KSO_WM_UNIT_VALUE" val="6"/>
  <p:tag name="KSO_WM_UNIT_USESOURCEFORMAT_APPLY" val="1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添加正文，文字是您思想的提炼，请尽量言简意赅的阐述观点。"/>
  <p:tag name="KSO_WM_UNIT_NOCLEAR" val="0"/>
  <p:tag name="KSO_WM_UNIT_VALUE" val="49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5_1"/>
  <p:tag name="KSO_WM_UNIT_ID" val="diagram20210129_4*l_h_f*1_5_1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DEFAULT_FONT" val="14;20;2"/>
  <p:tag name="KSO_WM_UNIT_BLOCK" val="0"/>
  <p:tag name="KSO_WM_UNIT_DEC_AREA_ID" val="84bac5f5da5744a784b90ba5919c6c07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TEXT_FILL_FORE_SCHEMECOLOR_INDEX_BRIGHTNESS" val="0.25"/>
  <p:tag name="KSO_WM_UNIT_TEXT_FILL_FORE_SCHEMECOLOR_INDEX" val="13"/>
  <p:tag name="KSO_WM_UNIT_TEXT_FILL_TYPE" val="1"/>
  <p:tag name="KSO_WM_UNIT_USESOURCEFORMAT_APPLY" val="1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5_2"/>
  <p:tag name="KSO_WM_UNIT_ID" val="diagram20210129_4*l_h_i*1_5_2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53c010be7e1347ceaad05fcf213bdb85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2},&quot;ReferentInfo&quot;:{&quot;Id&quot;:&quot;84bac5f5da5744a784b90ba5919c6c07&quot;,&quot;X&quot;:{&quot;Pos&quot;:1},&quot;Y&quot;:{&quot;Pos&quot;:0}},&quot;whChangeMode&quot;:0}"/>
  <p:tag name="KSO_WM_UNIT_DEFAULT_FONT" val="18;36;2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TEXT_FILL_FORE_SCHEMECOLOR_INDEX_BRIGHTNESS" val="-0.25"/>
  <p:tag name="KSO_WM_UNIT_TEXT_FILL_FORE_SCHEMECOLOR_INDEX" val="5"/>
  <p:tag name="KSO_WM_UNIT_TEXT_FILL_TYPE" val="1"/>
  <p:tag name="KSO_WM_UNIT_VALUE" val="1"/>
  <p:tag name="KSO_WM_UNIT_USESOURCEFORMAT_APPLY" val="1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5_2"/>
  <p:tag name="KSO_WM_UNIT_ID" val="diagram20210129_4*l_h_i*1_5_2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0b803d1f78ef49d09ddb1edf22e1f8f1"/>
  <p:tag name="KSO_WM_UNIT_DECORATE_INFO" val="{&quot;DecorateInfoH&quot;:{&quot;IsAbs&quot;:true},&quot;DecorateInfoW&quot;:{&quot;IsAbs&quot;:true},&quot;DecorateInfoX&quot;:{&quot;IsAbs&quot;:true,&quot;Pos&quot;:2},&quot;DecorateInfoY&quot;:{&quot;IsAbs&quot;:true,&quot;Pos&quot;:1},&quot;ReferentInfo&quot;:{&quot;Id&quot;:&quot;53c010be7e1347ceaad05fcf213bdb85&quot;,&quot;X&quot;:{&quot;Pos&quot;:0},&quot;Y&quot;:{&quot;Pos&quot;:1}},&quot;whChangeMode&quot;:0}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FILL_FORE_SCHEMECOLOR_INDEX_BRIGHTNESS" val="0.4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1"/>
  <p:tag name="KSO_WM_UNIT_USESOURCEFORMAT_APPLY" val="1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3612,&quot;width&quot;:12672}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4008,&quot;width&quot;:12480}"/>
</p:tagLst>
</file>

<file path=ppt/theme/theme1.xml><?xml version="1.0" encoding="utf-8"?>
<a:theme xmlns:a="http://schemas.openxmlformats.org/drawingml/2006/main" name="Office 主题​​">
  <a:themeElements>
    <a:clrScheme name="自定义 10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70C0"/>
      </a:accent1>
      <a:accent2>
        <a:srgbClr val="FFC000"/>
      </a:accent2>
      <a:accent3>
        <a:srgbClr val="BFBFBF"/>
      </a:accent3>
      <a:accent4>
        <a:srgbClr val="BFBFBF"/>
      </a:accent4>
      <a:accent5>
        <a:srgbClr val="BFBFBF"/>
      </a:accent5>
      <a:accent6>
        <a:srgbClr val="BFBFBF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​​">
  <a:themeElements>
    <a:clrScheme name="自定义 10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70C0"/>
      </a:accent1>
      <a:accent2>
        <a:srgbClr val="FFC000"/>
      </a:accent2>
      <a:accent3>
        <a:srgbClr val="BFBFBF"/>
      </a:accent3>
      <a:accent4>
        <a:srgbClr val="BFBFBF"/>
      </a:accent4>
      <a:accent5>
        <a:srgbClr val="BFBFBF"/>
      </a:accent5>
      <a:accent6>
        <a:srgbClr val="BFBFBF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5127</TotalTime>
  <Words>8411</Words>
  <Application>Microsoft Macintosh PowerPoint</Application>
  <PresentationFormat>自定义</PresentationFormat>
  <Paragraphs>1066</Paragraphs>
  <Slides>108</Slides>
  <Notes>28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108</vt:i4>
      </vt:variant>
    </vt:vector>
  </HeadingPairs>
  <TitlesOfParts>
    <vt:vector size="124" baseType="lpstr">
      <vt:lpstr>方正大黑简体</vt:lpstr>
      <vt:lpstr>楷体</vt:lpstr>
      <vt:lpstr>微软雅黑</vt:lpstr>
      <vt:lpstr>Microsoft YaHei UI</vt:lpstr>
      <vt:lpstr>Arial</vt:lpstr>
      <vt:lpstr>Arial Black</vt:lpstr>
      <vt:lpstr>Britannic Bold</vt:lpstr>
      <vt:lpstr>Calibri</vt:lpstr>
      <vt:lpstr>Consolas</vt:lpstr>
      <vt:lpstr>Impact</vt:lpstr>
      <vt:lpstr>Monaco</vt:lpstr>
      <vt:lpstr>Tahoma</vt:lpstr>
      <vt:lpstr>Times New Roman</vt:lpstr>
      <vt:lpstr>Wingdings</vt:lpstr>
      <vt:lpstr>Office 主题​​</vt:lpstr>
      <vt:lpstr>2_Office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模块（Module）：</vt:lpstr>
      <vt:lpstr>模块（Module）：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包：</vt:lpstr>
      <vt:lpstr>包：</vt:lpstr>
      <vt:lpstr>包：</vt:lpstr>
      <vt:lpstr>包：</vt:lpstr>
      <vt:lpstr>PowerPoint 演示文稿</vt:lpstr>
      <vt:lpstr>PowerPoint 演示文稿</vt:lpstr>
      <vt:lpstr>PowerPoint 演示文稿</vt:lpstr>
      <vt:lpstr>练习：编写一元二次函数f(x)=ax2+bx+c</vt:lpstr>
      <vt:lpstr>2、函数的传递方式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3、函数参数的“花式”传递</vt:lpstr>
      <vt:lpstr>PowerPoint 演示文稿</vt:lpstr>
      <vt:lpstr>例：关键字参数示例 </vt:lpstr>
      <vt:lpstr>PowerPoint 演示文稿</vt:lpstr>
      <vt:lpstr>例：可变参数示例1 （*）</vt:lpstr>
      <vt:lpstr>例：可变参数示例2（*） </vt:lpstr>
      <vt:lpstr>PowerPoint 演示文稿</vt:lpstr>
      <vt:lpstr>例：可变参数示例3（**） </vt:lpstr>
      <vt:lpstr>例：可变参数示例4（**） </vt:lpstr>
      <vt:lpstr>例：可变参数示例4（**）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4、参数序列的打包与解包</vt:lpstr>
      <vt:lpstr>4、参数序列的打包与解包</vt:lpstr>
      <vt:lpstr>4、参数序列的打包与解包</vt:lpstr>
      <vt:lpstr>4、参数序列的打包与解包</vt:lpstr>
      <vt:lpstr>4、参数序列的打包与解包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5、函数式编程的高阶函数</vt:lpstr>
      <vt:lpstr>（1）lambda函数</vt:lpstr>
      <vt:lpstr>PowerPoint 演示文稿</vt:lpstr>
      <vt:lpstr>PowerPoint 演示文稿</vt:lpstr>
      <vt:lpstr>（2）filter函数</vt:lpstr>
      <vt:lpstr>PowerPoint 演示文稿</vt:lpstr>
      <vt:lpstr>PowerPoint 演示文稿</vt:lpstr>
      <vt:lpstr>（3）map函数</vt:lpstr>
      <vt:lpstr>PowerPoint 演示文稿</vt:lpstr>
      <vt:lpstr>PowerPoint 演示文稿</vt:lpstr>
      <vt:lpstr>（4）reduce函数</vt:lpstr>
      <vt:lpstr>PowerPoint 演示文稿</vt:lpstr>
      <vt:lpstr>PowerPoint 演示文稿</vt:lpstr>
      <vt:lpstr>（5）sorted函数</vt:lpstr>
      <vt:lpstr>（5）sorted函数</vt:lpstr>
      <vt:lpstr>（5）列表对象的sort()函数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Kun Jing</cp:lastModifiedBy>
  <cp:revision>376</cp:revision>
  <dcterms:created xsi:type="dcterms:W3CDTF">2014-08-23T07:50:00Z</dcterms:created>
  <dcterms:modified xsi:type="dcterms:W3CDTF">2024-09-25T03:02:10Z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RubyTemplateID">
    <vt:lpwstr>2</vt:lpwstr>
  </property>
  <property fmtid="{D5CDD505-2E9C-101B-9397-08002B2CF9AE}" pid="3" name="KSOProductBuildVer">
    <vt:lpwstr>2052-11.1.0.10463</vt:lpwstr>
  </property>
  <property fmtid="{D5CDD505-2E9C-101B-9397-08002B2CF9AE}" pid="4" name="KSOSaveFontToCloudKey">
    <vt:lpwstr>0_btnclosed</vt:lpwstr>
  </property>
  <property fmtid="{D5CDD505-2E9C-101B-9397-08002B2CF9AE}" pid="5" name="ICV">
    <vt:lpwstr>D1F8340417784BBFA287FFF93F73A267</vt:lpwstr>
  </property>
</Properties>
</file>