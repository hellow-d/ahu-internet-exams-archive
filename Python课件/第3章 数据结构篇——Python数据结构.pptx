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5.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6.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62"/>
  </p:notesMasterIdLst>
  <p:handoutMasterIdLst>
    <p:handoutMasterId r:id="rId163"/>
  </p:handoutMasterIdLst>
  <p:sldIdLst>
    <p:sldId id="1720" r:id="rId3"/>
    <p:sldId id="347" r:id="rId4"/>
    <p:sldId id="1879" r:id="rId5"/>
    <p:sldId id="534" r:id="rId6"/>
    <p:sldId id="1880" r:id="rId7"/>
    <p:sldId id="1054" r:id="rId8"/>
    <p:sldId id="1115" r:id="rId9"/>
    <p:sldId id="1055" r:id="rId10"/>
    <p:sldId id="1454" r:id="rId11"/>
    <p:sldId id="1056" r:id="rId12"/>
    <p:sldId id="1116" r:id="rId13"/>
    <p:sldId id="1881" r:id="rId14"/>
    <p:sldId id="1119" r:id="rId15"/>
    <p:sldId id="1452" r:id="rId16"/>
    <p:sldId id="1120" r:id="rId17"/>
    <p:sldId id="1179" r:id="rId18"/>
    <p:sldId id="1180" r:id="rId19"/>
    <p:sldId id="1181" r:id="rId20"/>
    <p:sldId id="1121" r:id="rId21"/>
    <p:sldId id="2330" r:id="rId22"/>
    <p:sldId id="1455" r:id="rId23"/>
    <p:sldId id="1122" r:id="rId24"/>
    <p:sldId id="1123" r:id="rId25"/>
    <p:sldId id="1182" r:id="rId26"/>
    <p:sldId id="1183" r:id="rId27"/>
    <p:sldId id="1184" r:id="rId28"/>
    <p:sldId id="2036" r:id="rId29"/>
    <p:sldId id="1185" r:id="rId30"/>
    <p:sldId id="1186" r:id="rId31"/>
    <p:sldId id="2037" r:id="rId32"/>
    <p:sldId id="1460" r:id="rId33"/>
    <p:sldId id="1457" r:id="rId34"/>
    <p:sldId id="1458" r:id="rId35"/>
    <p:sldId id="1459" r:id="rId36"/>
    <p:sldId id="1461" r:id="rId37"/>
    <p:sldId id="1462" r:id="rId38"/>
    <p:sldId id="1463" r:id="rId39"/>
    <p:sldId id="2329" r:id="rId40"/>
    <p:sldId id="2331" r:id="rId41"/>
    <p:sldId id="2322" r:id="rId42"/>
    <p:sldId id="2323" r:id="rId43"/>
    <p:sldId id="2038" r:id="rId44"/>
    <p:sldId id="1188" r:id="rId45"/>
    <p:sldId id="1189" r:id="rId46"/>
    <p:sldId id="1190" r:id="rId47"/>
    <p:sldId id="2039" r:id="rId48"/>
    <p:sldId id="1187" r:id="rId49"/>
    <p:sldId id="1353" r:id="rId50"/>
    <p:sldId id="1464" r:id="rId51"/>
    <p:sldId id="1465" r:id="rId52"/>
    <p:sldId id="1466" r:id="rId53"/>
    <p:sldId id="2324" r:id="rId54"/>
    <p:sldId id="2325" r:id="rId55"/>
    <p:sldId id="1191" r:id="rId56"/>
    <p:sldId id="1192" r:id="rId57"/>
    <p:sldId id="2326" r:id="rId58"/>
    <p:sldId id="1193" r:id="rId59"/>
    <p:sldId id="1250" r:id="rId60"/>
    <p:sldId id="1251" r:id="rId61"/>
    <p:sldId id="1252" r:id="rId62"/>
    <p:sldId id="1467" r:id="rId63"/>
    <p:sldId id="1468" r:id="rId64"/>
    <p:sldId id="1124" r:id="rId65"/>
    <p:sldId id="1256" r:id="rId66"/>
    <p:sldId id="1257" r:id="rId67"/>
    <p:sldId id="1356" r:id="rId68"/>
    <p:sldId id="1354" r:id="rId69"/>
    <p:sldId id="1355" r:id="rId70"/>
    <p:sldId id="1357" r:id="rId71"/>
    <p:sldId id="1258" r:id="rId72"/>
    <p:sldId id="1469" r:id="rId73"/>
    <p:sldId id="2332" r:id="rId74"/>
    <p:sldId id="1259" r:id="rId75"/>
    <p:sldId id="1358" r:id="rId76"/>
    <p:sldId id="1359" r:id="rId77"/>
    <p:sldId id="1363" r:id="rId78"/>
    <p:sldId id="1364" r:id="rId79"/>
    <p:sldId id="2327" r:id="rId80"/>
    <p:sldId id="1365" r:id="rId81"/>
    <p:sldId id="2328" r:id="rId82"/>
    <p:sldId id="1366" r:id="rId83"/>
    <p:sldId id="1367" r:id="rId84"/>
    <p:sldId id="1360" r:id="rId85"/>
    <p:sldId id="2173" r:id="rId86"/>
    <p:sldId id="1057" r:id="rId87"/>
    <p:sldId id="1058" r:id="rId88"/>
    <p:sldId id="1059" r:id="rId89"/>
    <p:sldId id="1350" r:id="rId90"/>
    <p:sldId id="1060" r:id="rId91"/>
    <p:sldId id="1061" r:id="rId92"/>
    <p:sldId id="1260" r:id="rId93"/>
    <p:sldId id="1062" r:id="rId94"/>
    <p:sldId id="1305" r:id="rId95"/>
    <p:sldId id="1306" r:id="rId96"/>
    <p:sldId id="1307" r:id="rId97"/>
    <p:sldId id="1351" r:id="rId98"/>
    <p:sldId id="1352" r:id="rId99"/>
    <p:sldId id="1064" r:id="rId100"/>
    <p:sldId id="1588" r:id="rId101"/>
    <p:sldId id="1589" r:id="rId102"/>
    <p:sldId id="1590" r:id="rId103"/>
    <p:sldId id="2258" r:id="rId104"/>
    <p:sldId id="2259" r:id="rId105"/>
    <p:sldId id="2174" r:id="rId106"/>
    <p:sldId id="1372" r:id="rId107"/>
    <p:sldId id="1090" r:id="rId108"/>
    <p:sldId id="1296" r:id="rId109"/>
    <p:sldId id="1297" r:id="rId110"/>
    <p:sldId id="1091" r:id="rId111"/>
    <p:sldId id="1299" r:id="rId112"/>
    <p:sldId id="1302" r:id="rId113"/>
    <p:sldId id="1303" r:id="rId114"/>
    <p:sldId id="1374" r:id="rId115"/>
    <p:sldId id="1375" r:id="rId116"/>
    <p:sldId id="1376" r:id="rId117"/>
    <p:sldId id="1591" r:id="rId118"/>
    <p:sldId id="1304" r:id="rId119"/>
    <p:sldId id="1092" r:id="rId120"/>
    <p:sldId id="1093" r:id="rId121"/>
    <p:sldId id="1593" r:id="rId122"/>
    <p:sldId id="1361" r:id="rId123"/>
    <p:sldId id="1094" r:id="rId124"/>
    <p:sldId id="1096" r:id="rId125"/>
    <p:sldId id="1592" r:id="rId126"/>
    <p:sldId id="1095" r:id="rId127"/>
    <p:sldId id="1362" r:id="rId128"/>
    <p:sldId id="1368" r:id="rId129"/>
    <p:sldId id="1369" r:id="rId130"/>
    <p:sldId id="1370" r:id="rId131"/>
    <p:sldId id="1371" r:id="rId132"/>
    <p:sldId id="1098" r:id="rId133"/>
    <p:sldId id="1309" r:id="rId134"/>
    <p:sldId id="1383" r:id="rId135"/>
    <p:sldId id="1308" r:id="rId136"/>
    <p:sldId id="1310" r:id="rId137"/>
    <p:sldId id="1311" r:id="rId138"/>
    <p:sldId id="1099" r:id="rId139"/>
    <p:sldId id="1312" r:id="rId140"/>
    <p:sldId id="1100" r:id="rId141"/>
    <p:sldId id="1101" r:id="rId142"/>
    <p:sldId id="1377" r:id="rId143"/>
    <p:sldId id="1378" r:id="rId144"/>
    <p:sldId id="1379" r:id="rId145"/>
    <p:sldId id="1380" r:id="rId146"/>
    <p:sldId id="2175" r:id="rId147"/>
    <p:sldId id="1103" r:id="rId148"/>
    <p:sldId id="1104" r:id="rId149"/>
    <p:sldId id="1105" r:id="rId150"/>
    <p:sldId id="1106" r:id="rId151"/>
    <p:sldId id="1314" r:id="rId152"/>
    <p:sldId id="1315" r:id="rId153"/>
    <p:sldId id="1107" r:id="rId154"/>
    <p:sldId id="1316" r:id="rId155"/>
    <p:sldId id="1344" r:id="rId156"/>
    <p:sldId id="1112" r:id="rId157"/>
    <p:sldId id="1345" r:id="rId158"/>
    <p:sldId id="1346" r:id="rId159"/>
    <p:sldId id="1348" r:id="rId160"/>
    <p:sldId id="1349" r:id="rId161"/>
  </p:sldIdLst>
  <p:sldSz cx="12198350" cy="6859588"/>
  <p:notesSz cx="6858000" cy="9144000"/>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835"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9270" algn="l" defTabSz="1219200" rtl="0" eaLnBrk="1" latinLnBrk="0" hangingPunct="1">
      <a:defRPr sz="2400" kern="1200">
        <a:solidFill>
          <a:schemeClr val="tx1"/>
        </a:solidFill>
        <a:latin typeface="+mn-lt"/>
        <a:ea typeface="+mn-ea"/>
        <a:cs typeface="+mn-cs"/>
      </a:defRPr>
    </a:lvl6pPr>
    <a:lvl7pPr marL="3658870" algn="l" defTabSz="1219200" rtl="0" eaLnBrk="1" latinLnBrk="0" hangingPunct="1">
      <a:defRPr sz="2400" kern="1200">
        <a:solidFill>
          <a:schemeClr val="tx1"/>
        </a:solidFill>
        <a:latin typeface="+mn-lt"/>
        <a:ea typeface="+mn-ea"/>
        <a:cs typeface="+mn-cs"/>
      </a:defRPr>
    </a:lvl7pPr>
    <a:lvl8pPr marL="4268470" algn="l" defTabSz="1219200" rtl="0" eaLnBrk="1" latinLnBrk="0" hangingPunct="1">
      <a:defRPr sz="2400" kern="1200">
        <a:solidFill>
          <a:schemeClr val="tx1"/>
        </a:solidFill>
        <a:latin typeface="+mn-lt"/>
        <a:ea typeface="+mn-ea"/>
        <a:cs typeface="+mn-cs"/>
      </a:defRPr>
    </a:lvl8pPr>
    <a:lvl9pPr marL="4878705"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4">
          <p15:clr>
            <a:srgbClr val="A4A3A4"/>
          </p15:clr>
        </p15:guide>
        <p15:guide id="2" pos="3952">
          <p15:clr>
            <a:srgbClr val="A4A3A4"/>
          </p15:clr>
        </p15:guide>
        <p15:guide id="3" pos="275">
          <p15:clr>
            <a:srgbClr val="A4A3A4"/>
          </p15:clr>
        </p15:guide>
        <p15:guide id="4" pos="1881">
          <p15:clr>
            <a:srgbClr val="A4A3A4"/>
          </p15:clr>
        </p15:guide>
        <p15:guide id="5" pos="1287">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ta_hsong"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71C1"/>
    <a:srgbClr val="EA5F00"/>
    <a:srgbClr val="660033"/>
    <a:srgbClr val="FAFAFA"/>
    <a:srgbClr val="005DA2"/>
    <a:srgbClr val="FFC400"/>
    <a:srgbClr val="FFD347"/>
    <a:srgbClr val="FFC91D"/>
    <a:srgbClr val="4144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6" autoAdjust="0"/>
    <p:restoredTop sz="94718"/>
  </p:normalViewPr>
  <p:slideViewPr>
    <p:cSldViewPr>
      <p:cViewPr varScale="1">
        <p:scale>
          <a:sx n="117" d="100"/>
          <a:sy n="117" d="100"/>
        </p:scale>
        <p:origin x="768" y="168"/>
      </p:cViewPr>
      <p:guideLst>
        <p:guide orient="horz" pos="2204"/>
        <p:guide pos="3952"/>
        <p:guide pos="275"/>
        <p:guide pos="1881"/>
        <p:guide pos="1287"/>
      </p:guideLst>
    </p:cSldViewPr>
  </p:slideViewPr>
  <p:notesTextViewPr>
    <p:cViewPr>
      <p:scale>
        <a:sx n="1" d="1"/>
        <a:sy n="1" d="1"/>
      </p:scale>
      <p:origin x="0" y="0"/>
    </p:cViewPr>
  </p:notesTextViewPr>
  <p:sorterViewPr>
    <p:cViewPr>
      <p:scale>
        <a:sx n="130" d="100"/>
        <a:sy n="130" d="100"/>
      </p:scale>
      <p:origin x="0" y="-240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handoutMaster" Target="handoutMasters/handoutMaster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presProps" Target="presProps.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2025/9/29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31869587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62AE03-6EE8-41FD-8A37-86C6BC5E264F}" type="datetimeFigureOut">
              <a:rPr lang="zh-CN" altLang="en-US" smtClean="0"/>
              <a:t>2025/9/29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21FD59-C920-460C-B1C9-0346C59420B0}" type="slidenum">
              <a:rPr lang="zh-CN" altLang="en-US" smtClean="0"/>
              <a:t>‹#›</a:t>
            </a:fld>
            <a:endParaRPr lang="zh-CN" altLang="en-US"/>
          </a:p>
        </p:txBody>
      </p:sp>
    </p:spTree>
    <p:extLst>
      <p:ext uri="{BB962C8B-B14F-4D97-AF65-F5344CB8AC3E}">
        <p14:creationId xmlns:p14="http://schemas.microsoft.com/office/powerpoint/2010/main" val="1464911069"/>
      </p:ext>
    </p:extLst>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835" algn="l" defTabSz="1219200" rtl="0" eaLnBrk="1" latinLnBrk="0" hangingPunct="1">
      <a:defRPr sz="1600" kern="1200">
        <a:solidFill>
          <a:schemeClr val="tx1"/>
        </a:solidFill>
        <a:latin typeface="+mn-lt"/>
        <a:ea typeface="+mn-ea"/>
        <a:cs typeface="+mn-cs"/>
      </a:defRPr>
    </a:lvl3pPr>
    <a:lvl4pPr marL="1829435" algn="l" defTabSz="1219200" rtl="0" eaLnBrk="1" latinLnBrk="0" hangingPunct="1">
      <a:defRPr sz="1600" kern="1200">
        <a:solidFill>
          <a:schemeClr val="tx1"/>
        </a:solidFill>
        <a:latin typeface="+mn-lt"/>
        <a:ea typeface="+mn-ea"/>
        <a:cs typeface="+mn-cs"/>
      </a:defRPr>
    </a:lvl4pPr>
    <a:lvl5pPr marL="2439035" algn="l" defTabSz="1219200" rtl="0" eaLnBrk="1" latinLnBrk="0" hangingPunct="1">
      <a:defRPr sz="1600" kern="1200">
        <a:solidFill>
          <a:schemeClr val="tx1"/>
        </a:solidFill>
        <a:latin typeface="+mn-lt"/>
        <a:ea typeface="+mn-ea"/>
        <a:cs typeface="+mn-cs"/>
      </a:defRPr>
    </a:lvl5pPr>
    <a:lvl6pPr marL="3049270" algn="l" defTabSz="1219200" rtl="0" eaLnBrk="1" latinLnBrk="0" hangingPunct="1">
      <a:defRPr sz="1600" kern="1200">
        <a:solidFill>
          <a:schemeClr val="tx1"/>
        </a:solidFill>
        <a:latin typeface="+mn-lt"/>
        <a:ea typeface="+mn-ea"/>
        <a:cs typeface="+mn-cs"/>
      </a:defRPr>
    </a:lvl6pPr>
    <a:lvl7pPr marL="3658870" algn="l" defTabSz="1219200" rtl="0" eaLnBrk="1" latinLnBrk="0" hangingPunct="1">
      <a:defRPr sz="1600" kern="1200">
        <a:solidFill>
          <a:schemeClr val="tx1"/>
        </a:solidFill>
        <a:latin typeface="+mn-lt"/>
        <a:ea typeface="+mn-ea"/>
        <a:cs typeface="+mn-cs"/>
      </a:defRPr>
    </a:lvl7pPr>
    <a:lvl8pPr marL="4268470" algn="l" defTabSz="1219200" rtl="0" eaLnBrk="1" latinLnBrk="0" hangingPunct="1">
      <a:defRPr sz="1600" kern="1200">
        <a:solidFill>
          <a:schemeClr val="tx1"/>
        </a:solidFill>
        <a:latin typeface="+mn-lt"/>
        <a:ea typeface="+mn-ea"/>
        <a:cs typeface="+mn-cs"/>
      </a:defRPr>
    </a:lvl8pPr>
    <a:lvl9pPr marL="487870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平时成绩</a:t>
            </a:r>
            <a:r>
              <a:rPr lang="en-US" altLang="zh-CN" dirty="0"/>
              <a:t>30%+</a:t>
            </a:r>
            <a:r>
              <a:rPr lang="zh-CN" altLang="en-US" dirty="0"/>
              <a:t>实验成绩</a:t>
            </a:r>
            <a:r>
              <a:rPr lang="en-US" altLang="zh-CN" dirty="0"/>
              <a:t>10%+</a:t>
            </a:r>
            <a:r>
              <a:rPr lang="zh-CN" altLang="en-US" dirty="0"/>
              <a:t>笔试成绩</a:t>
            </a:r>
            <a:r>
              <a:rPr lang="en-US" altLang="zh-CN" dirty="0"/>
              <a:t>60%</a:t>
            </a:r>
          </a:p>
          <a:p>
            <a:r>
              <a:rPr lang="zh-CN" altLang="en-US" dirty="0"/>
              <a:t>平时上课可以带笔记本</a:t>
            </a:r>
            <a:endParaRPr lang="en-US" altLang="zh-CN" dirty="0"/>
          </a:p>
          <a:p>
            <a:r>
              <a:rPr lang="zh-CN" altLang="en-US"/>
              <a:t>回顾之前内容</a:t>
            </a:r>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12</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53</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64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65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66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67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68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69</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70</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71</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A311B-81F3-1B61-0B26-31002CD836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86EF2A-02BC-9B1B-6E0C-F6F7EDF56E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DF865A-4D43-CE68-72EA-8D88ADD307DF}"/>
              </a:ext>
            </a:extLst>
          </p:cNvPr>
          <p:cNvSpPr>
            <a:spLocks noGrp="1"/>
          </p:cNvSpPr>
          <p:nvPr>
            <p:ph type="body" idx="1"/>
          </p:nvPr>
        </p:nvSpPr>
        <p:spPr/>
        <p:txBody>
          <a:bodyPr/>
          <a:lstStyle/>
          <a:p>
            <a:r>
              <a:rPr kumimoji="1" lang="zh-CN" altLang="en-US" dirty="0"/>
              <a:t>此处有实战演练</a:t>
            </a:r>
          </a:p>
        </p:txBody>
      </p:sp>
      <p:sp>
        <p:nvSpPr>
          <p:cNvPr id="4" name="幻灯片编号占位符 3">
            <a:extLst>
              <a:ext uri="{FF2B5EF4-FFF2-40B4-BE49-F238E27FC236}">
                <a16:creationId xmlns:a16="http://schemas.microsoft.com/office/drawing/2014/main" id="{A333F1CC-EBD9-1344-79F1-C21483AE7C2D}"/>
              </a:ext>
            </a:extLst>
          </p:cNvPr>
          <p:cNvSpPr>
            <a:spLocks noGrp="1"/>
          </p:cNvSpPr>
          <p:nvPr>
            <p:ph type="sldNum" sz="quarter" idx="10"/>
          </p:nvPr>
        </p:nvSpPr>
        <p:spPr/>
        <p:txBody>
          <a:bodyPr/>
          <a:lstStyle/>
          <a:p>
            <a:fld id="{858E6889-349A-49E8-AAE1-A1FB1A7B9723}" type="slidenum">
              <a:rPr lang="zh-CN" altLang="en-US" smtClean="0"/>
              <a:t>72</a:t>
            </a:fld>
            <a:endParaRPr lang="zh-CN" altLang="en-US"/>
          </a:p>
        </p:txBody>
      </p:sp>
    </p:spTree>
    <p:extLst>
      <p:ext uri="{BB962C8B-B14F-4D97-AF65-F5344CB8AC3E}">
        <p14:creationId xmlns:p14="http://schemas.microsoft.com/office/powerpoint/2010/main" val="1057562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73</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74</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75</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76</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77</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FF4B9-D0AB-18F6-F607-76E18A5625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AD8FBF-68D1-7406-A6BF-80AE658E9A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08624E-0623-4F59-F9B3-7F73BE5874AD}"/>
              </a:ext>
            </a:extLst>
          </p:cNvPr>
          <p:cNvSpPr>
            <a:spLocks noGrp="1"/>
          </p:cNvSpPr>
          <p:nvPr>
            <p:ph type="body" idx="1"/>
          </p:nvPr>
        </p:nvSpPr>
        <p:spPr/>
        <p:txBody>
          <a:bodyPr/>
          <a:lstStyle/>
          <a:p>
            <a:r>
              <a:rPr kumimoji="1" lang="zh-CN" altLang="en-US" dirty="0"/>
              <a:t>此处有实战演练</a:t>
            </a:r>
          </a:p>
        </p:txBody>
      </p:sp>
      <p:sp>
        <p:nvSpPr>
          <p:cNvPr id="4" name="幻灯片编号占位符 3">
            <a:extLst>
              <a:ext uri="{FF2B5EF4-FFF2-40B4-BE49-F238E27FC236}">
                <a16:creationId xmlns:a16="http://schemas.microsoft.com/office/drawing/2014/main" id="{6835E3F5-D6AA-F327-03ED-237DDC7E9882}"/>
              </a:ext>
            </a:extLst>
          </p:cNvPr>
          <p:cNvSpPr>
            <a:spLocks noGrp="1"/>
          </p:cNvSpPr>
          <p:nvPr>
            <p:ph type="sldNum" sz="quarter" idx="10"/>
          </p:nvPr>
        </p:nvSpPr>
        <p:spPr/>
        <p:txBody>
          <a:bodyPr/>
          <a:lstStyle/>
          <a:p>
            <a:fld id="{858E6889-349A-49E8-AAE1-A1FB1A7B9723}" type="slidenum">
              <a:rPr lang="zh-CN" altLang="en-US" smtClean="0"/>
              <a:t>78</a:t>
            </a:fld>
            <a:endParaRPr lang="zh-CN" altLang="en-US"/>
          </a:p>
        </p:txBody>
      </p:sp>
    </p:spTree>
    <p:extLst>
      <p:ext uri="{BB962C8B-B14F-4D97-AF65-F5344CB8AC3E}">
        <p14:creationId xmlns:p14="http://schemas.microsoft.com/office/powerpoint/2010/main" val="38583180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79</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39FEF-96B9-1914-1EFE-DCFFE03DBC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A4052E-C0F7-DDE4-0A97-CA808FA268C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86F335-20A7-E367-582C-2875383FC6D4}"/>
              </a:ext>
            </a:extLst>
          </p:cNvPr>
          <p:cNvSpPr>
            <a:spLocks noGrp="1"/>
          </p:cNvSpPr>
          <p:nvPr>
            <p:ph type="body" idx="1"/>
          </p:nvPr>
        </p:nvSpPr>
        <p:spPr/>
        <p:txBody>
          <a:bodyPr/>
          <a:lstStyle/>
          <a:p>
            <a:r>
              <a:rPr kumimoji="1" lang="zh-CN" altLang="en-US" dirty="0"/>
              <a:t>此处有实战演练</a:t>
            </a:r>
          </a:p>
        </p:txBody>
      </p:sp>
      <p:sp>
        <p:nvSpPr>
          <p:cNvPr id="4" name="幻灯片编号占位符 3">
            <a:extLst>
              <a:ext uri="{FF2B5EF4-FFF2-40B4-BE49-F238E27FC236}">
                <a16:creationId xmlns:a16="http://schemas.microsoft.com/office/drawing/2014/main" id="{3DFCF30C-B168-FF11-3120-97D7863692F9}"/>
              </a:ext>
            </a:extLst>
          </p:cNvPr>
          <p:cNvSpPr>
            <a:spLocks noGrp="1"/>
          </p:cNvSpPr>
          <p:nvPr>
            <p:ph type="sldNum" sz="quarter" idx="10"/>
          </p:nvPr>
        </p:nvSpPr>
        <p:spPr/>
        <p:txBody>
          <a:bodyPr/>
          <a:lstStyle/>
          <a:p>
            <a:fld id="{858E6889-349A-49E8-AAE1-A1FB1A7B9723}" type="slidenum">
              <a:rPr lang="zh-CN" altLang="en-US" smtClean="0"/>
              <a:t>80</a:t>
            </a:fld>
            <a:endParaRPr lang="zh-CN" altLang="en-US"/>
          </a:p>
        </p:txBody>
      </p:sp>
    </p:spTree>
    <p:extLst>
      <p:ext uri="{BB962C8B-B14F-4D97-AF65-F5344CB8AC3E}">
        <p14:creationId xmlns:p14="http://schemas.microsoft.com/office/powerpoint/2010/main" val="38798189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81</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82</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83</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84</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90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  元组用于程序安全访问数据而不能修改数据</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91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  元组用于程序安全访问数据而不能修改数据</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93</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  元组用于程序安全访问数据而不能修改数据</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94</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此处有实战演练。  元组用于程序安全访问数据而不能修改数据</a:t>
            </a:r>
          </a:p>
        </p:txBody>
      </p:sp>
      <p:sp>
        <p:nvSpPr>
          <p:cNvPr id="4" name="幻灯片编号占位符 3"/>
          <p:cNvSpPr>
            <a:spLocks noGrp="1"/>
          </p:cNvSpPr>
          <p:nvPr>
            <p:ph type="sldNum" sz="quarter" idx="10"/>
          </p:nvPr>
        </p:nvSpPr>
        <p:spPr/>
        <p:txBody>
          <a:bodyPr/>
          <a:lstStyle/>
          <a:p>
            <a:fld id="{858E6889-349A-49E8-AAE1-A1FB1A7B9723}" type="slidenum">
              <a:rPr lang="zh-CN" altLang="en-US" smtClean="0"/>
              <a:t>95</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104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105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40" tIns="45720" rIns="91440" bIns="45720" anchor="t"/>
          <a:lstStyle/>
          <a:p>
            <a:pPr lvl="0"/>
            <a:r>
              <a:rPr lang="en-US" altLang="zh-CN" dirty="0"/>
              <a:t>dict.items()</a:t>
            </a:r>
            <a:r>
              <a:rPr lang="zh-CN" altLang="en-US" dirty="0"/>
              <a:t>返回字典的键</a:t>
            </a:r>
            <a:r>
              <a:rPr lang="en-US" altLang="zh-CN" dirty="0"/>
              <a:t>—</a:t>
            </a:r>
            <a:r>
              <a:rPr lang="zh-CN" altLang="en-US" dirty="0"/>
              <a:t>值对视图，</a:t>
            </a:r>
            <a:r>
              <a:rPr lang="en-US" altLang="zh-CN" dirty="0"/>
              <a:t>lambda</a:t>
            </a:r>
            <a:r>
              <a:rPr lang="zh-CN" altLang="en-US" dirty="0"/>
              <a:t>依次接收每个元素到</a:t>
            </a:r>
            <a:r>
              <a:rPr lang="en-US" altLang="zh-CN" dirty="0"/>
              <a:t>d</a:t>
            </a:r>
            <a:r>
              <a:rPr lang="zh-CN" altLang="en-US" dirty="0"/>
              <a:t>，</a:t>
            </a:r>
            <a:r>
              <a:rPr lang="en-US" altLang="zh-CN" dirty="0"/>
              <a:t>d[0]</a:t>
            </a:r>
            <a:r>
              <a:rPr lang="zh-CN" altLang="en-US" dirty="0"/>
              <a:t>表示键，</a:t>
            </a:r>
            <a:r>
              <a:rPr lang="en-US" altLang="zh-CN" dirty="0"/>
              <a:t>d[1]</a:t>
            </a:r>
            <a:r>
              <a:rPr lang="zh-CN" altLang="en-US" dirty="0"/>
              <a:t>表示值</a:t>
            </a:r>
          </a:p>
        </p:txBody>
      </p:sp>
      <p:sp>
        <p:nvSpPr>
          <p:cNvPr id="66564"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CN" sz="1200" dirty="0">
                <a:latin typeface="Arial" panose="020B0604020202020204" pitchFamily="34" charset="0"/>
              </a:rPr>
              <a:t>136</a:t>
            </a:fld>
            <a:endParaRPr lang="en-US" altLang="zh-CN" sz="1200" dirty="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40" tIns="45720" rIns="91440" bIns="45720" anchor="t"/>
          <a:lstStyle/>
          <a:p>
            <a:pPr lvl="0"/>
            <a:r>
              <a:rPr lang="en-US" altLang="zh-CN" dirty="0"/>
              <a:t>dict.items()</a:t>
            </a:r>
            <a:r>
              <a:rPr lang="zh-CN" altLang="en-US" dirty="0"/>
              <a:t>返回字典的键</a:t>
            </a:r>
            <a:r>
              <a:rPr lang="en-US" altLang="zh-CN" dirty="0"/>
              <a:t>—</a:t>
            </a:r>
            <a:r>
              <a:rPr lang="zh-CN" altLang="en-US" dirty="0"/>
              <a:t>值对视图，</a:t>
            </a:r>
            <a:r>
              <a:rPr lang="en-US" altLang="zh-CN" dirty="0"/>
              <a:t>lambda</a:t>
            </a:r>
            <a:r>
              <a:rPr lang="zh-CN" altLang="en-US" dirty="0"/>
              <a:t>依次接收每个元素到</a:t>
            </a:r>
            <a:r>
              <a:rPr lang="en-US" altLang="zh-CN" dirty="0"/>
              <a:t>d</a:t>
            </a:r>
            <a:r>
              <a:rPr lang="zh-CN" altLang="en-US" dirty="0"/>
              <a:t>，</a:t>
            </a:r>
            <a:r>
              <a:rPr lang="en-US" altLang="zh-CN" dirty="0"/>
              <a:t>d[0]</a:t>
            </a:r>
            <a:r>
              <a:rPr lang="zh-CN" altLang="en-US" dirty="0"/>
              <a:t>表示键，</a:t>
            </a:r>
            <a:r>
              <a:rPr lang="en-US" altLang="zh-CN" dirty="0"/>
              <a:t>d[1]</a:t>
            </a:r>
            <a:r>
              <a:rPr lang="zh-CN" altLang="en-US" dirty="0"/>
              <a:t>表示值</a:t>
            </a:r>
          </a:p>
        </p:txBody>
      </p:sp>
      <p:sp>
        <p:nvSpPr>
          <p:cNvPr id="66564"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CN" sz="1200" dirty="0">
                <a:latin typeface="Arial" panose="020B0604020202020204" pitchFamily="34" charset="0"/>
              </a:rPr>
              <a:t>137</a:t>
            </a:fld>
            <a:endParaRPr lang="en-US" altLang="zh-CN" sz="1200" dirty="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40" tIns="45720" rIns="91440" bIns="45720" anchor="t"/>
          <a:lstStyle/>
          <a:p>
            <a:pPr lvl="0"/>
            <a:r>
              <a:rPr lang="en-US" altLang="zh-CN" dirty="0"/>
              <a:t>dict.items()</a:t>
            </a:r>
            <a:r>
              <a:rPr lang="zh-CN" altLang="en-US" dirty="0"/>
              <a:t>返回字典的键</a:t>
            </a:r>
            <a:r>
              <a:rPr lang="en-US" altLang="zh-CN" dirty="0"/>
              <a:t>—</a:t>
            </a:r>
            <a:r>
              <a:rPr lang="zh-CN" altLang="en-US" dirty="0"/>
              <a:t>值对视图，</a:t>
            </a:r>
            <a:r>
              <a:rPr lang="en-US" altLang="zh-CN" dirty="0"/>
              <a:t>lambda</a:t>
            </a:r>
            <a:r>
              <a:rPr lang="zh-CN" altLang="en-US" dirty="0"/>
              <a:t>依次接收每个元素到</a:t>
            </a:r>
            <a:r>
              <a:rPr lang="en-US" altLang="zh-CN" dirty="0"/>
              <a:t>d</a:t>
            </a:r>
            <a:r>
              <a:rPr lang="zh-CN" altLang="en-US" dirty="0"/>
              <a:t>，</a:t>
            </a:r>
            <a:r>
              <a:rPr lang="en-US" altLang="zh-CN" dirty="0"/>
              <a:t>d[0]</a:t>
            </a:r>
            <a:r>
              <a:rPr lang="zh-CN" altLang="en-US" dirty="0"/>
              <a:t>表示键，</a:t>
            </a:r>
            <a:r>
              <a:rPr lang="en-US" altLang="zh-CN" dirty="0"/>
              <a:t>d[1]</a:t>
            </a:r>
            <a:r>
              <a:rPr lang="zh-CN" altLang="en-US" dirty="0"/>
              <a:t>表示值</a:t>
            </a:r>
          </a:p>
        </p:txBody>
      </p:sp>
      <p:sp>
        <p:nvSpPr>
          <p:cNvPr id="66564"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en-US" altLang="zh-CN" sz="1200" dirty="0">
                <a:latin typeface="Arial" panose="020B0604020202020204" pitchFamily="34" charset="0"/>
              </a:rPr>
              <a:t>138</a:t>
            </a:fld>
            <a:endParaRPr lang="en-US" altLang="zh-CN" sz="1200" dirty="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142</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143</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21FD59-C920-460C-B1C9-0346C59420B0}" type="slidenum">
              <a:rPr lang="zh-CN" altLang="en-US" smtClean="0"/>
              <a:t>144</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145</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151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spd="slow" advTm="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userDrawn="1"/>
        </p:nvSpPr>
        <p:spPr>
          <a:xfrm>
            <a:off x="0" y="0"/>
            <a:ext cx="12198350" cy="76549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90" y="-47456"/>
            <a:ext cx="914444" cy="860409"/>
          </a:xfrm>
          <a:prstGeom prst="rect">
            <a:avLst/>
          </a:prstGeom>
          <a:effectLst>
            <a:outerShdw blurRad="50800" dist="38100" dir="2700000" algn="tl" rotWithShape="0">
              <a:prstClr val="black">
                <a:alpha val="40000"/>
              </a:prstClr>
            </a:outerShdw>
          </a:effectLst>
        </p:spPr>
      </p:pic>
      <p:sp>
        <p:nvSpPr>
          <p:cNvPr id="9" name="矩形 8"/>
          <p:cNvSpPr/>
          <p:nvPr userDrawn="1"/>
        </p:nvSpPr>
        <p:spPr>
          <a:xfrm>
            <a:off x="-8058" y="6454129"/>
            <a:ext cx="12198350" cy="4083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072" y="6462394"/>
            <a:ext cx="2723823" cy="369332"/>
          </a:xfrm>
          <a:prstGeom prst="rect">
            <a:avLst/>
          </a:prstGeom>
          <a:noFill/>
        </p:spPr>
        <p:txBody>
          <a:bodyPr wrap="none" lIns="91440" tIns="45720" rIns="91440" bIns="45720">
            <a:spAutoFit/>
          </a:bodyPr>
          <a:lstStyle/>
          <a:p>
            <a:pPr algn="ctr"/>
            <a:r>
              <a:rPr lang="en-US" altLang="zh-CN"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大数据分析语言基础</a:t>
            </a:r>
            <a:r>
              <a:rPr lang="en-US" altLang="zh-CN"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endParaRPr lang="zh-CN" altLang="en-US"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
        <p:nvSpPr>
          <p:cNvPr id="2" name="文本框 1"/>
          <p:cNvSpPr txBox="1"/>
          <p:nvPr userDrawn="1"/>
        </p:nvSpPr>
        <p:spPr>
          <a:xfrm>
            <a:off x="914599" y="335723"/>
            <a:ext cx="3456384" cy="398780"/>
          </a:xfrm>
          <a:prstGeom prst="rect">
            <a:avLst/>
          </a:prstGeom>
          <a:noFill/>
        </p:spPr>
        <p:txBody>
          <a:bodyPr wrap="square" rtlCol="0">
            <a:spAutoFit/>
            <a:scene3d>
              <a:camera prst="orthographicFront"/>
              <a:lightRig rig="threePt" dir="t"/>
            </a:scene3d>
          </a:bodyPr>
          <a:lstStyle/>
          <a:p>
            <a:r>
              <a:rPr lang="zh-CN" altLang="en-US"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第</a:t>
            </a:r>
            <a:r>
              <a:rPr lang="en-US" altLang="zh-CN"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3</a:t>
            </a:r>
            <a:r>
              <a:rPr lang="zh-CN" altLang="en-US"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章 </a:t>
            </a:r>
            <a:r>
              <a:rPr lang="en-US" altLang="zh-CN"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Python</a:t>
            </a:r>
            <a:r>
              <a:rPr lang="zh-CN" altLang="en-US"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数据结构</a:t>
            </a:r>
          </a:p>
        </p:txBody>
      </p:sp>
    </p:spTree>
  </p:cSld>
  <p:clrMapOvr>
    <a:masterClrMapping/>
  </p:clrMapOvr>
  <p:transition spd="slow" advTm="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a:t>单击此处编辑母版标题样式</a:t>
            </a:r>
          </a:p>
        </p:txBody>
      </p:sp>
      <p:sp>
        <p:nvSpPr>
          <p:cNvPr id="3" name="日期占位符 2"/>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t>2025/9/29</a:t>
            </a:fld>
            <a:endParaRPr lang="zh-CN" altLang="en-US"/>
          </a:p>
        </p:txBody>
      </p:sp>
      <p:sp>
        <p:nvSpPr>
          <p:cNvPr id="4" name="页脚占位符 3"/>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5" name="灯片编号占位符 4"/>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t>‹#›</a:t>
            </a:fld>
            <a:endParaRPr lang="zh-CN" altLang="en-US"/>
          </a:p>
        </p:txBody>
      </p:sp>
      <p:sp>
        <p:nvSpPr>
          <p:cNvPr id="6" name="矩形 5"/>
          <p:cNvSpPr/>
          <p:nvPr userDrawn="1"/>
        </p:nvSpPr>
        <p:spPr>
          <a:xfrm>
            <a:off x="0" y="0"/>
            <a:ext cx="12198350" cy="76549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90" y="-47456"/>
            <a:ext cx="914444" cy="860409"/>
          </a:xfrm>
          <a:prstGeom prst="rect">
            <a:avLst/>
          </a:prstGeom>
          <a:effectLst>
            <a:outerShdw blurRad="50800" dist="38100" dir="2700000" algn="tl" rotWithShape="0">
              <a:prstClr val="black">
                <a:alpha val="40000"/>
              </a:prstClr>
            </a:outerShdw>
          </a:effectLst>
        </p:spPr>
      </p:pic>
      <p:sp>
        <p:nvSpPr>
          <p:cNvPr id="8" name="矩形 7"/>
          <p:cNvSpPr/>
          <p:nvPr userDrawn="1"/>
        </p:nvSpPr>
        <p:spPr>
          <a:xfrm>
            <a:off x="-8058" y="6454129"/>
            <a:ext cx="12198350" cy="4083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6072" y="6462394"/>
            <a:ext cx="2723823" cy="369332"/>
          </a:xfrm>
          <a:prstGeom prst="rect">
            <a:avLst/>
          </a:prstGeom>
          <a:noFill/>
        </p:spPr>
        <p:txBody>
          <a:bodyPr wrap="none" lIns="91440" tIns="45720" rIns="91440" bIns="45720">
            <a:spAutoFit/>
          </a:bodyPr>
          <a:lstStyle/>
          <a:p>
            <a:pPr algn="ctr"/>
            <a:r>
              <a:rPr lang="en-US" altLang="zh-CN"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大数据分析语言基础</a:t>
            </a:r>
            <a:r>
              <a:rPr lang="en-US" altLang="zh-CN"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endParaRPr lang="zh-CN" altLang="en-US"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t>2025/9/29</a:t>
            </a:fld>
            <a:endParaRPr lang="zh-CN" altLang="en-US"/>
          </a:p>
        </p:txBody>
      </p:sp>
      <p:sp>
        <p:nvSpPr>
          <p:cNvPr id="3" name="页脚占位符 2"/>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4" name="灯片编号占位符 3"/>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t>‹#›</a:t>
            </a:fld>
            <a:endParaRPr lang="zh-CN" altLang="en-US"/>
          </a:p>
        </p:txBody>
      </p:sp>
      <p:sp>
        <p:nvSpPr>
          <p:cNvPr id="5" name="矩形 4"/>
          <p:cNvSpPr/>
          <p:nvPr userDrawn="1"/>
        </p:nvSpPr>
        <p:spPr>
          <a:xfrm>
            <a:off x="0" y="0"/>
            <a:ext cx="12198350" cy="76549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90" y="-47456"/>
            <a:ext cx="914444" cy="860409"/>
          </a:xfrm>
          <a:prstGeom prst="rect">
            <a:avLst/>
          </a:prstGeom>
          <a:effectLst>
            <a:outerShdw blurRad="50800" dist="38100" dir="2700000" algn="tl" rotWithShape="0">
              <a:prstClr val="black">
                <a:alpha val="40000"/>
              </a:prstClr>
            </a:outerShdw>
          </a:effectLst>
        </p:spPr>
      </p:pic>
      <p:sp>
        <p:nvSpPr>
          <p:cNvPr id="7" name="矩形 6"/>
          <p:cNvSpPr/>
          <p:nvPr userDrawn="1"/>
        </p:nvSpPr>
        <p:spPr>
          <a:xfrm>
            <a:off x="-8058" y="6454129"/>
            <a:ext cx="12198350" cy="4083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6072" y="6462394"/>
            <a:ext cx="2723823" cy="369332"/>
          </a:xfrm>
          <a:prstGeom prst="rect">
            <a:avLst/>
          </a:prstGeom>
          <a:noFill/>
        </p:spPr>
        <p:txBody>
          <a:bodyPr wrap="none" lIns="91440" tIns="45720" rIns="91440" bIns="45720">
            <a:spAutoFit/>
          </a:bodyPr>
          <a:lstStyle/>
          <a:p>
            <a:pPr algn="ctr"/>
            <a:r>
              <a:rPr lang="en-US" altLang="zh-CN"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大数据分析语言基础</a:t>
            </a:r>
            <a:r>
              <a:rPr lang="en-US" altLang="zh-CN"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endParaRPr lang="zh-CN" altLang="en-US"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
        <p:nvSpPr>
          <p:cNvPr id="10" name="文本框 9"/>
          <p:cNvSpPr txBox="1"/>
          <p:nvPr userDrawn="1"/>
        </p:nvSpPr>
        <p:spPr>
          <a:xfrm>
            <a:off x="914599" y="335723"/>
            <a:ext cx="3456384" cy="398780"/>
          </a:xfrm>
          <a:prstGeom prst="rect">
            <a:avLst/>
          </a:prstGeom>
          <a:noFill/>
        </p:spPr>
        <p:txBody>
          <a:bodyPr wrap="square" rtlCol="0">
            <a:spAutoFit/>
            <a:scene3d>
              <a:camera prst="orthographicFront"/>
              <a:lightRig rig="threePt" dir="t"/>
            </a:scene3d>
          </a:bodyPr>
          <a:lstStyle/>
          <a:p>
            <a:r>
              <a:rPr lang="zh-CN" altLang="en-US"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第</a:t>
            </a:r>
            <a:r>
              <a:rPr lang="en-US" altLang="zh-CN"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3</a:t>
            </a:r>
            <a:r>
              <a:rPr lang="zh-CN" altLang="en-US"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章 </a:t>
            </a:r>
            <a:r>
              <a:rPr lang="en-US" altLang="zh-CN"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Python</a:t>
            </a:r>
            <a:r>
              <a:rPr lang="zh-CN" altLang="en-US"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数据结构</a:t>
            </a:r>
          </a:p>
        </p:txBody>
      </p:sp>
    </p:spTree>
  </p:cSld>
  <p:clrMapOvr>
    <a:masterClrMapping/>
  </p:clrMapOvr>
  <p:transition spd="slow"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
        <p:nvSpPr>
          <p:cNvPr id="2" name="矩形 1"/>
          <p:cNvSpPr/>
          <p:nvPr userDrawn="1"/>
        </p:nvSpPr>
        <p:spPr>
          <a:xfrm>
            <a:off x="0" y="0"/>
            <a:ext cx="12198350" cy="76549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90" y="-47456"/>
            <a:ext cx="914444" cy="860409"/>
          </a:xfrm>
          <a:prstGeom prst="rect">
            <a:avLst/>
          </a:prstGeom>
          <a:effectLst>
            <a:outerShdw blurRad="50800" dist="38100" dir="2700000" algn="tl" rotWithShape="0">
              <a:prstClr val="black">
                <a:alpha val="40000"/>
              </a:prstClr>
            </a:outerShdw>
          </a:effectLst>
        </p:spPr>
      </p:pic>
      <p:sp>
        <p:nvSpPr>
          <p:cNvPr id="4" name="矩形 3"/>
          <p:cNvSpPr/>
          <p:nvPr userDrawn="1"/>
        </p:nvSpPr>
        <p:spPr>
          <a:xfrm>
            <a:off x="-8058" y="6454129"/>
            <a:ext cx="12198350" cy="4083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userDrawn="1"/>
        </p:nvSpPr>
        <p:spPr>
          <a:xfrm>
            <a:off x="-6072" y="6462394"/>
            <a:ext cx="2723823" cy="369332"/>
          </a:xfrm>
          <a:prstGeom prst="rect">
            <a:avLst/>
          </a:prstGeom>
          <a:noFill/>
        </p:spPr>
        <p:txBody>
          <a:bodyPr wrap="none" lIns="91440" tIns="45720" rIns="91440" bIns="45720">
            <a:spAutoFit/>
          </a:bodyPr>
          <a:lstStyle/>
          <a:p>
            <a:pPr algn="ctr"/>
            <a:r>
              <a:rPr lang="en-US" altLang="zh-CN"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大数据分析语言基础</a:t>
            </a:r>
            <a:r>
              <a:rPr lang="en-US" altLang="zh-CN"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endParaRPr lang="zh-CN" altLang="en-US"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7" name="矩形 6"/>
          <p:cNvSpPr/>
          <p:nvPr userDrawn="1"/>
        </p:nvSpPr>
        <p:spPr>
          <a:xfrm>
            <a:off x="0" y="0"/>
            <a:ext cx="12198350" cy="76549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90" y="-47456"/>
            <a:ext cx="914444" cy="860409"/>
          </a:xfrm>
          <a:prstGeom prst="rect">
            <a:avLst/>
          </a:prstGeom>
          <a:effectLst>
            <a:outerShdw blurRad="50800" dist="38100" dir="2700000" algn="tl" rotWithShape="0">
              <a:prstClr val="black">
                <a:alpha val="40000"/>
              </a:prstClr>
            </a:outerShdw>
          </a:effectLst>
        </p:spPr>
      </p:pic>
      <p:sp>
        <p:nvSpPr>
          <p:cNvPr id="9" name="矩形 8"/>
          <p:cNvSpPr/>
          <p:nvPr userDrawn="1"/>
        </p:nvSpPr>
        <p:spPr>
          <a:xfrm>
            <a:off x="-8058" y="6454129"/>
            <a:ext cx="12198350" cy="4083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072" y="6462394"/>
            <a:ext cx="2723823" cy="369332"/>
          </a:xfrm>
          <a:prstGeom prst="rect">
            <a:avLst/>
          </a:prstGeom>
          <a:noFill/>
        </p:spPr>
        <p:txBody>
          <a:bodyPr wrap="none" lIns="91440" tIns="45720" rIns="91440" bIns="45720">
            <a:spAutoFit/>
          </a:bodyPr>
          <a:lstStyle/>
          <a:p>
            <a:pPr algn="ctr"/>
            <a:r>
              <a:rPr lang="en-US" altLang="zh-CN"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大数据分析语言基础</a:t>
            </a:r>
            <a:r>
              <a:rPr lang="en-US" altLang="zh-CN"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endParaRPr lang="zh-CN" altLang="en-US" sz="1800" b="1" cap="none" spc="0" dirty="0">
              <a:ln w="0"/>
              <a:solidFill>
                <a:srgbClr val="FAFAFA"/>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
        <p:nvSpPr>
          <p:cNvPr id="2" name="文本框 1"/>
          <p:cNvSpPr txBox="1"/>
          <p:nvPr userDrawn="1"/>
        </p:nvSpPr>
        <p:spPr>
          <a:xfrm>
            <a:off x="914599" y="335723"/>
            <a:ext cx="3456384" cy="398780"/>
          </a:xfrm>
          <a:prstGeom prst="rect">
            <a:avLst/>
          </a:prstGeom>
          <a:noFill/>
        </p:spPr>
        <p:txBody>
          <a:bodyPr wrap="square" rtlCol="0">
            <a:spAutoFit/>
            <a:scene3d>
              <a:camera prst="orthographicFront"/>
              <a:lightRig rig="threePt" dir="t"/>
            </a:scene3d>
          </a:bodyPr>
          <a:lstStyle/>
          <a:p>
            <a:r>
              <a:rPr lang="zh-CN" altLang="en-US"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第</a:t>
            </a:r>
            <a:r>
              <a:rPr lang="en-US" altLang="zh-CN"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3</a:t>
            </a:r>
            <a:r>
              <a:rPr lang="zh-CN" altLang="en-US"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章 </a:t>
            </a:r>
            <a:r>
              <a:rPr lang="en-US" altLang="zh-CN"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Python</a:t>
            </a:r>
            <a:r>
              <a:rPr lang="zh-CN" altLang="en-US"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方正大黑简体" panose="03000509000000000000" pitchFamily="2" charset="-122"/>
                <a:ea typeface="方正大黑简体" panose="03000509000000000000" pitchFamily="2" charset="-122"/>
              </a:rPr>
              <a:t>数据结构</a:t>
            </a:r>
          </a:p>
        </p:txBody>
      </p:sp>
    </p:spTree>
  </p:cSld>
  <p:clrMapOvr>
    <a:masterClrMapping/>
  </p:clrMapOvr>
  <p:transition spd="slow" advTm="0">
    <p:wip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slow" advTm="0">
    <p:wipe/>
  </p:transition>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835"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9270" algn="l" defTabSz="1219200" rtl="0" eaLnBrk="1" latinLnBrk="0" hangingPunct="1">
        <a:defRPr sz="2400" kern="1200">
          <a:solidFill>
            <a:schemeClr val="tx1"/>
          </a:solidFill>
          <a:latin typeface="+mn-lt"/>
          <a:ea typeface="+mn-ea"/>
          <a:cs typeface="+mn-cs"/>
        </a:defRPr>
      </a:lvl6pPr>
      <a:lvl7pPr marL="3658870" algn="l" defTabSz="1219200" rtl="0" eaLnBrk="1" latinLnBrk="0" hangingPunct="1">
        <a:defRPr sz="2400" kern="1200">
          <a:solidFill>
            <a:schemeClr val="tx1"/>
          </a:solidFill>
          <a:latin typeface="+mn-lt"/>
          <a:ea typeface="+mn-ea"/>
          <a:cs typeface="+mn-cs"/>
        </a:defRPr>
      </a:lvl7pPr>
      <a:lvl8pPr marL="4268470" algn="l" defTabSz="1219200" rtl="0" eaLnBrk="1" latinLnBrk="0" hangingPunct="1">
        <a:defRPr sz="2400" kern="1200">
          <a:solidFill>
            <a:schemeClr val="tx1"/>
          </a:solidFill>
          <a:latin typeface="+mn-lt"/>
          <a:ea typeface="+mn-ea"/>
          <a:cs typeface="+mn-cs"/>
        </a:defRPr>
      </a:lvl8pPr>
      <a:lvl9pPr marL="4878705"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ransition spd="slow" advTm="0">
    <p:wipe/>
  </p:transition>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835"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9270" algn="l" defTabSz="1219200" rtl="0" eaLnBrk="1" latinLnBrk="0" hangingPunct="1">
        <a:defRPr sz="2400" kern="1200">
          <a:solidFill>
            <a:schemeClr val="tx1"/>
          </a:solidFill>
          <a:latin typeface="+mn-lt"/>
          <a:ea typeface="+mn-ea"/>
          <a:cs typeface="+mn-cs"/>
        </a:defRPr>
      </a:lvl6pPr>
      <a:lvl7pPr marL="3658870" algn="l" defTabSz="1219200" rtl="0" eaLnBrk="1" latinLnBrk="0" hangingPunct="1">
        <a:defRPr sz="2400" kern="1200">
          <a:solidFill>
            <a:schemeClr val="tx1"/>
          </a:solidFill>
          <a:latin typeface="+mn-lt"/>
          <a:ea typeface="+mn-ea"/>
          <a:cs typeface="+mn-cs"/>
        </a:defRPr>
      </a:lvl7pPr>
      <a:lvl8pPr marL="4268470" algn="l" defTabSz="1219200" rtl="0" eaLnBrk="1" latinLnBrk="0" hangingPunct="1">
        <a:defRPr sz="2400" kern="1200">
          <a:solidFill>
            <a:schemeClr val="tx1"/>
          </a:solidFill>
          <a:latin typeface="+mn-lt"/>
          <a:ea typeface="+mn-ea"/>
          <a:cs typeface="+mn-cs"/>
        </a:defRPr>
      </a:lvl8pPr>
      <a:lvl9pPr marL="4878705"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slideLayout" Target="../slideLayouts/slideLayout2.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tags" Target="../tags/tag43.xml"/><Relationship Id="rId26" Type="http://schemas.openxmlformats.org/officeDocument/2006/relationships/slideLayout" Target="../slideLayouts/slideLayout2.xml"/><Relationship Id="rId3" Type="http://schemas.openxmlformats.org/officeDocument/2006/relationships/tags" Target="../tags/tag28.xml"/><Relationship Id="rId21" Type="http://schemas.openxmlformats.org/officeDocument/2006/relationships/tags" Target="../tags/tag46.xml"/><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tags" Target="../tags/tag42.xml"/><Relationship Id="rId25" Type="http://schemas.openxmlformats.org/officeDocument/2006/relationships/tags" Target="../tags/tag50.xml"/><Relationship Id="rId2" Type="http://schemas.openxmlformats.org/officeDocument/2006/relationships/tags" Target="../tags/tag27.xml"/><Relationship Id="rId16" Type="http://schemas.openxmlformats.org/officeDocument/2006/relationships/tags" Target="../tags/tag41.xml"/><Relationship Id="rId20" Type="http://schemas.openxmlformats.org/officeDocument/2006/relationships/tags" Target="../tags/tag45.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24" Type="http://schemas.openxmlformats.org/officeDocument/2006/relationships/tags" Target="../tags/tag49.xml"/><Relationship Id="rId5" Type="http://schemas.openxmlformats.org/officeDocument/2006/relationships/tags" Target="../tags/tag30.xml"/><Relationship Id="rId15" Type="http://schemas.openxmlformats.org/officeDocument/2006/relationships/tags" Target="../tags/tag40.xml"/><Relationship Id="rId23" Type="http://schemas.openxmlformats.org/officeDocument/2006/relationships/tags" Target="../tags/tag48.xml"/><Relationship Id="rId10" Type="http://schemas.openxmlformats.org/officeDocument/2006/relationships/tags" Target="../tags/tag35.xml"/><Relationship Id="rId19" Type="http://schemas.openxmlformats.org/officeDocument/2006/relationships/tags" Target="../tags/tag44.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 Id="rId22" Type="http://schemas.openxmlformats.org/officeDocument/2006/relationships/tags" Target="../tags/tag47.xml"/><Relationship Id="rId2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slideLayout" Target="../slideLayouts/slideLayout2.xml"/><Relationship Id="rId3" Type="http://schemas.openxmlformats.org/officeDocument/2006/relationships/tags" Target="../tags/tag53.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tags" Target="../tags/tag67.xml"/><Relationship Id="rId2" Type="http://schemas.openxmlformats.org/officeDocument/2006/relationships/tags" Target="../tags/tag52.xml"/><Relationship Id="rId16" Type="http://schemas.openxmlformats.org/officeDocument/2006/relationships/tags" Target="../tags/tag66.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5" Type="http://schemas.openxmlformats.org/officeDocument/2006/relationships/tags" Target="../tags/tag55.xml"/><Relationship Id="rId15" Type="http://schemas.openxmlformats.org/officeDocument/2006/relationships/tags" Target="../tags/tag65.xml"/><Relationship Id="rId10" Type="http://schemas.openxmlformats.org/officeDocument/2006/relationships/tags" Target="../tags/tag60.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tags" Target="../tags/tag86.xml"/><Relationship Id="rId26" Type="http://schemas.openxmlformats.org/officeDocument/2006/relationships/slideLayout" Target="../slideLayouts/slideLayout2.xml"/><Relationship Id="rId3" Type="http://schemas.openxmlformats.org/officeDocument/2006/relationships/tags" Target="../tags/tag71.xml"/><Relationship Id="rId21" Type="http://schemas.openxmlformats.org/officeDocument/2006/relationships/tags" Target="../tags/tag89.xml"/><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tags" Target="../tags/tag85.xml"/><Relationship Id="rId25" Type="http://schemas.openxmlformats.org/officeDocument/2006/relationships/tags" Target="../tags/tag93.xml"/><Relationship Id="rId2" Type="http://schemas.openxmlformats.org/officeDocument/2006/relationships/tags" Target="../tags/tag70.xml"/><Relationship Id="rId16" Type="http://schemas.openxmlformats.org/officeDocument/2006/relationships/tags" Target="../tags/tag84.xml"/><Relationship Id="rId20" Type="http://schemas.openxmlformats.org/officeDocument/2006/relationships/tags" Target="../tags/tag88.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24" Type="http://schemas.openxmlformats.org/officeDocument/2006/relationships/tags" Target="../tags/tag92.xml"/><Relationship Id="rId5" Type="http://schemas.openxmlformats.org/officeDocument/2006/relationships/tags" Target="../tags/tag73.xml"/><Relationship Id="rId15" Type="http://schemas.openxmlformats.org/officeDocument/2006/relationships/tags" Target="../tags/tag83.xml"/><Relationship Id="rId23" Type="http://schemas.openxmlformats.org/officeDocument/2006/relationships/tags" Target="../tags/tag91.xml"/><Relationship Id="rId10" Type="http://schemas.openxmlformats.org/officeDocument/2006/relationships/tags" Target="../tags/tag78.xml"/><Relationship Id="rId19" Type="http://schemas.openxmlformats.org/officeDocument/2006/relationships/tags" Target="../tags/tag87.xml"/><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tags" Target="../tags/tag82.xml"/><Relationship Id="rId22" Type="http://schemas.openxmlformats.org/officeDocument/2006/relationships/tags" Target="../tags/tag90.xml"/><Relationship Id="rId27"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tags" Target="../tags/tag107.xml"/><Relationship Id="rId18" Type="http://schemas.openxmlformats.org/officeDocument/2006/relationships/tags" Target="../tags/tag112.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tags" Target="../tags/tag106.xml"/><Relationship Id="rId17" Type="http://schemas.openxmlformats.org/officeDocument/2006/relationships/tags" Target="../tags/tag111.xml"/><Relationship Id="rId2" Type="http://schemas.openxmlformats.org/officeDocument/2006/relationships/tags" Target="../tags/tag96.xml"/><Relationship Id="rId16" Type="http://schemas.openxmlformats.org/officeDocument/2006/relationships/tags" Target="../tags/tag110.xml"/><Relationship Id="rId20" Type="http://schemas.openxmlformats.org/officeDocument/2006/relationships/slideLayout" Target="../slideLayouts/slideLayout2.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tags" Target="../tags/tag105.xml"/><Relationship Id="rId5" Type="http://schemas.openxmlformats.org/officeDocument/2006/relationships/tags" Target="../tags/tag99.xml"/><Relationship Id="rId15" Type="http://schemas.openxmlformats.org/officeDocument/2006/relationships/tags" Target="../tags/tag109.xml"/><Relationship Id="rId10" Type="http://schemas.openxmlformats.org/officeDocument/2006/relationships/tags" Target="../tags/tag104.xml"/><Relationship Id="rId19" Type="http://schemas.openxmlformats.org/officeDocument/2006/relationships/tags" Target="../tags/tag113.xml"/><Relationship Id="rId4" Type="http://schemas.openxmlformats.org/officeDocument/2006/relationships/tags" Target="../tags/tag98.xml"/><Relationship Id="rId9" Type="http://schemas.openxmlformats.org/officeDocument/2006/relationships/tags" Target="../tags/tag103.xml"/><Relationship Id="rId14" Type="http://schemas.openxmlformats.org/officeDocument/2006/relationships/tags" Target="../tags/tag10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tags" Target="../tags/tag121.xml"/><Relationship Id="rId13" Type="http://schemas.openxmlformats.org/officeDocument/2006/relationships/tags" Target="../tags/tag126.xml"/><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tags" Target="../tags/tag125.xml"/><Relationship Id="rId17" Type="http://schemas.openxmlformats.org/officeDocument/2006/relationships/image" Target="../media/image7.png"/><Relationship Id="rId2" Type="http://schemas.openxmlformats.org/officeDocument/2006/relationships/tags" Target="../tags/tag115.xml"/><Relationship Id="rId16" Type="http://schemas.openxmlformats.org/officeDocument/2006/relationships/slideLayout" Target="../slideLayouts/slideLayout4.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tags" Target="../tags/tag124.xml"/><Relationship Id="rId5" Type="http://schemas.openxmlformats.org/officeDocument/2006/relationships/tags" Target="../tags/tag118.xml"/><Relationship Id="rId15" Type="http://schemas.openxmlformats.org/officeDocument/2006/relationships/tags" Target="../tags/tag128.xml"/><Relationship Id="rId10" Type="http://schemas.openxmlformats.org/officeDocument/2006/relationships/tags" Target="../tags/tag123.xml"/><Relationship Id="rId4" Type="http://schemas.openxmlformats.org/officeDocument/2006/relationships/tags" Target="../tags/tag117.xml"/><Relationship Id="rId9" Type="http://schemas.openxmlformats.org/officeDocument/2006/relationships/tags" Target="../tags/tag122.xml"/><Relationship Id="rId14" Type="http://schemas.openxmlformats.org/officeDocument/2006/relationships/tags" Target="../tags/tag127.xml"/></Relationships>
</file>

<file path=ppt/slides/_rels/slide41.xml.rels><?xml version="1.0" encoding="UTF-8" standalone="yes"?>
<Relationships xmlns="http://schemas.openxmlformats.org/package/2006/relationships"><Relationship Id="rId8" Type="http://schemas.openxmlformats.org/officeDocument/2006/relationships/tags" Target="../tags/tag136.xml"/><Relationship Id="rId13" Type="http://schemas.openxmlformats.org/officeDocument/2006/relationships/tags" Target="../tags/tag141.xml"/><Relationship Id="rId3" Type="http://schemas.openxmlformats.org/officeDocument/2006/relationships/tags" Target="../tags/tag131.xml"/><Relationship Id="rId7" Type="http://schemas.openxmlformats.org/officeDocument/2006/relationships/tags" Target="../tags/tag135.xml"/><Relationship Id="rId12" Type="http://schemas.openxmlformats.org/officeDocument/2006/relationships/tags" Target="../tags/tag140.xml"/><Relationship Id="rId17" Type="http://schemas.openxmlformats.org/officeDocument/2006/relationships/image" Target="../media/image7.png"/><Relationship Id="rId2" Type="http://schemas.openxmlformats.org/officeDocument/2006/relationships/tags" Target="../tags/tag130.xml"/><Relationship Id="rId16" Type="http://schemas.openxmlformats.org/officeDocument/2006/relationships/slideLayout" Target="../slideLayouts/slideLayout4.xml"/><Relationship Id="rId1" Type="http://schemas.openxmlformats.org/officeDocument/2006/relationships/tags" Target="../tags/tag129.xml"/><Relationship Id="rId6" Type="http://schemas.openxmlformats.org/officeDocument/2006/relationships/tags" Target="../tags/tag134.xml"/><Relationship Id="rId11" Type="http://schemas.openxmlformats.org/officeDocument/2006/relationships/tags" Target="../tags/tag139.xml"/><Relationship Id="rId5" Type="http://schemas.openxmlformats.org/officeDocument/2006/relationships/tags" Target="../tags/tag133.xml"/><Relationship Id="rId15" Type="http://schemas.openxmlformats.org/officeDocument/2006/relationships/tags" Target="../tags/tag143.xml"/><Relationship Id="rId10" Type="http://schemas.openxmlformats.org/officeDocument/2006/relationships/tags" Target="../tags/tag138.xml"/><Relationship Id="rId4" Type="http://schemas.openxmlformats.org/officeDocument/2006/relationships/tags" Target="../tags/tag132.xml"/><Relationship Id="rId9" Type="http://schemas.openxmlformats.org/officeDocument/2006/relationships/tags" Target="../tags/tag137.xml"/><Relationship Id="rId14" Type="http://schemas.openxmlformats.org/officeDocument/2006/relationships/tags" Target="../tags/tag142.xml"/></Relationships>
</file>

<file path=ppt/slides/_rels/slide42.xml.rels><?xml version="1.0" encoding="UTF-8" standalone="yes"?>
<Relationships xmlns="http://schemas.openxmlformats.org/package/2006/relationships"><Relationship Id="rId8" Type="http://schemas.openxmlformats.org/officeDocument/2006/relationships/tags" Target="../tags/tag151.xml"/><Relationship Id="rId13" Type="http://schemas.openxmlformats.org/officeDocument/2006/relationships/tags" Target="../tags/tag156.xml"/><Relationship Id="rId18" Type="http://schemas.openxmlformats.org/officeDocument/2006/relationships/tags" Target="../tags/tag161.xml"/><Relationship Id="rId3" Type="http://schemas.openxmlformats.org/officeDocument/2006/relationships/tags" Target="../tags/tag146.xml"/><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tags" Target="../tags/tag160.xml"/><Relationship Id="rId2" Type="http://schemas.openxmlformats.org/officeDocument/2006/relationships/tags" Target="../tags/tag145.xml"/><Relationship Id="rId16" Type="http://schemas.openxmlformats.org/officeDocument/2006/relationships/tags" Target="../tags/tag159.xml"/><Relationship Id="rId20" Type="http://schemas.openxmlformats.org/officeDocument/2006/relationships/slideLayout" Target="../slideLayouts/slideLayout2.xml"/><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5" Type="http://schemas.openxmlformats.org/officeDocument/2006/relationships/tags" Target="../tags/tag148.xml"/><Relationship Id="rId15" Type="http://schemas.openxmlformats.org/officeDocument/2006/relationships/tags" Target="../tags/tag158.xml"/><Relationship Id="rId10" Type="http://schemas.openxmlformats.org/officeDocument/2006/relationships/tags" Target="../tags/tag153.xml"/><Relationship Id="rId19" Type="http://schemas.openxmlformats.org/officeDocument/2006/relationships/tags" Target="../tags/tag162.xml"/><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tags" Target="../tags/tag15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pythontutor.com/live.html#mode=edit"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tags" Target="../tags/tag175.xml"/><Relationship Id="rId18" Type="http://schemas.openxmlformats.org/officeDocument/2006/relationships/tags" Target="../tags/tag180.xml"/><Relationship Id="rId26" Type="http://schemas.openxmlformats.org/officeDocument/2006/relationships/slideLayout" Target="../slideLayouts/slideLayout2.xml"/><Relationship Id="rId3" Type="http://schemas.openxmlformats.org/officeDocument/2006/relationships/tags" Target="../tags/tag165.xml"/><Relationship Id="rId21" Type="http://schemas.openxmlformats.org/officeDocument/2006/relationships/tags" Target="../tags/tag183.xml"/><Relationship Id="rId7" Type="http://schemas.openxmlformats.org/officeDocument/2006/relationships/tags" Target="../tags/tag169.xml"/><Relationship Id="rId12" Type="http://schemas.openxmlformats.org/officeDocument/2006/relationships/tags" Target="../tags/tag174.xml"/><Relationship Id="rId17" Type="http://schemas.openxmlformats.org/officeDocument/2006/relationships/tags" Target="../tags/tag179.xml"/><Relationship Id="rId25" Type="http://schemas.openxmlformats.org/officeDocument/2006/relationships/tags" Target="../tags/tag187.xml"/><Relationship Id="rId2" Type="http://schemas.openxmlformats.org/officeDocument/2006/relationships/tags" Target="../tags/tag164.xml"/><Relationship Id="rId16" Type="http://schemas.openxmlformats.org/officeDocument/2006/relationships/tags" Target="../tags/tag178.xml"/><Relationship Id="rId20" Type="http://schemas.openxmlformats.org/officeDocument/2006/relationships/tags" Target="../tags/tag182.xml"/><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tags" Target="../tags/tag173.xml"/><Relationship Id="rId24" Type="http://schemas.openxmlformats.org/officeDocument/2006/relationships/tags" Target="../tags/tag186.xml"/><Relationship Id="rId5" Type="http://schemas.openxmlformats.org/officeDocument/2006/relationships/tags" Target="../tags/tag167.xml"/><Relationship Id="rId15" Type="http://schemas.openxmlformats.org/officeDocument/2006/relationships/tags" Target="../tags/tag177.xml"/><Relationship Id="rId23" Type="http://schemas.openxmlformats.org/officeDocument/2006/relationships/tags" Target="../tags/tag185.xml"/><Relationship Id="rId10" Type="http://schemas.openxmlformats.org/officeDocument/2006/relationships/tags" Target="../tags/tag172.xml"/><Relationship Id="rId19" Type="http://schemas.openxmlformats.org/officeDocument/2006/relationships/tags" Target="../tags/tag181.xml"/><Relationship Id="rId4" Type="http://schemas.openxmlformats.org/officeDocument/2006/relationships/tags" Target="../tags/tag166.xml"/><Relationship Id="rId9" Type="http://schemas.openxmlformats.org/officeDocument/2006/relationships/tags" Target="../tags/tag171.xml"/><Relationship Id="rId14" Type="http://schemas.openxmlformats.org/officeDocument/2006/relationships/tags" Target="../tags/tag176.xml"/><Relationship Id="rId22" Type="http://schemas.openxmlformats.org/officeDocument/2006/relationships/tags" Target="../tags/tag184.xml"/><Relationship Id="rId27" Type="http://schemas.openxmlformats.org/officeDocument/2006/relationships/notesSlide" Target="../notesSlides/notesSlide2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tags" Target="../tags/tag195.xml"/><Relationship Id="rId13" Type="http://schemas.openxmlformats.org/officeDocument/2006/relationships/tags" Target="../tags/tag200.xml"/><Relationship Id="rId18" Type="http://schemas.openxmlformats.org/officeDocument/2006/relationships/tags" Target="../tags/tag205.xml"/><Relationship Id="rId26" Type="http://schemas.openxmlformats.org/officeDocument/2006/relationships/slideLayout" Target="../slideLayouts/slideLayout2.xml"/><Relationship Id="rId3" Type="http://schemas.openxmlformats.org/officeDocument/2006/relationships/tags" Target="../tags/tag190.xml"/><Relationship Id="rId21" Type="http://schemas.openxmlformats.org/officeDocument/2006/relationships/tags" Target="../tags/tag208.xml"/><Relationship Id="rId7" Type="http://schemas.openxmlformats.org/officeDocument/2006/relationships/tags" Target="../tags/tag194.xml"/><Relationship Id="rId12" Type="http://schemas.openxmlformats.org/officeDocument/2006/relationships/tags" Target="../tags/tag199.xml"/><Relationship Id="rId17" Type="http://schemas.openxmlformats.org/officeDocument/2006/relationships/tags" Target="../tags/tag204.xml"/><Relationship Id="rId25" Type="http://schemas.openxmlformats.org/officeDocument/2006/relationships/tags" Target="../tags/tag212.xml"/><Relationship Id="rId2" Type="http://schemas.openxmlformats.org/officeDocument/2006/relationships/tags" Target="../tags/tag189.xml"/><Relationship Id="rId16" Type="http://schemas.openxmlformats.org/officeDocument/2006/relationships/tags" Target="../tags/tag203.xml"/><Relationship Id="rId20" Type="http://schemas.openxmlformats.org/officeDocument/2006/relationships/tags" Target="../tags/tag207.xml"/><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tags" Target="../tags/tag198.xml"/><Relationship Id="rId24" Type="http://schemas.openxmlformats.org/officeDocument/2006/relationships/tags" Target="../tags/tag211.xml"/><Relationship Id="rId5" Type="http://schemas.openxmlformats.org/officeDocument/2006/relationships/tags" Target="../tags/tag192.xml"/><Relationship Id="rId15" Type="http://schemas.openxmlformats.org/officeDocument/2006/relationships/tags" Target="../tags/tag202.xml"/><Relationship Id="rId23" Type="http://schemas.openxmlformats.org/officeDocument/2006/relationships/tags" Target="../tags/tag210.xml"/><Relationship Id="rId10" Type="http://schemas.openxmlformats.org/officeDocument/2006/relationships/tags" Target="../tags/tag197.xml"/><Relationship Id="rId19" Type="http://schemas.openxmlformats.org/officeDocument/2006/relationships/tags" Target="../tags/tag206.xml"/><Relationship Id="rId4" Type="http://schemas.openxmlformats.org/officeDocument/2006/relationships/tags" Target="../tags/tag191.xml"/><Relationship Id="rId9" Type="http://schemas.openxmlformats.org/officeDocument/2006/relationships/tags" Target="../tags/tag196.xml"/><Relationship Id="rId14" Type="http://schemas.openxmlformats.org/officeDocument/2006/relationships/tags" Target="../tags/tag201.xml"/><Relationship Id="rId22" Type="http://schemas.openxmlformats.org/officeDocument/2006/relationships/tags" Target="../tags/tag209.xml"/><Relationship Id="rId27" Type="http://schemas.openxmlformats.org/officeDocument/2006/relationships/notesSlide" Target="../notesSlides/notesSlide34.xml"/></Relationships>
</file>

<file path=ppt/slides/_rels/slide10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18" Type="http://schemas.openxmlformats.org/officeDocument/2006/relationships/tags" Target="../tags/tag232.xml"/><Relationship Id="rId26" Type="http://schemas.openxmlformats.org/officeDocument/2006/relationships/slideLayout" Target="../slideLayouts/slideLayout2.xml"/><Relationship Id="rId3" Type="http://schemas.openxmlformats.org/officeDocument/2006/relationships/tags" Target="../tags/tag217.xml"/><Relationship Id="rId21" Type="http://schemas.openxmlformats.org/officeDocument/2006/relationships/tags" Target="../tags/tag235.xml"/><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tags" Target="../tags/tag231.xml"/><Relationship Id="rId25" Type="http://schemas.openxmlformats.org/officeDocument/2006/relationships/tags" Target="../tags/tag239.xml"/><Relationship Id="rId2" Type="http://schemas.openxmlformats.org/officeDocument/2006/relationships/tags" Target="../tags/tag216.xml"/><Relationship Id="rId16" Type="http://schemas.openxmlformats.org/officeDocument/2006/relationships/tags" Target="../tags/tag230.xml"/><Relationship Id="rId20" Type="http://schemas.openxmlformats.org/officeDocument/2006/relationships/tags" Target="../tags/tag234.xml"/><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24" Type="http://schemas.openxmlformats.org/officeDocument/2006/relationships/tags" Target="../tags/tag238.xml"/><Relationship Id="rId5" Type="http://schemas.openxmlformats.org/officeDocument/2006/relationships/tags" Target="../tags/tag219.xml"/><Relationship Id="rId15" Type="http://schemas.openxmlformats.org/officeDocument/2006/relationships/tags" Target="../tags/tag229.xml"/><Relationship Id="rId23" Type="http://schemas.openxmlformats.org/officeDocument/2006/relationships/tags" Target="../tags/tag237.xml"/><Relationship Id="rId10" Type="http://schemas.openxmlformats.org/officeDocument/2006/relationships/tags" Target="../tags/tag224.xml"/><Relationship Id="rId19" Type="http://schemas.openxmlformats.org/officeDocument/2006/relationships/tags" Target="../tags/tag233.xml"/><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 Id="rId22" Type="http://schemas.openxmlformats.org/officeDocument/2006/relationships/tags" Target="../tags/tag236.xml"/><Relationship Id="rId27" Type="http://schemas.openxmlformats.org/officeDocument/2006/relationships/notesSlide" Target="../notesSlides/notesSlide4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3"/>
          <a:stretch>
            <a:fillRect/>
          </a:stretch>
        </p:blipFill>
        <p:spPr>
          <a:xfrm>
            <a:off x="6350" y="0"/>
            <a:ext cx="12192000" cy="6858000"/>
          </a:xfrm>
          <a:prstGeom prst="rect">
            <a:avLst/>
          </a:prstGeom>
        </p:spPr>
      </p:pic>
      <p:sp>
        <p:nvSpPr>
          <p:cNvPr id="24" name="TextBox 23"/>
          <p:cNvSpPr txBox="1"/>
          <p:nvPr/>
        </p:nvSpPr>
        <p:spPr>
          <a:xfrm>
            <a:off x="5159839" y="2286064"/>
            <a:ext cx="5692140" cy="829945"/>
          </a:xfrm>
          <a:prstGeom prst="rect">
            <a:avLst/>
          </a:prstGeom>
          <a:noFill/>
        </p:spPr>
        <p:txBody>
          <a:bodyPr wrap="none" lIns="91440" tIns="45720" rIns="91440" bIns="45720" rtlCol="0">
            <a:spAutoFit/>
          </a:bodyPr>
          <a:lstStyle/>
          <a:p>
            <a:pPr lvl="0" algn="l" defTabSz="1219200">
              <a:spcBef>
                <a:spcPts val="0"/>
              </a:spcBef>
              <a:spcAft>
                <a:spcPts val="0"/>
              </a:spcAft>
              <a:buClrTx/>
              <a:buSzTx/>
              <a:buFontTx/>
              <a:defRPr/>
            </a:pPr>
            <a:r>
              <a:rPr lang="zh-CN" altLang="en-US" sz="4800" b="1" dirty="0">
                <a:ln w="9525">
                  <a:solidFill>
                    <a:schemeClr val="bg1"/>
                  </a:solidFill>
                  <a:prstDash val="solid"/>
                </a:ln>
                <a:solidFill>
                  <a:srgbClr val="0071C1"/>
                </a:solidFill>
                <a:effectLst>
                  <a:outerShdw blurRad="12700" dist="38100" dir="2700000" algn="tl" rotWithShape="0">
                    <a:schemeClr val="bg1">
                      <a:lumMod val="50000"/>
                    </a:schemeClr>
                  </a:outerShdw>
                </a:effectLst>
                <a:latin typeface="方正大黑简体" panose="03000509000000000000" pitchFamily="2" charset="-122"/>
                <a:ea typeface="方正大黑简体" panose="03000509000000000000" pitchFamily="2" charset="-122"/>
                <a:sym typeface="+mn-ea"/>
              </a:rPr>
              <a:t>大数据分析语言基础</a:t>
            </a:r>
          </a:p>
        </p:txBody>
      </p:sp>
      <p:cxnSp>
        <p:nvCxnSpPr>
          <p:cNvPr id="25" name="直接连接符 24"/>
          <p:cNvCxnSpPr/>
          <p:nvPr/>
        </p:nvCxnSpPr>
        <p:spPr>
          <a:xfrm>
            <a:off x="5274517" y="3256648"/>
            <a:ext cx="6028912"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027933" y="4199919"/>
            <a:ext cx="4407611" cy="553994"/>
          </a:xfrm>
          <a:prstGeom prst="rect">
            <a:avLst/>
          </a:prstGeom>
          <a:noFill/>
        </p:spPr>
        <p:txBody>
          <a:bodyPr wrap="none" lIns="121917" tIns="60958" rIns="121917" bIns="60958" rtlCol="0">
            <a:spAutoFit/>
          </a:bodyPr>
          <a:lstStyle/>
          <a:p>
            <a:pPr algn="r"/>
            <a:r>
              <a:rPr lang="zh-CN" altLang="en-US" sz="2800" dirty="0">
                <a:solidFill>
                  <a:schemeClr val="tx1">
                    <a:lumMod val="75000"/>
                    <a:lumOff val="25000"/>
                  </a:schemeClr>
                </a:solidFill>
                <a:latin typeface="微软雅黑" panose="020B0503020204020204" pitchFamily="34" charset="-122"/>
                <a:ea typeface="微软雅黑" panose="020B0503020204020204" pitchFamily="34" charset="-122"/>
              </a:rPr>
              <a:t>安徽大学互联网</a:t>
            </a:r>
            <a:r>
              <a:rPr lang="zh-CN" altLang="en-US" sz="2800">
                <a:solidFill>
                  <a:schemeClr val="tx1">
                    <a:lumMod val="75000"/>
                    <a:lumOff val="25000"/>
                  </a:schemeClr>
                </a:solidFill>
                <a:latin typeface="微软雅黑" panose="020B0503020204020204" pitchFamily="34" charset="-122"/>
                <a:ea typeface="微软雅黑" panose="020B0503020204020204" pitchFamily="34" charset="-122"/>
              </a:rPr>
              <a:t>学院  景琨</a:t>
            </a:r>
            <a:endParaRPr lang="zh-CN" altLang="en-US" sz="2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4391230" y="2176595"/>
            <a:ext cx="132770" cy="1724700"/>
            <a:chOff x="995161" y="2391860"/>
            <a:chExt cx="135370" cy="1758474"/>
          </a:xfrm>
        </p:grpSpPr>
        <p:cxnSp>
          <p:nvCxnSpPr>
            <p:cNvPr id="10" name="直接连接符 9"/>
            <p:cNvCxnSpPr/>
            <p:nvPr/>
          </p:nvCxnSpPr>
          <p:spPr>
            <a:xfrm>
              <a:off x="1130530" y="2391860"/>
              <a:ext cx="0" cy="175847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 name="等腰三角形 11"/>
            <p:cNvSpPr/>
            <p:nvPr/>
          </p:nvSpPr>
          <p:spPr>
            <a:xfrm rot="16200000">
              <a:off x="984331" y="3203412"/>
              <a:ext cx="157029" cy="135370"/>
            </a:xfrm>
            <a:prstGeom prst="triangl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5005486" y="3317895"/>
            <a:ext cx="6430010" cy="521970"/>
          </a:xfrm>
          <a:prstGeom prst="rect">
            <a:avLst/>
          </a:prstGeom>
        </p:spPr>
        <p:txBody>
          <a:bodyPr wrap="none">
            <a:spAutoFit/>
          </a:bodyPr>
          <a:lstStyle/>
          <a:p>
            <a:pPr algn="just"/>
            <a:r>
              <a:rPr lang="en-US" altLang="zh-CN" sz="2800" kern="100" dirty="0">
                <a:ln>
                  <a:solidFill>
                    <a:schemeClr val="bg1"/>
                  </a:solidFill>
                </a:ln>
                <a:solidFill>
                  <a:schemeClr val="tx1">
                    <a:lumMod val="65000"/>
                    <a:lumOff val="35000"/>
                  </a:schemeClr>
                </a:solidFill>
                <a:effectLst/>
                <a:latin typeface="Impact" panose="020B0806030902050204" pitchFamily="34" charset="0"/>
                <a:ea typeface="方正综艺简体" panose="02010601030101010101" pitchFamily="2" charset="-122"/>
                <a:cs typeface="Impact" panose="020B0806030902050204" pitchFamily="34" charset="0"/>
              </a:rPr>
              <a:t>Language Preparation for Big Data Analysis</a:t>
            </a:r>
          </a:p>
        </p:txBody>
      </p:sp>
      <p:pic>
        <p:nvPicPr>
          <p:cNvPr id="5" name="图片 4"/>
          <p:cNvPicPr>
            <a:picLocks noChangeAspect="1"/>
          </p:cNvPicPr>
          <p:nvPr/>
        </p:nvPicPr>
        <p:blipFill>
          <a:blip r:embed="rId4"/>
          <a:srcRect r="-3290" b="2859"/>
          <a:stretch>
            <a:fillRect/>
          </a:stretch>
        </p:blipFill>
        <p:spPr>
          <a:xfrm>
            <a:off x="10753934" y="179274"/>
            <a:ext cx="1347024" cy="1266826"/>
          </a:xfrm>
          <a:prstGeom prst="rect">
            <a:avLst/>
          </a:prstGeom>
        </p:spPr>
      </p:pic>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4"/>
                                        </p:tgtEl>
                                        <p:attrNameLst>
                                          <p:attrName>style.visibility</p:attrName>
                                        </p:attrNameLst>
                                      </p:cBhvr>
                                      <p:to>
                                        <p:strVal val="visible"/>
                                      </p:to>
                                    </p:set>
                                    <p:anim calcmode="lin" valueType="num">
                                      <p:cBhvr>
                                        <p:cTn id="11" dur="5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4"/>
                                        </p:tgtEl>
                                        <p:attrNameLst>
                                          <p:attrName>ppt_y</p:attrName>
                                        </p:attrNameLst>
                                      </p:cBhvr>
                                      <p:tavLst>
                                        <p:tav tm="0">
                                          <p:val>
                                            <p:strVal val="#ppt_y"/>
                                          </p:val>
                                        </p:tav>
                                        <p:tav tm="100000">
                                          <p:val>
                                            <p:strVal val="#ppt_y"/>
                                          </p:val>
                                        </p:tav>
                                      </p:tavLst>
                                    </p:anim>
                                    <p:anim calcmode="lin" valueType="num">
                                      <p:cBhvr>
                                        <p:cTn id="13" dur="5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4"/>
                                        </p:tgtEl>
                                      </p:cBhvr>
                                    </p:animEffect>
                                  </p:childTnLst>
                                </p:cTn>
                              </p:par>
                            </p:childTnLst>
                          </p:cTn>
                        </p:par>
                        <p:par>
                          <p:cTn id="16" fill="hold">
                            <p:stCondLst>
                              <p:cond delay="1399"/>
                            </p:stCondLst>
                            <p:childTnLst>
                              <p:par>
                                <p:cTn id="17" presetID="22" presetClass="entr" presetSubtype="8"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childTnLst>
                          </p:cTn>
                        </p:par>
                        <p:par>
                          <p:cTn id="20" fill="hold">
                            <p:stCondLst>
                              <p:cond delay="1899"/>
                            </p:stCondLst>
                            <p:childTnLst>
                              <p:par>
                                <p:cTn id="21" presetID="3" presetClass="entr" presetSubtype="10"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par>
                          <p:cTn id="24" fill="hold">
                            <p:stCondLst>
                              <p:cond delay="2399"/>
                            </p:stCondLst>
                            <p:childTnLst>
                              <p:par>
                                <p:cTn id="25" presetID="22" presetClass="entr" presetSubtype="8"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002831" y="2870101"/>
            <a:ext cx="6696744" cy="768350"/>
          </a:xfrm>
          <a:prstGeom prst="rect">
            <a:avLst/>
          </a:prstGeom>
          <a:noFill/>
        </p:spPr>
        <p:txBody>
          <a:bodyPr wrap="square" rtlCol="0">
            <a:spAutoFit/>
          </a:bodyPr>
          <a:lstStyle/>
          <a:p>
            <a:r>
              <a:rPr lang="zh-CN" altLang="en-US" sz="4400" b="1" dirty="0">
                <a:solidFill>
                  <a:srgbClr val="0071C1"/>
                </a:solidFill>
                <a:latin typeface="微软雅黑" panose="020B0503020204020204" pitchFamily="34" charset="-122"/>
                <a:ea typeface="微软雅黑" panose="020B0503020204020204" pitchFamily="34" charset="-122"/>
              </a:rPr>
              <a:t>第</a:t>
            </a:r>
            <a:r>
              <a:rPr lang="en-US" altLang="zh-CN" sz="4400" b="1" dirty="0">
                <a:solidFill>
                  <a:srgbClr val="0071C1"/>
                </a:solidFill>
                <a:latin typeface="微软雅黑" panose="020B0503020204020204" pitchFamily="34" charset="-122"/>
                <a:ea typeface="微软雅黑" panose="020B0503020204020204" pitchFamily="34" charset="-122"/>
              </a:rPr>
              <a:t>3</a:t>
            </a:r>
            <a:r>
              <a:rPr lang="zh-CN" altLang="en-US" sz="4400" b="1" dirty="0">
                <a:solidFill>
                  <a:srgbClr val="0071C1"/>
                </a:solidFill>
                <a:latin typeface="微软雅黑" panose="020B0503020204020204" pitchFamily="34" charset="-122"/>
                <a:ea typeface="微软雅黑" panose="020B0503020204020204" pitchFamily="34" charset="-122"/>
              </a:rPr>
              <a:t>章  </a:t>
            </a:r>
            <a:r>
              <a:rPr lang="en-US" altLang="zh-CN" sz="4400" b="1" dirty="0">
                <a:solidFill>
                  <a:srgbClr val="0071C1"/>
                </a:solidFill>
                <a:latin typeface="微软雅黑" panose="020B0503020204020204" pitchFamily="34" charset="-122"/>
                <a:ea typeface="微软雅黑" panose="020B0503020204020204" pitchFamily="34" charset="-122"/>
              </a:rPr>
              <a:t>Python</a:t>
            </a:r>
            <a:r>
              <a:rPr lang="zh-CN" altLang="en-US" sz="4400" b="1" dirty="0">
                <a:solidFill>
                  <a:srgbClr val="0071C1"/>
                </a:solidFill>
                <a:latin typeface="微软雅黑" panose="020B0503020204020204" pitchFamily="34" charset="-122"/>
                <a:ea typeface="微软雅黑" panose="020B0503020204020204" pitchFamily="34" charset="-122"/>
              </a:rPr>
              <a:t>数据结构</a:t>
            </a:r>
          </a:p>
        </p:txBody>
      </p:sp>
    </p:spTree>
  </p:cSld>
  <p:clrMapOvr>
    <a:masterClrMapping/>
  </p:clrMapOvr>
  <p:transition spd="slow" advTm="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0" y="3810736"/>
            <a:ext cx="12198448" cy="3048588"/>
          </a:xfrm>
          <a:prstGeom prst="rect">
            <a:avLst/>
          </a:prstGeom>
          <a:pattFill prst="dkHorz">
            <a:fgClr>
              <a:srgbClr val="F2F2F2"/>
            </a:fgClr>
            <a:bgClr>
              <a:srgbClr val="FFFFFF"/>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p:cNvSpPr/>
          <p:nvPr>
            <p:custDataLst>
              <p:tags r:id="rId3"/>
            </p:custDataLst>
          </p:nvPr>
        </p:nvSpPr>
        <p:spPr>
          <a:xfrm>
            <a:off x="1677254" y="914251"/>
            <a:ext cx="8843875" cy="853503"/>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32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1"/>
          <p:cNvSpPr/>
          <p:nvPr>
            <p:custDataLst>
              <p:tags r:id="rId4"/>
            </p:custDataLst>
          </p:nvPr>
        </p:nvSpPr>
        <p:spPr>
          <a:xfrm>
            <a:off x="1677241" y="2194436"/>
            <a:ext cx="8843875" cy="3777441"/>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custDataLst>
              <p:tags r:id="rId5"/>
            </p:custDataLst>
          </p:nvPr>
        </p:nvSpPr>
        <p:spPr>
          <a:xfrm>
            <a:off x="1982200" y="1066680"/>
            <a:ext cx="8233950" cy="548639"/>
          </a:xfrm>
          <a:prstGeom prst="rect">
            <a:avLst/>
          </a:prstGeom>
          <a:noFill/>
        </p:spPr>
        <p:txBody>
          <a:bodyPr wrap="square" rtlCol="0" anchor="ctr">
            <a:noAutofit/>
          </a:bodyPr>
          <a:lstStyle/>
          <a:p>
            <a:pPr marL="0" indent="0" algn="ctr">
              <a:lnSpc>
                <a:spcPct val="100000"/>
              </a:lnSpc>
              <a:spcBef>
                <a:spcPts val="0"/>
              </a:spcBef>
              <a:spcAft>
                <a:spcPts val="0"/>
              </a:spcAft>
              <a:buSzPct val="100000"/>
              <a:buNone/>
            </a:pPr>
            <a:r>
              <a:rPr lang="zh-CN" altLang="en-US" sz="3600" b="1" spc="300" dirty="0">
                <a:solidFill>
                  <a:srgbClr val="0070C0"/>
                </a:solidFill>
                <a:latin typeface="微软雅黑" panose="020B0503020204020204" pitchFamily="34" charset="-122"/>
                <a:ea typeface="微软雅黑" panose="020B0503020204020204" pitchFamily="34" charset="-122"/>
              </a:rPr>
              <a:t>主要内容</a:t>
            </a:r>
          </a:p>
        </p:txBody>
      </p:sp>
      <p:sp>
        <p:nvSpPr>
          <p:cNvPr id="12" name="弧形 11"/>
          <p:cNvSpPr/>
          <p:nvPr>
            <p:custDataLst>
              <p:tags r:id="rId6"/>
            </p:custDataLst>
          </p:nvPr>
        </p:nvSpPr>
        <p:spPr>
          <a:xfrm>
            <a:off x="2322195"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13" name="文本框 80"/>
          <p:cNvSpPr txBox="1"/>
          <p:nvPr>
            <p:custDataLst>
              <p:tags r:id="rId7"/>
            </p:custDataLst>
          </p:nvPr>
        </p:nvSpPr>
        <p:spPr>
          <a:xfrm>
            <a:off x="204406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概述</a:t>
            </a:r>
          </a:p>
        </p:txBody>
      </p:sp>
      <p:sp>
        <p:nvSpPr>
          <p:cNvPr id="14" name="标题 5"/>
          <p:cNvSpPr>
            <a:spLocks noGrp="1"/>
          </p:cNvSpPr>
          <p:nvPr>
            <p:custDataLst>
              <p:tags r:id="rId8"/>
            </p:custDataLst>
          </p:nvPr>
        </p:nvSpPr>
        <p:spPr>
          <a:xfrm>
            <a:off x="243268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3.1</a:t>
            </a:r>
          </a:p>
        </p:txBody>
      </p:sp>
      <p:sp>
        <p:nvSpPr>
          <p:cNvPr id="15" name="菱形 14"/>
          <p:cNvSpPr/>
          <p:nvPr>
            <p:custDataLst>
              <p:tags r:id="rId9"/>
            </p:custDataLst>
          </p:nvPr>
        </p:nvSpPr>
        <p:spPr>
          <a:xfrm>
            <a:off x="2143760"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16" name="弧形 15"/>
          <p:cNvSpPr/>
          <p:nvPr>
            <p:custDataLst>
              <p:tags r:id="rId10"/>
            </p:custDataLst>
          </p:nvPr>
        </p:nvSpPr>
        <p:spPr>
          <a:xfrm>
            <a:off x="4001135"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1" name="文本框 80"/>
          <p:cNvSpPr txBox="1"/>
          <p:nvPr>
            <p:custDataLst>
              <p:tags r:id="rId11"/>
            </p:custDataLst>
          </p:nvPr>
        </p:nvSpPr>
        <p:spPr>
          <a:xfrm>
            <a:off x="3723640"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列表</a:t>
            </a:r>
          </a:p>
        </p:txBody>
      </p:sp>
      <p:sp>
        <p:nvSpPr>
          <p:cNvPr id="22" name="标题 5"/>
          <p:cNvSpPr>
            <a:spLocks noGrp="1"/>
          </p:cNvSpPr>
          <p:nvPr>
            <p:custDataLst>
              <p:tags r:id="rId12"/>
            </p:custDataLst>
          </p:nvPr>
        </p:nvSpPr>
        <p:spPr>
          <a:xfrm>
            <a:off x="411226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3.2</a:t>
            </a:r>
          </a:p>
        </p:txBody>
      </p:sp>
      <p:sp>
        <p:nvSpPr>
          <p:cNvPr id="23" name="菱形 22"/>
          <p:cNvSpPr/>
          <p:nvPr>
            <p:custDataLst>
              <p:tags r:id="rId13"/>
            </p:custDataLst>
          </p:nvPr>
        </p:nvSpPr>
        <p:spPr>
          <a:xfrm>
            <a:off x="3822700"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24" name="弧形 23"/>
          <p:cNvSpPr/>
          <p:nvPr>
            <p:custDataLst>
              <p:tags r:id="rId14"/>
            </p:custDataLst>
          </p:nvPr>
        </p:nvSpPr>
        <p:spPr>
          <a:xfrm>
            <a:off x="5680710"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5" name="文本框 80"/>
          <p:cNvSpPr txBox="1"/>
          <p:nvPr>
            <p:custDataLst>
              <p:tags r:id="rId15"/>
            </p:custDataLst>
          </p:nvPr>
        </p:nvSpPr>
        <p:spPr>
          <a:xfrm>
            <a:off x="5402580"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元组</a:t>
            </a:r>
          </a:p>
        </p:txBody>
      </p:sp>
      <p:sp>
        <p:nvSpPr>
          <p:cNvPr id="26" name="标题 5"/>
          <p:cNvSpPr>
            <a:spLocks noGrp="1"/>
          </p:cNvSpPr>
          <p:nvPr>
            <p:custDataLst>
              <p:tags r:id="rId16"/>
            </p:custDataLst>
          </p:nvPr>
        </p:nvSpPr>
        <p:spPr>
          <a:xfrm>
            <a:off x="579120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3.3</a:t>
            </a:r>
          </a:p>
        </p:txBody>
      </p:sp>
      <p:sp>
        <p:nvSpPr>
          <p:cNvPr id="27" name="菱形 26"/>
          <p:cNvSpPr/>
          <p:nvPr>
            <p:custDataLst>
              <p:tags r:id="rId17"/>
            </p:custDataLst>
          </p:nvPr>
        </p:nvSpPr>
        <p:spPr>
          <a:xfrm>
            <a:off x="5502275"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28" name="弧形 27"/>
          <p:cNvSpPr/>
          <p:nvPr>
            <p:custDataLst>
              <p:tags r:id="rId18"/>
            </p:custDataLst>
          </p:nvPr>
        </p:nvSpPr>
        <p:spPr>
          <a:xfrm>
            <a:off x="7359650"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9" name="文本框 80"/>
          <p:cNvSpPr txBox="1"/>
          <p:nvPr>
            <p:custDataLst>
              <p:tags r:id="rId19"/>
            </p:custDataLst>
          </p:nvPr>
        </p:nvSpPr>
        <p:spPr>
          <a:xfrm>
            <a:off x="708215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字典</a:t>
            </a:r>
          </a:p>
        </p:txBody>
      </p:sp>
      <p:sp>
        <p:nvSpPr>
          <p:cNvPr id="30" name="标题 5"/>
          <p:cNvSpPr>
            <a:spLocks noGrp="1"/>
          </p:cNvSpPr>
          <p:nvPr>
            <p:custDataLst>
              <p:tags r:id="rId20"/>
            </p:custDataLst>
          </p:nvPr>
        </p:nvSpPr>
        <p:spPr>
          <a:xfrm>
            <a:off x="747077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3.4</a:t>
            </a:r>
          </a:p>
        </p:txBody>
      </p:sp>
      <p:sp>
        <p:nvSpPr>
          <p:cNvPr id="31" name="菱形 30"/>
          <p:cNvSpPr/>
          <p:nvPr>
            <p:custDataLst>
              <p:tags r:id="rId21"/>
            </p:custDataLst>
          </p:nvPr>
        </p:nvSpPr>
        <p:spPr>
          <a:xfrm>
            <a:off x="7181215"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4" name="弧形 3"/>
          <p:cNvSpPr/>
          <p:nvPr>
            <p:custDataLst>
              <p:tags r:id="rId22"/>
            </p:custDataLst>
          </p:nvPr>
        </p:nvSpPr>
        <p:spPr>
          <a:xfrm>
            <a:off x="8997950" y="251207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5" name="文本框 80"/>
          <p:cNvSpPr txBox="1"/>
          <p:nvPr>
            <p:custDataLst>
              <p:tags r:id="rId23"/>
            </p:custDataLst>
          </p:nvPr>
        </p:nvSpPr>
        <p:spPr>
          <a:xfrm>
            <a:off x="8720455" y="334646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集合</a:t>
            </a:r>
          </a:p>
        </p:txBody>
      </p:sp>
      <p:sp>
        <p:nvSpPr>
          <p:cNvPr id="7" name="标题 5"/>
          <p:cNvSpPr>
            <a:spLocks noGrp="1"/>
          </p:cNvSpPr>
          <p:nvPr>
            <p:custDataLst>
              <p:tags r:id="rId24"/>
            </p:custDataLst>
          </p:nvPr>
        </p:nvSpPr>
        <p:spPr>
          <a:xfrm>
            <a:off x="9109075" y="260732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3.5</a:t>
            </a:r>
          </a:p>
        </p:txBody>
      </p:sp>
      <p:sp>
        <p:nvSpPr>
          <p:cNvPr id="8" name="菱形 7"/>
          <p:cNvSpPr/>
          <p:nvPr>
            <p:custDataLst>
              <p:tags r:id="rId25"/>
            </p:custDataLst>
          </p:nvPr>
        </p:nvSpPr>
        <p:spPr>
          <a:xfrm>
            <a:off x="8819515" y="270320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Tm="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438150" y="1764665"/>
            <a:ext cx="1612900" cy="521970"/>
          </a:xfrm>
          <a:prstGeom prst="rect">
            <a:avLst/>
          </a:prstGeom>
          <a:noFill/>
          <a:ln>
            <a:noFill/>
          </a:ln>
        </p:spPr>
        <p:txBody>
          <a:bodyPr wrap="none" rtlCol="0" anchor="t">
            <a:spAutoFit/>
          </a:bodyPr>
          <a:lstStyle/>
          <a:p>
            <a:pPr algn="ctr"/>
            <a:r>
              <a:rPr lang="zh-CN" altLang="en-US" sz="2800" b="1">
                <a:solidFill>
                  <a:srgbClr val="FF0000"/>
                </a:solidFill>
                <a:effectLst>
                  <a:outerShdw blurRad="38100" dist="25400" dir="5400000" algn="ctr" rotWithShape="0">
                    <a:srgbClr val="6E747A">
                      <a:alpha val="43000"/>
                    </a:srgbClr>
                  </a:outerShdw>
                </a:effectLst>
                <a:latin typeface="方正大黑简体" panose="03000509000000000000" pitchFamily="2" charset="-122"/>
                <a:ea typeface="方正大黑简体" panose="03000509000000000000" pitchFamily="2" charset="-122"/>
              </a:rPr>
              <a:t>教学目标</a:t>
            </a:r>
          </a:p>
        </p:txBody>
      </p:sp>
      <p:sp>
        <p:nvSpPr>
          <p:cNvPr id="27" name="文本框 26"/>
          <p:cNvSpPr txBox="1"/>
          <p:nvPr/>
        </p:nvSpPr>
        <p:spPr>
          <a:xfrm>
            <a:off x="2050415" y="1594137"/>
            <a:ext cx="9642475" cy="1383665"/>
          </a:xfrm>
          <a:prstGeom prst="rect">
            <a:avLst/>
          </a:prstGeom>
          <a:noFill/>
        </p:spPr>
        <p:txBody>
          <a:bodyPr wrap="square" rtlCol="0" anchor="t">
            <a:spAutoFit/>
          </a:bodyPr>
          <a:lstStyle/>
          <a:p>
            <a:pPr algn="just" fontAlgn="auto">
              <a:lnSpc>
                <a:spcPct val="150000"/>
              </a:lnSpc>
            </a:pPr>
            <a:r>
              <a:rPr lang="en-US" altLang="zh-CN" sz="2800" b="1" dirty="0">
                <a:latin typeface="楷体" panose="02010609060101010101" pitchFamily="49" charset="-122"/>
                <a:ea typeface="楷体" panose="02010609060101010101" pitchFamily="49" charset="-122"/>
                <a:cs typeface="楷体" panose="02010609060101010101" pitchFamily="49" charset="-122"/>
              </a:rPr>
              <a:t>    </a:t>
            </a:r>
            <a:r>
              <a:rPr lang="zh-CN" altLang="en-US" sz="2800" b="1" dirty="0">
                <a:latin typeface="楷体" panose="02010609060101010101" pitchFamily="49" charset="-122"/>
                <a:ea typeface="楷体" panose="02010609060101010101" pitchFamily="49" charset="-122"/>
                <a:cs typeface="楷体" panose="02010609060101010101" pitchFamily="49" charset="-122"/>
              </a:rPr>
              <a:t>熟练掌握</a:t>
            </a:r>
            <a:r>
              <a:rPr lang="en-US" altLang="zh-CN" sz="2800" b="1" dirty="0">
                <a:latin typeface="楷体" panose="02010609060101010101" pitchFamily="49" charset="-122"/>
                <a:ea typeface="楷体" panose="02010609060101010101" pitchFamily="49" charset="-122"/>
                <a:cs typeface="楷体" panose="02010609060101010101" pitchFamily="49" charset="-122"/>
              </a:rPr>
              <a:t>Python</a:t>
            </a:r>
            <a:r>
              <a:rPr lang="zh-CN" altLang="en-US" sz="2800" b="1" dirty="0">
                <a:latin typeface="楷体" panose="02010609060101010101" pitchFamily="49" charset="-122"/>
                <a:ea typeface="楷体" panose="02010609060101010101" pitchFamily="49" charset="-122"/>
                <a:cs typeface="楷体" panose="02010609060101010101" pitchFamily="49" charset="-122"/>
              </a:rPr>
              <a:t>的重要数据结构，包括列表、元组、字典以及集合的用法等。</a:t>
            </a:r>
          </a:p>
        </p:txBody>
      </p:sp>
      <p:sp>
        <p:nvSpPr>
          <p:cNvPr id="30" name="矩形 29"/>
          <p:cNvSpPr/>
          <p:nvPr/>
        </p:nvSpPr>
        <p:spPr>
          <a:xfrm>
            <a:off x="437515" y="4304665"/>
            <a:ext cx="1612900" cy="521970"/>
          </a:xfrm>
          <a:prstGeom prst="rect">
            <a:avLst/>
          </a:prstGeom>
          <a:noFill/>
          <a:ln>
            <a:noFill/>
          </a:ln>
        </p:spPr>
        <p:txBody>
          <a:bodyPr wrap="none" rtlCol="0" anchor="t">
            <a:spAutoFit/>
          </a:bodyPr>
          <a:lstStyle/>
          <a:p>
            <a:pPr algn="ctr"/>
            <a:r>
              <a:rPr lang="zh-CN" altLang="en-US" sz="2800" b="1">
                <a:solidFill>
                  <a:srgbClr val="FF0000"/>
                </a:solidFill>
                <a:effectLst>
                  <a:outerShdw blurRad="38100" dist="25400" dir="5400000" algn="ctr" rotWithShape="0">
                    <a:srgbClr val="6E747A">
                      <a:alpha val="43000"/>
                    </a:srgbClr>
                  </a:outerShdw>
                </a:effectLst>
                <a:latin typeface="方正大黑简体" panose="03000509000000000000" pitchFamily="2" charset="-122"/>
                <a:ea typeface="方正大黑简体" panose="03000509000000000000" pitchFamily="2" charset="-122"/>
              </a:rPr>
              <a:t>教学学时</a:t>
            </a:r>
          </a:p>
        </p:txBody>
      </p:sp>
      <p:sp>
        <p:nvSpPr>
          <p:cNvPr id="31" name="文本框 30"/>
          <p:cNvSpPr txBox="1"/>
          <p:nvPr/>
        </p:nvSpPr>
        <p:spPr>
          <a:xfrm>
            <a:off x="2199005" y="4125595"/>
            <a:ext cx="8013700" cy="637675"/>
          </a:xfrm>
          <a:prstGeom prst="rect">
            <a:avLst/>
          </a:prstGeom>
          <a:noFill/>
        </p:spPr>
        <p:txBody>
          <a:bodyPr wrap="square" rtlCol="0" anchor="t">
            <a:spAutoFit/>
          </a:bodyPr>
          <a:lstStyle/>
          <a:p>
            <a:pPr algn="just" fontAlgn="auto">
              <a:lnSpc>
                <a:spcPct val="150000"/>
              </a:lnSpc>
            </a:pPr>
            <a:r>
              <a:rPr lang="en-US" altLang="zh-CN" sz="2800" b="1">
                <a:latin typeface="楷体" panose="02010609060101010101" pitchFamily="49" charset="-122"/>
                <a:ea typeface="楷体" panose="02010609060101010101" pitchFamily="49" charset="-122"/>
                <a:cs typeface="楷体" panose="02010609060101010101" pitchFamily="49" charset="-122"/>
              </a:rPr>
              <a:t>    6</a:t>
            </a:r>
            <a:r>
              <a:rPr lang="zh-CN" altLang="en-US" sz="2800" b="1">
                <a:latin typeface="楷体" panose="02010609060101010101" pitchFamily="49" charset="-122"/>
                <a:ea typeface="楷体" panose="02010609060101010101" pitchFamily="49" charset="-122"/>
                <a:cs typeface="楷体" panose="02010609060101010101" pitchFamily="49" charset="-122"/>
              </a:rPr>
              <a:t>学时</a:t>
            </a:r>
            <a:r>
              <a:rPr lang="zh-CN" altLang="en-US" sz="2800" b="1" dirty="0">
                <a:latin typeface="楷体" panose="02010609060101010101" pitchFamily="49" charset="-122"/>
                <a:ea typeface="楷体" panose="02010609060101010101" pitchFamily="49" charset="-122"/>
                <a:cs typeface="楷体" panose="02010609060101010101" pitchFamily="49" charset="-122"/>
              </a:rPr>
              <a:t>（</a:t>
            </a:r>
            <a:r>
              <a:rPr lang="en-US" altLang="zh-CN" sz="2800" b="1" dirty="0">
                <a:latin typeface="楷体" panose="02010609060101010101" pitchFamily="49" charset="-122"/>
                <a:ea typeface="楷体" panose="02010609060101010101" pitchFamily="49" charset="-122"/>
                <a:cs typeface="楷体" panose="02010609060101010101" pitchFamily="49" charset="-122"/>
              </a:rPr>
              <a:t>4</a:t>
            </a:r>
            <a:r>
              <a:rPr lang="zh-CN" altLang="en-US" sz="2800" b="1" dirty="0">
                <a:latin typeface="楷体" panose="02010609060101010101" pitchFamily="49" charset="-122"/>
                <a:ea typeface="楷体" panose="02010609060101010101" pitchFamily="49" charset="-122"/>
                <a:cs typeface="楷体" panose="02010609060101010101" pitchFamily="49" charset="-122"/>
              </a:rPr>
              <a:t>理论讲解</a:t>
            </a:r>
            <a:r>
              <a:rPr lang="en-US" altLang="zh-CN" sz="2800" b="1" dirty="0">
                <a:latin typeface="楷体" panose="02010609060101010101" pitchFamily="49" charset="-122"/>
                <a:ea typeface="楷体" panose="02010609060101010101" pitchFamily="49" charset="-122"/>
                <a:cs typeface="楷体" panose="02010609060101010101" pitchFamily="49" charset="-122"/>
              </a:rPr>
              <a:t>+2</a:t>
            </a:r>
            <a:r>
              <a:rPr lang="zh-CN" altLang="en-US" sz="2800" b="1" dirty="0">
                <a:latin typeface="楷体" panose="02010609060101010101" pitchFamily="49" charset="-122"/>
                <a:ea typeface="楷体" panose="02010609060101010101" pitchFamily="49" charset="-122"/>
                <a:cs typeface="楷体" panose="02010609060101010101" pitchFamily="49" charset="-122"/>
              </a:rPr>
              <a:t>上机实践）</a:t>
            </a:r>
          </a:p>
        </p:txBody>
      </p:sp>
    </p:spTree>
  </p:cSld>
  <p:clrMapOvr>
    <a:masterClrMapping/>
  </p:clrMapOvr>
  <p:transition spd="med" advTm="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0" y="3810736"/>
            <a:ext cx="12198448" cy="3048588"/>
          </a:xfrm>
          <a:prstGeom prst="rect">
            <a:avLst/>
          </a:prstGeom>
          <a:pattFill prst="dkHorz">
            <a:fgClr>
              <a:srgbClr val="F2F2F2"/>
            </a:fgClr>
            <a:bgClr>
              <a:srgbClr val="FFFFFF"/>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p:cNvSpPr/>
          <p:nvPr>
            <p:custDataLst>
              <p:tags r:id="rId3"/>
            </p:custDataLst>
          </p:nvPr>
        </p:nvSpPr>
        <p:spPr>
          <a:xfrm>
            <a:off x="1677254" y="914251"/>
            <a:ext cx="8843875" cy="853503"/>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8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1"/>
          <p:cNvSpPr/>
          <p:nvPr>
            <p:custDataLst>
              <p:tags r:id="rId4"/>
            </p:custDataLst>
          </p:nvPr>
        </p:nvSpPr>
        <p:spPr>
          <a:xfrm>
            <a:off x="1677241" y="2194436"/>
            <a:ext cx="8843875" cy="3777441"/>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custDataLst>
              <p:tags r:id="rId5"/>
            </p:custDataLst>
          </p:nvPr>
        </p:nvSpPr>
        <p:spPr>
          <a:xfrm>
            <a:off x="1982200" y="1066680"/>
            <a:ext cx="8233950" cy="548639"/>
          </a:xfrm>
          <a:prstGeom prst="rect">
            <a:avLst/>
          </a:prstGeom>
          <a:noFill/>
        </p:spPr>
        <p:txBody>
          <a:bodyPr wrap="square" rtlCol="0" anchor="ctr">
            <a:noAutofit/>
          </a:bodyPr>
          <a:lstStyle/>
          <a:p>
            <a:pPr marL="0" indent="0" algn="ctr">
              <a:lnSpc>
                <a:spcPct val="100000"/>
              </a:lnSpc>
              <a:spcBef>
                <a:spcPts val="0"/>
              </a:spcBef>
              <a:spcAft>
                <a:spcPts val="0"/>
              </a:spcAft>
              <a:buSzPct val="100000"/>
              <a:buNone/>
            </a:pPr>
            <a:r>
              <a:rPr lang="zh-CN" altLang="en-US" sz="3600" b="1" spc="300" dirty="0">
                <a:solidFill>
                  <a:srgbClr val="0070C0"/>
                </a:solidFill>
                <a:latin typeface="微软雅黑" panose="020B0503020204020204" pitchFamily="34" charset="-122"/>
                <a:ea typeface="微软雅黑" panose="020B0503020204020204" pitchFamily="34" charset="-122"/>
              </a:rPr>
              <a:t>主要内容</a:t>
            </a:r>
          </a:p>
        </p:txBody>
      </p:sp>
      <p:sp>
        <p:nvSpPr>
          <p:cNvPr id="12" name="弧形 11"/>
          <p:cNvSpPr/>
          <p:nvPr>
            <p:custDataLst>
              <p:tags r:id="rId6"/>
            </p:custDataLst>
          </p:nvPr>
        </p:nvSpPr>
        <p:spPr>
          <a:xfrm>
            <a:off x="2322195" y="2520962"/>
            <a:ext cx="727075" cy="716915"/>
          </a:xfrm>
          <a:prstGeom prst="arc">
            <a:avLst>
              <a:gd name="adj1" fmla="val 11619054"/>
              <a:gd name="adj2" fmla="val 10295063"/>
            </a:avLst>
          </a:prstGeom>
          <a:ln w="190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13" name="文本框 80"/>
          <p:cNvSpPr txBox="1"/>
          <p:nvPr>
            <p:custDataLst>
              <p:tags r:id="rId7"/>
            </p:custDataLst>
          </p:nvPr>
        </p:nvSpPr>
        <p:spPr>
          <a:xfrm>
            <a:off x="204406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FF0000"/>
                </a:solidFill>
                <a:latin typeface="微软雅黑" panose="020B0503020204020204" pitchFamily="34" charset="-122"/>
                <a:ea typeface="微软雅黑" panose="020B0503020204020204" pitchFamily="34" charset="-122"/>
              </a:rPr>
              <a:t>概述</a:t>
            </a:r>
          </a:p>
        </p:txBody>
      </p:sp>
      <p:sp>
        <p:nvSpPr>
          <p:cNvPr id="14" name="标题 5"/>
          <p:cNvSpPr>
            <a:spLocks noGrp="1"/>
          </p:cNvSpPr>
          <p:nvPr>
            <p:custDataLst>
              <p:tags r:id="rId8"/>
            </p:custDataLst>
          </p:nvPr>
        </p:nvSpPr>
        <p:spPr>
          <a:xfrm>
            <a:off x="243268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FF0000"/>
                </a:solidFill>
                <a:latin typeface="微软雅黑" panose="020B0503020204020204" pitchFamily="34" charset="-122"/>
              </a:rPr>
              <a:t>3.1</a:t>
            </a:r>
          </a:p>
        </p:txBody>
      </p:sp>
      <p:sp>
        <p:nvSpPr>
          <p:cNvPr id="15" name="菱形 14"/>
          <p:cNvSpPr/>
          <p:nvPr>
            <p:custDataLst>
              <p:tags r:id="rId9"/>
            </p:custDataLst>
          </p:nvPr>
        </p:nvSpPr>
        <p:spPr>
          <a:xfrm>
            <a:off x="2143760" y="2712097"/>
            <a:ext cx="301625" cy="301625"/>
          </a:xfrm>
          <a:prstGeom prst="diamond">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
        <p:nvSpPr>
          <p:cNvPr id="16" name="弧形 15"/>
          <p:cNvSpPr/>
          <p:nvPr>
            <p:custDataLst>
              <p:tags r:id="rId10"/>
            </p:custDataLst>
          </p:nvPr>
        </p:nvSpPr>
        <p:spPr>
          <a:xfrm>
            <a:off x="4001135"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1" name="文本框 80"/>
          <p:cNvSpPr txBox="1"/>
          <p:nvPr>
            <p:custDataLst>
              <p:tags r:id="rId11"/>
            </p:custDataLst>
          </p:nvPr>
        </p:nvSpPr>
        <p:spPr>
          <a:xfrm>
            <a:off x="3723640"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列表</a:t>
            </a:r>
          </a:p>
        </p:txBody>
      </p:sp>
      <p:sp>
        <p:nvSpPr>
          <p:cNvPr id="22" name="标题 5"/>
          <p:cNvSpPr>
            <a:spLocks noGrp="1"/>
          </p:cNvSpPr>
          <p:nvPr>
            <p:custDataLst>
              <p:tags r:id="rId12"/>
            </p:custDataLst>
          </p:nvPr>
        </p:nvSpPr>
        <p:spPr>
          <a:xfrm>
            <a:off x="411226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3.2</a:t>
            </a:r>
          </a:p>
        </p:txBody>
      </p:sp>
      <p:sp>
        <p:nvSpPr>
          <p:cNvPr id="23" name="菱形 22"/>
          <p:cNvSpPr/>
          <p:nvPr>
            <p:custDataLst>
              <p:tags r:id="rId13"/>
            </p:custDataLst>
          </p:nvPr>
        </p:nvSpPr>
        <p:spPr>
          <a:xfrm>
            <a:off x="3822700"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
        <p:nvSpPr>
          <p:cNvPr id="24" name="弧形 23"/>
          <p:cNvSpPr/>
          <p:nvPr>
            <p:custDataLst>
              <p:tags r:id="rId14"/>
            </p:custDataLst>
          </p:nvPr>
        </p:nvSpPr>
        <p:spPr>
          <a:xfrm>
            <a:off x="5680710"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5" name="文本框 80"/>
          <p:cNvSpPr txBox="1"/>
          <p:nvPr>
            <p:custDataLst>
              <p:tags r:id="rId15"/>
            </p:custDataLst>
          </p:nvPr>
        </p:nvSpPr>
        <p:spPr>
          <a:xfrm>
            <a:off x="5402580"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元组</a:t>
            </a:r>
          </a:p>
        </p:txBody>
      </p:sp>
      <p:sp>
        <p:nvSpPr>
          <p:cNvPr id="26" name="标题 5"/>
          <p:cNvSpPr>
            <a:spLocks noGrp="1"/>
          </p:cNvSpPr>
          <p:nvPr>
            <p:custDataLst>
              <p:tags r:id="rId16"/>
            </p:custDataLst>
          </p:nvPr>
        </p:nvSpPr>
        <p:spPr>
          <a:xfrm>
            <a:off x="579120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3.3</a:t>
            </a:r>
          </a:p>
        </p:txBody>
      </p:sp>
      <p:sp>
        <p:nvSpPr>
          <p:cNvPr id="27" name="菱形 26"/>
          <p:cNvSpPr/>
          <p:nvPr>
            <p:custDataLst>
              <p:tags r:id="rId17"/>
            </p:custDataLst>
          </p:nvPr>
        </p:nvSpPr>
        <p:spPr>
          <a:xfrm>
            <a:off x="5502275"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
        <p:nvSpPr>
          <p:cNvPr id="28" name="弧形 27"/>
          <p:cNvSpPr/>
          <p:nvPr>
            <p:custDataLst>
              <p:tags r:id="rId18"/>
            </p:custDataLst>
          </p:nvPr>
        </p:nvSpPr>
        <p:spPr>
          <a:xfrm>
            <a:off x="7359650"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9" name="文本框 80"/>
          <p:cNvSpPr txBox="1"/>
          <p:nvPr>
            <p:custDataLst>
              <p:tags r:id="rId19"/>
            </p:custDataLst>
          </p:nvPr>
        </p:nvSpPr>
        <p:spPr>
          <a:xfrm>
            <a:off x="708215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字典</a:t>
            </a:r>
          </a:p>
        </p:txBody>
      </p:sp>
      <p:sp>
        <p:nvSpPr>
          <p:cNvPr id="30" name="标题 5"/>
          <p:cNvSpPr>
            <a:spLocks noGrp="1"/>
          </p:cNvSpPr>
          <p:nvPr>
            <p:custDataLst>
              <p:tags r:id="rId20"/>
            </p:custDataLst>
          </p:nvPr>
        </p:nvSpPr>
        <p:spPr>
          <a:xfrm>
            <a:off x="747077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3.4</a:t>
            </a:r>
          </a:p>
        </p:txBody>
      </p:sp>
      <p:sp>
        <p:nvSpPr>
          <p:cNvPr id="31" name="菱形 30"/>
          <p:cNvSpPr/>
          <p:nvPr>
            <p:custDataLst>
              <p:tags r:id="rId21"/>
            </p:custDataLst>
          </p:nvPr>
        </p:nvSpPr>
        <p:spPr>
          <a:xfrm>
            <a:off x="7181215"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
        <p:nvSpPr>
          <p:cNvPr id="4" name="弧形 3"/>
          <p:cNvSpPr/>
          <p:nvPr>
            <p:custDataLst>
              <p:tags r:id="rId22"/>
            </p:custDataLst>
          </p:nvPr>
        </p:nvSpPr>
        <p:spPr>
          <a:xfrm>
            <a:off x="8997950" y="251207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5" name="文本框 80"/>
          <p:cNvSpPr txBox="1"/>
          <p:nvPr>
            <p:custDataLst>
              <p:tags r:id="rId23"/>
            </p:custDataLst>
          </p:nvPr>
        </p:nvSpPr>
        <p:spPr>
          <a:xfrm>
            <a:off x="8720455" y="334646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集合</a:t>
            </a:r>
          </a:p>
        </p:txBody>
      </p:sp>
      <p:sp>
        <p:nvSpPr>
          <p:cNvPr id="7" name="标题 5"/>
          <p:cNvSpPr>
            <a:spLocks noGrp="1"/>
          </p:cNvSpPr>
          <p:nvPr>
            <p:custDataLst>
              <p:tags r:id="rId24"/>
            </p:custDataLst>
          </p:nvPr>
        </p:nvSpPr>
        <p:spPr>
          <a:xfrm>
            <a:off x="9109075" y="260732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3.5</a:t>
            </a:r>
          </a:p>
        </p:txBody>
      </p:sp>
      <p:sp>
        <p:nvSpPr>
          <p:cNvPr id="8" name="菱形 7"/>
          <p:cNvSpPr/>
          <p:nvPr>
            <p:custDataLst>
              <p:tags r:id="rId25"/>
            </p:custDataLst>
          </p:nvPr>
        </p:nvSpPr>
        <p:spPr>
          <a:xfrm>
            <a:off x="8819515" y="270320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Tm="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125710" y="116205"/>
            <a:ext cx="1987550" cy="603885"/>
          </a:xfrm>
        </p:spPr>
        <p:txBody>
          <a:bodyPr vert="horz" wrap="square" lIns="91456" tIns="45728" rIns="91456" bIns="45728" numCol="1" anchor="b" anchorCtr="0" compatLnSpc="1"/>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j-cs"/>
              </a:rPr>
              <a:t>3.1 概述</a:t>
            </a:r>
          </a:p>
        </p:txBody>
      </p:sp>
      <p:sp>
        <p:nvSpPr>
          <p:cNvPr id="5123" name="内容占位符 2"/>
          <p:cNvSpPr>
            <a:spLocks noGrp="1"/>
          </p:cNvSpPr>
          <p:nvPr>
            <p:ph idx="1"/>
          </p:nvPr>
        </p:nvSpPr>
        <p:spPr>
          <a:xfrm>
            <a:off x="367030" y="1417955"/>
            <a:ext cx="11122025" cy="4004310"/>
          </a:xfrm>
        </p:spPr>
        <p:txBody>
          <a:bodyPr vert="horz" wrap="square" lIns="91456" tIns="45728" rIns="91456" bIns="45728" anchor="t"/>
          <a:lstStyle/>
          <a:p>
            <a:pPr algn="just" fontAlgn="auto">
              <a:lnSpc>
                <a:spcPct val="150000"/>
              </a:lnSpc>
              <a:spcBef>
                <a:spcPts val="0"/>
              </a:spcBef>
            </a:pPr>
            <a:r>
              <a:rPr lang="en-US" altLang="zh-CN" sz="28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28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秉承方便程序员的理念，提供了几个功能强大而高效的序列结构：</a:t>
            </a:r>
            <a:r>
              <a:rPr lang="zh-CN" altLang="en-US" sz="280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rPr>
              <a:t>列表、</a:t>
            </a:r>
            <a:r>
              <a:rPr lang="zh-CN" altLang="en-US" sz="280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元组、</a:t>
            </a:r>
            <a:r>
              <a:rPr lang="zh-CN" altLang="en-US" sz="280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rPr>
              <a:t>字典、集合</a:t>
            </a:r>
            <a:r>
              <a:rPr lang="zh-CN" altLang="en-US" sz="28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。程序员可以根据需要组合使用它们，以创建更复杂的数据结构。</a:t>
            </a:r>
            <a:endParaRPr lang="en-US" altLang="zh-CN" sz="28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endParaRPr>
          </a:p>
          <a:p>
            <a:pPr algn="just" fontAlgn="auto">
              <a:lnSpc>
                <a:spcPct val="150000"/>
              </a:lnSpc>
              <a:spcBef>
                <a:spcPts val="0"/>
              </a:spcBef>
            </a:pPr>
            <a:r>
              <a:rPr lang="zh-CN" altLang="en-US" sz="28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28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28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中，两个主力数据结构是</a:t>
            </a:r>
            <a:r>
              <a:rPr lang="zh-CN" altLang="en-US" sz="280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rPr>
              <a:t>列表</a:t>
            </a:r>
            <a:r>
              <a:rPr lang="zh-CN" altLang="en-US" sz="28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和</a:t>
            </a:r>
            <a:r>
              <a:rPr lang="zh-CN" altLang="en-US" sz="280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rPr>
              <a:t>字典</a:t>
            </a:r>
            <a:r>
              <a:rPr lang="zh-CN" altLang="en-US" sz="28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。列表按</a:t>
            </a:r>
            <a:r>
              <a:rPr lang="zh-CN" altLang="en-US" sz="280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rPr>
              <a:t>顺序存储数据</a:t>
            </a:r>
            <a:r>
              <a:rPr lang="zh-CN" altLang="en-US" sz="28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，而字典就像小型数据库，使用</a:t>
            </a:r>
            <a:r>
              <a:rPr lang="zh-CN" altLang="en-US" sz="280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rPr>
              <a:t>键</a:t>
            </a:r>
            <a:r>
              <a:rPr lang="zh-CN" altLang="en-US" sz="2800"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rPr>
              <a:t>高效地存储和检索数据。</a:t>
            </a:r>
          </a:p>
        </p:txBody>
      </p:sp>
      <p:sp>
        <p:nvSpPr>
          <p:cNvPr id="5125" name="灯片编号占位符 4"/>
          <p:cNvSpPr txBox="1">
            <a:spLocks noGrp="1"/>
          </p:cNvSpPr>
          <p:nvPr>
            <p:ph type="sldNum" sz="quarter" idx="12"/>
          </p:nvPr>
        </p:nvSpPr>
        <p:spPr>
          <a:xfrm>
            <a:off x="8080742" y="6244794"/>
            <a:ext cx="2133995" cy="457285"/>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400" dirty="0"/>
              <a:t>6</a:t>
            </a:fld>
            <a:endParaRPr lang="en-US" altLang="zh-CN" sz="1400" dirty="0"/>
          </a:p>
        </p:txBody>
      </p:sp>
    </p:spTree>
  </p:cSld>
  <p:clrMapOvr>
    <a:masterClrMapping/>
  </p:clrMapOvr>
  <p:transition spd="slow" advTm="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10125710" y="116205"/>
            <a:ext cx="1987550" cy="60388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j-cs"/>
              </a:rPr>
              <a:t>3.1 概述</a:t>
            </a:r>
          </a:p>
        </p:txBody>
      </p:sp>
      <p:sp>
        <p:nvSpPr>
          <p:cNvPr id="8" name="文本框 7"/>
          <p:cNvSpPr txBox="1"/>
          <p:nvPr/>
        </p:nvSpPr>
        <p:spPr>
          <a:xfrm>
            <a:off x="875030" y="948055"/>
            <a:ext cx="7193280" cy="583565"/>
          </a:xfrm>
          <a:prstGeom prst="rect">
            <a:avLst/>
          </a:prstGeom>
          <a:noFill/>
        </p:spPr>
        <p:txBody>
          <a:bodyPr wrap="square" rtlCol="0">
            <a:spAutoFit/>
          </a:bodyPr>
          <a:lstStyle/>
          <a:p>
            <a:r>
              <a:rPr lang="zh-CN" altLang="en-US" sz="3200" b="1" dirty="0">
                <a:solidFill>
                  <a:srgbClr val="FF0000"/>
                </a:solidFill>
                <a:latin typeface="微软雅黑" panose="020B0503020204020204" pitchFamily="34" charset="-122"/>
                <a:ea typeface="微软雅黑" panose="020B0503020204020204" pitchFamily="34" charset="-122"/>
              </a:rPr>
              <a:t>序列结构的五种表现形式</a:t>
            </a:r>
          </a:p>
        </p:txBody>
      </p:sp>
      <p:sp>
        <p:nvSpPr>
          <p:cNvPr id="2" name="椭圆 1"/>
          <p:cNvSpPr>
            <a:spLocks noChangeArrowheads="1"/>
          </p:cNvSpPr>
          <p:nvPr>
            <p:custDataLst>
              <p:tags r:id="rId2"/>
            </p:custDataLst>
          </p:nvPr>
        </p:nvSpPr>
        <p:spPr bwMode="auto">
          <a:xfrm>
            <a:off x="8884920" y="2027555"/>
            <a:ext cx="957580" cy="957580"/>
          </a:xfrm>
          <a:prstGeom prst="ellipse">
            <a:avLst/>
          </a:prstGeom>
          <a:solidFill>
            <a:schemeClr val="accent1"/>
          </a:solidFill>
          <a:ln w="57150" cmpd="sng">
            <a:solidFill>
              <a:schemeClr val="bg1"/>
            </a:solidFill>
            <a:round/>
          </a:ln>
        </p:spPr>
        <p:txBody>
          <a:bodyPr anchor="ctr"/>
          <a:lstStyle>
            <a:lvl1pPr>
              <a:defRPr>
                <a:solidFill>
                  <a:schemeClr val="tx1"/>
                </a:solidFill>
                <a:latin typeface="Calibri" panose="020F0502020204030204" charset="0"/>
                <a:ea typeface="微软雅黑" panose="020B0503020204020204" pitchFamily="34" charset="-122"/>
              </a:defRPr>
            </a:lvl1pPr>
            <a:lvl2pPr marL="742950" indent="-285750">
              <a:defRPr>
                <a:solidFill>
                  <a:schemeClr val="tx1"/>
                </a:solidFill>
                <a:latin typeface="Calibri" panose="020F0502020204030204" charset="0"/>
                <a:ea typeface="微软雅黑" panose="020B0503020204020204" pitchFamily="34" charset="-122"/>
              </a:defRPr>
            </a:lvl2pPr>
            <a:lvl3pPr marL="1143000" indent="-228600">
              <a:defRPr>
                <a:solidFill>
                  <a:schemeClr val="tx1"/>
                </a:solidFill>
                <a:latin typeface="Calibri" panose="020F0502020204030204" charset="0"/>
                <a:ea typeface="微软雅黑" panose="020B0503020204020204" pitchFamily="34" charset="-122"/>
              </a:defRPr>
            </a:lvl3pPr>
            <a:lvl4pPr marL="1600200" indent="-228600">
              <a:defRPr>
                <a:solidFill>
                  <a:schemeClr val="tx1"/>
                </a:solidFill>
                <a:latin typeface="Calibri" panose="020F0502020204030204" charset="0"/>
                <a:ea typeface="微软雅黑" panose="020B0503020204020204" pitchFamily="34" charset="-122"/>
              </a:defRPr>
            </a:lvl4pPr>
            <a:lvl5pPr marL="2057400" indent="-228600">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9pPr>
          </a:lstStyle>
          <a:p>
            <a:pPr algn="ctr" eaLnBrk="1" hangingPunct="1"/>
            <a:r>
              <a:rPr lang="en-US" altLang="zh-CN" sz="3200">
                <a:solidFill>
                  <a:schemeClr val="bg1"/>
                </a:solidFill>
                <a:latin typeface="+mn-lt"/>
                <a:ea typeface="+mn-ea"/>
              </a:rPr>
              <a:t>04</a:t>
            </a:r>
            <a:endParaRPr lang="zh-CN" altLang="en-US" sz="3200">
              <a:solidFill>
                <a:schemeClr val="bg1"/>
              </a:solidFill>
              <a:latin typeface="+mn-lt"/>
              <a:ea typeface="+mn-ea"/>
            </a:endParaRPr>
          </a:p>
        </p:txBody>
      </p:sp>
      <p:sp>
        <p:nvSpPr>
          <p:cNvPr id="11" name="椭圆 2"/>
          <p:cNvSpPr>
            <a:spLocks noChangeArrowheads="1"/>
          </p:cNvSpPr>
          <p:nvPr>
            <p:custDataLst>
              <p:tags r:id="rId3"/>
            </p:custDataLst>
          </p:nvPr>
        </p:nvSpPr>
        <p:spPr bwMode="auto">
          <a:xfrm>
            <a:off x="6067425" y="2638425"/>
            <a:ext cx="2234565" cy="2234565"/>
          </a:xfrm>
          <a:prstGeom prst="ellipse">
            <a:avLst/>
          </a:prstGeom>
          <a:solidFill>
            <a:schemeClr val="accent4"/>
          </a:solidFill>
          <a:ln w="76200" cmpd="sng">
            <a:solidFill>
              <a:schemeClr val="accent4">
                <a:lumMod val="60000"/>
                <a:lumOff val="40000"/>
              </a:schemeClr>
            </a:solidFill>
            <a:round/>
          </a:ln>
        </p:spPr>
        <p:txBody>
          <a:bodyPr anchor="ctr">
            <a:normAutofit/>
          </a:bodyPr>
          <a:lstStyle>
            <a:lvl1pPr>
              <a:defRPr>
                <a:solidFill>
                  <a:schemeClr val="tx1"/>
                </a:solidFill>
                <a:latin typeface="Calibri" panose="020F0502020204030204" charset="0"/>
                <a:ea typeface="微软雅黑" panose="020B0503020204020204" pitchFamily="34" charset="-122"/>
              </a:defRPr>
            </a:lvl1pPr>
            <a:lvl2pPr marL="742950" indent="-285750">
              <a:defRPr>
                <a:solidFill>
                  <a:schemeClr val="tx1"/>
                </a:solidFill>
                <a:latin typeface="Calibri" panose="020F0502020204030204" charset="0"/>
                <a:ea typeface="微软雅黑" panose="020B0503020204020204" pitchFamily="34" charset="-122"/>
              </a:defRPr>
            </a:lvl2pPr>
            <a:lvl3pPr marL="1143000" indent="-228600">
              <a:defRPr>
                <a:solidFill>
                  <a:schemeClr val="tx1"/>
                </a:solidFill>
                <a:latin typeface="Calibri" panose="020F0502020204030204" charset="0"/>
                <a:ea typeface="微软雅黑" panose="020B0503020204020204" pitchFamily="34" charset="-122"/>
              </a:defRPr>
            </a:lvl3pPr>
            <a:lvl4pPr marL="1600200" indent="-228600">
              <a:defRPr>
                <a:solidFill>
                  <a:schemeClr val="tx1"/>
                </a:solidFill>
                <a:latin typeface="Calibri" panose="020F0502020204030204" charset="0"/>
                <a:ea typeface="微软雅黑" panose="020B0503020204020204" pitchFamily="34" charset="-122"/>
              </a:defRPr>
            </a:lvl4pPr>
            <a:lvl5pPr marL="2057400" indent="-228600">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9pPr>
          </a:lstStyle>
          <a:p>
            <a:pPr marL="0" indent="0" algn="ctr">
              <a:lnSpc>
                <a:spcPct val="100000"/>
              </a:lnSpc>
              <a:spcBef>
                <a:spcPts val="0"/>
              </a:spcBef>
              <a:spcAft>
                <a:spcPts val="0"/>
              </a:spcAft>
              <a:buSzPct val="100000"/>
            </a:pPr>
            <a:r>
              <a:rPr lang="zh-CN" altLang="en-US" sz="3200" dirty="0">
                <a:solidFill>
                  <a:sysClr val="window" lastClr="FFFFFF"/>
                </a:solidFill>
                <a:latin typeface="Arial" panose="020B0604020202020204" pitchFamily="34" charset="0"/>
                <a:ea typeface="黑体" panose="02010609060101010101" charset="-122"/>
                <a:cs typeface="+mn-ea"/>
              </a:rPr>
              <a:t>序列</a:t>
            </a:r>
          </a:p>
        </p:txBody>
      </p:sp>
      <p:sp>
        <p:nvSpPr>
          <p:cNvPr id="15" name="椭圆 3"/>
          <p:cNvSpPr>
            <a:spLocks noChangeArrowheads="1"/>
          </p:cNvSpPr>
          <p:nvPr>
            <p:custDataLst>
              <p:tags r:id="rId4"/>
            </p:custDataLst>
          </p:nvPr>
        </p:nvSpPr>
        <p:spPr bwMode="auto">
          <a:xfrm>
            <a:off x="8884920" y="4415155"/>
            <a:ext cx="957580" cy="958850"/>
          </a:xfrm>
          <a:prstGeom prst="ellipse">
            <a:avLst/>
          </a:prstGeom>
          <a:solidFill>
            <a:srgbClr val="FF0000"/>
          </a:solidFill>
          <a:ln w="57150" cmpd="sng">
            <a:solidFill>
              <a:schemeClr val="bg1"/>
            </a:solidFill>
            <a:round/>
          </a:ln>
        </p:spPr>
        <p:txBody>
          <a:bodyPr anchor="ctr"/>
          <a:lstStyle>
            <a:lvl1pPr>
              <a:defRPr>
                <a:solidFill>
                  <a:schemeClr val="tx1"/>
                </a:solidFill>
                <a:latin typeface="Calibri" panose="020F0502020204030204" charset="0"/>
                <a:ea typeface="微软雅黑" panose="020B0503020204020204" pitchFamily="34" charset="-122"/>
              </a:defRPr>
            </a:lvl1pPr>
            <a:lvl2pPr marL="742950" indent="-285750">
              <a:defRPr>
                <a:solidFill>
                  <a:schemeClr val="tx1"/>
                </a:solidFill>
                <a:latin typeface="Calibri" panose="020F0502020204030204" charset="0"/>
                <a:ea typeface="微软雅黑" panose="020B0503020204020204" pitchFamily="34" charset="-122"/>
              </a:defRPr>
            </a:lvl2pPr>
            <a:lvl3pPr marL="1143000" indent="-228600">
              <a:defRPr>
                <a:solidFill>
                  <a:schemeClr val="tx1"/>
                </a:solidFill>
                <a:latin typeface="Calibri" panose="020F0502020204030204" charset="0"/>
                <a:ea typeface="微软雅黑" panose="020B0503020204020204" pitchFamily="34" charset="-122"/>
              </a:defRPr>
            </a:lvl3pPr>
            <a:lvl4pPr marL="1600200" indent="-228600">
              <a:defRPr>
                <a:solidFill>
                  <a:schemeClr val="tx1"/>
                </a:solidFill>
                <a:latin typeface="Calibri" panose="020F0502020204030204" charset="0"/>
                <a:ea typeface="微软雅黑" panose="020B0503020204020204" pitchFamily="34" charset="-122"/>
              </a:defRPr>
            </a:lvl4pPr>
            <a:lvl5pPr marL="2057400" indent="-228600">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9pPr>
          </a:lstStyle>
          <a:p>
            <a:pPr algn="ctr" eaLnBrk="1" hangingPunct="1"/>
            <a:r>
              <a:rPr lang="en-US" altLang="zh-CN" sz="3200">
                <a:solidFill>
                  <a:schemeClr val="bg1"/>
                </a:solidFill>
                <a:latin typeface="+mn-lt"/>
                <a:ea typeface="+mn-ea"/>
              </a:rPr>
              <a:t>05</a:t>
            </a:r>
            <a:endParaRPr lang="zh-CN" altLang="en-US" sz="3200">
              <a:solidFill>
                <a:schemeClr val="bg1"/>
              </a:solidFill>
              <a:latin typeface="+mn-lt"/>
              <a:ea typeface="+mn-ea"/>
            </a:endParaRPr>
          </a:p>
        </p:txBody>
      </p:sp>
      <p:sp>
        <p:nvSpPr>
          <p:cNvPr id="16" name="矩形 9"/>
          <p:cNvSpPr>
            <a:spLocks noChangeArrowheads="1"/>
          </p:cNvSpPr>
          <p:nvPr>
            <p:custDataLst>
              <p:tags r:id="rId5"/>
            </p:custDataLst>
          </p:nvPr>
        </p:nvSpPr>
        <p:spPr bwMode="auto">
          <a:xfrm>
            <a:off x="9982200" y="2096135"/>
            <a:ext cx="202882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nchorCtr="0">
            <a:normAutofit/>
          </a:bodyPr>
          <a:lstStyle>
            <a:lvl1pPr>
              <a:defRPr>
                <a:solidFill>
                  <a:schemeClr val="tx1"/>
                </a:solidFill>
                <a:latin typeface="Calibri" panose="020F0502020204030204" charset="0"/>
                <a:ea typeface="微软雅黑" panose="020B0503020204020204" pitchFamily="34" charset="-122"/>
              </a:defRPr>
            </a:lvl1pPr>
            <a:lvl2pPr marL="742950" indent="-285750">
              <a:defRPr>
                <a:solidFill>
                  <a:schemeClr val="tx1"/>
                </a:solidFill>
                <a:latin typeface="Calibri" panose="020F0502020204030204" charset="0"/>
                <a:ea typeface="微软雅黑" panose="020B0503020204020204" pitchFamily="34" charset="-122"/>
              </a:defRPr>
            </a:lvl2pPr>
            <a:lvl3pPr marL="1143000" indent="-228600">
              <a:defRPr>
                <a:solidFill>
                  <a:schemeClr val="tx1"/>
                </a:solidFill>
                <a:latin typeface="Calibri" panose="020F0502020204030204" charset="0"/>
                <a:ea typeface="微软雅黑" panose="020B0503020204020204" pitchFamily="34" charset="-122"/>
              </a:defRPr>
            </a:lvl3pPr>
            <a:lvl4pPr marL="1600200" indent="-228600">
              <a:defRPr>
                <a:solidFill>
                  <a:schemeClr val="tx1"/>
                </a:solidFill>
                <a:latin typeface="Calibri" panose="020F0502020204030204" charset="0"/>
                <a:ea typeface="微软雅黑" panose="020B0503020204020204" pitchFamily="34" charset="-122"/>
              </a:defRPr>
            </a:lvl4pPr>
            <a:lvl5pPr marL="2057400" indent="-228600">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9pPr>
          </a:lstStyle>
          <a:p>
            <a:pPr>
              <a:lnSpc>
                <a:spcPct val="150000"/>
              </a:lnSpc>
            </a:pPr>
            <a:r>
              <a:rPr lang="zh-CN" altLang="en-US" sz="2000" b="1" dirty="0">
                <a:latin typeface="微软雅黑" panose="020B0503020204020204" pitchFamily="34" charset="-122"/>
              </a:rPr>
              <a:t>集合</a:t>
            </a:r>
          </a:p>
        </p:txBody>
      </p:sp>
      <p:cxnSp>
        <p:nvCxnSpPr>
          <p:cNvPr id="17" name="肘形连接符 17"/>
          <p:cNvCxnSpPr>
            <a:cxnSpLocks noChangeShapeType="1"/>
            <a:stCxn id="11" idx="6"/>
            <a:endCxn id="2" idx="2"/>
          </p:cNvCxnSpPr>
          <p:nvPr>
            <p:custDataLst>
              <p:tags r:id="rId6"/>
            </p:custDataLst>
          </p:nvPr>
        </p:nvCxnSpPr>
        <p:spPr bwMode="auto">
          <a:xfrm flipV="1">
            <a:off x="8301990" y="2505710"/>
            <a:ext cx="582930" cy="1250315"/>
          </a:xfrm>
          <a:prstGeom prst="bentConnector3">
            <a:avLst>
              <a:gd name="adj1" fmla="val 50000"/>
            </a:avLst>
          </a:prstGeom>
          <a:noFill/>
          <a:ln w="28575" cmpd="sng">
            <a:solidFill>
              <a:schemeClr val="bg1">
                <a:lumMod val="65000"/>
              </a:schemeClr>
            </a:solidFill>
            <a:prstDash val="sysDot"/>
            <a:miter lim="800000"/>
            <a:tailEnd type="triangle" w="med" len="med"/>
          </a:ln>
          <a:extLst>
            <a:ext uri="{909E8E84-426E-40DD-AFC4-6F175D3DCCD1}">
              <a14:hiddenFill xmlns:a14="http://schemas.microsoft.com/office/drawing/2010/main">
                <a:noFill/>
              </a14:hiddenFill>
            </a:ext>
          </a:extLst>
        </p:spPr>
      </p:cxnSp>
      <p:cxnSp>
        <p:nvCxnSpPr>
          <p:cNvPr id="18" name="肘形连接符 18"/>
          <p:cNvCxnSpPr>
            <a:cxnSpLocks noChangeShapeType="1"/>
            <a:stCxn id="11" idx="6"/>
            <a:endCxn id="15" idx="2"/>
          </p:cNvCxnSpPr>
          <p:nvPr>
            <p:custDataLst>
              <p:tags r:id="rId7"/>
            </p:custDataLst>
          </p:nvPr>
        </p:nvCxnSpPr>
        <p:spPr bwMode="auto">
          <a:xfrm>
            <a:off x="8301990" y="3755390"/>
            <a:ext cx="582930" cy="1139190"/>
          </a:xfrm>
          <a:prstGeom prst="bentConnector3">
            <a:avLst>
              <a:gd name="adj1" fmla="val 50000"/>
            </a:avLst>
          </a:prstGeom>
          <a:noFill/>
          <a:ln w="28575" cmpd="sng">
            <a:solidFill>
              <a:schemeClr val="bg1">
                <a:lumMod val="65000"/>
              </a:schemeClr>
            </a:solidFill>
            <a:prstDash val="sysDot"/>
            <a:miter lim="800000"/>
            <a:tailEnd type="triangle" w="med" len="med"/>
          </a:ln>
          <a:extLst>
            <a:ext uri="{909E8E84-426E-40DD-AFC4-6F175D3DCCD1}">
              <a14:hiddenFill xmlns:a14="http://schemas.microsoft.com/office/drawing/2010/main">
                <a:noFill/>
              </a14:hiddenFill>
            </a:ext>
          </a:extLst>
        </p:spPr>
      </p:cxnSp>
      <p:sp>
        <p:nvSpPr>
          <p:cNvPr id="19" name="椭圆 23"/>
          <p:cNvSpPr>
            <a:spLocks noChangeArrowheads="1"/>
          </p:cNvSpPr>
          <p:nvPr>
            <p:custDataLst>
              <p:tags r:id="rId8"/>
            </p:custDataLst>
          </p:nvPr>
        </p:nvSpPr>
        <p:spPr bwMode="auto">
          <a:xfrm>
            <a:off x="4527550" y="2027555"/>
            <a:ext cx="957580" cy="957580"/>
          </a:xfrm>
          <a:prstGeom prst="ellipse">
            <a:avLst/>
          </a:prstGeom>
          <a:solidFill>
            <a:schemeClr val="accent1"/>
          </a:solidFill>
          <a:ln w="57150" cmpd="sng">
            <a:solidFill>
              <a:schemeClr val="bg1"/>
            </a:solidFill>
            <a:round/>
          </a:ln>
        </p:spPr>
        <p:txBody>
          <a:bodyPr anchor="ctr"/>
          <a:lstStyle>
            <a:lvl1pPr>
              <a:defRPr>
                <a:solidFill>
                  <a:schemeClr val="tx1"/>
                </a:solidFill>
                <a:latin typeface="Calibri" panose="020F0502020204030204" charset="0"/>
                <a:ea typeface="微软雅黑" panose="020B0503020204020204" pitchFamily="34" charset="-122"/>
              </a:defRPr>
            </a:lvl1pPr>
            <a:lvl2pPr marL="742950" indent="-285750">
              <a:defRPr>
                <a:solidFill>
                  <a:schemeClr val="tx1"/>
                </a:solidFill>
                <a:latin typeface="Calibri" panose="020F0502020204030204" charset="0"/>
                <a:ea typeface="微软雅黑" panose="020B0503020204020204" pitchFamily="34" charset="-122"/>
              </a:defRPr>
            </a:lvl2pPr>
            <a:lvl3pPr marL="1143000" indent="-228600">
              <a:defRPr>
                <a:solidFill>
                  <a:schemeClr val="tx1"/>
                </a:solidFill>
                <a:latin typeface="Calibri" panose="020F0502020204030204" charset="0"/>
                <a:ea typeface="微软雅黑" panose="020B0503020204020204" pitchFamily="34" charset="-122"/>
              </a:defRPr>
            </a:lvl3pPr>
            <a:lvl4pPr marL="1600200" indent="-228600">
              <a:defRPr>
                <a:solidFill>
                  <a:schemeClr val="tx1"/>
                </a:solidFill>
                <a:latin typeface="Calibri" panose="020F0502020204030204" charset="0"/>
                <a:ea typeface="微软雅黑" panose="020B0503020204020204" pitchFamily="34" charset="-122"/>
              </a:defRPr>
            </a:lvl4pPr>
            <a:lvl5pPr marL="2057400" indent="-228600">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9pPr>
          </a:lstStyle>
          <a:p>
            <a:pPr algn="ctr" eaLnBrk="1" hangingPunct="1"/>
            <a:r>
              <a:rPr lang="en-US" altLang="zh-CN" sz="3200">
                <a:solidFill>
                  <a:schemeClr val="bg1"/>
                </a:solidFill>
                <a:latin typeface="+mn-lt"/>
                <a:ea typeface="+mn-ea"/>
              </a:rPr>
              <a:t>01</a:t>
            </a:r>
            <a:endParaRPr lang="zh-CN" altLang="en-US" sz="3200">
              <a:solidFill>
                <a:schemeClr val="bg1"/>
              </a:solidFill>
              <a:latin typeface="+mn-lt"/>
              <a:ea typeface="+mn-ea"/>
            </a:endParaRPr>
          </a:p>
        </p:txBody>
      </p:sp>
      <p:cxnSp>
        <p:nvCxnSpPr>
          <p:cNvPr id="20" name="肘形连接符 24"/>
          <p:cNvCxnSpPr>
            <a:cxnSpLocks noChangeShapeType="1"/>
            <a:stCxn id="11" idx="2"/>
            <a:endCxn id="19" idx="6"/>
          </p:cNvCxnSpPr>
          <p:nvPr>
            <p:custDataLst>
              <p:tags r:id="rId9"/>
            </p:custDataLst>
          </p:nvPr>
        </p:nvCxnSpPr>
        <p:spPr bwMode="auto">
          <a:xfrm rot="10800000">
            <a:off x="5485130" y="2505710"/>
            <a:ext cx="582930" cy="1250315"/>
          </a:xfrm>
          <a:prstGeom prst="bentConnector3">
            <a:avLst>
              <a:gd name="adj1" fmla="val 50000"/>
            </a:avLst>
          </a:prstGeom>
          <a:noFill/>
          <a:ln w="28575" cmpd="sng">
            <a:solidFill>
              <a:schemeClr val="bg1">
                <a:lumMod val="65000"/>
              </a:schemeClr>
            </a:solidFill>
            <a:prstDash val="sysDot"/>
            <a:miter lim="800000"/>
            <a:tailEnd type="triangle" w="med" len="med"/>
          </a:ln>
          <a:extLst>
            <a:ext uri="{909E8E84-426E-40DD-AFC4-6F175D3DCCD1}">
              <a14:hiddenFill xmlns:a14="http://schemas.microsoft.com/office/drawing/2010/main">
                <a:noFill/>
              </a14:hiddenFill>
            </a:ext>
          </a:extLst>
        </p:spPr>
      </p:cxnSp>
      <p:sp>
        <p:nvSpPr>
          <p:cNvPr id="21" name="椭圆 28"/>
          <p:cNvSpPr>
            <a:spLocks noChangeArrowheads="1"/>
          </p:cNvSpPr>
          <p:nvPr>
            <p:custDataLst>
              <p:tags r:id="rId10"/>
            </p:custDataLst>
          </p:nvPr>
        </p:nvSpPr>
        <p:spPr bwMode="auto">
          <a:xfrm>
            <a:off x="4523105" y="3257550"/>
            <a:ext cx="957580" cy="957580"/>
          </a:xfrm>
          <a:prstGeom prst="ellipse">
            <a:avLst/>
          </a:prstGeom>
          <a:solidFill>
            <a:schemeClr val="accent2"/>
          </a:solidFill>
          <a:ln w="57150" cmpd="sng">
            <a:solidFill>
              <a:schemeClr val="bg1"/>
            </a:solidFill>
            <a:round/>
          </a:ln>
        </p:spPr>
        <p:txBody>
          <a:bodyPr anchor="ctr"/>
          <a:lstStyle>
            <a:lvl1pPr>
              <a:defRPr>
                <a:solidFill>
                  <a:schemeClr val="tx1"/>
                </a:solidFill>
                <a:latin typeface="Calibri" panose="020F0502020204030204" charset="0"/>
                <a:ea typeface="微软雅黑" panose="020B0503020204020204" pitchFamily="34" charset="-122"/>
              </a:defRPr>
            </a:lvl1pPr>
            <a:lvl2pPr marL="742950" indent="-285750">
              <a:defRPr>
                <a:solidFill>
                  <a:schemeClr val="tx1"/>
                </a:solidFill>
                <a:latin typeface="Calibri" panose="020F0502020204030204" charset="0"/>
                <a:ea typeface="微软雅黑" panose="020B0503020204020204" pitchFamily="34" charset="-122"/>
              </a:defRPr>
            </a:lvl2pPr>
            <a:lvl3pPr marL="1143000" indent="-228600">
              <a:defRPr>
                <a:solidFill>
                  <a:schemeClr val="tx1"/>
                </a:solidFill>
                <a:latin typeface="Calibri" panose="020F0502020204030204" charset="0"/>
                <a:ea typeface="微软雅黑" panose="020B0503020204020204" pitchFamily="34" charset="-122"/>
              </a:defRPr>
            </a:lvl3pPr>
            <a:lvl4pPr marL="1600200" indent="-228600">
              <a:defRPr>
                <a:solidFill>
                  <a:schemeClr val="tx1"/>
                </a:solidFill>
                <a:latin typeface="Calibri" panose="020F0502020204030204" charset="0"/>
                <a:ea typeface="微软雅黑" panose="020B0503020204020204" pitchFamily="34" charset="-122"/>
              </a:defRPr>
            </a:lvl4pPr>
            <a:lvl5pPr marL="2057400" indent="-228600">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9pPr>
          </a:lstStyle>
          <a:p>
            <a:pPr algn="ctr" eaLnBrk="1" hangingPunct="1"/>
            <a:r>
              <a:rPr lang="en-US" altLang="zh-CN" sz="3200">
                <a:solidFill>
                  <a:schemeClr val="bg1"/>
                </a:solidFill>
                <a:latin typeface="+mn-lt"/>
                <a:ea typeface="+mn-ea"/>
              </a:rPr>
              <a:t>02</a:t>
            </a:r>
            <a:endParaRPr lang="zh-CN" altLang="en-US" sz="3200">
              <a:solidFill>
                <a:schemeClr val="bg1"/>
              </a:solidFill>
              <a:latin typeface="+mn-lt"/>
              <a:ea typeface="+mn-ea"/>
            </a:endParaRPr>
          </a:p>
        </p:txBody>
      </p:sp>
      <p:sp>
        <p:nvSpPr>
          <p:cNvPr id="22" name="椭圆 29"/>
          <p:cNvSpPr>
            <a:spLocks noChangeArrowheads="1"/>
          </p:cNvSpPr>
          <p:nvPr>
            <p:custDataLst>
              <p:tags r:id="rId11"/>
            </p:custDataLst>
          </p:nvPr>
        </p:nvSpPr>
        <p:spPr bwMode="auto">
          <a:xfrm>
            <a:off x="4523105" y="4520565"/>
            <a:ext cx="957580" cy="957580"/>
          </a:xfrm>
          <a:prstGeom prst="ellipse">
            <a:avLst/>
          </a:prstGeom>
          <a:solidFill>
            <a:schemeClr val="accent3"/>
          </a:solidFill>
          <a:ln w="57150" cmpd="sng">
            <a:solidFill>
              <a:schemeClr val="bg1"/>
            </a:solidFill>
            <a:round/>
          </a:ln>
        </p:spPr>
        <p:txBody>
          <a:bodyPr anchor="ctr"/>
          <a:lstStyle>
            <a:lvl1pPr>
              <a:defRPr>
                <a:solidFill>
                  <a:schemeClr val="tx1"/>
                </a:solidFill>
                <a:latin typeface="Calibri" panose="020F0502020204030204" charset="0"/>
                <a:ea typeface="微软雅黑" panose="020B0503020204020204" pitchFamily="34" charset="-122"/>
              </a:defRPr>
            </a:lvl1pPr>
            <a:lvl2pPr marL="742950" indent="-285750">
              <a:defRPr>
                <a:solidFill>
                  <a:schemeClr val="tx1"/>
                </a:solidFill>
                <a:latin typeface="Calibri" panose="020F0502020204030204" charset="0"/>
                <a:ea typeface="微软雅黑" panose="020B0503020204020204" pitchFamily="34" charset="-122"/>
              </a:defRPr>
            </a:lvl2pPr>
            <a:lvl3pPr marL="1143000" indent="-228600">
              <a:defRPr>
                <a:solidFill>
                  <a:schemeClr val="tx1"/>
                </a:solidFill>
                <a:latin typeface="Calibri" panose="020F0502020204030204" charset="0"/>
                <a:ea typeface="微软雅黑" panose="020B0503020204020204" pitchFamily="34" charset="-122"/>
              </a:defRPr>
            </a:lvl3pPr>
            <a:lvl4pPr marL="1600200" indent="-228600">
              <a:defRPr>
                <a:solidFill>
                  <a:schemeClr val="tx1"/>
                </a:solidFill>
                <a:latin typeface="Calibri" panose="020F0502020204030204" charset="0"/>
                <a:ea typeface="微软雅黑" panose="020B0503020204020204" pitchFamily="34" charset="-122"/>
              </a:defRPr>
            </a:lvl4pPr>
            <a:lvl5pPr marL="2057400" indent="-228600">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9pPr>
          </a:lstStyle>
          <a:p>
            <a:pPr algn="ctr" eaLnBrk="1" hangingPunct="1"/>
            <a:r>
              <a:rPr lang="en-US" altLang="zh-CN" sz="3200">
                <a:solidFill>
                  <a:schemeClr val="bg1"/>
                </a:solidFill>
                <a:latin typeface="+mn-lt"/>
                <a:ea typeface="+mn-ea"/>
              </a:rPr>
              <a:t>03</a:t>
            </a:r>
            <a:endParaRPr lang="zh-CN" altLang="en-US" sz="3200">
              <a:solidFill>
                <a:schemeClr val="bg1"/>
              </a:solidFill>
              <a:latin typeface="+mn-lt"/>
              <a:ea typeface="+mn-ea"/>
            </a:endParaRPr>
          </a:p>
        </p:txBody>
      </p:sp>
      <p:cxnSp>
        <p:nvCxnSpPr>
          <p:cNvPr id="23" name="肘形连接符 32"/>
          <p:cNvCxnSpPr>
            <a:cxnSpLocks noChangeShapeType="1"/>
            <a:stCxn id="11" idx="2"/>
            <a:endCxn id="21" idx="6"/>
          </p:cNvCxnSpPr>
          <p:nvPr>
            <p:custDataLst>
              <p:tags r:id="rId12"/>
            </p:custDataLst>
          </p:nvPr>
        </p:nvCxnSpPr>
        <p:spPr bwMode="auto">
          <a:xfrm rot="10800000">
            <a:off x="5480685" y="3736340"/>
            <a:ext cx="587375" cy="19685"/>
          </a:xfrm>
          <a:prstGeom prst="bentConnector3">
            <a:avLst>
              <a:gd name="adj1" fmla="val 50000"/>
            </a:avLst>
          </a:prstGeom>
          <a:noFill/>
          <a:ln w="28575" cmpd="sng">
            <a:solidFill>
              <a:schemeClr val="bg1">
                <a:lumMod val="65000"/>
              </a:schemeClr>
            </a:solidFill>
            <a:prstDash val="sysDot"/>
            <a:miter lim="800000"/>
            <a:tailEnd type="triangle" w="med" len="med"/>
          </a:ln>
          <a:extLst>
            <a:ext uri="{909E8E84-426E-40DD-AFC4-6F175D3DCCD1}">
              <a14:hiddenFill xmlns:a14="http://schemas.microsoft.com/office/drawing/2010/main">
                <a:noFill/>
              </a14:hiddenFill>
            </a:ext>
          </a:extLst>
        </p:spPr>
      </p:cxnSp>
      <p:cxnSp>
        <p:nvCxnSpPr>
          <p:cNvPr id="26" name="肘形连接符 35"/>
          <p:cNvCxnSpPr>
            <a:cxnSpLocks noChangeShapeType="1"/>
            <a:stCxn id="11" idx="2"/>
            <a:endCxn id="22" idx="6"/>
          </p:cNvCxnSpPr>
          <p:nvPr>
            <p:custDataLst>
              <p:tags r:id="rId13"/>
            </p:custDataLst>
          </p:nvPr>
        </p:nvCxnSpPr>
        <p:spPr bwMode="auto">
          <a:xfrm rot="10800000" flipV="1">
            <a:off x="5480685" y="3756025"/>
            <a:ext cx="587375" cy="1243330"/>
          </a:xfrm>
          <a:prstGeom prst="bentConnector3">
            <a:avLst>
              <a:gd name="adj1" fmla="val 50000"/>
            </a:avLst>
          </a:prstGeom>
          <a:noFill/>
          <a:ln w="28575" cmpd="sng">
            <a:solidFill>
              <a:schemeClr val="bg1">
                <a:lumMod val="65000"/>
              </a:schemeClr>
            </a:solidFill>
            <a:prstDash val="sysDot"/>
            <a:miter lim="800000"/>
            <a:tailEnd type="triangle" w="med" len="med"/>
          </a:ln>
          <a:extLst>
            <a:ext uri="{909E8E84-426E-40DD-AFC4-6F175D3DCCD1}">
              <a14:hiddenFill xmlns:a14="http://schemas.microsoft.com/office/drawing/2010/main">
                <a:noFill/>
              </a14:hiddenFill>
            </a:ext>
          </a:extLst>
        </p:spPr>
      </p:cxnSp>
      <p:sp>
        <p:nvSpPr>
          <p:cNvPr id="27" name="矩形 38"/>
          <p:cNvSpPr>
            <a:spLocks noChangeArrowheads="1"/>
          </p:cNvSpPr>
          <p:nvPr>
            <p:custDataLst>
              <p:tags r:id="rId14"/>
            </p:custDataLst>
          </p:nvPr>
        </p:nvSpPr>
        <p:spPr bwMode="auto">
          <a:xfrm>
            <a:off x="9989185" y="4462780"/>
            <a:ext cx="203073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nchorCtr="0">
            <a:normAutofit/>
          </a:bodyPr>
          <a:lstStyle>
            <a:lvl1pPr>
              <a:defRPr>
                <a:solidFill>
                  <a:schemeClr val="tx1"/>
                </a:solidFill>
                <a:latin typeface="Calibri" panose="020F0502020204030204" charset="0"/>
                <a:ea typeface="微软雅黑" panose="020B0503020204020204" pitchFamily="34" charset="-122"/>
              </a:defRPr>
            </a:lvl1pPr>
            <a:lvl2pPr marL="742950" indent="-285750">
              <a:defRPr>
                <a:solidFill>
                  <a:schemeClr val="tx1"/>
                </a:solidFill>
                <a:latin typeface="Calibri" panose="020F0502020204030204" charset="0"/>
                <a:ea typeface="微软雅黑" panose="020B0503020204020204" pitchFamily="34" charset="-122"/>
              </a:defRPr>
            </a:lvl2pPr>
            <a:lvl3pPr marL="1143000" indent="-228600">
              <a:defRPr>
                <a:solidFill>
                  <a:schemeClr val="tx1"/>
                </a:solidFill>
                <a:latin typeface="Calibri" panose="020F0502020204030204" charset="0"/>
                <a:ea typeface="微软雅黑" panose="020B0503020204020204" pitchFamily="34" charset="-122"/>
              </a:defRPr>
            </a:lvl3pPr>
            <a:lvl4pPr marL="1600200" indent="-228600">
              <a:defRPr>
                <a:solidFill>
                  <a:schemeClr val="tx1"/>
                </a:solidFill>
                <a:latin typeface="Calibri" panose="020F0502020204030204" charset="0"/>
                <a:ea typeface="微软雅黑" panose="020B0503020204020204" pitchFamily="34" charset="-122"/>
              </a:defRPr>
            </a:lvl4pPr>
            <a:lvl5pPr marL="2057400" indent="-228600">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9pPr>
          </a:lstStyle>
          <a:p>
            <a:pPr>
              <a:lnSpc>
                <a:spcPct val="150000"/>
              </a:lnSpc>
            </a:pPr>
            <a:r>
              <a:rPr lang="zh-CN" altLang="en-US" sz="2000" b="1" dirty="0">
                <a:solidFill>
                  <a:srgbClr val="FF0000"/>
                </a:solidFill>
                <a:latin typeface="微软雅黑" panose="020B0503020204020204" pitchFamily="34" charset="-122"/>
              </a:rPr>
              <a:t>字符串</a:t>
            </a:r>
          </a:p>
        </p:txBody>
      </p:sp>
      <p:sp>
        <p:nvSpPr>
          <p:cNvPr id="28" name="矩形 40"/>
          <p:cNvSpPr>
            <a:spLocks noChangeArrowheads="1"/>
          </p:cNvSpPr>
          <p:nvPr>
            <p:custDataLst>
              <p:tags r:id="rId15"/>
            </p:custDataLst>
          </p:nvPr>
        </p:nvSpPr>
        <p:spPr bwMode="auto">
          <a:xfrm>
            <a:off x="2292985" y="2096135"/>
            <a:ext cx="193484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nchorCtr="0">
            <a:normAutofit/>
          </a:bodyPr>
          <a:lstStyle>
            <a:lvl1pPr>
              <a:defRPr>
                <a:solidFill>
                  <a:schemeClr val="tx1"/>
                </a:solidFill>
                <a:latin typeface="Calibri" panose="020F0502020204030204" charset="0"/>
                <a:ea typeface="微软雅黑" panose="020B0503020204020204" pitchFamily="34" charset="-122"/>
              </a:defRPr>
            </a:lvl1pPr>
            <a:lvl2pPr marL="742950" indent="-285750">
              <a:defRPr>
                <a:solidFill>
                  <a:schemeClr val="tx1"/>
                </a:solidFill>
                <a:latin typeface="Calibri" panose="020F0502020204030204" charset="0"/>
                <a:ea typeface="微软雅黑" panose="020B0503020204020204" pitchFamily="34" charset="-122"/>
              </a:defRPr>
            </a:lvl2pPr>
            <a:lvl3pPr marL="1143000" indent="-228600">
              <a:defRPr>
                <a:solidFill>
                  <a:schemeClr val="tx1"/>
                </a:solidFill>
                <a:latin typeface="Calibri" panose="020F0502020204030204" charset="0"/>
                <a:ea typeface="微软雅黑" panose="020B0503020204020204" pitchFamily="34" charset="-122"/>
              </a:defRPr>
            </a:lvl3pPr>
            <a:lvl4pPr marL="1600200" indent="-228600">
              <a:defRPr>
                <a:solidFill>
                  <a:schemeClr val="tx1"/>
                </a:solidFill>
                <a:latin typeface="Calibri" panose="020F0502020204030204" charset="0"/>
                <a:ea typeface="微软雅黑" panose="020B0503020204020204" pitchFamily="34" charset="-122"/>
              </a:defRPr>
            </a:lvl4pPr>
            <a:lvl5pPr marL="2057400" indent="-228600">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9pPr>
          </a:lstStyle>
          <a:p>
            <a:pPr marL="0" lvl="0" indent="0" algn="r">
              <a:lnSpc>
                <a:spcPct val="150000"/>
              </a:lnSpc>
              <a:spcBef>
                <a:spcPts val="0"/>
              </a:spcBef>
              <a:spcAft>
                <a:spcPts val="0"/>
              </a:spcAft>
              <a:buSzPct val="100000"/>
            </a:pPr>
            <a:r>
              <a:rPr lang="zh-CN" altLang="en-US" dirty="0">
                <a:solidFill>
                  <a:schemeClr val="tx1"/>
                </a:solidFill>
                <a:latin typeface="Arial" panose="020B0604020202020204" pitchFamily="34" charset="0"/>
                <a:ea typeface="黑体" panose="02010609060101010101" charset="-122"/>
              </a:rPr>
              <a:t>列表</a:t>
            </a:r>
          </a:p>
        </p:txBody>
      </p:sp>
      <p:sp>
        <p:nvSpPr>
          <p:cNvPr id="29" name="矩形 41"/>
          <p:cNvSpPr>
            <a:spLocks noChangeArrowheads="1"/>
          </p:cNvSpPr>
          <p:nvPr>
            <p:custDataLst>
              <p:tags r:id="rId16"/>
            </p:custDataLst>
          </p:nvPr>
        </p:nvSpPr>
        <p:spPr bwMode="auto">
          <a:xfrm>
            <a:off x="2299970" y="3321050"/>
            <a:ext cx="193484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nchorCtr="0">
            <a:normAutofit/>
          </a:bodyPr>
          <a:lstStyle>
            <a:lvl1pPr>
              <a:defRPr>
                <a:solidFill>
                  <a:schemeClr val="tx1"/>
                </a:solidFill>
                <a:latin typeface="Calibri" panose="020F0502020204030204" charset="0"/>
                <a:ea typeface="微软雅黑" panose="020B0503020204020204" pitchFamily="34" charset="-122"/>
              </a:defRPr>
            </a:lvl1pPr>
            <a:lvl2pPr marL="742950" indent="-285750">
              <a:defRPr>
                <a:solidFill>
                  <a:schemeClr val="tx1"/>
                </a:solidFill>
                <a:latin typeface="Calibri" panose="020F0502020204030204" charset="0"/>
                <a:ea typeface="微软雅黑" panose="020B0503020204020204" pitchFamily="34" charset="-122"/>
              </a:defRPr>
            </a:lvl2pPr>
            <a:lvl3pPr marL="1143000" indent="-228600">
              <a:defRPr>
                <a:solidFill>
                  <a:schemeClr val="tx1"/>
                </a:solidFill>
                <a:latin typeface="Calibri" panose="020F0502020204030204" charset="0"/>
                <a:ea typeface="微软雅黑" panose="020B0503020204020204" pitchFamily="34" charset="-122"/>
              </a:defRPr>
            </a:lvl3pPr>
            <a:lvl4pPr marL="1600200" indent="-228600">
              <a:defRPr>
                <a:solidFill>
                  <a:schemeClr val="tx1"/>
                </a:solidFill>
                <a:latin typeface="Calibri" panose="020F0502020204030204" charset="0"/>
                <a:ea typeface="微软雅黑" panose="020B0503020204020204" pitchFamily="34" charset="-122"/>
              </a:defRPr>
            </a:lvl4pPr>
            <a:lvl5pPr marL="2057400" indent="-228600">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9pPr>
          </a:lstStyle>
          <a:p>
            <a:pPr marL="0" lvl="0" indent="0" algn="r">
              <a:lnSpc>
                <a:spcPct val="150000"/>
              </a:lnSpc>
              <a:spcBef>
                <a:spcPts val="0"/>
              </a:spcBef>
              <a:spcAft>
                <a:spcPts val="0"/>
              </a:spcAft>
              <a:buSzPct val="100000"/>
            </a:pPr>
            <a:r>
              <a:rPr lang="zh-CN" altLang="en-US" dirty="0">
                <a:solidFill>
                  <a:schemeClr val="tx1"/>
                </a:solidFill>
                <a:latin typeface="Arial" panose="020B0604020202020204" pitchFamily="34" charset="0"/>
                <a:ea typeface="黑体" panose="02010609060101010101" charset="-122"/>
              </a:rPr>
              <a:t>元组</a:t>
            </a:r>
          </a:p>
        </p:txBody>
      </p:sp>
      <p:sp>
        <p:nvSpPr>
          <p:cNvPr id="30" name="矩形 42"/>
          <p:cNvSpPr>
            <a:spLocks noChangeArrowheads="1"/>
          </p:cNvSpPr>
          <p:nvPr>
            <p:custDataLst>
              <p:tags r:id="rId17"/>
            </p:custDataLst>
          </p:nvPr>
        </p:nvSpPr>
        <p:spPr bwMode="auto">
          <a:xfrm>
            <a:off x="2299970" y="4589780"/>
            <a:ext cx="193484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nchorCtr="0">
            <a:normAutofit/>
          </a:bodyPr>
          <a:lstStyle>
            <a:lvl1pPr>
              <a:defRPr>
                <a:solidFill>
                  <a:schemeClr val="tx1"/>
                </a:solidFill>
                <a:latin typeface="Calibri" panose="020F0502020204030204" charset="0"/>
                <a:ea typeface="微软雅黑" panose="020B0503020204020204" pitchFamily="34" charset="-122"/>
              </a:defRPr>
            </a:lvl1pPr>
            <a:lvl2pPr marL="742950" indent="-285750">
              <a:defRPr>
                <a:solidFill>
                  <a:schemeClr val="tx1"/>
                </a:solidFill>
                <a:latin typeface="Calibri" panose="020F0502020204030204" charset="0"/>
                <a:ea typeface="微软雅黑" panose="020B0503020204020204" pitchFamily="34" charset="-122"/>
              </a:defRPr>
            </a:lvl2pPr>
            <a:lvl3pPr marL="1143000" indent="-228600">
              <a:defRPr>
                <a:solidFill>
                  <a:schemeClr val="tx1"/>
                </a:solidFill>
                <a:latin typeface="Calibri" panose="020F0502020204030204" charset="0"/>
                <a:ea typeface="微软雅黑" panose="020B0503020204020204" pitchFamily="34" charset="-122"/>
              </a:defRPr>
            </a:lvl3pPr>
            <a:lvl4pPr marL="1600200" indent="-228600">
              <a:defRPr>
                <a:solidFill>
                  <a:schemeClr val="tx1"/>
                </a:solidFill>
                <a:latin typeface="Calibri" panose="020F0502020204030204" charset="0"/>
                <a:ea typeface="微软雅黑" panose="020B0503020204020204" pitchFamily="34" charset="-122"/>
              </a:defRPr>
            </a:lvl4pPr>
            <a:lvl5pPr marL="2057400" indent="-228600">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微软雅黑" panose="020B0503020204020204" pitchFamily="34" charset="-122"/>
              </a:defRPr>
            </a:lvl9pPr>
          </a:lstStyle>
          <a:p>
            <a:pPr marL="0" lvl="0" indent="0" algn="r">
              <a:lnSpc>
                <a:spcPct val="150000"/>
              </a:lnSpc>
              <a:spcBef>
                <a:spcPts val="0"/>
              </a:spcBef>
              <a:spcAft>
                <a:spcPts val="0"/>
              </a:spcAft>
              <a:buSzPct val="100000"/>
            </a:pPr>
            <a:r>
              <a:rPr lang="zh-CN" altLang="en-US" dirty="0">
                <a:solidFill>
                  <a:schemeClr val="tx1"/>
                </a:solidFill>
                <a:latin typeface="Arial" panose="020B0604020202020204" pitchFamily="34" charset="0"/>
                <a:ea typeface="黑体" panose="02010609060101010101" charset="-122"/>
              </a:rPr>
              <a:t>字典</a:t>
            </a:r>
          </a:p>
        </p:txBody>
      </p:sp>
    </p:spTree>
    <p:custDataLst>
      <p:tags r:id="rId1"/>
    </p:custDataLst>
  </p:cSld>
  <p:clrMapOvr>
    <a:masterClrMapping/>
  </p:clrMapOvr>
  <p:transition spd="slow" advTm="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内容占位符 2"/>
          <p:cNvSpPr>
            <a:spLocks noGrp="1"/>
          </p:cNvSpPr>
          <p:nvPr>
            <p:ph idx="1"/>
          </p:nvPr>
        </p:nvSpPr>
        <p:spPr>
          <a:xfrm>
            <a:off x="283210" y="1600200"/>
            <a:ext cx="11711940" cy="3267075"/>
          </a:xfrm>
        </p:spPr>
        <p:txBody>
          <a:bodyPr vert="horz" wrap="square" lIns="91456" tIns="45728" rIns="91456" bIns="45728" rtlCol="0" anchor="t">
            <a:normAutofit/>
          </a:bodyPr>
          <a:lstStyle/>
          <a:p>
            <a:pPr lvl="0" algn="just">
              <a:lnSpc>
                <a:spcPct val="150000"/>
              </a:lnSpc>
              <a:spcBef>
                <a:spcPts val="0"/>
              </a:spcBef>
            </a:pPr>
            <a:r>
              <a:rPr lang="en-US" altLang="zh-CN" sz="2800" dirty="0">
                <a:uFillTx/>
                <a:latin typeface="微软雅黑" panose="020B0503020204020204" pitchFamily="34" charset="-122"/>
                <a:ea typeface="微软雅黑" panose="020B0503020204020204" pitchFamily="34" charset="-122"/>
                <a:cs typeface="微软雅黑" panose="020B0503020204020204" pitchFamily="34" charset="-122"/>
                <a:sym typeface="+mn-ea"/>
              </a:rPr>
              <a:t>在Python中，序列是</a:t>
            </a:r>
            <a:r>
              <a:rPr lang="en-US" altLang="zh-CN" sz="2800"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一组按顺序排列的值</a:t>
            </a:r>
            <a:r>
              <a:rPr lang="en-US" altLang="zh-CN" sz="2800" dirty="0">
                <a:uFillTx/>
                <a:latin typeface="微软雅黑" panose="020B0503020204020204" pitchFamily="34" charset="-122"/>
                <a:ea typeface="微软雅黑" panose="020B0503020204020204" pitchFamily="34" charset="-122"/>
                <a:cs typeface="微软雅黑" panose="020B0503020204020204" pitchFamily="34" charset="-122"/>
                <a:sym typeface="+mn-ea"/>
              </a:rPr>
              <a:t>。</a:t>
            </a:r>
          </a:p>
          <a:p>
            <a:pPr lvl="0" algn="just">
              <a:lnSpc>
                <a:spcPct val="150000"/>
              </a:lnSpc>
              <a:spcBef>
                <a:spcPts val="0"/>
              </a:spcBef>
            </a:pPr>
            <a:r>
              <a:rPr lang="en-US" altLang="zh-CN" sz="2800" dirty="0">
                <a:uFillTx/>
                <a:latin typeface="微软雅黑" panose="020B0503020204020204" pitchFamily="34" charset="-122"/>
                <a:ea typeface="微软雅黑" panose="020B0503020204020204" pitchFamily="34" charset="-122"/>
                <a:cs typeface="微软雅黑" panose="020B0503020204020204" pitchFamily="34" charset="-122"/>
                <a:sym typeface="+mn-ea"/>
              </a:rPr>
              <a:t>Python有3种内置序列类型：字符串、元组和列表。字符串和列表是最常见的序列。</a:t>
            </a:r>
          </a:p>
          <a:p>
            <a:pPr lvl="0" algn="just">
              <a:lnSpc>
                <a:spcPct val="150000"/>
              </a:lnSpc>
              <a:spcBef>
                <a:spcPts val="0"/>
              </a:spcBef>
            </a:pPr>
            <a:r>
              <a:rPr lang="en-US" altLang="zh-CN" sz="2800" dirty="0">
                <a:uFillTx/>
                <a:latin typeface="微软雅黑" panose="020B0503020204020204" pitchFamily="34" charset="-122"/>
                <a:ea typeface="微软雅黑" panose="020B0503020204020204" pitchFamily="34" charset="-122"/>
                <a:cs typeface="微软雅黑" panose="020B0503020204020204" pitchFamily="34" charset="-122"/>
                <a:sym typeface="+mn-ea"/>
              </a:rPr>
              <a:t>序列的优点之一是支持索引和分片。</a:t>
            </a:r>
          </a:p>
        </p:txBody>
      </p:sp>
      <p:sp>
        <p:nvSpPr>
          <p:cNvPr id="3" name="标题 1"/>
          <p:cNvSpPr>
            <a:spLocks noGrp="1"/>
          </p:cNvSpPr>
          <p:nvPr/>
        </p:nvSpPr>
        <p:spPr>
          <a:xfrm>
            <a:off x="10125710" y="116205"/>
            <a:ext cx="1987550" cy="60388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j-cs"/>
              </a:rPr>
              <a:t>3.1 概述</a:t>
            </a:r>
          </a:p>
        </p:txBody>
      </p:sp>
    </p:spTree>
  </p:cSld>
  <p:clrMapOvr>
    <a:masterClrMapping/>
  </p:clrMapOvr>
  <p:transition spd="slow" advTm="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10125710" y="116205"/>
            <a:ext cx="1987550" cy="60388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j-cs"/>
              </a:rPr>
              <a:t>3.1 概述</a:t>
            </a:r>
          </a:p>
        </p:txBody>
      </p:sp>
      <p:sp>
        <p:nvSpPr>
          <p:cNvPr id="8" name="文本框 7"/>
          <p:cNvSpPr txBox="1"/>
          <p:nvPr/>
        </p:nvSpPr>
        <p:spPr>
          <a:xfrm>
            <a:off x="875030" y="948055"/>
            <a:ext cx="7193280" cy="583565"/>
          </a:xfrm>
          <a:prstGeom prst="rect">
            <a:avLst/>
          </a:prstGeom>
          <a:noFill/>
        </p:spPr>
        <p:txBody>
          <a:bodyPr wrap="square" rtlCol="0">
            <a:spAutoFit/>
          </a:bodyPr>
          <a:lstStyle/>
          <a:p>
            <a:r>
              <a:rPr lang="zh-CN" altLang="en-US" sz="3200" b="1" dirty="0">
                <a:solidFill>
                  <a:srgbClr val="FF0000"/>
                </a:solidFill>
                <a:latin typeface="微软雅黑" panose="020B0503020204020204" pitchFamily="34" charset="-122"/>
                <a:ea typeface="微软雅黑" panose="020B0503020204020204" pitchFamily="34" charset="-122"/>
              </a:rPr>
              <a:t>序列结构：</a:t>
            </a:r>
          </a:p>
        </p:txBody>
      </p:sp>
      <p:sp>
        <p:nvSpPr>
          <p:cNvPr id="15362" name="画布 8"/>
          <p:cNvSpPr/>
          <p:nvPr/>
        </p:nvSpPr>
        <p:spPr>
          <a:xfrm>
            <a:off x="2992120" y="1959610"/>
            <a:ext cx="6751955" cy="4132580"/>
          </a:xfrm>
          <a:prstGeom prst="rect">
            <a:avLst/>
          </a:prstGeom>
          <a:noFill/>
          <a:ln w="9525">
            <a:noFill/>
          </a:ln>
        </p:spPr>
        <p:txBody>
          <a:bodyPr anchor="t"/>
          <a:lstStyle/>
          <a:p>
            <a:endParaRPr lang="en-US" altLang="en-US">
              <a:latin typeface="Arial" panose="020B0604020202020204" pitchFamily="34" charset="0"/>
              <a:ea typeface="宋体" panose="02010600030101010101" pitchFamily="2" charset="-122"/>
            </a:endParaRPr>
          </a:p>
        </p:txBody>
      </p:sp>
      <p:sp>
        <p:nvSpPr>
          <p:cNvPr id="6" name="文本框 9"/>
          <p:cNvSpPr txBox="1"/>
          <p:nvPr/>
        </p:nvSpPr>
        <p:spPr>
          <a:xfrm>
            <a:off x="3141345" y="2853690"/>
            <a:ext cx="1152525" cy="381635"/>
          </a:xfrm>
          <a:prstGeom prst="rect">
            <a:avLst/>
          </a:pr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r>
              <a:rPr lang="en-US" altLang="zh-CN" sz="1800" strike="noStrike" kern="100" noProof="1">
                <a:latin typeface="微软雅黑" panose="020B0503020204020204" pitchFamily="34" charset="-122"/>
                <a:ea typeface="微软雅黑" panose="020B0503020204020204" pitchFamily="34" charset="-122"/>
                <a:cs typeface="Times New Roman" panose="02020603050405020304"/>
                <a:sym typeface="Times New Roman" panose="02020603050405020304"/>
              </a:rPr>
              <a:t>有序序列</a:t>
            </a:r>
          </a:p>
        </p:txBody>
      </p:sp>
      <p:sp>
        <p:nvSpPr>
          <p:cNvPr id="10" name="文本框 10"/>
          <p:cNvSpPr txBox="1"/>
          <p:nvPr/>
        </p:nvSpPr>
        <p:spPr>
          <a:xfrm>
            <a:off x="3156585" y="4003040"/>
            <a:ext cx="1152525" cy="381635"/>
          </a:xfrm>
          <a:prstGeom prst="rect">
            <a:avLst/>
          </a:pr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just" fontAlgn="base"/>
            <a:r>
              <a:rPr lang="en-US" altLang="zh-CN" sz="1800" strike="noStrike" kern="100" noProof="1">
                <a:latin typeface="微软雅黑" panose="020B0503020204020204" pitchFamily="34" charset="-122"/>
                <a:ea typeface="微软雅黑" panose="020B0503020204020204" pitchFamily="34" charset="-122"/>
                <a:cs typeface="Times New Roman" panose="02020603050405020304"/>
                <a:sym typeface="Times New Roman" panose="02020603050405020304"/>
              </a:rPr>
              <a:t>无序序列</a:t>
            </a:r>
          </a:p>
        </p:txBody>
      </p:sp>
      <p:sp>
        <p:nvSpPr>
          <p:cNvPr id="7" name="文本框 11"/>
          <p:cNvSpPr txBox="1"/>
          <p:nvPr/>
        </p:nvSpPr>
        <p:spPr>
          <a:xfrm>
            <a:off x="5417185" y="1993900"/>
            <a:ext cx="1873885" cy="380365"/>
          </a:xfrm>
          <a:prstGeom prst="rect">
            <a:avLst/>
          </a:prstGeom>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algn="ctr" fontAlgn="base"/>
            <a:r>
              <a:rPr lang="en-US" altLang="zh-CN" sz="2000" strike="noStrike" kern="100" noProof="1">
                <a:latin typeface="微软雅黑" panose="020B0503020204020204" pitchFamily="34" charset="-122"/>
                <a:ea typeface="微软雅黑" panose="020B0503020204020204" pitchFamily="34" charset="-122"/>
                <a:cs typeface="Times New Roman" panose="02020603050405020304"/>
                <a:sym typeface="Times New Roman" panose="02020603050405020304"/>
              </a:rPr>
              <a:t>列表</a:t>
            </a:r>
          </a:p>
        </p:txBody>
      </p:sp>
      <p:sp>
        <p:nvSpPr>
          <p:cNvPr id="12" name="文本框 12"/>
          <p:cNvSpPr txBox="1"/>
          <p:nvPr/>
        </p:nvSpPr>
        <p:spPr>
          <a:xfrm>
            <a:off x="5409565" y="2653030"/>
            <a:ext cx="1880870" cy="380365"/>
          </a:xfrm>
          <a:prstGeom prst="rect">
            <a:avLst/>
          </a:prstGeom>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algn="ctr" fontAlgn="base"/>
            <a:r>
              <a:rPr lang="en-US" altLang="zh-CN" sz="2000" strike="noStrike" kern="100" noProof="1">
                <a:latin typeface="微软雅黑" panose="020B0503020204020204" pitchFamily="34" charset="-122"/>
                <a:ea typeface="微软雅黑" panose="020B0503020204020204" pitchFamily="34" charset="-122"/>
                <a:cs typeface="Times New Roman" panose="02020603050405020304"/>
                <a:sym typeface="Times New Roman" panose="02020603050405020304"/>
              </a:rPr>
              <a:t>元组</a:t>
            </a:r>
          </a:p>
        </p:txBody>
      </p:sp>
      <p:sp>
        <p:nvSpPr>
          <p:cNvPr id="13" name="文本框 13"/>
          <p:cNvSpPr txBox="1"/>
          <p:nvPr/>
        </p:nvSpPr>
        <p:spPr>
          <a:xfrm>
            <a:off x="5409565" y="3314065"/>
            <a:ext cx="1880870" cy="380365"/>
          </a:xfrm>
          <a:prstGeom prst="rect">
            <a:avLst/>
          </a:prstGeom>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algn="ctr" fontAlgn="base"/>
            <a:r>
              <a:rPr lang="en-US" altLang="zh-CN" sz="2000" strike="noStrike" kern="100" noProof="1">
                <a:latin typeface="微软雅黑" panose="020B0503020204020204" pitchFamily="34" charset="-122"/>
                <a:ea typeface="微软雅黑" panose="020B0503020204020204" pitchFamily="34" charset="-122"/>
                <a:cs typeface="Times New Roman" panose="02020603050405020304"/>
                <a:sym typeface="Times New Roman" panose="02020603050405020304"/>
              </a:rPr>
              <a:t>字符串</a:t>
            </a:r>
          </a:p>
        </p:txBody>
      </p:sp>
      <p:sp>
        <p:nvSpPr>
          <p:cNvPr id="14" name="文本框 14"/>
          <p:cNvSpPr txBox="1"/>
          <p:nvPr/>
        </p:nvSpPr>
        <p:spPr>
          <a:xfrm>
            <a:off x="5408295" y="3999230"/>
            <a:ext cx="1882775" cy="380365"/>
          </a:xfrm>
          <a:prstGeom prst="rect">
            <a:avLst/>
          </a:prstGeom>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algn="ctr" fontAlgn="base"/>
            <a:r>
              <a:rPr lang="en-US" altLang="zh-CN" sz="2000" strike="noStrike" kern="100" noProof="1">
                <a:latin typeface="微软雅黑" panose="020B0503020204020204" pitchFamily="34" charset="-122"/>
                <a:ea typeface="微软雅黑" panose="020B0503020204020204" pitchFamily="34" charset="-122"/>
                <a:cs typeface="Times New Roman" panose="02020603050405020304"/>
                <a:sym typeface="Times New Roman" panose="02020603050405020304"/>
              </a:rPr>
              <a:t>字典</a:t>
            </a:r>
          </a:p>
        </p:txBody>
      </p:sp>
      <p:sp>
        <p:nvSpPr>
          <p:cNvPr id="24" name="文本框 15"/>
          <p:cNvSpPr txBox="1"/>
          <p:nvPr/>
        </p:nvSpPr>
        <p:spPr>
          <a:xfrm>
            <a:off x="5407660" y="4723765"/>
            <a:ext cx="1884045" cy="380365"/>
          </a:xfrm>
          <a:prstGeom prst="rect">
            <a:avLst/>
          </a:prstGeom>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algn="ctr" fontAlgn="base"/>
            <a:r>
              <a:rPr lang="en-US" altLang="zh-CN" sz="2000" strike="noStrike" kern="100" noProof="1">
                <a:latin typeface="微软雅黑" panose="020B0503020204020204" pitchFamily="34" charset="-122"/>
                <a:ea typeface="微软雅黑" panose="020B0503020204020204" pitchFamily="34" charset="-122"/>
                <a:cs typeface="Times New Roman" panose="02020603050405020304"/>
                <a:sym typeface="Times New Roman" panose="02020603050405020304"/>
              </a:rPr>
              <a:t>集合</a:t>
            </a:r>
          </a:p>
        </p:txBody>
      </p:sp>
      <p:sp>
        <p:nvSpPr>
          <p:cNvPr id="31" name="文本框 17"/>
          <p:cNvSpPr txBox="1"/>
          <p:nvPr/>
        </p:nvSpPr>
        <p:spPr>
          <a:xfrm>
            <a:off x="8179435" y="2889885"/>
            <a:ext cx="1437005" cy="38163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ctr" fontAlgn="base"/>
            <a:r>
              <a:rPr lang="en-US" altLang="zh-CN" sz="1800" strike="noStrike" kern="100" noProof="1">
                <a:solidFill>
                  <a:schemeClr val="tx2"/>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可变序列</a:t>
            </a:r>
          </a:p>
        </p:txBody>
      </p:sp>
      <p:sp>
        <p:nvSpPr>
          <p:cNvPr id="32" name="文本框 18"/>
          <p:cNvSpPr txBox="1"/>
          <p:nvPr/>
        </p:nvSpPr>
        <p:spPr>
          <a:xfrm>
            <a:off x="8178165" y="4006215"/>
            <a:ext cx="1435100" cy="381635"/>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noAutofit/>
          </a:bodyPr>
          <a:lstStyle/>
          <a:p>
            <a:pPr algn="ctr" fontAlgn="base"/>
            <a:r>
              <a:rPr lang="en-US" altLang="zh-CN" sz="1800" strike="noStrike" kern="100" noProof="1">
                <a:solidFill>
                  <a:schemeClr val="tx2"/>
                </a:solidFill>
                <a:latin typeface="微软雅黑" panose="020B0503020204020204" pitchFamily="34" charset="-122"/>
                <a:ea typeface="微软雅黑" panose="020B0503020204020204" pitchFamily="34" charset="-122"/>
                <a:cs typeface="Times New Roman" panose="02020603050405020304"/>
                <a:sym typeface="Times New Roman" panose="02020603050405020304"/>
              </a:rPr>
              <a:t>不可变序列</a:t>
            </a:r>
          </a:p>
        </p:txBody>
      </p:sp>
      <p:cxnSp>
        <p:nvCxnSpPr>
          <p:cNvPr id="33" name="直接箭头连接符 19"/>
          <p:cNvCxnSpPr>
            <a:stCxn id="7" idx="3"/>
            <a:endCxn id="31" idx="1"/>
          </p:cNvCxnSpPr>
          <p:nvPr/>
        </p:nvCxnSpPr>
        <p:spPr>
          <a:xfrm>
            <a:off x="7291705" y="2184400"/>
            <a:ext cx="887730" cy="896620"/>
          </a:xfrm>
          <a:prstGeom prst="straightConnector1">
            <a:avLst/>
          </a:prstGeom>
          <a:ln w="2540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4" name="直接箭头连接符 20"/>
          <p:cNvCxnSpPr>
            <a:stCxn id="14" idx="3"/>
            <a:endCxn id="31" idx="1"/>
          </p:cNvCxnSpPr>
          <p:nvPr/>
        </p:nvCxnSpPr>
        <p:spPr>
          <a:xfrm flipV="1">
            <a:off x="7291070" y="3081020"/>
            <a:ext cx="888365" cy="1108710"/>
          </a:xfrm>
          <a:prstGeom prst="straightConnector1">
            <a:avLst/>
          </a:prstGeom>
          <a:ln w="2540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5" name="直接箭头连接符 21"/>
          <p:cNvCxnSpPr>
            <a:stCxn id="24" idx="3"/>
            <a:endCxn id="31" idx="1"/>
          </p:cNvCxnSpPr>
          <p:nvPr/>
        </p:nvCxnSpPr>
        <p:spPr>
          <a:xfrm flipV="1">
            <a:off x="7292340" y="3081020"/>
            <a:ext cx="887095" cy="1833245"/>
          </a:xfrm>
          <a:prstGeom prst="straightConnector1">
            <a:avLst/>
          </a:prstGeom>
          <a:ln w="2540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6" name="直接箭头连接符 22"/>
          <p:cNvCxnSpPr>
            <a:stCxn id="12" idx="3"/>
            <a:endCxn id="32" idx="1"/>
          </p:cNvCxnSpPr>
          <p:nvPr/>
        </p:nvCxnSpPr>
        <p:spPr>
          <a:xfrm>
            <a:off x="7291070" y="2843530"/>
            <a:ext cx="887730" cy="1353820"/>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7" name="直接箭头连接符 23"/>
          <p:cNvCxnSpPr>
            <a:stCxn id="13" idx="3"/>
            <a:endCxn id="32" idx="1"/>
          </p:cNvCxnSpPr>
          <p:nvPr/>
        </p:nvCxnSpPr>
        <p:spPr>
          <a:xfrm>
            <a:off x="7291070" y="3504565"/>
            <a:ext cx="887730" cy="692785"/>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9" name="直接箭头连接符 25"/>
          <p:cNvCxnSpPr>
            <a:stCxn id="7" idx="1"/>
            <a:endCxn id="6" idx="3"/>
          </p:cNvCxnSpPr>
          <p:nvPr/>
        </p:nvCxnSpPr>
        <p:spPr>
          <a:xfrm flipH="1">
            <a:off x="4294505" y="2184400"/>
            <a:ext cx="1123315" cy="860425"/>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0" name="直接箭头连接符 26"/>
          <p:cNvCxnSpPr>
            <a:stCxn id="12" idx="1"/>
            <a:endCxn id="6" idx="3"/>
          </p:cNvCxnSpPr>
          <p:nvPr/>
        </p:nvCxnSpPr>
        <p:spPr>
          <a:xfrm flipH="1">
            <a:off x="4293870" y="2843530"/>
            <a:ext cx="1115695" cy="201295"/>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1" name="直接箭头连接符 27"/>
          <p:cNvCxnSpPr>
            <a:stCxn id="13" idx="1"/>
            <a:endCxn id="6" idx="3"/>
          </p:cNvCxnSpPr>
          <p:nvPr/>
        </p:nvCxnSpPr>
        <p:spPr>
          <a:xfrm flipH="1" flipV="1">
            <a:off x="4293870" y="3044825"/>
            <a:ext cx="1115695" cy="459740"/>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3" name="直接箭头连接符 29"/>
          <p:cNvCxnSpPr>
            <a:stCxn id="14" idx="1"/>
            <a:endCxn id="10" idx="3"/>
          </p:cNvCxnSpPr>
          <p:nvPr/>
        </p:nvCxnSpPr>
        <p:spPr>
          <a:xfrm flipH="1">
            <a:off x="4309110" y="4189730"/>
            <a:ext cx="1099185" cy="4445"/>
          </a:xfrm>
          <a:prstGeom prst="straightConnector1">
            <a:avLst/>
          </a:prstGeom>
          <a:ln w="2540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4" name="直接箭头连接符 30"/>
          <p:cNvCxnSpPr>
            <a:stCxn id="24" idx="1"/>
            <a:endCxn id="10" idx="3"/>
          </p:cNvCxnSpPr>
          <p:nvPr/>
        </p:nvCxnSpPr>
        <p:spPr>
          <a:xfrm flipH="1" flipV="1">
            <a:off x="4308475" y="4194175"/>
            <a:ext cx="1099185" cy="720090"/>
          </a:xfrm>
          <a:prstGeom prst="straightConnector1">
            <a:avLst/>
          </a:prstGeom>
          <a:ln w="2540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ransition spd="slow" advTm="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8675" y="1007745"/>
            <a:ext cx="8126095" cy="801370"/>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j-cs"/>
              </a:rPr>
              <a:t>序列的主要特征：</a:t>
            </a:r>
          </a:p>
        </p:txBody>
      </p:sp>
      <p:sp>
        <p:nvSpPr>
          <p:cNvPr id="7171" name="内容占位符 2"/>
          <p:cNvSpPr>
            <a:spLocks noGrp="1"/>
          </p:cNvSpPr>
          <p:nvPr>
            <p:ph idx="1"/>
          </p:nvPr>
        </p:nvSpPr>
        <p:spPr>
          <a:xfrm>
            <a:off x="828675" y="1809115"/>
            <a:ext cx="11102975" cy="4236085"/>
          </a:xfrm>
        </p:spPr>
        <p:txBody>
          <a:bodyPr vert="horz" wrap="square" lIns="91456" tIns="45728" rIns="91456" bIns="45728" anchor="t"/>
          <a:lstStyle/>
          <a:p>
            <a:pPr fontAlgn="auto">
              <a:lnSpc>
                <a:spcPts val="4460"/>
              </a:lnSpc>
              <a:spcBef>
                <a:spcPts val="0"/>
              </a:spcBef>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第一个正索引为零，指向左端；</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ts val="4460"/>
              </a:lnSpc>
              <a:spcBef>
                <a:spcPts val="0"/>
              </a:spcBef>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第一个负索引为</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，指向右端；</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ts val="4460"/>
              </a:lnSpc>
              <a:spcBef>
                <a:spcPts val="0"/>
              </a:spcBef>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可使用分片表示法来复制子序列；</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ts val="4460"/>
              </a:lnSpc>
              <a:spcBef>
                <a:spcPts val="0"/>
              </a:spcBef>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可使用</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进行拼接（即合并）。进行拼接的序列类型必须相同；</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ts val="4460"/>
              </a:lnSpc>
              <a:spcBef>
                <a:spcPts val="0"/>
              </a:spcBef>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可使用函数</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len</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计算其长度；</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ts val="4460"/>
              </a:lnSpc>
              <a:spcBef>
                <a:spcPts val="0"/>
              </a:spcBef>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表达式</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x in 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检查序列</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是否包含元素</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位于</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中，则返回</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True</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，否则返回</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False</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 name="标题 1"/>
          <p:cNvSpPr>
            <a:spLocks noGrp="1"/>
          </p:cNvSpPr>
          <p:nvPr/>
        </p:nvSpPr>
        <p:spPr>
          <a:xfrm>
            <a:off x="10125710" y="116205"/>
            <a:ext cx="1987550" cy="60388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j-cs"/>
              </a:rPr>
              <a:t>3.1 概述</a:t>
            </a:r>
          </a:p>
        </p:txBody>
      </p:sp>
    </p:spTree>
  </p:cSld>
  <p:clrMapOvr>
    <a:masterClrMapping/>
  </p:clrMapOvr>
  <p:transition spd="slow" advTm="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8675" y="1007745"/>
            <a:ext cx="8126095" cy="801370"/>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j-cs"/>
              </a:rPr>
              <a:t>序列的特征：</a:t>
            </a:r>
          </a:p>
        </p:txBody>
      </p:sp>
      <p:sp>
        <p:nvSpPr>
          <p:cNvPr id="3" name="标题 1"/>
          <p:cNvSpPr>
            <a:spLocks noGrp="1"/>
          </p:cNvSpPr>
          <p:nvPr/>
        </p:nvSpPr>
        <p:spPr>
          <a:xfrm>
            <a:off x="10125710" y="116205"/>
            <a:ext cx="1987550" cy="60388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j-cs"/>
              </a:rPr>
              <a:t>3.1 概述</a:t>
            </a:r>
          </a:p>
        </p:txBody>
      </p:sp>
      <p:graphicFrame>
        <p:nvGraphicFramePr>
          <p:cNvPr id="4" name="对象 3"/>
          <p:cNvGraphicFramePr/>
          <p:nvPr/>
        </p:nvGraphicFramePr>
        <p:xfrm>
          <a:off x="1050290" y="2070735"/>
          <a:ext cx="9497060" cy="3663950"/>
        </p:xfrm>
        <a:graphic>
          <a:graphicData uri="http://schemas.openxmlformats.org/presentationml/2006/ole">
            <mc:AlternateContent xmlns:mc="http://schemas.openxmlformats.org/markup-compatibility/2006">
              <mc:Choice xmlns:v="urn:schemas-microsoft-com:vml" Requires="v">
                <p:oleObj r:id="rId2" imgW="4086225" imgH="1047750" progId="Paint.Picture">
                  <p:embed/>
                </p:oleObj>
              </mc:Choice>
              <mc:Fallback>
                <p:oleObj r:id="rId2" imgW="4086225" imgH="1047750" progId="Paint.Picture">
                  <p:embed/>
                  <p:pic>
                    <p:nvPicPr>
                      <p:cNvPr id="0" name="图片 4"/>
                      <p:cNvPicPr/>
                      <p:nvPr/>
                    </p:nvPicPr>
                    <p:blipFill>
                      <a:blip r:embed="rId3"/>
                      <a:stretch>
                        <a:fillRect/>
                      </a:stretch>
                    </p:blipFill>
                    <p:spPr>
                      <a:xfrm>
                        <a:off x="1050290" y="2070735"/>
                        <a:ext cx="9497060" cy="3663950"/>
                      </a:xfrm>
                      <a:prstGeom prst="rect">
                        <a:avLst/>
                      </a:prstGeom>
                    </p:spPr>
                  </p:pic>
                </p:oleObj>
              </mc:Fallback>
            </mc:AlternateContent>
          </a:graphicData>
        </a:graphic>
      </p:graphicFrame>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500"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0" y="3810736"/>
            <a:ext cx="12198448" cy="3048588"/>
          </a:xfrm>
          <a:prstGeom prst="rect">
            <a:avLst/>
          </a:prstGeom>
          <a:pattFill prst="dkHorz">
            <a:fgClr>
              <a:srgbClr val="F2F2F2"/>
            </a:fgClr>
            <a:bgClr>
              <a:srgbClr val="FFFFFF"/>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p:cNvSpPr/>
          <p:nvPr>
            <p:custDataLst>
              <p:tags r:id="rId3"/>
            </p:custDataLst>
          </p:nvPr>
        </p:nvSpPr>
        <p:spPr>
          <a:xfrm>
            <a:off x="1677254" y="914251"/>
            <a:ext cx="8843875" cy="853503"/>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8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1"/>
          <p:cNvSpPr/>
          <p:nvPr>
            <p:custDataLst>
              <p:tags r:id="rId4"/>
            </p:custDataLst>
          </p:nvPr>
        </p:nvSpPr>
        <p:spPr>
          <a:xfrm>
            <a:off x="1677241" y="2194436"/>
            <a:ext cx="8843875" cy="3777441"/>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custDataLst>
              <p:tags r:id="rId5"/>
            </p:custDataLst>
          </p:nvPr>
        </p:nvSpPr>
        <p:spPr>
          <a:xfrm>
            <a:off x="1982200" y="1066680"/>
            <a:ext cx="8233950" cy="548639"/>
          </a:xfrm>
          <a:prstGeom prst="rect">
            <a:avLst/>
          </a:prstGeom>
          <a:noFill/>
        </p:spPr>
        <p:txBody>
          <a:bodyPr wrap="square" rtlCol="0" anchor="ctr">
            <a:noAutofit/>
          </a:bodyPr>
          <a:lstStyle/>
          <a:p>
            <a:pPr marL="0" indent="0" algn="ctr">
              <a:lnSpc>
                <a:spcPct val="100000"/>
              </a:lnSpc>
              <a:spcBef>
                <a:spcPts val="0"/>
              </a:spcBef>
              <a:spcAft>
                <a:spcPts val="0"/>
              </a:spcAft>
              <a:buSzPct val="100000"/>
              <a:buNone/>
            </a:pPr>
            <a:r>
              <a:rPr lang="zh-CN" altLang="en-US" sz="3600" b="1" spc="300" dirty="0">
                <a:solidFill>
                  <a:srgbClr val="0070C0"/>
                </a:solidFill>
                <a:latin typeface="微软雅黑" panose="020B0503020204020204" pitchFamily="34" charset="-122"/>
                <a:ea typeface="微软雅黑" panose="020B0503020204020204" pitchFamily="34" charset="-122"/>
              </a:rPr>
              <a:t>主要内容</a:t>
            </a:r>
          </a:p>
        </p:txBody>
      </p:sp>
      <p:sp>
        <p:nvSpPr>
          <p:cNvPr id="12" name="弧形 11"/>
          <p:cNvSpPr/>
          <p:nvPr>
            <p:custDataLst>
              <p:tags r:id="rId6"/>
            </p:custDataLst>
          </p:nvPr>
        </p:nvSpPr>
        <p:spPr>
          <a:xfrm>
            <a:off x="2322195"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13" name="文本框 80"/>
          <p:cNvSpPr txBox="1"/>
          <p:nvPr>
            <p:custDataLst>
              <p:tags r:id="rId7"/>
            </p:custDataLst>
          </p:nvPr>
        </p:nvSpPr>
        <p:spPr>
          <a:xfrm>
            <a:off x="204406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概述</a:t>
            </a:r>
          </a:p>
        </p:txBody>
      </p:sp>
      <p:sp>
        <p:nvSpPr>
          <p:cNvPr id="14" name="标题 5"/>
          <p:cNvSpPr>
            <a:spLocks noGrp="1"/>
          </p:cNvSpPr>
          <p:nvPr>
            <p:custDataLst>
              <p:tags r:id="rId8"/>
            </p:custDataLst>
          </p:nvPr>
        </p:nvSpPr>
        <p:spPr>
          <a:xfrm>
            <a:off x="243268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3.1</a:t>
            </a:r>
          </a:p>
        </p:txBody>
      </p:sp>
      <p:sp>
        <p:nvSpPr>
          <p:cNvPr id="15" name="菱形 14"/>
          <p:cNvSpPr/>
          <p:nvPr>
            <p:custDataLst>
              <p:tags r:id="rId9"/>
            </p:custDataLst>
          </p:nvPr>
        </p:nvSpPr>
        <p:spPr>
          <a:xfrm>
            <a:off x="2143760"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
        <p:nvSpPr>
          <p:cNvPr id="16" name="弧形 15"/>
          <p:cNvSpPr/>
          <p:nvPr>
            <p:custDataLst>
              <p:tags r:id="rId10"/>
            </p:custDataLst>
          </p:nvPr>
        </p:nvSpPr>
        <p:spPr>
          <a:xfrm>
            <a:off x="4001135" y="2520962"/>
            <a:ext cx="727075" cy="716915"/>
          </a:xfrm>
          <a:prstGeom prst="arc">
            <a:avLst>
              <a:gd name="adj1" fmla="val 11619054"/>
              <a:gd name="adj2" fmla="val 10295063"/>
            </a:avLst>
          </a:prstGeom>
          <a:ln w="190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1" name="文本框 80"/>
          <p:cNvSpPr txBox="1"/>
          <p:nvPr>
            <p:custDataLst>
              <p:tags r:id="rId11"/>
            </p:custDataLst>
          </p:nvPr>
        </p:nvSpPr>
        <p:spPr>
          <a:xfrm>
            <a:off x="3723640"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FF0000"/>
                </a:solidFill>
                <a:latin typeface="微软雅黑" panose="020B0503020204020204" pitchFamily="34" charset="-122"/>
                <a:ea typeface="微软雅黑" panose="020B0503020204020204" pitchFamily="34" charset="-122"/>
              </a:rPr>
              <a:t>列表</a:t>
            </a:r>
          </a:p>
        </p:txBody>
      </p:sp>
      <p:sp>
        <p:nvSpPr>
          <p:cNvPr id="22" name="标题 5"/>
          <p:cNvSpPr>
            <a:spLocks noGrp="1"/>
          </p:cNvSpPr>
          <p:nvPr>
            <p:custDataLst>
              <p:tags r:id="rId12"/>
            </p:custDataLst>
          </p:nvPr>
        </p:nvSpPr>
        <p:spPr>
          <a:xfrm>
            <a:off x="411226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FF0000"/>
                </a:solidFill>
                <a:latin typeface="微软雅黑" panose="020B0503020204020204" pitchFamily="34" charset="-122"/>
              </a:rPr>
              <a:t>3.2</a:t>
            </a:r>
          </a:p>
        </p:txBody>
      </p:sp>
      <p:sp>
        <p:nvSpPr>
          <p:cNvPr id="23" name="菱形 22"/>
          <p:cNvSpPr/>
          <p:nvPr>
            <p:custDataLst>
              <p:tags r:id="rId13"/>
            </p:custDataLst>
          </p:nvPr>
        </p:nvSpPr>
        <p:spPr>
          <a:xfrm>
            <a:off x="3822700" y="2712097"/>
            <a:ext cx="301625" cy="301625"/>
          </a:xfrm>
          <a:prstGeom prst="diamond">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0000"/>
              </a:solidFill>
              <a:latin typeface="微软雅黑" panose="020B0503020204020204" pitchFamily="34" charset="-122"/>
              <a:ea typeface="微软雅黑" panose="020B0503020204020204" pitchFamily="34" charset="-122"/>
            </a:endParaRPr>
          </a:p>
        </p:txBody>
      </p:sp>
      <p:sp>
        <p:nvSpPr>
          <p:cNvPr id="24" name="弧形 23"/>
          <p:cNvSpPr/>
          <p:nvPr>
            <p:custDataLst>
              <p:tags r:id="rId14"/>
            </p:custDataLst>
          </p:nvPr>
        </p:nvSpPr>
        <p:spPr>
          <a:xfrm>
            <a:off x="5680710"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5" name="文本框 80"/>
          <p:cNvSpPr txBox="1"/>
          <p:nvPr>
            <p:custDataLst>
              <p:tags r:id="rId15"/>
            </p:custDataLst>
          </p:nvPr>
        </p:nvSpPr>
        <p:spPr>
          <a:xfrm>
            <a:off x="5402580"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元组</a:t>
            </a:r>
          </a:p>
        </p:txBody>
      </p:sp>
      <p:sp>
        <p:nvSpPr>
          <p:cNvPr id="26" name="标题 5"/>
          <p:cNvSpPr>
            <a:spLocks noGrp="1"/>
          </p:cNvSpPr>
          <p:nvPr>
            <p:custDataLst>
              <p:tags r:id="rId16"/>
            </p:custDataLst>
          </p:nvPr>
        </p:nvSpPr>
        <p:spPr>
          <a:xfrm>
            <a:off x="579120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3.3</a:t>
            </a:r>
          </a:p>
        </p:txBody>
      </p:sp>
      <p:sp>
        <p:nvSpPr>
          <p:cNvPr id="27" name="菱形 26"/>
          <p:cNvSpPr/>
          <p:nvPr>
            <p:custDataLst>
              <p:tags r:id="rId17"/>
            </p:custDataLst>
          </p:nvPr>
        </p:nvSpPr>
        <p:spPr>
          <a:xfrm>
            <a:off x="5502275"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
        <p:nvSpPr>
          <p:cNvPr id="28" name="弧形 27"/>
          <p:cNvSpPr/>
          <p:nvPr>
            <p:custDataLst>
              <p:tags r:id="rId18"/>
            </p:custDataLst>
          </p:nvPr>
        </p:nvSpPr>
        <p:spPr>
          <a:xfrm>
            <a:off x="7359650"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9" name="文本框 80"/>
          <p:cNvSpPr txBox="1"/>
          <p:nvPr>
            <p:custDataLst>
              <p:tags r:id="rId19"/>
            </p:custDataLst>
          </p:nvPr>
        </p:nvSpPr>
        <p:spPr>
          <a:xfrm>
            <a:off x="708215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字典</a:t>
            </a:r>
          </a:p>
        </p:txBody>
      </p:sp>
      <p:sp>
        <p:nvSpPr>
          <p:cNvPr id="30" name="标题 5"/>
          <p:cNvSpPr>
            <a:spLocks noGrp="1"/>
          </p:cNvSpPr>
          <p:nvPr>
            <p:custDataLst>
              <p:tags r:id="rId20"/>
            </p:custDataLst>
          </p:nvPr>
        </p:nvSpPr>
        <p:spPr>
          <a:xfrm>
            <a:off x="747077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3.4</a:t>
            </a:r>
          </a:p>
        </p:txBody>
      </p:sp>
      <p:sp>
        <p:nvSpPr>
          <p:cNvPr id="31" name="菱形 30"/>
          <p:cNvSpPr/>
          <p:nvPr>
            <p:custDataLst>
              <p:tags r:id="rId21"/>
            </p:custDataLst>
          </p:nvPr>
        </p:nvSpPr>
        <p:spPr>
          <a:xfrm>
            <a:off x="7181215"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
        <p:nvSpPr>
          <p:cNvPr id="4" name="弧形 3"/>
          <p:cNvSpPr/>
          <p:nvPr>
            <p:custDataLst>
              <p:tags r:id="rId22"/>
            </p:custDataLst>
          </p:nvPr>
        </p:nvSpPr>
        <p:spPr>
          <a:xfrm>
            <a:off x="8997950" y="251207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5" name="文本框 80"/>
          <p:cNvSpPr txBox="1"/>
          <p:nvPr>
            <p:custDataLst>
              <p:tags r:id="rId23"/>
            </p:custDataLst>
          </p:nvPr>
        </p:nvSpPr>
        <p:spPr>
          <a:xfrm>
            <a:off x="8720455" y="334646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集合</a:t>
            </a:r>
          </a:p>
        </p:txBody>
      </p:sp>
      <p:sp>
        <p:nvSpPr>
          <p:cNvPr id="7" name="标题 5"/>
          <p:cNvSpPr>
            <a:spLocks noGrp="1"/>
          </p:cNvSpPr>
          <p:nvPr>
            <p:custDataLst>
              <p:tags r:id="rId24"/>
            </p:custDataLst>
          </p:nvPr>
        </p:nvSpPr>
        <p:spPr>
          <a:xfrm>
            <a:off x="9109075" y="260732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3.5</a:t>
            </a:r>
          </a:p>
        </p:txBody>
      </p:sp>
      <p:sp>
        <p:nvSpPr>
          <p:cNvPr id="8" name="菱形 7"/>
          <p:cNvSpPr/>
          <p:nvPr>
            <p:custDataLst>
              <p:tags r:id="rId25"/>
            </p:custDataLst>
          </p:nvPr>
        </p:nvSpPr>
        <p:spPr>
          <a:xfrm>
            <a:off x="8819515" y="270320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Tm="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19459" name="内容占位符 2"/>
          <p:cNvSpPr>
            <a:spLocks noGrp="1"/>
          </p:cNvSpPr>
          <p:nvPr>
            <p:ph idx="1"/>
          </p:nvPr>
        </p:nvSpPr>
        <p:spPr>
          <a:xfrm>
            <a:off x="538480" y="1240790"/>
            <a:ext cx="10982960" cy="3520440"/>
          </a:xfrm>
        </p:spPr>
        <p:txBody>
          <a:bodyPr vert="horz" wrap="square" lIns="91456" tIns="45728" rIns="91456" bIns="45728" rtlCol="0" anchor="t">
            <a:normAutofit/>
          </a:bodyPr>
          <a:lstStyle/>
          <a:p>
            <a:pPr lvl="0" algn="just">
              <a:lnSpc>
                <a:spcPct val="150000"/>
              </a:lnSpc>
              <a:spcBef>
                <a:spcPts val="0"/>
              </a:spcBef>
            </a:pPr>
            <a:r>
              <a:rPr lang="en-US" altLang="zh-CN" sz="2800" b="1" dirty="0">
                <a:solidFill>
                  <a:srgbClr val="FF000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列表</a:t>
            </a:r>
            <a:r>
              <a:rPr lang="en-US" altLang="zh-CN" sz="2800" dirty="0">
                <a:uFillTx/>
                <a:latin typeface="微软雅黑" panose="020B0503020204020204" pitchFamily="34" charset="-122"/>
                <a:ea typeface="微软雅黑" panose="020B0503020204020204" pitchFamily="34" charset="-122"/>
                <a:cs typeface="微软雅黑" panose="020B0503020204020204" pitchFamily="34" charset="-122"/>
                <a:sym typeface="+mn-ea"/>
              </a:rPr>
              <a:t>是Python中非常重要的数据类型，通常作为函数的返回类型。</a:t>
            </a:r>
          </a:p>
          <a:p>
            <a:pPr lvl="0" algn="just">
              <a:lnSpc>
                <a:spcPct val="150000"/>
              </a:lnSpc>
              <a:spcBef>
                <a:spcPts val="0"/>
              </a:spcBef>
            </a:pPr>
            <a:r>
              <a:rPr lang="en-US" altLang="zh-CN" sz="2800" dirty="0" err="1">
                <a:uFillTx/>
                <a:latin typeface="微软雅黑" panose="020B0503020204020204" pitchFamily="34" charset="-122"/>
                <a:ea typeface="微软雅黑" panose="020B0503020204020204" pitchFamily="34" charset="-122"/>
                <a:cs typeface="微软雅黑" panose="020B0503020204020204" pitchFamily="34" charset="-122"/>
                <a:sym typeface="+mn-ea"/>
              </a:rPr>
              <a:t>列表由一组元素组成。列表可包含任何类型的值：数字、字符串甚至序列</a:t>
            </a:r>
            <a:r>
              <a:rPr lang="en-US" altLang="zh-CN" sz="2800" dirty="0">
                <a:uFillTx/>
                <a:latin typeface="微软雅黑" panose="020B0503020204020204" pitchFamily="34" charset="-122"/>
                <a:ea typeface="微软雅黑" panose="020B0503020204020204" pitchFamily="34" charset="-122"/>
                <a:cs typeface="微软雅黑" panose="020B0503020204020204" pitchFamily="34" charset="-122"/>
                <a:sym typeface="+mn-ea"/>
              </a:rPr>
              <a:t>。</a:t>
            </a:r>
          </a:p>
          <a:p>
            <a:pPr lvl="0" algn="just">
              <a:lnSpc>
                <a:spcPct val="150000"/>
              </a:lnSpc>
              <a:spcBef>
                <a:spcPts val="0"/>
              </a:spcBef>
            </a:pPr>
            <a:r>
              <a:rPr lang="en-US" altLang="zh-CN" sz="2800" dirty="0">
                <a:uFillTx/>
                <a:latin typeface="微软雅黑" panose="020B0503020204020204" pitchFamily="34" charset="-122"/>
                <a:ea typeface="微软雅黑" panose="020B0503020204020204" pitchFamily="34" charset="-122"/>
                <a:cs typeface="微软雅黑" panose="020B0503020204020204" pitchFamily="34" charset="-122"/>
                <a:sym typeface="+mn-ea"/>
              </a:rPr>
              <a:t>列表与元组的重要差别是列表是可变的，即可以在不复制的情况下添加、删除或修改列表元素。</a:t>
            </a:r>
          </a:p>
        </p:txBody>
      </p:sp>
    </p:spTree>
  </p:cSld>
  <p:clrMapOvr>
    <a:masterClrMapping/>
  </p:clrMapOvr>
  <p:transition spd="slow" advTm="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17410" name="文本占位符 11266"/>
          <p:cNvSpPr>
            <a:spLocks noGrp="1"/>
          </p:cNvSpPr>
          <p:nvPr/>
        </p:nvSpPr>
        <p:spPr>
          <a:xfrm>
            <a:off x="614680" y="1164590"/>
            <a:ext cx="11236325" cy="311404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rgbClr val="000000"/>
                </a:solidFill>
                <a:latin typeface="Arial" panose="020B0604020202020204" pitchFamily="34" charset="0"/>
                <a:ea typeface="宋体" panose="02010600030101010101" pitchFamily="2" charset="-122"/>
                <a:cs typeface="+mn-ea"/>
              </a:defRPr>
            </a:lvl1pPr>
            <a:lvl2pPr marL="742950" lvl="1" indent="-285750" algn="l" defTabSz="914400" eaLnBrk="0" fontAlgn="base" latinLnBrk="0" hangingPunct="0">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cs typeface="+mn-ea"/>
              </a:defRPr>
            </a:lvl2pPr>
            <a:lvl3pPr marL="1143000" lvl="2" indent="-228600" algn="l" defTabSz="914400" eaLnBrk="0" fontAlgn="base" latinLnBrk="0" hangingPunct="0">
              <a:spcBef>
                <a:spcPct val="20000"/>
              </a:spcBef>
              <a:spcAft>
                <a:spcPct val="0"/>
              </a:spcAft>
              <a:buChar char="•"/>
              <a:defRPr sz="2400" b="0" i="0" u="none" kern="1200" baseline="0">
                <a:solidFill>
                  <a:srgbClr val="000000"/>
                </a:solidFill>
                <a:latin typeface="Arial" panose="020B0604020202020204" pitchFamily="34" charset="0"/>
                <a:ea typeface="宋体" panose="02010600030101010101" pitchFamily="2" charset="-122"/>
                <a:cs typeface="+mn-ea"/>
              </a:defRPr>
            </a:lvl3pPr>
            <a:lvl4pPr marL="1600200" lvl="3"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4pPr>
            <a:lvl5pPr marL="2057400" lvl="4"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5pPr>
            <a:lvl6pPr marL="2514600" lvl="5"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6pPr>
            <a:lvl7pPr marL="2971800" lvl="6"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7pPr>
            <a:lvl8pPr marL="3429000" lvl="7"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8pPr>
            <a:lvl9pPr marL="3886200" lvl="8"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9pPr>
          </a:lstStyle>
          <a:p>
            <a:pPr defTabSz="914400">
              <a:lnSpc>
                <a:spcPct val="100000"/>
              </a:lnSpc>
              <a:spcBef>
                <a:spcPts val="600"/>
              </a:spcBef>
              <a:spcAft>
                <a:spcPts val="600"/>
              </a:spcAft>
              <a:buSzPct val="90000"/>
              <a:buFont typeface="Wingdings" panose="05000000000000000000"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列表是</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中内置</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有序、可变</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序列，列表的所有元素放在一对中括号“</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中，并使用逗号分隔开；</a:t>
            </a:r>
          </a:p>
          <a:p>
            <a:pPr defTabSz="914400">
              <a:lnSpc>
                <a:spcPct val="100000"/>
              </a:lnSpc>
              <a:spcBef>
                <a:spcPts val="600"/>
              </a:spcBef>
              <a:spcAft>
                <a:spcPts val="600"/>
              </a:spcAft>
              <a:buSzPct val="90000"/>
              <a:buFont typeface="Wingdings" panose="05000000000000000000" charset="0"/>
              <a:buChar char="§"/>
            </a:pP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当列表元素增加或删除时，列表对象自动进行扩展或收缩内存，保证元素之间没有缝隙</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a:p>
            <a:pPr defTabSz="914400">
              <a:lnSpc>
                <a:spcPct val="100000"/>
              </a:lnSpc>
              <a:spcBef>
                <a:spcPts val="600"/>
              </a:spcBef>
              <a:spcAft>
                <a:spcPts val="600"/>
              </a:spcAft>
              <a:buSzPct val="90000"/>
              <a:buFont typeface="Wingdings" panose="05000000000000000000"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在Python中，</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一个列表中的数据类型可以各不相同</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，可以同时分别为整数、实数、字符串等基本类型，甚至是列表、元组、字典、集合以及其他自定义类型的对象。</a:t>
            </a:r>
          </a:p>
          <a:p>
            <a:pPr defTabSz="914400">
              <a:lnSpc>
                <a:spcPct val="80000"/>
              </a:lnSpc>
              <a:buSzPct val="90000"/>
              <a:buFont typeface="Wingdings" panose="05000000000000000000" pitchFamily="2" charset="2"/>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986155" y="4167505"/>
            <a:ext cx="9307195" cy="1871345"/>
          </a:xfrm>
          <a:prstGeom prst="rect">
            <a:avLst/>
          </a:prstGeom>
          <a:noFill/>
        </p:spPr>
        <p:txBody>
          <a:bodyPr wrap="square" rtlCol="0" anchor="t">
            <a:spAutoFit/>
          </a:bodyPr>
          <a:lstStyle/>
          <a:p>
            <a:pPr indent="3053080" defTabSz="914400">
              <a:lnSpc>
                <a:spcPct val="120000"/>
              </a:lnSpc>
              <a:spcBef>
                <a:spcPts val="20"/>
              </a:spcBef>
              <a:spcAft>
                <a:spcPts val="0"/>
              </a:spcAft>
              <a:buSzPct val="90000"/>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[10, 20, 30, 40]</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indent="3053080" defTabSz="914400">
              <a:lnSpc>
                <a:spcPct val="120000"/>
              </a:lnSpc>
              <a:spcBef>
                <a:spcPts val="20"/>
              </a:spcBef>
              <a:spcAft>
                <a:spcPts val="0"/>
              </a:spcAft>
              <a:buSzPct val="90000"/>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['China', 'Russia', 'USA']</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indent="3053080" defTabSz="914400">
              <a:lnSpc>
                <a:spcPct val="120000"/>
              </a:lnSpc>
              <a:spcBef>
                <a:spcPts val="20"/>
              </a:spcBef>
              <a:spcAft>
                <a:spcPts val="0"/>
              </a:spcAft>
              <a:buSzPct val="90000"/>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['spam', 2.0, 5, [10, 20]]</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indent="3053080" defTabSz="914400">
              <a:lnSpc>
                <a:spcPct val="120000"/>
              </a:lnSpc>
              <a:spcBef>
                <a:spcPts val="20"/>
              </a:spcBef>
              <a:spcAft>
                <a:spcPts val="0"/>
              </a:spcAft>
              <a:buSzPct val="90000"/>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[['file1', 200,7], ['file2', 260,9]]</a:t>
            </a:r>
            <a:endParaRPr lang="zh-CN" altLang="en-US"/>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90" y="735330"/>
            <a:ext cx="3836670" cy="81343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、列表的创建</a:t>
            </a:r>
          </a:p>
        </p:txBody>
      </p:sp>
      <p:sp>
        <p:nvSpPr>
          <p:cNvPr id="3" name="内容占位符 2"/>
          <p:cNvSpPr>
            <a:spLocks noGrp="1"/>
          </p:cNvSpPr>
          <p:nvPr>
            <p:ph idx="1"/>
          </p:nvPr>
        </p:nvSpPr>
        <p:spPr>
          <a:xfrm>
            <a:off x="857250" y="1548765"/>
            <a:ext cx="10483850" cy="4644390"/>
          </a:xfrm>
        </p:spPr>
        <p:txBody>
          <a:bodyPr vert="horz" wrap="square" lIns="91456" tIns="45728" rIns="91456" bIns="45728" numCol="1" anchor="t" anchorCtr="0" compatLnSpc="1"/>
          <a:lstStyle/>
          <a:p>
            <a:pPr marL="342900" marR="0" lvl="0" indent="0" algn="just" defTabSz="914400" rtl="0" eaLnBrk="0" fontAlgn="base" hangingPunct="0">
              <a:lnSpc>
                <a:spcPct val="150000"/>
              </a:lnSpc>
              <a:spcBef>
                <a:spcPts val="0"/>
              </a:spcBef>
              <a:spcAft>
                <a:spcPct val="0"/>
              </a:spcAft>
              <a:buClrTx/>
              <a:buSzTx/>
              <a:buFontTx/>
              <a:buChar char="•"/>
              <a:defRPr/>
            </a:pP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格式：</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0" fontAlgn="base" hangingPunct="0">
              <a:lnSpc>
                <a:spcPct val="150000"/>
              </a:lnSpc>
              <a:spcBef>
                <a:spcPts val="0"/>
              </a:spcBef>
              <a:spcAft>
                <a:spcPct val="0"/>
              </a:spcAft>
              <a:buClrTx/>
              <a:buSzTx/>
              <a:buFontTx/>
              <a:buNone/>
              <a:defRPr/>
            </a:pP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list=[</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元素</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元素</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元素</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  #</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定义</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个元素组成的列表</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0" fontAlgn="base" hangingPunct="0">
              <a:lnSpc>
                <a:spcPct val="150000"/>
              </a:lnSpc>
              <a:spcBef>
                <a:spcPts val="0"/>
              </a:spcBef>
              <a:spcAft>
                <a:spcPct val="0"/>
              </a:spcAft>
              <a:buClrTx/>
              <a:buSzTx/>
              <a:buFontTx/>
              <a:buNone/>
              <a:defRPr/>
            </a:pP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list=[]  #</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定义空列表</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0" fontAlgn="base" hangingPunct="0">
              <a:lnSpc>
                <a:spcPct val="150000"/>
              </a:lnSpc>
              <a:spcBef>
                <a:spcPts val="0"/>
              </a:spcBef>
              <a:spcAft>
                <a:spcPct val="0"/>
              </a:spcAft>
              <a:buClrTx/>
              <a:buSzTx/>
              <a:buFontTx/>
              <a:buNone/>
              <a:defRPr/>
            </a:pP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list=[x] #</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定义只包含一个元素的列表</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0" algn="just" defTabSz="914400" rtl="0" eaLnBrk="0" fontAlgn="base" hangingPunct="0">
              <a:lnSpc>
                <a:spcPct val="150000"/>
              </a:lnSpc>
              <a:spcBef>
                <a:spcPts val="0"/>
              </a:spcBef>
              <a:spcAft>
                <a:spcPct val="0"/>
              </a:spcAft>
              <a:buClrTx/>
              <a:buSzTx/>
              <a:buFontTx/>
              <a:buChar char="•"/>
              <a:defRPr/>
            </a:pP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列表的数据项</a:t>
            </a:r>
            <a:r>
              <a:rPr kumimoji="0" lang="zh-CN" altLang="en-US" sz="2800" b="1" i="1"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不需要具有相同的类型</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p>
          <a:p>
            <a:pPr marL="342900" marR="0" lvl="0" indent="0" algn="just" defTabSz="914400" rtl="0" eaLnBrk="0" fontAlgn="base" hangingPunct="0">
              <a:lnSpc>
                <a:spcPct val="150000"/>
              </a:lnSpc>
              <a:spcBef>
                <a:spcPts val="0"/>
              </a:spcBef>
              <a:spcAft>
                <a:spcPct val="0"/>
              </a:spcAft>
              <a:buClrTx/>
              <a:buSzTx/>
              <a:buFontTx/>
              <a:buChar char="•"/>
              <a:defRPr/>
            </a:pP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说明：列表用方括号括起，其中元素用逗号分隔。</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just" defTabSz="914400" rtl="0" eaLnBrk="0" fontAlgn="base" latinLnBrk="0" hangingPunct="0">
              <a:lnSpc>
                <a:spcPct val="100000"/>
              </a:lnSpc>
              <a:spcBef>
                <a:spcPct val="20000"/>
              </a:spcBef>
              <a:spcAft>
                <a:spcPct val="0"/>
              </a:spcAft>
              <a:buClrTx/>
              <a:buSzTx/>
              <a:buFontTx/>
              <a:buChar char="•"/>
              <a:defRPr/>
            </a:pPr>
            <a:endParaRPr kumimoji="0" lang="zh-CN" altLang="en-US" sz="32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Tree>
  </p:cSld>
  <p:clrMapOvr>
    <a:masterClrMapping/>
  </p:clrMapOvr>
  <p:transition spd="slow" advTm="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90" y="735330"/>
            <a:ext cx="3836670" cy="81343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、列表的创建</a:t>
            </a:r>
          </a:p>
        </p:txBody>
      </p:sp>
      <p:sp>
        <p:nvSpPr>
          <p:cNvPr id="4"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内容占位符 2"/>
          <p:cNvSpPr>
            <a:spLocks noGrp="1"/>
          </p:cNvSpPr>
          <p:nvPr/>
        </p:nvSpPr>
        <p:spPr>
          <a:xfrm>
            <a:off x="295275" y="1548765"/>
            <a:ext cx="11853545" cy="15589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algn="just" fontAlgn="auto">
              <a:lnSpc>
                <a:spcPct val="150000"/>
              </a:lnSpc>
              <a:spcBef>
                <a:spcPts val="0"/>
              </a:spcBef>
              <a:buNone/>
            </a:pPr>
            <a:r>
              <a:rPr lang="zh-CN" altLang="en-US" sz="2400" dirty="0"/>
              <a:t>假设你正在学习的课程有：</a:t>
            </a:r>
            <a:r>
              <a:rPr lang="en-US" altLang="zh-CN" sz="2400" dirty="0"/>
              <a:t> </a:t>
            </a:r>
          </a:p>
          <a:p>
            <a:pPr marL="0" indent="0" algn="just" fontAlgn="auto">
              <a:lnSpc>
                <a:spcPct val="150000"/>
              </a:lnSpc>
              <a:spcBef>
                <a:spcPts val="0"/>
              </a:spcBef>
              <a:buNone/>
            </a:pPr>
            <a:r>
              <a:rPr lang="en-US" altLang="zh-CN" sz="2400" dirty="0">
                <a:latin typeface="华文仿宋" panose="02010600040101010101" pitchFamily="2" charset="-122"/>
                <a:ea typeface="华文仿宋" panose="02010600040101010101" pitchFamily="2" charset="-122"/>
              </a:rPr>
              <a:t>大</a:t>
            </a:r>
            <a:r>
              <a:rPr altLang="en-US" sz="2400" dirty="0">
                <a:latin typeface="华文仿宋" panose="02010600040101010101" pitchFamily="2" charset="-122"/>
                <a:ea typeface="华文仿宋" panose="02010600040101010101" pitchFamily="2" charset="-122"/>
              </a:rPr>
              <a:t>数据分析语言基础</a:t>
            </a:r>
            <a:r>
              <a:rPr lang="zh-CN" altLang="en-US" sz="2400" dirty="0">
                <a:latin typeface="华文仿宋" panose="02010600040101010101" pitchFamily="2" charset="-122"/>
                <a:ea typeface="华文仿宋" panose="02010600040101010101" pitchFamily="2" charset="-122"/>
              </a:rPr>
              <a:t>、计算机网络、计算机原理、操作系统、算法设计</a:t>
            </a:r>
            <a:endParaRPr lang="en-US" altLang="zh-CN" sz="2400" dirty="0">
              <a:latin typeface="华文仿宋" panose="02010600040101010101" pitchFamily="2" charset="-122"/>
              <a:ea typeface="华文仿宋" panose="02010600040101010101" pitchFamily="2" charset="-122"/>
            </a:endParaRPr>
          </a:p>
        </p:txBody>
      </p:sp>
      <p:sp>
        <p:nvSpPr>
          <p:cNvPr id="12" name="内容占位符 2"/>
          <p:cNvSpPr txBox="1"/>
          <p:nvPr/>
        </p:nvSpPr>
        <p:spPr>
          <a:xfrm>
            <a:off x="516255" y="3425825"/>
            <a:ext cx="11163300" cy="1468755"/>
          </a:xfrm>
          <a:prstGeom prst="rect">
            <a:avLst/>
          </a:prstGeom>
          <a:solidFill>
            <a:schemeClr val="bg1">
              <a:lumMod val="95000"/>
            </a:schemeClr>
          </a:solidFill>
          <a:ln w="12700">
            <a:solidFill>
              <a:schemeClr val="tx1"/>
            </a:solid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i="1" dirty="0">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i="1" dirty="0">
                <a:latin typeface="微软雅黑" panose="020B0503020204020204" pitchFamily="34" charset="-122"/>
                <a:ea typeface="微软雅黑" panose="020B0503020204020204" pitchFamily="34" charset="-122"/>
                <a:cs typeface="微软雅黑" panose="020B0503020204020204" pitchFamily="34" charset="-122"/>
              </a:rPr>
              <a:t>定义列表</a:t>
            </a:r>
            <a:endParaRPr lang="en-US" altLang="zh-CN" sz="2400" i="1"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courses = </a:t>
            </a: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sz="2400" dirty="0">
                <a:latin typeface="微软雅黑" panose="020B0503020204020204" pitchFamily="34" charset="-122"/>
                <a:ea typeface="微软雅黑" panose="020B0503020204020204" pitchFamily="34" charset="-122"/>
                <a:cs typeface="微软雅黑" panose="020B0503020204020204" pitchFamily="34" charset="-122"/>
              </a:rPr>
              <a:t>大数据分析语言基础</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‘计算机网络’，</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计算机原理</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操作系统</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算法设计</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线形标注 2(无边框) 6"/>
          <p:cNvSpPr/>
          <p:nvPr/>
        </p:nvSpPr>
        <p:spPr>
          <a:xfrm>
            <a:off x="3396640" y="5360791"/>
            <a:ext cx="5832648" cy="484742"/>
          </a:xfrm>
          <a:prstGeom prst="callout2">
            <a:avLst>
              <a:gd name="adj1" fmla="val 42654"/>
              <a:gd name="adj2" fmla="val -1435"/>
              <a:gd name="adj3" fmla="val 39665"/>
              <a:gd name="adj4" fmla="val -12434"/>
              <a:gd name="adj5" fmla="val -92895"/>
              <a:gd name="adj6" fmla="val -18239"/>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chemeClr val="tx1"/>
                </a:solidFill>
              </a:rPr>
              <a:t>列表与数组类似，是多个元素组成的序列。</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a:xfrm>
            <a:off x="714375" y="1944370"/>
            <a:ext cx="10771505" cy="3653790"/>
          </a:xfrm>
          <a:prstGeom prst="rect">
            <a:avLst/>
          </a:prstGeom>
          <a:solidFill>
            <a:schemeClr val="bg2"/>
          </a:solidFill>
          <a:ln w="12700">
            <a:no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2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定义列表</a:t>
            </a:r>
            <a:endParaRPr lang="en-US" altLang="zh-CN" sz="2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buNone/>
            </a:pPr>
            <a:r>
              <a:rPr lang="en-US" altLang="zh-CN" sz="2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数字列表</a:t>
            </a:r>
            <a:br>
              <a:rPr lang="zh-CN" altLang="en-US" sz="2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2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scores = [99.5, 100, 97.5]</a:t>
            </a:r>
            <a:br>
              <a:rPr lang="en-US" altLang="zh-CN" sz="2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2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print (scores)</a:t>
            </a:r>
            <a:br>
              <a:rPr lang="en-US" altLang="zh-CN" sz="2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br>
            <a:br>
              <a:rPr lang="en-US" altLang="zh-CN" sz="2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2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列表元素的类型可以多样</a:t>
            </a:r>
            <a:br>
              <a:rPr lang="zh-CN" altLang="en-US" sz="2800"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2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ns = [</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'python'</a:t>
            </a:r>
            <a:r>
              <a:rPr lang="en-US" altLang="zh-CN" sz="2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10000, 77.5, </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加油</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br>
              <a:rPr lang="en-US" altLang="zh-CN" sz="2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2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print (ns)</a:t>
            </a:r>
          </a:p>
        </p:txBody>
      </p:sp>
      <p:sp>
        <p:nvSpPr>
          <p:cNvPr id="7" name="线形标注 2(无边框) 6"/>
          <p:cNvSpPr/>
          <p:nvPr/>
        </p:nvSpPr>
        <p:spPr>
          <a:xfrm>
            <a:off x="5572760" y="3026410"/>
            <a:ext cx="6047740" cy="1265555"/>
          </a:xfrm>
          <a:prstGeom prst="callout2">
            <a:avLst>
              <a:gd name="adj1" fmla="val 42654"/>
              <a:gd name="adj2" fmla="val -1435"/>
              <a:gd name="adj3" fmla="val 74586"/>
              <a:gd name="adj4" fmla="val -8907"/>
              <a:gd name="adj5" fmla="val 102057"/>
              <a:gd name="adj6" fmla="val -1429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这是</a:t>
            </a:r>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列表和</a:t>
            </a:r>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C/C++</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数组不同的地方。数组的元素必须属于同一类型。</a:t>
            </a:r>
          </a:p>
        </p:txBody>
      </p:sp>
      <p:sp>
        <p:nvSpPr>
          <p:cNvPr id="8" name="标题 1"/>
          <p:cNvSpPr>
            <a:spLocks noGrp="1"/>
          </p:cNvSpPr>
          <p:nvPr/>
        </p:nvSpPr>
        <p:spPr>
          <a:xfrm>
            <a:off x="478155" y="887095"/>
            <a:ext cx="3836670" cy="81343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、列表的创建</a:t>
            </a:r>
          </a:p>
        </p:txBody>
      </p:sp>
      <p:sp>
        <p:nvSpPr>
          <p:cNvPr id="9"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p:nvPr/>
        </p:nvSpPr>
        <p:spPr>
          <a:xfrm>
            <a:off x="870585" y="2039620"/>
            <a:ext cx="10457815" cy="4126230"/>
          </a:xfrm>
          <a:prstGeom prst="rect">
            <a:avLst/>
          </a:prstGeom>
          <a:solidFill>
            <a:schemeClr val="bg1">
              <a:lumMod val="95000"/>
            </a:schemeClr>
          </a:solidFill>
          <a:ln w="12700">
            <a:no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800" b="1" dirty="0"/>
              <a:t>#</a:t>
            </a:r>
            <a:r>
              <a:rPr lang="zh-CN" altLang="en-US" sz="2800" b="1" dirty="0"/>
              <a:t>例</a:t>
            </a:r>
            <a:r>
              <a:rPr lang="en-US" altLang="zh-CN" sz="2800" b="1" dirty="0"/>
              <a:t>  </a:t>
            </a:r>
            <a:r>
              <a:rPr lang="zh-CN" altLang="en-US" sz="2800" b="1" dirty="0"/>
              <a:t>定义列表</a:t>
            </a:r>
            <a:endParaRPr lang="en-US" altLang="zh-CN" sz="2800" b="1" dirty="0">
              <a:latin typeface="Microsoft YaHei UI" panose="020B0503020204020204" pitchFamily="34" charset="-122"/>
              <a:ea typeface="Microsoft YaHei UI" panose="020B0503020204020204" pitchFamily="34" charset="-122"/>
              <a:cs typeface="Tahoma" panose="020B0604030504040204" pitchFamily="34" charset="0"/>
            </a:endParaRPr>
          </a:p>
          <a:p>
            <a:pPr marL="0" indent="0">
              <a:buNone/>
            </a:pPr>
            <a:r>
              <a:rPr lang="en-US" altLang="zh-CN" sz="2800" b="1" dirty="0"/>
              <a:t>#</a:t>
            </a:r>
            <a:r>
              <a:rPr lang="zh-CN" altLang="en-US" sz="2800" b="1" dirty="0"/>
              <a:t>空列表</a:t>
            </a:r>
            <a:br>
              <a:rPr lang="zh-CN" altLang="en-US" sz="2800" b="1" dirty="0"/>
            </a:br>
            <a:r>
              <a:rPr lang="en-US" altLang="zh-CN" sz="2800" b="1" dirty="0" err="1">
                <a:solidFill>
                  <a:srgbClr val="FF0000"/>
                </a:solidFill>
              </a:rPr>
              <a:t>blist</a:t>
            </a:r>
            <a:r>
              <a:rPr lang="en-US" altLang="zh-CN" sz="2800" b="1" dirty="0">
                <a:solidFill>
                  <a:srgbClr val="FF0000"/>
                </a:solidFill>
              </a:rPr>
              <a:t> = [ ]</a:t>
            </a:r>
            <a:br>
              <a:rPr lang="en-US" altLang="zh-CN" sz="2800" b="1" dirty="0"/>
            </a:br>
            <a:endParaRPr lang="en-US" altLang="zh-CN" sz="2800" b="1" dirty="0"/>
          </a:p>
          <a:p>
            <a:pPr marL="0" indent="0">
              <a:buNone/>
            </a:pPr>
            <a:r>
              <a:rPr lang="en-US" altLang="zh-CN" sz="2800" b="1" dirty="0"/>
              <a:t>#</a:t>
            </a:r>
            <a:r>
              <a:rPr lang="zh-CN" altLang="en-US" sz="2800" b="1" dirty="0"/>
              <a:t>定义列表时使用变量</a:t>
            </a:r>
            <a:br>
              <a:rPr lang="zh-CN" altLang="en-US" sz="2800" b="1" dirty="0"/>
            </a:br>
            <a:r>
              <a:rPr lang="en-US" altLang="zh-CN" sz="2800" b="1" dirty="0"/>
              <a:t>sun = 'sun'</a:t>
            </a:r>
            <a:br>
              <a:rPr lang="en-US" altLang="zh-CN" sz="2800" b="1" dirty="0"/>
            </a:br>
            <a:r>
              <a:rPr lang="en-US" altLang="zh-CN" sz="2800" b="1" dirty="0" err="1"/>
              <a:t>liu</a:t>
            </a:r>
            <a:r>
              <a:rPr lang="en-US" altLang="zh-CN" sz="2800" b="1" dirty="0"/>
              <a:t> = '</a:t>
            </a:r>
            <a:r>
              <a:rPr lang="en-US" altLang="zh-CN" sz="2800" b="1" dirty="0" err="1"/>
              <a:t>liu</a:t>
            </a:r>
            <a:r>
              <a:rPr lang="en-US" altLang="zh-CN" sz="2800" b="1" dirty="0"/>
              <a:t>'</a:t>
            </a:r>
            <a:br>
              <a:rPr lang="en-US" altLang="zh-CN" sz="2800" b="1" dirty="0"/>
            </a:br>
            <a:r>
              <a:rPr lang="en-US" altLang="zh-CN" sz="2800" b="1" dirty="0"/>
              <a:t>yang = 'yang'</a:t>
            </a:r>
            <a:br>
              <a:rPr lang="en-US" altLang="zh-CN" sz="2800" b="1" dirty="0"/>
            </a:br>
            <a:r>
              <a:rPr lang="en-US" altLang="zh-CN" sz="2800" b="1" dirty="0" err="1">
                <a:solidFill>
                  <a:srgbClr val="FF0000"/>
                </a:solidFill>
              </a:rPr>
              <a:t>xm</a:t>
            </a:r>
            <a:r>
              <a:rPr lang="en-US" altLang="zh-CN" sz="2800" b="1" dirty="0">
                <a:solidFill>
                  <a:srgbClr val="FF0000"/>
                </a:solidFill>
              </a:rPr>
              <a:t> = [sun, </a:t>
            </a:r>
            <a:r>
              <a:rPr lang="en-US" altLang="zh-CN" sz="2800" b="1" dirty="0" err="1">
                <a:solidFill>
                  <a:srgbClr val="FF0000"/>
                </a:solidFill>
              </a:rPr>
              <a:t>liu</a:t>
            </a:r>
            <a:r>
              <a:rPr lang="en-US" altLang="zh-CN" sz="2800" b="1" dirty="0">
                <a:solidFill>
                  <a:srgbClr val="FF0000"/>
                </a:solidFill>
              </a:rPr>
              <a:t>, yang]</a:t>
            </a:r>
            <a:br>
              <a:rPr lang="en-US" altLang="zh-CN" sz="2800" b="1" dirty="0"/>
            </a:br>
            <a:endParaRPr lang="zh-CN" altLang="en-US" sz="2800" b="1" dirty="0">
              <a:latin typeface="Microsoft YaHei UI" panose="020B0503020204020204" pitchFamily="34" charset="-122"/>
              <a:ea typeface="Microsoft YaHei UI" panose="020B0503020204020204" pitchFamily="34" charset="-122"/>
              <a:cs typeface="Tahoma" panose="020B0604030504040204" pitchFamily="34" charset="0"/>
            </a:endParaRPr>
          </a:p>
        </p:txBody>
      </p:sp>
      <p:sp>
        <p:nvSpPr>
          <p:cNvPr id="7" name="线形标注 2(无边框) 6"/>
          <p:cNvSpPr/>
          <p:nvPr/>
        </p:nvSpPr>
        <p:spPr>
          <a:xfrm>
            <a:off x="4314825" y="2395220"/>
            <a:ext cx="7012940" cy="960120"/>
          </a:xfrm>
          <a:prstGeom prst="callout2">
            <a:avLst>
              <a:gd name="adj1" fmla="val 32943"/>
              <a:gd name="adj2" fmla="val -3003"/>
              <a:gd name="adj3" fmla="val 39665"/>
              <a:gd name="adj4" fmla="val -12434"/>
              <a:gd name="adj5" fmla="val 93141"/>
              <a:gd name="adj6" fmla="val -26646"/>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tx1"/>
                </a:solidFill>
              </a:rPr>
              <a:t>后面的代码可以</a:t>
            </a:r>
            <a:r>
              <a:rPr lang="zh-CN" altLang="en-US" sz="2800" b="1" dirty="0">
                <a:solidFill>
                  <a:schemeClr val="tx1"/>
                </a:solidFill>
              </a:rPr>
              <a:t>用列表的方法添加元素。</a:t>
            </a:r>
          </a:p>
        </p:txBody>
      </p:sp>
      <p:sp>
        <p:nvSpPr>
          <p:cNvPr id="8" name="线形标注 2(无边框) 7"/>
          <p:cNvSpPr/>
          <p:nvPr/>
        </p:nvSpPr>
        <p:spPr>
          <a:xfrm>
            <a:off x="5375910" y="4777740"/>
            <a:ext cx="4546600" cy="960120"/>
          </a:xfrm>
          <a:prstGeom prst="callout2">
            <a:avLst>
              <a:gd name="adj1" fmla="val 32943"/>
              <a:gd name="adj2" fmla="val -3003"/>
              <a:gd name="adj3" fmla="val 39665"/>
              <a:gd name="adj4" fmla="val -12434"/>
              <a:gd name="adj5" fmla="val 93141"/>
              <a:gd name="adj6" fmla="val -26646"/>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rPr>
              <a:t>定义列表时使用变量。变量的值成为元素的值。</a:t>
            </a:r>
          </a:p>
        </p:txBody>
      </p:sp>
      <p:sp>
        <p:nvSpPr>
          <p:cNvPr id="3" name="标题 1"/>
          <p:cNvSpPr>
            <a:spLocks noGrp="1"/>
          </p:cNvSpPr>
          <p:nvPr/>
        </p:nvSpPr>
        <p:spPr>
          <a:xfrm>
            <a:off x="478155" y="887095"/>
            <a:ext cx="3836670" cy="81343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、列表的创建</a:t>
            </a:r>
          </a:p>
        </p:txBody>
      </p:sp>
      <p:sp>
        <p:nvSpPr>
          <p:cNvPr id="9"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3499" y="961828"/>
            <a:ext cx="7571947" cy="508386"/>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例：创建列表</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13315" name="文本占位符 13314"/>
          <p:cNvSpPr>
            <a:spLocks noGrp="1"/>
          </p:cNvSpPr>
          <p:nvPr/>
        </p:nvSpPr>
        <p:spPr>
          <a:xfrm>
            <a:off x="706755" y="1640205"/>
            <a:ext cx="11193780"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rgbClr val="000000"/>
                </a:solidFill>
                <a:latin typeface="Arial" panose="020B0604020202020204" pitchFamily="34" charset="0"/>
                <a:ea typeface="宋体" panose="02010600030101010101" pitchFamily="2" charset="-122"/>
                <a:cs typeface="+mn-ea"/>
              </a:defRPr>
            </a:lvl1pPr>
            <a:lvl2pPr marL="742950" lvl="1" indent="-285750" algn="l" defTabSz="914400" eaLnBrk="0" fontAlgn="base" latinLnBrk="0" hangingPunct="0">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cs typeface="+mn-ea"/>
              </a:defRPr>
            </a:lvl2pPr>
            <a:lvl3pPr marL="1143000" lvl="2" indent="-228600" algn="l" defTabSz="914400" eaLnBrk="0" fontAlgn="base" latinLnBrk="0" hangingPunct="0">
              <a:spcBef>
                <a:spcPct val="20000"/>
              </a:spcBef>
              <a:spcAft>
                <a:spcPct val="0"/>
              </a:spcAft>
              <a:buChar char="•"/>
              <a:defRPr sz="2400" b="0" i="0" u="none" kern="1200" baseline="0">
                <a:solidFill>
                  <a:srgbClr val="000000"/>
                </a:solidFill>
                <a:latin typeface="Arial" panose="020B0604020202020204" pitchFamily="34" charset="0"/>
                <a:ea typeface="宋体" panose="02010600030101010101" pitchFamily="2" charset="-122"/>
                <a:cs typeface="+mn-ea"/>
              </a:defRPr>
            </a:lvl3pPr>
            <a:lvl4pPr marL="1600200" lvl="3"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4pPr>
            <a:lvl5pPr marL="2057400" lvl="4"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5pPr>
            <a:lvl6pPr marL="2514600" lvl="5"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6pPr>
            <a:lvl7pPr marL="2971800" lvl="6"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7pPr>
            <a:lvl8pPr marL="3429000" lvl="7"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8pPr>
            <a:lvl9pPr marL="3886200" lvl="8"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9pPr>
          </a:lstStyle>
          <a:p>
            <a:pPr fontAlgn="base">
              <a:lnSpc>
                <a:spcPct val="80000"/>
              </a:lnSpc>
              <a:buFont typeface="Wingdings" panose="05000000000000000000" charset="0"/>
              <a:buChar char="n"/>
            </a:pPr>
            <a:r>
              <a:rPr lang="zh-CN" altLang="en-US" sz="2400" b="1" strike="noStrike" noProof="1">
                <a:effectLst/>
              </a:rPr>
              <a:t>使用“</a:t>
            </a:r>
            <a:r>
              <a:rPr lang="en-US" altLang="zh-CN" sz="2400" b="1" strike="noStrike" noProof="1">
                <a:effectLst/>
              </a:rPr>
              <a:t>=”</a:t>
            </a:r>
            <a:r>
              <a:rPr lang="zh-CN" altLang="en-US" sz="2400" b="1" strike="noStrike" noProof="1">
                <a:effectLst/>
              </a:rPr>
              <a:t>直接将一个列表赋值给变量即可创建列表对象</a:t>
            </a:r>
          </a:p>
          <a:p>
            <a:pPr marL="1905" indent="-344805" fontAlgn="base">
              <a:lnSpc>
                <a:spcPct val="80000"/>
              </a:lnSpc>
              <a:buNone/>
            </a:pPr>
            <a:endParaRPr lang="en-US" altLang="zh-CN" sz="1800" b="1" strike="noStrike" noProof="1">
              <a:effectLst/>
            </a:endParaRPr>
          </a:p>
          <a:p>
            <a:pPr marL="1905" indent="-344805" fontAlgn="base">
              <a:lnSpc>
                <a:spcPct val="80000"/>
              </a:lnSpc>
              <a:buNone/>
            </a:pPr>
            <a:r>
              <a:rPr lang="en-US" altLang="zh-CN" sz="1800" b="1" strike="noStrike" noProof="1">
                <a:effectLst/>
                <a:latin typeface="Consolas" panose="020B0609020204030204" pitchFamily="49" charset="0"/>
              </a:rPr>
              <a:t>&gt;&gt;&gt; a_list = ['a', 'b', 'mpilgrim', 'z', 'example']</a:t>
            </a:r>
          </a:p>
          <a:p>
            <a:pPr marL="1905" indent="-344805" fontAlgn="base">
              <a:lnSpc>
                <a:spcPct val="80000"/>
              </a:lnSpc>
              <a:buNone/>
            </a:pPr>
            <a:r>
              <a:rPr lang="en-US" altLang="zh-CN" sz="1800" b="1" strike="noStrike" noProof="1">
                <a:effectLst/>
                <a:latin typeface="Consolas" panose="020B0609020204030204" pitchFamily="49" charset="0"/>
              </a:rPr>
              <a:t>&gt;&gt;&gt; a_list = []                            #</a:t>
            </a:r>
            <a:r>
              <a:rPr lang="zh-CN" altLang="en-US" sz="1800" b="1" strike="noStrike" noProof="1">
                <a:effectLst/>
                <a:latin typeface="Consolas" panose="020B0609020204030204" pitchFamily="49" charset="0"/>
              </a:rPr>
              <a:t>创建空列表</a:t>
            </a:r>
          </a:p>
          <a:p>
            <a:pPr marL="1905" indent="-344805" fontAlgn="base">
              <a:lnSpc>
                <a:spcPct val="80000"/>
              </a:lnSpc>
              <a:buNone/>
            </a:pPr>
            <a:endParaRPr lang="zh-CN" altLang="en-US" sz="1800" b="1" strike="noStrike" noProof="1">
              <a:effectLst/>
            </a:endParaRPr>
          </a:p>
          <a:p>
            <a:pPr fontAlgn="base">
              <a:lnSpc>
                <a:spcPct val="100000"/>
              </a:lnSpc>
              <a:spcBef>
                <a:spcPts val="600"/>
              </a:spcBef>
              <a:spcAft>
                <a:spcPts val="600"/>
              </a:spcAft>
              <a:buFont typeface="Wingdings" panose="05000000000000000000" charset="0"/>
              <a:buChar char="n"/>
            </a:pPr>
            <a:r>
              <a:rPr lang="zh-CN" altLang="en-US" sz="2400" b="1" strike="noStrike" noProof="1">
                <a:effectLst/>
              </a:rPr>
              <a:t>也可以使用</a:t>
            </a:r>
            <a:r>
              <a:rPr lang="en-US" altLang="zh-CN" sz="2400" b="1" strike="noStrike" noProof="1">
                <a:effectLst/>
              </a:rPr>
              <a:t>list()</a:t>
            </a:r>
            <a:r>
              <a:rPr lang="zh-CN" altLang="en-US" sz="2400" b="1" strike="noStrike" noProof="1">
                <a:effectLst/>
              </a:rPr>
              <a:t>函数将元组、</a:t>
            </a:r>
            <a:r>
              <a:rPr lang="en-US" altLang="zh-CN" sz="2400" b="1" strike="noStrike" noProof="1">
                <a:effectLst/>
              </a:rPr>
              <a:t>range</a:t>
            </a:r>
            <a:r>
              <a:rPr lang="zh-CN" altLang="en-US" sz="2400" b="1" strike="noStrike" noProof="1">
                <a:effectLst/>
              </a:rPr>
              <a:t>对象、字符串或其他类型的可迭代对象类型的数据转换为列表。</a:t>
            </a:r>
          </a:p>
          <a:p>
            <a:pPr marL="1905" indent="-344805" fontAlgn="base">
              <a:lnSpc>
                <a:spcPct val="80000"/>
              </a:lnSpc>
              <a:buNone/>
            </a:pPr>
            <a:r>
              <a:rPr lang="en-US" altLang="zh-CN" sz="1800" b="1" strike="noStrike" noProof="1">
                <a:effectLst/>
                <a:latin typeface="Consolas" panose="020B0609020204030204" pitchFamily="49" charset="0"/>
              </a:rPr>
              <a:t>&gt;&gt;&gt; a_list = list((3,5,7,9,11))</a:t>
            </a:r>
          </a:p>
          <a:p>
            <a:pPr marL="1905" indent="-344805" fontAlgn="base">
              <a:lnSpc>
                <a:spcPct val="80000"/>
              </a:lnSpc>
              <a:buNone/>
            </a:pPr>
            <a:r>
              <a:rPr lang="en-US" altLang="zh-CN" sz="1800" b="1" strike="noStrike" noProof="1">
                <a:effectLst/>
                <a:latin typeface="Consolas" panose="020B0609020204030204" pitchFamily="49" charset="0"/>
              </a:rPr>
              <a:t>&gt;&gt;&gt; a_list</a:t>
            </a:r>
          </a:p>
          <a:p>
            <a:pPr marL="1905" indent="-344805" fontAlgn="base">
              <a:lnSpc>
                <a:spcPct val="80000"/>
              </a:lnSpc>
              <a:buNone/>
            </a:pPr>
            <a:r>
              <a:rPr lang="en-US" altLang="zh-CN" sz="1800" b="1" strike="noStrike" noProof="1">
                <a:solidFill>
                  <a:srgbClr val="FF0000"/>
                </a:solidFill>
                <a:effectLst/>
                <a:latin typeface="Consolas" panose="020B0609020204030204" pitchFamily="49" charset="0"/>
              </a:rPr>
              <a:t>[3, 5, 7, 9, 11]</a:t>
            </a:r>
          </a:p>
          <a:p>
            <a:pPr marL="1905" indent="-344805" fontAlgn="base">
              <a:lnSpc>
                <a:spcPct val="80000"/>
              </a:lnSpc>
              <a:buNone/>
            </a:pPr>
            <a:r>
              <a:rPr lang="en-US" altLang="zh-CN" sz="1800" b="1" strike="noStrike" noProof="1">
                <a:effectLst/>
                <a:latin typeface="Consolas" panose="020B0609020204030204" pitchFamily="49" charset="0"/>
              </a:rPr>
              <a:t>&gt;&gt;&gt; list(range(1,10,2))</a:t>
            </a:r>
          </a:p>
          <a:p>
            <a:pPr marL="1905" indent="-344805" fontAlgn="base">
              <a:lnSpc>
                <a:spcPct val="80000"/>
              </a:lnSpc>
              <a:buNone/>
            </a:pPr>
            <a:r>
              <a:rPr lang="en-US" altLang="zh-CN" sz="1800" b="1" strike="noStrike" noProof="1">
                <a:solidFill>
                  <a:srgbClr val="FF0000"/>
                </a:solidFill>
                <a:effectLst/>
                <a:latin typeface="Consolas" panose="020B0609020204030204" pitchFamily="49" charset="0"/>
              </a:rPr>
              <a:t>[1, 3, 5, 7, 9]</a:t>
            </a:r>
          </a:p>
          <a:p>
            <a:pPr marL="1905" indent="-344805" fontAlgn="base">
              <a:lnSpc>
                <a:spcPct val="80000"/>
              </a:lnSpc>
              <a:buNone/>
            </a:pPr>
            <a:r>
              <a:rPr lang="en-US" altLang="zh-CN" sz="1800" b="1" strike="noStrike" noProof="1">
                <a:effectLst/>
                <a:latin typeface="Consolas" panose="020B0609020204030204" pitchFamily="49" charset="0"/>
              </a:rPr>
              <a:t>&gt;&gt;&gt; list('hello world')</a:t>
            </a:r>
          </a:p>
          <a:p>
            <a:pPr marL="1905" indent="-344805" fontAlgn="base">
              <a:lnSpc>
                <a:spcPct val="80000"/>
              </a:lnSpc>
              <a:buNone/>
            </a:pPr>
            <a:r>
              <a:rPr lang="en-US" altLang="zh-CN" sz="1800" b="1" strike="noStrike" noProof="1">
                <a:solidFill>
                  <a:srgbClr val="FF0000"/>
                </a:solidFill>
                <a:effectLst/>
                <a:latin typeface="Consolas" panose="020B0609020204030204" pitchFamily="49" charset="0"/>
              </a:rPr>
              <a:t>['h', 'e', 'l', 'l', 'o', ' ', 'w', 'o', 'r', 'l', 'd']</a:t>
            </a:r>
          </a:p>
          <a:p>
            <a:pPr marL="1905" indent="-344805" fontAlgn="base">
              <a:lnSpc>
                <a:spcPct val="80000"/>
              </a:lnSpc>
              <a:buNone/>
            </a:pPr>
            <a:r>
              <a:rPr lang="en-US" altLang="zh-CN" sz="1800" b="1" strike="noStrike" noProof="1">
                <a:effectLst/>
                <a:latin typeface="Consolas" panose="020B0609020204030204" pitchFamily="49" charset="0"/>
              </a:rPr>
              <a:t>&gt;&gt;&gt; x = list()                            #</a:t>
            </a:r>
            <a:r>
              <a:rPr lang="zh-CN" altLang="en-US" sz="1800" b="1" strike="noStrike" noProof="1">
                <a:effectLst/>
                <a:latin typeface="Consolas" panose="020B0609020204030204" pitchFamily="49" charset="0"/>
              </a:rPr>
              <a:t>创建空列表</a:t>
            </a:r>
            <a:endParaRPr lang="en-US" altLang="zh-CN" sz="1800" b="1" strike="noStrike" noProof="1">
              <a:effectLst/>
              <a:latin typeface="Consolas" panose="020B0609020204030204" pitchFamily="49" charset="0"/>
            </a:endParaRPr>
          </a:p>
        </p:txBody>
      </p:sp>
    </p:spTree>
  </p:cSld>
  <p:clrMapOvr>
    <a:masterClrMapping/>
  </p:clrMapOvr>
  <p:transition spd="slow" advTm="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62B3D-AA00-A0FD-4AB8-835D8C3C2FE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6E81BBB-214C-B03D-6F14-BF9825D4A58D}"/>
              </a:ext>
            </a:extLst>
          </p:cNvPr>
          <p:cNvSpPr>
            <a:spLocks noGrp="1"/>
          </p:cNvSpPr>
          <p:nvPr>
            <p:ph type="title"/>
          </p:nvPr>
        </p:nvSpPr>
        <p:spPr>
          <a:xfrm>
            <a:off x="643499" y="961828"/>
            <a:ext cx="7571947" cy="508386"/>
          </a:xfrm>
        </p:spPr>
        <p:txBody>
          <a:bodyPr vert="horz" wrap="square" lIns="91456" tIns="45728" rIns="91456" bIns="45728" numCol="1" anchor="b" anchorCtr="0" compatLnSpc="1"/>
          <a:lstStyle/>
          <a:p>
            <a:pPr algn="l" defTabSz="914400" eaLnBrk="0" fontAlgn="base" hangingPunct="0">
              <a:lnSpc>
                <a:spcPct val="90000"/>
              </a:lnSpc>
              <a:spcAft>
                <a:spcPct val="0"/>
              </a:spcAft>
              <a:defRPr/>
            </a:pPr>
            <a:r>
              <a:rPr lang="zh-CN" altLang="e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扩展</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：列表在内存中的存储方式</a:t>
            </a:r>
          </a:p>
        </p:txBody>
      </p:sp>
      <p:sp>
        <p:nvSpPr>
          <p:cNvPr id="7" name="标题 1">
            <a:extLst>
              <a:ext uri="{FF2B5EF4-FFF2-40B4-BE49-F238E27FC236}">
                <a16:creationId xmlns:a16="http://schemas.microsoft.com/office/drawing/2014/main" id="{6E0372A2-5B58-EECE-A479-4616CDED5932}"/>
              </a:ext>
            </a:extLst>
          </p:cNvPr>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13315" name="文本占位符 13314">
            <a:extLst>
              <a:ext uri="{FF2B5EF4-FFF2-40B4-BE49-F238E27FC236}">
                <a16:creationId xmlns:a16="http://schemas.microsoft.com/office/drawing/2014/main" id="{5477F279-24FF-2902-848B-1122901ACF6E}"/>
              </a:ext>
            </a:extLst>
          </p:cNvPr>
          <p:cNvSpPr>
            <a:spLocks noGrp="1"/>
          </p:cNvSpPr>
          <p:nvPr/>
        </p:nvSpPr>
        <p:spPr>
          <a:xfrm>
            <a:off x="706755" y="1640205"/>
            <a:ext cx="11193780"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rgbClr val="000000"/>
                </a:solidFill>
                <a:latin typeface="Arial" panose="020B0604020202020204" pitchFamily="34" charset="0"/>
                <a:ea typeface="宋体" panose="02010600030101010101" pitchFamily="2" charset="-122"/>
                <a:cs typeface="+mn-ea"/>
              </a:defRPr>
            </a:lvl1pPr>
            <a:lvl2pPr marL="742950" lvl="1" indent="-285750" algn="l" defTabSz="914400" eaLnBrk="0" fontAlgn="base" latinLnBrk="0" hangingPunct="0">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cs typeface="+mn-ea"/>
              </a:defRPr>
            </a:lvl2pPr>
            <a:lvl3pPr marL="1143000" lvl="2" indent="-228600" algn="l" defTabSz="914400" eaLnBrk="0" fontAlgn="base" latinLnBrk="0" hangingPunct="0">
              <a:spcBef>
                <a:spcPct val="20000"/>
              </a:spcBef>
              <a:spcAft>
                <a:spcPct val="0"/>
              </a:spcAft>
              <a:buChar char="•"/>
              <a:defRPr sz="2400" b="0" i="0" u="none" kern="1200" baseline="0">
                <a:solidFill>
                  <a:srgbClr val="000000"/>
                </a:solidFill>
                <a:latin typeface="Arial" panose="020B0604020202020204" pitchFamily="34" charset="0"/>
                <a:ea typeface="宋体" panose="02010600030101010101" pitchFamily="2" charset="-122"/>
                <a:cs typeface="+mn-ea"/>
              </a:defRPr>
            </a:lvl3pPr>
            <a:lvl4pPr marL="1600200" lvl="3"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4pPr>
            <a:lvl5pPr marL="2057400" lvl="4"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5pPr>
            <a:lvl6pPr marL="2514600" lvl="5"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6pPr>
            <a:lvl7pPr marL="2971800" lvl="6"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7pPr>
            <a:lvl8pPr marL="3429000" lvl="7"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8pPr>
            <a:lvl9pPr marL="3886200" lvl="8"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9pPr>
          </a:lstStyle>
          <a:p>
            <a:pPr>
              <a:spcBef>
                <a:spcPts val="600"/>
              </a:spcBef>
              <a:spcAft>
                <a:spcPts val="600"/>
              </a:spcAft>
              <a:buSzPct val="90000"/>
              <a:buFont typeface="Wingdings" panose="05000000000000000000" charset="0"/>
              <a:buChar char="§"/>
            </a:pPr>
            <a:r>
              <a:rPr lang="en" altLang="zh-CN" sz="2400" noProof="1">
                <a:latin typeface="微软雅黑" panose="020B0503020204020204" pitchFamily="34" charset="-122"/>
                <a:ea typeface="微软雅黑" panose="020B0503020204020204" pitchFamily="34" charset="-122"/>
              </a:rPr>
              <a:t>Python </a:t>
            </a:r>
            <a:r>
              <a:rPr lang="zh-CN" altLang="en-US" sz="2400" noProof="1">
                <a:latin typeface="微软雅黑" panose="020B0503020204020204" pitchFamily="34" charset="-122"/>
                <a:ea typeface="微软雅黑" panose="020B0503020204020204" pitchFamily="34" charset="-122"/>
              </a:rPr>
              <a:t>列表本质上是一个</a:t>
            </a:r>
            <a:r>
              <a:rPr lang="zh-CN" altLang="en-US" sz="2400" noProof="1">
                <a:solidFill>
                  <a:srgbClr val="C00000"/>
                </a:solidFill>
                <a:latin typeface="微软雅黑" panose="020B0503020204020204" pitchFamily="34" charset="-122"/>
                <a:ea typeface="微软雅黑" panose="020B0503020204020204" pitchFamily="34" charset="-122"/>
              </a:rPr>
              <a:t>动态数组</a:t>
            </a:r>
            <a:r>
              <a:rPr lang="zh-CN" altLang="en-US" sz="2400" noProof="1">
                <a:latin typeface="微软雅黑" panose="020B0503020204020204" pitchFamily="34" charset="-122"/>
                <a:ea typeface="微软雅黑" panose="020B0503020204020204" pitchFamily="34" charset="-122"/>
              </a:rPr>
              <a:t>，它在内存中并不是直接存储元素，而是存储元素的引用。</a:t>
            </a:r>
          </a:p>
          <a:p>
            <a:pPr>
              <a:spcBef>
                <a:spcPts val="600"/>
              </a:spcBef>
              <a:spcAft>
                <a:spcPts val="600"/>
              </a:spcAft>
              <a:buSzPct val="90000"/>
              <a:buFont typeface="Wingdings" panose="05000000000000000000" charset="0"/>
              <a:buChar char="§"/>
            </a:pPr>
            <a:r>
              <a:rPr lang="zh-CN" altLang="en-US" sz="2400" noProof="1">
                <a:latin typeface="微软雅黑" panose="020B0503020204020204" pitchFamily="34" charset="-122"/>
                <a:ea typeface="微软雅黑" panose="020B0503020204020204" pitchFamily="34" charset="-122"/>
              </a:rPr>
              <a:t>换句话说，列表保存的是指向实际数据的“指针”。来看一个例子：</a:t>
            </a:r>
            <a:endParaRPr lang="en-US" altLang="zh-CN" sz="2400" noProof="1">
              <a:latin typeface="微软雅黑" panose="020B0503020204020204" pitchFamily="34" charset="-122"/>
              <a:ea typeface="微软雅黑" panose="020B0503020204020204" pitchFamily="34" charset="-122"/>
            </a:endParaRPr>
          </a:p>
          <a:p>
            <a:pPr marL="400050" lvl="1" indent="0">
              <a:spcBef>
                <a:spcPts val="600"/>
              </a:spcBef>
              <a:spcAft>
                <a:spcPts val="600"/>
              </a:spcAft>
              <a:buSzPct val="90000"/>
              <a:buNone/>
            </a:pPr>
            <a:r>
              <a:rPr lang="en-US" altLang="zh-CN" sz="2000" noProof="1">
                <a:latin typeface="微软雅黑" panose="020B0503020204020204" pitchFamily="34" charset="-122"/>
                <a:ea typeface="微软雅黑" panose="020B0503020204020204" pitchFamily="34" charset="-122"/>
              </a:rPr>
              <a:t>my_list = [1, "hello", [4, 5]]</a:t>
            </a:r>
          </a:p>
          <a:p>
            <a:pPr marL="400050" lvl="1" indent="0">
              <a:spcBef>
                <a:spcPts val="600"/>
              </a:spcBef>
              <a:spcAft>
                <a:spcPts val="600"/>
              </a:spcAft>
              <a:buSzPct val="90000"/>
              <a:buNone/>
            </a:pPr>
            <a:r>
              <a:rPr lang="en-US" altLang="zh-CN" sz="2000" noProof="1">
                <a:latin typeface="微软雅黑" panose="020B0503020204020204" pitchFamily="34" charset="-122"/>
                <a:ea typeface="微软雅黑" panose="020B0503020204020204" pitchFamily="34" charset="-122"/>
              </a:rPr>
              <a:t>print(id(my_list))  # </a:t>
            </a:r>
            <a:r>
              <a:rPr lang="zh-CN" altLang="en-US" sz="2000" noProof="1">
                <a:latin typeface="微软雅黑" panose="020B0503020204020204" pitchFamily="34" charset="-122"/>
                <a:ea typeface="微软雅黑" panose="020B0503020204020204" pitchFamily="34" charset="-122"/>
              </a:rPr>
              <a:t>打印列表本身的内存地址</a:t>
            </a:r>
          </a:p>
          <a:p>
            <a:pPr marL="400050" lvl="1" indent="0">
              <a:spcBef>
                <a:spcPts val="600"/>
              </a:spcBef>
              <a:spcAft>
                <a:spcPts val="600"/>
              </a:spcAft>
              <a:buSzPct val="90000"/>
              <a:buNone/>
            </a:pPr>
            <a:r>
              <a:rPr lang="en-US" altLang="zh-CN" sz="2000" noProof="1">
                <a:latin typeface="微软雅黑" panose="020B0503020204020204" pitchFamily="34" charset="-122"/>
                <a:ea typeface="微软雅黑" panose="020B0503020204020204" pitchFamily="34" charset="-122"/>
              </a:rPr>
              <a:t>print(id(my_list[0]))  # </a:t>
            </a:r>
            <a:r>
              <a:rPr lang="zh-CN" altLang="en-US" sz="2000" noProof="1">
                <a:latin typeface="微软雅黑" panose="020B0503020204020204" pitchFamily="34" charset="-122"/>
                <a:ea typeface="微软雅黑" panose="020B0503020204020204" pitchFamily="34" charset="-122"/>
              </a:rPr>
              <a:t>打印第一个元素的内存地址</a:t>
            </a:r>
          </a:p>
          <a:p>
            <a:pPr>
              <a:spcBef>
                <a:spcPts val="600"/>
              </a:spcBef>
              <a:spcAft>
                <a:spcPts val="600"/>
              </a:spcAft>
              <a:buSzPct val="90000"/>
              <a:buFont typeface="Wingdings" panose="05000000000000000000" charset="0"/>
              <a:buChar char="§"/>
            </a:pPr>
            <a:endParaRPr lang="en-US" altLang="zh-CN" sz="2400" noProof="1">
              <a:latin typeface="微软雅黑" panose="020B0503020204020204" pitchFamily="34" charset="-122"/>
              <a:ea typeface="微软雅黑" panose="020B0503020204020204" pitchFamily="34" charset="-122"/>
            </a:endParaRPr>
          </a:p>
          <a:p>
            <a:pPr>
              <a:spcBef>
                <a:spcPts val="600"/>
              </a:spcBef>
              <a:spcAft>
                <a:spcPts val="600"/>
              </a:spcAft>
              <a:buSzPct val="90000"/>
              <a:buFont typeface="Wingdings" panose="05000000000000000000" charset="0"/>
              <a:buChar char="§"/>
            </a:pPr>
            <a:r>
              <a:rPr lang="zh-CN" altLang="en-US" sz="2400" dirty="0">
                <a:latin typeface="微软雅黑" panose="020B0503020204020204" pitchFamily="34" charset="-122"/>
                <a:ea typeface="微软雅黑" panose="020B0503020204020204" pitchFamily="34" charset="-122"/>
              </a:rPr>
              <a:t>运行结果会显示两个不同的内存地址，这说明列表只存储了元素的引用，而不是元素本身。</a:t>
            </a:r>
          </a:p>
          <a:p>
            <a:pPr marL="0" indent="0">
              <a:spcBef>
                <a:spcPts val="600"/>
              </a:spcBef>
              <a:spcAft>
                <a:spcPts val="600"/>
              </a:spcAft>
              <a:buSzPct val="90000"/>
              <a:buNone/>
            </a:pPr>
            <a:endParaRPr lang="en-US" altLang="zh-CN" sz="2400" noProof="1">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87446877"/>
      </p:ext>
    </p:extLst>
  </p:cSld>
  <p:clrMapOvr>
    <a:masterClrMapping/>
  </p:clrMapOvr>
  <p:transition spd="slow"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6527" y="1053530"/>
            <a:ext cx="7643955" cy="436378"/>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graphicFrame>
        <p:nvGraphicFramePr>
          <p:cNvPr id="3" name="Table -1"/>
          <p:cNvGraphicFramePr/>
          <p:nvPr>
            <p:custDataLst>
              <p:tags r:id="rId1"/>
            </p:custDataLst>
          </p:nvPr>
        </p:nvGraphicFramePr>
        <p:xfrm>
          <a:off x="1313815" y="1730375"/>
          <a:ext cx="10158095" cy="4171323"/>
        </p:xfrm>
        <a:graphic>
          <a:graphicData uri="http://schemas.openxmlformats.org/drawingml/2006/table">
            <a:tbl>
              <a:tblPr firstRow="1" bandRow="1">
                <a:tableStyleId>{5940675A-B579-460E-94D1-54222C63F5DA}</a:tableStyleId>
              </a:tblPr>
              <a:tblGrid>
                <a:gridCol w="2236470">
                  <a:extLst>
                    <a:ext uri="{9D8B030D-6E8A-4147-A177-3AD203B41FA5}">
                      <a16:colId xmlns:a16="http://schemas.microsoft.com/office/drawing/2014/main" val="20000"/>
                    </a:ext>
                  </a:extLst>
                </a:gridCol>
                <a:gridCol w="7921625">
                  <a:extLst>
                    <a:ext uri="{9D8B030D-6E8A-4147-A177-3AD203B41FA5}">
                      <a16:colId xmlns:a16="http://schemas.microsoft.com/office/drawing/2014/main" val="20001"/>
                    </a:ext>
                  </a:extLst>
                </a:gridCol>
              </a:tblGrid>
              <a:tr h="274320">
                <a:tc>
                  <a:txBody>
                    <a:bodyPr/>
                    <a:lstStyle/>
                    <a:p>
                      <a:pPr marL="0" indent="0" algn="ctr">
                        <a:buNone/>
                      </a:pPr>
                      <a:r>
                        <a:rPr lang="zh-CN" altLang="en-US" sz="1800" b="0" u="none" dirty="0">
                          <a:latin typeface="微软雅黑" panose="020B0503020204020204" pitchFamily="34" charset="-122"/>
                          <a:ea typeface="微软雅黑" panose="020B0503020204020204" pitchFamily="34" charset="-122"/>
                          <a:cs typeface="宋体" panose="02010600030101010101" pitchFamily="2" charset="-122"/>
                        </a:rPr>
                        <a:t>方法</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800" b="0" u="none">
                          <a:latin typeface="微软雅黑" panose="020B0503020204020204" pitchFamily="34" charset="-122"/>
                          <a:ea typeface="微软雅黑" panose="020B0503020204020204" pitchFamily="34" charset="-122"/>
                          <a:cs typeface="宋体" panose="02010600030101010101" pitchFamily="2" charset="-122"/>
                        </a:rPr>
                        <a:t>说明</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20">
                <a:tc>
                  <a:txBody>
                    <a:bodyPr/>
                    <a:lstStyle/>
                    <a:p>
                      <a:pPr marL="0" indent="0" algn="l">
                        <a:buNone/>
                      </a:pPr>
                      <a:r>
                        <a:rPr lang="en-US" altLang="zh-CN" sz="1800" b="0" u="none">
                          <a:latin typeface="微软雅黑" panose="020B0503020204020204" pitchFamily="34" charset="-122"/>
                          <a:ea typeface="微软雅黑" panose="020B0503020204020204" pitchFamily="34" charset="-122"/>
                          <a:cs typeface="Calibri" panose="020F0502020204030204" charset="0"/>
                        </a:rPr>
                        <a:t>lst.append(x)</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将元素</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添加至列表</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lst</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尾部</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20">
                <a:tc>
                  <a:txBody>
                    <a:bodyPr/>
                    <a:lstStyle/>
                    <a:p>
                      <a:pPr marL="0" indent="0" algn="l">
                        <a:buNone/>
                      </a:pPr>
                      <a:r>
                        <a:rPr lang="en-US" altLang="zh-CN" sz="1800" b="0" u="none">
                          <a:solidFill>
                            <a:schemeClr val="accent1"/>
                          </a:solidFill>
                          <a:latin typeface="微软雅黑" panose="020B0503020204020204" pitchFamily="34" charset="-122"/>
                          <a:ea typeface="微软雅黑" panose="020B0503020204020204" pitchFamily="34" charset="-122"/>
                          <a:cs typeface="Calibri" panose="020F0502020204030204" charset="0"/>
                        </a:rPr>
                        <a:t>lst.extend(L)</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将列表</a:t>
                      </a:r>
                      <a:r>
                        <a:rPr lang="en-US" altLang="zh-CN"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L</a:t>
                      </a:r>
                      <a:r>
                        <a:rPr lang="zh-CN" altLang="en-US"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中所有元素添加至列表</a:t>
                      </a:r>
                      <a:r>
                        <a:rPr lang="en-US" altLang="zh-CN"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lst</a:t>
                      </a:r>
                      <a:r>
                        <a:rPr lang="zh-CN" altLang="en-US"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尾部</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8640">
                <a:tc>
                  <a:txBody>
                    <a:bodyPr/>
                    <a:lstStyle/>
                    <a:p>
                      <a:pPr marL="0" indent="0" algn="l">
                        <a:buNone/>
                      </a:pPr>
                      <a:r>
                        <a:rPr lang="en-US" altLang="zh-CN" sz="1800" b="0" u="none">
                          <a:latin typeface="微软雅黑" panose="020B0503020204020204" pitchFamily="34" charset="-122"/>
                          <a:ea typeface="微软雅黑" panose="020B0503020204020204" pitchFamily="34" charset="-122"/>
                          <a:cs typeface="Calibri" panose="020F0502020204030204" charset="0"/>
                        </a:rPr>
                        <a:t>lst.insert(i</a:t>
                      </a:r>
                      <a:r>
                        <a:rPr lang="en-US" altLang="zh-CN" sz="1800" b="0" u="none">
                          <a:latin typeface="微软雅黑" panose="020B0503020204020204" pitchFamily="34" charset="-122"/>
                          <a:ea typeface="微软雅黑" panose="020B0503020204020204" pitchFamily="34" charset="-122"/>
                          <a:cs typeface="宋体" panose="02010600030101010101" pitchFamily="2" charset="-122"/>
                        </a:rPr>
                        <a:t>ndex</a:t>
                      </a:r>
                      <a:r>
                        <a:rPr lang="en-US" altLang="zh-CN" sz="1800" b="0" u="none">
                          <a:latin typeface="微软雅黑" panose="020B0503020204020204" pitchFamily="34" charset="-122"/>
                          <a:ea typeface="微软雅黑" panose="020B0503020204020204" pitchFamily="34" charset="-122"/>
                          <a:cs typeface="Calibri" panose="020F0502020204030204" charset="0"/>
                        </a:rPr>
                        <a:t>, x)</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在列表</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lst</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指定位置</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index</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处添加元素</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，该位置后面的所有元素后移一个位置</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8465">
                <a:tc>
                  <a:txBody>
                    <a:bodyPr/>
                    <a:lstStyle/>
                    <a:p>
                      <a:pPr marL="0" algn="l">
                        <a:buClrTx/>
                        <a:buSzTx/>
                        <a:buFontTx/>
                        <a:buNone/>
                      </a:pPr>
                      <a:r>
                        <a:rPr lang="zh-CN" altLang="en-US"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lst.remove(x)</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algn="l">
                        <a:buClrTx/>
                        <a:buSzTx/>
                        <a:buFontTx/>
                        <a:buNone/>
                      </a:pPr>
                      <a:r>
                        <a:rPr lang="zh-CN" altLang="en-US"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在列表lst中删除首次出现的指定元素，该元素之后的所有元素前移一个位置</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6555">
                <a:tc>
                  <a:txBody>
                    <a:bodyPr/>
                    <a:lstStyle/>
                    <a:p>
                      <a:pPr marL="0" indent="0" algn="l">
                        <a:buNone/>
                      </a:pPr>
                      <a:r>
                        <a:rPr lang="en-US" altLang="zh-CN" sz="1800" b="0" u="none">
                          <a:latin typeface="微软雅黑" panose="020B0503020204020204" pitchFamily="34" charset="-122"/>
                          <a:ea typeface="微软雅黑" panose="020B0503020204020204" pitchFamily="34" charset="-122"/>
                          <a:cs typeface="Calibri" panose="020F0502020204030204" charset="0"/>
                        </a:rPr>
                        <a:t>lst.pop([i</a:t>
                      </a:r>
                      <a:r>
                        <a:rPr lang="en-US" altLang="zh-CN" sz="1800" b="0" u="none">
                          <a:latin typeface="微软雅黑" panose="020B0503020204020204" pitchFamily="34" charset="-122"/>
                          <a:ea typeface="微软雅黑" panose="020B0503020204020204" pitchFamily="34" charset="-122"/>
                          <a:cs typeface="宋体" panose="02010600030101010101" pitchFamily="2" charset="-122"/>
                        </a:rPr>
                        <a:t>ndex</a:t>
                      </a:r>
                      <a:r>
                        <a:rPr lang="en-US" altLang="zh-CN" sz="1800" b="0" u="none">
                          <a:latin typeface="微软雅黑" panose="020B0503020204020204" pitchFamily="34" charset="-122"/>
                          <a:ea typeface="微软雅黑" panose="020B0503020204020204" pitchFamily="34" charset="-122"/>
                          <a:cs typeface="Calibri" panose="020F0502020204030204" charset="0"/>
                        </a:rPr>
                        <a:t>])</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删除并返回列表</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lst</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中下标为</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index</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（默认为</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）的元素</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20">
                <a:tc>
                  <a:txBody>
                    <a:bodyPr/>
                    <a:lstStyle/>
                    <a:p>
                      <a:pPr marL="0" algn="l">
                        <a:buClrTx/>
                        <a:buSzTx/>
                        <a:buFontTx/>
                        <a:buNone/>
                      </a:pPr>
                      <a:r>
                        <a:rPr lang="zh-CN" altLang="en-US"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lst.clear()</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algn="l">
                        <a:buClrTx/>
                        <a:buSzTx/>
                        <a:buFontTx/>
                        <a:buNone/>
                      </a:pPr>
                      <a:r>
                        <a:rPr lang="zh-CN" altLang="en-US"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删除列表lst中所有元素，但保留列表对象</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8775">
                <a:tc>
                  <a:txBody>
                    <a:bodyPr/>
                    <a:lstStyle/>
                    <a:p>
                      <a:pPr marL="0" indent="0" algn="l">
                        <a:buNone/>
                      </a:pPr>
                      <a:r>
                        <a:rPr lang="en-US" altLang="zh-CN" sz="1800" b="0" u="none">
                          <a:latin typeface="微软雅黑" panose="020B0503020204020204" pitchFamily="34" charset="-122"/>
                          <a:ea typeface="微软雅黑" panose="020B0503020204020204" pitchFamily="34" charset="-122"/>
                          <a:cs typeface="Calibri" panose="020F0502020204030204" charset="0"/>
                        </a:rPr>
                        <a:t>lst.index(x)</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返回列表</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lst</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中第一个值为</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的元素的下标，若不存在值为</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的元素则抛出异常</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20">
                <a:tc>
                  <a:txBody>
                    <a:bodyPr/>
                    <a:lstStyle/>
                    <a:p>
                      <a:pPr marL="0" algn="l">
                        <a:buClrTx/>
                        <a:buSzTx/>
                        <a:buFontTx/>
                        <a:buNone/>
                      </a:pPr>
                      <a:r>
                        <a:rPr lang="zh-CN" altLang="en-US"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lst.count(x)</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algn="l">
                        <a:buClrTx/>
                        <a:buSzTx/>
                        <a:buFontTx/>
                        <a:buNone/>
                      </a:pPr>
                      <a:r>
                        <a:rPr lang="zh-CN" altLang="en-US"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返回指定元素x在列表lst中的出现次数</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20">
                <a:tc>
                  <a:txBody>
                    <a:bodyPr/>
                    <a:lstStyle/>
                    <a:p>
                      <a:pPr marL="0" indent="0" algn="l">
                        <a:buNone/>
                      </a:pPr>
                      <a:r>
                        <a:rPr lang="en-US" altLang="zh-CN" sz="1800" b="0" u="none">
                          <a:latin typeface="微软雅黑" panose="020B0503020204020204" pitchFamily="34" charset="-122"/>
                          <a:ea typeface="微软雅黑" panose="020B0503020204020204" pitchFamily="34" charset="-122"/>
                          <a:cs typeface="Calibri" panose="020F0502020204030204" charset="0"/>
                        </a:rPr>
                        <a:t>lst.reverse()</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对列表</a:t>
                      </a:r>
                      <a:r>
                        <a:rPr lang="en-US" altLang="zh-CN" sz="1800" b="0" u="none">
                          <a:latin typeface="微软雅黑" panose="020B0503020204020204" pitchFamily="34" charset="-122"/>
                          <a:ea typeface="微软雅黑" panose="020B0503020204020204" pitchFamily="34" charset="-122"/>
                          <a:cs typeface="微软雅黑" panose="020B0503020204020204" pitchFamily="34" charset="-122"/>
                        </a:rPr>
                        <a:t>lst</a:t>
                      </a:r>
                      <a:r>
                        <a:rPr lang="zh-CN" altLang="en-US" sz="1800" b="0" u="none">
                          <a:latin typeface="微软雅黑" panose="020B0503020204020204" pitchFamily="34" charset="-122"/>
                          <a:ea typeface="微软雅黑" panose="020B0503020204020204" pitchFamily="34" charset="-122"/>
                          <a:cs typeface="微软雅黑" panose="020B0503020204020204" pitchFamily="34" charset="-122"/>
                        </a:rPr>
                        <a:t>所有元素进行逆序</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48640">
                <a:tc>
                  <a:txBody>
                    <a:bodyPr/>
                    <a:lstStyle/>
                    <a:p>
                      <a:pPr marL="0" algn="l">
                        <a:buClrTx/>
                        <a:buSzTx/>
                        <a:buFontTx/>
                        <a:buNone/>
                      </a:pPr>
                      <a:r>
                        <a:rPr lang="zh-CN" altLang="en-US"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lst.sort(key=None, reverse=False)</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algn="l">
                        <a:buClrTx/>
                        <a:buSzTx/>
                        <a:buFontTx/>
                        <a:buNone/>
                      </a:pPr>
                      <a:r>
                        <a:rPr lang="zh-CN" altLang="en-US" sz="1800" b="0" u="none">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对列表lst中的元素进行排序，key用来指定排序依据，reverse决定升序（False）还是降序（True）</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20">
                <a:tc>
                  <a:txBody>
                    <a:bodyPr/>
                    <a:lstStyle/>
                    <a:p>
                      <a:pPr marL="0" indent="0" algn="l">
                        <a:buNone/>
                      </a:pPr>
                      <a:r>
                        <a:rPr lang="en-US" altLang="zh-CN" sz="1800" b="0" u="none" dirty="0" err="1">
                          <a:latin typeface="微软雅黑" panose="020B0503020204020204" pitchFamily="34" charset="-122"/>
                          <a:ea typeface="微软雅黑" panose="020B0503020204020204" pitchFamily="34" charset="-122"/>
                          <a:cs typeface="Calibri" panose="020F0502020204030204" charset="0"/>
                        </a:rPr>
                        <a:t>lst.copy</a:t>
                      </a:r>
                      <a:r>
                        <a:rPr lang="en-US" altLang="zh-CN" sz="1800" b="0" u="none" dirty="0">
                          <a:latin typeface="微软雅黑" panose="020B0503020204020204" pitchFamily="34" charset="-122"/>
                          <a:ea typeface="微软雅黑" panose="020B0503020204020204" pitchFamily="34" charset="-122"/>
                          <a:cs typeface="Calibri" panose="020F0502020204030204" charset="0"/>
                        </a:rPr>
                        <a:t>()</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800" b="0" u="none" dirty="0">
                          <a:latin typeface="微软雅黑" panose="020B0503020204020204" pitchFamily="34" charset="-122"/>
                          <a:ea typeface="微软雅黑" panose="020B0503020204020204" pitchFamily="34" charset="-122"/>
                          <a:cs typeface="微软雅黑" panose="020B0503020204020204" pitchFamily="34" charset="-122"/>
                        </a:rPr>
                        <a:t>返回列表</a:t>
                      </a:r>
                      <a:r>
                        <a:rPr lang="en-US" altLang="zh-CN" sz="1800" b="0" u="none" dirty="0" err="1">
                          <a:latin typeface="微软雅黑" panose="020B0503020204020204" pitchFamily="34" charset="-122"/>
                          <a:ea typeface="微软雅黑" panose="020B0503020204020204" pitchFamily="34" charset="-122"/>
                          <a:cs typeface="微软雅黑" panose="020B0503020204020204" pitchFamily="34" charset="-122"/>
                        </a:rPr>
                        <a:t>lst</a:t>
                      </a:r>
                      <a:r>
                        <a:rPr lang="zh-CN" altLang="en-US" sz="1800" b="0" u="none" dirty="0">
                          <a:latin typeface="微软雅黑" panose="020B0503020204020204" pitchFamily="34" charset="-122"/>
                          <a:ea typeface="微软雅黑" panose="020B0503020204020204" pitchFamily="34" charset="-122"/>
                          <a:cs typeface="微软雅黑" panose="020B0503020204020204" pitchFamily="34" charset="-122"/>
                        </a:rPr>
                        <a:t>的浅复制</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transition spd="slow" advTm="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6527" y="1053530"/>
            <a:ext cx="7643955" cy="436378"/>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22531" name="内容占位符 2"/>
          <p:cNvSpPr>
            <a:spLocks noGrp="1"/>
          </p:cNvSpPr>
          <p:nvPr>
            <p:ph idx="1"/>
          </p:nvPr>
        </p:nvSpPr>
        <p:spPr>
          <a:xfrm>
            <a:off x="464185" y="1388745"/>
            <a:ext cx="11543665" cy="2731770"/>
          </a:xfrm>
        </p:spPr>
        <p:txBody>
          <a:bodyPr vert="horz" wrap="square" lIns="91456" tIns="45728" rIns="91456" bIns="45728" numCol="1" anchor="t" anchorCtr="0" compatLnSpc="1"/>
          <a:lstStyle/>
          <a:p>
            <a:pPr marL="342900" indent="0" algn="just" defTabSz="914400" eaLnBrk="0" fontAlgn="base" hangingPunct="0">
              <a:lnSpc>
                <a:spcPct val="150000"/>
              </a:lnSpc>
              <a:spcBef>
                <a:spcPts val="0"/>
              </a:spcBef>
              <a:spcAft>
                <a:spcPct val="0"/>
              </a:spcAft>
              <a:buFontTx/>
            </a:pPr>
            <a:r>
              <a:rPr lang="zh-CN" altLang="en-US" sz="2400" kern="0" dirty="0">
                <a:latin typeface="微软雅黑" panose="020B0503020204020204" pitchFamily="34" charset="-122"/>
                <a:ea typeface="微软雅黑" panose="020B0503020204020204" pitchFamily="34" charset="-122"/>
                <a:cs typeface="微软雅黑" panose="020B0503020204020204" pitchFamily="34" charset="-122"/>
              </a:rPr>
              <a:t>列表支持负数索引、分片以及多元列表等特性，列表的元素可修改。</a:t>
            </a:r>
            <a:endParaRPr lang="en-US" altLang="zh-CN" sz="2400" kern="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0" algn="just" defTabSz="914400" eaLnBrk="0" fontAlgn="base" hangingPunct="0">
              <a:lnSpc>
                <a:spcPct val="150000"/>
              </a:lnSpc>
              <a:spcBef>
                <a:spcPts val="0"/>
              </a:spcBef>
              <a:spcAft>
                <a:spcPct val="0"/>
              </a:spcAft>
              <a:buFontTx/>
            </a:pPr>
            <a:r>
              <a:rPr lang="zh-CN" altLang="en-US" sz="2400" kern="0" dirty="0">
                <a:latin typeface="微软雅黑" panose="020B0503020204020204" pitchFamily="34" charset="-122"/>
                <a:ea typeface="微软雅黑" panose="020B0503020204020204" pitchFamily="34" charset="-122"/>
                <a:cs typeface="微软雅黑" panose="020B0503020204020204" pitchFamily="34" charset="-122"/>
              </a:rPr>
              <a:t>可使用</a:t>
            </a:r>
            <a:r>
              <a:rPr lang="en-US" altLang="zh-CN" sz="2400" kern="0" dirty="0">
                <a:latin typeface="微软雅黑" panose="020B0503020204020204" pitchFamily="34" charset="-122"/>
                <a:ea typeface="微软雅黑" panose="020B0503020204020204" pitchFamily="34" charset="-122"/>
                <a:cs typeface="微软雅黑" panose="020B0503020204020204" pitchFamily="34" charset="-122"/>
              </a:rPr>
              <a:t>len</a:t>
            </a:r>
            <a:r>
              <a:rPr lang="zh-CN" altLang="en-US" sz="2400" kern="0" dirty="0">
                <a:latin typeface="微软雅黑" panose="020B0503020204020204" pitchFamily="34" charset="-122"/>
                <a:ea typeface="微软雅黑" panose="020B0503020204020204" pitchFamily="34" charset="-122"/>
                <a:cs typeface="微软雅黑" panose="020B0503020204020204" pitchFamily="34" charset="-122"/>
              </a:rPr>
              <a:t>获取列表长度，还可使用</a:t>
            </a:r>
            <a:r>
              <a:rPr lang="en-US" altLang="zh-CN" sz="2400" kern="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cs typeface="微软雅黑" panose="020B0503020204020204" pitchFamily="34" charset="-122"/>
              </a:rPr>
              <a:t>和*拼接列表。</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3" name="文本框 2"/>
          <p:cNvSpPr txBox="1"/>
          <p:nvPr/>
        </p:nvSpPr>
        <p:spPr>
          <a:xfrm>
            <a:off x="985520" y="2621280"/>
            <a:ext cx="7690485" cy="1419860"/>
          </a:xfrm>
          <a:prstGeom prst="rect">
            <a:avLst/>
          </a:prstGeom>
          <a:noFill/>
        </p:spPr>
        <p:txBody>
          <a:bodyPr wrap="square" rtlCol="0" anchor="t">
            <a:spAutoFit/>
          </a:bodyPr>
          <a:lstStyle/>
          <a:p>
            <a:pPr marL="1905" indent="-344805" defTabSz="914400">
              <a:lnSpc>
                <a:spcPct val="90000"/>
              </a:lnSpc>
              <a:buSzPct val="90000"/>
              <a:buFont typeface="Wingdings" panose="05000000000000000000" pitchFamily="2" charset="2"/>
              <a:buNone/>
            </a:pPr>
            <a:r>
              <a:rPr lang="en-US" altLang="zh-CN">
                <a:latin typeface="Consolas" panose="020B0609020204030204" pitchFamily="49" charset="0"/>
                <a:sym typeface="+mn-ea"/>
              </a:rPr>
              <a:t>&gt;&gt;&gt; aList = [3,4,5]</a:t>
            </a:r>
            <a:endParaRPr lang="en-US" altLang="zh-CN">
              <a:latin typeface="Consolas" panose="020B0609020204030204" pitchFamily="49" charset="0"/>
            </a:endParaRPr>
          </a:p>
          <a:p>
            <a:pPr marL="1905" indent="-344805" defTabSz="914400">
              <a:lnSpc>
                <a:spcPct val="90000"/>
              </a:lnSpc>
              <a:buSzPct val="90000"/>
              <a:buFont typeface="Wingdings" panose="05000000000000000000" pitchFamily="2" charset="2"/>
              <a:buNone/>
            </a:pPr>
            <a:r>
              <a:rPr lang="en-US" altLang="zh-CN">
                <a:latin typeface="Consolas" panose="020B0609020204030204" pitchFamily="49" charset="0"/>
                <a:sym typeface="+mn-ea"/>
              </a:rPr>
              <a:t>&gt;&gt;&gt; aList = aList + [7]</a:t>
            </a:r>
            <a:endParaRPr lang="en-US" altLang="zh-CN">
              <a:latin typeface="Consolas" panose="020B0609020204030204" pitchFamily="49" charset="0"/>
            </a:endParaRPr>
          </a:p>
          <a:p>
            <a:pPr marL="1905" indent="-344805" defTabSz="914400">
              <a:lnSpc>
                <a:spcPct val="90000"/>
              </a:lnSpc>
              <a:buSzPct val="90000"/>
              <a:buFont typeface="Wingdings" panose="05000000000000000000" pitchFamily="2" charset="2"/>
              <a:buNone/>
            </a:pPr>
            <a:r>
              <a:rPr lang="en-US" altLang="zh-CN">
                <a:latin typeface="Consolas" panose="020B0609020204030204" pitchFamily="49" charset="0"/>
                <a:sym typeface="+mn-ea"/>
              </a:rPr>
              <a:t>&gt;&gt;&gt; aList</a:t>
            </a:r>
            <a:endParaRPr lang="en-US" altLang="zh-CN">
              <a:latin typeface="Consolas" panose="020B0609020204030204" pitchFamily="49" charset="0"/>
            </a:endParaRPr>
          </a:p>
          <a:p>
            <a:pPr marL="1905" indent="-344805" defTabSz="914400">
              <a:lnSpc>
                <a:spcPct val="90000"/>
              </a:lnSpc>
              <a:buSzPct val="90000"/>
              <a:buFont typeface="Wingdings" panose="05000000000000000000" pitchFamily="2" charset="2"/>
              <a:buNone/>
            </a:pPr>
            <a:r>
              <a:rPr lang="en-US" altLang="zh-CN">
                <a:solidFill>
                  <a:schemeClr val="tx2"/>
                </a:solidFill>
                <a:latin typeface="Consolas" panose="020B0609020204030204" pitchFamily="49" charset="0"/>
                <a:sym typeface="+mn-ea"/>
              </a:rPr>
              <a:t>[3, 4, 5, 7]</a:t>
            </a:r>
          </a:p>
        </p:txBody>
      </p:sp>
      <p:sp>
        <p:nvSpPr>
          <p:cNvPr id="4" name="文本框 3"/>
          <p:cNvSpPr txBox="1"/>
          <p:nvPr/>
        </p:nvSpPr>
        <p:spPr>
          <a:xfrm>
            <a:off x="547370" y="4121150"/>
            <a:ext cx="11102975" cy="2306955"/>
          </a:xfrm>
          <a:prstGeom prst="rect">
            <a:avLst/>
          </a:prstGeom>
          <a:noFill/>
        </p:spPr>
        <p:txBody>
          <a:bodyPr wrap="square" rtlCol="0" anchor="t">
            <a:spAutoFit/>
          </a:bodyPr>
          <a:lstStyle/>
          <a:p>
            <a:pPr marL="1905" indent="-344805" defTabSz="914400">
              <a:lnSpc>
                <a:spcPct val="150000"/>
              </a:lnSpc>
              <a:spcBef>
                <a:spcPct val="0"/>
              </a:spcBef>
              <a:buSzPct val="90000"/>
              <a:buFont typeface="Wingdings" panose="05000000000000000000" pitchFamily="2" charset="2"/>
              <a:buNone/>
            </a:pPr>
            <a:r>
              <a:rPr lang="en-US" altLang="zh-CN">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严格意义上来讲，这并不是真的为列表添加元素，而是</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创建了一个新列表（可以用</a:t>
            </a:r>
            <a:r>
              <a:rPr lang="en-US" altLang="zh-CN"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id</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函数查看）</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，并将原列表中的元素和新元素依次复制到新列表的内存空间。由于涉及大量元素的复制，</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该操作速度较慢</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rPr>
              <a:t>，在涉及大量元素添加时不建议使用该方法。</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）列表的访问</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t>用下标访问列表元素</a:t>
            </a:r>
          </a:p>
        </p:txBody>
      </p:sp>
      <p:sp>
        <p:nvSpPr>
          <p:cNvPr id="6" name="内容占位符 2"/>
          <p:cNvSpPr>
            <a:spLocks noGrp="1"/>
          </p:cNvSpPr>
          <p:nvPr/>
        </p:nvSpPr>
        <p:spPr>
          <a:xfrm>
            <a:off x="1141730" y="2927350"/>
            <a:ext cx="10121900" cy="1995170"/>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fontAlgn="auto">
              <a:lnSpc>
                <a:spcPts val="3680"/>
              </a:lnSpc>
              <a:spcBef>
                <a:spcPts val="0"/>
              </a:spcBef>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访问列表元素</a:t>
            </a:r>
            <a:br>
              <a:rPr lang="zh-CN" altLang="en-US" sz="2400" i="1" dirty="0"/>
            </a:br>
            <a:r>
              <a:rPr lang="en-US" altLang="zh-CN" sz="2400" dirty="0"/>
              <a:t>Cars = ['</a:t>
            </a:r>
            <a:r>
              <a:rPr altLang="en-US" sz="2400" dirty="0"/>
              <a:t>宝马</a:t>
            </a:r>
            <a:r>
              <a:rPr lang="en-US" altLang="zh-CN" sz="2400" dirty="0"/>
              <a:t>', '</a:t>
            </a:r>
            <a:r>
              <a:rPr altLang="en-US" sz="2400" dirty="0" err="1"/>
              <a:t>奔驰</a:t>
            </a:r>
            <a:r>
              <a:rPr lang="en-US" altLang="zh-CN" sz="2400" dirty="0"/>
              <a:t>', '</a:t>
            </a:r>
            <a:r>
              <a:rPr altLang="en-US" sz="2400" dirty="0"/>
              <a:t>大众</a:t>
            </a:r>
            <a:r>
              <a:rPr lang="en-US" altLang="zh-CN" sz="2400" dirty="0"/>
              <a:t>', '</a:t>
            </a:r>
            <a:r>
              <a:rPr lang="zh-CN" altLang="en-US" sz="2400" dirty="0"/>
              <a:t>长城</a:t>
            </a:r>
            <a:r>
              <a:rPr lang="en-US" altLang="zh-CN" sz="2400" dirty="0"/>
              <a:t>', '</a:t>
            </a:r>
            <a:r>
              <a:rPr lang="zh-CN" altLang="en-US" sz="2400" dirty="0"/>
              <a:t>雪铁龙</a:t>
            </a:r>
            <a:r>
              <a:rPr lang="en-US" altLang="zh-CN" sz="2400" dirty="0"/>
              <a:t>', '</a:t>
            </a:r>
            <a:r>
              <a:rPr lang="zh-CN" altLang="en-US" sz="2400" dirty="0"/>
              <a:t>沃尔沃</a:t>
            </a:r>
            <a:r>
              <a:rPr lang="en-US" altLang="zh-CN" sz="2400" dirty="0"/>
              <a:t>' ]</a:t>
            </a:r>
            <a:br>
              <a:rPr lang="en-US" altLang="zh-CN" sz="2400" dirty="0"/>
            </a:br>
            <a:r>
              <a:rPr lang="en-US" altLang="zh-CN" sz="2400" dirty="0"/>
              <a:t>print(Cars</a:t>
            </a:r>
            <a:r>
              <a:rPr lang="en-US" altLang="zh-CN" sz="2400" dirty="0">
                <a:solidFill>
                  <a:srgbClr val="FF0000"/>
                </a:solidFill>
              </a:rPr>
              <a:t>[0]</a:t>
            </a:r>
            <a:r>
              <a:rPr lang="en-US" altLang="zh-CN" sz="2400" dirty="0"/>
              <a:t>)</a:t>
            </a:r>
            <a:br>
              <a:rPr lang="en-US" altLang="zh-CN" sz="2400" dirty="0"/>
            </a:br>
            <a:r>
              <a:rPr lang="en-US" altLang="zh-CN" sz="2400" dirty="0"/>
              <a:t>print(Cars</a:t>
            </a:r>
            <a:r>
              <a:rPr lang="en-US" altLang="zh-CN" sz="2400" dirty="0">
                <a:solidFill>
                  <a:srgbClr val="FF0000"/>
                </a:solidFill>
              </a:rPr>
              <a:t>[3]</a:t>
            </a:r>
            <a:r>
              <a:rPr lang="en-US" altLang="zh-CN" sz="2400" dirty="0"/>
              <a:t>)</a:t>
            </a:r>
            <a:endParaRPr lang="zh-CN" altLang="en-US" sz="2400" dirty="0">
              <a:latin typeface="Microsoft YaHei UI" panose="020B0503020204020204" pitchFamily="34" charset="-122"/>
              <a:ea typeface="Microsoft YaHei UI" panose="020B0503020204020204" pitchFamily="34" charset="-122"/>
              <a:cs typeface="Tahoma" panose="020B0604030504040204" pitchFamily="34" charset="0"/>
            </a:endParaRPr>
          </a:p>
        </p:txBody>
      </p:sp>
      <p:sp>
        <p:nvSpPr>
          <p:cNvPr id="9" name="线形标注 2(无边框) 8"/>
          <p:cNvSpPr/>
          <p:nvPr/>
        </p:nvSpPr>
        <p:spPr>
          <a:xfrm>
            <a:off x="3949968" y="5187811"/>
            <a:ext cx="4824536" cy="918102"/>
          </a:xfrm>
          <a:prstGeom prst="callout2">
            <a:avLst>
              <a:gd name="adj1" fmla="val 42654"/>
              <a:gd name="adj2" fmla="val -1435"/>
              <a:gd name="adj3" fmla="val 20047"/>
              <a:gd name="adj4" fmla="val -3675"/>
              <a:gd name="adj5" fmla="val -24860"/>
              <a:gd name="adj6" fmla="val -4469"/>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chemeClr val="tx1"/>
                </a:solidFill>
                <a:sym typeface="+mn-ea"/>
              </a:rPr>
              <a:t>Cars</a:t>
            </a:r>
            <a:r>
              <a:rPr lang="en-US" altLang="zh-CN" sz="2400" b="1" dirty="0">
                <a:solidFill>
                  <a:schemeClr val="tx1"/>
                </a:solidFill>
              </a:rPr>
              <a:t>[0]</a:t>
            </a:r>
            <a:r>
              <a:rPr lang="zh-CN" altLang="en-US" sz="2400" b="1" dirty="0">
                <a:solidFill>
                  <a:schemeClr val="tx1"/>
                </a:solidFill>
              </a:rPr>
              <a:t>是列表的第</a:t>
            </a:r>
            <a:r>
              <a:rPr lang="en-US" altLang="zh-CN" sz="2400" b="1" dirty="0">
                <a:solidFill>
                  <a:schemeClr val="tx1"/>
                </a:solidFill>
              </a:rPr>
              <a:t>1</a:t>
            </a:r>
            <a:r>
              <a:rPr lang="zh-CN" altLang="en-US" sz="2400" b="1" dirty="0">
                <a:solidFill>
                  <a:schemeClr val="tx1"/>
                </a:solidFill>
              </a:rPr>
              <a:t>个元素。</a:t>
            </a:r>
            <a:endParaRPr lang="en-US" altLang="zh-CN" sz="2400" b="1" dirty="0">
              <a:solidFill>
                <a:schemeClr val="tx1"/>
              </a:solidFill>
            </a:endParaRPr>
          </a:p>
          <a:p>
            <a:r>
              <a:rPr lang="en-US" altLang="zh-CN" b="1" dirty="0">
                <a:solidFill>
                  <a:schemeClr val="tx1"/>
                </a:solidFill>
                <a:sym typeface="+mn-ea"/>
              </a:rPr>
              <a:t>Cars</a:t>
            </a:r>
            <a:r>
              <a:rPr lang="en-US" altLang="zh-CN" sz="2400" b="1" dirty="0">
                <a:solidFill>
                  <a:schemeClr val="tx1"/>
                </a:solidFill>
              </a:rPr>
              <a:t>[3]</a:t>
            </a:r>
            <a:r>
              <a:rPr lang="zh-CN" altLang="en-US" sz="2400" b="1" dirty="0">
                <a:solidFill>
                  <a:schemeClr val="tx1"/>
                </a:solidFill>
              </a:rPr>
              <a:t>是列表的第</a:t>
            </a:r>
            <a:r>
              <a:rPr lang="en-US" altLang="zh-CN" sz="2400" b="1" dirty="0">
                <a:solidFill>
                  <a:schemeClr val="tx1"/>
                </a:solidFill>
              </a:rPr>
              <a:t>4</a:t>
            </a:r>
            <a:r>
              <a:rPr lang="zh-CN" altLang="en-US" sz="2400" b="1" dirty="0">
                <a:solidFill>
                  <a:schemeClr val="tx1"/>
                </a:solidFill>
              </a:rPr>
              <a:t>个元素。</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）列表的访问</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t>用下标访问列表元素</a:t>
            </a:r>
            <a:r>
              <a:rPr lang="zh-CN" altLang="en-US" sz="2800" dirty="0">
                <a:solidFill>
                  <a:srgbClr val="FF0000"/>
                </a:solidFill>
              </a:rPr>
              <a:t>（负数索引）</a:t>
            </a:r>
          </a:p>
        </p:txBody>
      </p:sp>
      <p:sp>
        <p:nvSpPr>
          <p:cNvPr id="6" name="内容占位符 2"/>
          <p:cNvSpPr>
            <a:spLocks noGrp="1"/>
          </p:cNvSpPr>
          <p:nvPr/>
        </p:nvSpPr>
        <p:spPr>
          <a:xfrm>
            <a:off x="1141730" y="2927350"/>
            <a:ext cx="10121900" cy="1995170"/>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fontAlgn="auto">
              <a:lnSpc>
                <a:spcPts val="3680"/>
              </a:lnSpc>
              <a:spcBef>
                <a:spcPts val="0"/>
              </a:spcBef>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访问列表元素</a:t>
            </a:r>
            <a:br>
              <a:rPr lang="zh-CN" altLang="en-US" sz="2400" i="1" dirty="0"/>
            </a:br>
            <a:r>
              <a:rPr lang="en-US" altLang="zh-CN" sz="2400" dirty="0"/>
              <a:t>Cars = ['</a:t>
            </a:r>
            <a:r>
              <a:rPr altLang="en-US" sz="2400" dirty="0"/>
              <a:t>宝马</a:t>
            </a:r>
            <a:r>
              <a:rPr lang="en-US" altLang="zh-CN" sz="2400" dirty="0"/>
              <a:t>', '</a:t>
            </a:r>
            <a:r>
              <a:rPr altLang="en-US" sz="2400" dirty="0" err="1"/>
              <a:t>奔驰</a:t>
            </a:r>
            <a:r>
              <a:rPr lang="en-US" altLang="zh-CN" sz="2400" dirty="0"/>
              <a:t>', '</a:t>
            </a:r>
            <a:r>
              <a:rPr altLang="en-US" sz="2400" dirty="0"/>
              <a:t>大众</a:t>
            </a:r>
            <a:r>
              <a:rPr lang="en-US" altLang="zh-CN" sz="2400" dirty="0"/>
              <a:t>', '</a:t>
            </a:r>
            <a:r>
              <a:rPr lang="zh-CN" altLang="en-US" sz="2400" dirty="0"/>
              <a:t>长城</a:t>
            </a:r>
            <a:r>
              <a:rPr lang="en-US" altLang="zh-CN" sz="2400" dirty="0"/>
              <a:t>', '</a:t>
            </a:r>
            <a:r>
              <a:rPr lang="zh-CN" altLang="en-US" sz="2400" dirty="0"/>
              <a:t>雪铁龙</a:t>
            </a:r>
            <a:r>
              <a:rPr lang="en-US" altLang="zh-CN" sz="2400" dirty="0"/>
              <a:t>', '</a:t>
            </a:r>
            <a:r>
              <a:rPr lang="zh-CN" altLang="en-US" sz="2400" dirty="0"/>
              <a:t>沃尔沃</a:t>
            </a:r>
            <a:r>
              <a:rPr lang="en-US" altLang="zh-CN" sz="2400" dirty="0"/>
              <a:t>' ]</a:t>
            </a:r>
            <a:br>
              <a:rPr lang="en-US" altLang="zh-CN" sz="2400" dirty="0"/>
            </a:br>
            <a:r>
              <a:rPr lang="en-US" altLang="zh-CN" sz="2400" dirty="0"/>
              <a:t>print(Cars</a:t>
            </a:r>
            <a:r>
              <a:rPr lang="en-US" altLang="zh-CN" sz="2400" dirty="0">
                <a:solidFill>
                  <a:srgbClr val="FF0000"/>
                </a:solidFill>
              </a:rPr>
              <a:t>[-1]</a:t>
            </a:r>
            <a:r>
              <a:rPr lang="en-US" altLang="zh-CN" sz="2400" dirty="0"/>
              <a:t>)</a:t>
            </a:r>
            <a:br>
              <a:rPr lang="en-US" altLang="zh-CN" sz="2400" dirty="0"/>
            </a:br>
            <a:r>
              <a:rPr lang="en-US" altLang="zh-CN" sz="2400" dirty="0"/>
              <a:t>print(Cars</a:t>
            </a:r>
            <a:r>
              <a:rPr lang="en-US" altLang="zh-CN" sz="2400" dirty="0">
                <a:solidFill>
                  <a:srgbClr val="FF0000"/>
                </a:solidFill>
              </a:rPr>
              <a:t>[-2]</a:t>
            </a:r>
            <a:r>
              <a:rPr lang="en-US" altLang="zh-CN" sz="2400" dirty="0"/>
              <a:t>)</a:t>
            </a:r>
            <a:endParaRPr lang="zh-CN" altLang="en-US" sz="2400" dirty="0">
              <a:latin typeface="Microsoft YaHei UI" panose="020B0503020204020204" pitchFamily="34" charset="-122"/>
              <a:ea typeface="Microsoft YaHei UI" panose="020B0503020204020204" pitchFamily="34" charset="-122"/>
              <a:cs typeface="Tahoma" panose="020B0604030504040204" pitchFamily="34" charset="0"/>
            </a:endParaRPr>
          </a:p>
        </p:txBody>
      </p:sp>
      <p:sp>
        <p:nvSpPr>
          <p:cNvPr id="9" name="线形标注 2(无边框) 8"/>
          <p:cNvSpPr/>
          <p:nvPr/>
        </p:nvSpPr>
        <p:spPr>
          <a:xfrm>
            <a:off x="3949968" y="5187811"/>
            <a:ext cx="4824536" cy="918102"/>
          </a:xfrm>
          <a:prstGeom prst="callout2">
            <a:avLst>
              <a:gd name="adj1" fmla="val 42654"/>
              <a:gd name="adj2" fmla="val -1435"/>
              <a:gd name="adj3" fmla="val 20047"/>
              <a:gd name="adj4" fmla="val -3675"/>
              <a:gd name="adj5" fmla="val -24860"/>
              <a:gd name="adj6" fmla="val -4469"/>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lvl="0" algn="l"/>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Cars[</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]是列表的倒数第1个元素。</a:t>
            </a:r>
          </a:p>
          <a:p>
            <a:pPr lvl="0" algn="l"/>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Cars[</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]是列表的倒数第2个元素。</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）列表的访问</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t>用下标访问列表元素</a:t>
            </a:r>
            <a:endParaRPr lang="zh-CN" altLang="en-US" sz="2800" dirty="0">
              <a:solidFill>
                <a:srgbClr val="FF0000"/>
              </a:solidFill>
            </a:endParaRPr>
          </a:p>
        </p:txBody>
      </p:sp>
      <p:sp>
        <p:nvSpPr>
          <p:cNvPr id="6" name="内容占位符 2"/>
          <p:cNvSpPr>
            <a:spLocks noGrp="1"/>
          </p:cNvSpPr>
          <p:nvPr/>
        </p:nvSpPr>
        <p:spPr>
          <a:xfrm>
            <a:off x="868680" y="2926715"/>
            <a:ext cx="10795635" cy="2781300"/>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fontAlgn="auto">
              <a:lnSpc>
                <a:spcPts val="3580"/>
              </a:lnSpc>
              <a:spcBef>
                <a:spcPts val="0"/>
              </a:spcBef>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访问列表元素</a:t>
            </a:r>
            <a:br>
              <a:rPr lang="zh-CN" altLang="en-US" sz="2400" i="1" dirty="0"/>
            </a:br>
            <a:r>
              <a:rPr lang="zh-CN" altLang="en-US" sz="2400" i="1" dirty="0"/>
              <a:t>f</a:t>
            </a:r>
            <a:r>
              <a:rPr lang="en-US" altLang="zh-CN" sz="2400" i="1" dirty="0"/>
              <a:t>ruits</a:t>
            </a:r>
            <a:r>
              <a:rPr lang="en-US" altLang="zh-CN" sz="2400" dirty="0"/>
              <a:t> = ['apple', '</a:t>
            </a:r>
            <a:r>
              <a:rPr lang="en-US" altLang="zh-CN" sz="2400" dirty="0" err="1"/>
              <a:t>orange</a:t>
            </a:r>
            <a:r>
              <a:rPr lang="en-US" altLang="zh-CN" sz="2400" dirty="0"/>
              <a:t>', 'watermelon', 'cherry', 'lemon']</a:t>
            </a:r>
            <a:br>
              <a:rPr lang="en-US" altLang="zh-CN" sz="2400" dirty="0"/>
            </a:br>
            <a:r>
              <a:rPr lang="en-US" altLang="zh-CN" sz="2400" dirty="0">
                <a:sym typeface="+mn-ea"/>
              </a:rPr>
              <a:t>message = "My first car is a " +  </a:t>
            </a:r>
            <a:r>
              <a:rPr altLang="en-US" sz="2400" i="1" dirty="0">
                <a:solidFill>
                  <a:srgbClr val="FF0000"/>
                </a:solidFill>
                <a:sym typeface="+mn-ea"/>
              </a:rPr>
              <a:t>f</a:t>
            </a:r>
            <a:r>
              <a:rPr lang="en-US" altLang="zh-CN" sz="2400" i="1" dirty="0">
                <a:solidFill>
                  <a:srgbClr val="FF0000"/>
                </a:solidFill>
                <a:sym typeface="+mn-ea"/>
              </a:rPr>
              <a:t>ruits</a:t>
            </a:r>
            <a:r>
              <a:rPr lang="en-US" altLang="zh-CN" sz="2400" dirty="0">
                <a:sym typeface="+mn-ea"/>
              </a:rPr>
              <a:t> </a:t>
            </a:r>
            <a:r>
              <a:rPr lang="en-US" altLang="zh-CN" sz="2400" dirty="0">
                <a:solidFill>
                  <a:srgbClr val="FF0000"/>
                </a:solidFill>
                <a:sym typeface="+mn-ea"/>
              </a:rPr>
              <a:t>[3].title()</a:t>
            </a:r>
            <a:r>
              <a:rPr lang="en-US" altLang="zh-CN" sz="2400" dirty="0">
                <a:sym typeface="+mn-ea"/>
              </a:rPr>
              <a:t> + "."</a:t>
            </a:r>
            <a:br>
              <a:rPr lang="en-US" altLang="zh-CN" sz="2400" dirty="0">
                <a:sym typeface="+mn-ea"/>
              </a:rPr>
            </a:br>
            <a:r>
              <a:rPr lang="en-US" altLang="zh-CN" sz="2400" dirty="0">
                <a:sym typeface="+mn-ea"/>
              </a:rPr>
              <a:t>print(message)</a:t>
            </a:r>
          </a:p>
          <a:p>
            <a:pPr marL="0" indent="0" fontAlgn="auto">
              <a:lnSpc>
                <a:spcPts val="3580"/>
              </a:lnSpc>
              <a:spcBef>
                <a:spcPts val="0"/>
              </a:spcBef>
              <a:buNone/>
            </a:pP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）列表的修改添加</a:t>
            </a:r>
            <a:endPar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b="0" dirty="0">
                <a:solidFill>
                  <a:srgbClr val="FF0000"/>
                </a:solidFill>
                <a:latin typeface="微软雅黑" panose="020B0503020204020204" pitchFamily="34" charset="-122"/>
                <a:ea typeface="微软雅黑" panose="020B0503020204020204" pitchFamily="34" charset="-122"/>
              </a:rPr>
              <a:t>修改</a:t>
            </a:r>
            <a:r>
              <a:rPr lang="zh-CN" altLang="en-US" sz="2800" b="0" dirty="0">
                <a:latin typeface="微软雅黑" panose="020B0503020204020204" pitchFamily="34" charset="-122"/>
                <a:ea typeface="微软雅黑" panose="020B0503020204020204" pitchFamily="34" charset="-122"/>
              </a:rPr>
              <a:t>列表元素</a:t>
            </a:r>
            <a:endParaRPr lang="zh-CN" altLang="en-US" sz="2800" b="0" dirty="0">
              <a:solidFill>
                <a:srgbClr val="FF0000"/>
              </a:solidFill>
              <a:latin typeface="微软雅黑" panose="020B0503020204020204" pitchFamily="34" charset="-122"/>
              <a:ea typeface="微软雅黑" panose="020B0503020204020204" pitchFamily="34" charset="-122"/>
            </a:endParaRPr>
          </a:p>
        </p:txBody>
      </p:sp>
      <p:sp>
        <p:nvSpPr>
          <p:cNvPr id="6" name="内容占位符 2"/>
          <p:cNvSpPr>
            <a:spLocks noGrp="1"/>
          </p:cNvSpPr>
          <p:nvPr/>
        </p:nvSpPr>
        <p:spPr>
          <a:xfrm>
            <a:off x="868680" y="2927350"/>
            <a:ext cx="10795635" cy="2380615"/>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fontAlgn="auto">
              <a:lnSpc>
                <a:spcPts val="3580"/>
              </a:lnSpc>
              <a:spcBef>
                <a:spcPts val="0"/>
              </a:spcBef>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修改添加列表元素</a:t>
            </a:r>
            <a:br>
              <a:rPr altLang="en-US" sz="2400" i="1" dirty="0">
                <a:sym typeface="+mn-ea"/>
              </a:rPr>
            </a:br>
            <a:r>
              <a:rPr lang="en-US" altLang="zh-CN" sz="2400" dirty="0">
                <a:sym typeface="+mn-ea"/>
              </a:rPr>
              <a:t>Cars = ['</a:t>
            </a:r>
            <a:r>
              <a:rPr altLang="en-US" sz="2400" dirty="0">
                <a:sym typeface="+mn-ea"/>
              </a:rPr>
              <a:t>宝马</a:t>
            </a:r>
            <a:r>
              <a:rPr lang="en-US" altLang="zh-CN" sz="2400" dirty="0">
                <a:sym typeface="+mn-ea"/>
              </a:rPr>
              <a:t>', '</a:t>
            </a:r>
            <a:r>
              <a:rPr altLang="en-US" sz="2400" dirty="0" err="1">
                <a:sym typeface="+mn-ea"/>
              </a:rPr>
              <a:t>奔驰</a:t>
            </a:r>
            <a:r>
              <a:rPr lang="en-US" altLang="zh-CN" sz="2400" dirty="0">
                <a:sym typeface="+mn-ea"/>
              </a:rPr>
              <a:t>', '</a:t>
            </a:r>
            <a:r>
              <a:rPr altLang="en-US" sz="2400" dirty="0">
                <a:sym typeface="+mn-ea"/>
              </a:rPr>
              <a:t>大众</a:t>
            </a:r>
            <a:r>
              <a:rPr lang="en-US" altLang="zh-CN" sz="2400" dirty="0">
                <a:sym typeface="+mn-ea"/>
              </a:rPr>
              <a:t>', '</a:t>
            </a:r>
            <a:r>
              <a:rPr altLang="en-US" sz="2400" dirty="0">
                <a:sym typeface="+mn-ea"/>
              </a:rPr>
              <a:t>长城</a:t>
            </a:r>
            <a:r>
              <a:rPr lang="en-US" altLang="zh-CN" sz="2400" dirty="0">
                <a:sym typeface="+mn-ea"/>
              </a:rPr>
              <a:t>', '</a:t>
            </a:r>
            <a:r>
              <a:rPr altLang="en-US" sz="2400" dirty="0">
                <a:sym typeface="+mn-ea"/>
              </a:rPr>
              <a:t>雪铁龙</a:t>
            </a:r>
            <a:r>
              <a:rPr lang="en-US" altLang="zh-CN" sz="2400" dirty="0">
                <a:sym typeface="+mn-ea"/>
              </a:rPr>
              <a:t>', '</a:t>
            </a:r>
            <a:r>
              <a:rPr altLang="en-US" sz="2400" dirty="0">
                <a:sym typeface="+mn-ea"/>
              </a:rPr>
              <a:t>沃尔沃</a:t>
            </a:r>
            <a:r>
              <a:rPr lang="en-US" altLang="zh-CN" sz="2400" dirty="0">
                <a:sym typeface="+mn-ea"/>
              </a:rPr>
              <a:t>' ]</a:t>
            </a:r>
            <a:br>
              <a:rPr lang="en-US" altLang="zh-CN" sz="2400" dirty="0">
                <a:sym typeface="+mn-ea"/>
              </a:rPr>
            </a:br>
            <a:r>
              <a:rPr lang="en-US" altLang="zh-CN" sz="2400" dirty="0">
                <a:sym typeface="+mn-ea"/>
              </a:rPr>
              <a:t>print(Cars )</a:t>
            </a:r>
            <a:br>
              <a:rPr lang="en-US" altLang="zh-CN" sz="2400" dirty="0">
                <a:sym typeface="+mn-ea"/>
              </a:rPr>
            </a:br>
            <a:r>
              <a:rPr lang="en-US" altLang="zh-CN" sz="2400" dirty="0">
                <a:sym typeface="+mn-ea"/>
              </a:rPr>
              <a:t>Cars [0] = '雪佛兰'</a:t>
            </a:r>
            <a:br>
              <a:rPr lang="en-US" altLang="zh-CN" sz="2400" dirty="0">
                <a:sym typeface="+mn-ea"/>
              </a:rPr>
            </a:br>
            <a:r>
              <a:rPr lang="en-US" altLang="zh-CN" sz="2400" dirty="0">
                <a:sym typeface="+mn-ea"/>
              </a:rPr>
              <a:t>print(Cars )</a:t>
            </a:r>
            <a:endParaRPr lang="zh-CN" altLang="en-US" sz="2400" dirty="0">
              <a:latin typeface="Microsoft YaHei UI" panose="020B0503020204020204" pitchFamily="34" charset="-122"/>
              <a:ea typeface="Microsoft YaHei UI" panose="020B0503020204020204" pitchFamily="34" charset="-122"/>
              <a:cs typeface="Tahoma" panose="020B0604030504040204" pitchFamily="34" charset="0"/>
            </a:endParaRPr>
          </a:p>
          <a:p>
            <a:pPr marL="0" indent="0" fontAlgn="auto">
              <a:lnSpc>
                <a:spcPts val="3580"/>
              </a:lnSpc>
              <a:spcBef>
                <a:spcPts val="0"/>
              </a:spcBef>
              <a:buNone/>
            </a:pPr>
            <a:br>
              <a:rPr lang="en-US" altLang="zh-CN" sz="2400" i="1" dirty="0">
                <a:solidFill>
                  <a:schemeClr val="accent1"/>
                </a:solidFill>
                <a:effectLst>
                  <a:outerShdw blurRad="38100" dist="25400" dir="5400000" algn="ctr" rotWithShape="0">
                    <a:srgbClr val="6E747A">
                      <a:alpha val="43000"/>
                    </a:srgbClr>
                  </a:outerShdw>
                </a:effectLst>
                <a:sym typeface="+mn-ea"/>
              </a:rPr>
            </a:b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2" name="线形标注 2(无边框) 1"/>
          <p:cNvSpPr/>
          <p:nvPr/>
        </p:nvSpPr>
        <p:spPr>
          <a:xfrm>
            <a:off x="4033922" y="5546075"/>
            <a:ext cx="5184576" cy="720080"/>
          </a:xfrm>
          <a:prstGeom prst="callout2">
            <a:avLst>
              <a:gd name="adj1" fmla="val -5447"/>
              <a:gd name="adj2" fmla="val 28019"/>
              <a:gd name="adj3" fmla="val -34410"/>
              <a:gd name="adj4" fmla="val 28303"/>
              <a:gd name="adj5" fmla="val -74527"/>
              <a:gd name="adj6" fmla="val 17629"/>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lvl="0" algn="l"/>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修改元素的写法：列表名[i] = … 。</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）列表的修改添加</a:t>
            </a:r>
            <a:endPar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grpSp>
        <p:nvGrpSpPr>
          <p:cNvPr id="11" name="组合 10"/>
          <p:cNvGrpSpPr/>
          <p:nvPr/>
        </p:nvGrpSpPr>
        <p:grpSpPr>
          <a:xfrm>
            <a:off x="2432685" y="2501265"/>
            <a:ext cx="6413500" cy="3025140"/>
            <a:chOff x="3831" y="3939"/>
            <a:chExt cx="10100" cy="4764"/>
          </a:xfrm>
        </p:grpSpPr>
        <p:cxnSp>
          <p:nvCxnSpPr>
            <p:cNvPr id="42" name="直接连接符 41"/>
            <p:cNvCxnSpPr/>
            <p:nvPr>
              <p:custDataLst>
                <p:tags r:id="rId1"/>
              </p:custDataLst>
            </p:nvPr>
          </p:nvCxnSpPr>
          <p:spPr>
            <a:xfrm>
              <a:off x="6175" y="6270"/>
              <a:ext cx="462" cy="0"/>
            </a:xfrm>
            <a:prstGeom prst="line">
              <a:avLst/>
            </a:prstGeom>
            <a:noFill/>
            <a:ln w="6350" cap="flat" cmpd="sng" algn="ctr">
              <a:solidFill>
                <a:srgbClr val="000000">
                  <a:lumMod val="20000"/>
                  <a:lumOff val="80000"/>
                </a:srgbClr>
              </a:solidFill>
              <a:prstDash val="solid"/>
              <a:miter lim="800000"/>
            </a:ln>
            <a:effectLst/>
          </p:spPr>
        </p:cxnSp>
        <p:sp>
          <p:nvSpPr>
            <p:cNvPr id="8" name="椭圆 7"/>
            <p:cNvSpPr/>
            <p:nvPr>
              <p:custDataLst>
                <p:tags r:id="rId2"/>
              </p:custDataLst>
            </p:nvPr>
          </p:nvSpPr>
          <p:spPr>
            <a:xfrm>
              <a:off x="4085" y="5287"/>
              <a:ext cx="2041" cy="2041"/>
            </a:xfrm>
            <a:prstGeom prst="ellipse">
              <a:avLst/>
            </a:prstGeom>
            <a:solidFill>
              <a:schemeClr val="accent1"/>
            </a:solidFill>
            <a:ln w="57150" cap="flat" cmpd="sng" algn="ctr">
              <a:solidFill>
                <a:srgbClr val="1F74AD"/>
              </a:solidFill>
              <a:prstDash val="solid"/>
              <a:miter lim="800000"/>
            </a:ln>
            <a:effectLst/>
          </p:spPr>
          <p:txBody>
            <a:bodyPr wrap="none" tIns="0" bIns="0" anchor="ctr">
              <a:normAutofit/>
            </a:bodyPr>
            <a:lstStyle/>
            <a:p>
              <a:pPr algn="ctr">
                <a:lnSpc>
                  <a:spcPct val="130000"/>
                </a:lnSpc>
              </a:pPr>
              <a:endParaRPr lang="zh-CN" altLang="en-US" sz="2000" dirty="0">
                <a:solidFill>
                  <a:schemeClr val="accent1">
                    <a:lumMod val="60000"/>
                    <a:lumOff val="40000"/>
                  </a:schemeClr>
                </a:solidFill>
                <a:latin typeface="微软雅黑" panose="020B0503020204020204" pitchFamily="34" charset="-122"/>
                <a:ea typeface="微软雅黑" panose="020B0503020204020204" pitchFamily="34" charset="-122"/>
                <a:cs typeface="+mn-ea"/>
              </a:endParaRPr>
            </a:p>
          </p:txBody>
        </p:sp>
        <p:sp>
          <p:nvSpPr>
            <p:cNvPr id="9" name="文本框 8"/>
            <p:cNvSpPr txBox="1"/>
            <p:nvPr>
              <p:custDataLst>
                <p:tags r:id="rId3"/>
              </p:custDataLst>
            </p:nvPr>
          </p:nvSpPr>
          <p:spPr>
            <a:xfrm>
              <a:off x="3831" y="5541"/>
              <a:ext cx="2549" cy="1497"/>
            </a:xfrm>
            <a:prstGeom prst="rect">
              <a:avLst/>
            </a:prstGeom>
            <a:noFill/>
          </p:spPr>
          <p:txBody>
            <a:bodyPr wrap="square" rtlCol="0">
              <a:scene3d>
                <a:camera prst="orthographicFront"/>
                <a:lightRig rig="threePt" dir="t"/>
              </a:scene3d>
            </a:bodyPr>
            <a:lstStyle/>
            <a:p>
              <a:pPr algn="ctr" fontAlgn="auto">
                <a:lnSpc>
                  <a:spcPct val="120000"/>
                </a:lnSpc>
              </a:pPr>
              <a:r>
                <a:rPr lang="zh-CN" altLang="en-US" b="1" spc="300" dirty="0">
                  <a:ln w="10160">
                    <a:solidFill>
                      <a:schemeClr val="accent5"/>
                    </a:solidFill>
                    <a:prstDash val="solid"/>
                  </a:ln>
                  <a:solidFill>
                    <a:srgbClr val="FFFFFF"/>
                  </a:solidFill>
                  <a:effectLst>
                    <a:outerShdw blurRad="38100" dist="22860" dir="5400000" algn="tl" rotWithShape="0">
                      <a:srgbClr val="000000">
                        <a:alpha val="30000"/>
                      </a:srgbClr>
                    </a:outerShdw>
                  </a:effectLst>
                  <a:uFillTx/>
                  <a:latin typeface="微软雅黑" panose="020B0503020204020204" pitchFamily="34" charset="-122"/>
                  <a:ea typeface="微软雅黑" panose="020B0503020204020204" pitchFamily="34" charset="-122"/>
                </a:rPr>
                <a:t>添加</a:t>
              </a:r>
            </a:p>
            <a:p>
              <a:pPr algn="ctr" fontAlgn="auto">
                <a:lnSpc>
                  <a:spcPct val="120000"/>
                </a:lnSpc>
              </a:pPr>
              <a:r>
                <a:rPr lang="zh-CN" altLang="en-US" b="1" spc="300" dirty="0">
                  <a:ln w="10160">
                    <a:solidFill>
                      <a:schemeClr val="accent5"/>
                    </a:solidFill>
                    <a:prstDash val="solid"/>
                  </a:ln>
                  <a:solidFill>
                    <a:srgbClr val="FFFFFF"/>
                  </a:solidFill>
                  <a:effectLst>
                    <a:outerShdw blurRad="38100" dist="22860" dir="5400000" algn="tl" rotWithShape="0">
                      <a:srgbClr val="000000">
                        <a:alpha val="30000"/>
                      </a:srgbClr>
                    </a:outerShdw>
                  </a:effectLst>
                  <a:uFillTx/>
                  <a:latin typeface="微软雅黑" panose="020B0503020204020204" pitchFamily="34" charset="-122"/>
                  <a:ea typeface="微软雅黑" panose="020B0503020204020204" pitchFamily="34" charset="-122"/>
                </a:rPr>
                <a:t>方法</a:t>
              </a:r>
            </a:p>
          </p:txBody>
        </p:sp>
        <p:cxnSp>
          <p:nvCxnSpPr>
            <p:cNvPr id="63" name="直接连接符 62"/>
            <p:cNvCxnSpPr/>
            <p:nvPr>
              <p:custDataLst>
                <p:tags r:id="rId4"/>
              </p:custDataLst>
            </p:nvPr>
          </p:nvCxnSpPr>
          <p:spPr>
            <a:xfrm>
              <a:off x="6637" y="7841"/>
              <a:ext cx="1032" cy="0"/>
            </a:xfrm>
            <a:prstGeom prst="line">
              <a:avLst/>
            </a:prstGeom>
            <a:noFill/>
            <a:ln w="6350" cap="flat" cmpd="sng" algn="ctr">
              <a:solidFill>
                <a:srgbClr val="000000">
                  <a:lumMod val="20000"/>
                  <a:lumOff val="80000"/>
                </a:srgbClr>
              </a:solidFill>
              <a:prstDash val="solid"/>
              <a:miter lim="800000"/>
            </a:ln>
            <a:effectLst/>
          </p:spPr>
        </p:cxnSp>
        <p:cxnSp>
          <p:nvCxnSpPr>
            <p:cNvPr id="62" name="直接连接符 61"/>
            <p:cNvCxnSpPr/>
            <p:nvPr>
              <p:custDataLst>
                <p:tags r:id="rId5"/>
              </p:custDataLst>
            </p:nvPr>
          </p:nvCxnSpPr>
          <p:spPr>
            <a:xfrm>
              <a:off x="6637" y="6270"/>
              <a:ext cx="1032" cy="0"/>
            </a:xfrm>
            <a:prstGeom prst="line">
              <a:avLst/>
            </a:prstGeom>
            <a:noFill/>
            <a:ln w="6350" cap="flat" cmpd="sng" algn="ctr">
              <a:solidFill>
                <a:srgbClr val="000000">
                  <a:lumMod val="20000"/>
                  <a:lumOff val="80000"/>
                </a:srgbClr>
              </a:solidFill>
              <a:prstDash val="solid"/>
              <a:miter lim="800000"/>
            </a:ln>
            <a:effectLst/>
          </p:spPr>
        </p:cxnSp>
        <p:cxnSp>
          <p:nvCxnSpPr>
            <p:cNvPr id="61" name="直接连接符 60"/>
            <p:cNvCxnSpPr/>
            <p:nvPr>
              <p:custDataLst>
                <p:tags r:id="rId6"/>
              </p:custDataLst>
            </p:nvPr>
          </p:nvCxnSpPr>
          <p:spPr>
            <a:xfrm>
              <a:off x="6637" y="4712"/>
              <a:ext cx="1032" cy="0"/>
            </a:xfrm>
            <a:prstGeom prst="line">
              <a:avLst/>
            </a:prstGeom>
            <a:noFill/>
            <a:ln w="6350" cap="flat" cmpd="sng" algn="ctr">
              <a:solidFill>
                <a:srgbClr val="000000">
                  <a:lumMod val="20000"/>
                  <a:lumOff val="80000"/>
                </a:srgbClr>
              </a:solidFill>
              <a:prstDash val="solid"/>
              <a:miter lim="800000"/>
            </a:ln>
            <a:effectLst/>
          </p:spPr>
        </p:cxnSp>
        <p:sp>
          <p:nvSpPr>
            <p:cNvPr id="18" name="椭圆 17"/>
            <p:cNvSpPr/>
            <p:nvPr>
              <p:custDataLst>
                <p:tags r:id="rId7"/>
              </p:custDataLst>
            </p:nvPr>
          </p:nvSpPr>
          <p:spPr>
            <a:xfrm>
              <a:off x="7242" y="4368"/>
              <a:ext cx="731" cy="731"/>
            </a:xfrm>
            <a:prstGeom prst="ellipse">
              <a:avLst/>
            </a:prstGeom>
            <a:solidFill>
              <a:srgbClr val="1F74AD"/>
            </a:solidFill>
            <a:ln w="38100" cap="flat" cmpd="sng" algn="ctr">
              <a:solidFill>
                <a:sysClr val="window" lastClr="FFFFFF"/>
              </a:solidFill>
              <a:prstDash val="solid"/>
              <a:miter lim="800000"/>
            </a:ln>
            <a:effectLst/>
          </p:spPr>
          <p:txBody>
            <a:bodyPr anchor="ctr"/>
            <a:lstStyle/>
            <a:p>
              <a:pPr algn="ctr">
                <a:lnSpc>
                  <a:spcPct val="130000"/>
                </a:lnSpc>
              </a:pPr>
              <a:r>
                <a:rPr lang="en-US">
                  <a:solidFill>
                    <a:schemeClr val="bg1"/>
                  </a:solidFill>
                  <a:latin typeface="Arial Black" panose="020B0A04020102020204" pitchFamily="34" charset="0"/>
                  <a:ea typeface="微软雅黑" panose="020B0503020204020204" pitchFamily="34" charset="-122"/>
                  <a:cs typeface="Arial Black" panose="020B0A04020102020204" pitchFamily="34" charset="0"/>
                </a:rPr>
                <a:t>1</a:t>
              </a:r>
            </a:p>
          </p:txBody>
        </p:sp>
        <p:sp>
          <p:nvSpPr>
            <p:cNvPr id="26" name="文本框 25"/>
            <p:cNvSpPr txBox="1"/>
            <p:nvPr>
              <p:custDataLst>
                <p:tags r:id="rId8"/>
              </p:custDataLst>
            </p:nvPr>
          </p:nvSpPr>
          <p:spPr>
            <a:xfrm>
              <a:off x="9761" y="4628"/>
              <a:ext cx="4171" cy="639"/>
            </a:xfrm>
            <a:prstGeom prst="rect">
              <a:avLst/>
            </a:prstGeom>
            <a:noFill/>
          </p:spPr>
          <p:txBody>
            <a:bodyPr wrap="square" lIns="90000" tIns="46800" rIns="90000" bIns="46800" anchor="t">
              <a:normAutofit/>
            </a:bodyPr>
            <a:lstStyle/>
            <a:p>
              <a:pPr defTabSz="913765" fontAlgn="auto">
                <a:lnSpc>
                  <a:spcPct val="120000"/>
                </a:lnSpc>
                <a:spcBef>
                  <a:spcPct val="0"/>
                </a:spcBef>
                <a:defRPr/>
              </a:pPr>
              <a:r>
                <a:rPr lang="zh-CN" altLang="en-US" sz="1400" spc="150" dirty="0">
                  <a:solidFill>
                    <a:srgbClr val="000000"/>
                  </a:solidFill>
                  <a:uFillTx/>
                  <a:latin typeface="微软雅黑" panose="020B0503020204020204" pitchFamily="34" charset="-122"/>
                  <a:ea typeface="微软雅黑" panose="020B0503020204020204" pitchFamily="34" charset="-122"/>
                </a:rPr>
                <a:t>在列表尾部添加一个元素</a:t>
              </a:r>
            </a:p>
          </p:txBody>
        </p:sp>
        <p:sp>
          <p:nvSpPr>
            <p:cNvPr id="10" name="文本框 9"/>
            <p:cNvSpPr txBox="1"/>
            <p:nvPr>
              <p:custDataLst>
                <p:tags r:id="rId9"/>
              </p:custDataLst>
            </p:nvPr>
          </p:nvSpPr>
          <p:spPr>
            <a:xfrm>
              <a:off x="9761" y="3939"/>
              <a:ext cx="4168" cy="639"/>
            </a:xfrm>
            <a:prstGeom prst="rect">
              <a:avLst/>
            </a:prstGeom>
            <a:noFill/>
          </p:spPr>
          <p:txBody>
            <a:bodyPr wrap="square" lIns="90000" tIns="46800" rIns="90000" bIns="0" anchor="b">
              <a:noAutofit/>
            </a:bodyPr>
            <a:lstStyle>
              <a:defPPr>
                <a:defRPr lang="zh-CN"/>
              </a:defPPr>
              <a:lvl1pPr lvl="0" defTabSz="913765">
                <a:lnSpc>
                  <a:spcPct val="140000"/>
                </a:lnSpc>
                <a:spcBef>
                  <a:spcPct val="0"/>
                </a:spcBef>
                <a:defRPr sz="1600" b="1">
                  <a:solidFill>
                    <a:srgbClr val="1F74AD"/>
                  </a:solidFill>
                  <a:latin typeface="Arial" panose="020B0604020202020204" pitchFamily="34" charset="0"/>
                  <a:ea typeface="微软雅黑" panose="020B0503020204020204" pitchFamily="34" charset="-122"/>
                  <a:cs typeface="+mn-ea"/>
                </a:defRPr>
              </a:lvl1pPr>
            </a:lstStyle>
            <a:p>
              <a:pPr fontAlgn="auto">
                <a:lnSpc>
                  <a:spcPct val="120000"/>
                </a:lnSpc>
              </a:pPr>
              <a:r>
                <a:rPr lang="en-US" altLang="zh-CN" sz="2000" spc="300" dirty="0">
                  <a:latin typeface="微软雅黑" panose="020B0503020204020204" pitchFamily="34" charset="-122"/>
                  <a:ea typeface="微软雅黑" panose="020B0503020204020204" pitchFamily="34" charset="-122"/>
                </a:rPr>
                <a:t>append()</a:t>
              </a:r>
            </a:p>
          </p:txBody>
        </p:sp>
        <p:cxnSp>
          <p:nvCxnSpPr>
            <p:cNvPr id="33" name="直接连接符 32"/>
            <p:cNvCxnSpPr/>
            <p:nvPr>
              <p:custDataLst>
                <p:tags r:id="rId10"/>
              </p:custDataLst>
            </p:nvPr>
          </p:nvCxnSpPr>
          <p:spPr>
            <a:xfrm>
              <a:off x="8143" y="4712"/>
              <a:ext cx="1252" cy="0"/>
            </a:xfrm>
            <a:prstGeom prst="line">
              <a:avLst/>
            </a:prstGeom>
            <a:noFill/>
            <a:ln w="6350" cap="flat" cmpd="sng" algn="ctr">
              <a:solidFill>
                <a:srgbClr val="000000">
                  <a:lumMod val="20000"/>
                  <a:lumOff val="80000"/>
                </a:srgbClr>
              </a:solidFill>
              <a:prstDash val="solid"/>
              <a:miter lim="800000"/>
            </a:ln>
            <a:effectLst/>
          </p:spPr>
        </p:cxnSp>
        <p:sp>
          <p:nvSpPr>
            <p:cNvPr id="41" name="椭圆 40"/>
            <p:cNvSpPr/>
            <p:nvPr>
              <p:custDataLst>
                <p:tags r:id="rId11"/>
              </p:custDataLst>
            </p:nvPr>
          </p:nvSpPr>
          <p:spPr>
            <a:xfrm>
              <a:off x="7263" y="5908"/>
              <a:ext cx="731" cy="731"/>
            </a:xfrm>
            <a:prstGeom prst="ellipse">
              <a:avLst/>
            </a:prstGeom>
            <a:solidFill>
              <a:srgbClr val="1F74AD"/>
            </a:solidFill>
            <a:ln w="38100" cap="flat" cmpd="sng" algn="ctr">
              <a:solidFill>
                <a:sysClr val="window" lastClr="FFFFFF"/>
              </a:solidFill>
              <a:prstDash val="solid"/>
              <a:miter lim="800000"/>
            </a:ln>
            <a:effectLst/>
          </p:spPr>
          <p:txBody>
            <a:bodyPr anchor="ctr">
              <a:noAutofit/>
            </a:bodyPr>
            <a:lstStyle/>
            <a:p>
              <a:pPr lvl="0" algn="ctr">
                <a:lnSpc>
                  <a:spcPct val="130000"/>
                </a:lnSpc>
                <a:buClrTx/>
                <a:buSzTx/>
                <a:buFontTx/>
              </a:pPr>
              <a:r>
                <a:rPr lang="en-US">
                  <a:solidFill>
                    <a:schemeClr val="bg1"/>
                  </a:solidFill>
                  <a:latin typeface="Arial Black" panose="020B0A04020102020204" pitchFamily="34" charset="0"/>
                  <a:ea typeface="微软雅黑" panose="020B0503020204020204" pitchFamily="34" charset="-122"/>
                  <a:cs typeface="Arial Black" panose="020B0A04020102020204" pitchFamily="34" charset="0"/>
                  <a:sym typeface="+mn-ea"/>
                </a:rPr>
                <a:t>2</a:t>
              </a:r>
            </a:p>
          </p:txBody>
        </p:sp>
        <p:cxnSp>
          <p:nvCxnSpPr>
            <p:cNvPr id="43" name="直接连接符 42"/>
            <p:cNvCxnSpPr/>
            <p:nvPr>
              <p:custDataLst>
                <p:tags r:id="rId12"/>
              </p:custDataLst>
            </p:nvPr>
          </p:nvCxnSpPr>
          <p:spPr>
            <a:xfrm flipH="1">
              <a:off x="8139" y="6270"/>
              <a:ext cx="1259" cy="0"/>
            </a:xfrm>
            <a:prstGeom prst="line">
              <a:avLst/>
            </a:prstGeom>
            <a:noFill/>
            <a:ln w="6350" cap="flat" cmpd="sng" algn="ctr">
              <a:solidFill>
                <a:srgbClr val="000000">
                  <a:lumMod val="20000"/>
                  <a:lumOff val="80000"/>
                </a:srgbClr>
              </a:solidFill>
              <a:prstDash val="solid"/>
              <a:miter lim="800000"/>
            </a:ln>
            <a:effectLst/>
          </p:spPr>
        </p:cxnSp>
        <p:sp>
          <p:nvSpPr>
            <p:cNvPr id="44" name="文本框 43"/>
            <p:cNvSpPr txBox="1"/>
            <p:nvPr>
              <p:custDataLst>
                <p:tags r:id="rId13"/>
              </p:custDataLst>
            </p:nvPr>
          </p:nvSpPr>
          <p:spPr>
            <a:xfrm>
              <a:off x="9761" y="7727"/>
              <a:ext cx="4171" cy="976"/>
            </a:xfrm>
            <a:prstGeom prst="rect">
              <a:avLst/>
            </a:prstGeom>
            <a:noFill/>
          </p:spPr>
          <p:txBody>
            <a:bodyPr wrap="square" lIns="90000" tIns="46800" rIns="90000" bIns="46800" anchor="t">
              <a:normAutofit/>
            </a:bodyPr>
            <a:lstStyle/>
            <a:p>
              <a:pPr defTabSz="913765" fontAlgn="auto">
                <a:lnSpc>
                  <a:spcPct val="120000"/>
                </a:lnSpc>
                <a:spcBef>
                  <a:spcPct val="0"/>
                </a:spcBef>
                <a:defRPr/>
              </a:pPr>
              <a:r>
                <a:rPr lang="zh-CN" altLang="en-US" sz="1400" spc="150" dirty="0">
                  <a:solidFill>
                    <a:srgbClr val="000000"/>
                  </a:solidFill>
                  <a:uFillTx/>
                  <a:latin typeface="微软雅黑" panose="020B0503020204020204" pitchFamily="34" charset="-122"/>
                  <a:ea typeface="微软雅黑" panose="020B0503020204020204" pitchFamily="34" charset="-122"/>
                </a:rPr>
                <a:t>把一个列表整体扩展添加到</a:t>
              </a:r>
            </a:p>
            <a:p>
              <a:pPr defTabSz="913765" fontAlgn="auto">
                <a:lnSpc>
                  <a:spcPct val="120000"/>
                </a:lnSpc>
                <a:spcBef>
                  <a:spcPct val="0"/>
                </a:spcBef>
                <a:defRPr/>
              </a:pPr>
              <a:r>
                <a:rPr lang="zh-CN" altLang="en-US" sz="1400" spc="150" dirty="0">
                  <a:solidFill>
                    <a:srgbClr val="000000"/>
                  </a:solidFill>
                  <a:uFillTx/>
                  <a:latin typeface="微软雅黑" panose="020B0503020204020204" pitchFamily="34" charset="-122"/>
                  <a:ea typeface="微软雅黑" panose="020B0503020204020204" pitchFamily="34" charset="-122"/>
                </a:rPr>
                <a:t>另一个列表尾部</a:t>
              </a:r>
            </a:p>
          </p:txBody>
        </p:sp>
        <p:sp>
          <p:nvSpPr>
            <p:cNvPr id="45" name="文本框 44"/>
            <p:cNvSpPr txBox="1"/>
            <p:nvPr>
              <p:custDataLst>
                <p:tags r:id="rId14"/>
              </p:custDataLst>
            </p:nvPr>
          </p:nvSpPr>
          <p:spPr>
            <a:xfrm>
              <a:off x="9761" y="7038"/>
              <a:ext cx="4168" cy="639"/>
            </a:xfrm>
            <a:prstGeom prst="rect">
              <a:avLst/>
            </a:prstGeom>
            <a:noFill/>
          </p:spPr>
          <p:txBody>
            <a:bodyPr wrap="square" lIns="90000" tIns="46800" rIns="90000" bIns="0" anchor="b">
              <a:noAutofit/>
            </a:bodyPr>
            <a:lstStyle>
              <a:defPPr>
                <a:defRPr lang="zh-CN"/>
              </a:defPPr>
              <a:lvl1pPr lvl="0" defTabSz="913765">
                <a:lnSpc>
                  <a:spcPct val="140000"/>
                </a:lnSpc>
                <a:spcBef>
                  <a:spcPct val="0"/>
                </a:spcBef>
                <a:defRPr sz="1600" b="1">
                  <a:solidFill>
                    <a:srgbClr val="1F74AD"/>
                  </a:solidFill>
                  <a:latin typeface="Arial" panose="020B0604020202020204" pitchFamily="34" charset="0"/>
                  <a:ea typeface="微软雅黑" panose="020B0503020204020204" pitchFamily="34" charset="-122"/>
                  <a:cs typeface="+mn-ea"/>
                </a:defRPr>
              </a:lvl1pPr>
            </a:lstStyle>
            <a:p>
              <a:pPr fontAlgn="auto">
                <a:lnSpc>
                  <a:spcPct val="120000"/>
                </a:lnSpc>
              </a:pPr>
              <a:r>
                <a:rPr lang="en-US" altLang="zh-CN" sz="2000" spc="300" dirty="0">
                  <a:solidFill>
                    <a:srgbClr val="1AA3AA"/>
                  </a:solidFill>
                  <a:latin typeface="微软雅黑" panose="020B0503020204020204" pitchFamily="34" charset="-122"/>
                  <a:ea typeface="微软雅黑" panose="020B0503020204020204" pitchFamily="34" charset="-122"/>
                </a:rPr>
                <a:t>extend()</a:t>
              </a:r>
              <a:endParaRPr lang="zh-CN" altLang="en-US" sz="2000" spc="300" dirty="0">
                <a:solidFill>
                  <a:srgbClr val="1AA3AA"/>
                </a:solidFill>
                <a:latin typeface="微软雅黑" panose="020B0503020204020204" pitchFamily="34" charset="-122"/>
                <a:ea typeface="微软雅黑" panose="020B0503020204020204" pitchFamily="34" charset="-122"/>
              </a:endParaRPr>
            </a:p>
          </p:txBody>
        </p:sp>
        <p:sp>
          <p:nvSpPr>
            <p:cNvPr id="48" name="椭圆 47"/>
            <p:cNvSpPr/>
            <p:nvPr>
              <p:custDataLst>
                <p:tags r:id="rId15"/>
              </p:custDataLst>
            </p:nvPr>
          </p:nvSpPr>
          <p:spPr>
            <a:xfrm>
              <a:off x="7263" y="7449"/>
              <a:ext cx="731" cy="731"/>
            </a:xfrm>
            <a:prstGeom prst="ellipse">
              <a:avLst/>
            </a:prstGeom>
            <a:solidFill>
              <a:srgbClr val="1F74AD"/>
            </a:solidFill>
            <a:ln w="38100" cap="flat" cmpd="sng" algn="ctr">
              <a:solidFill>
                <a:sysClr val="window" lastClr="FFFFFF"/>
              </a:solidFill>
              <a:prstDash val="solid"/>
              <a:miter lim="800000"/>
            </a:ln>
            <a:effectLst/>
          </p:spPr>
          <p:txBody>
            <a:bodyPr anchor="ctr">
              <a:noAutofit/>
            </a:bodyPr>
            <a:lstStyle/>
            <a:p>
              <a:pPr lvl="0" algn="ctr">
                <a:lnSpc>
                  <a:spcPct val="130000"/>
                </a:lnSpc>
                <a:buClrTx/>
                <a:buSzTx/>
                <a:buFontTx/>
              </a:pPr>
              <a:r>
                <a:rPr lang="en-US">
                  <a:solidFill>
                    <a:schemeClr val="bg1"/>
                  </a:solidFill>
                  <a:latin typeface="Arial Black" panose="020B0A04020102020204" pitchFamily="34" charset="0"/>
                  <a:ea typeface="微软雅黑" panose="020B0503020204020204" pitchFamily="34" charset="-122"/>
                  <a:cs typeface="Arial Black" panose="020B0A04020102020204" pitchFamily="34" charset="0"/>
                  <a:sym typeface="+mn-ea"/>
                </a:rPr>
                <a:t>3</a:t>
              </a:r>
            </a:p>
          </p:txBody>
        </p:sp>
        <p:cxnSp>
          <p:nvCxnSpPr>
            <p:cNvPr id="50" name="直接连接符 49"/>
            <p:cNvCxnSpPr/>
            <p:nvPr>
              <p:custDataLst>
                <p:tags r:id="rId16"/>
              </p:custDataLst>
            </p:nvPr>
          </p:nvCxnSpPr>
          <p:spPr>
            <a:xfrm flipH="1">
              <a:off x="8139" y="7841"/>
              <a:ext cx="1259" cy="0"/>
            </a:xfrm>
            <a:prstGeom prst="line">
              <a:avLst/>
            </a:prstGeom>
            <a:noFill/>
            <a:ln w="6350" cap="flat" cmpd="sng" algn="ctr">
              <a:solidFill>
                <a:srgbClr val="000000">
                  <a:lumMod val="20000"/>
                  <a:lumOff val="80000"/>
                </a:srgbClr>
              </a:solidFill>
              <a:prstDash val="solid"/>
              <a:miter lim="800000"/>
            </a:ln>
            <a:effectLst/>
          </p:spPr>
        </p:cxnSp>
        <p:sp>
          <p:nvSpPr>
            <p:cNvPr id="54" name="文本框 53"/>
            <p:cNvSpPr txBox="1"/>
            <p:nvPr>
              <p:custDataLst>
                <p:tags r:id="rId17"/>
              </p:custDataLst>
            </p:nvPr>
          </p:nvSpPr>
          <p:spPr>
            <a:xfrm>
              <a:off x="9761" y="6185"/>
              <a:ext cx="4171" cy="639"/>
            </a:xfrm>
            <a:prstGeom prst="rect">
              <a:avLst/>
            </a:prstGeom>
            <a:noFill/>
          </p:spPr>
          <p:txBody>
            <a:bodyPr wrap="square" lIns="90000" tIns="46800" rIns="90000" bIns="46800" anchor="t">
              <a:normAutofit fontScale="90000"/>
            </a:bodyPr>
            <a:lstStyle/>
            <a:p>
              <a:pPr defTabSz="913765" fontAlgn="auto">
                <a:lnSpc>
                  <a:spcPct val="120000"/>
                </a:lnSpc>
                <a:spcBef>
                  <a:spcPct val="0"/>
                </a:spcBef>
                <a:defRPr/>
              </a:pPr>
              <a:r>
                <a:rPr lang="zh-CN" altLang="en-US" sz="1400" spc="150" dirty="0">
                  <a:solidFill>
                    <a:srgbClr val="000000"/>
                  </a:solidFill>
                  <a:uFillTx/>
                  <a:latin typeface="微软雅黑" panose="020B0503020204020204" pitchFamily="34" charset="-122"/>
                  <a:ea typeface="微软雅黑" panose="020B0503020204020204" pitchFamily="34" charset="-122"/>
                </a:rPr>
                <a:t>在列表指定位置插入一个元素</a:t>
              </a:r>
            </a:p>
          </p:txBody>
        </p:sp>
        <p:sp>
          <p:nvSpPr>
            <p:cNvPr id="55" name="文本框 54"/>
            <p:cNvSpPr txBox="1"/>
            <p:nvPr>
              <p:custDataLst>
                <p:tags r:id="rId18"/>
              </p:custDataLst>
            </p:nvPr>
          </p:nvSpPr>
          <p:spPr>
            <a:xfrm>
              <a:off x="9761" y="5496"/>
              <a:ext cx="4168" cy="639"/>
            </a:xfrm>
            <a:prstGeom prst="rect">
              <a:avLst/>
            </a:prstGeom>
            <a:noFill/>
          </p:spPr>
          <p:txBody>
            <a:bodyPr wrap="square" lIns="90000" tIns="46800" rIns="90000" bIns="0" anchor="b">
              <a:noAutofit/>
            </a:bodyPr>
            <a:lstStyle>
              <a:defPPr>
                <a:defRPr lang="zh-CN"/>
              </a:defPPr>
              <a:lvl1pPr lvl="0" defTabSz="913765">
                <a:lnSpc>
                  <a:spcPct val="140000"/>
                </a:lnSpc>
                <a:spcBef>
                  <a:spcPct val="0"/>
                </a:spcBef>
                <a:defRPr sz="1600" b="1">
                  <a:solidFill>
                    <a:srgbClr val="1F74AD"/>
                  </a:solidFill>
                  <a:latin typeface="Arial" panose="020B0604020202020204" pitchFamily="34" charset="0"/>
                  <a:ea typeface="微软雅黑" panose="020B0503020204020204" pitchFamily="34" charset="-122"/>
                  <a:cs typeface="+mn-ea"/>
                </a:defRPr>
              </a:lvl1pPr>
            </a:lstStyle>
            <a:p>
              <a:pPr fontAlgn="auto">
                <a:lnSpc>
                  <a:spcPct val="120000"/>
                </a:lnSpc>
              </a:pPr>
              <a:r>
                <a:rPr lang="en-US" altLang="zh-CN" sz="2000" spc="300" dirty="0">
                  <a:solidFill>
                    <a:srgbClr val="3498DB"/>
                  </a:solidFill>
                  <a:latin typeface="微软雅黑" panose="020B0503020204020204" pitchFamily="34" charset="-122"/>
                  <a:ea typeface="微软雅黑" panose="020B0503020204020204" pitchFamily="34" charset="-122"/>
                </a:rPr>
                <a:t>insert()</a:t>
              </a:r>
              <a:endParaRPr lang="zh-CN" altLang="en-US" sz="2000" spc="300" dirty="0">
                <a:solidFill>
                  <a:srgbClr val="3498DB"/>
                </a:solidFill>
                <a:latin typeface="微软雅黑" panose="020B0503020204020204" pitchFamily="34" charset="-122"/>
                <a:ea typeface="微软雅黑" panose="020B0503020204020204" pitchFamily="34" charset="-122"/>
              </a:endParaRPr>
            </a:p>
          </p:txBody>
        </p:sp>
        <p:cxnSp>
          <p:nvCxnSpPr>
            <p:cNvPr id="12" name="直接连接符 11"/>
            <p:cNvCxnSpPr/>
            <p:nvPr>
              <p:custDataLst>
                <p:tags r:id="rId19"/>
              </p:custDataLst>
            </p:nvPr>
          </p:nvCxnSpPr>
          <p:spPr>
            <a:xfrm>
              <a:off x="6637" y="4727"/>
              <a:ext cx="0" cy="3113"/>
            </a:xfrm>
            <a:prstGeom prst="line">
              <a:avLst/>
            </a:prstGeom>
            <a:noFill/>
            <a:ln w="6350" cap="flat" cmpd="sng" algn="ctr">
              <a:solidFill>
                <a:sysClr val="window" lastClr="FFFFFF">
                  <a:lumMod val="85000"/>
                </a:sysClr>
              </a:solidFill>
              <a:prstDash val="solid"/>
              <a:miter lim="800000"/>
            </a:ln>
            <a:effectLst/>
          </p:spPr>
        </p:cxnSp>
      </p:gr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）列表的修改添加</a:t>
            </a:r>
            <a:endPar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en-US" altLang="zh-CN" sz="2800" dirty="0">
                <a:sym typeface="+mn-ea"/>
              </a:rPr>
              <a:t>append</a:t>
            </a:r>
            <a:r>
              <a:rPr altLang="en-US" sz="2800" dirty="0">
                <a:sym typeface="+mn-ea"/>
              </a:rPr>
              <a:t>函数</a:t>
            </a:r>
            <a:endParaRPr altLang="en-US" sz="2800" dirty="0">
              <a:solidFill>
                <a:srgbClr val="FF0000"/>
              </a:solidFill>
              <a:sym typeface="+mn-ea"/>
            </a:endParaRPr>
          </a:p>
        </p:txBody>
      </p:sp>
      <p:sp>
        <p:nvSpPr>
          <p:cNvPr id="6" name="内容占位符 2"/>
          <p:cNvSpPr>
            <a:spLocks noGrp="1"/>
          </p:cNvSpPr>
          <p:nvPr/>
        </p:nvSpPr>
        <p:spPr>
          <a:xfrm>
            <a:off x="836930" y="2783205"/>
            <a:ext cx="10795635" cy="2380615"/>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fontAlgn="auto">
              <a:lnSpc>
                <a:spcPts val="3580"/>
              </a:lnSpc>
              <a:spcBef>
                <a:spcPts val="0"/>
              </a:spcBef>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在列表尾部添加元素</a:t>
            </a:r>
            <a:br>
              <a:rPr altLang="en-US" sz="2400" i="1" dirty="0">
                <a:sym typeface="+mn-ea"/>
              </a:rPr>
            </a:br>
            <a:r>
              <a:rPr lang="en-US" altLang="zh-CN" sz="2400" dirty="0">
                <a:sym typeface="+mn-ea"/>
              </a:rPr>
              <a:t>Cars = ['</a:t>
            </a:r>
            <a:r>
              <a:rPr altLang="en-US" sz="2400" dirty="0">
                <a:sym typeface="+mn-ea"/>
              </a:rPr>
              <a:t>宝马</a:t>
            </a:r>
            <a:r>
              <a:rPr lang="en-US" altLang="zh-CN" sz="2400" dirty="0">
                <a:sym typeface="+mn-ea"/>
              </a:rPr>
              <a:t>', '</a:t>
            </a:r>
            <a:r>
              <a:rPr altLang="en-US" sz="2400" dirty="0" err="1">
                <a:sym typeface="+mn-ea"/>
              </a:rPr>
              <a:t>奔驰</a:t>
            </a:r>
            <a:r>
              <a:rPr lang="en-US" altLang="zh-CN" sz="2400" dirty="0">
                <a:sym typeface="+mn-ea"/>
              </a:rPr>
              <a:t>', '</a:t>
            </a:r>
            <a:r>
              <a:rPr altLang="en-US" sz="2400" dirty="0">
                <a:sym typeface="+mn-ea"/>
              </a:rPr>
              <a:t>大众</a:t>
            </a:r>
            <a:r>
              <a:rPr lang="en-US" altLang="zh-CN" sz="2400" dirty="0">
                <a:sym typeface="+mn-ea"/>
              </a:rPr>
              <a:t>', '</a:t>
            </a:r>
            <a:r>
              <a:rPr altLang="en-US" sz="2400" dirty="0">
                <a:sym typeface="+mn-ea"/>
              </a:rPr>
              <a:t>长城</a:t>
            </a:r>
            <a:r>
              <a:rPr lang="en-US" altLang="zh-CN" sz="2400" dirty="0">
                <a:sym typeface="+mn-ea"/>
              </a:rPr>
              <a:t>', '</a:t>
            </a:r>
            <a:r>
              <a:rPr altLang="en-US" sz="2400" dirty="0">
                <a:sym typeface="+mn-ea"/>
              </a:rPr>
              <a:t>雪铁龙</a:t>
            </a:r>
            <a:r>
              <a:rPr lang="en-US" altLang="zh-CN" sz="2400" dirty="0">
                <a:sym typeface="+mn-ea"/>
              </a:rPr>
              <a:t>', '</a:t>
            </a:r>
            <a:r>
              <a:rPr altLang="en-US" sz="2400" dirty="0">
                <a:sym typeface="+mn-ea"/>
              </a:rPr>
              <a:t>沃尔沃</a:t>
            </a:r>
            <a:r>
              <a:rPr lang="en-US" altLang="zh-CN" sz="2400" dirty="0">
                <a:sym typeface="+mn-ea"/>
              </a:rPr>
              <a:t>' ]</a:t>
            </a:r>
            <a:br>
              <a:rPr lang="en-US" altLang="zh-CN" sz="2400" dirty="0">
                <a:sym typeface="+mn-ea"/>
              </a:rPr>
            </a:br>
            <a:r>
              <a:rPr lang="en-US" altLang="zh-CN" sz="2400" dirty="0">
                <a:sym typeface="+mn-ea"/>
              </a:rPr>
              <a:t>print ("</a:t>
            </a:r>
            <a:r>
              <a:rPr altLang="en-US" sz="2400" dirty="0">
                <a:sym typeface="+mn-ea"/>
              </a:rPr>
              <a:t>列表尾部添加元素：</a:t>
            </a:r>
            <a:r>
              <a:rPr lang="en-US" altLang="zh-CN" sz="2400" dirty="0">
                <a:sym typeface="+mn-ea"/>
              </a:rPr>
              <a:t>")</a:t>
            </a:r>
            <a:br>
              <a:rPr lang="en-US" altLang="zh-CN" sz="2400" dirty="0">
                <a:sym typeface="+mn-ea"/>
              </a:rPr>
            </a:br>
            <a:r>
              <a:rPr lang="en-US" altLang="zh-CN" sz="2400" dirty="0" err="1">
                <a:solidFill>
                  <a:srgbClr val="FF0000"/>
                </a:solidFill>
                <a:sym typeface="+mn-ea"/>
              </a:rPr>
              <a:t>Cars.append</a:t>
            </a:r>
            <a:r>
              <a:rPr lang="en-US" altLang="zh-CN" sz="2400" dirty="0">
                <a:solidFill>
                  <a:srgbClr val="FF0000"/>
                </a:solidFill>
                <a:sym typeface="+mn-ea"/>
              </a:rPr>
              <a:t>('</a:t>
            </a:r>
            <a:r>
              <a:rPr altLang="en-US" sz="2400" dirty="0">
                <a:solidFill>
                  <a:srgbClr val="FF0000"/>
                </a:solidFill>
                <a:sym typeface="+mn-ea"/>
              </a:rPr>
              <a:t>吉利</a:t>
            </a:r>
            <a:r>
              <a:rPr lang="en-US" altLang="zh-CN" sz="2400" dirty="0">
                <a:solidFill>
                  <a:srgbClr val="FF0000"/>
                </a:solidFill>
                <a:sym typeface="+mn-ea"/>
              </a:rPr>
              <a:t>')</a:t>
            </a:r>
            <a:br>
              <a:rPr lang="en-US" altLang="zh-CN" sz="2400" dirty="0">
                <a:solidFill>
                  <a:srgbClr val="FF0000"/>
                </a:solidFill>
                <a:sym typeface="+mn-ea"/>
              </a:rPr>
            </a:br>
            <a:r>
              <a:rPr lang="en-US" altLang="zh-CN" sz="2400" dirty="0">
                <a:sym typeface="+mn-ea"/>
              </a:rPr>
              <a:t>print (Cars )</a:t>
            </a:r>
            <a:br>
              <a:rPr lang="en-US" altLang="zh-CN" sz="2400" i="1" dirty="0">
                <a:solidFill>
                  <a:schemeClr val="accent1"/>
                </a:solidFill>
                <a:effectLst>
                  <a:outerShdw blurRad="38100" dist="25400" dir="5400000" algn="ctr" rotWithShape="0">
                    <a:srgbClr val="6E747A">
                      <a:alpha val="43000"/>
                    </a:srgbClr>
                  </a:outerShdw>
                </a:effectLst>
                <a:sym typeface="+mn-ea"/>
              </a:rPr>
            </a:b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8" name="线形标注 2(无边框) 7"/>
          <p:cNvSpPr/>
          <p:nvPr/>
        </p:nvSpPr>
        <p:spPr>
          <a:xfrm>
            <a:off x="925830" y="5307330"/>
            <a:ext cx="10366375" cy="1136015"/>
          </a:xfrm>
          <a:prstGeom prst="callout2">
            <a:avLst>
              <a:gd name="adj1" fmla="val -5447"/>
              <a:gd name="adj2" fmla="val 28019"/>
              <a:gd name="adj3" fmla="val -34410"/>
              <a:gd name="adj4" fmla="val 28303"/>
              <a:gd name="adj5" fmla="val -60424"/>
              <a:gd name="adj6" fmla="val 2956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1905" indent="-344805" defTabSz="914400">
              <a:lnSpc>
                <a:spcPct val="150000"/>
              </a:lnSpc>
              <a:spcBef>
                <a:spcPct val="0"/>
              </a:spcBef>
              <a:buSzPct val="90000"/>
              <a:buFont typeface="Wingdings" panose="05000000000000000000" pitchFamily="2" charset="2"/>
              <a:buNone/>
            </a:pPr>
            <a:r>
              <a:rPr lang="zh-CN" alt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append()是列表对象的方法。列表尾部添加元素。原地修改列表，是真正意义上的在列表尾部添加元素，速度较快。所谓“原地”，是指不改变列表在内存中的首地址。</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）列表的修改添加</a:t>
            </a:r>
            <a:endPar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en-US" altLang="zh-CN" sz="2800" dirty="0">
                <a:sym typeface="+mn-ea"/>
              </a:rPr>
              <a:t>insert</a:t>
            </a:r>
            <a:r>
              <a:rPr altLang="en-US" sz="2800" dirty="0">
                <a:sym typeface="+mn-ea"/>
              </a:rPr>
              <a:t>函数</a:t>
            </a:r>
            <a:endParaRPr altLang="en-US" sz="2800" dirty="0">
              <a:solidFill>
                <a:srgbClr val="FF0000"/>
              </a:solidFill>
              <a:sym typeface="+mn-ea"/>
            </a:endParaRPr>
          </a:p>
        </p:txBody>
      </p:sp>
      <p:sp>
        <p:nvSpPr>
          <p:cNvPr id="6" name="内容占位符 2"/>
          <p:cNvSpPr>
            <a:spLocks noGrp="1"/>
          </p:cNvSpPr>
          <p:nvPr/>
        </p:nvSpPr>
        <p:spPr>
          <a:xfrm>
            <a:off x="836930" y="2783205"/>
            <a:ext cx="10795635" cy="3150235"/>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fontAlgn="auto">
              <a:lnSpc>
                <a:spcPts val="3580"/>
              </a:lnSpc>
              <a:spcBef>
                <a:spcPts val="0"/>
              </a:spcBef>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在列表指定位置添加元素</a:t>
            </a:r>
            <a:br>
              <a:rPr altLang="en-US" sz="2400" i="1" dirty="0">
                <a:sym typeface="+mn-ea"/>
              </a:rPr>
            </a:br>
            <a:r>
              <a:rPr lang="en-US" altLang="zh-CN" sz="2400" dirty="0">
                <a:sym typeface="+mn-ea"/>
              </a:rPr>
              <a:t>Cars = ['</a:t>
            </a:r>
            <a:r>
              <a:rPr altLang="en-US" sz="2400" dirty="0">
                <a:sym typeface="+mn-ea"/>
              </a:rPr>
              <a:t>宝马</a:t>
            </a:r>
            <a:r>
              <a:rPr lang="en-US" altLang="zh-CN" sz="2400" dirty="0">
                <a:sym typeface="+mn-ea"/>
              </a:rPr>
              <a:t>', '</a:t>
            </a:r>
            <a:r>
              <a:rPr altLang="en-US" sz="2400" dirty="0" err="1">
                <a:sym typeface="+mn-ea"/>
              </a:rPr>
              <a:t>奔驰</a:t>
            </a:r>
            <a:r>
              <a:rPr lang="en-US" altLang="zh-CN" sz="2400" dirty="0">
                <a:sym typeface="+mn-ea"/>
              </a:rPr>
              <a:t>', '</a:t>
            </a:r>
            <a:r>
              <a:rPr altLang="en-US" sz="2400" dirty="0">
                <a:sym typeface="+mn-ea"/>
              </a:rPr>
              <a:t>大众</a:t>
            </a:r>
            <a:r>
              <a:rPr lang="en-US" altLang="zh-CN" sz="2400" dirty="0">
                <a:sym typeface="+mn-ea"/>
              </a:rPr>
              <a:t>', '</a:t>
            </a:r>
            <a:r>
              <a:rPr altLang="en-US" sz="2400" dirty="0">
                <a:sym typeface="+mn-ea"/>
              </a:rPr>
              <a:t>长城</a:t>
            </a:r>
            <a:r>
              <a:rPr lang="en-US" altLang="zh-CN" sz="2400" dirty="0">
                <a:sym typeface="+mn-ea"/>
              </a:rPr>
              <a:t>', '</a:t>
            </a:r>
            <a:r>
              <a:rPr altLang="en-US" sz="2400" dirty="0">
                <a:sym typeface="+mn-ea"/>
              </a:rPr>
              <a:t>雪铁龙</a:t>
            </a:r>
            <a:r>
              <a:rPr lang="en-US" altLang="zh-CN" sz="2400" dirty="0">
                <a:sym typeface="+mn-ea"/>
              </a:rPr>
              <a:t>', '</a:t>
            </a:r>
            <a:r>
              <a:rPr altLang="en-US" sz="2400" dirty="0">
                <a:sym typeface="+mn-ea"/>
              </a:rPr>
              <a:t>沃尔沃</a:t>
            </a:r>
            <a:r>
              <a:rPr lang="en-US" altLang="zh-CN" sz="2400" dirty="0">
                <a:sym typeface="+mn-ea"/>
              </a:rPr>
              <a:t>' ]</a:t>
            </a:r>
            <a:br>
              <a:rPr lang="en-US" altLang="zh-CN" sz="2400" dirty="0">
                <a:sym typeface="+mn-ea"/>
              </a:rPr>
            </a:br>
            <a:r>
              <a:rPr lang="en-US" altLang="zh-CN" sz="2400" dirty="0">
                <a:sym typeface="+mn-ea"/>
              </a:rPr>
              <a:t>Cars</a:t>
            </a:r>
            <a:r>
              <a:rPr lang="en-US" altLang="zh-CN" sz="2400" dirty="0" err="1">
                <a:sym typeface="+mn-ea"/>
              </a:rPr>
              <a:t>.insert</a:t>
            </a:r>
            <a:r>
              <a:rPr lang="en-US" altLang="zh-CN" sz="2400" dirty="0">
                <a:sym typeface="+mn-ea"/>
              </a:rPr>
              <a:t>(0, '</a:t>
            </a:r>
            <a:r>
              <a:rPr altLang="en-US" sz="2400" dirty="0">
                <a:sym typeface="+mn-ea"/>
              </a:rPr>
              <a:t>雷诺</a:t>
            </a:r>
            <a:r>
              <a:rPr lang="en-US" altLang="zh-CN" sz="2400" dirty="0">
                <a:sym typeface="+mn-ea"/>
              </a:rPr>
              <a:t>')</a:t>
            </a:r>
            <a:br>
              <a:rPr altLang="en-US" sz="2400" i="1" dirty="0">
                <a:sym typeface="+mn-ea"/>
              </a:rPr>
            </a:br>
            <a:r>
              <a:rPr lang="en-US" altLang="zh-CN" sz="2400" dirty="0">
                <a:sym typeface="+mn-ea"/>
              </a:rPr>
              <a:t>Cars</a:t>
            </a:r>
            <a:r>
              <a:rPr lang="en-US" altLang="zh-CN" sz="2400" dirty="0" err="1">
                <a:sym typeface="+mn-ea"/>
              </a:rPr>
              <a:t>.insert</a:t>
            </a:r>
            <a:r>
              <a:rPr lang="en-US" altLang="zh-CN" sz="2400" dirty="0">
                <a:sym typeface="+mn-ea"/>
              </a:rPr>
              <a:t>(2, '</a:t>
            </a:r>
            <a:r>
              <a:rPr altLang="en-US" sz="2400" dirty="0">
                <a:sym typeface="+mn-ea"/>
              </a:rPr>
              <a:t>保时捷</a:t>
            </a:r>
            <a:r>
              <a:rPr lang="en-US" altLang="zh-CN" sz="2400" dirty="0">
                <a:sym typeface="+mn-ea"/>
              </a:rPr>
              <a:t>')</a:t>
            </a:r>
            <a:br>
              <a:rPr altLang="en-US" sz="2400" i="1" dirty="0">
                <a:sym typeface="+mn-ea"/>
              </a:rPr>
            </a:br>
            <a:r>
              <a:rPr lang="en-US" altLang="zh-CN" sz="2400" dirty="0">
                <a:sym typeface="+mn-ea"/>
              </a:rPr>
              <a:t>print (Cars)</a:t>
            </a: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2" name="线形标注 2(无边框) 1"/>
          <p:cNvSpPr/>
          <p:nvPr/>
        </p:nvSpPr>
        <p:spPr>
          <a:xfrm>
            <a:off x="4415155" y="4718685"/>
            <a:ext cx="6805930" cy="1024255"/>
          </a:xfrm>
          <a:prstGeom prst="callout2">
            <a:avLst>
              <a:gd name="adj1" fmla="val -5447"/>
              <a:gd name="adj2" fmla="val 28019"/>
              <a:gd name="adj3" fmla="val -34410"/>
              <a:gd name="adj4" fmla="val 28303"/>
              <a:gd name="adj5" fmla="val -51851"/>
              <a:gd name="adj6" fmla="val 16900"/>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r>
              <a:rPr lang="zh-CN" altLang="en-US"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插入元素使用</a:t>
            </a:r>
            <a:r>
              <a:rPr lang="en-US" altLang="zh-CN"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insert()</a:t>
            </a:r>
            <a:r>
              <a:rPr lang="zh-CN" altLang="en-US"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方法。</a:t>
            </a:r>
            <a:endParaRPr lang="en-US" altLang="zh-CN"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 insert(</a:t>
            </a:r>
            <a:r>
              <a:rPr lang="en-US" altLang="zh-CN" sz="2400"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i</a:t>
            </a:r>
            <a:r>
              <a:rPr lang="en-US" altLang="zh-CN"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  value)</a:t>
            </a:r>
            <a:r>
              <a:rPr lang="zh-CN" altLang="en-US"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是在第</a:t>
            </a:r>
            <a:r>
              <a:rPr lang="en-US" altLang="zh-CN"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i+1</a:t>
            </a:r>
            <a:r>
              <a:rPr lang="zh-CN" altLang="en-US"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个元素前插入</a:t>
            </a:r>
            <a:r>
              <a:rPr lang="en-US" altLang="zh-CN"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value</a:t>
            </a:r>
            <a:r>
              <a:rPr lang="zh-CN" altLang="en-US"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）列表的修改添加</a:t>
            </a:r>
            <a:endPar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en-US" altLang="zh-CN" sz="2800" dirty="0">
                <a:sym typeface="+mn-ea"/>
              </a:rPr>
              <a:t>extend</a:t>
            </a:r>
            <a:r>
              <a:rPr altLang="en-US" sz="2800" dirty="0">
                <a:sym typeface="+mn-ea"/>
              </a:rPr>
              <a:t>函数</a:t>
            </a:r>
            <a:endParaRPr altLang="en-US" sz="2800" dirty="0">
              <a:solidFill>
                <a:srgbClr val="FF0000"/>
              </a:solidFill>
              <a:sym typeface="+mn-ea"/>
            </a:endParaRPr>
          </a:p>
        </p:txBody>
      </p:sp>
      <p:sp>
        <p:nvSpPr>
          <p:cNvPr id="6" name="内容占位符 2"/>
          <p:cNvSpPr>
            <a:spLocks noGrp="1"/>
          </p:cNvSpPr>
          <p:nvPr/>
        </p:nvSpPr>
        <p:spPr>
          <a:xfrm>
            <a:off x="836930" y="2783205"/>
            <a:ext cx="10795635" cy="3150235"/>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defTabSz="913765" fontAlgn="auto">
              <a:lnSpc>
                <a:spcPct val="120000"/>
              </a:lnSpc>
              <a:spcBef>
                <a:spcPct val="0"/>
              </a:spcBef>
              <a:defRPr/>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    把一个列表整体扩展</a:t>
            </a:r>
            <a:r>
              <a:rPr lang="zh-CN" altLang="en-US" sz="2400" i="1"/>
              <a:t>添加到另</a:t>
            </a:r>
            <a:r>
              <a:rPr lang="zh-CN" altLang="en-US" sz="2400" i="1" dirty="0"/>
              <a:t>一个列表尾部</a:t>
            </a:r>
          </a:p>
          <a:p>
            <a:pPr marL="0" indent="0" fontAlgn="auto">
              <a:lnSpc>
                <a:spcPts val="3580"/>
              </a:lnSpc>
              <a:spcBef>
                <a:spcPts val="0"/>
              </a:spcBef>
              <a:buNone/>
            </a:pPr>
            <a:br>
              <a:rPr altLang="en-US" sz="2400" i="1" dirty="0">
                <a:sym typeface="+mn-ea"/>
              </a:rPr>
            </a:br>
            <a:r>
              <a:rPr lang="en-US" altLang="zh-CN" sz="2400" dirty="0">
                <a:sym typeface="+mn-ea"/>
              </a:rPr>
              <a:t>Cars = ['</a:t>
            </a:r>
            <a:r>
              <a:rPr altLang="en-US" sz="2400" dirty="0">
                <a:sym typeface="+mn-ea"/>
              </a:rPr>
              <a:t>宝马</a:t>
            </a:r>
            <a:r>
              <a:rPr lang="en-US" altLang="zh-CN" sz="2400" dirty="0">
                <a:sym typeface="+mn-ea"/>
              </a:rPr>
              <a:t>', '</a:t>
            </a:r>
            <a:r>
              <a:rPr altLang="en-US" sz="2400" dirty="0" err="1">
                <a:sym typeface="+mn-ea"/>
              </a:rPr>
              <a:t>奔驰</a:t>
            </a:r>
            <a:r>
              <a:rPr lang="en-US" altLang="zh-CN" sz="2400" dirty="0">
                <a:sym typeface="+mn-ea"/>
              </a:rPr>
              <a:t>', '</a:t>
            </a:r>
            <a:r>
              <a:rPr altLang="en-US" sz="2400" dirty="0">
                <a:sym typeface="+mn-ea"/>
              </a:rPr>
              <a:t>大众</a:t>
            </a:r>
            <a:r>
              <a:rPr lang="en-US" altLang="zh-CN" sz="2400" dirty="0">
                <a:sym typeface="+mn-ea"/>
              </a:rPr>
              <a:t>', '</a:t>
            </a:r>
            <a:r>
              <a:rPr altLang="en-US" sz="2400" dirty="0">
                <a:sym typeface="+mn-ea"/>
              </a:rPr>
              <a:t>长城</a:t>
            </a:r>
            <a:r>
              <a:rPr lang="en-US" altLang="zh-CN" sz="2400" dirty="0">
                <a:sym typeface="+mn-ea"/>
              </a:rPr>
              <a:t>', '</a:t>
            </a:r>
            <a:r>
              <a:rPr altLang="en-US" sz="2400" dirty="0">
                <a:sym typeface="+mn-ea"/>
              </a:rPr>
              <a:t>雪铁龙</a:t>
            </a:r>
            <a:r>
              <a:rPr lang="en-US" altLang="zh-CN" sz="2400" dirty="0">
                <a:sym typeface="+mn-ea"/>
              </a:rPr>
              <a:t>', '</a:t>
            </a:r>
            <a:r>
              <a:rPr altLang="en-US" sz="2400" dirty="0">
                <a:sym typeface="+mn-ea"/>
              </a:rPr>
              <a:t>沃尔沃</a:t>
            </a:r>
            <a:r>
              <a:rPr lang="en-US" altLang="zh-CN" sz="2400" dirty="0">
                <a:sym typeface="+mn-ea"/>
              </a:rPr>
              <a:t>' ]</a:t>
            </a:r>
            <a:br>
              <a:rPr lang="en-US" altLang="zh-CN" sz="2400" dirty="0">
                <a:sym typeface="+mn-ea"/>
              </a:rPr>
            </a:br>
            <a:r>
              <a:rPr lang="en-US" altLang="zh-CN" sz="2400" dirty="0">
                <a:sym typeface="+mn-ea"/>
              </a:rPr>
              <a:t>Cars</a:t>
            </a:r>
            <a:r>
              <a:rPr lang="en-US" altLang="zh-CN" sz="2400" dirty="0" err="1">
                <a:sym typeface="+mn-ea"/>
              </a:rPr>
              <a:t>.extend(['</a:t>
            </a:r>
            <a:r>
              <a:rPr altLang="en-US" sz="2400" dirty="0" err="1">
                <a:sym typeface="+mn-ea"/>
              </a:rPr>
              <a:t>比亚迪</a:t>
            </a:r>
            <a:r>
              <a:rPr lang="en-US" altLang="zh-CN" sz="2400" dirty="0" err="1">
                <a:sym typeface="+mn-ea"/>
              </a:rPr>
              <a:t>','</a:t>
            </a:r>
            <a:r>
              <a:rPr altLang="en-US" sz="2400" dirty="0" err="1">
                <a:sym typeface="+mn-ea"/>
              </a:rPr>
              <a:t>红旗</a:t>
            </a:r>
            <a:r>
              <a:rPr lang="en-US" altLang="zh-CN" sz="2400" dirty="0" err="1">
                <a:sym typeface="+mn-ea"/>
              </a:rPr>
              <a:t>','</a:t>
            </a:r>
            <a:r>
              <a:rPr altLang="en-US" sz="2400" dirty="0" err="1">
                <a:sym typeface="+mn-ea"/>
              </a:rPr>
              <a:t>别克</a:t>
            </a:r>
            <a:r>
              <a:rPr lang="en-US" altLang="zh-CN" sz="2400" dirty="0" err="1">
                <a:sym typeface="+mn-ea"/>
              </a:rPr>
              <a:t>'])</a:t>
            </a:r>
          </a:p>
          <a:p>
            <a:pPr marL="0" indent="0" fontAlgn="auto">
              <a:lnSpc>
                <a:spcPts val="3580"/>
              </a:lnSpc>
              <a:spcBef>
                <a:spcPts val="0"/>
              </a:spcBef>
              <a:buNone/>
            </a:pPr>
            <a:r>
              <a:rPr lang="en-US" altLang="zh-CN" sz="2400" dirty="0">
                <a:sym typeface="+mn-ea"/>
              </a:rPr>
              <a:t>print (Cars)</a:t>
            </a: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列表添加元素：</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特别</a:t>
            </a: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Tips-1</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8" name="文本框 7"/>
          <p:cNvSpPr txBox="1"/>
          <p:nvPr/>
        </p:nvSpPr>
        <p:spPr>
          <a:xfrm>
            <a:off x="607695" y="1358265"/>
            <a:ext cx="11400790" cy="4997450"/>
          </a:xfrm>
          <a:prstGeom prst="rect">
            <a:avLst/>
          </a:prstGeom>
          <a:noFill/>
        </p:spPr>
        <p:txBody>
          <a:bodyPr wrap="square" rtlCol="0" anchor="t">
            <a:spAutoFit/>
          </a:bodyPr>
          <a:lstStyle/>
          <a:p>
            <a:pPr fontAlgn="base">
              <a:lnSpc>
                <a:spcPct val="150000"/>
              </a:lnSpc>
              <a:spcBef>
                <a:spcPts val="0"/>
              </a:spcBef>
            </a:pPr>
            <a:r>
              <a:rPr lang="en-US" altLang="zh-CN" b="1">
                <a:sym typeface="+mn-ea"/>
              </a:rPr>
              <a:t>extend()</a:t>
            </a:r>
            <a:r>
              <a:rPr lang="zh-CN" altLang="en-US" b="1">
                <a:sym typeface="+mn-ea"/>
              </a:rPr>
              <a:t>和函数</a:t>
            </a:r>
            <a:r>
              <a:rPr lang="en-US" altLang="zh-CN" b="1">
                <a:sym typeface="+mn-ea"/>
              </a:rPr>
              <a:t>+</a:t>
            </a:r>
            <a:r>
              <a:rPr lang="zh-CN" altLang="en-US" b="1">
                <a:sym typeface="+mn-ea"/>
              </a:rPr>
              <a:t>功能相似。</a:t>
            </a:r>
            <a:endParaRPr lang="zh-CN" altLang="en-US" b="1" strike="noStrike" noProof="1"/>
          </a:p>
          <a:p>
            <a:pPr marL="1905" indent="-344805" defTabSz="914400">
              <a:lnSpc>
                <a:spcPct val="150000"/>
              </a:lnSpc>
              <a:spcBef>
                <a:spcPct val="0"/>
              </a:spcBef>
              <a:buSzPct val="90000"/>
              <a:buFont typeface="Wingdings" panose="05000000000000000000" pitchFamily="2" charset="2"/>
              <a:buNone/>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使用列表对象的</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extend()</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方法可以将另一个迭代对象的所有元素添加至该列表对象</a:t>
            </a:r>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尾部</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。但通过</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extend()</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方法来增加列表元素也不改变其内存首地址，属于</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原地操作</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1905" indent="-344805" defTabSz="914400">
              <a:lnSpc>
                <a:spcPct val="80000"/>
              </a:lnSpc>
              <a:buSzPct val="90000"/>
              <a:buFont typeface="Wingdings" panose="05000000000000000000" pitchFamily="2" charset="2"/>
              <a:buNone/>
            </a:pPr>
            <a:r>
              <a:rPr lang="en-US" altLang="zh-CN">
                <a:latin typeface="Consolas" panose="020B0609020204030204" pitchFamily="49" charset="0"/>
                <a:sym typeface="+mn-ea"/>
              </a:rPr>
              <a:t>&gt;&gt;&gt; a.extend([7,8,9])</a:t>
            </a:r>
            <a:endParaRPr lang="en-US" altLang="zh-CN">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en-US" altLang="zh-CN">
                <a:latin typeface="Consolas" panose="020B0609020204030204" pitchFamily="49" charset="0"/>
                <a:sym typeface="+mn-ea"/>
              </a:rPr>
              <a:t>&gt;&gt;&gt; a</a:t>
            </a:r>
            <a:endParaRPr lang="en-US" altLang="zh-CN">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en-US" altLang="zh-CN">
                <a:solidFill>
                  <a:srgbClr val="00B0F0"/>
                </a:solidFill>
                <a:latin typeface="Consolas" panose="020B0609020204030204" pitchFamily="49" charset="0"/>
                <a:sym typeface="+mn-ea"/>
              </a:rPr>
              <a:t>[5, 2, 4, 7, 8, 9]</a:t>
            </a:r>
            <a:endParaRPr lang="en-US" altLang="zh-CN">
              <a:solidFill>
                <a:srgbClr val="00B0F0"/>
              </a:solidFill>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en-US" altLang="zh-CN">
                <a:latin typeface="Consolas" panose="020B0609020204030204" pitchFamily="49" charset="0"/>
                <a:sym typeface="+mn-ea"/>
              </a:rPr>
              <a:t>&gt;&gt;&gt; id(a)</a:t>
            </a:r>
            <a:endParaRPr lang="en-US" altLang="zh-CN">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en-US" altLang="zh-CN">
                <a:solidFill>
                  <a:srgbClr val="00B0F0"/>
                </a:solidFill>
                <a:latin typeface="Consolas" panose="020B0609020204030204" pitchFamily="49" charset="0"/>
                <a:sym typeface="+mn-ea"/>
              </a:rPr>
              <a:t>25289752</a:t>
            </a:r>
            <a:endParaRPr lang="en-US" altLang="zh-CN">
              <a:solidFill>
                <a:srgbClr val="00B0F0"/>
              </a:solidFill>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en-US" altLang="zh-CN">
                <a:latin typeface="Consolas" panose="020B0609020204030204" pitchFamily="49" charset="0"/>
                <a:sym typeface="+mn-ea"/>
              </a:rPr>
              <a:t>&gt;&gt;&gt; aList.extend([11,13])</a:t>
            </a:r>
            <a:endParaRPr lang="en-US" altLang="zh-CN">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en-US" altLang="zh-CN">
                <a:latin typeface="Consolas" panose="020B0609020204030204" pitchFamily="49" charset="0"/>
                <a:sym typeface="+mn-ea"/>
              </a:rPr>
              <a:t>&gt;&gt;&gt; aList</a:t>
            </a:r>
            <a:endParaRPr lang="en-US" altLang="zh-CN">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en-US" altLang="zh-CN">
                <a:solidFill>
                  <a:srgbClr val="00B0F0"/>
                </a:solidFill>
                <a:latin typeface="Consolas" panose="020B0609020204030204" pitchFamily="49" charset="0"/>
                <a:sym typeface="+mn-ea"/>
              </a:rPr>
              <a:t>[3, 4, 5, 7, 9, 11, 13]</a:t>
            </a:r>
            <a:endParaRPr lang="en-US" altLang="zh-CN">
              <a:solidFill>
                <a:srgbClr val="00B0F0"/>
              </a:solidFill>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en-US" altLang="zh-CN">
                <a:latin typeface="Consolas" panose="020B0609020204030204" pitchFamily="49" charset="0"/>
                <a:sym typeface="+mn-ea"/>
              </a:rPr>
              <a:t>&gt;&gt;&gt; aList.extend((15,17))</a:t>
            </a:r>
            <a:endParaRPr lang="en-US" altLang="zh-CN">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en-US" altLang="zh-CN">
                <a:latin typeface="Consolas" panose="020B0609020204030204" pitchFamily="49" charset="0"/>
                <a:sym typeface="+mn-ea"/>
              </a:rPr>
              <a:t>&gt;&gt;&gt; aList</a:t>
            </a:r>
            <a:endParaRPr lang="en-US" altLang="zh-CN">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en-US" altLang="zh-CN">
                <a:solidFill>
                  <a:srgbClr val="00B0F0"/>
                </a:solidFill>
                <a:latin typeface="Consolas" panose="020B0609020204030204" pitchFamily="49" charset="0"/>
                <a:sym typeface="+mn-ea"/>
              </a:rPr>
              <a:t>[3, 4, 5, 7, 9, 11, 13, 15, 17]</a:t>
            </a:r>
            <a:endParaRPr lang="en-US" altLang="zh-CN" b="1"/>
          </a:p>
        </p:txBody>
      </p:sp>
    </p:spTree>
  </p:cSld>
  <p:clrMapOvr>
    <a:masterClrMapping/>
  </p:clrMapOvr>
  <p:transition spd="slow" advTm="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列表添加元素：</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特别</a:t>
            </a: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Tips-2</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pic>
        <p:nvPicPr>
          <p:cNvPr id="9" name="图片 8"/>
          <p:cNvPicPr>
            <a:picLocks noChangeAspect="1"/>
          </p:cNvPicPr>
          <p:nvPr/>
        </p:nvPicPr>
        <p:blipFill>
          <a:blip r:embed="rId2"/>
          <a:stretch>
            <a:fillRect/>
          </a:stretch>
        </p:blipFill>
        <p:spPr>
          <a:xfrm>
            <a:off x="10473690" y="885825"/>
            <a:ext cx="1623695" cy="1623695"/>
          </a:xfrm>
          <a:prstGeom prst="rect">
            <a:avLst/>
          </a:prstGeom>
        </p:spPr>
      </p:pic>
      <p:sp>
        <p:nvSpPr>
          <p:cNvPr id="20483" name="文本占位符 20482"/>
          <p:cNvSpPr>
            <a:spLocks noGrp="1"/>
          </p:cNvSpPr>
          <p:nvPr/>
        </p:nvSpPr>
        <p:spPr>
          <a:xfrm>
            <a:off x="467360" y="1489710"/>
            <a:ext cx="9855835"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fontAlgn="base">
              <a:lnSpc>
                <a:spcPct val="150000"/>
              </a:lnSpc>
              <a:spcBef>
                <a:spcPts val="0"/>
              </a:spcBef>
              <a:buFont typeface="Wingdings" panose="05000000000000000000" charset="0"/>
              <a:buChar char="n"/>
            </a:pPr>
            <a:r>
              <a:rPr lang="zh-CN" altLang="en-US" sz="2400" strike="noStrike" noProof="1">
                <a:effectLst/>
                <a:latin typeface="微软雅黑" panose="020B0503020204020204" pitchFamily="34" charset="-122"/>
                <a:ea typeface="微软雅黑" panose="020B0503020204020204" pitchFamily="34" charset="-122"/>
                <a:cs typeface="微软雅黑" panose="020B0503020204020204" pitchFamily="34" charset="-122"/>
              </a:rPr>
              <a:t>Python采用的是</a:t>
            </a:r>
            <a:r>
              <a:rPr lang="zh-CN" altLang="en-US" sz="2400" b="1" strike="noStrike" noProof="1">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rPr>
              <a:t>基于值的自动内存管理</a:t>
            </a:r>
            <a:r>
              <a:rPr lang="zh-CN" altLang="en-US" sz="2400" strike="noStrike" noProof="1">
                <a:effectLst/>
                <a:latin typeface="微软雅黑" panose="020B0503020204020204" pitchFamily="34" charset="-122"/>
                <a:ea typeface="微软雅黑" panose="020B0503020204020204" pitchFamily="34" charset="-122"/>
                <a:cs typeface="微软雅黑" panose="020B0503020204020204" pitchFamily="34" charset="-122"/>
              </a:rPr>
              <a:t>方式，当为对象修改值时，并不是真的直接修改变量的值，而是使变量指向新的值，这对于Python所有类型的变量都是一样的。</a:t>
            </a:r>
          </a:p>
          <a:p>
            <a:pPr marL="1905" indent="-344805" fontAlgn="base">
              <a:lnSpc>
                <a:spcPct val="80000"/>
              </a:lnSpc>
              <a:buNone/>
            </a:pPr>
            <a:endParaRPr lang="zh-CN" altLang="en-US" sz="2400" strike="noStrike" noProof="1">
              <a:effectLst/>
            </a:endParaRPr>
          </a:p>
          <a:p>
            <a:pPr marL="1905" indent="-344805" fontAlgn="base">
              <a:lnSpc>
                <a:spcPct val="80000"/>
              </a:lnSpc>
              <a:buNone/>
            </a:pPr>
            <a:r>
              <a:rPr lang="zh-CN" altLang="en-US" sz="1800" strike="noStrike" noProof="1">
                <a:effectLst/>
                <a:latin typeface="Consolas" panose="020B0609020204030204" pitchFamily="49" charset="0"/>
              </a:rPr>
              <a:t>&gt;&gt;&gt; a = [1,2,3]</a:t>
            </a:r>
          </a:p>
          <a:p>
            <a:pPr marL="1905" indent="-344805" fontAlgn="base">
              <a:lnSpc>
                <a:spcPct val="80000"/>
              </a:lnSpc>
              <a:buNone/>
            </a:pPr>
            <a:r>
              <a:rPr lang="zh-CN" altLang="en-US" sz="1800" strike="noStrike" noProof="1">
                <a:effectLst/>
                <a:latin typeface="Consolas" panose="020B0609020204030204" pitchFamily="49" charset="0"/>
              </a:rPr>
              <a:t>&gt;&gt;&gt; id(a)                        </a:t>
            </a:r>
            <a:r>
              <a:rPr lang="en-US" altLang="zh-CN" sz="1800" strike="noStrike" noProof="1">
                <a:effectLst/>
                <a:latin typeface="Consolas" panose="020B0609020204030204" pitchFamily="49" charset="0"/>
              </a:rPr>
              <a:t>#</a:t>
            </a:r>
            <a:r>
              <a:rPr lang="zh-CN" altLang="en-US" sz="1800" strike="noStrike" noProof="1">
                <a:effectLst/>
                <a:latin typeface="Consolas" panose="020B0609020204030204" pitchFamily="49" charset="0"/>
              </a:rPr>
              <a:t>返回对象的内存地址</a:t>
            </a:r>
          </a:p>
          <a:p>
            <a:pPr marL="1905" indent="-344805" fontAlgn="base">
              <a:lnSpc>
                <a:spcPct val="80000"/>
              </a:lnSpc>
              <a:buNone/>
            </a:pPr>
            <a:r>
              <a:rPr lang="zh-CN" altLang="en-US" sz="1800" strike="noStrike" noProof="1">
                <a:solidFill>
                  <a:srgbClr val="00B0F0"/>
                </a:solidFill>
                <a:effectLst/>
                <a:latin typeface="Consolas" panose="020B0609020204030204" pitchFamily="49" charset="0"/>
              </a:rPr>
              <a:t>20230752</a:t>
            </a:r>
          </a:p>
          <a:p>
            <a:pPr marL="1905" indent="-344805" fontAlgn="base">
              <a:lnSpc>
                <a:spcPct val="80000"/>
              </a:lnSpc>
              <a:buNone/>
            </a:pPr>
            <a:r>
              <a:rPr lang="zh-CN" altLang="en-US" sz="1800" strike="noStrike" noProof="1">
                <a:effectLst/>
                <a:latin typeface="Consolas" panose="020B0609020204030204" pitchFamily="49" charset="0"/>
              </a:rPr>
              <a:t>&gt;&gt;&gt; a = [1,2]</a:t>
            </a:r>
          </a:p>
          <a:p>
            <a:pPr marL="1905" indent="-344805" fontAlgn="base">
              <a:lnSpc>
                <a:spcPct val="80000"/>
              </a:lnSpc>
              <a:buNone/>
            </a:pPr>
            <a:r>
              <a:rPr lang="zh-CN" altLang="en-US" sz="1800" strike="noStrike" noProof="1">
                <a:effectLst/>
                <a:latin typeface="Consolas" panose="020B0609020204030204" pitchFamily="49" charset="0"/>
              </a:rPr>
              <a:t>&gt;&gt;&gt; id(a)</a:t>
            </a:r>
          </a:p>
          <a:p>
            <a:pPr marL="1905" indent="-344805" fontAlgn="base">
              <a:lnSpc>
                <a:spcPct val="80000"/>
              </a:lnSpc>
              <a:buNone/>
            </a:pPr>
            <a:r>
              <a:rPr lang="zh-CN" altLang="en-US" sz="1800" strike="noStrike" noProof="1">
                <a:solidFill>
                  <a:srgbClr val="00B0F0"/>
                </a:solidFill>
                <a:effectLst/>
                <a:latin typeface="Consolas" panose="020B0609020204030204" pitchFamily="49" charset="0"/>
              </a:rPr>
              <a:t>20338208</a:t>
            </a:r>
          </a:p>
        </p:txBody>
      </p:sp>
    </p:spTree>
  </p:cSld>
  <p:clrMapOvr>
    <a:masterClrMapping/>
  </p:clrMapOvr>
  <p:transition spd="slow" advTm="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列表添加元素：</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特别</a:t>
            </a: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Tips-3</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pic>
        <p:nvPicPr>
          <p:cNvPr id="9" name="图片 8"/>
          <p:cNvPicPr>
            <a:picLocks noChangeAspect="1"/>
          </p:cNvPicPr>
          <p:nvPr/>
        </p:nvPicPr>
        <p:blipFill>
          <a:blip r:embed="rId2"/>
          <a:stretch>
            <a:fillRect/>
          </a:stretch>
        </p:blipFill>
        <p:spPr>
          <a:xfrm>
            <a:off x="10473690" y="885825"/>
            <a:ext cx="1623695" cy="1623695"/>
          </a:xfrm>
          <a:prstGeom prst="rect">
            <a:avLst/>
          </a:prstGeom>
        </p:spPr>
      </p:pic>
      <p:sp>
        <p:nvSpPr>
          <p:cNvPr id="25602" name="文本占位符 21506"/>
          <p:cNvSpPr>
            <a:spLocks noGrp="1"/>
          </p:cNvSpPr>
          <p:nvPr/>
        </p:nvSpPr>
        <p:spPr>
          <a:xfrm>
            <a:off x="457200" y="1450975"/>
            <a:ext cx="9825990"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defTabSz="914400">
              <a:lnSpc>
                <a:spcPct val="150000"/>
              </a:lnSpc>
              <a:spcBef>
                <a:spcPts val="1200"/>
              </a:spcBef>
              <a:spcAft>
                <a:spcPts val="600"/>
              </a:spcAft>
              <a:buSzPct val="90000"/>
              <a:buFont typeface="Wingdings" panose="05000000000000000000" charset="0"/>
              <a:buChar char=""/>
            </a:pPr>
            <a:r>
              <a:rPr lang="zh-CN" altLang="en-US" sz="2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列表中包含的是元素值的引用，而不是直接包含元素值</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a:t>
            </a:r>
          </a:p>
          <a:p>
            <a:pPr defTabSz="914400">
              <a:lnSpc>
                <a:spcPct val="150000"/>
              </a:lnSpc>
              <a:spcBef>
                <a:spcPts val="1200"/>
              </a:spcBef>
              <a:spcAft>
                <a:spcPts val="600"/>
              </a:spcAft>
              <a:buSzPct val="90000"/>
              <a:buFont typeface="Wingdings" panose="05000000000000000000" charset="0"/>
              <a:buChar char=""/>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如果是直接修改序列变量的值，则与</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普通变量的情况是一样的</a:t>
            </a:r>
          </a:p>
          <a:p>
            <a:pPr defTabSz="914400">
              <a:lnSpc>
                <a:spcPct val="150000"/>
              </a:lnSpc>
              <a:spcBef>
                <a:spcPts val="1200"/>
              </a:spcBef>
              <a:spcAft>
                <a:spcPts val="600"/>
              </a:spcAft>
              <a:buSzPct val="90000"/>
              <a:buFont typeface="Wingdings" panose="05000000000000000000" charset="0"/>
              <a:buChar char=""/>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如果是通过</a:t>
            </a:r>
            <a:r>
              <a:rPr lang="zh-CN" altLang="en-US" sz="2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下标</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来修改序列中元素的值或通过</a:t>
            </a:r>
            <a:r>
              <a:rPr lang="zh-CN" altLang="en-US" sz="2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可变序列对象自身提供的方法</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来增加和删除元素时，序列对象在内存中的起始地址是不变的，仅仅是被改变值的元素地址发生变化，也就是所谓的</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原地操作</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p:transition spd="slow" advTm="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举例</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pic>
        <p:nvPicPr>
          <p:cNvPr id="9" name="图片 8"/>
          <p:cNvPicPr>
            <a:picLocks noChangeAspect="1"/>
          </p:cNvPicPr>
          <p:nvPr/>
        </p:nvPicPr>
        <p:blipFill>
          <a:blip r:embed="rId2"/>
          <a:stretch>
            <a:fillRect/>
          </a:stretch>
        </p:blipFill>
        <p:spPr>
          <a:xfrm>
            <a:off x="10473690" y="885825"/>
            <a:ext cx="1623695" cy="1623695"/>
          </a:xfrm>
          <a:prstGeom prst="rect">
            <a:avLst/>
          </a:prstGeom>
        </p:spPr>
      </p:pic>
      <p:sp>
        <p:nvSpPr>
          <p:cNvPr id="26626" name="文本占位符 22530"/>
          <p:cNvSpPr>
            <a:spLocks noGrp="1"/>
          </p:cNvSpPr>
          <p:nvPr/>
        </p:nvSpPr>
        <p:spPr>
          <a:xfrm>
            <a:off x="1465580" y="1560830"/>
            <a:ext cx="3386138" cy="4741863"/>
          </a:xfrm>
          <a:prstGeom prst="rect">
            <a:avLst/>
          </a:prstGeom>
          <a:noFill/>
          <a:ln w="25400">
            <a:solidFill>
              <a:schemeClr val="accent1"/>
            </a:solidFill>
            <a:miter/>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1905" indent="-344805" defTabSz="914400">
              <a:lnSpc>
                <a:spcPct val="80000"/>
              </a:lnSpc>
              <a:buSzPct val="90000"/>
              <a:buFont typeface="Wingdings" panose="05000000000000000000" pitchFamily="2" charset="2"/>
              <a:buNone/>
            </a:pPr>
            <a:r>
              <a:rPr lang="en-US" altLang="zh-CN" sz="2000" dirty="0">
                <a:latin typeface="Consolas" panose="020B0609020204030204" pitchFamily="49" charset="0"/>
              </a:rPr>
              <a:t>&gt;&gt;&gt; a = [1,2,4]</a:t>
            </a:r>
          </a:p>
          <a:p>
            <a:pPr marL="1905" indent="-344805" defTabSz="914400">
              <a:lnSpc>
                <a:spcPct val="80000"/>
              </a:lnSpc>
              <a:buSzPct val="90000"/>
              <a:buFont typeface="Wingdings" panose="05000000000000000000" pitchFamily="2" charset="2"/>
              <a:buNone/>
            </a:pPr>
            <a:r>
              <a:rPr lang="en-US" altLang="zh-CN" sz="2000" dirty="0">
                <a:latin typeface="Consolas" panose="020B0609020204030204" pitchFamily="49" charset="0"/>
              </a:rPr>
              <a:t>&gt;&gt;&gt; b = [1,2,3]</a:t>
            </a:r>
          </a:p>
          <a:p>
            <a:pPr marL="1905" indent="-344805" defTabSz="914400">
              <a:lnSpc>
                <a:spcPct val="80000"/>
              </a:lnSpc>
              <a:buSzPct val="90000"/>
              <a:buFont typeface="Wingdings" panose="05000000000000000000" pitchFamily="2" charset="2"/>
              <a:buNone/>
            </a:pPr>
            <a:r>
              <a:rPr lang="en-US" altLang="zh-CN" sz="2000" dirty="0">
                <a:latin typeface="Consolas" panose="020B0609020204030204" pitchFamily="49" charset="0"/>
              </a:rPr>
              <a:t>&gt;&gt;&gt; a == b</a:t>
            </a:r>
          </a:p>
          <a:p>
            <a:pPr marL="1905" indent="-344805" defTabSz="914400">
              <a:lnSpc>
                <a:spcPct val="80000"/>
              </a:lnSpc>
              <a:buSzPct val="90000"/>
              <a:buFont typeface="Wingdings" panose="05000000000000000000" pitchFamily="2" charset="2"/>
              <a:buNone/>
            </a:pPr>
            <a:r>
              <a:rPr lang="en-US" altLang="zh-CN" sz="2000" dirty="0">
                <a:solidFill>
                  <a:srgbClr val="00B0F0"/>
                </a:solidFill>
                <a:latin typeface="Consolas" panose="020B0609020204030204" pitchFamily="49" charset="0"/>
              </a:rPr>
              <a:t>False</a:t>
            </a:r>
          </a:p>
          <a:p>
            <a:pPr marL="1905" indent="-344805" defTabSz="914400">
              <a:lnSpc>
                <a:spcPct val="80000"/>
              </a:lnSpc>
              <a:buSzPct val="90000"/>
              <a:buFont typeface="Wingdings" panose="05000000000000000000" pitchFamily="2" charset="2"/>
              <a:buNone/>
            </a:pPr>
            <a:r>
              <a:rPr lang="en-US" altLang="zh-CN" sz="2000" dirty="0">
                <a:latin typeface="Consolas" panose="020B0609020204030204" pitchFamily="49" charset="0"/>
              </a:rPr>
              <a:t>&gt;&gt;&gt; id(a) == id(b)</a:t>
            </a:r>
          </a:p>
          <a:p>
            <a:pPr marL="1905" indent="-344805" defTabSz="914400">
              <a:lnSpc>
                <a:spcPct val="80000"/>
              </a:lnSpc>
              <a:buSzPct val="90000"/>
              <a:buFont typeface="Wingdings" panose="05000000000000000000" pitchFamily="2" charset="2"/>
              <a:buNone/>
            </a:pPr>
            <a:r>
              <a:rPr lang="en-US" altLang="zh-CN" sz="2000" dirty="0">
                <a:solidFill>
                  <a:srgbClr val="00B0F0"/>
                </a:solidFill>
                <a:latin typeface="Consolas" panose="020B0609020204030204" pitchFamily="49" charset="0"/>
              </a:rPr>
              <a:t>False</a:t>
            </a:r>
          </a:p>
          <a:p>
            <a:pPr marL="1905" indent="-344805" defTabSz="914400">
              <a:lnSpc>
                <a:spcPct val="80000"/>
              </a:lnSpc>
              <a:buSzPct val="90000"/>
              <a:buFont typeface="Wingdings" panose="05000000000000000000" pitchFamily="2" charset="2"/>
              <a:buNone/>
            </a:pPr>
            <a:r>
              <a:rPr lang="en-US" altLang="zh-CN" sz="2000" dirty="0">
                <a:latin typeface="Consolas" panose="020B0609020204030204" pitchFamily="49" charset="0"/>
              </a:rPr>
              <a:t>&gt;&gt;&gt; id(a[0]) == id(b[0])</a:t>
            </a:r>
          </a:p>
          <a:p>
            <a:pPr marL="1905" indent="-344805" defTabSz="914400">
              <a:lnSpc>
                <a:spcPct val="80000"/>
              </a:lnSpc>
              <a:buSzPct val="90000"/>
              <a:buFont typeface="Wingdings" panose="05000000000000000000" pitchFamily="2" charset="2"/>
              <a:buNone/>
            </a:pPr>
            <a:r>
              <a:rPr lang="en-US" altLang="zh-CN" sz="2000" dirty="0">
                <a:solidFill>
                  <a:srgbClr val="00B0F0"/>
                </a:solidFill>
                <a:latin typeface="Consolas" panose="020B0609020204030204" pitchFamily="49" charset="0"/>
              </a:rPr>
              <a:t>True</a:t>
            </a:r>
          </a:p>
          <a:p>
            <a:pPr marL="1905" indent="-344805" defTabSz="914400">
              <a:lnSpc>
                <a:spcPct val="80000"/>
              </a:lnSpc>
              <a:buSzPct val="90000"/>
              <a:buFont typeface="Wingdings" panose="05000000000000000000" pitchFamily="2" charset="2"/>
              <a:buNone/>
            </a:pPr>
            <a:r>
              <a:rPr lang="en-US" altLang="zh-CN" sz="2000" dirty="0">
                <a:latin typeface="Consolas" panose="020B0609020204030204" pitchFamily="49" charset="0"/>
              </a:rPr>
              <a:t>&gt;&gt;&gt; a = [1,2,3]</a:t>
            </a:r>
          </a:p>
          <a:p>
            <a:pPr marL="1905" indent="-344805" defTabSz="914400">
              <a:lnSpc>
                <a:spcPct val="80000"/>
              </a:lnSpc>
              <a:buSzPct val="90000"/>
              <a:buFont typeface="Wingdings" panose="05000000000000000000" pitchFamily="2" charset="2"/>
              <a:buNone/>
            </a:pPr>
            <a:r>
              <a:rPr lang="en-US" altLang="zh-CN" sz="2000" dirty="0">
                <a:latin typeface="Consolas" panose="020B0609020204030204" pitchFamily="49" charset="0"/>
              </a:rPr>
              <a:t>&gt;&gt;&gt; id(a)</a:t>
            </a:r>
          </a:p>
          <a:p>
            <a:pPr marL="1905" indent="-344805" defTabSz="914400">
              <a:lnSpc>
                <a:spcPct val="80000"/>
              </a:lnSpc>
              <a:buSzPct val="90000"/>
              <a:buFont typeface="Wingdings" panose="05000000000000000000" pitchFamily="2" charset="2"/>
              <a:buNone/>
            </a:pPr>
            <a:r>
              <a:rPr lang="en-US" altLang="zh-CN" sz="2000" dirty="0">
                <a:solidFill>
                  <a:srgbClr val="00B0F0"/>
                </a:solidFill>
                <a:latin typeface="Consolas" panose="020B0609020204030204" pitchFamily="49" charset="0"/>
              </a:rPr>
              <a:t>25289752</a:t>
            </a:r>
          </a:p>
          <a:p>
            <a:pPr marL="1905" indent="-344805" defTabSz="914400">
              <a:lnSpc>
                <a:spcPct val="80000"/>
              </a:lnSpc>
              <a:buSzPct val="90000"/>
              <a:buFont typeface="Wingdings" panose="05000000000000000000" pitchFamily="2" charset="2"/>
              <a:buNone/>
            </a:pPr>
            <a:r>
              <a:rPr lang="en-US" altLang="zh-CN" sz="2000" dirty="0">
                <a:latin typeface="Consolas" panose="020B0609020204030204" pitchFamily="49" charset="0"/>
              </a:rPr>
              <a:t>&gt;&gt;&gt; </a:t>
            </a:r>
            <a:r>
              <a:rPr lang="en-US" altLang="zh-CN" sz="2000" dirty="0" err="1">
                <a:latin typeface="Consolas" panose="020B0609020204030204" pitchFamily="49" charset="0"/>
              </a:rPr>
              <a:t>a.append</a:t>
            </a:r>
            <a:r>
              <a:rPr lang="en-US" altLang="zh-CN" sz="2000" dirty="0">
                <a:latin typeface="Consolas" panose="020B0609020204030204" pitchFamily="49" charset="0"/>
              </a:rPr>
              <a:t>(4)</a:t>
            </a:r>
          </a:p>
          <a:p>
            <a:pPr marL="1905" indent="-344805" defTabSz="914400">
              <a:lnSpc>
                <a:spcPct val="80000"/>
              </a:lnSpc>
              <a:buSzPct val="90000"/>
              <a:buFont typeface="Wingdings" panose="05000000000000000000" pitchFamily="2" charset="2"/>
              <a:buNone/>
            </a:pPr>
            <a:r>
              <a:rPr lang="en-US" altLang="zh-CN" sz="2000" dirty="0">
                <a:latin typeface="Consolas" panose="020B0609020204030204" pitchFamily="49" charset="0"/>
              </a:rPr>
              <a:t>&gt;&gt;&gt; id(a)</a:t>
            </a:r>
          </a:p>
          <a:p>
            <a:pPr marL="1905" indent="-344805" defTabSz="914400">
              <a:lnSpc>
                <a:spcPct val="80000"/>
              </a:lnSpc>
              <a:buSzPct val="90000"/>
              <a:buFont typeface="Wingdings" panose="05000000000000000000" pitchFamily="2" charset="2"/>
              <a:buNone/>
            </a:pPr>
            <a:r>
              <a:rPr lang="en-US" altLang="zh-CN" sz="2000" dirty="0">
                <a:solidFill>
                  <a:srgbClr val="00B0F0"/>
                </a:solidFill>
                <a:latin typeface="Consolas" panose="020B0609020204030204" pitchFamily="49" charset="0"/>
              </a:rPr>
              <a:t>25289752</a:t>
            </a:r>
          </a:p>
        </p:txBody>
      </p:sp>
      <p:sp>
        <p:nvSpPr>
          <p:cNvPr id="26627" name="文本占位符 22530"/>
          <p:cNvSpPr>
            <a:spLocks noGrp="1"/>
          </p:cNvSpPr>
          <p:nvPr/>
        </p:nvSpPr>
        <p:spPr>
          <a:xfrm>
            <a:off x="5889943" y="1560830"/>
            <a:ext cx="3386137" cy="4741863"/>
          </a:xfrm>
          <a:prstGeom prst="rect">
            <a:avLst/>
          </a:prstGeom>
          <a:noFill/>
          <a:ln w="22225" cap="flat" cmpd="sng">
            <a:solidFill>
              <a:schemeClr val="accent1"/>
            </a:solidFill>
            <a:prstDash val="solid"/>
            <a:round/>
            <a:headEnd type="none" w="med" len="med"/>
            <a:tailEnd type="none" w="med" len="med"/>
          </a:ln>
        </p:spPr>
        <p:txBody>
          <a:bodyPr anchor="t"/>
          <a:lstStyle/>
          <a:p>
            <a:pPr marL="1905" indent="-344805" defTabSz="914400">
              <a:lnSpc>
                <a:spcPct val="80000"/>
              </a:lnSpc>
              <a:spcBef>
                <a:spcPct val="20000"/>
              </a:spcBef>
              <a:buClr>
                <a:schemeClr val="hlink"/>
              </a:buClr>
              <a:buSzPct val="90000"/>
              <a:buFont typeface="Wingdings" panose="05000000000000000000" pitchFamily="2" charset="2"/>
            </a:pPr>
            <a:r>
              <a:rPr lang="en-US" altLang="zh-CN">
                <a:latin typeface="Consolas" panose="020B0609020204030204" pitchFamily="49" charset="0"/>
                <a:ea typeface="宋体" panose="02010600030101010101" pitchFamily="2" charset="-122"/>
              </a:rPr>
              <a:t>&gt;&gt;&gt; a.remove(3)</a:t>
            </a:r>
          </a:p>
          <a:p>
            <a:pPr marL="1905" indent="-344805" defTabSz="914400">
              <a:lnSpc>
                <a:spcPct val="80000"/>
              </a:lnSpc>
              <a:spcBef>
                <a:spcPct val="20000"/>
              </a:spcBef>
              <a:buClr>
                <a:schemeClr val="hlink"/>
              </a:buClr>
              <a:buSzPct val="90000"/>
              <a:buFont typeface="Wingdings" panose="05000000000000000000" pitchFamily="2" charset="2"/>
            </a:pPr>
            <a:r>
              <a:rPr lang="en-US" altLang="zh-CN">
                <a:latin typeface="Consolas" panose="020B0609020204030204" pitchFamily="49" charset="0"/>
                <a:ea typeface="宋体" panose="02010600030101010101" pitchFamily="2" charset="-122"/>
              </a:rPr>
              <a:t>&gt;&gt;&gt; a</a:t>
            </a:r>
          </a:p>
          <a:p>
            <a:pPr marL="1905" indent="-344805" defTabSz="914400">
              <a:lnSpc>
                <a:spcPct val="80000"/>
              </a:lnSpc>
              <a:spcBef>
                <a:spcPct val="20000"/>
              </a:spcBef>
              <a:buClr>
                <a:schemeClr val="hlink"/>
              </a:buClr>
              <a:buSzPct val="90000"/>
              <a:buFont typeface="Wingdings" panose="05000000000000000000" pitchFamily="2" charset="2"/>
            </a:pPr>
            <a:r>
              <a:rPr lang="en-US" altLang="zh-CN">
                <a:solidFill>
                  <a:srgbClr val="00B0F0"/>
                </a:solidFill>
                <a:latin typeface="Consolas" panose="020B0609020204030204" pitchFamily="49" charset="0"/>
                <a:ea typeface="宋体" panose="02010600030101010101" pitchFamily="2" charset="-122"/>
              </a:rPr>
              <a:t>[1, 2, 4]</a:t>
            </a:r>
          </a:p>
          <a:p>
            <a:pPr marL="1905" indent="-344805" defTabSz="914400">
              <a:lnSpc>
                <a:spcPct val="80000"/>
              </a:lnSpc>
              <a:spcBef>
                <a:spcPct val="20000"/>
              </a:spcBef>
              <a:buClr>
                <a:schemeClr val="hlink"/>
              </a:buClr>
              <a:buSzPct val="90000"/>
              <a:buFont typeface="Wingdings" panose="05000000000000000000" pitchFamily="2" charset="2"/>
            </a:pPr>
            <a:r>
              <a:rPr lang="en-US" altLang="zh-CN">
                <a:latin typeface="Consolas" panose="020B0609020204030204" pitchFamily="49" charset="0"/>
                <a:ea typeface="宋体" panose="02010600030101010101" pitchFamily="2" charset="-122"/>
              </a:rPr>
              <a:t>&gt;&gt;&gt; id(a)</a:t>
            </a:r>
          </a:p>
          <a:p>
            <a:pPr marL="1905" indent="-344805" defTabSz="914400">
              <a:lnSpc>
                <a:spcPct val="80000"/>
              </a:lnSpc>
              <a:spcBef>
                <a:spcPct val="20000"/>
              </a:spcBef>
              <a:buClr>
                <a:schemeClr val="hlink"/>
              </a:buClr>
              <a:buSzPct val="90000"/>
              <a:buFont typeface="Wingdings" panose="05000000000000000000" pitchFamily="2" charset="2"/>
            </a:pPr>
            <a:r>
              <a:rPr lang="en-US" altLang="zh-CN">
                <a:solidFill>
                  <a:srgbClr val="00B0F0"/>
                </a:solidFill>
                <a:latin typeface="Consolas" panose="020B0609020204030204" pitchFamily="49" charset="0"/>
                <a:ea typeface="宋体" panose="02010600030101010101" pitchFamily="2" charset="-122"/>
              </a:rPr>
              <a:t>25289752</a:t>
            </a:r>
          </a:p>
          <a:p>
            <a:pPr marL="1905" indent="-344805" defTabSz="914400">
              <a:lnSpc>
                <a:spcPct val="80000"/>
              </a:lnSpc>
              <a:spcBef>
                <a:spcPct val="20000"/>
              </a:spcBef>
              <a:buClr>
                <a:schemeClr val="hlink"/>
              </a:buClr>
              <a:buSzPct val="90000"/>
              <a:buFont typeface="Wingdings" panose="05000000000000000000" pitchFamily="2" charset="2"/>
            </a:pPr>
            <a:r>
              <a:rPr lang="en-US" altLang="zh-CN">
                <a:latin typeface="Consolas" panose="020B0609020204030204" pitchFamily="49" charset="0"/>
                <a:ea typeface="宋体" panose="02010600030101010101" pitchFamily="2" charset="-122"/>
              </a:rPr>
              <a:t>&gt;&gt;&gt; a[0] = 5</a:t>
            </a:r>
          </a:p>
          <a:p>
            <a:pPr marL="1905" indent="-344805" defTabSz="914400">
              <a:lnSpc>
                <a:spcPct val="80000"/>
              </a:lnSpc>
              <a:spcBef>
                <a:spcPct val="20000"/>
              </a:spcBef>
              <a:buClr>
                <a:schemeClr val="hlink"/>
              </a:buClr>
              <a:buSzPct val="90000"/>
              <a:buFont typeface="Wingdings" panose="05000000000000000000" pitchFamily="2" charset="2"/>
            </a:pPr>
            <a:r>
              <a:rPr lang="en-US" altLang="zh-CN">
                <a:latin typeface="Consolas" panose="020B0609020204030204" pitchFamily="49" charset="0"/>
                <a:ea typeface="宋体" panose="02010600030101010101" pitchFamily="2" charset="-122"/>
              </a:rPr>
              <a:t>&gt;&gt;&gt; a</a:t>
            </a:r>
          </a:p>
          <a:p>
            <a:pPr marL="1905" indent="-344805" defTabSz="914400">
              <a:lnSpc>
                <a:spcPct val="80000"/>
              </a:lnSpc>
              <a:spcBef>
                <a:spcPct val="20000"/>
              </a:spcBef>
              <a:buClr>
                <a:schemeClr val="hlink"/>
              </a:buClr>
              <a:buSzPct val="90000"/>
              <a:buFont typeface="Wingdings" panose="05000000000000000000" pitchFamily="2" charset="2"/>
            </a:pPr>
            <a:r>
              <a:rPr lang="en-US" altLang="zh-CN">
                <a:solidFill>
                  <a:srgbClr val="00B0F0"/>
                </a:solidFill>
                <a:latin typeface="Consolas" panose="020B0609020204030204" pitchFamily="49" charset="0"/>
                <a:ea typeface="宋体" panose="02010600030101010101" pitchFamily="2" charset="-122"/>
              </a:rPr>
              <a:t>[5, 2, 4]</a:t>
            </a:r>
          </a:p>
          <a:p>
            <a:pPr marL="1905" indent="-344805" defTabSz="914400">
              <a:lnSpc>
                <a:spcPct val="80000"/>
              </a:lnSpc>
              <a:spcBef>
                <a:spcPct val="20000"/>
              </a:spcBef>
              <a:buClr>
                <a:schemeClr val="hlink"/>
              </a:buClr>
              <a:buSzPct val="90000"/>
              <a:buFont typeface="Wingdings" panose="05000000000000000000" pitchFamily="2" charset="2"/>
            </a:pPr>
            <a:r>
              <a:rPr lang="en-US" altLang="zh-CN">
                <a:latin typeface="Consolas" panose="020B0609020204030204" pitchFamily="49" charset="0"/>
                <a:ea typeface="宋体" panose="02010600030101010101" pitchFamily="2" charset="-122"/>
              </a:rPr>
              <a:t>&gt;&gt;&gt; id(a)</a:t>
            </a:r>
          </a:p>
          <a:p>
            <a:pPr marL="1905" indent="-344805" defTabSz="914400">
              <a:lnSpc>
                <a:spcPct val="80000"/>
              </a:lnSpc>
              <a:spcBef>
                <a:spcPct val="20000"/>
              </a:spcBef>
              <a:buClr>
                <a:schemeClr val="hlink"/>
              </a:buClr>
              <a:buSzPct val="90000"/>
              <a:buFont typeface="Wingdings" panose="05000000000000000000" pitchFamily="2" charset="2"/>
            </a:pPr>
            <a:r>
              <a:rPr lang="en-US" altLang="zh-CN">
                <a:solidFill>
                  <a:srgbClr val="00B0F0"/>
                </a:solidFill>
                <a:latin typeface="Consolas" panose="020B0609020204030204" pitchFamily="49" charset="0"/>
                <a:ea typeface="宋体" panose="02010600030101010101" pitchFamily="2" charset="-122"/>
              </a:rPr>
              <a:t>25289752</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ipe(up)">
                                      <p:cBhvr>
                                        <p:cTn id="7" dur="500"/>
                                        <p:tgtEl>
                                          <p:spTgt spid="266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6627"/>
                                        </p:tgtEl>
                                        <p:attrNameLst>
                                          <p:attrName>style.visibility</p:attrName>
                                        </p:attrNameLst>
                                      </p:cBhvr>
                                      <p:to>
                                        <p:strVal val="visible"/>
                                      </p:to>
                                    </p:set>
                                    <p:animEffect transition="in" filter="wipe(up)">
                                      <p:cBhvr>
                                        <p:cTn id="12" dur="5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p:bldP spid="26626" grpId="1" animBg="1"/>
      <p:bldP spid="26627" grpId="0" animBg="1"/>
      <p:bldP spid="26627"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列表添加元素：</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特别</a:t>
            </a: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Tips-4</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pic>
        <p:nvPicPr>
          <p:cNvPr id="9" name="图片 8"/>
          <p:cNvPicPr>
            <a:picLocks noChangeAspect="1"/>
          </p:cNvPicPr>
          <p:nvPr/>
        </p:nvPicPr>
        <p:blipFill>
          <a:blip r:embed="rId2"/>
          <a:stretch>
            <a:fillRect/>
          </a:stretch>
        </p:blipFill>
        <p:spPr>
          <a:xfrm>
            <a:off x="10473690" y="885825"/>
            <a:ext cx="1623695" cy="1623695"/>
          </a:xfrm>
          <a:prstGeom prst="rect">
            <a:avLst/>
          </a:prstGeom>
        </p:spPr>
      </p:pic>
      <p:sp>
        <p:nvSpPr>
          <p:cNvPr id="25602" name="文本占位符 21506"/>
          <p:cNvSpPr>
            <a:spLocks noGrp="1"/>
          </p:cNvSpPr>
          <p:nvPr/>
        </p:nvSpPr>
        <p:spPr>
          <a:xfrm>
            <a:off x="457200" y="1450975"/>
            <a:ext cx="9825990"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defTabSz="914400">
              <a:lnSpc>
                <a:spcPct val="150000"/>
              </a:lnSpc>
              <a:spcBef>
                <a:spcPts val="1200"/>
              </a:spcBef>
              <a:spcAft>
                <a:spcPts val="600"/>
              </a:spcAft>
              <a:buSzPct val="90000"/>
              <a:buFont typeface="Wingdings" panose="05000000000000000000" charset="0"/>
              <a:buChar char=""/>
            </a:pP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457200" y="1696720"/>
            <a:ext cx="9945370" cy="3799840"/>
          </a:xfrm>
          <a:prstGeom prst="rect">
            <a:avLst/>
          </a:prstGeom>
          <a:noFill/>
        </p:spPr>
        <p:txBody>
          <a:bodyPr wrap="square" rtlCol="0" anchor="t">
            <a:spAutoFit/>
          </a:bodyPr>
          <a:lstStyle/>
          <a:p>
            <a:pPr defTabSz="914400">
              <a:lnSpc>
                <a:spcPct val="150000"/>
              </a:lnSpc>
              <a:spcBef>
                <a:spcPct val="0"/>
              </a:spcBef>
              <a:buSzPct val="90000"/>
              <a:buFont typeface="Wingdings" panose="05000000000000000000" charset="0"/>
              <a:buChar char="n"/>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应</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尽量从列表尾部进行元素的增加与删除操作</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defTabSz="914400">
              <a:lnSpc>
                <a:spcPct val="150000"/>
              </a:lnSpc>
              <a:spcBef>
                <a:spcPts val="1200"/>
              </a:spcBef>
              <a:spcAft>
                <a:spcPts val="600"/>
              </a:spcAft>
              <a:buSzPct val="90000"/>
              <a:buFont typeface="Wingdings" panose="05000000000000000000" charset="0"/>
              <a:buChar char="ü"/>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列表的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insert()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可以在列表的任意位置插入元素，但由于列表的自动内存管理功能，</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insert()</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方法会引起插入位置之后所有元素的移动</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，这会影响处理速度。</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defTabSz="914400">
              <a:lnSpc>
                <a:spcPct val="150000"/>
              </a:lnSpc>
              <a:spcBef>
                <a:spcPts val="1200"/>
              </a:spcBef>
              <a:spcAft>
                <a:spcPts val="600"/>
              </a:spcAft>
              <a:buSzPct val="90000"/>
              <a:buFont typeface="Wingdings" panose="05000000000000000000" charset="0"/>
              <a:buChar char="ü"/>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类似的还有后面介绍的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remove()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方法以及使用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pop()</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函数弹出列表非尾部元素和使用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del</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命令删除列表非尾部元素的情况。</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举例</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pic>
        <p:nvPicPr>
          <p:cNvPr id="9" name="图片 8"/>
          <p:cNvPicPr>
            <a:picLocks noChangeAspect="1"/>
          </p:cNvPicPr>
          <p:nvPr/>
        </p:nvPicPr>
        <p:blipFill>
          <a:blip r:embed="rId2"/>
          <a:stretch>
            <a:fillRect/>
          </a:stretch>
        </p:blipFill>
        <p:spPr>
          <a:xfrm>
            <a:off x="10473690" y="885825"/>
            <a:ext cx="1623695" cy="1623695"/>
          </a:xfrm>
          <a:prstGeom prst="rect">
            <a:avLst/>
          </a:prstGeom>
        </p:spPr>
      </p:pic>
      <p:sp>
        <p:nvSpPr>
          <p:cNvPr id="30722" name="文本占位符 26626"/>
          <p:cNvSpPr>
            <a:spLocks noGrp="1"/>
          </p:cNvSpPr>
          <p:nvPr/>
        </p:nvSpPr>
        <p:spPr>
          <a:xfrm>
            <a:off x="2673350" y="1053148"/>
            <a:ext cx="4225925" cy="5151437"/>
          </a:xfrm>
          <a:prstGeom prst="rect">
            <a:avLst/>
          </a:prstGeom>
          <a:noFill/>
          <a:ln w="28575">
            <a:solidFill>
              <a:schemeClr val="accent1"/>
            </a:solidFill>
            <a:miter/>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import time</a:t>
            </a:r>
          </a:p>
          <a:p>
            <a:pPr marL="1905" indent="-344805" defTabSz="914400">
              <a:lnSpc>
                <a:spcPct val="80000"/>
              </a:lnSpc>
              <a:buSzPct val="90000"/>
              <a:buFont typeface="Wingdings" panose="05000000000000000000" pitchFamily="2" charset="2"/>
              <a:buNone/>
            </a:pPr>
            <a:endParaRPr lang="zh-CN" altLang="en-US" sz="1600" dirty="0">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def Insert():</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    a = []</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    for i in range(10000):</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        a.insert(0, i)</a:t>
            </a:r>
          </a:p>
          <a:p>
            <a:pPr marL="1905" indent="-344805" defTabSz="914400">
              <a:lnSpc>
                <a:spcPct val="80000"/>
              </a:lnSpc>
              <a:buSzPct val="90000"/>
              <a:buFont typeface="Wingdings" panose="05000000000000000000" pitchFamily="2" charset="2"/>
              <a:buNone/>
            </a:pPr>
            <a:endParaRPr lang="zh-CN" altLang="en-US" sz="1600" dirty="0">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def Append():</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    a = []</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    for i in range(10000):</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        a.append(i)</a:t>
            </a:r>
          </a:p>
          <a:p>
            <a:pPr marL="1905" indent="-344805" defTabSz="914400">
              <a:lnSpc>
                <a:spcPct val="80000"/>
              </a:lnSpc>
              <a:buSzPct val="90000"/>
              <a:buFont typeface="Wingdings" panose="05000000000000000000" pitchFamily="2" charset="2"/>
              <a:buNone/>
            </a:pPr>
            <a:endParaRPr lang="zh-CN" altLang="en-US" sz="1600" dirty="0">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start = time.time()</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for i in range(10):</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    Insert()</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print</a:t>
            </a:r>
            <a:r>
              <a:rPr lang="en-US" altLang="zh-CN" sz="1600" dirty="0">
                <a:latin typeface="Consolas" panose="020B0609020204030204" pitchFamily="49" charset="0"/>
              </a:rPr>
              <a:t>(</a:t>
            </a:r>
            <a:r>
              <a:rPr lang="zh-CN" altLang="en-US" sz="1600" dirty="0">
                <a:latin typeface="Consolas" panose="020B0609020204030204" pitchFamily="49" charset="0"/>
              </a:rPr>
              <a:t>'Insert:', time.time()-start</a:t>
            </a:r>
            <a:r>
              <a:rPr lang="en-US" altLang="zh-CN" sz="1600" dirty="0">
                <a:latin typeface="Consolas" panose="020B0609020204030204" pitchFamily="49" charset="0"/>
              </a:rPr>
              <a:t>)</a:t>
            </a:r>
          </a:p>
          <a:p>
            <a:pPr marL="1905" indent="-344805" defTabSz="914400">
              <a:lnSpc>
                <a:spcPct val="80000"/>
              </a:lnSpc>
              <a:buSzPct val="90000"/>
              <a:buFont typeface="Wingdings" panose="05000000000000000000" pitchFamily="2" charset="2"/>
              <a:buNone/>
            </a:pPr>
            <a:endParaRPr lang="en-US" altLang="zh-CN" sz="1600" dirty="0">
              <a:latin typeface="Consolas" panose="020B0609020204030204" pitchFamily="49" charset="0"/>
            </a:endParaRP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start = time.time()</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for i in range(10):</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    Append()</a:t>
            </a:r>
          </a:p>
          <a:p>
            <a:pPr marL="1905" indent="-344805" defTabSz="914400">
              <a:lnSpc>
                <a:spcPct val="80000"/>
              </a:lnSpc>
              <a:buSzPct val="90000"/>
              <a:buFont typeface="Wingdings" panose="05000000000000000000" pitchFamily="2" charset="2"/>
              <a:buNone/>
            </a:pPr>
            <a:r>
              <a:rPr lang="zh-CN" altLang="en-US" sz="1600" dirty="0">
                <a:latin typeface="Consolas" panose="020B0609020204030204" pitchFamily="49" charset="0"/>
              </a:rPr>
              <a:t>print</a:t>
            </a:r>
            <a:r>
              <a:rPr lang="en-US" altLang="zh-CN" sz="1600" dirty="0">
                <a:latin typeface="Consolas" panose="020B0609020204030204" pitchFamily="49" charset="0"/>
              </a:rPr>
              <a:t>(</a:t>
            </a:r>
            <a:r>
              <a:rPr lang="zh-CN" altLang="en-US" sz="1600" dirty="0">
                <a:latin typeface="Consolas" panose="020B0609020204030204" pitchFamily="49" charset="0"/>
              </a:rPr>
              <a:t>'Append:', time.time()-start</a:t>
            </a:r>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30723" name="文本占位符 26626"/>
          <p:cNvSpPr>
            <a:spLocks noGrp="1"/>
          </p:cNvSpPr>
          <p:nvPr/>
        </p:nvSpPr>
        <p:spPr>
          <a:xfrm>
            <a:off x="7162800" y="2007235"/>
            <a:ext cx="3490913" cy="4197350"/>
          </a:xfrm>
          <a:prstGeom prst="rect">
            <a:avLst/>
          </a:prstGeom>
          <a:noFill/>
          <a:ln w="9525">
            <a:noFill/>
          </a:ln>
        </p:spPr>
        <p:txBody>
          <a:bodyPr anchor="t"/>
          <a:lstStyle/>
          <a:p>
            <a:pPr marL="1905" indent="-344805" defTabSz="914400">
              <a:lnSpc>
                <a:spcPct val="80000"/>
              </a:lnSpc>
              <a:spcBef>
                <a:spcPct val="20000"/>
              </a:spcBef>
              <a:buClr>
                <a:schemeClr val="hlink"/>
              </a:buClr>
              <a:buSzPct val="90000"/>
              <a:buFont typeface="Wingdings" panose="05000000000000000000" pitchFamily="2" charset="2"/>
            </a:pPr>
            <a:r>
              <a:rPr lang="zh-CN" altLang="en-US" sz="2400" dirty="0">
                <a:latin typeface="Arial" panose="020B0604020202020204" pitchFamily="34" charset="0"/>
                <a:ea typeface="宋体" panose="02010600030101010101" pitchFamily="2" charset="-122"/>
              </a:rPr>
              <a:t>左侧代码运行结果如下：</a:t>
            </a:r>
          </a:p>
          <a:p>
            <a:pPr marL="1905" indent="-344805" defTabSz="914400">
              <a:lnSpc>
                <a:spcPct val="80000"/>
              </a:lnSpc>
              <a:spcBef>
                <a:spcPct val="20000"/>
              </a:spcBef>
              <a:buClr>
                <a:schemeClr val="hlink"/>
              </a:buClr>
              <a:buSzPct val="90000"/>
              <a:buFont typeface="Wingdings" panose="05000000000000000000" pitchFamily="2" charset="2"/>
            </a:pPr>
            <a:r>
              <a:rPr lang="zh-CN" altLang="en-US" sz="1600" dirty="0">
                <a:solidFill>
                  <a:srgbClr val="00B0F0"/>
                </a:solidFill>
                <a:latin typeface="Consolas" panose="020B0609020204030204" pitchFamily="49" charset="0"/>
                <a:ea typeface="宋体" panose="02010600030101010101" pitchFamily="2" charset="-122"/>
              </a:rPr>
              <a:t>Insert: 0.578000068665</a:t>
            </a:r>
          </a:p>
          <a:p>
            <a:pPr marL="1905" indent="-344805" defTabSz="914400">
              <a:lnSpc>
                <a:spcPct val="80000"/>
              </a:lnSpc>
              <a:spcBef>
                <a:spcPct val="20000"/>
              </a:spcBef>
              <a:buClr>
                <a:schemeClr val="hlink"/>
              </a:buClr>
              <a:buSzPct val="90000"/>
              <a:buFont typeface="Wingdings" panose="05000000000000000000" pitchFamily="2" charset="2"/>
            </a:pPr>
            <a:r>
              <a:rPr lang="zh-CN" altLang="en-US" sz="1600" dirty="0">
                <a:solidFill>
                  <a:srgbClr val="00B0F0"/>
                </a:solidFill>
                <a:latin typeface="Consolas" panose="020B0609020204030204" pitchFamily="49" charset="0"/>
                <a:ea typeface="宋体" panose="02010600030101010101" pitchFamily="2" charset="-122"/>
              </a:rPr>
              <a:t>Append: 0.0309998989105</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blinds(horizontal)">
                                      <p:cBhvr>
                                        <p:cTn id="7" dur="500"/>
                                        <p:tgtEl>
                                          <p:spTgt spid="307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723"/>
                                        </p:tgtEl>
                                        <p:attrNameLst>
                                          <p:attrName>style.visibility</p:attrName>
                                        </p:attrNameLst>
                                      </p:cBhvr>
                                      <p:to>
                                        <p:strVal val="visible"/>
                                      </p:to>
                                    </p:set>
                                    <p:animEffect transition="in" filter="wipe(down)">
                                      <p:cBhvr>
                                        <p:cTn id="12" dur="500"/>
                                        <p:tgtEl>
                                          <p:spTgt spid="30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P spid="30722" grpId="1" animBg="1"/>
      <p:bldP spid="30723" grpId="0"/>
      <p:bldP spid="30723"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列表添加元素：</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特别</a:t>
            </a: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Tips-5</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pic>
        <p:nvPicPr>
          <p:cNvPr id="9" name="图片 8"/>
          <p:cNvPicPr>
            <a:picLocks noChangeAspect="1"/>
          </p:cNvPicPr>
          <p:nvPr/>
        </p:nvPicPr>
        <p:blipFill>
          <a:blip r:embed="rId2"/>
          <a:stretch>
            <a:fillRect/>
          </a:stretch>
        </p:blipFill>
        <p:spPr>
          <a:xfrm>
            <a:off x="10473690" y="885825"/>
            <a:ext cx="1623695" cy="1623695"/>
          </a:xfrm>
          <a:prstGeom prst="rect">
            <a:avLst/>
          </a:prstGeom>
        </p:spPr>
      </p:pic>
      <p:sp>
        <p:nvSpPr>
          <p:cNvPr id="25602" name="文本占位符 21506"/>
          <p:cNvSpPr>
            <a:spLocks noGrp="1"/>
          </p:cNvSpPr>
          <p:nvPr/>
        </p:nvSpPr>
        <p:spPr>
          <a:xfrm>
            <a:off x="457200" y="1450975"/>
            <a:ext cx="9825990"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defTabSz="914400">
              <a:lnSpc>
                <a:spcPct val="150000"/>
              </a:lnSpc>
              <a:spcBef>
                <a:spcPts val="1200"/>
              </a:spcBef>
              <a:spcAft>
                <a:spcPts val="600"/>
              </a:spcAft>
              <a:buSzPct val="90000"/>
              <a:buFont typeface="Wingdings" panose="05000000000000000000" charset="0"/>
              <a:buChar char=""/>
            </a:pP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675" name="文本占位符 28674"/>
          <p:cNvSpPr>
            <a:spLocks noGrp="1"/>
          </p:cNvSpPr>
          <p:nvPr/>
        </p:nvSpPr>
        <p:spPr>
          <a:xfrm>
            <a:off x="457200" y="1489908"/>
            <a:ext cx="9907270" cy="4815205"/>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fontAlgn="base">
              <a:lnSpc>
                <a:spcPct val="150000"/>
              </a:lnSpc>
              <a:spcBef>
                <a:spcPts val="0"/>
              </a:spcBef>
              <a:buFont typeface="Wingdings" panose="05000000000000000000" charset="0"/>
              <a:buChar char="n"/>
            </a:pPr>
            <a:r>
              <a:rPr lang="zh-CN" altLang="en-US" sz="2400" strike="noStrike" noProof="1">
                <a:effectLst/>
                <a:latin typeface="微软雅黑" panose="020B0503020204020204" pitchFamily="34" charset="-122"/>
                <a:ea typeface="微软雅黑" panose="020B0503020204020204" pitchFamily="34" charset="-122"/>
                <a:cs typeface="微软雅黑" panose="020B0503020204020204" pitchFamily="34" charset="-122"/>
              </a:rPr>
              <a:t>当使用</a:t>
            </a:r>
            <a:r>
              <a:rPr lang="en-US" altLang="zh-CN" sz="2400" strike="noStrike" noProof="1">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strike="noStrike" noProof="1">
                <a:effectLst/>
                <a:latin typeface="微软雅黑" panose="020B0503020204020204" pitchFamily="34" charset="-122"/>
                <a:ea typeface="微软雅黑" panose="020B0503020204020204" pitchFamily="34" charset="-122"/>
                <a:cs typeface="微软雅黑" panose="020B0503020204020204" pitchFamily="34" charset="-122"/>
              </a:rPr>
              <a:t>运算符将</a:t>
            </a:r>
            <a:r>
              <a:rPr lang="zh-CN" altLang="en-US" sz="2400" strike="noStrike" noProof="1">
                <a:solidFill>
                  <a:schemeClr val="accent1"/>
                </a:solidFill>
                <a:effectLst/>
                <a:latin typeface="微软雅黑" panose="020B0503020204020204" pitchFamily="34" charset="-122"/>
                <a:ea typeface="微软雅黑" panose="020B0503020204020204" pitchFamily="34" charset="-122"/>
                <a:cs typeface="微软雅黑" panose="020B0503020204020204" pitchFamily="34" charset="-122"/>
              </a:rPr>
              <a:t>包含列表的列表</a:t>
            </a:r>
            <a:r>
              <a:rPr lang="zh-CN" altLang="en-US" sz="2400" strike="noStrike" noProof="1">
                <a:effectLst/>
                <a:latin typeface="微软雅黑" panose="020B0503020204020204" pitchFamily="34" charset="-122"/>
                <a:ea typeface="微软雅黑" panose="020B0503020204020204" pitchFamily="34" charset="-122"/>
                <a:cs typeface="微软雅黑" panose="020B0503020204020204" pitchFamily="34" charset="-122"/>
              </a:rPr>
              <a:t>重复并创建新列表时，并不是复制子列表值，而是</a:t>
            </a:r>
            <a:r>
              <a:rPr lang="zh-CN" altLang="en-US" sz="2400" strike="noStrike" noProof="1">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rPr>
              <a:t>复制已有元素的引用</a:t>
            </a:r>
            <a:r>
              <a:rPr lang="zh-CN" altLang="en-US" sz="2400" strike="noStrike" noProof="1">
                <a:effectLst/>
                <a:latin typeface="微软雅黑" panose="020B0503020204020204" pitchFamily="34" charset="-122"/>
                <a:ea typeface="微软雅黑" panose="020B0503020204020204" pitchFamily="34" charset="-122"/>
                <a:cs typeface="微软雅黑" panose="020B0503020204020204" pitchFamily="34" charset="-122"/>
              </a:rPr>
              <a:t>。因此，当修改其中一个值时，相应的引用也会被修改。</a:t>
            </a:r>
          </a:p>
          <a:p>
            <a:pPr marL="1905" indent="-344805" fontAlgn="base">
              <a:lnSpc>
                <a:spcPct val="80000"/>
              </a:lnSpc>
              <a:buNone/>
            </a:pPr>
            <a:endParaRPr lang="zh-CN" altLang="en-US" sz="1800" strike="noStrike" noProof="1">
              <a:effectLst/>
              <a:latin typeface="微软雅黑" panose="020B0503020204020204" pitchFamily="34" charset="-122"/>
              <a:ea typeface="微软雅黑" panose="020B0503020204020204" pitchFamily="34" charset="-122"/>
              <a:cs typeface="微软雅黑" panose="020B0503020204020204" pitchFamily="34" charset="-122"/>
            </a:endParaRPr>
          </a:p>
          <a:p>
            <a:pPr marL="1905" indent="-344805" fontAlgn="base">
              <a:lnSpc>
                <a:spcPct val="80000"/>
              </a:lnSpc>
              <a:buNone/>
            </a:pPr>
            <a:r>
              <a:rPr lang="en-US" altLang="zh-CN" sz="1800" strike="noStrike" noProof="1">
                <a:effectLst/>
                <a:latin typeface="微软雅黑" panose="020B0503020204020204" pitchFamily="34" charset="-122"/>
                <a:ea typeface="微软雅黑" panose="020B0503020204020204" pitchFamily="34" charset="-122"/>
                <a:cs typeface="微软雅黑" panose="020B0503020204020204" pitchFamily="34" charset="-122"/>
              </a:rPr>
              <a:t>&gt;&gt;&gt; x = [[None] * 2] * 3</a:t>
            </a:r>
          </a:p>
          <a:p>
            <a:pPr marL="1905" indent="-344805" fontAlgn="base">
              <a:lnSpc>
                <a:spcPct val="80000"/>
              </a:lnSpc>
              <a:buNone/>
            </a:pPr>
            <a:r>
              <a:rPr lang="en-US" altLang="zh-CN" sz="1800" strike="noStrike" noProof="1">
                <a:effectLst/>
                <a:latin typeface="微软雅黑" panose="020B0503020204020204" pitchFamily="34" charset="-122"/>
                <a:ea typeface="微软雅黑" panose="020B0503020204020204" pitchFamily="34" charset="-122"/>
                <a:cs typeface="微软雅黑" panose="020B0503020204020204" pitchFamily="34" charset="-122"/>
              </a:rPr>
              <a:t>&gt;&gt;&gt; x</a:t>
            </a:r>
          </a:p>
          <a:p>
            <a:pPr marL="1905" indent="-344805" fontAlgn="base">
              <a:lnSpc>
                <a:spcPct val="80000"/>
              </a:lnSpc>
              <a:buNone/>
            </a:pPr>
            <a:r>
              <a:rPr lang="en-US" altLang="zh-CN" sz="1800" strike="noStrike" noProof="1">
                <a:solidFill>
                  <a:srgbClr val="00B0F0"/>
                </a:solidFill>
                <a:effectLst/>
                <a:latin typeface="微软雅黑" panose="020B0503020204020204" pitchFamily="34" charset="-122"/>
                <a:ea typeface="微软雅黑" panose="020B0503020204020204" pitchFamily="34" charset="-122"/>
                <a:cs typeface="微软雅黑" panose="020B0503020204020204" pitchFamily="34" charset="-122"/>
              </a:rPr>
              <a:t>[[None, None], [None, None], [None, None]]</a:t>
            </a:r>
          </a:p>
          <a:p>
            <a:pPr marL="1905" indent="-344805" fontAlgn="base">
              <a:lnSpc>
                <a:spcPct val="80000"/>
              </a:lnSpc>
              <a:buNone/>
            </a:pPr>
            <a:r>
              <a:rPr lang="en-US" altLang="zh-CN" sz="1800" strike="noStrike" noProof="1">
                <a:effectLst/>
                <a:latin typeface="微软雅黑" panose="020B0503020204020204" pitchFamily="34" charset="-122"/>
                <a:ea typeface="微软雅黑" panose="020B0503020204020204" pitchFamily="34" charset="-122"/>
                <a:cs typeface="微软雅黑" panose="020B0503020204020204" pitchFamily="34" charset="-122"/>
              </a:rPr>
              <a:t>&gt;&gt;&gt; x[0][0] = 5</a:t>
            </a:r>
          </a:p>
          <a:p>
            <a:pPr marL="1905" indent="-344805" fontAlgn="base">
              <a:lnSpc>
                <a:spcPct val="80000"/>
              </a:lnSpc>
              <a:buNone/>
            </a:pPr>
            <a:r>
              <a:rPr lang="en-US" altLang="zh-CN" sz="1800" strike="noStrike" noProof="1">
                <a:effectLst/>
                <a:latin typeface="微软雅黑" panose="020B0503020204020204" pitchFamily="34" charset="-122"/>
                <a:ea typeface="微软雅黑" panose="020B0503020204020204" pitchFamily="34" charset="-122"/>
                <a:cs typeface="微软雅黑" panose="020B0503020204020204" pitchFamily="34" charset="-122"/>
              </a:rPr>
              <a:t>&gt;&gt;&gt; x</a:t>
            </a:r>
          </a:p>
          <a:p>
            <a:pPr marL="1905" indent="-344805" fontAlgn="base">
              <a:lnSpc>
                <a:spcPct val="80000"/>
              </a:lnSpc>
              <a:buNone/>
            </a:pPr>
            <a:r>
              <a:rPr lang="en-US" altLang="zh-CN" sz="1800" strike="noStrike" noProof="1">
                <a:solidFill>
                  <a:srgbClr val="00B0F0"/>
                </a:solidFill>
                <a:effectLst/>
                <a:latin typeface="微软雅黑" panose="020B0503020204020204" pitchFamily="34" charset="-122"/>
                <a:ea typeface="微软雅黑" panose="020B0503020204020204" pitchFamily="34" charset="-122"/>
                <a:cs typeface="微软雅黑" panose="020B0503020204020204" pitchFamily="34" charset="-122"/>
              </a:rPr>
              <a:t>[[5, None], [5, None], [5, None]]</a:t>
            </a:r>
          </a:p>
          <a:p>
            <a:pPr marL="1905" indent="-344805" fontAlgn="base">
              <a:lnSpc>
                <a:spcPct val="80000"/>
              </a:lnSpc>
              <a:buNone/>
            </a:pPr>
            <a:r>
              <a:rPr lang="en-US" altLang="zh-CN" sz="1800" strike="noStrike" noProof="1">
                <a:effectLst/>
                <a:latin typeface="微软雅黑" panose="020B0503020204020204" pitchFamily="34" charset="-122"/>
                <a:ea typeface="微软雅黑" panose="020B0503020204020204" pitchFamily="34" charset="-122"/>
                <a:cs typeface="微软雅黑" panose="020B0503020204020204" pitchFamily="34" charset="-122"/>
              </a:rPr>
              <a:t>&gt;&gt;&gt; x = [[1,2,3]] * 3</a:t>
            </a:r>
          </a:p>
          <a:p>
            <a:pPr marL="1905" indent="-344805" fontAlgn="base">
              <a:lnSpc>
                <a:spcPct val="80000"/>
              </a:lnSpc>
              <a:buNone/>
            </a:pPr>
            <a:r>
              <a:rPr lang="en-US" altLang="zh-CN" sz="1800" strike="noStrike" noProof="1">
                <a:effectLst/>
                <a:latin typeface="微软雅黑" panose="020B0503020204020204" pitchFamily="34" charset="-122"/>
                <a:ea typeface="微软雅黑" panose="020B0503020204020204" pitchFamily="34" charset="-122"/>
                <a:cs typeface="微软雅黑" panose="020B0503020204020204" pitchFamily="34" charset="-122"/>
              </a:rPr>
              <a:t>&gt;&gt;&gt; x[0][0] = 10</a:t>
            </a:r>
          </a:p>
          <a:p>
            <a:pPr marL="1905" indent="-344805" fontAlgn="base">
              <a:lnSpc>
                <a:spcPct val="80000"/>
              </a:lnSpc>
              <a:buNone/>
            </a:pPr>
            <a:r>
              <a:rPr lang="en-US" altLang="zh-CN" sz="1800" strike="noStrike" noProof="1">
                <a:effectLst/>
                <a:latin typeface="微软雅黑" panose="020B0503020204020204" pitchFamily="34" charset="-122"/>
                <a:ea typeface="微软雅黑" panose="020B0503020204020204" pitchFamily="34" charset="-122"/>
                <a:cs typeface="微软雅黑" panose="020B0503020204020204" pitchFamily="34" charset="-122"/>
              </a:rPr>
              <a:t>&gt;&gt;&gt; x</a:t>
            </a:r>
          </a:p>
          <a:p>
            <a:pPr marL="1905" indent="-344805" fontAlgn="base">
              <a:lnSpc>
                <a:spcPct val="80000"/>
              </a:lnSpc>
              <a:buNone/>
            </a:pPr>
            <a:r>
              <a:rPr lang="en-US" altLang="zh-CN" sz="1800" strike="noStrike" noProof="1">
                <a:solidFill>
                  <a:srgbClr val="00B0F0"/>
                </a:solidFill>
                <a:effectLst/>
                <a:latin typeface="微软雅黑" panose="020B0503020204020204" pitchFamily="34" charset="-122"/>
                <a:ea typeface="微软雅黑" panose="020B0503020204020204" pitchFamily="34" charset="-122"/>
                <a:cs typeface="微软雅黑" panose="020B0503020204020204" pitchFamily="34" charset="-122"/>
              </a:rPr>
              <a:t>[[10, 2, 3], [10, 2, 3], [10, 2, 3]]</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119" y="2819047"/>
            <a:ext cx="6075897" cy="312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wipe(up)">
                                      <p:cBhvr>
                                        <p:cTn id="7" dur="500"/>
                                        <p:tgtEl>
                                          <p:spTgt spid="2867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146"/>
                                        </p:tgtEl>
                                        <p:attrNameLst>
                                          <p:attrName>style.visibility</p:attrName>
                                        </p:attrNameLst>
                                      </p:cBhvr>
                                      <p:to>
                                        <p:strVal val="visible"/>
                                      </p:to>
                                    </p:set>
                                    <p:anim calcmode="lin" valueType="num">
                                      <p:cBhvr additive="base">
                                        <p:cTn id="12" dur="500" fill="hold"/>
                                        <p:tgtEl>
                                          <p:spTgt spid="6146"/>
                                        </p:tgtEl>
                                        <p:attrNameLst>
                                          <p:attrName>ppt_x</p:attrName>
                                        </p:attrNameLst>
                                      </p:cBhvr>
                                      <p:tavLst>
                                        <p:tav tm="0">
                                          <p:val>
                                            <p:strVal val="#ppt_x"/>
                                          </p:val>
                                        </p:tav>
                                        <p:tav tm="100000">
                                          <p:val>
                                            <p:strVal val="#ppt_x"/>
                                          </p:val>
                                        </p:tav>
                                      </p:tavLst>
                                    </p:anim>
                                    <p:anim calcmode="lin" valueType="num">
                                      <p:cBhvr additive="base">
                                        <p:cTn id="13"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p:bldP spid="28675"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AD03F-6F33-4412-B3DD-4DA4874E78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FC17BB-6DE2-513D-A348-055A4ADD26A7}"/>
              </a:ext>
            </a:extLst>
          </p:cNvPr>
          <p:cNvSpPr>
            <a:spLocks noGrp="1"/>
          </p:cNvSpPr>
          <p:nvPr>
            <p:ph type="title"/>
          </p:nvPr>
        </p:nvSpPr>
        <p:spPr>
          <a:xfrm>
            <a:off x="643499" y="961828"/>
            <a:ext cx="7571947" cy="508386"/>
          </a:xfrm>
        </p:spPr>
        <p:txBody>
          <a:bodyPr vert="horz" wrap="square" lIns="91456" tIns="45728" rIns="91456" bIns="45728" numCol="1" anchor="b" anchorCtr="0" compatLnSpc="1"/>
          <a:lstStyle/>
          <a:p>
            <a:pPr algn="l" defTabSz="914400" eaLnBrk="0" fontAlgn="base" hangingPunct="0">
              <a:lnSpc>
                <a:spcPct val="90000"/>
              </a:lnSpc>
              <a:spcAft>
                <a:spcPct val="0"/>
              </a:spcAft>
              <a:defRPr/>
            </a:pPr>
            <a:r>
              <a:rPr lang="zh-CN" altLang="e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扩展</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：内存预分配与扩展机制</a:t>
            </a:r>
          </a:p>
        </p:txBody>
      </p:sp>
      <p:sp>
        <p:nvSpPr>
          <p:cNvPr id="7" name="标题 1">
            <a:extLst>
              <a:ext uri="{FF2B5EF4-FFF2-40B4-BE49-F238E27FC236}">
                <a16:creationId xmlns:a16="http://schemas.microsoft.com/office/drawing/2014/main" id="{CEBD4731-8EC0-1AA4-C0C7-36923305FFF4}"/>
              </a:ext>
            </a:extLst>
          </p:cNvPr>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13315" name="文本占位符 13314">
            <a:extLst>
              <a:ext uri="{FF2B5EF4-FFF2-40B4-BE49-F238E27FC236}">
                <a16:creationId xmlns:a16="http://schemas.microsoft.com/office/drawing/2014/main" id="{08A75171-AD64-7B22-A256-273BDE9EED0F}"/>
              </a:ext>
            </a:extLst>
          </p:cNvPr>
          <p:cNvSpPr>
            <a:spLocks noGrp="1"/>
          </p:cNvSpPr>
          <p:nvPr/>
        </p:nvSpPr>
        <p:spPr>
          <a:xfrm>
            <a:off x="706755" y="1640205"/>
            <a:ext cx="11193780"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rgbClr val="000000"/>
                </a:solidFill>
                <a:latin typeface="Arial" panose="020B0604020202020204" pitchFamily="34" charset="0"/>
                <a:ea typeface="宋体" panose="02010600030101010101" pitchFamily="2" charset="-122"/>
                <a:cs typeface="+mn-ea"/>
              </a:defRPr>
            </a:lvl1pPr>
            <a:lvl2pPr marL="742950" lvl="1" indent="-285750" algn="l" defTabSz="914400" eaLnBrk="0" fontAlgn="base" latinLnBrk="0" hangingPunct="0">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cs typeface="+mn-ea"/>
              </a:defRPr>
            </a:lvl2pPr>
            <a:lvl3pPr marL="1143000" lvl="2" indent="-228600" algn="l" defTabSz="914400" eaLnBrk="0" fontAlgn="base" latinLnBrk="0" hangingPunct="0">
              <a:spcBef>
                <a:spcPct val="20000"/>
              </a:spcBef>
              <a:spcAft>
                <a:spcPct val="0"/>
              </a:spcAft>
              <a:buChar char="•"/>
              <a:defRPr sz="2400" b="0" i="0" u="none" kern="1200" baseline="0">
                <a:solidFill>
                  <a:srgbClr val="000000"/>
                </a:solidFill>
                <a:latin typeface="Arial" panose="020B0604020202020204" pitchFamily="34" charset="0"/>
                <a:ea typeface="宋体" panose="02010600030101010101" pitchFamily="2" charset="-122"/>
                <a:cs typeface="+mn-ea"/>
              </a:defRPr>
            </a:lvl3pPr>
            <a:lvl4pPr marL="1600200" lvl="3"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4pPr>
            <a:lvl5pPr marL="2057400" lvl="4"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5pPr>
            <a:lvl6pPr marL="2514600" lvl="5"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6pPr>
            <a:lvl7pPr marL="2971800" lvl="6"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7pPr>
            <a:lvl8pPr marL="3429000" lvl="7"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8pPr>
            <a:lvl9pPr marL="3886200" lvl="8"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9pPr>
          </a:lstStyle>
          <a:p>
            <a:pPr>
              <a:spcBef>
                <a:spcPts val="600"/>
              </a:spcBef>
              <a:spcAft>
                <a:spcPts val="600"/>
              </a:spcAft>
              <a:buSzPct val="90000"/>
              <a:buFont typeface="Wingdings" panose="05000000000000000000" charset="0"/>
              <a:buChar char="§"/>
            </a:pPr>
            <a:r>
              <a:rPr lang="en" altLang="zh-CN" sz="2000" noProof="1">
                <a:latin typeface="微软雅黑" panose="020B0503020204020204" pitchFamily="34" charset="-122"/>
                <a:ea typeface="微软雅黑" panose="020B0503020204020204" pitchFamily="34" charset="-122"/>
              </a:rPr>
              <a:t>Python </a:t>
            </a:r>
            <a:r>
              <a:rPr lang="zh-CN" altLang="en-US" sz="2000" noProof="1">
                <a:latin typeface="微软雅黑" panose="020B0503020204020204" pitchFamily="34" charset="-122"/>
                <a:ea typeface="微软雅黑" panose="020B0503020204020204" pitchFamily="34" charset="-122"/>
              </a:rPr>
              <a:t>列表在创建时会预先分配额外的空间，以避免频繁的内存分配操作</a:t>
            </a:r>
          </a:p>
          <a:p>
            <a:pPr>
              <a:spcBef>
                <a:spcPts val="600"/>
              </a:spcBef>
              <a:spcAft>
                <a:spcPts val="600"/>
              </a:spcAft>
              <a:buSzPct val="90000"/>
              <a:buFont typeface="Wingdings" panose="05000000000000000000" charset="0"/>
              <a:buChar char="§"/>
            </a:pPr>
            <a:r>
              <a:rPr lang="zh-CN" altLang="en-US" sz="2000" noProof="1">
                <a:latin typeface="微软雅黑" panose="020B0503020204020204" pitchFamily="34" charset="-122"/>
                <a:ea typeface="微软雅黑" panose="020B0503020204020204" pitchFamily="34" charset="-122"/>
              </a:rPr>
              <a:t>例如，当你向列表添加元素时，</a:t>
            </a:r>
            <a:r>
              <a:rPr lang="en" altLang="zh-CN" sz="2000" noProof="1">
                <a:latin typeface="微软雅黑" panose="020B0503020204020204" pitchFamily="34" charset="-122"/>
                <a:ea typeface="微软雅黑" panose="020B0503020204020204" pitchFamily="34" charset="-122"/>
              </a:rPr>
              <a:t>Python </a:t>
            </a:r>
            <a:r>
              <a:rPr lang="zh-CN" altLang="en-US" sz="2000" noProof="1">
                <a:latin typeface="微软雅黑" panose="020B0503020204020204" pitchFamily="34" charset="-122"/>
                <a:ea typeface="微软雅黑" panose="020B0503020204020204" pitchFamily="34" charset="-122"/>
              </a:rPr>
              <a:t>不会每次都重新分配内存，而是预留一些额外空间。这种机制可以大幅提升性能。</a:t>
            </a:r>
            <a:endParaRPr lang="en-US" altLang="zh-CN" sz="2000" noProof="1">
              <a:latin typeface="微软雅黑" panose="020B0503020204020204" pitchFamily="34" charset="-122"/>
              <a:ea typeface="微软雅黑" panose="020B0503020204020204" pitchFamily="34" charset="-122"/>
            </a:endParaRP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import sys</a:t>
            </a: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my_list = []</a:t>
            </a: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print(sys.getsizeof(my_list))  # </a:t>
            </a:r>
            <a:r>
              <a:rPr lang="zh-CN" altLang="en-US" sz="1600" noProof="1">
                <a:latin typeface="微软雅黑" panose="020B0503020204020204" pitchFamily="34" charset="-122"/>
                <a:ea typeface="微软雅黑" panose="020B0503020204020204" pitchFamily="34" charset="-122"/>
              </a:rPr>
              <a:t>查看空列表的内存大小</a:t>
            </a: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for i in range(5):</a:t>
            </a: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    my_list.append(i)</a:t>
            </a: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    print(sys.getsizeof(my_list))  # </a:t>
            </a:r>
            <a:r>
              <a:rPr lang="zh-CN" altLang="en-US" sz="1600" noProof="1">
                <a:latin typeface="微软雅黑" panose="020B0503020204020204" pitchFamily="34" charset="-122"/>
                <a:ea typeface="微软雅黑" panose="020B0503020204020204" pitchFamily="34" charset="-122"/>
              </a:rPr>
              <a:t>查看每次添加后的内存大小</a:t>
            </a:r>
            <a:endParaRPr lang="en-US" altLang="zh-CN" sz="1600" noProof="1">
              <a:latin typeface="微软雅黑" panose="020B0503020204020204" pitchFamily="34" charset="-122"/>
              <a:ea typeface="微软雅黑" panose="020B0503020204020204" pitchFamily="34" charset="-122"/>
            </a:endParaRPr>
          </a:p>
          <a:p>
            <a:pPr>
              <a:spcBef>
                <a:spcPts val="600"/>
              </a:spcBef>
              <a:spcAft>
                <a:spcPts val="600"/>
              </a:spcAft>
              <a:buSzPct val="90000"/>
              <a:buFont typeface="Wingdings" panose="05000000000000000000" charset="0"/>
              <a:buChar char="§"/>
            </a:pPr>
            <a:r>
              <a:rPr lang="zh-CN" altLang="en-US" sz="2000" dirty="0">
                <a:latin typeface="微软雅黑" panose="020B0503020204020204" pitchFamily="34" charset="-122"/>
                <a:ea typeface="微软雅黑" panose="020B0503020204020204" pitchFamily="34" charset="-122"/>
              </a:rPr>
              <a:t>输出结果会显示，随着元素增加，列表的内存大小并不是线性增长，而是跳跃式增长。这是因为 </a:t>
            </a:r>
            <a:r>
              <a:rPr lang="en" altLang="zh-CN" sz="2000" dirty="0">
                <a:latin typeface="微软雅黑" panose="020B0503020204020204" pitchFamily="34" charset="-122"/>
                <a:ea typeface="微软雅黑" panose="020B0503020204020204" pitchFamily="34" charset="-122"/>
              </a:rPr>
              <a:t>Python </a:t>
            </a:r>
            <a:r>
              <a:rPr lang="zh-CN" altLang="en-US" sz="2000" dirty="0">
                <a:latin typeface="微软雅黑" panose="020B0503020204020204" pitchFamily="34" charset="-122"/>
                <a:ea typeface="微软雅黑" panose="020B0503020204020204" pitchFamily="34" charset="-122"/>
              </a:rPr>
              <a:t>提前预留了空间！</a:t>
            </a:r>
            <a:br>
              <a:rPr lang="zh-CN" altLang="en-US" sz="2000" dirty="0">
                <a:latin typeface="微软雅黑" panose="020B0503020204020204" pitchFamily="34" charset="-122"/>
                <a:ea typeface="微软雅黑" panose="020B0503020204020204" pitchFamily="34" charset="-122"/>
              </a:rPr>
            </a:br>
            <a:endParaRPr lang="zh-CN" altLang="en-US" sz="2000" noProof="1">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78324975"/>
      </p:ext>
    </p:extLst>
  </p:cSld>
  <p:clrMapOvr>
    <a:masterClrMapping/>
  </p:clrMapOvr>
  <p:transition spd="slow" advTm="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3240E-A5BF-6B51-3A5D-A2429B32CD3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0A1F04B-AD18-D77D-6FCB-E04D17EE70C9}"/>
              </a:ext>
            </a:extLst>
          </p:cNvPr>
          <p:cNvSpPr>
            <a:spLocks noGrp="1"/>
          </p:cNvSpPr>
          <p:nvPr>
            <p:ph type="title"/>
          </p:nvPr>
        </p:nvSpPr>
        <p:spPr>
          <a:xfrm>
            <a:off x="643499" y="961828"/>
            <a:ext cx="7571947" cy="508386"/>
          </a:xfrm>
        </p:spPr>
        <p:txBody>
          <a:bodyPr vert="horz" wrap="square" lIns="91456" tIns="45728" rIns="91456" bIns="45728" numCol="1" anchor="b" anchorCtr="0" compatLnSpc="1"/>
          <a:lstStyle/>
          <a:p>
            <a:pPr algn="l" defTabSz="914400" eaLnBrk="0" fontAlgn="base" hangingPunct="0">
              <a:lnSpc>
                <a:spcPct val="90000"/>
              </a:lnSpc>
              <a:spcAft>
                <a:spcPct val="0"/>
              </a:spcAft>
              <a:defRPr/>
            </a:pPr>
            <a:r>
              <a:rPr lang="zh-CN" altLang="e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扩展</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：列表扩容机制</a:t>
            </a:r>
          </a:p>
        </p:txBody>
      </p:sp>
      <p:sp>
        <p:nvSpPr>
          <p:cNvPr id="7" name="标题 1">
            <a:extLst>
              <a:ext uri="{FF2B5EF4-FFF2-40B4-BE49-F238E27FC236}">
                <a16:creationId xmlns:a16="http://schemas.microsoft.com/office/drawing/2014/main" id="{8A30A578-1EAF-21B0-F8A0-911D908A0965}"/>
              </a:ext>
            </a:extLst>
          </p:cNvPr>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13315" name="文本占位符 13314">
            <a:extLst>
              <a:ext uri="{FF2B5EF4-FFF2-40B4-BE49-F238E27FC236}">
                <a16:creationId xmlns:a16="http://schemas.microsoft.com/office/drawing/2014/main" id="{677193AD-59C5-2A07-D6AD-C61422906A18}"/>
              </a:ext>
            </a:extLst>
          </p:cNvPr>
          <p:cNvSpPr>
            <a:spLocks noGrp="1"/>
          </p:cNvSpPr>
          <p:nvPr/>
        </p:nvSpPr>
        <p:spPr>
          <a:xfrm>
            <a:off x="706755" y="1640205"/>
            <a:ext cx="11193780"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rgbClr val="000000"/>
                </a:solidFill>
                <a:latin typeface="Arial" panose="020B0604020202020204" pitchFamily="34" charset="0"/>
                <a:ea typeface="宋体" panose="02010600030101010101" pitchFamily="2" charset="-122"/>
                <a:cs typeface="+mn-ea"/>
              </a:defRPr>
            </a:lvl1pPr>
            <a:lvl2pPr marL="742950" lvl="1" indent="-285750" algn="l" defTabSz="914400" eaLnBrk="0" fontAlgn="base" latinLnBrk="0" hangingPunct="0">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cs typeface="+mn-ea"/>
              </a:defRPr>
            </a:lvl2pPr>
            <a:lvl3pPr marL="1143000" lvl="2" indent="-228600" algn="l" defTabSz="914400" eaLnBrk="0" fontAlgn="base" latinLnBrk="0" hangingPunct="0">
              <a:spcBef>
                <a:spcPct val="20000"/>
              </a:spcBef>
              <a:spcAft>
                <a:spcPct val="0"/>
              </a:spcAft>
              <a:buChar char="•"/>
              <a:defRPr sz="2400" b="0" i="0" u="none" kern="1200" baseline="0">
                <a:solidFill>
                  <a:srgbClr val="000000"/>
                </a:solidFill>
                <a:latin typeface="Arial" panose="020B0604020202020204" pitchFamily="34" charset="0"/>
                <a:ea typeface="宋体" panose="02010600030101010101" pitchFamily="2" charset="-122"/>
                <a:cs typeface="+mn-ea"/>
              </a:defRPr>
            </a:lvl3pPr>
            <a:lvl4pPr marL="1600200" lvl="3"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4pPr>
            <a:lvl5pPr marL="2057400" lvl="4"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5pPr>
            <a:lvl6pPr marL="2514600" lvl="5"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6pPr>
            <a:lvl7pPr marL="2971800" lvl="6"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7pPr>
            <a:lvl8pPr marL="3429000" lvl="7"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8pPr>
            <a:lvl9pPr marL="3886200" lvl="8" indent="-228600" algn="l" defTabSz="914400" eaLnBrk="0" fontAlgn="base" latinLnBrk="0" hangingPunct="0">
              <a:spcBef>
                <a:spcPct val="20000"/>
              </a:spcBef>
              <a:spcAft>
                <a:spcPct val="0"/>
              </a:spcAft>
              <a:buChar char="»"/>
              <a:defRPr sz="2000" b="0" i="0" u="none" kern="1200" baseline="0">
                <a:solidFill>
                  <a:srgbClr val="000000"/>
                </a:solidFill>
                <a:latin typeface="Arial" panose="020B0604020202020204" pitchFamily="34" charset="0"/>
                <a:ea typeface="宋体" panose="02010600030101010101" pitchFamily="2" charset="-122"/>
                <a:cs typeface="+mn-ea"/>
              </a:defRPr>
            </a:lvl9pPr>
          </a:lstStyle>
          <a:p>
            <a:pPr>
              <a:spcBef>
                <a:spcPts val="600"/>
              </a:spcBef>
              <a:spcAft>
                <a:spcPts val="600"/>
              </a:spcAft>
              <a:buSzPct val="90000"/>
              <a:buFont typeface="Wingdings" panose="05000000000000000000" charset="0"/>
              <a:buChar char="§"/>
            </a:pPr>
            <a:r>
              <a:rPr lang="en" altLang="zh-CN" sz="2000" noProof="1">
                <a:latin typeface="微软雅黑" panose="020B0503020204020204" pitchFamily="34" charset="-122"/>
                <a:ea typeface="微软雅黑" panose="020B0503020204020204" pitchFamily="34" charset="-122"/>
              </a:rPr>
              <a:t>Python </a:t>
            </a:r>
            <a:r>
              <a:rPr lang="zh-CN" altLang="en-US" sz="2000" noProof="1">
                <a:latin typeface="微软雅黑" panose="020B0503020204020204" pitchFamily="34" charset="-122"/>
                <a:ea typeface="微软雅黑" panose="020B0503020204020204" pitchFamily="34" charset="-122"/>
              </a:rPr>
              <a:t>列表底层是一个动态数组，当列表空间不足时，会自动扩容。</a:t>
            </a:r>
          </a:p>
          <a:p>
            <a:pPr>
              <a:spcBef>
                <a:spcPts val="600"/>
              </a:spcBef>
              <a:spcAft>
                <a:spcPts val="600"/>
              </a:spcAft>
              <a:buSzPct val="90000"/>
              <a:buFont typeface="Wingdings" panose="05000000000000000000" charset="0"/>
              <a:buChar char="§"/>
            </a:pPr>
            <a:r>
              <a:rPr lang="zh-CN" altLang="en-US" sz="2000" noProof="1">
                <a:latin typeface="微软雅黑" panose="020B0503020204020204" pitchFamily="34" charset="-122"/>
                <a:ea typeface="微软雅黑" panose="020B0503020204020204" pitchFamily="34" charset="-122"/>
              </a:rPr>
              <a:t>扩容并不是简单地增加一个单位，而是以“倍增”的方式扩展！来看个例子：</a:t>
            </a:r>
            <a:endParaRPr lang="en-US" altLang="zh-CN" sz="2000" noProof="1">
              <a:latin typeface="微软雅黑" panose="020B0503020204020204" pitchFamily="34" charset="-122"/>
              <a:ea typeface="微软雅黑" panose="020B0503020204020204" pitchFamily="34" charset="-122"/>
            </a:endParaRP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import sys</a:t>
            </a: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lst = []</a:t>
            </a: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print("</a:t>
            </a:r>
            <a:r>
              <a:rPr lang="zh-CN" altLang="en-US" sz="1600" noProof="1">
                <a:latin typeface="微软雅黑" panose="020B0503020204020204" pitchFamily="34" charset="-122"/>
                <a:ea typeface="微软雅黑" panose="020B0503020204020204" pitchFamily="34" charset="-122"/>
              </a:rPr>
              <a:t>初始大小：</a:t>
            </a:r>
            <a:r>
              <a:rPr lang="en-US" altLang="zh-CN" sz="1600" noProof="1">
                <a:latin typeface="微软雅黑" panose="020B0503020204020204" pitchFamily="34" charset="-122"/>
                <a:ea typeface="微软雅黑" panose="020B0503020204020204" pitchFamily="34" charset="-122"/>
              </a:rPr>
              <a:t>", sys.getsizeof(lst))  # </a:t>
            </a:r>
            <a:r>
              <a:rPr lang="zh-CN" altLang="en-US" sz="1600" noProof="1">
                <a:latin typeface="微软雅黑" panose="020B0503020204020204" pitchFamily="34" charset="-122"/>
                <a:ea typeface="微软雅黑" panose="020B0503020204020204" pitchFamily="34" charset="-122"/>
              </a:rPr>
              <a:t>输出列表的内存大小</a:t>
            </a: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for i in range(10):# </a:t>
            </a:r>
            <a:r>
              <a:rPr lang="zh-CN" altLang="en-US" sz="1600" noProof="1">
                <a:latin typeface="微软雅黑" panose="020B0503020204020204" pitchFamily="34" charset="-122"/>
                <a:ea typeface="微软雅黑" panose="020B0503020204020204" pitchFamily="34" charset="-122"/>
              </a:rPr>
              <a:t>持续添加元素并观察内存变化</a:t>
            </a:r>
            <a:endParaRPr lang="en-US" altLang="zh-CN" sz="1600" noProof="1">
              <a:latin typeface="微软雅黑" panose="020B0503020204020204" pitchFamily="34" charset="-122"/>
              <a:ea typeface="微软雅黑" panose="020B0503020204020204" pitchFamily="34" charset="-122"/>
            </a:endParaRP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    lst.append(i)</a:t>
            </a:r>
          </a:p>
          <a:p>
            <a:pPr marL="400050" lvl="1" indent="0">
              <a:spcBef>
                <a:spcPts val="600"/>
              </a:spcBef>
              <a:spcAft>
                <a:spcPts val="600"/>
              </a:spcAft>
              <a:buSzPct val="90000"/>
              <a:buNone/>
            </a:pPr>
            <a:r>
              <a:rPr lang="en-US" altLang="zh-CN" sz="1600" noProof="1">
                <a:latin typeface="微软雅黑" panose="020B0503020204020204" pitchFamily="34" charset="-122"/>
                <a:ea typeface="微软雅黑" panose="020B0503020204020204" pitchFamily="34" charset="-122"/>
              </a:rPr>
              <a:t>    print(f"</a:t>
            </a:r>
            <a:r>
              <a:rPr lang="zh-CN" altLang="en-US" sz="1600" noProof="1">
                <a:latin typeface="微软雅黑" panose="020B0503020204020204" pitchFamily="34" charset="-122"/>
                <a:ea typeface="微软雅黑" panose="020B0503020204020204" pitchFamily="34" charset="-122"/>
              </a:rPr>
              <a:t>添加 </a:t>
            </a:r>
            <a:r>
              <a:rPr lang="en-US" altLang="zh-CN" sz="1600" noProof="1">
                <a:latin typeface="微软雅黑" panose="020B0503020204020204" pitchFamily="34" charset="-122"/>
                <a:ea typeface="微软雅黑" panose="020B0503020204020204" pitchFamily="34" charset="-122"/>
              </a:rPr>
              <a:t>{i} </a:t>
            </a:r>
            <a:r>
              <a:rPr lang="zh-CN" altLang="en-US" sz="1600" noProof="1">
                <a:latin typeface="微软雅黑" panose="020B0503020204020204" pitchFamily="34" charset="-122"/>
                <a:ea typeface="微软雅黑" panose="020B0503020204020204" pitchFamily="34" charset="-122"/>
              </a:rPr>
              <a:t>后大小：</a:t>
            </a:r>
            <a:r>
              <a:rPr lang="en-US" altLang="zh-CN" sz="1600" noProof="1">
                <a:latin typeface="微软雅黑" panose="020B0503020204020204" pitchFamily="34" charset="-122"/>
                <a:ea typeface="微软雅黑" panose="020B0503020204020204" pitchFamily="34" charset="-122"/>
              </a:rPr>
              <a:t>", sys.getsizeof(lst))</a:t>
            </a:r>
          </a:p>
          <a:p>
            <a:pPr>
              <a:spcBef>
                <a:spcPts val="600"/>
              </a:spcBef>
              <a:spcAft>
                <a:spcPts val="600"/>
              </a:spcAft>
              <a:buSzPct val="90000"/>
              <a:buFont typeface="Wingdings" panose="05000000000000000000" charset="0"/>
              <a:buChar char="§"/>
            </a:pPr>
            <a:r>
              <a:rPr lang="zh-CN" altLang="en-US" sz="2000" noProof="1">
                <a:latin typeface="微软雅黑" panose="020B0503020204020204" pitchFamily="34" charset="-122"/>
                <a:ea typeface="微软雅黑" panose="020B0503020204020204" pitchFamily="34" charset="-122"/>
              </a:rPr>
              <a:t>初始时，空列表占用固定内存（如</a:t>
            </a:r>
            <a:r>
              <a:rPr lang="en-US" altLang="zh-CN" sz="2000" noProof="1">
                <a:latin typeface="微软雅黑" panose="020B0503020204020204" pitchFamily="34" charset="-122"/>
                <a:ea typeface="微软雅黑" panose="020B0503020204020204" pitchFamily="34" charset="-122"/>
              </a:rPr>
              <a:t>56</a:t>
            </a:r>
            <a:r>
              <a:rPr lang="zh-CN" altLang="en-US" sz="2000" noProof="1">
                <a:latin typeface="微软雅黑" panose="020B0503020204020204" pitchFamily="34" charset="-122"/>
                <a:ea typeface="微软雅黑" panose="020B0503020204020204" pitchFamily="34" charset="-122"/>
              </a:rPr>
              <a:t>字节）。</a:t>
            </a:r>
          </a:p>
          <a:p>
            <a:pPr>
              <a:spcBef>
                <a:spcPts val="600"/>
              </a:spcBef>
              <a:spcAft>
                <a:spcPts val="600"/>
              </a:spcAft>
              <a:buSzPct val="90000"/>
              <a:buFont typeface="Wingdings" panose="05000000000000000000" charset="0"/>
              <a:buChar char="§"/>
            </a:pPr>
            <a:r>
              <a:rPr lang="zh-CN" altLang="en-US" sz="2000" noProof="1">
                <a:latin typeface="微软雅黑" panose="020B0503020204020204" pitchFamily="34" charset="-122"/>
                <a:ea typeface="微软雅黑" panose="020B0503020204020204" pitchFamily="34" charset="-122"/>
              </a:rPr>
              <a:t>添加元素后，内存并非每次增长，而是达到一定阈值时一次性扩容（如从</a:t>
            </a:r>
            <a:r>
              <a:rPr lang="en-US" altLang="zh-CN" sz="2000" noProof="1">
                <a:latin typeface="微软雅黑" panose="020B0503020204020204" pitchFamily="34" charset="-122"/>
                <a:ea typeface="微软雅黑" panose="020B0503020204020204" pitchFamily="34" charset="-122"/>
              </a:rPr>
              <a:t>96</a:t>
            </a:r>
            <a:r>
              <a:rPr lang="zh-CN" altLang="en-US" sz="2000" noProof="1">
                <a:latin typeface="微软雅黑" panose="020B0503020204020204" pitchFamily="34" charset="-122"/>
                <a:ea typeface="微软雅黑" panose="020B0503020204020204" pitchFamily="34" charset="-122"/>
              </a:rPr>
              <a:t>到</a:t>
            </a:r>
            <a:r>
              <a:rPr lang="en-US" altLang="zh-CN" sz="2000" noProof="1">
                <a:latin typeface="微软雅黑" panose="020B0503020204020204" pitchFamily="34" charset="-122"/>
                <a:ea typeface="微软雅黑" panose="020B0503020204020204" pitchFamily="34" charset="-122"/>
              </a:rPr>
              <a:t>128</a:t>
            </a:r>
            <a:r>
              <a:rPr lang="zh-CN" altLang="en-US" sz="2000" noProof="1">
                <a:latin typeface="微软雅黑" panose="020B0503020204020204" pitchFamily="34" charset="-122"/>
                <a:ea typeface="微软雅黑" panose="020B0503020204020204" pitchFamily="34" charset="-122"/>
              </a:rPr>
              <a:t>字节）。</a:t>
            </a:r>
          </a:p>
          <a:p>
            <a:pPr>
              <a:spcBef>
                <a:spcPts val="600"/>
              </a:spcBef>
              <a:spcAft>
                <a:spcPts val="600"/>
              </a:spcAft>
              <a:buSzPct val="90000"/>
              <a:buFont typeface="Wingdings" panose="05000000000000000000" charset="0"/>
              <a:buChar char="§"/>
            </a:pPr>
            <a:r>
              <a:rPr lang="zh-CN" altLang="en-US" sz="2000" noProof="1">
                <a:latin typeface="微软雅黑" panose="020B0503020204020204" pitchFamily="34" charset="-122"/>
                <a:ea typeface="微软雅黑" panose="020B0503020204020204" pitchFamily="34" charset="-122"/>
              </a:rPr>
              <a:t>这种倍增策略减少了频繁分配内存的开销，但可能导致部分内存浪费。</a:t>
            </a:r>
          </a:p>
        </p:txBody>
      </p:sp>
    </p:spTree>
    <p:extLst>
      <p:ext uri="{BB962C8B-B14F-4D97-AF65-F5344CB8AC3E}">
        <p14:creationId xmlns:p14="http://schemas.microsoft.com/office/powerpoint/2010/main" val="1952033017"/>
      </p:ext>
    </p:extLst>
  </p:cSld>
  <p:clrMapOvr>
    <a:masterClrMapping/>
  </p:clrMapOvr>
  <p:transition spd="slow" advTm="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75080" y="981075"/>
            <a:ext cx="9758680" cy="2143125"/>
          </a:xfrm>
          <a:prstGeom prst="rect">
            <a:avLst/>
          </a:prstGeom>
          <a:noFill/>
        </p:spPr>
        <p:txBody>
          <a:bodyPr wrap="square" rtlCol="0" anchor="ctr" anchorCtr="0">
            <a:noAutofit/>
          </a:bodyPr>
          <a:lstStyle/>
          <a:p>
            <a:pPr lvl="0" algn="l">
              <a:lnSpc>
                <a:spcPct val="140000"/>
              </a:lnSpc>
              <a:buNone/>
            </a:pPr>
            <a:r>
              <a:rPr lang="en-US" altLang="zh-CN" sz="2600" dirty="0">
                <a:solidFill>
                  <a:srgbClr val="000000"/>
                </a:solidFill>
                <a:latin typeface="微软雅黑" panose="020B0503020204020204" pitchFamily="34" charset="-122"/>
                <a:ea typeface="微软雅黑" panose="020B0503020204020204" pitchFamily="34" charset="-122"/>
              </a:rPr>
              <a:t>1</a:t>
            </a:r>
            <a:r>
              <a:rPr lang="zh-CN" altLang="en-US" sz="2600" dirty="0">
                <a:solidFill>
                  <a:srgbClr val="000000"/>
                </a:solidFill>
                <a:latin typeface="微软雅黑" panose="020B0503020204020204" pitchFamily="34" charset="-122"/>
                <a:ea typeface="微软雅黑" panose="020B0503020204020204" pitchFamily="34" charset="-122"/>
              </a:rPr>
              <a:t>、分析以下代码，其输出结果为（</a:t>
            </a:r>
            <a:r>
              <a:rPr lang="en-US" altLang="zh-CN" sz="2600" dirty="0">
                <a:solidFill>
                  <a:srgbClr val="000000"/>
                </a:solidFill>
                <a:latin typeface="微软雅黑" panose="020B0503020204020204" pitchFamily="34" charset="-122"/>
                <a:ea typeface="微软雅黑" panose="020B0503020204020204" pitchFamily="34" charset="-122"/>
              </a:rPr>
              <a:t>  </a:t>
            </a:r>
            <a:r>
              <a:rPr lang="zh-CN" altLang="en-US" sz="2600" dirty="0">
                <a:solidFill>
                  <a:srgbClr val="000000"/>
                </a:solidFill>
                <a:latin typeface="微软雅黑" panose="020B0503020204020204" pitchFamily="34" charset="-122"/>
                <a:ea typeface="微软雅黑" panose="020B0503020204020204" pitchFamily="34" charset="-122"/>
              </a:rPr>
              <a:t>）</a:t>
            </a:r>
          </a:p>
          <a:p>
            <a:pPr lvl="0" algn="l">
              <a:lnSpc>
                <a:spcPct val="140000"/>
              </a:lnSpc>
              <a:buNone/>
            </a:pPr>
            <a:r>
              <a:rPr lang="zh-CN" altLang="en-US" sz="2600" dirty="0">
                <a:solidFill>
                  <a:srgbClr val="000000"/>
                </a:solidFill>
                <a:latin typeface="微软雅黑" panose="020B0503020204020204" pitchFamily="34" charset="-122"/>
                <a:ea typeface="微软雅黑" panose="020B0503020204020204" pitchFamily="34" charset="-122"/>
              </a:rPr>
              <a:t>a = [1]*3</a:t>
            </a:r>
          </a:p>
          <a:p>
            <a:pPr lvl="0" algn="l">
              <a:lnSpc>
                <a:spcPct val="140000"/>
              </a:lnSpc>
              <a:buNone/>
            </a:pPr>
            <a:r>
              <a:rPr lang="zh-CN" altLang="en-US" sz="2600" dirty="0">
                <a:solidFill>
                  <a:srgbClr val="000000"/>
                </a:solidFill>
                <a:latin typeface="微软雅黑" panose="020B0503020204020204" pitchFamily="34" charset="-122"/>
                <a:ea typeface="微软雅黑" panose="020B0503020204020204" pitchFamily="34" charset="-122"/>
              </a:rPr>
              <a:t>a[0] = 5 </a:t>
            </a:r>
          </a:p>
          <a:p>
            <a:pPr lvl="0" algn="l">
              <a:lnSpc>
                <a:spcPct val="140000"/>
              </a:lnSpc>
              <a:buNone/>
            </a:pPr>
            <a:r>
              <a:rPr lang="zh-CN" altLang="en-US" sz="2600" dirty="0">
                <a:solidFill>
                  <a:srgbClr val="000000"/>
                </a:solidFill>
                <a:latin typeface="微软雅黑" panose="020B0503020204020204" pitchFamily="34" charset="-122"/>
                <a:ea typeface="微软雅黑" panose="020B0503020204020204" pitchFamily="34" charset="-122"/>
              </a:rPr>
              <a:t>print(a) </a:t>
            </a:r>
          </a:p>
        </p:txBody>
      </p:sp>
      <p:sp>
        <p:nvSpPr>
          <p:cNvPr id="4" name="文本框 3"/>
          <p:cNvSpPr txBox="1"/>
          <p:nvPr>
            <p:custDataLst>
              <p:tags r:id="rId3"/>
            </p:custDataLst>
          </p:nvPr>
        </p:nvSpPr>
        <p:spPr>
          <a:xfrm>
            <a:off x="2426970" y="3424555"/>
            <a:ext cx="853821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pitchFamily="34" charset="-122"/>
                <a:ea typeface="微软雅黑" panose="020B0503020204020204" pitchFamily="34" charset="-122"/>
              </a:rPr>
              <a:t>[1,1,1]</a:t>
            </a:r>
          </a:p>
        </p:txBody>
      </p:sp>
      <p:sp>
        <p:nvSpPr>
          <p:cNvPr id="5" name="文本框 4"/>
          <p:cNvSpPr txBox="1"/>
          <p:nvPr>
            <p:custDataLst>
              <p:tags r:id="rId4"/>
            </p:custDataLst>
          </p:nvPr>
        </p:nvSpPr>
        <p:spPr>
          <a:xfrm>
            <a:off x="2439670" y="4217670"/>
            <a:ext cx="853821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pitchFamily="34" charset="-122"/>
                <a:ea typeface="微软雅黑" panose="020B0503020204020204" pitchFamily="34" charset="-122"/>
              </a:rPr>
              <a:t>[5,1,1]</a:t>
            </a:r>
          </a:p>
        </p:txBody>
      </p:sp>
      <p:sp>
        <p:nvSpPr>
          <p:cNvPr id="6" name="文本框 5"/>
          <p:cNvSpPr txBox="1"/>
          <p:nvPr>
            <p:custDataLst>
              <p:tags r:id="rId5"/>
            </p:custDataLst>
          </p:nvPr>
        </p:nvSpPr>
        <p:spPr>
          <a:xfrm>
            <a:off x="2439670" y="5074920"/>
            <a:ext cx="8538210" cy="642620"/>
          </a:xfrm>
          <a:prstGeom prst="rect">
            <a:avLst/>
          </a:prstGeom>
          <a:noFill/>
        </p:spPr>
        <p:txBody>
          <a:bodyPr wrap="square" rtlCol="0" anchor="ctr" anchorCtr="0">
            <a:noAutofit/>
          </a:bodyPr>
          <a:lstStyle/>
          <a:p>
            <a:pPr lvl="0" algn="l">
              <a:buNone/>
            </a:pPr>
            <a:r>
              <a:rPr lang="en-US" altLang="zh-CN" sz="2600">
                <a:solidFill>
                  <a:srgbClr val="000000"/>
                </a:solidFill>
                <a:latin typeface="微软雅黑" panose="020B0503020204020204" pitchFamily="34" charset="-122"/>
                <a:ea typeface="微软雅黑" panose="020B0503020204020204" pitchFamily="34" charset="-122"/>
              </a:rPr>
              <a:t>[5,5,5]</a:t>
            </a:r>
          </a:p>
        </p:txBody>
      </p:sp>
      <p:sp>
        <p:nvSpPr>
          <p:cNvPr id="8" name="椭圆 7"/>
          <p:cNvSpPr>
            <a:spLocks noChangeAspect="1"/>
          </p:cNvSpPr>
          <p:nvPr>
            <p:custDataLst>
              <p:tags r:id="rId6"/>
            </p:custDataLst>
          </p:nvPr>
        </p:nvSpPr>
        <p:spPr>
          <a:xfrm>
            <a:off x="1572260" y="3424555"/>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en" altLang="zh-CN"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9" name="椭圆 8"/>
          <p:cNvSpPr>
            <a:spLocks noChangeAspect="1"/>
          </p:cNvSpPr>
          <p:nvPr>
            <p:custDataLst>
              <p:tags r:id="rId7"/>
            </p:custDataLst>
          </p:nvPr>
        </p:nvSpPr>
        <p:spPr>
          <a:xfrm>
            <a:off x="1572260" y="4281805"/>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en" altLang="zh-CN"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0" name="椭圆 9"/>
          <p:cNvSpPr>
            <a:spLocks noChangeAspect="1"/>
          </p:cNvSpPr>
          <p:nvPr>
            <p:custDataLst>
              <p:tags r:id="rId8"/>
            </p:custDataLst>
          </p:nvPr>
        </p:nvSpPr>
        <p:spPr>
          <a:xfrm>
            <a:off x="1572260" y="5139690"/>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en" altLang="zh-CN"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2" name="圆角矩形 11"/>
          <p:cNvSpPr/>
          <p:nvPr>
            <p:custDataLst>
              <p:tags r:id="rId9"/>
            </p:custDataLst>
          </p:nvPr>
        </p:nvSpPr>
        <p:spPr>
          <a:xfrm>
            <a:off x="8920480" y="621601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p>
        </p:txBody>
      </p:sp>
      <p:grpSp>
        <p:nvGrpSpPr>
          <p:cNvPr id="17" name="组合 16"/>
          <p:cNvGrpSpPr/>
          <p:nvPr>
            <p:custDataLst>
              <p:tags r:id="rId10"/>
            </p:custDataLst>
          </p:nvPr>
        </p:nvGrpSpPr>
        <p:grpSpPr>
          <a:xfrm>
            <a:off x="0" y="0"/>
            <a:ext cx="12198350" cy="635000"/>
            <a:chOff x="14" y="-126"/>
            <a:chExt cx="19210" cy="1000"/>
          </a:xfrm>
        </p:grpSpPr>
        <p:sp>
          <p:nvSpPr>
            <p:cNvPr id="13" name="TitleBackground"/>
            <p:cNvSpPr/>
            <p:nvPr>
              <p:custDataLst>
                <p:tags r:id="rId12"/>
              </p:custDataLst>
            </p:nvPr>
          </p:nvSpPr>
          <p:spPr>
            <a:xfrm>
              <a:off x="14" y="-126"/>
              <a:ext cx="1921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14" y="-126"/>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414" y="-126"/>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p>
          </p:txBody>
        </p:sp>
        <p:sp>
          <p:nvSpPr>
            <p:cNvPr id="16" name="TipText"/>
            <p:cNvSpPr txBox="1"/>
            <p:nvPr>
              <p:custDataLst>
                <p:tags r:id="rId15"/>
              </p:custDataLst>
            </p:nvPr>
          </p:nvSpPr>
          <p:spPr>
            <a:xfrm>
              <a:off x="2417" y="46"/>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p>
          </p:txBody>
        </p:sp>
      </p:grpSp>
      <p:pic>
        <p:nvPicPr>
          <p:cNvPr id="2" name="图片 1" descr="tmp6E5B"/>
          <p:cNvPicPr>
            <a:picLocks noChangeAspect="1"/>
          </p:cNvPicPr>
          <p:nvPr>
            <p:custDataLst>
              <p:tags r:id="rId11"/>
            </p:custDataLst>
          </p:nvPr>
        </p:nvPicPr>
        <p:blipFill>
          <a:blip r:embed="rId17"/>
          <a:stretch>
            <a:fillRect/>
          </a:stretch>
        </p:blipFill>
        <p:spPr>
          <a:xfrm>
            <a:off x="10648950" y="63500"/>
            <a:ext cx="1422400" cy="508000"/>
          </a:xfrm>
          <a:prstGeom prst="rect">
            <a:avLst/>
          </a:prstGeom>
        </p:spPr>
      </p:pic>
    </p:spTree>
    <p:custDataLst>
      <p:tags r:id="rId1"/>
    </p:custDataLst>
  </p:cSld>
  <p:clrMapOvr>
    <a:masterClrMapping/>
  </p:clrMapOvr>
  <p:transition spd="slow" advTm="0">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75080" y="981075"/>
            <a:ext cx="9758680" cy="2143125"/>
          </a:xfrm>
          <a:prstGeom prst="rect">
            <a:avLst/>
          </a:prstGeom>
          <a:noFill/>
        </p:spPr>
        <p:txBody>
          <a:bodyPr wrap="square" rtlCol="0" anchor="ctr" anchorCtr="0">
            <a:noAutofit/>
          </a:bodyPr>
          <a:lstStyle/>
          <a:p>
            <a:pPr lvl="0" algn="l">
              <a:lnSpc>
                <a:spcPct val="140000"/>
              </a:lnSpc>
              <a:buNone/>
            </a:pPr>
            <a:r>
              <a:rPr lang="en-US" altLang="zh-CN" sz="2600" dirty="0">
                <a:solidFill>
                  <a:srgbClr val="000000"/>
                </a:solidFill>
                <a:latin typeface="微软雅黑" panose="020B0503020204020204" pitchFamily="34" charset="-122"/>
                <a:ea typeface="微软雅黑" panose="020B0503020204020204" pitchFamily="34" charset="-122"/>
              </a:rPr>
              <a:t>2</a:t>
            </a:r>
            <a:r>
              <a:rPr lang="zh-CN" altLang="en-US" sz="2600" dirty="0">
                <a:solidFill>
                  <a:srgbClr val="000000"/>
                </a:solidFill>
                <a:latin typeface="微软雅黑" panose="020B0503020204020204" pitchFamily="34" charset="-122"/>
                <a:ea typeface="微软雅黑" panose="020B0503020204020204" pitchFamily="34" charset="-122"/>
              </a:rPr>
              <a:t>、分析以下代码，</a:t>
            </a:r>
            <a:r>
              <a:rPr lang="zh-CN" altLang="en-US" sz="2600" dirty="0">
                <a:solidFill>
                  <a:srgbClr val="000000"/>
                </a:solidFill>
                <a:latin typeface="微软雅黑" panose="020B0503020204020204" pitchFamily="34" charset="-122"/>
                <a:ea typeface="微软雅黑" panose="020B0503020204020204" pitchFamily="34" charset="-122"/>
                <a:sym typeface="+mn-ea"/>
              </a:rPr>
              <a:t>其输出结果为（</a:t>
            </a:r>
            <a:r>
              <a:rPr lang="en-US" altLang="zh-CN" sz="2600" dirty="0">
                <a:solidFill>
                  <a:srgbClr val="000000"/>
                </a:solidFill>
                <a:latin typeface="微软雅黑" panose="020B0503020204020204" pitchFamily="34" charset="-122"/>
                <a:ea typeface="微软雅黑" panose="020B0503020204020204" pitchFamily="34" charset="-122"/>
                <a:sym typeface="+mn-ea"/>
              </a:rPr>
              <a:t> </a:t>
            </a:r>
            <a:r>
              <a:rPr lang="zh-CN" altLang="en-US" sz="2600" dirty="0">
                <a:solidFill>
                  <a:srgbClr val="000000"/>
                </a:solidFill>
                <a:latin typeface="微软雅黑" panose="020B0503020204020204" pitchFamily="34" charset="-122"/>
                <a:ea typeface="微软雅黑" panose="020B0503020204020204" pitchFamily="34" charset="-122"/>
                <a:sym typeface="+mn-ea"/>
              </a:rPr>
              <a:t>）</a:t>
            </a:r>
            <a:endParaRPr lang="zh-CN" altLang="en-US" sz="2600" dirty="0">
              <a:solidFill>
                <a:srgbClr val="000000"/>
              </a:solidFill>
              <a:latin typeface="微软雅黑" panose="020B0503020204020204" pitchFamily="34" charset="-122"/>
              <a:ea typeface="微软雅黑" panose="020B0503020204020204" pitchFamily="34" charset="-122"/>
            </a:endParaRPr>
          </a:p>
          <a:p>
            <a:pPr lvl="0" algn="l">
              <a:lnSpc>
                <a:spcPct val="140000"/>
              </a:lnSpc>
              <a:buNone/>
            </a:pPr>
            <a:r>
              <a:rPr lang="en-US" altLang="zh-CN" sz="2600" dirty="0">
                <a:solidFill>
                  <a:srgbClr val="000000"/>
                </a:solidFill>
                <a:latin typeface="微软雅黑" panose="020B0503020204020204" pitchFamily="34" charset="-122"/>
                <a:ea typeface="微软雅黑" panose="020B0503020204020204" pitchFamily="34" charset="-122"/>
              </a:rPr>
              <a:t>b</a:t>
            </a:r>
            <a:r>
              <a:rPr lang="zh-CN" altLang="en-US" sz="2600" dirty="0">
                <a:solidFill>
                  <a:srgbClr val="000000"/>
                </a:solidFill>
                <a:latin typeface="微软雅黑" panose="020B0503020204020204" pitchFamily="34" charset="-122"/>
                <a:ea typeface="微软雅黑" panose="020B0503020204020204" pitchFamily="34" charset="-122"/>
              </a:rPr>
              <a:t> = </a:t>
            </a:r>
            <a:r>
              <a:rPr lang="en-US" altLang="zh-CN" sz="2600" dirty="0">
                <a:solidFill>
                  <a:srgbClr val="000000"/>
                </a:solidFill>
                <a:latin typeface="微软雅黑" panose="020B0503020204020204" pitchFamily="34" charset="-122"/>
                <a:ea typeface="微软雅黑" panose="020B0503020204020204" pitchFamily="34" charset="-122"/>
              </a:rPr>
              <a:t>[</a:t>
            </a:r>
            <a:r>
              <a:rPr lang="zh-CN" altLang="en-US" sz="2600" dirty="0">
                <a:solidFill>
                  <a:srgbClr val="000000"/>
                </a:solidFill>
                <a:latin typeface="微软雅黑" panose="020B0503020204020204" pitchFamily="34" charset="-122"/>
                <a:ea typeface="微软雅黑" panose="020B0503020204020204" pitchFamily="34" charset="-122"/>
              </a:rPr>
              <a:t>[1]</a:t>
            </a:r>
            <a:r>
              <a:rPr lang="en-US" altLang="zh-CN" sz="2600" dirty="0">
                <a:solidFill>
                  <a:srgbClr val="000000"/>
                </a:solidFill>
                <a:latin typeface="微软雅黑" panose="020B0503020204020204" pitchFamily="34" charset="-122"/>
                <a:ea typeface="微软雅黑" panose="020B0503020204020204" pitchFamily="34" charset="-122"/>
              </a:rPr>
              <a:t>]</a:t>
            </a:r>
            <a:r>
              <a:rPr lang="zh-CN" altLang="en-US" sz="2600" dirty="0">
                <a:solidFill>
                  <a:srgbClr val="000000"/>
                </a:solidFill>
                <a:latin typeface="微软雅黑" panose="020B0503020204020204" pitchFamily="34" charset="-122"/>
                <a:ea typeface="微软雅黑" panose="020B0503020204020204" pitchFamily="34" charset="-122"/>
              </a:rPr>
              <a:t>*3</a:t>
            </a:r>
          </a:p>
          <a:p>
            <a:pPr lvl="0" algn="l">
              <a:lnSpc>
                <a:spcPct val="140000"/>
              </a:lnSpc>
              <a:buNone/>
            </a:pPr>
            <a:r>
              <a:rPr lang="en-US" altLang="zh-CN" sz="2600" dirty="0">
                <a:solidFill>
                  <a:srgbClr val="000000"/>
                </a:solidFill>
                <a:latin typeface="微软雅黑" panose="020B0503020204020204" pitchFamily="34" charset="-122"/>
                <a:ea typeface="微软雅黑" panose="020B0503020204020204" pitchFamily="34" charset="-122"/>
              </a:rPr>
              <a:t>b</a:t>
            </a:r>
            <a:r>
              <a:rPr lang="zh-CN" altLang="en-US" sz="2600" dirty="0">
                <a:solidFill>
                  <a:srgbClr val="000000"/>
                </a:solidFill>
                <a:latin typeface="微软雅黑" panose="020B0503020204020204" pitchFamily="34" charset="-122"/>
                <a:ea typeface="微软雅黑" panose="020B0503020204020204" pitchFamily="34" charset="-122"/>
              </a:rPr>
              <a:t>[0]</a:t>
            </a:r>
            <a:r>
              <a:rPr lang="en-US" altLang="zh-CN" sz="2600" dirty="0">
                <a:solidFill>
                  <a:srgbClr val="000000"/>
                </a:solidFill>
                <a:latin typeface="微软雅黑" panose="020B0503020204020204" pitchFamily="34" charset="-122"/>
                <a:ea typeface="微软雅黑" panose="020B0503020204020204" pitchFamily="34" charset="-122"/>
              </a:rPr>
              <a:t>[0]</a:t>
            </a:r>
            <a:r>
              <a:rPr lang="zh-CN" altLang="en-US" sz="2600" dirty="0">
                <a:solidFill>
                  <a:srgbClr val="000000"/>
                </a:solidFill>
                <a:latin typeface="微软雅黑" panose="020B0503020204020204" pitchFamily="34" charset="-122"/>
                <a:ea typeface="微软雅黑" panose="020B0503020204020204" pitchFamily="34" charset="-122"/>
              </a:rPr>
              <a:t> = 5 </a:t>
            </a:r>
          </a:p>
          <a:p>
            <a:pPr lvl="0" algn="l">
              <a:lnSpc>
                <a:spcPct val="140000"/>
              </a:lnSpc>
              <a:buNone/>
            </a:pPr>
            <a:r>
              <a:rPr lang="en-US" altLang="zh-CN" sz="2600" dirty="0">
                <a:solidFill>
                  <a:srgbClr val="000000"/>
                </a:solidFill>
                <a:latin typeface="微软雅黑" panose="020B0503020204020204" pitchFamily="34" charset="-122"/>
                <a:ea typeface="微软雅黑" panose="020B0503020204020204" pitchFamily="34" charset="-122"/>
              </a:rPr>
              <a:t>p</a:t>
            </a:r>
            <a:r>
              <a:rPr lang="zh-CN" altLang="en-US" sz="2600" dirty="0">
                <a:solidFill>
                  <a:srgbClr val="000000"/>
                </a:solidFill>
                <a:latin typeface="微软雅黑" panose="020B0503020204020204" pitchFamily="34" charset="-122"/>
                <a:ea typeface="微软雅黑" panose="020B0503020204020204" pitchFamily="34" charset="-122"/>
              </a:rPr>
              <a:t>rint(</a:t>
            </a:r>
            <a:r>
              <a:rPr lang="en-US" altLang="zh-CN" sz="2600" dirty="0">
                <a:solidFill>
                  <a:srgbClr val="000000"/>
                </a:solidFill>
                <a:latin typeface="微软雅黑" panose="020B0503020204020204" pitchFamily="34" charset="-122"/>
                <a:ea typeface="微软雅黑" panose="020B0503020204020204" pitchFamily="34" charset="-122"/>
              </a:rPr>
              <a:t>b</a:t>
            </a:r>
            <a:r>
              <a:rPr lang="zh-CN" altLang="en-US" sz="2600" dirty="0">
                <a:solidFill>
                  <a:srgbClr val="000000"/>
                </a:solidFill>
                <a:latin typeface="微软雅黑" panose="020B0503020204020204" pitchFamily="34" charset="-122"/>
                <a:ea typeface="微软雅黑" panose="020B0503020204020204" pitchFamily="34" charset="-122"/>
              </a:rPr>
              <a:t>) </a:t>
            </a:r>
          </a:p>
        </p:txBody>
      </p:sp>
      <p:sp>
        <p:nvSpPr>
          <p:cNvPr id="4" name="文本框 3"/>
          <p:cNvSpPr txBox="1"/>
          <p:nvPr>
            <p:custDataLst>
              <p:tags r:id="rId3"/>
            </p:custDataLst>
          </p:nvPr>
        </p:nvSpPr>
        <p:spPr>
          <a:xfrm>
            <a:off x="2426970" y="3424555"/>
            <a:ext cx="8538210" cy="642620"/>
          </a:xfrm>
          <a:prstGeom prst="rect">
            <a:avLst/>
          </a:prstGeom>
          <a:noFill/>
        </p:spPr>
        <p:txBody>
          <a:bodyPr wrap="square" rtlCol="0" anchor="ctr" anchorCtr="0">
            <a:noAutofit/>
          </a:bodyPr>
          <a:lstStyle/>
          <a:p>
            <a:pPr lvl="0" algn="l">
              <a:buNone/>
            </a:pPr>
            <a:r>
              <a:rPr lang="en-US" altLang="zh-CN" sz="2600" dirty="0">
                <a:solidFill>
                  <a:srgbClr val="000000"/>
                </a:solidFill>
                <a:latin typeface="微软雅黑" panose="020B0503020204020204" pitchFamily="34" charset="-122"/>
                <a:ea typeface="微软雅黑" panose="020B0503020204020204" pitchFamily="34" charset="-122"/>
              </a:rPr>
              <a:t>[[1], [1], [1]]</a:t>
            </a:r>
          </a:p>
        </p:txBody>
      </p:sp>
      <p:sp>
        <p:nvSpPr>
          <p:cNvPr id="5" name="文本框 4"/>
          <p:cNvSpPr txBox="1"/>
          <p:nvPr>
            <p:custDataLst>
              <p:tags r:id="rId4"/>
            </p:custDataLst>
          </p:nvPr>
        </p:nvSpPr>
        <p:spPr>
          <a:xfrm>
            <a:off x="2439670" y="4217670"/>
            <a:ext cx="8538210" cy="642620"/>
          </a:xfrm>
          <a:prstGeom prst="rect">
            <a:avLst/>
          </a:prstGeom>
          <a:noFill/>
        </p:spPr>
        <p:txBody>
          <a:bodyPr wrap="square" rtlCol="0" anchor="ctr" anchorCtr="0">
            <a:noAutofit/>
          </a:bodyPr>
          <a:lstStyle/>
          <a:p>
            <a:pPr lvl="0" algn="l">
              <a:buNone/>
            </a:pPr>
            <a:r>
              <a:rPr lang="en-US" altLang="zh-CN" sz="2600" dirty="0">
                <a:solidFill>
                  <a:srgbClr val="000000"/>
                </a:solidFill>
                <a:latin typeface="微软雅黑" panose="020B0503020204020204" pitchFamily="34" charset="-122"/>
                <a:ea typeface="微软雅黑" panose="020B0503020204020204" pitchFamily="34" charset="-122"/>
              </a:rPr>
              <a:t>[[5], [1], [1]]</a:t>
            </a:r>
          </a:p>
        </p:txBody>
      </p:sp>
      <p:sp>
        <p:nvSpPr>
          <p:cNvPr id="6" name="文本框 5"/>
          <p:cNvSpPr txBox="1"/>
          <p:nvPr>
            <p:custDataLst>
              <p:tags r:id="rId5"/>
            </p:custDataLst>
          </p:nvPr>
        </p:nvSpPr>
        <p:spPr>
          <a:xfrm>
            <a:off x="2439670" y="5074920"/>
            <a:ext cx="8538210" cy="642620"/>
          </a:xfrm>
          <a:prstGeom prst="rect">
            <a:avLst/>
          </a:prstGeom>
          <a:noFill/>
        </p:spPr>
        <p:txBody>
          <a:bodyPr wrap="square" rtlCol="0" anchor="ctr" anchorCtr="0">
            <a:noAutofit/>
          </a:bodyPr>
          <a:lstStyle/>
          <a:p>
            <a:pPr lvl="0"/>
            <a:r>
              <a:rPr lang="en-US" altLang="zh-CN" sz="2600" dirty="0">
                <a:solidFill>
                  <a:srgbClr val="000000"/>
                </a:solidFill>
                <a:latin typeface="微软雅黑" panose="020B0503020204020204" pitchFamily="34" charset="-122"/>
                <a:ea typeface="微软雅黑" panose="020B0503020204020204" pitchFamily="34" charset="-122"/>
              </a:rPr>
              <a:t>[[5], [5], [5]]</a:t>
            </a:r>
          </a:p>
        </p:txBody>
      </p:sp>
      <p:sp>
        <p:nvSpPr>
          <p:cNvPr id="8" name="椭圆 7"/>
          <p:cNvSpPr>
            <a:spLocks noChangeAspect="1"/>
          </p:cNvSpPr>
          <p:nvPr>
            <p:custDataLst>
              <p:tags r:id="rId6"/>
            </p:custDataLst>
          </p:nvPr>
        </p:nvSpPr>
        <p:spPr>
          <a:xfrm>
            <a:off x="1572260" y="3424555"/>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en" altLang="zh-CN"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9" name="椭圆 8"/>
          <p:cNvSpPr>
            <a:spLocks noChangeAspect="1"/>
          </p:cNvSpPr>
          <p:nvPr>
            <p:custDataLst>
              <p:tags r:id="rId7"/>
            </p:custDataLst>
          </p:nvPr>
        </p:nvSpPr>
        <p:spPr>
          <a:xfrm>
            <a:off x="1572260" y="4281805"/>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en" altLang="zh-CN"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0" name="椭圆 9"/>
          <p:cNvSpPr>
            <a:spLocks noChangeAspect="1"/>
          </p:cNvSpPr>
          <p:nvPr>
            <p:custDataLst>
              <p:tags r:id="rId8"/>
            </p:custDataLst>
          </p:nvPr>
        </p:nvSpPr>
        <p:spPr>
          <a:xfrm>
            <a:off x="1572260" y="513969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en" altLang="zh-CN"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2" name="圆角矩形 11"/>
          <p:cNvSpPr/>
          <p:nvPr>
            <p:custDataLst>
              <p:tags r:id="rId9"/>
            </p:custDataLst>
          </p:nvPr>
        </p:nvSpPr>
        <p:spPr>
          <a:xfrm>
            <a:off x="8920480" y="621601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p>
        </p:txBody>
      </p:sp>
      <p:grpSp>
        <p:nvGrpSpPr>
          <p:cNvPr id="17" name="组合 16"/>
          <p:cNvGrpSpPr/>
          <p:nvPr>
            <p:custDataLst>
              <p:tags r:id="rId10"/>
            </p:custDataLst>
          </p:nvPr>
        </p:nvGrpSpPr>
        <p:grpSpPr>
          <a:xfrm>
            <a:off x="0" y="0"/>
            <a:ext cx="12198350" cy="635000"/>
            <a:chOff x="14" y="-126"/>
            <a:chExt cx="19210" cy="1000"/>
          </a:xfrm>
        </p:grpSpPr>
        <p:sp>
          <p:nvSpPr>
            <p:cNvPr id="13" name="TitleBackground"/>
            <p:cNvSpPr/>
            <p:nvPr>
              <p:custDataLst>
                <p:tags r:id="rId12"/>
              </p:custDataLst>
            </p:nvPr>
          </p:nvSpPr>
          <p:spPr>
            <a:xfrm>
              <a:off x="14" y="-126"/>
              <a:ext cx="1921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3"/>
              </p:custDataLst>
            </p:nvPr>
          </p:nvSpPr>
          <p:spPr>
            <a:xfrm>
              <a:off x="14" y="-126"/>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4"/>
              </p:custDataLst>
            </p:nvPr>
          </p:nvSpPr>
          <p:spPr>
            <a:xfrm>
              <a:off x="414" y="-126"/>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p>
          </p:txBody>
        </p:sp>
        <p:sp>
          <p:nvSpPr>
            <p:cNvPr id="16" name="TipText"/>
            <p:cNvSpPr txBox="1"/>
            <p:nvPr>
              <p:custDataLst>
                <p:tags r:id="rId15"/>
              </p:custDataLst>
            </p:nvPr>
          </p:nvSpPr>
          <p:spPr>
            <a:xfrm>
              <a:off x="2417" y="46"/>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p>
          </p:txBody>
        </p:sp>
      </p:grpSp>
      <p:pic>
        <p:nvPicPr>
          <p:cNvPr id="2" name="图片 1" descr="tmp6E5B"/>
          <p:cNvPicPr>
            <a:picLocks noChangeAspect="1"/>
          </p:cNvPicPr>
          <p:nvPr>
            <p:custDataLst>
              <p:tags r:id="rId11"/>
            </p:custDataLst>
          </p:nvPr>
        </p:nvPicPr>
        <p:blipFill>
          <a:blip r:embed="rId17"/>
          <a:stretch>
            <a:fillRect/>
          </a:stretch>
        </p:blipFill>
        <p:spPr>
          <a:xfrm>
            <a:off x="10648950" y="63500"/>
            <a:ext cx="1422400" cy="508000"/>
          </a:xfrm>
          <a:prstGeom prst="rect">
            <a:avLst/>
          </a:prstGeom>
        </p:spPr>
      </p:pic>
    </p:spTree>
    <p:custDataLst>
      <p:tags r:id="rId1"/>
    </p:custDataLst>
  </p:cSld>
  <p:clrMapOvr>
    <a:masterClrMapping/>
  </p:clrMapOvr>
  <p:transition spd="slow" advTm="0">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（3）</a:t>
            </a:r>
            <a:r>
              <a:rPr 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删除列表元素</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grpSp>
        <p:nvGrpSpPr>
          <p:cNvPr id="11" name="组合 10"/>
          <p:cNvGrpSpPr/>
          <p:nvPr/>
        </p:nvGrpSpPr>
        <p:grpSpPr>
          <a:xfrm>
            <a:off x="2432685" y="2501265"/>
            <a:ext cx="6414135" cy="3025140"/>
            <a:chOff x="3831" y="3939"/>
            <a:chExt cx="10101" cy="4764"/>
          </a:xfrm>
        </p:grpSpPr>
        <p:cxnSp>
          <p:nvCxnSpPr>
            <p:cNvPr id="42" name="直接连接符 41"/>
            <p:cNvCxnSpPr/>
            <p:nvPr>
              <p:custDataLst>
                <p:tags r:id="rId1"/>
              </p:custDataLst>
            </p:nvPr>
          </p:nvCxnSpPr>
          <p:spPr>
            <a:xfrm>
              <a:off x="6175" y="6270"/>
              <a:ext cx="462" cy="0"/>
            </a:xfrm>
            <a:prstGeom prst="line">
              <a:avLst/>
            </a:prstGeom>
            <a:noFill/>
            <a:ln w="6350" cap="flat" cmpd="sng" algn="ctr">
              <a:solidFill>
                <a:srgbClr val="000000">
                  <a:lumMod val="20000"/>
                  <a:lumOff val="80000"/>
                </a:srgbClr>
              </a:solidFill>
              <a:prstDash val="solid"/>
              <a:miter lim="800000"/>
            </a:ln>
            <a:effectLst/>
          </p:spPr>
        </p:cxnSp>
        <p:sp>
          <p:nvSpPr>
            <p:cNvPr id="8" name="椭圆 7"/>
            <p:cNvSpPr/>
            <p:nvPr>
              <p:custDataLst>
                <p:tags r:id="rId2"/>
              </p:custDataLst>
            </p:nvPr>
          </p:nvSpPr>
          <p:spPr>
            <a:xfrm>
              <a:off x="4085" y="5287"/>
              <a:ext cx="2041" cy="2041"/>
            </a:xfrm>
            <a:prstGeom prst="ellipse">
              <a:avLst/>
            </a:prstGeom>
            <a:solidFill>
              <a:schemeClr val="accent1"/>
            </a:solidFill>
            <a:ln w="57150" cap="flat" cmpd="sng" algn="ctr">
              <a:solidFill>
                <a:srgbClr val="1F74AD"/>
              </a:solidFill>
              <a:prstDash val="solid"/>
              <a:miter lim="800000"/>
            </a:ln>
            <a:effectLst/>
          </p:spPr>
          <p:txBody>
            <a:bodyPr wrap="none" tIns="0" bIns="0" anchor="ctr">
              <a:normAutofit/>
            </a:bodyPr>
            <a:lstStyle/>
            <a:p>
              <a:pPr algn="ctr">
                <a:lnSpc>
                  <a:spcPct val="130000"/>
                </a:lnSpc>
              </a:pPr>
              <a:endParaRPr lang="zh-CN" altLang="en-US" sz="2000" dirty="0">
                <a:solidFill>
                  <a:schemeClr val="accent1">
                    <a:lumMod val="60000"/>
                    <a:lumOff val="40000"/>
                  </a:schemeClr>
                </a:solidFill>
                <a:latin typeface="微软雅黑" panose="020B0503020204020204" pitchFamily="34" charset="-122"/>
                <a:ea typeface="微软雅黑" panose="020B0503020204020204" pitchFamily="34" charset="-122"/>
                <a:cs typeface="+mn-ea"/>
              </a:endParaRPr>
            </a:p>
          </p:txBody>
        </p:sp>
        <p:sp>
          <p:nvSpPr>
            <p:cNvPr id="9" name="文本框 8"/>
            <p:cNvSpPr txBox="1"/>
            <p:nvPr>
              <p:custDataLst>
                <p:tags r:id="rId3"/>
              </p:custDataLst>
            </p:nvPr>
          </p:nvSpPr>
          <p:spPr>
            <a:xfrm>
              <a:off x="3831" y="5541"/>
              <a:ext cx="2549" cy="1497"/>
            </a:xfrm>
            <a:prstGeom prst="rect">
              <a:avLst/>
            </a:prstGeom>
            <a:noFill/>
          </p:spPr>
          <p:txBody>
            <a:bodyPr wrap="square" rtlCol="0">
              <a:scene3d>
                <a:camera prst="orthographicFront"/>
                <a:lightRig rig="threePt" dir="t"/>
              </a:scene3d>
            </a:bodyPr>
            <a:lstStyle/>
            <a:p>
              <a:pPr algn="ctr" fontAlgn="auto">
                <a:lnSpc>
                  <a:spcPct val="120000"/>
                </a:lnSpc>
              </a:pPr>
              <a:r>
                <a:rPr lang="zh-CN" altLang="en-US" b="1" spc="300" dirty="0">
                  <a:ln w="10160">
                    <a:solidFill>
                      <a:schemeClr val="accent5"/>
                    </a:solidFill>
                    <a:prstDash val="solid"/>
                  </a:ln>
                  <a:solidFill>
                    <a:srgbClr val="FFFFFF"/>
                  </a:solidFill>
                  <a:effectLst>
                    <a:outerShdw blurRad="38100" dist="22860" dir="5400000" algn="tl" rotWithShape="0">
                      <a:srgbClr val="000000">
                        <a:alpha val="30000"/>
                      </a:srgbClr>
                    </a:outerShdw>
                  </a:effectLst>
                  <a:uFillTx/>
                  <a:latin typeface="微软雅黑" panose="020B0503020204020204" pitchFamily="34" charset="-122"/>
                  <a:ea typeface="微软雅黑" panose="020B0503020204020204" pitchFamily="34" charset="-122"/>
                </a:rPr>
                <a:t>删除</a:t>
              </a:r>
            </a:p>
            <a:p>
              <a:pPr algn="ctr" fontAlgn="auto">
                <a:lnSpc>
                  <a:spcPct val="120000"/>
                </a:lnSpc>
              </a:pPr>
              <a:r>
                <a:rPr lang="zh-CN" altLang="en-US" b="1" spc="300" dirty="0">
                  <a:ln w="10160">
                    <a:solidFill>
                      <a:schemeClr val="accent5"/>
                    </a:solidFill>
                    <a:prstDash val="solid"/>
                  </a:ln>
                  <a:solidFill>
                    <a:srgbClr val="FFFFFF"/>
                  </a:solidFill>
                  <a:effectLst>
                    <a:outerShdw blurRad="38100" dist="22860" dir="5400000" algn="tl" rotWithShape="0">
                      <a:srgbClr val="000000">
                        <a:alpha val="30000"/>
                      </a:srgbClr>
                    </a:outerShdw>
                  </a:effectLst>
                  <a:uFillTx/>
                  <a:latin typeface="微软雅黑" panose="020B0503020204020204" pitchFamily="34" charset="-122"/>
                  <a:ea typeface="微软雅黑" panose="020B0503020204020204" pitchFamily="34" charset="-122"/>
                </a:rPr>
                <a:t>方法</a:t>
              </a:r>
            </a:p>
          </p:txBody>
        </p:sp>
        <p:cxnSp>
          <p:nvCxnSpPr>
            <p:cNvPr id="63" name="直接连接符 62"/>
            <p:cNvCxnSpPr/>
            <p:nvPr>
              <p:custDataLst>
                <p:tags r:id="rId4"/>
              </p:custDataLst>
            </p:nvPr>
          </p:nvCxnSpPr>
          <p:spPr>
            <a:xfrm>
              <a:off x="6637" y="7841"/>
              <a:ext cx="1032" cy="0"/>
            </a:xfrm>
            <a:prstGeom prst="line">
              <a:avLst/>
            </a:prstGeom>
            <a:noFill/>
            <a:ln w="6350" cap="flat" cmpd="sng" algn="ctr">
              <a:solidFill>
                <a:srgbClr val="000000">
                  <a:lumMod val="20000"/>
                  <a:lumOff val="80000"/>
                </a:srgbClr>
              </a:solidFill>
              <a:prstDash val="solid"/>
              <a:miter lim="800000"/>
            </a:ln>
            <a:effectLst/>
          </p:spPr>
        </p:cxnSp>
        <p:cxnSp>
          <p:nvCxnSpPr>
            <p:cNvPr id="62" name="直接连接符 61"/>
            <p:cNvCxnSpPr/>
            <p:nvPr>
              <p:custDataLst>
                <p:tags r:id="rId5"/>
              </p:custDataLst>
            </p:nvPr>
          </p:nvCxnSpPr>
          <p:spPr>
            <a:xfrm>
              <a:off x="6637" y="6270"/>
              <a:ext cx="1032" cy="0"/>
            </a:xfrm>
            <a:prstGeom prst="line">
              <a:avLst/>
            </a:prstGeom>
            <a:noFill/>
            <a:ln w="6350" cap="flat" cmpd="sng" algn="ctr">
              <a:solidFill>
                <a:srgbClr val="000000">
                  <a:lumMod val="20000"/>
                  <a:lumOff val="80000"/>
                </a:srgbClr>
              </a:solidFill>
              <a:prstDash val="solid"/>
              <a:miter lim="800000"/>
            </a:ln>
            <a:effectLst/>
          </p:spPr>
        </p:cxnSp>
        <p:cxnSp>
          <p:nvCxnSpPr>
            <p:cNvPr id="61" name="直接连接符 60"/>
            <p:cNvCxnSpPr/>
            <p:nvPr>
              <p:custDataLst>
                <p:tags r:id="rId6"/>
              </p:custDataLst>
            </p:nvPr>
          </p:nvCxnSpPr>
          <p:spPr>
            <a:xfrm>
              <a:off x="6637" y="4712"/>
              <a:ext cx="1032" cy="0"/>
            </a:xfrm>
            <a:prstGeom prst="line">
              <a:avLst/>
            </a:prstGeom>
            <a:noFill/>
            <a:ln w="6350" cap="flat" cmpd="sng" algn="ctr">
              <a:solidFill>
                <a:srgbClr val="000000">
                  <a:lumMod val="20000"/>
                  <a:lumOff val="80000"/>
                </a:srgbClr>
              </a:solidFill>
              <a:prstDash val="solid"/>
              <a:miter lim="800000"/>
            </a:ln>
            <a:effectLst/>
          </p:spPr>
        </p:cxnSp>
        <p:sp>
          <p:nvSpPr>
            <p:cNvPr id="18" name="椭圆 17"/>
            <p:cNvSpPr/>
            <p:nvPr>
              <p:custDataLst>
                <p:tags r:id="rId7"/>
              </p:custDataLst>
            </p:nvPr>
          </p:nvSpPr>
          <p:spPr>
            <a:xfrm>
              <a:off x="7242" y="4368"/>
              <a:ext cx="731" cy="731"/>
            </a:xfrm>
            <a:prstGeom prst="ellipse">
              <a:avLst/>
            </a:prstGeom>
            <a:solidFill>
              <a:srgbClr val="1F74AD"/>
            </a:solidFill>
            <a:ln w="38100" cap="flat" cmpd="sng" algn="ctr">
              <a:solidFill>
                <a:sysClr val="window" lastClr="FFFFFF"/>
              </a:solidFill>
              <a:prstDash val="solid"/>
              <a:miter lim="800000"/>
            </a:ln>
            <a:effectLst/>
          </p:spPr>
          <p:txBody>
            <a:bodyPr anchor="ctr"/>
            <a:lstStyle/>
            <a:p>
              <a:pPr algn="ctr">
                <a:lnSpc>
                  <a:spcPct val="130000"/>
                </a:lnSpc>
              </a:pPr>
              <a:r>
                <a:rPr lang="en-US">
                  <a:solidFill>
                    <a:schemeClr val="bg1"/>
                  </a:solidFill>
                  <a:latin typeface="Arial Black" panose="020B0A04020102020204" pitchFamily="34" charset="0"/>
                  <a:ea typeface="微软雅黑" panose="020B0503020204020204" pitchFamily="34" charset="-122"/>
                  <a:cs typeface="Arial Black" panose="020B0A04020102020204" pitchFamily="34" charset="0"/>
                </a:rPr>
                <a:t>1</a:t>
              </a:r>
            </a:p>
          </p:txBody>
        </p:sp>
        <p:sp>
          <p:nvSpPr>
            <p:cNvPr id="26" name="文本框 25"/>
            <p:cNvSpPr txBox="1"/>
            <p:nvPr>
              <p:custDataLst>
                <p:tags r:id="rId8"/>
              </p:custDataLst>
            </p:nvPr>
          </p:nvSpPr>
          <p:spPr>
            <a:xfrm>
              <a:off x="9761" y="4628"/>
              <a:ext cx="4171" cy="912"/>
            </a:xfrm>
            <a:prstGeom prst="rect">
              <a:avLst/>
            </a:prstGeom>
            <a:noFill/>
          </p:spPr>
          <p:txBody>
            <a:bodyPr wrap="square" lIns="90000" tIns="46800" rIns="90000" bIns="46800" anchor="t">
              <a:normAutofit fontScale="90000"/>
            </a:bodyPr>
            <a:lstStyle/>
            <a:p>
              <a:pPr defTabSz="913765" fontAlgn="auto">
                <a:lnSpc>
                  <a:spcPct val="120000"/>
                </a:lnSpc>
                <a:spcBef>
                  <a:spcPct val="0"/>
                </a:spcBef>
                <a:defRPr/>
              </a:pPr>
              <a:r>
                <a:rPr lang="zh-CN" altLang="en-US" sz="1400" spc="150" dirty="0">
                  <a:solidFill>
                    <a:srgbClr val="000000"/>
                  </a:solidFill>
                  <a:uFillTx/>
                  <a:latin typeface="微软雅黑" panose="020B0503020204020204" pitchFamily="34" charset="-122"/>
                  <a:ea typeface="微软雅黑" panose="020B0503020204020204" pitchFamily="34" charset="-122"/>
                </a:rPr>
                <a:t>弹出列表最后一个元素，可以</a:t>
              </a:r>
            </a:p>
            <a:p>
              <a:pPr defTabSz="913765" fontAlgn="auto">
                <a:lnSpc>
                  <a:spcPct val="120000"/>
                </a:lnSpc>
                <a:spcBef>
                  <a:spcPct val="0"/>
                </a:spcBef>
                <a:defRPr/>
              </a:pPr>
              <a:r>
                <a:rPr lang="zh-CN" altLang="en-US" sz="1400" spc="150" dirty="0">
                  <a:solidFill>
                    <a:srgbClr val="000000"/>
                  </a:solidFill>
                  <a:uFillTx/>
                  <a:latin typeface="微软雅黑" panose="020B0503020204020204" pitchFamily="34" charset="-122"/>
                  <a:ea typeface="微软雅黑" panose="020B0503020204020204" pitchFamily="34" charset="-122"/>
                </a:rPr>
                <a:t>指定索引弹出</a:t>
              </a:r>
            </a:p>
          </p:txBody>
        </p:sp>
        <p:sp>
          <p:nvSpPr>
            <p:cNvPr id="10" name="文本框 9"/>
            <p:cNvSpPr txBox="1"/>
            <p:nvPr>
              <p:custDataLst>
                <p:tags r:id="rId9"/>
              </p:custDataLst>
            </p:nvPr>
          </p:nvSpPr>
          <p:spPr>
            <a:xfrm>
              <a:off x="9761" y="3939"/>
              <a:ext cx="4168" cy="639"/>
            </a:xfrm>
            <a:prstGeom prst="rect">
              <a:avLst/>
            </a:prstGeom>
            <a:noFill/>
          </p:spPr>
          <p:txBody>
            <a:bodyPr wrap="square" lIns="90000" tIns="46800" rIns="90000" bIns="0" anchor="b">
              <a:noAutofit/>
            </a:bodyPr>
            <a:lstStyle>
              <a:defPPr>
                <a:defRPr lang="zh-CN"/>
              </a:defPPr>
              <a:lvl1pPr lvl="0" defTabSz="913765">
                <a:lnSpc>
                  <a:spcPct val="140000"/>
                </a:lnSpc>
                <a:spcBef>
                  <a:spcPct val="0"/>
                </a:spcBef>
                <a:defRPr sz="1600" b="1">
                  <a:solidFill>
                    <a:srgbClr val="1F74AD"/>
                  </a:solidFill>
                  <a:latin typeface="Arial" panose="020B0604020202020204" pitchFamily="34" charset="0"/>
                  <a:ea typeface="微软雅黑" panose="020B0503020204020204" pitchFamily="34" charset="-122"/>
                  <a:cs typeface="+mn-ea"/>
                </a:defRPr>
              </a:lvl1pPr>
            </a:lstStyle>
            <a:p>
              <a:pPr fontAlgn="auto">
                <a:lnSpc>
                  <a:spcPct val="120000"/>
                </a:lnSpc>
              </a:pPr>
              <a:r>
                <a:rPr lang="en-US" altLang="zh-CN" sz="2000" spc="300" dirty="0">
                  <a:latin typeface="微软雅黑" panose="020B0503020204020204" pitchFamily="34" charset="-122"/>
                  <a:ea typeface="微软雅黑" panose="020B0503020204020204" pitchFamily="34" charset="-122"/>
                </a:rPr>
                <a:t>pop()</a:t>
              </a:r>
            </a:p>
          </p:txBody>
        </p:sp>
        <p:cxnSp>
          <p:nvCxnSpPr>
            <p:cNvPr id="33" name="直接连接符 32"/>
            <p:cNvCxnSpPr/>
            <p:nvPr>
              <p:custDataLst>
                <p:tags r:id="rId10"/>
              </p:custDataLst>
            </p:nvPr>
          </p:nvCxnSpPr>
          <p:spPr>
            <a:xfrm>
              <a:off x="8143" y="4712"/>
              <a:ext cx="1252" cy="0"/>
            </a:xfrm>
            <a:prstGeom prst="line">
              <a:avLst/>
            </a:prstGeom>
            <a:noFill/>
            <a:ln w="6350" cap="flat" cmpd="sng" algn="ctr">
              <a:solidFill>
                <a:srgbClr val="000000">
                  <a:lumMod val="20000"/>
                  <a:lumOff val="80000"/>
                </a:srgbClr>
              </a:solidFill>
              <a:prstDash val="solid"/>
              <a:miter lim="800000"/>
            </a:ln>
            <a:effectLst/>
          </p:spPr>
        </p:cxnSp>
        <p:sp>
          <p:nvSpPr>
            <p:cNvPr id="41" name="椭圆 40"/>
            <p:cNvSpPr/>
            <p:nvPr>
              <p:custDataLst>
                <p:tags r:id="rId11"/>
              </p:custDataLst>
            </p:nvPr>
          </p:nvSpPr>
          <p:spPr>
            <a:xfrm>
              <a:off x="7263" y="5908"/>
              <a:ext cx="731" cy="731"/>
            </a:xfrm>
            <a:prstGeom prst="ellipse">
              <a:avLst/>
            </a:prstGeom>
            <a:solidFill>
              <a:srgbClr val="1F74AD"/>
            </a:solidFill>
            <a:ln w="38100" cap="flat" cmpd="sng" algn="ctr">
              <a:solidFill>
                <a:sysClr val="window" lastClr="FFFFFF"/>
              </a:solidFill>
              <a:prstDash val="solid"/>
              <a:miter lim="800000"/>
            </a:ln>
            <a:effectLst/>
          </p:spPr>
          <p:txBody>
            <a:bodyPr anchor="ctr">
              <a:noAutofit/>
            </a:bodyPr>
            <a:lstStyle/>
            <a:p>
              <a:pPr lvl="0" algn="ctr">
                <a:lnSpc>
                  <a:spcPct val="130000"/>
                </a:lnSpc>
                <a:buClrTx/>
                <a:buSzTx/>
                <a:buFontTx/>
              </a:pPr>
              <a:r>
                <a:rPr lang="en-US">
                  <a:solidFill>
                    <a:schemeClr val="bg1"/>
                  </a:solidFill>
                  <a:latin typeface="Arial Black" panose="020B0A04020102020204" pitchFamily="34" charset="0"/>
                  <a:ea typeface="微软雅黑" panose="020B0503020204020204" pitchFamily="34" charset="-122"/>
                  <a:cs typeface="Arial Black" panose="020B0A04020102020204" pitchFamily="34" charset="0"/>
                  <a:sym typeface="+mn-ea"/>
                </a:rPr>
                <a:t>2</a:t>
              </a:r>
            </a:p>
          </p:txBody>
        </p:sp>
        <p:cxnSp>
          <p:nvCxnSpPr>
            <p:cNvPr id="43" name="直接连接符 42"/>
            <p:cNvCxnSpPr/>
            <p:nvPr>
              <p:custDataLst>
                <p:tags r:id="rId12"/>
              </p:custDataLst>
            </p:nvPr>
          </p:nvCxnSpPr>
          <p:spPr>
            <a:xfrm flipH="1">
              <a:off x="8139" y="6270"/>
              <a:ext cx="1259" cy="0"/>
            </a:xfrm>
            <a:prstGeom prst="line">
              <a:avLst/>
            </a:prstGeom>
            <a:noFill/>
            <a:ln w="6350" cap="flat" cmpd="sng" algn="ctr">
              <a:solidFill>
                <a:srgbClr val="000000">
                  <a:lumMod val="20000"/>
                  <a:lumOff val="80000"/>
                </a:srgbClr>
              </a:solidFill>
              <a:prstDash val="solid"/>
              <a:miter lim="800000"/>
            </a:ln>
            <a:effectLst/>
          </p:spPr>
        </p:cxnSp>
        <p:sp>
          <p:nvSpPr>
            <p:cNvPr id="44" name="文本框 43"/>
            <p:cNvSpPr txBox="1"/>
            <p:nvPr>
              <p:custDataLst>
                <p:tags r:id="rId13"/>
              </p:custDataLst>
            </p:nvPr>
          </p:nvSpPr>
          <p:spPr>
            <a:xfrm>
              <a:off x="9761" y="7727"/>
              <a:ext cx="4171" cy="976"/>
            </a:xfrm>
            <a:prstGeom prst="rect">
              <a:avLst/>
            </a:prstGeom>
            <a:noFill/>
          </p:spPr>
          <p:txBody>
            <a:bodyPr wrap="square" lIns="90000" tIns="46800" rIns="90000" bIns="46800" anchor="t">
              <a:normAutofit/>
            </a:bodyPr>
            <a:lstStyle/>
            <a:p>
              <a:pPr defTabSz="913765" fontAlgn="auto">
                <a:lnSpc>
                  <a:spcPct val="120000"/>
                </a:lnSpc>
                <a:spcBef>
                  <a:spcPct val="0"/>
                </a:spcBef>
                <a:defRPr/>
              </a:pPr>
              <a:r>
                <a:rPr lang="zh-CN" altLang="en-US" sz="1400" spc="150" dirty="0">
                  <a:solidFill>
                    <a:srgbClr val="000000"/>
                  </a:solidFill>
                  <a:uFillTx/>
                  <a:latin typeface="微软雅黑" panose="020B0503020204020204" pitchFamily="34" charset="-122"/>
                  <a:ea typeface="微软雅黑" panose="020B0503020204020204" pitchFamily="34" charset="-122"/>
                </a:rPr>
                <a:t>将列表元素清空</a:t>
              </a:r>
            </a:p>
          </p:txBody>
        </p:sp>
        <p:sp>
          <p:nvSpPr>
            <p:cNvPr id="45" name="文本框 44"/>
            <p:cNvSpPr txBox="1"/>
            <p:nvPr>
              <p:custDataLst>
                <p:tags r:id="rId14"/>
              </p:custDataLst>
            </p:nvPr>
          </p:nvSpPr>
          <p:spPr>
            <a:xfrm>
              <a:off x="9761" y="7038"/>
              <a:ext cx="4168" cy="639"/>
            </a:xfrm>
            <a:prstGeom prst="rect">
              <a:avLst/>
            </a:prstGeom>
            <a:noFill/>
          </p:spPr>
          <p:txBody>
            <a:bodyPr wrap="square" lIns="90000" tIns="46800" rIns="90000" bIns="0" anchor="b">
              <a:noAutofit/>
            </a:bodyPr>
            <a:lstStyle>
              <a:defPPr>
                <a:defRPr lang="zh-CN"/>
              </a:defPPr>
              <a:lvl1pPr lvl="0" defTabSz="913765">
                <a:lnSpc>
                  <a:spcPct val="140000"/>
                </a:lnSpc>
                <a:spcBef>
                  <a:spcPct val="0"/>
                </a:spcBef>
                <a:defRPr sz="1600" b="1">
                  <a:solidFill>
                    <a:srgbClr val="1F74AD"/>
                  </a:solidFill>
                  <a:latin typeface="Arial" panose="020B0604020202020204" pitchFamily="34" charset="0"/>
                  <a:ea typeface="微软雅黑" panose="020B0503020204020204" pitchFamily="34" charset="-122"/>
                  <a:cs typeface="+mn-ea"/>
                </a:defRPr>
              </a:lvl1pPr>
            </a:lstStyle>
            <a:p>
              <a:pPr fontAlgn="auto">
                <a:lnSpc>
                  <a:spcPct val="120000"/>
                </a:lnSpc>
              </a:pPr>
              <a:r>
                <a:rPr lang="en-US" altLang="zh-CN" sz="2000" spc="300" dirty="0">
                  <a:solidFill>
                    <a:srgbClr val="1AA3AA"/>
                  </a:solidFill>
                  <a:latin typeface="微软雅黑" panose="020B0503020204020204" pitchFamily="34" charset="-122"/>
                  <a:ea typeface="微软雅黑" panose="020B0503020204020204" pitchFamily="34" charset="-122"/>
                </a:rPr>
                <a:t>clear()</a:t>
              </a:r>
              <a:endParaRPr lang="zh-CN" altLang="en-US" sz="2000" spc="300" dirty="0">
                <a:solidFill>
                  <a:srgbClr val="1AA3AA"/>
                </a:solidFill>
                <a:latin typeface="微软雅黑" panose="020B0503020204020204" pitchFamily="34" charset="-122"/>
                <a:ea typeface="微软雅黑" panose="020B0503020204020204" pitchFamily="34" charset="-122"/>
              </a:endParaRPr>
            </a:p>
          </p:txBody>
        </p:sp>
        <p:sp>
          <p:nvSpPr>
            <p:cNvPr id="48" name="椭圆 47"/>
            <p:cNvSpPr/>
            <p:nvPr>
              <p:custDataLst>
                <p:tags r:id="rId15"/>
              </p:custDataLst>
            </p:nvPr>
          </p:nvSpPr>
          <p:spPr>
            <a:xfrm>
              <a:off x="7263" y="7449"/>
              <a:ext cx="731" cy="731"/>
            </a:xfrm>
            <a:prstGeom prst="ellipse">
              <a:avLst/>
            </a:prstGeom>
            <a:solidFill>
              <a:srgbClr val="1F74AD"/>
            </a:solidFill>
            <a:ln w="38100" cap="flat" cmpd="sng" algn="ctr">
              <a:solidFill>
                <a:sysClr val="window" lastClr="FFFFFF"/>
              </a:solidFill>
              <a:prstDash val="solid"/>
              <a:miter lim="800000"/>
            </a:ln>
            <a:effectLst/>
          </p:spPr>
          <p:txBody>
            <a:bodyPr anchor="ctr">
              <a:noAutofit/>
            </a:bodyPr>
            <a:lstStyle/>
            <a:p>
              <a:pPr lvl="0" algn="ctr">
                <a:lnSpc>
                  <a:spcPct val="130000"/>
                </a:lnSpc>
                <a:buClrTx/>
                <a:buSzTx/>
                <a:buFontTx/>
              </a:pPr>
              <a:r>
                <a:rPr lang="en-US">
                  <a:solidFill>
                    <a:schemeClr val="bg1"/>
                  </a:solidFill>
                  <a:latin typeface="Arial Black" panose="020B0A04020102020204" pitchFamily="34" charset="0"/>
                  <a:ea typeface="微软雅黑" panose="020B0503020204020204" pitchFamily="34" charset="-122"/>
                  <a:cs typeface="Arial Black" panose="020B0A04020102020204" pitchFamily="34" charset="0"/>
                  <a:sym typeface="+mn-ea"/>
                </a:rPr>
                <a:t>3</a:t>
              </a:r>
            </a:p>
          </p:txBody>
        </p:sp>
        <p:cxnSp>
          <p:nvCxnSpPr>
            <p:cNvPr id="50" name="直接连接符 49"/>
            <p:cNvCxnSpPr/>
            <p:nvPr>
              <p:custDataLst>
                <p:tags r:id="rId16"/>
              </p:custDataLst>
            </p:nvPr>
          </p:nvCxnSpPr>
          <p:spPr>
            <a:xfrm flipH="1">
              <a:off x="8139" y="7841"/>
              <a:ext cx="1259" cy="0"/>
            </a:xfrm>
            <a:prstGeom prst="line">
              <a:avLst/>
            </a:prstGeom>
            <a:noFill/>
            <a:ln w="6350" cap="flat" cmpd="sng" algn="ctr">
              <a:solidFill>
                <a:srgbClr val="000000">
                  <a:lumMod val="20000"/>
                  <a:lumOff val="80000"/>
                </a:srgbClr>
              </a:solidFill>
              <a:prstDash val="solid"/>
              <a:miter lim="800000"/>
            </a:ln>
            <a:effectLst/>
          </p:spPr>
        </p:cxnSp>
        <p:sp>
          <p:nvSpPr>
            <p:cNvPr id="54" name="文本框 53"/>
            <p:cNvSpPr txBox="1"/>
            <p:nvPr>
              <p:custDataLst>
                <p:tags r:id="rId17"/>
              </p:custDataLst>
            </p:nvPr>
          </p:nvSpPr>
          <p:spPr>
            <a:xfrm>
              <a:off x="9761" y="6185"/>
              <a:ext cx="4171" cy="639"/>
            </a:xfrm>
            <a:prstGeom prst="rect">
              <a:avLst/>
            </a:prstGeom>
            <a:noFill/>
          </p:spPr>
          <p:txBody>
            <a:bodyPr wrap="square" lIns="90000" tIns="46800" rIns="90000" bIns="46800" anchor="t">
              <a:normAutofit/>
            </a:bodyPr>
            <a:lstStyle/>
            <a:p>
              <a:pPr defTabSz="913765" fontAlgn="auto">
                <a:lnSpc>
                  <a:spcPct val="120000"/>
                </a:lnSpc>
                <a:spcBef>
                  <a:spcPct val="0"/>
                </a:spcBef>
                <a:defRPr/>
              </a:pPr>
              <a:r>
                <a:rPr lang="zh-CN" altLang="en-US" sz="1400" spc="150" dirty="0">
                  <a:solidFill>
                    <a:srgbClr val="000000"/>
                  </a:solidFill>
                  <a:uFillTx/>
                  <a:latin typeface="微软雅黑" panose="020B0503020204020204" pitchFamily="34" charset="-122"/>
                  <a:ea typeface="微软雅黑" panose="020B0503020204020204" pitchFamily="34" charset="-122"/>
                </a:rPr>
                <a:t>删除指定值元素</a:t>
              </a:r>
            </a:p>
          </p:txBody>
        </p:sp>
        <p:sp>
          <p:nvSpPr>
            <p:cNvPr id="55" name="文本框 54"/>
            <p:cNvSpPr txBox="1"/>
            <p:nvPr>
              <p:custDataLst>
                <p:tags r:id="rId18"/>
              </p:custDataLst>
            </p:nvPr>
          </p:nvSpPr>
          <p:spPr>
            <a:xfrm>
              <a:off x="9761" y="5496"/>
              <a:ext cx="4168" cy="639"/>
            </a:xfrm>
            <a:prstGeom prst="rect">
              <a:avLst/>
            </a:prstGeom>
            <a:noFill/>
          </p:spPr>
          <p:txBody>
            <a:bodyPr wrap="square" lIns="90000" tIns="46800" rIns="90000" bIns="0" anchor="b">
              <a:noAutofit/>
            </a:bodyPr>
            <a:lstStyle>
              <a:defPPr>
                <a:defRPr lang="zh-CN"/>
              </a:defPPr>
              <a:lvl1pPr lvl="0" defTabSz="913765">
                <a:lnSpc>
                  <a:spcPct val="140000"/>
                </a:lnSpc>
                <a:spcBef>
                  <a:spcPct val="0"/>
                </a:spcBef>
                <a:defRPr sz="1600" b="1">
                  <a:solidFill>
                    <a:srgbClr val="1F74AD"/>
                  </a:solidFill>
                  <a:latin typeface="Arial" panose="020B0604020202020204" pitchFamily="34" charset="0"/>
                  <a:ea typeface="微软雅黑" panose="020B0503020204020204" pitchFamily="34" charset="-122"/>
                  <a:cs typeface="+mn-ea"/>
                </a:defRPr>
              </a:lvl1pPr>
            </a:lstStyle>
            <a:p>
              <a:pPr fontAlgn="auto">
                <a:lnSpc>
                  <a:spcPct val="120000"/>
                </a:lnSpc>
              </a:pPr>
              <a:r>
                <a:rPr lang="en-US" altLang="zh-CN" sz="2000" spc="300" dirty="0">
                  <a:solidFill>
                    <a:srgbClr val="3498DB"/>
                  </a:solidFill>
                  <a:latin typeface="微软雅黑" panose="020B0503020204020204" pitchFamily="34" charset="-122"/>
                  <a:ea typeface="微软雅黑" panose="020B0503020204020204" pitchFamily="34" charset="-122"/>
                </a:rPr>
                <a:t>remove()</a:t>
              </a:r>
              <a:endParaRPr lang="zh-CN" altLang="en-US" sz="2000" spc="300" dirty="0">
                <a:solidFill>
                  <a:srgbClr val="3498DB"/>
                </a:solidFill>
                <a:latin typeface="微软雅黑" panose="020B0503020204020204" pitchFamily="34" charset="-122"/>
                <a:ea typeface="微软雅黑" panose="020B0503020204020204" pitchFamily="34" charset="-122"/>
              </a:endParaRPr>
            </a:p>
          </p:txBody>
        </p:sp>
        <p:cxnSp>
          <p:nvCxnSpPr>
            <p:cNvPr id="12" name="直接连接符 11"/>
            <p:cNvCxnSpPr/>
            <p:nvPr>
              <p:custDataLst>
                <p:tags r:id="rId19"/>
              </p:custDataLst>
            </p:nvPr>
          </p:nvCxnSpPr>
          <p:spPr>
            <a:xfrm>
              <a:off x="6637" y="4727"/>
              <a:ext cx="0" cy="3113"/>
            </a:xfrm>
            <a:prstGeom prst="line">
              <a:avLst/>
            </a:prstGeom>
            <a:noFill/>
            <a:ln w="6350" cap="flat" cmpd="sng" algn="ctr">
              <a:solidFill>
                <a:sysClr val="window" lastClr="FFFFFF">
                  <a:lumMod val="85000"/>
                </a:sysClr>
              </a:solidFill>
              <a:prstDash val="solid"/>
              <a:miter lim="800000"/>
            </a:ln>
            <a:effectLst/>
          </p:spPr>
        </p:cxnSp>
      </p:gr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）列表的删除</a:t>
            </a:r>
            <a:endPar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en-US" altLang="zh-CN" sz="2800" dirty="0">
                <a:sym typeface="+mn-ea"/>
              </a:rPr>
              <a:t>pop()</a:t>
            </a:r>
            <a:r>
              <a:rPr altLang="en-US" sz="2800" dirty="0">
                <a:sym typeface="+mn-ea"/>
              </a:rPr>
              <a:t>方法删除列表元素</a:t>
            </a:r>
            <a:endParaRPr lang="zh-CN" altLang="en-US" sz="2800" dirty="0">
              <a:solidFill>
                <a:srgbClr val="FF0000"/>
              </a:solidFill>
            </a:endParaRPr>
          </a:p>
        </p:txBody>
      </p:sp>
      <p:sp>
        <p:nvSpPr>
          <p:cNvPr id="6" name="内容占位符 2"/>
          <p:cNvSpPr>
            <a:spLocks noGrp="1"/>
          </p:cNvSpPr>
          <p:nvPr/>
        </p:nvSpPr>
        <p:spPr>
          <a:xfrm>
            <a:off x="836930" y="2783205"/>
            <a:ext cx="10795635" cy="2733040"/>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删除列表元素</a:t>
            </a:r>
            <a:br>
              <a:rPr altLang="en-US" sz="2400" i="1" dirty="0">
                <a:sym typeface="+mn-ea"/>
              </a:rPr>
            </a:br>
            <a:r>
              <a:rPr lang="en-US" altLang="zh-CN" sz="2400" dirty="0">
                <a:sym typeface="+mn-ea"/>
              </a:rPr>
              <a:t>Cars = ['</a:t>
            </a:r>
            <a:r>
              <a:rPr altLang="en-US" sz="2400" dirty="0">
                <a:sym typeface="+mn-ea"/>
              </a:rPr>
              <a:t>宝马</a:t>
            </a:r>
            <a:r>
              <a:rPr lang="en-US" altLang="zh-CN" sz="2400" dirty="0">
                <a:sym typeface="+mn-ea"/>
              </a:rPr>
              <a:t>', '</a:t>
            </a:r>
            <a:r>
              <a:rPr altLang="en-US" sz="2400" dirty="0" err="1">
                <a:sym typeface="+mn-ea"/>
              </a:rPr>
              <a:t>奔驰</a:t>
            </a:r>
            <a:r>
              <a:rPr lang="en-US" altLang="zh-CN" sz="2400" dirty="0">
                <a:sym typeface="+mn-ea"/>
              </a:rPr>
              <a:t>', '</a:t>
            </a:r>
            <a:r>
              <a:rPr altLang="en-US" sz="2400" dirty="0">
                <a:sym typeface="+mn-ea"/>
              </a:rPr>
              <a:t>大众</a:t>
            </a:r>
            <a:r>
              <a:rPr lang="en-US" altLang="zh-CN" sz="2400" dirty="0">
                <a:sym typeface="+mn-ea"/>
              </a:rPr>
              <a:t>', '</a:t>
            </a:r>
            <a:r>
              <a:rPr altLang="en-US" sz="2400" dirty="0">
                <a:sym typeface="+mn-ea"/>
              </a:rPr>
              <a:t>长城</a:t>
            </a:r>
            <a:r>
              <a:rPr lang="en-US" altLang="zh-CN" sz="2400" dirty="0">
                <a:sym typeface="+mn-ea"/>
              </a:rPr>
              <a:t>', '</a:t>
            </a:r>
            <a:r>
              <a:rPr altLang="en-US" sz="2400" dirty="0">
                <a:sym typeface="+mn-ea"/>
              </a:rPr>
              <a:t>雪铁龙</a:t>
            </a:r>
            <a:r>
              <a:rPr lang="en-US" altLang="zh-CN" sz="2400" dirty="0">
                <a:sym typeface="+mn-ea"/>
              </a:rPr>
              <a:t>', '</a:t>
            </a:r>
            <a:r>
              <a:rPr altLang="en-US" sz="2400" dirty="0">
                <a:sym typeface="+mn-ea"/>
              </a:rPr>
              <a:t>沃尔沃</a:t>
            </a:r>
            <a:r>
              <a:rPr lang="en-US" altLang="zh-CN" sz="2400" dirty="0">
                <a:sym typeface="+mn-ea"/>
              </a:rPr>
              <a:t>' ]</a:t>
            </a:r>
            <a:br>
              <a:rPr lang="en-US" altLang="zh-CN" sz="2400" dirty="0">
                <a:sym typeface="+mn-ea"/>
              </a:rPr>
            </a:br>
            <a:r>
              <a:rPr lang="en-US" altLang="zh-CN" sz="2400" dirty="0" err="1">
                <a:solidFill>
                  <a:srgbClr val="FF0000"/>
                </a:solidFill>
                <a:sym typeface="+mn-ea"/>
              </a:rPr>
              <a:t>qj</a:t>
            </a:r>
            <a:r>
              <a:rPr lang="en-US" altLang="zh-CN" sz="2400" dirty="0">
                <a:solidFill>
                  <a:srgbClr val="FF0000"/>
                </a:solidFill>
                <a:sym typeface="+mn-ea"/>
              </a:rPr>
              <a:t> = </a:t>
            </a:r>
            <a:r>
              <a:rPr lang="en-US" altLang="zh-CN" sz="2400" dirty="0" err="1">
                <a:solidFill>
                  <a:srgbClr val="FF0000"/>
                </a:solidFill>
                <a:sym typeface="+mn-ea"/>
              </a:rPr>
              <a:t>Cars.pop</a:t>
            </a:r>
            <a:r>
              <a:rPr lang="en-US" altLang="zh-CN" sz="2400" dirty="0">
                <a:solidFill>
                  <a:srgbClr val="FF0000"/>
                </a:solidFill>
                <a:sym typeface="+mn-ea"/>
              </a:rPr>
              <a:t>()</a:t>
            </a:r>
            <a:br>
              <a:rPr lang="en-US" altLang="zh-CN" sz="2400">
                <a:sym typeface="+mn-ea"/>
              </a:rPr>
            </a:br>
            <a:r>
              <a:rPr lang="en-US" altLang="zh-CN" sz="2400">
                <a:sym typeface="+mn-ea"/>
              </a:rPr>
              <a:t>print(Cars)</a:t>
            </a:r>
            <a:endParaRPr lang="en-US" altLang="zh-CN" sz="2400" dirty="0"/>
          </a:p>
          <a:p>
            <a:pPr marL="0" indent="0">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sym typeface="+mn-ea"/>
              </a:rPr>
              <a:t>print(</a:t>
            </a:r>
            <a:r>
              <a:rPr lang="en-US" altLang="zh-CN" sz="2400" dirty="0" err="1">
                <a:latin typeface="Microsoft YaHei UI" panose="020B0503020204020204" pitchFamily="34" charset="-122"/>
                <a:ea typeface="Microsoft YaHei UI" panose="020B0503020204020204" pitchFamily="34" charset="-122"/>
                <a:cs typeface="Tahoma" panose="020B0604030504040204" pitchFamily="34" charset="0"/>
                <a:sym typeface="+mn-ea"/>
              </a:rPr>
              <a:t>qj</a:t>
            </a: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sym typeface="+mn-ea"/>
              </a:rPr>
              <a:t>)</a:t>
            </a:r>
            <a:endParaRPr lang="zh-CN" altLang="en-US" sz="2400" dirty="0">
              <a:latin typeface="Microsoft YaHei UI" panose="020B0503020204020204" pitchFamily="34" charset="-122"/>
              <a:ea typeface="Microsoft YaHei UI" panose="020B0503020204020204" pitchFamily="34" charset="-122"/>
              <a:cs typeface="Tahoma" panose="020B0604030504040204" pitchFamily="34" charset="0"/>
            </a:endParaRPr>
          </a:p>
          <a:p>
            <a:pPr marL="0" indent="0">
              <a:buNone/>
            </a:pP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2" name="线形标注 2(无边框) 1"/>
          <p:cNvSpPr/>
          <p:nvPr/>
        </p:nvSpPr>
        <p:spPr>
          <a:xfrm>
            <a:off x="4105275" y="3624580"/>
            <a:ext cx="4001135" cy="656590"/>
          </a:xfrm>
          <a:prstGeom prst="callout2">
            <a:avLst>
              <a:gd name="adj1" fmla="val 51312"/>
              <a:gd name="adj2" fmla="val 332"/>
              <a:gd name="adj3" fmla="val 44475"/>
              <a:gd name="adj4" fmla="val -6658"/>
              <a:gd name="adj5" fmla="val 37067"/>
              <a:gd name="adj6" fmla="val -1357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lvl="0" algn="l"/>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pop()删除列表尾部元素。</a:t>
            </a:r>
          </a:p>
        </p:txBody>
      </p:sp>
      <p:sp>
        <p:nvSpPr>
          <p:cNvPr id="10" name="线形标注 2(无边框) 9"/>
          <p:cNvSpPr/>
          <p:nvPr/>
        </p:nvSpPr>
        <p:spPr>
          <a:xfrm>
            <a:off x="3303677" y="4440922"/>
            <a:ext cx="5040560" cy="576064"/>
          </a:xfrm>
          <a:prstGeom prst="callout2">
            <a:avLst>
              <a:gd name="adj1" fmla="val 51312"/>
              <a:gd name="adj2" fmla="val 332"/>
              <a:gd name="adj3" fmla="val 44475"/>
              <a:gd name="adj4" fmla="val -6658"/>
              <a:gd name="adj5" fmla="val 37067"/>
              <a:gd name="adj6" fmla="val -1357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lvl="0" algn="l"/>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这里，变量qj保存了被删除的元素。</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2" grpId="0" bldLvl="0" animBg="1"/>
      <p:bldP spid="10"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）列表的删除</a:t>
            </a:r>
            <a:endPar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en-US" altLang="zh-CN" sz="2800" dirty="0">
                <a:sym typeface="+mn-ea"/>
              </a:rPr>
              <a:t>pop()</a:t>
            </a:r>
            <a:r>
              <a:rPr altLang="en-US" sz="2800" dirty="0">
                <a:sym typeface="+mn-ea"/>
              </a:rPr>
              <a:t>方法删除列表元素</a:t>
            </a:r>
            <a:endParaRPr lang="zh-CN" altLang="en-US" sz="2800" dirty="0">
              <a:solidFill>
                <a:srgbClr val="FF0000"/>
              </a:solidFill>
            </a:endParaRPr>
          </a:p>
        </p:txBody>
      </p:sp>
      <p:sp>
        <p:nvSpPr>
          <p:cNvPr id="6" name="内容占位符 2"/>
          <p:cNvSpPr>
            <a:spLocks noGrp="1"/>
          </p:cNvSpPr>
          <p:nvPr/>
        </p:nvSpPr>
        <p:spPr>
          <a:xfrm>
            <a:off x="836930" y="2783205"/>
            <a:ext cx="10795635" cy="2733040"/>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删除列表元素</a:t>
            </a:r>
            <a:br>
              <a:rPr altLang="en-US" sz="2400" i="1" dirty="0">
                <a:sym typeface="+mn-ea"/>
              </a:rPr>
            </a:br>
            <a:r>
              <a:rPr lang="en-US" altLang="zh-CN" sz="2400" dirty="0">
                <a:sym typeface="+mn-ea"/>
              </a:rPr>
              <a:t>Cars = ['</a:t>
            </a:r>
            <a:r>
              <a:rPr altLang="en-US" sz="2400" dirty="0">
                <a:sym typeface="+mn-ea"/>
              </a:rPr>
              <a:t>宝马</a:t>
            </a:r>
            <a:r>
              <a:rPr lang="en-US" altLang="zh-CN" sz="2400" dirty="0">
                <a:sym typeface="+mn-ea"/>
              </a:rPr>
              <a:t>', '</a:t>
            </a:r>
            <a:r>
              <a:rPr altLang="en-US" sz="2400" dirty="0" err="1">
                <a:sym typeface="+mn-ea"/>
              </a:rPr>
              <a:t>奔驰</a:t>
            </a:r>
            <a:r>
              <a:rPr lang="en-US" altLang="zh-CN" sz="2400" dirty="0">
                <a:sym typeface="+mn-ea"/>
              </a:rPr>
              <a:t>', '</a:t>
            </a:r>
            <a:r>
              <a:rPr altLang="en-US" sz="2400" dirty="0">
                <a:sym typeface="+mn-ea"/>
              </a:rPr>
              <a:t>大众</a:t>
            </a:r>
            <a:r>
              <a:rPr lang="en-US" altLang="zh-CN" sz="2400" dirty="0">
                <a:sym typeface="+mn-ea"/>
              </a:rPr>
              <a:t>', '</a:t>
            </a:r>
            <a:r>
              <a:rPr altLang="en-US" sz="2400" dirty="0">
                <a:sym typeface="+mn-ea"/>
              </a:rPr>
              <a:t>长城</a:t>
            </a:r>
            <a:r>
              <a:rPr lang="en-US" altLang="zh-CN" sz="2400" dirty="0">
                <a:sym typeface="+mn-ea"/>
              </a:rPr>
              <a:t>', '</a:t>
            </a:r>
            <a:r>
              <a:rPr altLang="en-US" sz="2400" dirty="0">
                <a:sym typeface="+mn-ea"/>
              </a:rPr>
              <a:t>雪铁龙</a:t>
            </a:r>
            <a:r>
              <a:rPr lang="en-US" altLang="zh-CN" sz="2400" dirty="0">
                <a:sym typeface="+mn-ea"/>
              </a:rPr>
              <a:t>', '</a:t>
            </a:r>
            <a:r>
              <a:rPr altLang="en-US" sz="2400" dirty="0">
                <a:sym typeface="+mn-ea"/>
              </a:rPr>
              <a:t>沃尔沃</a:t>
            </a:r>
            <a:r>
              <a:rPr lang="en-US" altLang="zh-CN" sz="2400" dirty="0">
                <a:sym typeface="+mn-ea"/>
              </a:rPr>
              <a:t>' ]</a:t>
            </a:r>
            <a:br>
              <a:rPr lang="en-US" altLang="zh-CN" sz="2400" dirty="0">
                <a:sym typeface="+mn-ea"/>
              </a:rPr>
            </a:br>
            <a:r>
              <a:rPr lang="en-US" altLang="zh-CN" sz="2400" dirty="0">
                <a:sym typeface="+mn-ea"/>
              </a:rPr>
              <a:t>print("pop(</a:t>
            </a:r>
            <a:r>
              <a:rPr lang="en-US" altLang="zh-CN" sz="2400" dirty="0" err="1">
                <a:sym typeface="+mn-ea"/>
              </a:rPr>
              <a:t>i</a:t>
            </a:r>
            <a:r>
              <a:rPr lang="en-US" altLang="zh-CN" sz="2400" dirty="0">
                <a:sym typeface="+mn-ea"/>
              </a:rPr>
              <a:t>)</a:t>
            </a:r>
            <a:r>
              <a:rPr altLang="en-US" sz="2400" dirty="0">
                <a:sym typeface="+mn-ea"/>
              </a:rPr>
              <a:t>方法删除第</a:t>
            </a:r>
            <a:r>
              <a:rPr lang="en-US" altLang="zh-CN" sz="2400" dirty="0">
                <a:sym typeface="+mn-ea"/>
              </a:rPr>
              <a:t>i+1</a:t>
            </a:r>
            <a:r>
              <a:rPr altLang="en-US" sz="2400" dirty="0">
                <a:sym typeface="+mn-ea"/>
              </a:rPr>
              <a:t>个元素。</a:t>
            </a:r>
            <a:r>
              <a:rPr lang="en-US" altLang="zh-CN" sz="2400" dirty="0">
                <a:sym typeface="+mn-ea"/>
              </a:rPr>
              <a:t>”)</a:t>
            </a:r>
            <a:br>
              <a:rPr lang="en-US" altLang="zh-CN" sz="2400" dirty="0">
                <a:sym typeface="+mn-ea"/>
              </a:rPr>
            </a:br>
            <a:r>
              <a:rPr lang="en-US" altLang="zh-CN" sz="2400" dirty="0" err="1">
                <a:solidFill>
                  <a:srgbClr val="FF0000"/>
                </a:solidFill>
                <a:sym typeface="+mn-ea"/>
              </a:rPr>
              <a:t>bmw</a:t>
            </a:r>
            <a:r>
              <a:rPr lang="en-US" altLang="zh-CN" sz="2400" dirty="0">
                <a:solidFill>
                  <a:srgbClr val="FF0000"/>
                </a:solidFill>
                <a:sym typeface="+mn-ea"/>
              </a:rPr>
              <a:t>= </a:t>
            </a:r>
            <a:r>
              <a:rPr lang="en-US" altLang="zh-CN" sz="2400" dirty="0" err="1">
                <a:solidFill>
                  <a:srgbClr val="FF0000"/>
                </a:solidFill>
                <a:sym typeface="+mn-ea"/>
              </a:rPr>
              <a:t>Cars.pop</a:t>
            </a:r>
            <a:r>
              <a:rPr lang="en-US" altLang="zh-CN" sz="2400" dirty="0">
                <a:solidFill>
                  <a:srgbClr val="FF0000"/>
                </a:solidFill>
                <a:sym typeface="+mn-ea"/>
              </a:rPr>
              <a:t>(0)</a:t>
            </a:r>
            <a:endParaRPr lang="en-US" altLang="zh-CN" sz="2400" dirty="0">
              <a:solidFill>
                <a:srgbClr val="FF0000"/>
              </a:solidFill>
            </a:endParaRPr>
          </a:p>
          <a:p>
            <a:pPr marL="0" indent="0">
              <a:buNone/>
            </a:pPr>
            <a:r>
              <a:rPr lang="en-US" altLang="zh-CN" sz="2400" dirty="0" err="1">
                <a:solidFill>
                  <a:srgbClr val="FF0000"/>
                </a:solidFill>
                <a:sym typeface="+mn-ea"/>
              </a:rPr>
              <a:t>cc</a:t>
            </a:r>
            <a:r>
              <a:rPr lang="en-US" altLang="zh-CN" sz="2400" dirty="0">
                <a:solidFill>
                  <a:srgbClr val="FF0000"/>
                </a:solidFill>
                <a:sym typeface="+mn-ea"/>
              </a:rPr>
              <a:t>= </a:t>
            </a:r>
            <a:r>
              <a:rPr lang="en-US" altLang="zh-CN" sz="2400" dirty="0" err="1">
                <a:solidFill>
                  <a:srgbClr val="FF0000"/>
                </a:solidFill>
                <a:sym typeface="+mn-ea"/>
              </a:rPr>
              <a:t>Cars.pop</a:t>
            </a:r>
            <a:r>
              <a:rPr lang="en-US" altLang="zh-CN" sz="2400" dirty="0">
                <a:solidFill>
                  <a:srgbClr val="FF0000"/>
                </a:solidFill>
                <a:sym typeface="+mn-ea"/>
              </a:rPr>
              <a:t>(2)</a:t>
            </a:r>
            <a:endParaRPr lang="zh-CN" altLang="en-US" sz="2400" dirty="0">
              <a:solidFill>
                <a:srgbClr val="FF0000"/>
              </a:solidFill>
              <a:latin typeface="Microsoft YaHei UI" panose="020B0503020204020204" pitchFamily="34" charset="-122"/>
              <a:ea typeface="Microsoft YaHei UI" panose="020B0503020204020204" pitchFamily="34" charset="-122"/>
              <a:cs typeface="Tahoma" panose="020B0604030504040204" pitchFamily="34" charset="0"/>
            </a:endParaRPr>
          </a:p>
          <a:p>
            <a:pPr marL="0" indent="0">
              <a:buNone/>
            </a:pPr>
            <a:endParaRPr lang="zh-CN" altLang="en-US" sz="2400" dirty="0">
              <a:latin typeface="Microsoft YaHei UI" panose="020B0503020204020204" pitchFamily="34" charset="-122"/>
              <a:ea typeface="Microsoft YaHei UI" panose="020B0503020204020204" pitchFamily="34" charset="-122"/>
              <a:cs typeface="Tahoma" panose="020B0604030504040204" pitchFamily="34" charset="0"/>
            </a:endParaRPr>
          </a:p>
          <a:p>
            <a:pPr marL="0" indent="0">
              <a:buNone/>
            </a:pP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8" name="线形标注 2(无边框) 7"/>
          <p:cNvSpPr/>
          <p:nvPr/>
        </p:nvSpPr>
        <p:spPr>
          <a:xfrm>
            <a:off x="7780139" y="3926448"/>
            <a:ext cx="3672408" cy="576064"/>
          </a:xfrm>
          <a:prstGeom prst="callout2">
            <a:avLst>
              <a:gd name="adj1" fmla="val 51312"/>
              <a:gd name="adj2" fmla="val 332"/>
              <a:gd name="adj3" fmla="val 44475"/>
              <a:gd name="adj4" fmla="val -6658"/>
              <a:gd name="adj5" fmla="val 10612"/>
              <a:gd name="adj6" fmla="val -12823"/>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lvl="0" algn="l"/>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pop(0)删除列表头部元素。</a:t>
            </a:r>
          </a:p>
        </p:txBody>
      </p:sp>
      <p:sp>
        <p:nvSpPr>
          <p:cNvPr id="9" name="线形标注 2(无边框) 8"/>
          <p:cNvSpPr/>
          <p:nvPr/>
        </p:nvSpPr>
        <p:spPr>
          <a:xfrm>
            <a:off x="5367655" y="4669790"/>
            <a:ext cx="5220335" cy="768985"/>
          </a:xfrm>
          <a:prstGeom prst="callout2">
            <a:avLst>
              <a:gd name="adj1" fmla="val 51312"/>
              <a:gd name="adj2" fmla="val 332"/>
              <a:gd name="adj3" fmla="val 44475"/>
              <a:gd name="adj4" fmla="val -6658"/>
              <a:gd name="adj5" fmla="val 10689"/>
              <a:gd name="adj6" fmla="val -1357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lvl="0" algn="l"/>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pop(2)删除了列表中第3个元素。被删除的元素存入cc变量中。</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9"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）列表的删除</a:t>
            </a:r>
            <a:endPar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465"/>
            <a:ext cx="977011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en-US" altLang="zh-CN" sz="2800" dirty="0">
                <a:sym typeface="+mn-ea"/>
              </a:rPr>
              <a:t>remove()</a:t>
            </a:r>
            <a:r>
              <a:rPr altLang="en-US" sz="2800" dirty="0">
                <a:sym typeface="+mn-ea"/>
              </a:rPr>
              <a:t>方法删除列表元素（若有重复，删除第一个）</a:t>
            </a:r>
            <a:endParaRPr lang="en-US" altLang="zh-CN" sz="2800" dirty="0">
              <a:solidFill>
                <a:srgbClr val="FF0000"/>
              </a:solidFill>
              <a:sym typeface="+mn-ea"/>
            </a:endParaRPr>
          </a:p>
        </p:txBody>
      </p:sp>
      <p:sp>
        <p:nvSpPr>
          <p:cNvPr id="6" name="内容占位符 2"/>
          <p:cNvSpPr>
            <a:spLocks noGrp="1"/>
          </p:cNvSpPr>
          <p:nvPr/>
        </p:nvSpPr>
        <p:spPr>
          <a:xfrm>
            <a:off x="836930" y="2783205"/>
            <a:ext cx="10795635" cy="2733040"/>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删除列表元素</a:t>
            </a:r>
            <a:br>
              <a:rPr altLang="en-US" sz="2400" i="1" dirty="0">
                <a:sym typeface="+mn-ea"/>
              </a:rPr>
            </a:br>
            <a:r>
              <a:rPr lang="en-US" altLang="zh-CN" sz="2400" dirty="0">
                <a:sym typeface="+mn-ea"/>
              </a:rPr>
              <a:t>Cars = ['</a:t>
            </a:r>
            <a:r>
              <a:rPr altLang="en-US" sz="2400" dirty="0">
                <a:sym typeface="+mn-ea"/>
              </a:rPr>
              <a:t>宝马</a:t>
            </a:r>
            <a:r>
              <a:rPr lang="en-US" altLang="zh-CN" sz="2400" dirty="0">
                <a:sym typeface="+mn-ea"/>
              </a:rPr>
              <a:t>', '</a:t>
            </a:r>
            <a:r>
              <a:rPr altLang="en-US" sz="2400" dirty="0" err="1">
                <a:sym typeface="+mn-ea"/>
              </a:rPr>
              <a:t>奔驰</a:t>
            </a:r>
            <a:r>
              <a:rPr lang="en-US" altLang="zh-CN" sz="2400" dirty="0">
                <a:sym typeface="+mn-ea"/>
              </a:rPr>
              <a:t>', '</a:t>
            </a:r>
            <a:r>
              <a:rPr altLang="en-US" sz="2400" dirty="0">
                <a:sym typeface="+mn-ea"/>
              </a:rPr>
              <a:t>大众</a:t>
            </a:r>
            <a:r>
              <a:rPr lang="en-US" altLang="zh-CN" sz="2400" dirty="0">
                <a:sym typeface="+mn-ea"/>
              </a:rPr>
              <a:t>', '</a:t>
            </a:r>
            <a:r>
              <a:rPr altLang="en-US" sz="2400" dirty="0">
                <a:sym typeface="+mn-ea"/>
              </a:rPr>
              <a:t>长城</a:t>
            </a:r>
            <a:r>
              <a:rPr lang="en-US" altLang="zh-CN" sz="2400" dirty="0">
                <a:sym typeface="+mn-ea"/>
              </a:rPr>
              <a:t>', '</a:t>
            </a:r>
            <a:r>
              <a:rPr altLang="en-US" sz="2400" dirty="0">
                <a:sym typeface="+mn-ea"/>
              </a:rPr>
              <a:t>雪铁龙</a:t>
            </a:r>
            <a:r>
              <a:rPr lang="en-US" altLang="zh-CN" sz="2400" dirty="0">
                <a:sym typeface="+mn-ea"/>
              </a:rPr>
              <a:t>', '</a:t>
            </a:r>
            <a:r>
              <a:rPr altLang="en-US" sz="2400" dirty="0">
                <a:sym typeface="+mn-ea"/>
              </a:rPr>
              <a:t>沃尔沃</a:t>
            </a:r>
            <a:r>
              <a:rPr lang="en-US" altLang="zh-CN" sz="2400" dirty="0">
                <a:sym typeface="+mn-ea"/>
              </a:rPr>
              <a:t>' ]</a:t>
            </a:r>
            <a:br>
              <a:rPr lang="en-US" altLang="zh-CN" sz="2400" dirty="0">
                <a:sym typeface="+mn-ea"/>
              </a:rPr>
            </a:br>
            <a:r>
              <a:rPr lang="en-US" altLang="zh-CN" sz="2400" dirty="0" err="1">
                <a:solidFill>
                  <a:srgbClr val="FF0000"/>
                </a:solidFill>
                <a:sym typeface="+mn-ea"/>
              </a:rPr>
              <a:t>Cars.remove</a:t>
            </a:r>
            <a:r>
              <a:rPr lang="en-US" altLang="zh-CN" sz="2400" dirty="0">
                <a:solidFill>
                  <a:srgbClr val="FF0000"/>
                </a:solidFill>
                <a:sym typeface="+mn-ea"/>
              </a:rPr>
              <a:t>(‘</a:t>
            </a:r>
            <a:r>
              <a:rPr altLang="en-US" sz="2400" dirty="0">
                <a:solidFill>
                  <a:srgbClr val="FF0000"/>
                </a:solidFill>
                <a:sym typeface="+mn-ea"/>
              </a:rPr>
              <a:t>雪铁龙</a:t>
            </a:r>
            <a:r>
              <a:rPr lang="en-US" altLang="zh-CN" sz="2400" dirty="0">
                <a:solidFill>
                  <a:srgbClr val="FF0000"/>
                </a:solidFill>
                <a:sym typeface="+mn-ea"/>
              </a:rPr>
              <a:t>’)</a:t>
            </a:r>
            <a:br>
              <a:rPr lang="en-US" altLang="zh-CN" sz="2400" dirty="0">
                <a:sym typeface="+mn-ea"/>
              </a:rPr>
            </a:br>
            <a:r>
              <a:rPr lang="en-US" altLang="zh-CN" sz="2400" dirty="0">
                <a:sym typeface="+mn-ea"/>
              </a:rPr>
              <a:t>print(Cars )</a:t>
            </a:r>
            <a:endParaRPr lang="zh-CN" altLang="en-US" sz="2400" dirty="0">
              <a:latin typeface="Microsoft YaHei UI" panose="020B0503020204020204" pitchFamily="34" charset="-122"/>
              <a:ea typeface="Microsoft YaHei UI" panose="020B0503020204020204" pitchFamily="34" charset="-122"/>
              <a:cs typeface="Tahoma" panose="020B0604030504040204" pitchFamily="34" charset="0"/>
            </a:endParaRPr>
          </a:p>
          <a:p>
            <a:pPr marL="0" indent="0">
              <a:buNone/>
            </a:pP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2" name="线形标注 2(无边框) 1"/>
          <p:cNvSpPr/>
          <p:nvPr/>
        </p:nvSpPr>
        <p:spPr>
          <a:xfrm>
            <a:off x="4040505" y="4554220"/>
            <a:ext cx="6871335" cy="656590"/>
          </a:xfrm>
          <a:prstGeom prst="callout2">
            <a:avLst>
              <a:gd name="adj1" fmla="val -3284"/>
              <a:gd name="adj2" fmla="val 34242"/>
              <a:gd name="adj3" fmla="val -53576"/>
              <a:gd name="adj4" fmla="val 28514"/>
              <a:gd name="adj5" fmla="val -92933"/>
              <a:gd name="adj6" fmla="val 1598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lvl="0" algn="l"/>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remove(</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雪铁龙</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)删除值为</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雪铁龙'的元素。</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2"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）列表的删除</a:t>
            </a:r>
            <a:endPar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en-US" altLang="zh-CN" sz="2800" dirty="0">
                <a:sym typeface="+mn-ea"/>
              </a:rPr>
              <a:t>clear</a:t>
            </a:r>
            <a:r>
              <a:rPr altLang="en-US" sz="2800" dirty="0">
                <a:sym typeface="+mn-ea"/>
              </a:rPr>
              <a:t>语句删除列表元素</a:t>
            </a:r>
            <a:endParaRPr lang="zh-CN" altLang="en-US" sz="2800" dirty="0">
              <a:solidFill>
                <a:srgbClr val="FF0000"/>
              </a:solidFill>
            </a:endParaRPr>
          </a:p>
        </p:txBody>
      </p:sp>
      <p:sp>
        <p:nvSpPr>
          <p:cNvPr id="6" name="内容占位符 2"/>
          <p:cNvSpPr>
            <a:spLocks noGrp="1"/>
          </p:cNvSpPr>
          <p:nvPr/>
        </p:nvSpPr>
        <p:spPr>
          <a:xfrm>
            <a:off x="836930" y="2927009"/>
            <a:ext cx="10795635" cy="3006431"/>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删除列表元素</a:t>
            </a:r>
            <a:br>
              <a:rPr altLang="en-US" sz="2400" i="1" dirty="0">
                <a:sym typeface="+mn-ea"/>
              </a:rPr>
            </a:br>
            <a:r>
              <a:rPr lang="en-US" altLang="zh-CN" sz="2400" dirty="0">
                <a:sym typeface="+mn-ea"/>
              </a:rPr>
              <a:t>Cars = ['</a:t>
            </a:r>
            <a:r>
              <a:rPr altLang="en-US" sz="2400" dirty="0">
                <a:sym typeface="+mn-ea"/>
              </a:rPr>
              <a:t>宝马</a:t>
            </a:r>
            <a:r>
              <a:rPr lang="en-US" altLang="zh-CN" sz="2400" dirty="0">
                <a:sym typeface="+mn-ea"/>
              </a:rPr>
              <a:t>', '</a:t>
            </a:r>
            <a:r>
              <a:rPr altLang="en-US" sz="2400" dirty="0" err="1">
                <a:sym typeface="+mn-ea"/>
              </a:rPr>
              <a:t>奔驰</a:t>
            </a:r>
            <a:r>
              <a:rPr lang="en-US" altLang="zh-CN" sz="2400" dirty="0">
                <a:sym typeface="+mn-ea"/>
              </a:rPr>
              <a:t>', '</a:t>
            </a:r>
            <a:r>
              <a:rPr altLang="en-US" sz="2400" dirty="0">
                <a:sym typeface="+mn-ea"/>
              </a:rPr>
              <a:t>大众</a:t>
            </a:r>
            <a:r>
              <a:rPr lang="en-US" altLang="zh-CN" sz="2400" dirty="0">
                <a:sym typeface="+mn-ea"/>
              </a:rPr>
              <a:t>', '</a:t>
            </a:r>
            <a:r>
              <a:rPr altLang="en-US" sz="2400" dirty="0">
                <a:sym typeface="+mn-ea"/>
              </a:rPr>
              <a:t>长城</a:t>
            </a:r>
            <a:r>
              <a:rPr lang="en-US" altLang="zh-CN" sz="2400" dirty="0">
                <a:sym typeface="+mn-ea"/>
              </a:rPr>
              <a:t>', '</a:t>
            </a:r>
            <a:r>
              <a:rPr altLang="en-US" sz="2400" dirty="0">
                <a:sym typeface="+mn-ea"/>
              </a:rPr>
              <a:t>雪铁龙</a:t>
            </a:r>
            <a:r>
              <a:rPr lang="en-US" altLang="zh-CN" sz="2400" dirty="0">
                <a:sym typeface="+mn-ea"/>
              </a:rPr>
              <a:t>', '</a:t>
            </a:r>
            <a:r>
              <a:rPr altLang="en-US" sz="2400" dirty="0">
                <a:sym typeface="+mn-ea"/>
              </a:rPr>
              <a:t>沃尔沃</a:t>
            </a:r>
            <a:r>
              <a:rPr lang="en-US" altLang="zh-CN" sz="2400" dirty="0">
                <a:sym typeface="+mn-ea"/>
              </a:rPr>
              <a:t>' ]</a:t>
            </a:r>
            <a:br>
              <a:rPr lang="en-US" altLang="zh-CN" sz="2400" dirty="0">
                <a:sym typeface="+mn-ea"/>
              </a:rPr>
            </a:br>
            <a:r>
              <a:rPr lang="en-US" altLang="zh-CN" sz="2400" dirty="0">
                <a:solidFill>
                  <a:srgbClr val="FF0000"/>
                </a:solidFill>
                <a:sym typeface="+mn-ea"/>
              </a:rPr>
              <a:t>Cars.clear()</a:t>
            </a:r>
            <a:br>
              <a:rPr lang="en-US" altLang="zh-CN" sz="2400" dirty="0">
                <a:sym typeface="+mn-ea"/>
              </a:rPr>
            </a:br>
            <a:r>
              <a:rPr lang="en-US" altLang="zh-CN" sz="2400" dirty="0">
                <a:sym typeface="+mn-ea"/>
              </a:rPr>
              <a:t>print(Cars )</a:t>
            </a: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）列表的删除</a:t>
            </a:r>
            <a:endPar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en-US" altLang="zh-CN" sz="2800" dirty="0">
                <a:sym typeface="+mn-ea"/>
              </a:rPr>
              <a:t>del</a:t>
            </a:r>
            <a:r>
              <a:rPr altLang="en-US" sz="2800" dirty="0">
                <a:sym typeface="+mn-ea"/>
              </a:rPr>
              <a:t>语句删除列表元素</a:t>
            </a:r>
            <a:endParaRPr lang="zh-CN" altLang="en-US" sz="2800" dirty="0">
              <a:solidFill>
                <a:srgbClr val="FF0000"/>
              </a:solidFill>
            </a:endParaRPr>
          </a:p>
        </p:txBody>
      </p:sp>
      <p:sp>
        <p:nvSpPr>
          <p:cNvPr id="6" name="内容占位符 2"/>
          <p:cNvSpPr>
            <a:spLocks noGrp="1"/>
          </p:cNvSpPr>
          <p:nvPr/>
        </p:nvSpPr>
        <p:spPr>
          <a:xfrm>
            <a:off x="836930" y="2783205"/>
            <a:ext cx="10795635" cy="3150235"/>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删除列表元素</a:t>
            </a:r>
            <a:br>
              <a:rPr altLang="en-US" sz="2400" i="1" dirty="0">
                <a:sym typeface="+mn-ea"/>
              </a:rPr>
            </a:br>
            <a:r>
              <a:rPr lang="en-US" altLang="zh-CN" sz="2400" dirty="0">
                <a:sym typeface="+mn-ea"/>
              </a:rPr>
              <a:t>Cars = ['</a:t>
            </a:r>
            <a:r>
              <a:rPr altLang="en-US" sz="2400" dirty="0">
                <a:sym typeface="+mn-ea"/>
              </a:rPr>
              <a:t>宝马</a:t>
            </a:r>
            <a:r>
              <a:rPr lang="en-US" altLang="zh-CN" sz="2400" dirty="0">
                <a:sym typeface="+mn-ea"/>
              </a:rPr>
              <a:t>', '</a:t>
            </a:r>
            <a:r>
              <a:rPr altLang="en-US" sz="2400" dirty="0" err="1">
                <a:sym typeface="+mn-ea"/>
              </a:rPr>
              <a:t>奔驰</a:t>
            </a:r>
            <a:r>
              <a:rPr lang="en-US" altLang="zh-CN" sz="2400" dirty="0">
                <a:sym typeface="+mn-ea"/>
              </a:rPr>
              <a:t>', '</a:t>
            </a:r>
            <a:r>
              <a:rPr altLang="en-US" sz="2400" dirty="0">
                <a:sym typeface="+mn-ea"/>
              </a:rPr>
              <a:t>大众</a:t>
            </a:r>
            <a:r>
              <a:rPr lang="en-US" altLang="zh-CN" sz="2400" dirty="0">
                <a:sym typeface="+mn-ea"/>
              </a:rPr>
              <a:t>', '</a:t>
            </a:r>
            <a:r>
              <a:rPr altLang="en-US" sz="2400" dirty="0">
                <a:sym typeface="+mn-ea"/>
              </a:rPr>
              <a:t>长城</a:t>
            </a:r>
            <a:r>
              <a:rPr lang="en-US" altLang="zh-CN" sz="2400" dirty="0">
                <a:sym typeface="+mn-ea"/>
              </a:rPr>
              <a:t>', '</a:t>
            </a:r>
            <a:r>
              <a:rPr altLang="en-US" sz="2400" dirty="0">
                <a:sym typeface="+mn-ea"/>
              </a:rPr>
              <a:t>雪铁龙</a:t>
            </a:r>
            <a:r>
              <a:rPr lang="en-US" altLang="zh-CN" sz="2400" dirty="0">
                <a:sym typeface="+mn-ea"/>
              </a:rPr>
              <a:t>', '</a:t>
            </a:r>
            <a:r>
              <a:rPr altLang="en-US" sz="2400" dirty="0">
                <a:sym typeface="+mn-ea"/>
              </a:rPr>
              <a:t>沃尔沃</a:t>
            </a:r>
            <a:r>
              <a:rPr lang="en-US" altLang="zh-CN" sz="2400" dirty="0">
                <a:sym typeface="+mn-ea"/>
              </a:rPr>
              <a:t>' ]</a:t>
            </a:r>
            <a:br>
              <a:rPr lang="en-US" altLang="zh-CN" sz="2400" dirty="0">
                <a:sym typeface="+mn-ea"/>
              </a:rPr>
            </a:br>
            <a:r>
              <a:rPr lang="en-US" altLang="zh-CN" sz="2400" dirty="0">
                <a:solidFill>
                  <a:srgbClr val="FF0000"/>
                </a:solidFill>
                <a:sym typeface="+mn-ea"/>
              </a:rPr>
              <a:t>del Cars[0]</a:t>
            </a:r>
            <a:br>
              <a:rPr lang="en-US" altLang="zh-CN" sz="2400" dirty="0">
                <a:solidFill>
                  <a:srgbClr val="FF0000"/>
                </a:solidFill>
                <a:sym typeface="+mn-ea"/>
              </a:rPr>
            </a:br>
            <a:r>
              <a:rPr lang="en-US" altLang="zh-CN" sz="2400" dirty="0">
                <a:sym typeface="+mn-ea"/>
              </a:rPr>
              <a:t>print(Cars )</a:t>
            </a:r>
            <a:br>
              <a:rPr lang="en-US" altLang="zh-CN" sz="2400" dirty="0">
                <a:sym typeface="+mn-ea"/>
              </a:rPr>
            </a:br>
            <a:br>
              <a:rPr lang="en-US" altLang="zh-CN" sz="2400" dirty="0">
                <a:sym typeface="+mn-ea"/>
              </a:rPr>
            </a:br>
            <a:r>
              <a:rPr lang="en-US" altLang="zh-CN" sz="2400" dirty="0">
                <a:solidFill>
                  <a:srgbClr val="FF0000"/>
                </a:solidFill>
                <a:sym typeface="+mn-ea"/>
              </a:rPr>
              <a:t>del Cars[2]</a:t>
            </a:r>
            <a:br>
              <a:rPr lang="en-US" altLang="zh-CN" sz="2400" dirty="0">
                <a:sym typeface="+mn-ea"/>
              </a:rPr>
            </a:br>
            <a:r>
              <a:rPr lang="en-US" altLang="zh-CN" sz="2400" dirty="0">
                <a:sym typeface="+mn-ea"/>
              </a:rPr>
              <a:t>print(Cars )</a:t>
            </a: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8" name="线形标注 2(无边框) 7"/>
          <p:cNvSpPr/>
          <p:nvPr/>
        </p:nvSpPr>
        <p:spPr>
          <a:xfrm>
            <a:off x="3533140" y="3724910"/>
            <a:ext cx="4911090" cy="804545"/>
          </a:xfrm>
          <a:prstGeom prst="callout2">
            <a:avLst>
              <a:gd name="adj1" fmla="val 51312"/>
              <a:gd name="adj2" fmla="val 332"/>
              <a:gd name="adj3" fmla="val 44475"/>
              <a:gd name="adj4" fmla="val -6658"/>
              <a:gd name="adj5" fmla="val 40511"/>
              <a:gd name="adj6" fmla="val -9526"/>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lvl="0" algn="l"/>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删除第1个元素。</a:t>
            </a:r>
            <a:b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b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del语句写法: del  列表名[i]</a:t>
            </a:r>
          </a:p>
        </p:txBody>
      </p:sp>
      <p:sp>
        <p:nvSpPr>
          <p:cNvPr id="9" name="线形标注 2(无边框) 8"/>
          <p:cNvSpPr/>
          <p:nvPr/>
        </p:nvSpPr>
        <p:spPr>
          <a:xfrm>
            <a:off x="3533044" y="4889738"/>
            <a:ext cx="2952328" cy="720080"/>
          </a:xfrm>
          <a:prstGeom prst="callout2">
            <a:avLst>
              <a:gd name="adj1" fmla="val 51312"/>
              <a:gd name="adj2" fmla="val 332"/>
              <a:gd name="adj3" fmla="val 44475"/>
              <a:gd name="adj4" fmla="val -6658"/>
              <a:gd name="adj5" fmla="val 37067"/>
              <a:gd name="adj6" fmla="val -1357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lvl="0" algn="l"/>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删除第3个元素。</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bldLvl="0" animBg="1"/>
      <p:bldP spid="9"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430020" y="1854835"/>
            <a:ext cx="9996170" cy="93599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solidFill>
                  <a:srgbClr val="FF0000"/>
                </a:solidFill>
                <a:latin typeface="微软雅黑" panose="020B0503020204020204" pitchFamily="34" charset="-122"/>
                <a:ea typeface="微软雅黑" panose="020B0503020204020204" pitchFamily="34" charset="-122"/>
              </a:rPr>
              <a:t>思考：</a:t>
            </a:r>
            <a:r>
              <a:rPr lang="zh-CN" altLang="en-US" sz="2800" dirty="0">
                <a:sym typeface="+mn-ea"/>
              </a:rPr>
              <a:t>列表四种删除方法的区别（</a:t>
            </a:r>
            <a:r>
              <a:rPr lang="en-US" altLang="zh-CN" sz="2800" dirty="0">
                <a:sym typeface="+mn-ea"/>
              </a:rPr>
              <a:t>del</a:t>
            </a:r>
            <a:r>
              <a:rPr lang="zh-CN" altLang="en-US" sz="2800" dirty="0">
                <a:sym typeface="+mn-ea"/>
              </a:rPr>
              <a:t>、</a:t>
            </a:r>
            <a:r>
              <a:rPr lang="en-US" altLang="zh-CN" sz="2800" dirty="0">
                <a:sym typeface="+mn-ea"/>
              </a:rPr>
              <a:t>remove</a:t>
            </a:r>
            <a:r>
              <a:rPr lang="zh-CN" altLang="en-US" sz="2800" dirty="0">
                <a:sym typeface="+mn-ea"/>
              </a:rPr>
              <a:t>、</a:t>
            </a:r>
            <a:r>
              <a:rPr lang="en-US" altLang="zh-CN" sz="2800" dirty="0">
                <a:sym typeface="+mn-ea"/>
              </a:rPr>
              <a:t>pop</a:t>
            </a:r>
            <a:r>
              <a:rPr altLang="en-US" sz="2800" dirty="0">
                <a:sym typeface="+mn-ea"/>
              </a:rPr>
              <a:t>、</a:t>
            </a:r>
            <a:r>
              <a:rPr lang="en-US" altLang="zh-CN" sz="2800" dirty="0">
                <a:sym typeface="+mn-ea"/>
              </a:rPr>
              <a:t>clear</a:t>
            </a:r>
            <a:r>
              <a:rPr lang="zh-CN" altLang="en-US" sz="2800" dirty="0">
                <a:sym typeface="+mn-ea"/>
              </a:rPr>
              <a:t>）</a:t>
            </a:r>
            <a:endParaRPr lang="zh-CN" altLang="en-US" sz="2800" dirty="0">
              <a:solidFill>
                <a:srgbClr val="FF0000"/>
              </a:solidFill>
            </a:endParaRPr>
          </a:p>
        </p:txBody>
      </p:sp>
      <p:pic>
        <p:nvPicPr>
          <p:cNvPr id="9" name="图片 8"/>
          <p:cNvPicPr>
            <a:picLocks noChangeAspect="1"/>
          </p:cNvPicPr>
          <p:nvPr/>
        </p:nvPicPr>
        <p:blipFill rotWithShape="1">
          <a:blip r:embed="rId2"/>
          <a:srcRect r="1429" b="5447"/>
          <a:stretch>
            <a:fillRect/>
          </a:stretch>
        </p:blipFill>
        <p:spPr>
          <a:xfrm>
            <a:off x="128846" y="1549902"/>
            <a:ext cx="1300836" cy="1372482"/>
          </a:xfrm>
          <a:prstGeom prst="rect">
            <a:avLst/>
          </a:prstGeom>
        </p:spPr>
      </p:pic>
      <p:sp>
        <p:nvSpPr>
          <p:cNvPr id="11" name="矩形 10"/>
          <p:cNvSpPr/>
          <p:nvPr/>
        </p:nvSpPr>
        <p:spPr>
          <a:xfrm>
            <a:off x="1562671" y="3058578"/>
            <a:ext cx="10225136" cy="523220"/>
          </a:xfrm>
          <a:prstGeom prst="rect">
            <a:avLst/>
          </a:prstGeom>
        </p:spPr>
        <p:txBody>
          <a:bodyPr wrap="square">
            <a:spAutoFit/>
          </a:bodyPr>
          <a:lstStyle/>
          <a:p>
            <a:r>
              <a:rPr lang="en-US" altLang="zh-CN" sz="2800" b="1" dirty="0">
                <a:solidFill>
                  <a:srgbClr val="4F4F4F"/>
                </a:solidFill>
                <a:latin typeface="-apple-system"/>
              </a:rPr>
              <a:t>remove </a:t>
            </a:r>
            <a:r>
              <a:rPr lang="zh-CN" altLang="en-US" sz="2800" b="1" dirty="0">
                <a:solidFill>
                  <a:srgbClr val="4F4F4F"/>
                </a:solidFill>
                <a:latin typeface="-apple-system"/>
              </a:rPr>
              <a:t>是删除首个符合条件的元素。并不是删除特定的索引</a:t>
            </a:r>
            <a:endParaRPr lang="zh-CN" altLang="en-US" sz="2800" b="1" dirty="0"/>
          </a:p>
        </p:txBody>
      </p:sp>
      <p:sp>
        <p:nvSpPr>
          <p:cNvPr id="12" name="矩形 11"/>
          <p:cNvSpPr/>
          <p:nvPr/>
        </p:nvSpPr>
        <p:spPr>
          <a:xfrm>
            <a:off x="1562671" y="3799965"/>
            <a:ext cx="9793088" cy="523220"/>
          </a:xfrm>
          <a:prstGeom prst="rect">
            <a:avLst/>
          </a:prstGeom>
        </p:spPr>
        <p:txBody>
          <a:bodyPr wrap="square">
            <a:spAutoFit/>
          </a:bodyPr>
          <a:lstStyle/>
          <a:p>
            <a:r>
              <a:rPr lang="en-US" altLang="zh-CN" sz="2800" b="1" dirty="0">
                <a:solidFill>
                  <a:srgbClr val="4F4F4F"/>
                </a:solidFill>
                <a:latin typeface="-apple-system"/>
              </a:rPr>
              <a:t>del</a:t>
            </a:r>
            <a:r>
              <a:rPr lang="zh-CN" altLang="en-US" sz="2800" b="1" dirty="0">
                <a:solidFill>
                  <a:srgbClr val="4F4F4F"/>
                </a:solidFill>
                <a:latin typeface="-apple-system"/>
              </a:rPr>
              <a:t>是根据索引（元素所在位置）来删除的，不返回删除值</a:t>
            </a:r>
          </a:p>
        </p:txBody>
      </p:sp>
      <p:sp>
        <p:nvSpPr>
          <p:cNvPr id="13" name="矩形 12"/>
          <p:cNvSpPr/>
          <p:nvPr/>
        </p:nvSpPr>
        <p:spPr>
          <a:xfrm>
            <a:off x="1562671" y="4560957"/>
            <a:ext cx="10225136" cy="523220"/>
          </a:xfrm>
          <a:prstGeom prst="rect">
            <a:avLst/>
          </a:prstGeom>
        </p:spPr>
        <p:txBody>
          <a:bodyPr wrap="square">
            <a:spAutoFit/>
          </a:bodyPr>
          <a:lstStyle/>
          <a:p>
            <a:r>
              <a:rPr lang="en-US" altLang="zh-CN" sz="2800" b="1" dirty="0">
                <a:solidFill>
                  <a:srgbClr val="4F4F4F"/>
                </a:solidFill>
                <a:latin typeface="-apple-system"/>
              </a:rPr>
              <a:t>pop(index)</a:t>
            </a:r>
            <a:r>
              <a:rPr lang="zh-CN" altLang="en-US" sz="2800" b="1" dirty="0">
                <a:solidFill>
                  <a:srgbClr val="4F4F4F"/>
                </a:solidFill>
                <a:latin typeface="-apple-system"/>
              </a:rPr>
              <a:t>方法是对元素下标进行检索删除，返回删除值</a:t>
            </a:r>
          </a:p>
        </p:txBody>
      </p:sp>
      <p:sp>
        <p:nvSpPr>
          <p:cNvPr id="2" name="矩形 1"/>
          <p:cNvSpPr/>
          <p:nvPr/>
        </p:nvSpPr>
        <p:spPr>
          <a:xfrm>
            <a:off x="1562671" y="5438527"/>
            <a:ext cx="10225136" cy="521970"/>
          </a:xfrm>
          <a:prstGeom prst="rect">
            <a:avLst/>
          </a:prstGeom>
        </p:spPr>
        <p:txBody>
          <a:bodyPr wrap="square">
            <a:spAutoFit/>
          </a:bodyPr>
          <a:lstStyle/>
          <a:p>
            <a:r>
              <a:rPr lang="en-US" altLang="zh-CN" sz="2800" b="1" dirty="0">
                <a:solidFill>
                  <a:srgbClr val="4F4F4F"/>
                </a:solidFill>
                <a:latin typeface="-apple-system"/>
              </a:rPr>
              <a:t>clear</a:t>
            </a:r>
            <a:r>
              <a:rPr lang="zh-CN" altLang="en-US" sz="2800" b="1" dirty="0">
                <a:solidFill>
                  <a:srgbClr val="4F4F4F"/>
                </a:solidFill>
                <a:latin typeface="-apple-system"/>
              </a:rPr>
              <a:t>只是清空列表，列表本身所在地址并没有删除</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2" grpId="0"/>
      <p:bldP spid="13" grpId="0"/>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列表删除元素：</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特别</a:t>
            </a: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Tips</a:t>
            </a:r>
          </a:p>
        </p:txBody>
      </p:sp>
      <p:pic>
        <p:nvPicPr>
          <p:cNvPr id="4" name="图片 3"/>
          <p:cNvPicPr>
            <a:picLocks noChangeAspect="1"/>
          </p:cNvPicPr>
          <p:nvPr/>
        </p:nvPicPr>
        <p:blipFill>
          <a:blip r:embed="rId2"/>
          <a:stretch>
            <a:fillRect/>
          </a:stretch>
        </p:blipFill>
        <p:spPr>
          <a:xfrm>
            <a:off x="10473690" y="885825"/>
            <a:ext cx="1623695" cy="1623695"/>
          </a:xfrm>
          <a:prstGeom prst="rect">
            <a:avLst/>
          </a:prstGeom>
        </p:spPr>
      </p:pic>
      <p:sp>
        <p:nvSpPr>
          <p:cNvPr id="36866" name="文本占位符 32770"/>
          <p:cNvSpPr>
            <a:spLocks noGrp="1"/>
          </p:cNvSpPr>
          <p:nvPr/>
        </p:nvSpPr>
        <p:spPr>
          <a:xfrm>
            <a:off x="457200" y="1600200"/>
            <a:ext cx="9697085"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defTabSz="914400">
              <a:lnSpc>
                <a:spcPct val="150000"/>
              </a:lnSpc>
              <a:spcBef>
                <a:spcPct val="0"/>
              </a:spcBef>
              <a:buSzPct val="90000"/>
              <a:buFont typeface="Wingdings" panose="05000000000000000000"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代码编写好后必须要经过</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反复测试</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，不能满足于几次测试结果正确</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。例如，下面的代码成功地删除了列表中的重复元素，执行结果是完全正确的。</a:t>
            </a:r>
          </a:p>
          <a:p>
            <a:pPr defTabSz="914400">
              <a:lnSpc>
                <a:spcPct val="85000"/>
              </a:lnSpc>
              <a:spcBef>
                <a:spcPct val="0"/>
              </a:spcBef>
              <a:buSzPct val="90000"/>
              <a:buFont typeface="Wingdings" panose="05000000000000000000" pitchFamily="2" charset="2"/>
              <a:buNone/>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defTabSz="914400">
              <a:lnSpc>
                <a:spcPct val="105000"/>
              </a:lnSpc>
              <a:spcBef>
                <a:spcPct val="0"/>
              </a:spcBef>
              <a:buSzPct val="90000"/>
              <a:buFont typeface="Wingdings" panose="05000000000000000000" pitchFamily="2" charset="2"/>
              <a:buNone/>
            </a:pPr>
            <a:r>
              <a:rPr lang="en-US" altLang="zh-CN" sz="2400" b="1" dirty="0">
                <a:ea typeface="微软雅黑" panose="020B0503020204020204" pitchFamily="34" charset="-122"/>
                <a:cs typeface="+mn-lt"/>
              </a:rPr>
              <a:t>x = [1,2,1,2,1,2,1,2,1]</a:t>
            </a:r>
          </a:p>
          <a:p>
            <a:pPr defTabSz="914400">
              <a:lnSpc>
                <a:spcPct val="105000"/>
              </a:lnSpc>
              <a:spcBef>
                <a:spcPct val="0"/>
              </a:spcBef>
              <a:buSzPct val="90000"/>
              <a:buFont typeface="Wingdings" panose="05000000000000000000" pitchFamily="2" charset="2"/>
              <a:buNone/>
            </a:pPr>
            <a:r>
              <a:rPr lang="en-US" altLang="zh-CN" sz="2400" b="1" dirty="0">
                <a:ea typeface="微软雅黑" panose="020B0503020204020204" pitchFamily="34" charset="-122"/>
                <a:cs typeface="+mn-lt"/>
              </a:rPr>
              <a:t>for i in x:</a:t>
            </a:r>
          </a:p>
          <a:p>
            <a:pPr defTabSz="914400">
              <a:lnSpc>
                <a:spcPct val="105000"/>
              </a:lnSpc>
              <a:spcBef>
                <a:spcPct val="0"/>
              </a:spcBef>
              <a:buSzPct val="90000"/>
              <a:buFont typeface="Wingdings" panose="05000000000000000000" pitchFamily="2" charset="2"/>
              <a:buNone/>
            </a:pPr>
            <a:r>
              <a:rPr lang="en-US" altLang="zh-CN" sz="2400" b="1" dirty="0">
                <a:ea typeface="微软雅黑" panose="020B0503020204020204" pitchFamily="34" charset="-122"/>
                <a:cs typeface="+mn-lt"/>
              </a:rPr>
              <a:t>      if i == 1:</a:t>
            </a:r>
          </a:p>
          <a:p>
            <a:pPr defTabSz="914400">
              <a:lnSpc>
                <a:spcPct val="105000"/>
              </a:lnSpc>
              <a:spcBef>
                <a:spcPct val="0"/>
              </a:spcBef>
              <a:buSzPct val="90000"/>
              <a:buFont typeface="Wingdings" panose="05000000000000000000" pitchFamily="2" charset="2"/>
              <a:buNone/>
            </a:pPr>
            <a:r>
              <a:rPr lang="en-US" altLang="zh-CN" sz="2400" b="1" dirty="0">
                <a:ea typeface="微软雅黑" panose="020B0503020204020204" pitchFamily="34" charset="-122"/>
                <a:cs typeface="+mn-lt"/>
              </a:rPr>
              <a:t>            x.remove(i)		</a:t>
            </a:r>
          </a:p>
          <a:p>
            <a:pPr defTabSz="914400">
              <a:lnSpc>
                <a:spcPct val="105000"/>
              </a:lnSpc>
              <a:spcBef>
                <a:spcPct val="0"/>
              </a:spcBef>
              <a:buSzPct val="90000"/>
              <a:buFont typeface="Wingdings" panose="05000000000000000000" pitchFamily="2" charset="2"/>
              <a:buNone/>
            </a:pPr>
            <a:r>
              <a:rPr lang="en-US" altLang="zh-CN" sz="2400" b="1" dirty="0">
                <a:ea typeface="微软雅黑" panose="020B0503020204020204" pitchFamily="34" charset="-122"/>
                <a:cs typeface="+mn-lt"/>
              </a:rPr>
              <a:t>x</a:t>
            </a:r>
            <a:endPar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482600" y="5733415"/>
            <a:ext cx="1705610" cy="404495"/>
          </a:xfrm>
          <a:prstGeom prst="rect">
            <a:avLst/>
          </a:prstGeom>
          <a:noFill/>
        </p:spPr>
        <p:txBody>
          <a:bodyPr wrap="none" rtlCol="0" anchor="t">
            <a:spAutoFit/>
          </a:bodyPr>
          <a:lstStyle/>
          <a:p>
            <a:pPr defTabSz="914400">
              <a:lnSpc>
                <a:spcPct val="85000"/>
              </a:lnSpc>
              <a:spcBef>
                <a:spcPct val="0"/>
              </a:spcBef>
              <a:buSzPct val="90000"/>
              <a:buFont typeface="Wingdings" panose="05000000000000000000" pitchFamily="2" charset="2"/>
              <a:buNone/>
            </a:pP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 2, 2, 2]</a:t>
            </a:r>
            <a:endParaRPr lang="zh-CN" altLang="en-US"/>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列表删除元素：</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特别</a:t>
            </a: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Tips</a:t>
            </a:r>
          </a:p>
        </p:txBody>
      </p:sp>
      <p:pic>
        <p:nvPicPr>
          <p:cNvPr id="4" name="图片 3"/>
          <p:cNvPicPr>
            <a:picLocks noChangeAspect="1"/>
          </p:cNvPicPr>
          <p:nvPr/>
        </p:nvPicPr>
        <p:blipFill>
          <a:blip r:embed="rId2"/>
          <a:stretch>
            <a:fillRect/>
          </a:stretch>
        </p:blipFill>
        <p:spPr>
          <a:xfrm>
            <a:off x="10473690" y="885825"/>
            <a:ext cx="1623695" cy="1623695"/>
          </a:xfrm>
          <a:prstGeom prst="rect">
            <a:avLst/>
          </a:prstGeom>
        </p:spPr>
      </p:pic>
      <p:sp>
        <p:nvSpPr>
          <p:cNvPr id="33795" name="文本占位符 33794"/>
          <p:cNvSpPr>
            <a:spLocks noGrp="1"/>
          </p:cNvSpPr>
          <p:nvPr/>
        </p:nvSpPr>
        <p:spPr>
          <a:xfrm>
            <a:off x="457200" y="1600200"/>
            <a:ext cx="9536430" cy="3843655"/>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indent="0" fontAlgn="base">
              <a:lnSpc>
                <a:spcPct val="150000"/>
              </a:lnSpc>
              <a:spcBef>
                <a:spcPts val="0"/>
              </a:spcBef>
              <a:buFont typeface="Wingdings" panose="05000000000000000000" charset="0"/>
              <a:buNone/>
            </a:pPr>
            <a:r>
              <a:rPr lang="zh-CN" altLang="en-US" sz="2400" strike="noStrike" noProof="1">
                <a:effectLst/>
                <a:latin typeface="微软雅黑" panose="020B0503020204020204" pitchFamily="34" charset="-122"/>
                <a:ea typeface="微软雅黑" panose="020B0503020204020204" pitchFamily="34" charset="-122"/>
                <a:cs typeface="微软雅黑" panose="020B0503020204020204" pitchFamily="34" charset="-122"/>
              </a:rPr>
              <a:t>上面这段代码的逻辑是</a:t>
            </a:r>
            <a:r>
              <a:rPr lang="zh-CN" altLang="en-US" sz="2800" b="1" strike="noStrike" noProof="1">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rPr>
              <a:t>错误</a:t>
            </a:r>
            <a:r>
              <a:rPr lang="zh-CN" altLang="en-US" sz="2400" strike="noStrike" noProof="1">
                <a:effectLst/>
                <a:latin typeface="微软雅黑" panose="020B0503020204020204" pitchFamily="34" charset="-122"/>
                <a:ea typeface="微软雅黑" panose="020B0503020204020204" pitchFamily="34" charset="-122"/>
                <a:cs typeface="微软雅黑" panose="020B0503020204020204" pitchFamily="34" charset="-122"/>
              </a:rPr>
              <a:t>的</a:t>
            </a:r>
            <a:endParaRPr lang="zh-CN" altLang="en-US" sz="1800" strike="noStrike" noProof="1">
              <a:effectLst/>
              <a:latin typeface="微软雅黑" panose="020B0503020204020204" pitchFamily="34" charset="-122"/>
              <a:ea typeface="微软雅黑" panose="020B0503020204020204" pitchFamily="34" charset="-122"/>
              <a:cs typeface="微软雅黑" panose="020B0503020204020204" pitchFamily="34" charset="-122"/>
            </a:endParaRPr>
          </a:p>
          <a:p>
            <a:pPr marL="1905" indent="-344805" fontAlgn="base">
              <a:lnSpc>
                <a:spcPct val="80000"/>
              </a:lnSpc>
              <a:buNone/>
            </a:pPr>
            <a:endParaRPr lang="en-US" altLang="zh-CN" sz="2400" b="1" strike="noStrike" noProof="1">
              <a:effectLst/>
              <a:latin typeface="微软雅黑" panose="020B0503020204020204" pitchFamily="34" charset="-122"/>
              <a:ea typeface="微软雅黑" panose="020B0503020204020204" pitchFamily="34" charset="-122"/>
              <a:cs typeface="微软雅黑" panose="020B0503020204020204" pitchFamily="34" charset="-122"/>
            </a:endParaRPr>
          </a:p>
          <a:p>
            <a:pPr marL="1905" indent="-344805" fontAlgn="base">
              <a:lnSpc>
                <a:spcPct val="80000"/>
              </a:lnSpc>
              <a:buNone/>
            </a:pPr>
            <a:r>
              <a:rPr lang="en-US" altLang="zh-CN" sz="2400" b="1" strike="noStrike" noProof="1">
                <a:effectLst/>
                <a:latin typeface="微软雅黑" panose="020B0503020204020204" pitchFamily="34" charset="-122"/>
                <a:ea typeface="微软雅黑" panose="020B0503020204020204" pitchFamily="34" charset="-122"/>
                <a:cs typeface="微软雅黑" panose="020B0503020204020204" pitchFamily="34" charset="-122"/>
              </a:rPr>
              <a:t>x = [1,2,1,2,1,1,1]</a:t>
            </a:r>
          </a:p>
          <a:p>
            <a:pPr marL="1905" indent="-344805" fontAlgn="base">
              <a:lnSpc>
                <a:spcPct val="80000"/>
              </a:lnSpc>
              <a:buNone/>
            </a:pPr>
            <a:r>
              <a:rPr lang="en-US" altLang="zh-CN" sz="2400" b="1" strike="noStrike" noProof="1">
                <a:effectLst/>
                <a:latin typeface="微软雅黑" panose="020B0503020204020204" pitchFamily="34" charset="-122"/>
                <a:ea typeface="微软雅黑" panose="020B0503020204020204" pitchFamily="34" charset="-122"/>
                <a:cs typeface="微软雅黑" panose="020B0503020204020204" pitchFamily="34" charset="-122"/>
              </a:rPr>
              <a:t>for i in x:</a:t>
            </a:r>
          </a:p>
          <a:p>
            <a:pPr marL="1905" indent="-344805" fontAlgn="base">
              <a:lnSpc>
                <a:spcPct val="80000"/>
              </a:lnSpc>
              <a:buNone/>
            </a:pPr>
            <a:r>
              <a:rPr lang="en-US" altLang="zh-CN" sz="2400" b="1" strike="noStrike" noProof="1">
                <a:effectLst/>
                <a:latin typeface="微软雅黑" panose="020B0503020204020204" pitchFamily="34" charset="-122"/>
                <a:ea typeface="微软雅黑" panose="020B0503020204020204" pitchFamily="34" charset="-122"/>
                <a:cs typeface="微软雅黑" panose="020B0503020204020204" pitchFamily="34" charset="-122"/>
              </a:rPr>
              <a:t>      if i == 1:</a:t>
            </a:r>
          </a:p>
          <a:p>
            <a:pPr marL="1905" indent="-344805" fontAlgn="base">
              <a:lnSpc>
                <a:spcPct val="80000"/>
              </a:lnSpc>
              <a:buNone/>
            </a:pPr>
            <a:r>
              <a:rPr lang="en-US" altLang="zh-CN" sz="2400" b="1" strike="noStrike" noProof="1">
                <a:effectLst/>
                <a:latin typeface="微软雅黑" panose="020B0503020204020204" pitchFamily="34" charset="-122"/>
                <a:ea typeface="微软雅黑" panose="020B0503020204020204" pitchFamily="34" charset="-122"/>
                <a:cs typeface="微软雅黑" panose="020B0503020204020204" pitchFamily="34" charset="-122"/>
              </a:rPr>
              <a:t>	           x.remove(i)		</a:t>
            </a:r>
          </a:p>
          <a:p>
            <a:pPr marL="1905" indent="-344805" fontAlgn="base">
              <a:lnSpc>
                <a:spcPct val="80000"/>
              </a:lnSpc>
              <a:buNone/>
            </a:pPr>
            <a:r>
              <a:rPr lang="en-US" altLang="zh-CN" sz="2400" b="1" strike="noStrike" noProof="1">
                <a:effectLst/>
                <a:latin typeface="微软雅黑" panose="020B0503020204020204" pitchFamily="34" charset="-122"/>
                <a:ea typeface="微软雅黑" panose="020B0503020204020204" pitchFamily="34" charset="-122"/>
                <a:cs typeface="微软雅黑" panose="020B0503020204020204" pitchFamily="34" charset="-122"/>
              </a:rPr>
              <a:t>x</a:t>
            </a:r>
          </a:p>
          <a:p>
            <a:pPr marL="1905" indent="-344805" fontAlgn="base">
              <a:lnSpc>
                <a:spcPct val="80000"/>
              </a:lnSpc>
              <a:buNone/>
            </a:pPr>
            <a:endParaRPr lang="en-US" altLang="zh-CN" sz="2400" b="1" strike="noStrike" noProof="1">
              <a:solidFill>
                <a:srgbClr val="00B0F0"/>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410210" y="4941570"/>
            <a:ext cx="1339850" cy="386080"/>
          </a:xfrm>
          <a:prstGeom prst="rect">
            <a:avLst/>
          </a:prstGeom>
          <a:noFill/>
        </p:spPr>
        <p:txBody>
          <a:bodyPr wrap="none" rtlCol="0" anchor="t">
            <a:spAutoFit/>
          </a:bodyPr>
          <a:lstStyle/>
          <a:p>
            <a:pPr marL="1905" indent="-344805" fontAlgn="base">
              <a:lnSpc>
                <a:spcPct val="80000"/>
              </a:lnSpc>
              <a:buNone/>
            </a:pPr>
            <a:r>
              <a:rPr lang="en-US" altLang="zh-CN" b="1">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[2, 2, 1]</a:t>
            </a:r>
          </a:p>
        </p:txBody>
      </p:sp>
      <p:sp>
        <p:nvSpPr>
          <p:cNvPr id="5" name="文本框 4"/>
          <p:cNvSpPr txBox="1"/>
          <p:nvPr/>
        </p:nvSpPr>
        <p:spPr>
          <a:xfrm>
            <a:off x="4586605" y="3069590"/>
            <a:ext cx="6118225" cy="1753235"/>
          </a:xfrm>
          <a:prstGeom prst="rect">
            <a:avLst/>
          </a:prstGeom>
        </p:spPr>
        <p:style>
          <a:lnRef idx="1">
            <a:schemeClr val="accent1"/>
          </a:lnRef>
          <a:fillRef idx="3">
            <a:schemeClr val="accent1"/>
          </a:fillRef>
          <a:effectRef idx="2">
            <a:schemeClr val="accent1"/>
          </a:effectRef>
          <a:fontRef idx="minor">
            <a:schemeClr val="lt1"/>
          </a:fontRef>
        </p:style>
        <p:txBody>
          <a:bodyPr wrap="square" rtlCol="0" anchor="t">
            <a:spAutoFit/>
          </a:bodyPr>
          <a:lstStyle/>
          <a:p>
            <a:pPr indent="0" fontAlgn="base">
              <a:lnSpc>
                <a:spcPct val="150000"/>
              </a:lnSpc>
              <a:spcBef>
                <a:spcPts val="0"/>
              </a:spcBef>
              <a:buFont typeface="Wingdings" panose="05000000000000000000" charset="0"/>
              <a:buNone/>
            </a:pPr>
            <a:r>
              <a:rPr lang="zh-CN" altLang="en-US">
                <a:effectLst/>
                <a:latin typeface="微软雅黑" panose="020B0503020204020204" pitchFamily="34" charset="-122"/>
                <a:ea typeface="微软雅黑" panose="020B0503020204020204" pitchFamily="34" charset="-122"/>
                <a:cs typeface="微软雅黑" panose="020B0503020204020204" pitchFamily="34" charset="-122"/>
                <a:sym typeface="+mn-ea"/>
              </a:rPr>
              <a:t>同样的代码，仅仅是所处理的数据发生了一点变化，然而当循环结束后却发现并没有把所有的“</a:t>
            </a:r>
            <a:r>
              <a:rPr lang="en-US" altLang="zh-CN">
                <a:effectLst/>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a:effectLst/>
                <a:latin typeface="微软雅黑" panose="020B0503020204020204" pitchFamily="34" charset="-122"/>
                <a:ea typeface="微软雅黑" panose="020B0503020204020204" pitchFamily="34" charset="-122"/>
                <a:cs typeface="微软雅黑" panose="020B0503020204020204" pitchFamily="34" charset="-122"/>
                <a:sym typeface="+mn-ea"/>
              </a:rPr>
              <a:t>都删除，只是删除了一部分。</a:t>
            </a:r>
            <a:endParaRPr lang="zh-CN" altLang="en-US"/>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animBg="1"/>
      <p:bldP spid="5" grpId="1"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列表删除元素：</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特别</a:t>
            </a: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Tips</a:t>
            </a:r>
          </a:p>
        </p:txBody>
      </p:sp>
      <p:pic>
        <p:nvPicPr>
          <p:cNvPr id="4" name="图片 3"/>
          <p:cNvPicPr>
            <a:picLocks noChangeAspect="1"/>
          </p:cNvPicPr>
          <p:nvPr/>
        </p:nvPicPr>
        <p:blipFill>
          <a:blip r:embed="rId2"/>
          <a:stretch>
            <a:fillRect/>
          </a:stretch>
        </p:blipFill>
        <p:spPr>
          <a:xfrm>
            <a:off x="10473690" y="885825"/>
            <a:ext cx="1623695" cy="1623695"/>
          </a:xfrm>
          <a:prstGeom prst="rect">
            <a:avLst/>
          </a:prstGeom>
        </p:spPr>
      </p:pic>
      <p:sp>
        <p:nvSpPr>
          <p:cNvPr id="38914" name="文本占位符 34818"/>
          <p:cNvSpPr>
            <a:spLocks noGrp="1"/>
          </p:cNvSpPr>
          <p:nvPr/>
        </p:nvSpPr>
        <p:spPr>
          <a:xfrm>
            <a:off x="457200" y="1590675"/>
            <a:ext cx="9856470"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algn="just" defTabSz="914400">
              <a:lnSpc>
                <a:spcPct val="150000"/>
              </a:lnSpc>
              <a:spcBef>
                <a:spcPts val="600"/>
              </a:spcBef>
              <a:spcAft>
                <a:spcPts val="600"/>
              </a:spcAft>
              <a:buSzPct val="90000"/>
              <a:buFont typeface="Wingdings" panose="05000000000000000000" charset="0"/>
              <a:buChar char="§"/>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两组数据的本质区别在于，第一组数据中没有连续的“</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，而第二组数据中存在连续的“</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。出现这个问题的原因是</a:t>
            </a:r>
            <a:r>
              <a:rPr lang="zh-CN" altLang="en-US" sz="2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列表的自动内存管理功能</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a:t>
            </a:r>
          </a:p>
          <a:p>
            <a:pPr algn="just" defTabSz="914400">
              <a:lnSpc>
                <a:spcPct val="150000"/>
              </a:lnSpc>
              <a:spcBef>
                <a:spcPts val="600"/>
              </a:spcBef>
              <a:spcAft>
                <a:spcPts val="600"/>
              </a:spcAft>
              <a:buSzPct val="90000"/>
              <a:buFont typeface="Wingdings" panose="05000000000000000000" charset="0"/>
              <a:buChar char="§"/>
            </a:pPr>
            <a:r>
              <a:rPr lang="zh-CN" altLang="en-US" sz="2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在删除列表元素时，</a:t>
            </a:r>
            <a:r>
              <a:rPr lang="en-US" altLang="zh-CN" sz="2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2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会自动对列表内存进行收缩并移动列表元素以保证所有元素之间没有空隙，增加列表元素时也会自动扩展内存并对元素进行移动以保证元素之间没有空隙。</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每当插入或删除一个元素之后，该元素位置后面所有元素的索引就都改变了。</a:t>
            </a:r>
          </a:p>
        </p:txBody>
      </p:sp>
    </p:spTree>
  </p:cSld>
  <p:clrMapOvr>
    <a:masterClrMapping/>
  </p:clrMapOvr>
  <p:transition spd="slow" advTm="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列表删除元素：</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特别</a:t>
            </a: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Tips</a:t>
            </a:r>
          </a:p>
        </p:txBody>
      </p:sp>
      <p:pic>
        <p:nvPicPr>
          <p:cNvPr id="4" name="图片 3"/>
          <p:cNvPicPr>
            <a:picLocks noChangeAspect="1"/>
          </p:cNvPicPr>
          <p:nvPr/>
        </p:nvPicPr>
        <p:blipFill>
          <a:blip r:embed="rId2"/>
          <a:stretch>
            <a:fillRect/>
          </a:stretch>
        </p:blipFill>
        <p:spPr>
          <a:xfrm>
            <a:off x="10473690" y="885825"/>
            <a:ext cx="1623695" cy="1623695"/>
          </a:xfrm>
          <a:prstGeom prst="rect">
            <a:avLst/>
          </a:prstGeom>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999" y="776159"/>
            <a:ext cx="4608512"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8560503"/>
      </p:ext>
    </p:extLst>
  </p:cSld>
  <p:clrMapOvr>
    <a:masterClrMapping/>
  </p:clrMapOvr>
  <p:transition spd="slow" advTm="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3" name="内容占位符 2"/>
          <p:cNvSpPr>
            <a:spLocks noGrp="1"/>
          </p:cNvSpPr>
          <p:nvPr/>
        </p:nvSpPr>
        <p:spPr>
          <a:xfrm>
            <a:off x="1960245" y="1235710"/>
            <a:ext cx="9606280"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一个非常棒的网站：</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hlinkClick r:id="rId3"/>
              </a:rPr>
              <a:t>http://pythontutor.com/live.html#mode=edit</a:t>
            </a: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None/>
            </a:pP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了解运行每行代码时会发生什么</a:t>
            </a:r>
            <a:r>
              <a:rPr lang="en-US" altLang="zh-CN"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2011993123"/>
              </p:ext>
            </p:extLst>
          </p:nvPr>
        </p:nvGraphicFramePr>
        <p:xfrm>
          <a:off x="2138735" y="2178685"/>
          <a:ext cx="2897287" cy="2640330"/>
        </p:xfrm>
        <a:graphic>
          <a:graphicData uri="http://schemas.openxmlformats.org/drawingml/2006/table">
            <a:tbl>
              <a:tblPr/>
              <a:tblGrid>
                <a:gridCol w="2897287">
                  <a:extLst>
                    <a:ext uri="{9D8B030D-6E8A-4147-A177-3AD203B41FA5}">
                      <a16:colId xmlns:a16="http://schemas.microsoft.com/office/drawing/2014/main" val="20000"/>
                    </a:ext>
                  </a:extLst>
                </a:gridCol>
              </a:tblGrid>
              <a:tr h="0">
                <a:tc>
                  <a:txBody>
                    <a:bodyPr/>
                    <a:lstStyle/>
                    <a:p>
                      <a:pPr algn="l" fontAlgn="ctr"/>
                      <a:r>
                        <a:rPr lang="en-US" dirty="0">
                          <a:effectLst/>
                        </a:rPr>
                        <a:t>x=[1,1,2,1,1,2,1,1,1]</a:t>
                      </a:r>
                    </a:p>
                  </a:txBody>
                  <a:tcPr marL="66675" marT="28575" anchor="ctr">
                    <a:lnL>
                      <a:noFill/>
                    </a:lnL>
                    <a:lnR>
                      <a:noFill/>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algn="l" fontAlgn="ctr"/>
                      <a:r>
                        <a:rPr lang="en-US" dirty="0">
                          <a:effectLst/>
                        </a:rPr>
                        <a:t>for i in x:</a:t>
                      </a:r>
                    </a:p>
                  </a:txBody>
                  <a:tcPr marL="66675" marT="28575" anchor="ctr">
                    <a:lnL>
                      <a:noFill/>
                    </a:lnL>
                    <a:lnR>
                      <a:noFill/>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algn="l" fontAlgn="ctr"/>
                      <a:r>
                        <a:rPr lang="en-US" dirty="0">
                          <a:solidFill>
                            <a:srgbClr val="E93F34"/>
                          </a:solidFill>
                          <a:effectLst/>
                        </a:rPr>
                        <a:t>    print(i)</a:t>
                      </a:r>
                    </a:p>
                  </a:txBody>
                  <a:tcPr marL="66675" marT="28575" anchor="ctr">
                    <a:lnL>
                      <a:noFill/>
                    </a:lnL>
                    <a:lnR>
                      <a:noFill/>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algn="l" fontAlgn="ctr"/>
                      <a:r>
                        <a:rPr lang="en-US" dirty="0">
                          <a:effectLst/>
                        </a:rPr>
                        <a:t>    if i==1:</a:t>
                      </a:r>
                    </a:p>
                  </a:txBody>
                  <a:tcPr marL="66675" marT="28575" anchor="ctr">
                    <a:lnL>
                      <a:noFill/>
                    </a:lnL>
                    <a:lnR>
                      <a:noFill/>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algn="l" fontAlgn="ctr"/>
                      <a:r>
                        <a:rPr lang="en-US" dirty="0">
                          <a:solidFill>
                            <a:srgbClr val="E93F34"/>
                          </a:solidFill>
                          <a:effectLst/>
                        </a:rPr>
                        <a:t>        </a:t>
                      </a:r>
                      <a:r>
                        <a:rPr lang="en-US" dirty="0" err="1">
                          <a:solidFill>
                            <a:srgbClr val="E93F34"/>
                          </a:solidFill>
                          <a:effectLst/>
                        </a:rPr>
                        <a:t>x.remove</a:t>
                      </a:r>
                      <a:r>
                        <a:rPr lang="en-US" dirty="0">
                          <a:solidFill>
                            <a:srgbClr val="E93F34"/>
                          </a:solidFill>
                          <a:effectLst/>
                        </a:rPr>
                        <a:t>(i)</a:t>
                      </a:r>
                    </a:p>
                  </a:txBody>
                  <a:tcPr marL="66675" marT="28575" anchor="ctr">
                    <a:lnL>
                      <a:noFill/>
                    </a:lnL>
                    <a:lnR>
                      <a:noFill/>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algn="l" fontAlgn="ctr"/>
                      <a:r>
                        <a:rPr lang="en-US" dirty="0">
                          <a:effectLst/>
                        </a:rPr>
                        <a:t>        print(x)</a:t>
                      </a:r>
                    </a:p>
                  </a:txBody>
                  <a:tcPr marL="66675" marT="28575" anchor="ctr">
                    <a:lnL>
                      <a:noFill/>
                    </a:lnL>
                    <a:lnR>
                      <a:noFill/>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144238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）列表的排序（</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sort</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sorted</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endParaRPr 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altLang="en-US" sz="2800" dirty="0">
                <a:sym typeface="+mn-ea"/>
              </a:rPr>
              <a:t>用列表的</a:t>
            </a:r>
            <a:r>
              <a:rPr lang="en-US" altLang="zh-CN" sz="2800" dirty="0">
                <a:sym typeface="+mn-ea"/>
              </a:rPr>
              <a:t>sort()</a:t>
            </a:r>
            <a:r>
              <a:rPr altLang="en-US" sz="2800" dirty="0">
                <a:sym typeface="+mn-ea"/>
              </a:rPr>
              <a:t>方法进行排序</a:t>
            </a:r>
            <a:endParaRPr lang="zh-CN" altLang="en-US" sz="2800" dirty="0">
              <a:solidFill>
                <a:srgbClr val="FF0000"/>
              </a:solidFill>
            </a:endParaRPr>
          </a:p>
        </p:txBody>
      </p:sp>
      <p:sp>
        <p:nvSpPr>
          <p:cNvPr id="6" name="内容占位符 2"/>
          <p:cNvSpPr>
            <a:spLocks noGrp="1"/>
          </p:cNvSpPr>
          <p:nvPr/>
        </p:nvSpPr>
        <p:spPr>
          <a:xfrm>
            <a:off x="701675" y="2783205"/>
            <a:ext cx="10795635" cy="2733040"/>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列表排序</a:t>
            </a:r>
          </a:p>
          <a:p>
            <a:pPr marL="0" indent="0">
              <a:buNone/>
            </a:pPr>
            <a:r>
              <a:rPr lang="en-US" altLang="zh-CN" sz="2400" dirty="0">
                <a:sym typeface="+mn-ea"/>
              </a:rPr>
              <a:t>Cars = ['</a:t>
            </a:r>
            <a:r>
              <a:rPr altLang="en-US" sz="2400" dirty="0">
                <a:sym typeface="+mn-ea"/>
              </a:rPr>
              <a:t>宝马</a:t>
            </a:r>
            <a:r>
              <a:rPr lang="en-US" altLang="zh-CN" sz="2400" dirty="0">
                <a:sym typeface="+mn-ea"/>
              </a:rPr>
              <a:t>', '</a:t>
            </a:r>
            <a:r>
              <a:rPr altLang="en-US" sz="2400" dirty="0" err="1">
                <a:sym typeface="+mn-ea"/>
              </a:rPr>
              <a:t>奔驰</a:t>
            </a:r>
            <a:r>
              <a:rPr lang="en-US" altLang="zh-CN" sz="2400" dirty="0">
                <a:sym typeface="+mn-ea"/>
              </a:rPr>
              <a:t>', '</a:t>
            </a:r>
            <a:r>
              <a:rPr altLang="en-US" sz="2400" dirty="0">
                <a:sym typeface="+mn-ea"/>
              </a:rPr>
              <a:t>大众</a:t>
            </a:r>
            <a:r>
              <a:rPr lang="en-US" altLang="zh-CN" sz="2400" dirty="0">
                <a:sym typeface="+mn-ea"/>
              </a:rPr>
              <a:t>', '</a:t>
            </a:r>
            <a:r>
              <a:rPr altLang="en-US" sz="2400" dirty="0">
                <a:sym typeface="+mn-ea"/>
              </a:rPr>
              <a:t>长城</a:t>
            </a:r>
            <a:r>
              <a:rPr lang="en-US" altLang="zh-CN" sz="2400" dirty="0">
                <a:sym typeface="+mn-ea"/>
              </a:rPr>
              <a:t>', '</a:t>
            </a:r>
            <a:r>
              <a:rPr altLang="en-US" sz="2400" dirty="0">
                <a:sym typeface="+mn-ea"/>
              </a:rPr>
              <a:t>雪铁龙</a:t>
            </a:r>
            <a:r>
              <a:rPr lang="en-US" altLang="zh-CN" sz="2400" dirty="0">
                <a:sym typeface="+mn-ea"/>
              </a:rPr>
              <a:t>', '</a:t>
            </a:r>
            <a:r>
              <a:rPr altLang="en-US" sz="2400" dirty="0">
                <a:sym typeface="+mn-ea"/>
              </a:rPr>
              <a:t>沃尔沃</a:t>
            </a:r>
            <a:r>
              <a:rPr lang="en-US" altLang="zh-CN" sz="2400" dirty="0">
                <a:sym typeface="+mn-ea"/>
              </a:rPr>
              <a:t>' ]</a:t>
            </a:r>
            <a:br>
              <a:rPr lang="en-US" altLang="zh-CN" sz="2400" dirty="0">
                <a:sym typeface="+mn-ea"/>
              </a:rPr>
            </a:br>
            <a:r>
              <a:rPr lang="en-US" altLang="zh-CN" sz="2400" dirty="0" err="1">
                <a:solidFill>
                  <a:srgbClr val="FF0000"/>
                </a:solidFill>
                <a:sym typeface="+mn-ea"/>
              </a:rPr>
              <a:t>Cars.sort</a:t>
            </a:r>
            <a:r>
              <a:rPr lang="en-US" altLang="zh-CN" sz="2400" dirty="0">
                <a:solidFill>
                  <a:srgbClr val="FF0000"/>
                </a:solidFill>
                <a:sym typeface="+mn-ea"/>
              </a:rPr>
              <a:t>()  </a:t>
            </a:r>
            <a:r>
              <a:rPr lang="en-US" altLang="zh-CN" sz="2400" dirty="0">
                <a:sym typeface="+mn-ea"/>
              </a:rPr>
              <a:t>#</a:t>
            </a:r>
            <a:r>
              <a:rPr altLang="en-US" sz="2400" dirty="0">
                <a:sym typeface="+mn-ea"/>
              </a:rPr>
              <a:t>调用形式：列表名</a:t>
            </a:r>
            <a:r>
              <a:rPr lang="en-US" altLang="zh-CN" sz="2400" dirty="0">
                <a:sym typeface="+mn-ea"/>
              </a:rPr>
              <a:t>.sort()</a:t>
            </a:r>
          </a:p>
          <a:p>
            <a:pPr marL="0" indent="0">
              <a:buNone/>
            </a:pPr>
            <a:r>
              <a:rPr lang="en-US" altLang="zh-CN" sz="2400" dirty="0">
                <a:sym typeface="+mn-ea"/>
              </a:rPr>
              <a:t>print(Cars )</a:t>
            </a:r>
            <a:endParaRPr lang="zh-CN" altLang="en-US" sz="2400" dirty="0">
              <a:latin typeface="Microsoft YaHei UI" panose="020B0503020204020204" pitchFamily="34" charset="-122"/>
              <a:ea typeface="Microsoft YaHei UI" panose="020B0503020204020204" pitchFamily="34" charset="-122"/>
              <a:cs typeface="Tahoma" panose="020B0604030504040204" pitchFamily="34" charset="0"/>
            </a:endParaRPr>
          </a:p>
          <a:p>
            <a:pPr marL="0" indent="0">
              <a:buNone/>
            </a:pP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8" name="线形标注 2(无边框) 7"/>
          <p:cNvSpPr/>
          <p:nvPr/>
        </p:nvSpPr>
        <p:spPr>
          <a:xfrm>
            <a:off x="2757840" y="4414253"/>
            <a:ext cx="6120680" cy="936104"/>
          </a:xfrm>
          <a:prstGeom prst="callout2">
            <a:avLst>
              <a:gd name="adj1" fmla="val -3284"/>
              <a:gd name="adj2" fmla="val 34242"/>
              <a:gd name="adj3" fmla="val -32412"/>
              <a:gd name="adj4" fmla="val 28151"/>
              <a:gd name="adj5" fmla="val -40984"/>
              <a:gd name="adj6" fmla="val 2082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lvl="0" indent="-342900" algn="l">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对Cars列表按“字典序”进行排序；</a:t>
            </a:r>
          </a:p>
          <a:p>
            <a:pPr marL="342900" lvl="0" indent="-342900" algn="l">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sort方法改变了Cars列表的值。</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）列表的排序（</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sort</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sorted</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endParaRPr 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41730"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altLang="en-US" sz="2800" dirty="0">
                <a:sym typeface="+mn-ea"/>
              </a:rPr>
              <a:t>用列表的</a:t>
            </a:r>
            <a:r>
              <a:rPr lang="en-US" altLang="zh-CN" sz="2800" dirty="0">
                <a:sym typeface="+mn-ea"/>
              </a:rPr>
              <a:t>sort()</a:t>
            </a:r>
            <a:r>
              <a:rPr altLang="en-US" sz="2800" dirty="0">
                <a:sym typeface="+mn-ea"/>
              </a:rPr>
              <a:t>方法进行逆向排序</a:t>
            </a:r>
            <a:endParaRPr lang="zh-CN" altLang="en-US" sz="2800" dirty="0">
              <a:solidFill>
                <a:srgbClr val="FF0000"/>
              </a:solidFill>
            </a:endParaRPr>
          </a:p>
        </p:txBody>
      </p:sp>
      <p:sp>
        <p:nvSpPr>
          <p:cNvPr id="6" name="内容占位符 2"/>
          <p:cNvSpPr>
            <a:spLocks noGrp="1"/>
          </p:cNvSpPr>
          <p:nvPr/>
        </p:nvSpPr>
        <p:spPr>
          <a:xfrm>
            <a:off x="701675" y="2709714"/>
            <a:ext cx="10795635" cy="2733040"/>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列表逆向排序</a:t>
            </a:r>
          </a:p>
          <a:p>
            <a:pPr marL="0" indent="0">
              <a:buNone/>
            </a:pPr>
            <a:r>
              <a:rPr lang="en-US" altLang="zh-CN" sz="2400" dirty="0">
                <a:sym typeface="+mn-ea"/>
              </a:rPr>
              <a:t>Country= ['China', '</a:t>
            </a:r>
            <a:r>
              <a:rPr lang="en-US" altLang="zh-CN" sz="2400" dirty="0" err="1">
                <a:sym typeface="+mn-ea"/>
              </a:rPr>
              <a:t>USA</a:t>
            </a:r>
            <a:r>
              <a:rPr lang="en-US" altLang="zh-CN" sz="2400" dirty="0">
                <a:sym typeface="+mn-ea"/>
              </a:rPr>
              <a:t>', 'Japan', 'India', 'France', 'England' ]</a:t>
            </a:r>
            <a:br>
              <a:rPr lang="en-US" altLang="zh-CN" sz="2400" dirty="0">
                <a:sym typeface="+mn-ea"/>
              </a:rPr>
            </a:br>
            <a:r>
              <a:rPr lang="en-US" altLang="zh-CN" sz="2400" dirty="0">
                <a:solidFill>
                  <a:srgbClr val="FF0000"/>
                </a:solidFill>
                <a:sym typeface="+mn-ea"/>
              </a:rPr>
              <a:t>Country</a:t>
            </a:r>
            <a:r>
              <a:rPr lang="en-US" altLang="zh-CN" sz="2400" dirty="0" err="1">
                <a:solidFill>
                  <a:srgbClr val="FF0000"/>
                </a:solidFill>
                <a:sym typeface="+mn-ea"/>
              </a:rPr>
              <a:t>.sort</a:t>
            </a:r>
            <a:r>
              <a:rPr lang="en-US" altLang="zh-CN" sz="2400" dirty="0">
                <a:solidFill>
                  <a:srgbClr val="FF0000"/>
                </a:solidFill>
                <a:sym typeface="+mn-ea"/>
              </a:rPr>
              <a:t>(reverse=True)  </a:t>
            </a: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2" name="线形标注 2(无边框) 1"/>
          <p:cNvSpPr/>
          <p:nvPr/>
        </p:nvSpPr>
        <p:spPr>
          <a:xfrm>
            <a:off x="1471930" y="4436110"/>
            <a:ext cx="8742680" cy="1080135"/>
          </a:xfrm>
          <a:prstGeom prst="callout2">
            <a:avLst>
              <a:gd name="adj1" fmla="val -3284"/>
              <a:gd name="adj2" fmla="val 34242"/>
              <a:gd name="adj3" fmla="val -33287"/>
              <a:gd name="adj4" fmla="val 39274"/>
              <a:gd name="adj5" fmla="val -45267"/>
              <a:gd name="adj6" fmla="val 43826"/>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lvl="0" indent="-342900" algn="l">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sort()方法一共有2个参数，是sort(key, reverse)。reverse=True，是指本次调用传给reverse参数的值为True。</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2"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380203" y="909514"/>
            <a:ext cx="8077200" cy="504056"/>
          </a:xfrm>
          <a:prstGeom prst="rect">
            <a:avLst/>
          </a:prstGeom>
        </p:spPr>
        <p:txBody>
          <a:bodyPr vert="horz" lIns="91440" tIns="45720" rIns="91440" bIns="45720" rtlCol="0" anchor="ctr" anchorCtr="0">
            <a:normAutofit lnSpcReduction="10000"/>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en-US" altLang="zh-CN" sz="2800" b="0" dirty="0"/>
              <a:t>Key:</a:t>
            </a:r>
            <a:r>
              <a:rPr lang="zh-CN" altLang="en-US" sz="2800" b="0" dirty="0"/>
              <a:t>用来比较的值</a:t>
            </a:r>
            <a:r>
              <a:rPr lang="en-US" altLang="zh-CN" sz="2800" b="0" dirty="0"/>
              <a:t>(</a:t>
            </a:r>
            <a:r>
              <a:rPr lang="zh-CN" altLang="en-US" sz="2800" b="0" dirty="0"/>
              <a:t>函数</a:t>
            </a:r>
            <a:r>
              <a:rPr lang="en-US" altLang="zh-CN" sz="2800" b="0" dirty="0"/>
              <a:t>)</a:t>
            </a:r>
            <a:endParaRPr lang="zh-CN" altLang="en-US" sz="2800" dirty="0">
              <a:solidFill>
                <a:srgbClr val="FF0000"/>
              </a:solidFill>
            </a:endParaRPr>
          </a:p>
        </p:txBody>
      </p:sp>
      <p:pic>
        <p:nvPicPr>
          <p:cNvPr id="6146" name="Picture 2" descr="C:\Users\ThinkPad\AppData\Roaming\Tencent\Users\19379577\QQ\WinTemp\RichOle\ZB%HPH)B82LE9Q@_VAV%Q0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19" y="1422736"/>
            <a:ext cx="7096125" cy="3590925"/>
          </a:xfrm>
          <a:prstGeom prst="rect">
            <a:avLst/>
          </a:prstGeom>
          <a:noFill/>
          <a:extLst>
            <a:ext uri="{909E8E84-426E-40DD-AFC4-6F175D3DCCD1}">
              <a14:hiddenFill xmlns:a14="http://schemas.microsoft.com/office/drawing/2010/main">
                <a:solidFill>
                  <a:srgbClr val="FFFFFF"/>
                </a:solidFill>
              </a14:hiddenFill>
            </a:ext>
          </a:extLst>
        </p:spPr>
      </p:pic>
      <p:pic>
        <p:nvPicPr>
          <p:cNvPr id="6147" name="Picture 3" descr="C:\Users\ThinkPad\AppData\Roaming\Tencent\Users\19379577\QQ\WinTemp\RichOle\{)KRB_40B@`XGN9_%$CX`[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2243" y="917493"/>
            <a:ext cx="4048125" cy="3810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C:\Users\ThinkPad\AppData\Roaming\Tencent\Users\19379577\QQ\WinTemp\RichOle\LLQ5K{L%YM]RI)BRTU6@(WQ.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2243" y="1403613"/>
            <a:ext cx="4810125" cy="344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7596118"/>
      </p:ext>
    </p:extLst>
  </p:cSld>
  <p:clrMapOvr>
    <a:masterClrMapping/>
  </p:clrMapOvr>
  <p:transition spd="slow" advTm="0">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）列表的排序（</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sort</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sorted</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endParaRPr 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57605"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altLang="en-US" sz="2800" dirty="0">
                <a:sym typeface="+mn-ea"/>
              </a:rPr>
              <a:t>用列表的</a:t>
            </a:r>
            <a:r>
              <a:rPr lang="en-US" altLang="zh-CN" sz="2800" dirty="0">
                <a:sym typeface="+mn-ea"/>
              </a:rPr>
              <a:t>sorted()</a:t>
            </a:r>
            <a:r>
              <a:rPr altLang="en-US" sz="2800" dirty="0">
                <a:sym typeface="+mn-ea"/>
              </a:rPr>
              <a:t>方法进行排序</a:t>
            </a:r>
            <a:endParaRPr lang="zh-CN" altLang="en-US" sz="2800" dirty="0">
              <a:solidFill>
                <a:srgbClr val="FF0000"/>
              </a:solidFill>
            </a:endParaRPr>
          </a:p>
        </p:txBody>
      </p:sp>
      <p:sp>
        <p:nvSpPr>
          <p:cNvPr id="6" name="内容占位符 2"/>
          <p:cNvSpPr>
            <a:spLocks noGrp="1"/>
          </p:cNvSpPr>
          <p:nvPr/>
        </p:nvSpPr>
        <p:spPr>
          <a:xfrm>
            <a:off x="701675" y="2783205"/>
            <a:ext cx="10795635" cy="2733040"/>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列表排序</a:t>
            </a:r>
          </a:p>
          <a:p>
            <a:pPr marL="0" indent="0">
              <a:buNone/>
            </a:pPr>
            <a:r>
              <a:rPr lang="en-US" altLang="zh-CN" sz="2400" dirty="0">
                <a:sym typeface="+mn-ea"/>
              </a:rPr>
              <a:t>Country= ['China', '</a:t>
            </a:r>
            <a:r>
              <a:rPr lang="en-US" altLang="zh-CN" sz="2400" dirty="0" err="1">
                <a:sym typeface="+mn-ea"/>
              </a:rPr>
              <a:t>USA</a:t>
            </a:r>
            <a:r>
              <a:rPr lang="en-US" altLang="zh-CN" sz="2400" dirty="0">
                <a:sym typeface="+mn-ea"/>
              </a:rPr>
              <a:t>', 'Japan', 'India', 'France', 'England' ]</a:t>
            </a:r>
            <a:br>
              <a:rPr lang="en-US" altLang="zh-CN" sz="2400" dirty="0">
                <a:sym typeface="+mn-ea"/>
              </a:rPr>
            </a:br>
            <a:r>
              <a:rPr lang="en-US" altLang="zh-CN" sz="2400" dirty="0">
                <a:solidFill>
                  <a:srgbClr val="FF0000"/>
                </a:solidFill>
                <a:sym typeface="+mn-ea"/>
              </a:rPr>
              <a:t>result</a:t>
            </a:r>
            <a:r>
              <a:rPr lang="en-US" altLang="zh-CN" sz="2400" dirty="0">
                <a:sym typeface="+mn-ea"/>
              </a:rPr>
              <a:t> </a:t>
            </a:r>
            <a:r>
              <a:rPr lang="en-US" altLang="zh-CN" sz="2400" dirty="0">
                <a:solidFill>
                  <a:srgbClr val="FF0000"/>
                </a:solidFill>
                <a:sym typeface="+mn-ea"/>
              </a:rPr>
              <a:t>= sorted(Country)</a:t>
            </a:r>
            <a:br>
              <a:rPr lang="en-US" altLang="zh-CN" sz="2400" dirty="0">
                <a:sym typeface="+mn-ea"/>
              </a:rPr>
            </a:br>
            <a:r>
              <a:rPr lang="en-US" altLang="zh-CN" sz="2400" dirty="0">
                <a:sym typeface="+mn-ea"/>
              </a:rPr>
              <a:t>print("</a:t>
            </a:r>
            <a:r>
              <a:rPr altLang="en-US" sz="2400" dirty="0">
                <a:sym typeface="+mn-ea"/>
              </a:rPr>
              <a:t>调用</a:t>
            </a:r>
            <a:r>
              <a:rPr lang="en-US" altLang="zh-CN" sz="2400" dirty="0">
                <a:sym typeface="+mn-ea"/>
              </a:rPr>
              <a:t>sorted()</a:t>
            </a:r>
            <a:r>
              <a:rPr altLang="en-US" sz="2400" dirty="0">
                <a:sym typeface="+mn-ea"/>
              </a:rPr>
              <a:t>函数之后，列表内容：</a:t>
            </a:r>
            <a:r>
              <a:rPr lang="en-US" altLang="zh-CN" sz="2400" dirty="0">
                <a:sym typeface="+mn-ea"/>
              </a:rPr>
              <a:t>", Country)</a:t>
            </a:r>
            <a:br>
              <a:rPr lang="en-US" altLang="zh-CN" sz="2400" dirty="0">
                <a:sym typeface="+mn-ea"/>
              </a:rPr>
            </a:br>
            <a:r>
              <a:rPr lang="en-US" altLang="zh-CN" sz="2400" dirty="0">
                <a:sym typeface="+mn-ea"/>
              </a:rPr>
              <a:t>print("</a:t>
            </a:r>
            <a:r>
              <a:rPr altLang="en-US" sz="2400" dirty="0">
                <a:sym typeface="+mn-ea"/>
              </a:rPr>
              <a:t>调用</a:t>
            </a:r>
            <a:r>
              <a:rPr lang="en-US" altLang="zh-CN" sz="2400" dirty="0">
                <a:sym typeface="+mn-ea"/>
              </a:rPr>
              <a:t>sorted()</a:t>
            </a:r>
            <a:r>
              <a:rPr altLang="en-US" sz="2400" dirty="0">
                <a:sym typeface="+mn-ea"/>
              </a:rPr>
              <a:t>函数之后，排序结果：</a:t>
            </a:r>
            <a:r>
              <a:rPr lang="en-US" altLang="zh-CN" sz="2400" dirty="0">
                <a:sym typeface="+mn-ea"/>
              </a:rPr>
              <a:t>", result)</a:t>
            </a:r>
            <a:endParaRPr lang="zh-CN" altLang="en-US" sz="2400" b="1" dirty="0">
              <a:latin typeface="Microsoft YaHei UI" panose="020B0503020204020204" pitchFamily="34" charset="-122"/>
              <a:ea typeface="Microsoft YaHei UI" panose="020B0503020204020204" pitchFamily="34" charset="-122"/>
              <a:cs typeface="Tahoma" panose="020B0604030504040204" pitchFamily="34" charset="0"/>
            </a:endParaRPr>
          </a:p>
          <a:p>
            <a:pPr marL="0" indent="0">
              <a:buNone/>
            </a:pPr>
            <a:r>
              <a:rPr lang="en-US" altLang="zh-CN" sz="2400" dirty="0">
                <a:solidFill>
                  <a:srgbClr val="FF0000"/>
                </a:solidFill>
                <a:sym typeface="+mn-ea"/>
              </a:rPr>
              <a:t> </a:t>
            </a: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8" name="线形标注 2(无边框) 7"/>
          <p:cNvSpPr/>
          <p:nvPr/>
        </p:nvSpPr>
        <p:spPr>
          <a:xfrm>
            <a:off x="2889250" y="4903470"/>
            <a:ext cx="7708265" cy="1346835"/>
          </a:xfrm>
          <a:prstGeom prst="callout2">
            <a:avLst>
              <a:gd name="adj1" fmla="val -3284"/>
              <a:gd name="adj2" fmla="val 34242"/>
              <a:gd name="adj3" fmla="val -32412"/>
              <a:gd name="adj4" fmla="val 28151"/>
              <a:gd name="adj5" fmla="val -39920"/>
              <a:gd name="adj6" fmla="val 24039"/>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lvl="0" indent="-342900" algn="l">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对</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Country</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列表按“字典序”进行排序。</a:t>
            </a:r>
          </a:p>
          <a:p>
            <a:pPr marL="342900" lvl="0" indent="-342900" algn="l">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不改变</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Country</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列表。</a:t>
            </a:r>
          </a:p>
          <a:p>
            <a:pPr marL="342900" lvl="0" indent="-342900" algn="l">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 sorted()函数返回排序后的列表，赋值给result变量。</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4"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）列表的排序（</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sort</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sorted</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endParaRPr 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5" name="标题 1"/>
          <p:cNvSpPr>
            <a:spLocks noGrp="1"/>
          </p:cNvSpPr>
          <p:nvPr/>
        </p:nvSpPr>
        <p:spPr>
          <a:xfrm>
            <a:off x="1157605" y="206975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altLang="en-US" sz="2800" dirty="0">
                <a:sym typeface="+mn-ea"/>
              </a:rPr>
              <a:t>用列表的</a:t>
            </a:r>
            <a:r>
              <a:rPr lang="en-US" altLang="zh-CN" sz="2800" dirty="0">
                <a:sym typeface="+mn-ea"/>
              </a:rPr>
              <a:t>sorted()</a:t>
            </a:r>
            <a:r>
              <a:rPr altLang="en-US" sz="2800" dirty="0">
                <a:sym typeface="+mn-ea"/>
              </a:rPr>
              <a:t>方法进行排序</a:t>
            </a:r>
            <a:endParaRPr lang="zh-CN" altLang="en-US" sz="2800" dirty="0">
              <a:solidFill>
                <a:srgbClr val="FF0000"/>
              </a:solidFill>
            </a:endParaRPr>
          </a:p>
        </p:txBody>
      </p:sp>
      <p:sp>
        <p:nvSpPr>
          <p:cNvPr id="6" name="内容占位符 2"/>
          <p:cNvSpPr>
            <a:spLocks noGrp="1"/>
          </p:cNvSpPr>
          <p:nvPr/>
        </p:nvSpPr>
        <p:spPr>
          <a:xfrm>
            <a:off x="701675" y="2783205"/>
            <a:ext cx="10795635" cy="2733040"/>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列表排序</a:t>
            </a:r>
          </a:p>
          <a:p>
            <a:pPr marL="0" indent="0">
              <a:buNone/>
            </a:pPr>
            <a:r>
              <a:rPr lang="en-US" altLang="zh-CN" sz="2400" dirty="0">
                <a:sym typeface="+mn-ea"/>
              </a:rPr>
              <a:t>Country= ['China', '</a:t>
            </a:r>
            <a:r>
              <a:rPr lang="en-US" altLang="zh-CN" sz="2400" dirty="0" err="1">
                <a:sym typeface="+mn-ea"/>
              </a:rPr>
              <a:t>USA</a:t>
            </a:r>
            <a:r>
              <a:rPr lang="en-US" altLang="zh-CN" sz="2400" dirty="0">
                <a:sym typeface="+mn-ea"/>
              </a:rPr>
              <a:t>', 'Japan', 'India', 'France', 'England' ]</a:t>
            </a:r>
            <a:br>
              <a:rPr lang="en-US" altLang="zh-CN" sz="2400" dirty="0">
                <a:sym typeface="+mn-ea"/>
              </a:rPr>
            </a:br>
            <a:r>
              <a:rPr lang="en-US" altLang="zh-CN" sz="2400" dirty="0" err="1">
                <a:solidFill>
                  <a:srgbClr val="FF0000"/>
                </a:solidFill>
                <a:sym typeface="+mn-ea"/>
              </a:rPr>
              <a:t>nx</a:t>
            </a:r>
            <a:r>
              <a:rPr lang="en-US" altLang="zh-CN" sz="2400" dirty="0">
                <a:solidFill>
                  <a:srgbClr val="FF0000"/>
                </a:solidFill>
                <a:sym typeface="+mn-ea"/>
              </a:rPr>
              <a:t> = sorted(Country, reverse=True)</a:t>
            </a:r>
            <a:br>
              <a:rPr lang="en-US" altLang="zh-CN" sz="2400" dirty="0">
                <a:sym typeface="+mn-ea"/>
              </a:rPr>
            </a:br>
            <a:r>
              <a:rPr lang="en-US" altLang="zh-CN" sz="2400" dirty="0">
                <a:sym typeface="+mn-ea"/>
              </a:rPr>
              <a:t>print("</a:t>
            </a:r>
            <a:r>
              <a:rPr altLang="en-US" sz="2400" dirty="0">
                <a:sym typeface="+mn-ea"/>
              </a:rPr>
              <a:t>调用</a:t>
            </a:r>
            <a:r>
              <a:rPr lang="en-US" altLang="zh-CN" sz="2400" dirty="0">
                <a:sym typeface="+mn-ea"/>
              </a:rPr>
              <a:t>sorted()</a:t>
            </a:r>
            <a:r>
              <a:rPr altLang="en-US" sz="2400" dirty="0">
                <a:sym typeface="+mn-ea"/>
              </a:rPr>
              <a:t>函数，进行逆向排序：</a:t>
            </a:r>
            <a:r>
              <a:rPr lang="en-US" altLang="zh-CN" sz="2400" dirty="0">
                <a:sym typeface="+mn-ea"/>
              </a:rPr>
              <a:t>", </a:t>
            </a:r>
            <a:r>
              <a:rPr lang="en-US" altLang="zh-CN" sz="2400" dirty="0" err="1">
                <a:sym typeface="+mn-ea"/>
              </a:rPr>
              <a:t>nx</a:t>
            </a:r>
            <a:r>
              <a:rPr lang="en-US" altLang="zh-CN" sz="2400" dirty="0">
                <a:sym typeface="+mn-ea"/>
              </a:rPr>
              <a:t>)</a:t>
            </a:r>
            <a:endParaRPr lang="zh-CN" altLang="en-US" sz="2400" b="1" dirty="0">
              <a:latin typeface="Microsoft YaHei UI" panose="020B0503020204020204" pitchFamily="34" charset="-122"/>
              <a:ea typeface="Microsoft YaHei UI" panose="020B0503020204020204" pitchFamily="34" charset="-122"/>
              <a:cs typeface="Tahoma" panose="020B0604030504040204" pitchFamily="34" charset="0"/>
            </a:endParaRPr>
          </a:p>
          <a:p>
            <a:pPr marL="0" indent="0">
              <a:buNone/>
            </a:pPr>
            <a:r>
              <a:rPr lang="en-US" altLang="zh-CN" sz="2400" dirty="0">
                <a:solidFill>
                  <a:srgbClr val="FF0000"/>
                </a:solidFill>
                <a:sym typeface="+mn-ea"/>
              </a:rPr>
              <a:t> </a:t>
            </a: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9" name="线形标注 2(无边框) 8"/>
          <p:cNvSpPr/>
          <p:nvPr/>
        </p:nvSpPr>
        <p:spPr>
          <a:xfrm>
            <a:off x="2366010" y="4634230"/>
            <a:ext cx="8065770" cy="1262380"/>
          </a:xfrm>
          <a:prstGeom prst="callout2">
            <a:avLst>
              <a:gd name="adj1" fmla="val -2700"/>
              <a:gd name="adj2" fmla="val 36647"/>
              <a:gd name="adj3" fmla="val -53420"/>
              <a:gd name="adj4" fmla="val 44253"/>
              <a:gd name="adj5" fmla="val -61515"/>
              <a:gd name="adj6" fmla="val 49699"/>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lvl="0" indent="-342900" algn="just">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 sorted函数的参数是sorted(列表, key, reverse)，reverse=True是指向第三个参数reverse传入True值，意味着进行逆向排序（或者说从大到小排序）。</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9"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22711" y="2277666"/>
            <a:ext cx="7021830" cy="3282315"/>
          </a:xfrm>
        </p:spPr>
        <p:txBody>
          <a:bodyPr/>
          <a:lstStyle/>
          <a:p>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用</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sort()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方法对列表进行排序</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800" dirty="0" err="1">
                <a:latin typeface="微软雅黑" panose="020B0503020204020204" pitchFamily="34" charset="-122"/>
                <a:ea typeface="微软雅黑" panose="020B0503020204020204" pitchFamily="34" charset="-122"/>
                <a:cs typeface="微软雅黑" panose="020B0503020204020204" pitchFamily="34" charset="-122"/>
              </a:rPr>
              <a:t>Cars.sort</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a:t>
            </a:r>
          </a:p>
          <a:p>
            <a:pPr lvl="1"/>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会改变列表的内容</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用</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sorted()</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函数对列表进行排序</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 result = sorted(Cars)</a:t>
            </a:r>
          </a:p>
          <a:p>
            <a:pPr lvl="1"/>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不改变列表的内容</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6"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7" name="标题 1"/>
          <p:cNvSpPr>
            <a:spLocks noGrp="1"/>
          </p:cNvSpPr>
          <p:nvPr/>
        </p:nvSpPr>
        <p:spPr>
          <a:xfrm>
            <a:off x="700232" y="16332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）列表的排序（</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sort</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sorted</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endParaRPr 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7" name="标题 1"/>
          <p:cNvSpPr>
            <a:spLocks noGrp="1"/>
          </p:cNvSpPr>
          <p:nvPr/>
        </p:nvSpPr>
        <p:spPr>
          <a:xfrm>
            <a:off x="700232" y="16205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len</a:t>
            </a:r>
            <a:r>
              <a:rPr 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函数</a:t>
            </a:r>
          </a:p>
        </p:txBody>
      </p:sp>
      <p:sp>
        <p:nvSpPr>
          <p:cNvPr id="8"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内容占位符 2"/>
          <p:cNvSpPr>
            <a:spLocks noGrp="1"/>
          </p:cNvSpPr>
          <p:nvPr/>
        </p:nvSpPr>
        <p:spPr>
          <a:xfrm>
            <a:off x="700405" y="2364740"/>
            <a:ext cx="10795635" cy="2733040"/>
          </a:xfrm>
          <a:prstGeom prst="rect">
            <a:avLst/>
          </a:prstGeom>
          <a:solidFill>
            <a:schemeClr val="bg1">
              <a:lumMod val="95000"/>
            </a:schemeClr>
          </a:solidFill>
          <a:ln w="12700">
            <a:solidFill>
              <a:schemeClr val="tx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marL="0" indent="0">
              <a:buNone/>
            </a:pPr>
            <a:r>
              <a:rPr lang="en-US" altLang="zh-CN" sz="2400" dirty="0">
                <a:latin typeface="Microsoft YaHei UI" panose="020B0503020204020204" pitchFamily="34" charset="-122"/>
                <a:ea typeface="Microsoft YaHei UI" panose="020B0503020204020204" pitchFamily="34" charset="-122"/>
                <a:cs typeface="Tahoma" panose="020B0604030504040204" pitchFamily="34" charset="0"/>
              </a:rPr>
              <a:t> </a:t>
            </a:r>
            <a:r>
              <a:rPr lang="en-US" altLang="zh-CN" sz="2400" i="1" dirty="0"/>
              <a:t>#</a:t>
            </a:r>
            <a:r>
              <a:rPr lang="zh-CN" altLang="en-US" sz="2400" i="1" dirty="0"/>
              <a:t>例</a:t>
            </a:r>
            <a:r>
              <a:rPr lang="en-US" altLang="zh-CN" sz="2400" i="1" dirty="0"/>
              <a:t> </a:t>
            </a:r>
            <a:r>
              <a:rPr lang="zh-CN" altLang="en-US" sz="2400" i="1" dirty="0"/>
              <a:t>列表排序</a:t>
            </a:r>
          </a:p>
          <a:p>
            <a:pPr marL="0" indent="0">
              <a:buNone/>
            </a:pPr>
            <a:r>
              <a:rPr lang="en-US" altLang="zh-CN" sz="2400" dirty="0">
                <a:sym typeface="+mn-ea"/>
              </a:rPr>
              <a:t>Country= ['China', '</a:t>
            </a:r>
            <a:r>
              <a:rPr lang="en-US" altLang="zh-CN" sz="2400" dirty="0" err="1">
                <a:sym typeface="+mn-ea"/>
              </a:rPr>
              <a:t>USA</a:t>
            </a:r>
            <a:r>
              <a:rPr lang="en-US" altLang="zh-CN" sz="2400" dirty="0">
                <a:sym typeface="+mn-ea"/>
              </a:rPr>
              <a:t>', 'Japan', 'India', 'France', 'England' ]</a:t>
            </a:r>
            <a:br>
              <a:rPr lang="en-US" altLang="zh-CN" sz="2400" dirty="0">
                <a:sym typeface="+mn-ea"/>
              </a:rPr>
            </a:br>
            <a:r>
              <a:rPr lang="en-US" altLang="zh-CN" sz="2400" dirty="0">
                <a:sym typeface="+mn-ea"/>
              </a:rPr>
              <a:t>print("</a:t>
            </a:r>
            <a:r>
              <a:rPr altLang="en-US" sz="2400" dirty="0">
                <a:sym typeface="+mn-ea"/>
              </a:rPr>
              <a:t>汽车品牌的长度：</a:t>
            </a:r>
            <a:r>
              <a:rPr lang="en-US" altLang="zh-CN" sz="2400" dirty="0">
                <a:sym typeface="+mn-ea"/>
              </a:rPr>
              <a:t>", </a:t>
            </a:r>
            <a:r>
              <a:rPr lang="en-US" altLang="zh-CN" sz="2400" dirty="0" err="1">
                <a:solidFill>
                  <a:srgbClr val="FF0000"/>
                </a:solidFill>
                <a:sym typeface="+mn-ea"/>
              </a:rPr>
              <a:t>len</a:t>
            </a:r>
            <a:r>
              <a:rPr lang="en-US" altLang="zh-CN" sz="2400" dirty="0">
                <a:solidFill>
                  <a:srgbClr val="FF0000"/>
                </a:solidFill>
                <a:sym typeface="+mn-ea"/>
              </a:rPr>
              <a:t>(Country)</a:t>
            </a:r>
            <a:r>
              <a:rPr lang="en-US" altLang="zh-CN" sz="2400" dirty="0">
                <a:sym typeface="+mn-ea"/>
              </a:rPr>
              <a:t>)</a:t>
            </a:r>
            <a:br>
              <a:rPr lang="en-US" altLang="zh-CN" sz="2400" dirty="0">
                <a:sym typeface="+mn-ea"/>
              </a:rPr>
            </a:br>
            <a:br>
              <a:rPr lang="en-US" altLang="zh-CN" sz="2400" dirty="0">
                <a:sym typeface="+mn-ea"/>
              </a:rPr>
            </a:br>
            <a:r>
              <a:rPr lang="en-US" altLang="zh-CN" sz="2400" dirty="0">
                <a:sym typeface="+mn-ea"/>
              </a:rPr>
              <a:t>bicycles = []</a:t>
            </a:r>
            <a:br>
              <a:rPr lang="en-US" altLang="zh-CN" sz="2400" dirty="0">
                <a:sym typeface="+mn-ea"/>
              </a:rPr>
            </a:br>
            <a:r>
              <a:rPr lang="en-US" altLang="zh-CN" sz="2400" dirty="0">
                <a:sym typeface="+mn-ea"/>
              </a:rPr>
              <a:t>print("</a:t>
            </a:r>
            <a:r>
              <a:rPr altLang="en-US" sz="2400" dirty="0">
                <a:sym typeface="+mn-ea"/>
              </a:rPr>
              <a:t>空列表的长度：</a:t>
            </a:r>
            <a:r>
              <a:rPr lang="en-US" altLang="zh-CN" sz="2400" dirty="0">
                <a:sym typeface="+mn-ea"/>
              </a:rPr>
              <a:t>", </a:t>
            </a:r>
            <a:r>
              <a:rPr lang="en-US" altLang="zh-CN" sz="2400" dirty="0" err="1">
                <a:solidFill>
                  <a:srgbClr val="FF0000"/>
                </a:solidFill>
                <a:sym typeface="+mn-ea"/>
              </a:rPr>
              <a:t>len</a:t>
            </a:r>
            <a:r>
              <a:rPr lang="en-US" altLang="zh-CN" sz="2400" dirty="0">
                <a:solidFill>
                  <a:srgbClr val="FF0000"/>
                </a:solidFill>
                <a:sym typeface="+mn-ea"/>
              </a:rPr>
              <a:t>(bicycles)</a:t>
            </a:r>
            <a:r>
              <a:rPr lang="en-US" altLang="zh-CN" sz="2400" dirty="0">
                <a:sym typeface="+mn-ea"/>
              </a:rPr>
              <a:t>)</a:t>
            </a:r>
            <a:endParaRPr lang="zh-CN" altLang="en-US" sz="2400" b="1" dirty="0">
              <a:latin typeface="Microsoft YaHei UI" panose="020B0503020204020204" pitchFamily="34" charset="-122"/>
              <a:ea typeface="Microsoft YaHei UI" panose="020B0503020204020204" pitchFamily="34" charset="-122"/>
              <a:cs typeface="Tahoma" panose="020B0604030504040204" pitchFamily="34" charset="0"/>
            </a:endParaRPr>
          </a:p>
          <a:p>
            <a:pPr marL="0" indent="0">
              <a:buNone/>
            </a:pPr>
            <a:r>
              <a:rPr lang="en-US" altLang="zh-CN" sz="2400" dirty="0">
                <a:solidFill>
                  <a:srgbClr val="FF0000"/>
                </a:solidFill>
                <a:sym typeface="+mn-ea"/>
              </a:rPr>
              <a:t> </a:t>
            </a:r>
            <a:endParaRPr lang="en-US" altLang="zh-CN" sz="2400" i="1" dirty="0">
              <a:solidFill>
                <a:schemeClr val="accent1"/>
              </a:solidFill>
              <a:effectLst>
                <a:outerShdw blurRad="38100" dist="25400" dir="5400000" algn="ctr" rotWithShape="0">
                  <a:srgbClr val="6E747A">
                    <a:alpha val="43000"/>
                  </a:srgbClr>
                </a:outerShdw>
              </a:effectLst>
              <a:latin typeface="Microsoft YaHei UI" panose="020B0503020204020204" pitchFamily="34" charset="-122"/>
              <a:ea typeface="Microsoft YaHei UI" panose="020B0503020204020204" pitchFamily="34" charset="-122"/>
              <a:cs typeface="Tahoma" panose="020B0604030504040204" pitchFamily="34" charset="0"/>
              <a:sym typeface="+mn-ea"/>
            </a:endParaRPr>
          </a:p>
        </p:txBody>
      </p:sp>
      <p:sp>
        <p:nvSpPr>
          <p:cNvPr id="5" name="线形标注 2(无边框) 4"/>
          <p:cNvSpPr/>
          <p:nvPr/>
        </p:nvSpPr>
        <p:spPr>
          <a:xfrm>
            <a:off x="4137660" y="5344160"/>
            <a:ext cx="6319520" cy="796290"/>
          </a:xfrm>
          <a:prstGeom prst="callout2">
            <a:avLst>
              <a:gd name="adj1" fmla="val -3284"/>
              <a:gd name="adj2" fmla="val 34242"/>
              <a:gd name="adj3" fmla="val -53576"/>
              <a:gd name="adj4" fmla="val 28514"/>
              <a:gd name="adj5" fmla="val -88713"/>
              <a:gd name="adj6" fmla="val 29947"/>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lvl="0" indent="-342900" algn="just">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 len(bicycles)返回列表bicycles的长度，即元素的个数。</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500"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5"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7" name="标题 1"/>
          <p:cNvSpPr>
            <a:spLocks noGrp="1"/>
          </p:cNvSpPr>
          <p:nvPr/>
        </p:nvSpPr>
        <p:spPr>
          <a:xfrm>
            <a:off x="700232" y="16205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count</a:t>
            </a:r>
            <a:r>
              <a:rPr 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函数</a:t>
            </a:r>
          </a:p>
        </p:txBody>
      </p:sp>
      <p:sp>
        <p:nvSpPr>
          <p:cNvPr id="8"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43010" name="文本占位符 38914"/>
          <p:cNvSpPr>
            <a:spLocks noGrp="1"/>
          </p:cNvSpPr>
          <p:nvPr/>
        </p:nvSpPr>
        <p:spPr>
          <a:xfrm>
            <a:off x="975995" y="2129155"/>
            <a:ext cx="11313795"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defTabSz="914400">
              <a:lnSpc>
                <a:spcPct val="150000"/>
              </a:lnSpc>
              <a:spcBef>
                <a:spcPct val="0"/>
              </a:spcBef>
              <a:buSzPct val="90000"/>
              <a:buFont typeface="Wingdings" panose="05000000000000000000" charset="0"/>
              <a:buChar char="§"/>
            </a:pPr>
            <a:r>
              <a:rPr lang="zh-CN" altLang="en-US" sz="2800">
                <a:latin typeface="微软雅黑" panose="020B0503020204020204" pitchFamily="34" charset="-122"/>
                <a:ea typeface="微软雅黑" panose="020B0503020204020204" pitchFamily="34" charset="-122"/>
                <a:cs typeface="微软雅黑" panose="020B0503020204020204" pitchFamily="34" charset="-122"/>
              </a:rPr>
              <a:t>使用列表对象的</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count()</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方法统计指定元素在列表对象中出现的次数。</a:t>
            </a:r>
          </a:p>
          <a:p>
            <a:pPr defTabSz="914400">
              <a:lnSpc>
                <a:spcPct val="80000"/>
              </a:lnSpc>
              <a:buSzPct val="90000"/>
              <a:buFont typeface="Wingdings" panose="05000000000000000000" pitchFamily="2" charset="2"/>
              <a:buNone/>
            </a:pPr>
            <a:endParaRPr lang="en-US" altLang="zh-CN" sz="2400">
              <a:latin typeface="微软雅黑" panose="020B0503020204020204" pitchFamily="34" charset="-122"/>
              <a:ea typeface="微软雅黑" panose="020B0503020204020204" pitchFamily="34" charset="-122"/>
              <a:cs typeface="微软雅黑" panose="020B0503020204020204" pitchFamily="34" charset="-122"/>
            </a:endParaRPr>
          </a:p>
          <a:p>
            <a:pPr defTabSz="914400">
              <a:lnSpc>
                <a:spcPct val="80000"/>
              </a:lnSpc>
              <a:buSzPct val="90000"/>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cs typeface="微软雅黑" panose="020B0503020204020204" pitchFamily="34" charset="-122"/>
              </a:rPr>
              <a:t>&gt;&gt;&gt; aList</a:t>
            </a:r>
          </a:p>
          <a:p>
            <a:pPr defTabSz="914400">
              <a:lnSpc>
                <a:spcPct val="80000"/>
              </a:lnSpc>
              <a:buSzPct val="90000"/>
              <a:buFont typeface="Wingdings" panose="05000000000000000000" pitchFamily="2" charset="2"/>
              <a:buNone/>
            </a:pPr>
            <a:r>
              <a:rPr lang="en-US" altLang="zh-CN" sz="200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[3, 4, 5, 5.5, 7, 9, 11, 13, 15, 17]</a:t>
            </a:r>
          </a:p>
          <a:p>
            <a:pPr defTabSz="914400">
              <a:lnSpc>
                <a:spcPct val="80000"/>
              </a:lnSpc>
              <a:buSzPct val="90000"/>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cs typeface="微软雅黑" panose="020B0503020204020204" pitchFamily="34" charset="-122"/>
              </a:rPr>
              <a:t>&gt;&gt;&gt; aList.count(7)</a:t>
            </a:r>
          </a:p>
          <a:p>
            <a:pPr defTabSz="914400">
              <a:lnSpc>
                <a:spcPct val="80000"/>
              </a:lnSpc>
              <a:buSzPct val="90000"/>
              <a:buFont typeface="Wingdings" panose="05000000000000000000" pitchFamily="2" charset="2"/>
              <a:buNone/>
            </a:pPr>
            <a:r>
              <a:rPr lang="en-US" altLang="zh-CN" sz="200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1</a:t>
            </a:r>
          </a:p>
          <a:p>
            <a:pPr defTabSz="914400">
              <a:lnSpc>
                <a:spcPct val="80000"/>
              </a:lnSpc>
              <a:buSzPct val="90000"/>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cs typeface="微软雅黑" panose="020B0503020204020204" pitchFamily="34" charset="-122"/>
              </a:rPr>
              <a:t>&gt;&gt;&gt; aList.count(0)</a:t>
            </a:r>
          </a:p>
          <a:p>
            <a:pPr defTabSz="914400">
              <a:lnSpc>
                <a:spcPct val="80000"/>
              </a:lnSpc>
              <a:buSzPct val="90000"/>
              <a:buFont typeface="Wingdings" panose="05000000000000000000" pitchFamily="2" charset="2"/>
              <a:buNone/>
            </a:pPr>
            <a:r>
              <a:rPr lang="en-US" altLang="zh-CN" sz="200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0</a:t>
            </a:r>
          </a:p>
          <a:p>
            <a:pPr defTabSz="914400">
              <a:lnSpc>
                <a:spcPct val="80000"/>
              </a:lnSpc>
              <a:buSzPct val="90000"/>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cs typeface="微软雅黑" panose="020B0503020204020204" pitchFamily="34" charset="-122"/>
              </a:rPr>
              <a:t>&gt;&gt;&gt; aList.count(8)</a:t>
            </a:r>
          </a:p>
          <a:p>
            <a:pPr defTabSz="914400">
              <a:lnSpc>
                <a:spcPct val="80000"/>
              </a:lnSpc>
              <a:buSzPct val="90000"/>
              <a:buFont typeface="Wingdings" panose="05000000000000000000" pitchFamily="2" charset="2"/>
              <a:buNone/>
            </a:pPr>
            <a:r>
              <a:rPr lang="en-US" altLang="zh-CN" sz="200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0</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、列表的使用</a:t>
            </a:r>
          </a:p>
        </p:txBody>
      </p:sp>
      <p:sp>
        <p:nvSpPr>
          <p:cNvPr id="7" name="标题 1"/>
          <p:cNvSpPr>
            <a:spLocks noGrp="1"/>
          </p:cNvSpPr>
          <p:nvPr/>
        </p:nvSpPr>
        <p:spPr>
          <a:xfrm>
            <a:off x="700232" y="1620585"/>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zh-CN" sz="2800" kern="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成员资格判断</a:t>
            </a:r>
          </a:p>
        </p:txBody>
      </p:sp>
      <p:sp>
        <p:nvSpPr>
          <p:cNvPr id="8"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45058" name="文本占位符 39938"/>
          <p:cNvSpPr>
            <a:spLocks noGrp="1"/>
          </p:cNvSpPr>
          <p:nvPr/>
        </p:nvSpPr>
        <p:spPr>
          <a:xfrm>
            <a:off x="407670" y="1979295"/>
            <a:ext cx="8229600" cy="4525963"/>
          </a:xfrm>
          <a:prstGeom prst="rect">
            <a:avLst/>
          </a:prstGeom>
          <a:noFill/>
          <a:ln w="25400">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defTabSz="914400" fontAlgn="base">
              <a:lnSpc>
                <a:spcPct val="150000"/>
              </a:lnSpc>
              <a:spcBef>
                <a:spcPts val="0"/>
              </a:spcBef>
              <a:buSzPct val="90000"/>
              <a:buFont typeface="Wingdings" panose="05000000000000000000" charset="0"/>
              <a:buChar char="n"/>
            </a:pPr>
            <a:r>
              <a:rPr lang="zh-CN" altLang="en-US" sz="2400" strike="noStrike" noProof="1">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400" strike="noStrike" noProof="1">
                <a:latin typeface="微软雅黑" panose="020B0503020204020204" pitchFamily="34" charset="-122"/>
                <a:ea typeface="微软雅黑" panose="020B0503020204020204" pitchFamily="34" charset="-122"/>
                <a:cs typeface="微软雅黑" panose="020B0503020204020204" pitchFamily="34" charset="-122"/>
              </a:rPr>
              <a:t>in</a:t>
            </a:r>
            <a:r>
              <a:rPr lang="zh-CN" altLang="en-US" sz="2400" strike="noStrike" noProof="1">
                <a:latin typeface="微软雅黑" panose="020B0503020204020204" pitchFamily="34" charset="-122"/>
                <a:ea typeface="微软雅黑" panose="020B0503020204020204" pitchFamily="34" charset="-122"/>
                <a:cs typeface="微软雅黑" panose="020B0503020204020204" pitchFamily="34" charset="-122"/>
              </a:rPr>
              <a:t>关键字来判断一个值是否存在于列表中，返回结果为“</a:t>
            </a:r>
            <a:r>
              <a:rPr lang="en-US" altLang="zh-CN" sz="2400" strike="noStrike" noProof="1">
                <a:latin typeface="微软雅黑" panose="020B0503020204020204" pitchFamily="34" charset="-122"/>
                <a:ea typeface="微软雅黑" panose="020B0503020204020204" pitchFamily="34" charset="-122"/>
                <a:cs typeface="微软雅黑" panose="020B0503020204020204" pitchFamily="34" charset="-122"/>
              </a:rPr>
              <a:t>True”</a:t>
            </a:r>
            <a:r>
              <a:rPr lang="zh-CN" altLang="en-US" sz="2400" strike="noStrike" noProof="1">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strike="noStrike" noProof="1">
                <a:latin typeface="微软雅黑" panose="020B0503020204020204" pitchFamily="34" charset="-122"/>
                <a:ea typeface="微软雅黑" panose="020B0503020204020204" pitchFamily="34" charset="-122"/>
                <a:cs typeface="微软雅黑" panose="020B0503020204020204" pitchFamily="34" charset="-122"/>
              </a:rPr>
              <a:t>False”</a:t>
            </a:r>
            <a:r>
              <a:rPr lang="zh-CN" altLang="en-US" sz="2400" strike="noStrike" noProof="1">
                <a:latin typeface="微软雅黑" panose="020B0503020204020204" pitchFamily="34" charset="-122"/>
                <a:ea typeface="微软雅黑" panose="020B0503020204020204" pitchFamily="34" charset="-122"/>
                <a:cs typeface="微软雅黑" panose="020B0503020204020204" pitchFamily="34" charset="-122"/>
              </a:rPr>
              <a:t>。</a:t>
            </a:r>
          </a:p>
          <a:p>
            <a:pPr marL="0" indent="0" defTabSz="914400" fontAlgn="base">
              <a:lnSpc>
                <a:spcPct val="150000"/>
              </a:lnSpc>
              <a:spcBef>
                <a:spcPts val="0"/>
              </a:spcBef>
              <a:buSzPct val="90000"/>
              <a:buFont typeface="Wingdings" panose="05000000000000000000" charset="0"/>
              <a:buNone/>
            </a:pPr>
            <a:r>
              <a:rPr lang="en-US" altLang="zh-CN" sz="1600" strike="noStrike" noProof="1">
                <a:latin typeface="微软雅黑" panose="020B0503020204020204" pitchFamily="34" charset="-122"/>
                <a:ea typeface="微软雅黑" panose="020B0503020204020204" pitchFamily="34" charset="-122"/>
                <a:cs typeface="微软雅黑" panose="020B0503020204020204" pitchFamily="34" charset="-122"/>
              </a:rPr>
              <a:t>&gt;&gt;&gt; aList</a:t>
            </a:r>
          </a:p>
          <a:p>
            <a:pPr defTabSz="914400" fontAlgn="base">
              <a:buSzPct val="90000"/>
              <a:buFont typeface="Wingdings" panose="05000000000000000000" pitchFamily="2" charset="2"/>
              <a:buNone/>
            </a:pPr>
            <a:r>
              <a:rPr lang="en-US" altLang="zh-CN" sz="1600" strike="noStrike" noProof="1">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[3, 4, 5, 5.5, 7, 9, 11, 13, 15, 17]</a:t>
            </a:r>
          </a:p>
          <a:p>
            <a:pPr defTabSz="914400" fontAlgn="base">
              <a:buSzPct val="90000"/>
              <a:buFont typeface="Wingdings" panose="05000000000000000000" pitchFamily="2" charset="2"/>
              <a:buNone/>
            </a:pPr>
            <a:r>
              <a:rPr lang="en-US" altLang="zh-CN" sz="1600" strike="noStrike" noProof="1">
                <a:latin typeface="微软雅黑" panose="020B0503020204020204" pitchFamily="34" charset="-122"/>
                <a:ea typeface="微软雅黑" panose="020B0503020204020204" pitchFamily="34" charset="-122"/>
                <a:cs typeface="微软雅黑" panose="020B0503020204020204" pitchFamily="34" charset="-122"/>
              </a:rPr>
              <a:t>&gt;&gt;&gt; 3 in aList</a:t>
            </a:r>
          </a:p>
          <a:p>
            <a:pPr defTabSz="914400" fontAlgn="base">
              <a:buSzPct val="90000"/>
              <a:buFont typeface="Wingdings" panose="05000000000000000000" pitchFamily="2" charset="2"/>
              <a:buNone/>
            </a:pPr>
            <a:r>
              <a:rPr lang="en-US" altLang="zh-CN" sz="1600" strike="noStrike" noProof="1">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True</a:t>
            </a:r>
          </a:p>
          <a:p>
            <a:pPr defTabSz="914400" fontAlgn="base">
              <a:buSzPct val="90000"/>
              <a:buFont typeface="Wingdings" panose="05000000000000000000" pitchFamily="2" charset="2"/>
              <a:buNone/>
            </a:pPr>
            <a:r>
              <a:rPr lang="en-US" altLang="zh-CN" sz="1600" strike="noStrike" noProof="1">
                <a:latin typeface="微软雅黑" panose="020B0503020204020204" pitchFamily="34" charset="-122"/>
                <a:ea typeface="微软雅黑" panose="020B0503020204020204" pitchFamily="34" charset="-122"/>
                <a:cs typeface="微软雅黑" panose="020B0503020204020204" pitchFamily="34" charset="-122"/>
              </a:rPr>
              <a:t>&gt;&gt;&gt; 18 in aList</a:t>
            </a:r>
          </a:p>
          <a:p>
            <a:pPr defTabSz="914400" fontAlgn="base">
              <a:buSzPct val="90000"/>
              <a:buFont typeface="Wingdings" panose="05000000000000000000" pitchFamily="2" charset="2"/>
              <a:buNone/>
            </a:pPr>
            <a:r>
              <a:rPr lang="en-US" altLang="zh-CN" sz="1600" strike="noStrike" noProof="1">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False</a:t>
            </a:r>
          </a:p>
          <a:p>
            <a:pPr defTabSz="914400" fontAlgn="base">
              <a:buSzPct val="90000"/>
              <a:buFont typeface="Wingdings" panose="05000000000000000000" pitchFamily="2" charset="2"/>
              <a:buNone/>
            </a:pPr>
            <a:r>
              <a:rPr lang="en-US" altLang="zh-CN" sz="1600" strike="noStrike" noProof="1">
                <a:latin typeface="微软雅黑" panose="020B0503020204020204" pitchFamily="34" charset="-122"/>
                <a:ea typeface="微软雅黑" panose="020B0503020204020204" pitchFamily="34" charset="-122"/>
                <a:cs typeface="微软雅黑" panose="020B0503020204020204" pitchFamily="34" charset="-122"/>
              </a:rPr>
              <a:t>&gt;&gt;&gt; bList = [[1], [2], [3]]</a:t>
            </a:r>
          </a:p>
          <a:p>
            <a:pPr defTabSz="914400" fontAlgn="base">
              <a:buSzPct val="90000"/>
              <a:buFont typeface="Wingdings" panose="05000000000000000000" pitchFamily="2" charset="2"/>
              <a:buNone/>
            </a:pPr>
            <a:r>
              <a:rPr lang="en-US" altLang="zh-CN" sz="1600" strike="noStrike" noProof="1">
                <a:latin typeface="微软雅黑" panose="020B0503020204020204" pitchFamily="34" charset="-122"/>
                <a:ea typeface="微软雅黑" panose="020B0503020204020204" pitchFamily="34" charset="-122"/>
                <a:cs typeface="微软雅黑" panose="020B0503020204020204" pitchFamily="34" charset="-122"/>
              </a:rPr>
              <a:t>&gt;&gt;&gt; 3 in bList</a:t>
            </a:r>
          </a:p>
          <a:p>
            <a:pPr defTabSz="914400" fontAlgn="base">
              <a:buSzPct val="90000"/>
              <a:buFont typeface="Wingdings" panose="05000000000000000000" pitchFamily="2" charset="2"/>
              <a:buNone/>
            </a:pPr>
            <a:r>
              <a:rPr lang="en-US" altLang="zh-CN" sz="1600" strike="noStrike" noProof="1">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False</a:t>
            </a:r>
          </a:p>
        </p:txBody>
      </p:sp>
      <p:sp>
        <p:nvSpPr>
          <p:cNvPr id="44035" name="文本框 1"/>
          <p:cNvSpPr txBox="1"/>
          <p:nvPr/>
        </p:nvSpPr>
        <p:spPr>
          <a:xfrm>
            <a:off x="6950397" y="2853730"/>
            <a:ext cx="4154487" cy="2552700"/>
          </a:xfrm>
          <a:prstGeom prst="rect">
            <a:avLst/>
          </a:prstGeom>
          <a:noFill/>
          <a:ln w="25400" cap="flat" cmpd="sng">
            <a:solidFill>
              <a:schemeClr val="accent1"/>
            </a:solidFill>
            <a:prstDash val="solid"/>
            <a:round/>
            <a:headEnd type="none" w="med" len="med"/>
            <a:tailEnd type="none" w="med" len="med"/>
          </a:ln>
        </p:spPr>
        <p:txBody>
          <a:bodyPr wrap="square" anchor="t">
            <a:spAutoFit/>
          </a:bodyPr>
          <a:lstStyle/>
          <a:p>
            <a:pPr defTabSz="914400">
              <a:buSzPct val="90000"/>
              <a:buFont typeface="Wingdings" panose="05000000000000000000" pitchFamily="2" charset="2"/>
            </a:pPr>
            <a:r>
              <a:rPr lang="en-US" altLang="zh-CN" sz="1600" dirty="0">
                <a:latin typeface="Consolas" panose="020B0609020204030204" pitchFamily="49" charset="0"/>
                <a:ea typeface="宋体" panose="02010600030101010101" pitchFamily="2" charset="-122"/>
                <a:sym typeface="Arial" panose="020B0604020202020204" pitchFamily="34" charset="0"/>
              </a:rPr>
              <a:t>&gt;&gt;&gt; 3 not in </a:t>
            </a:r>
            <a:r>
              <a:rPr lang="en-US" altLang="zh-CN" sz="1600" dirty="0" err="1">
                <a:latin typeface="Consolas" panose="020B0609020204030204" pitchFamily="49" charset="0"/>
                <a:ea typeface="宋体" panose="02010600030101010101" pitchFamily="2" charset="-122"/>
                <a:sym typeface="Arial" panose="020B0604020202020204" pitchFamily="34" charset="0"/>
              </a:rPr>
              <a:t>bList</a:t>
            </a:r>
            <a:endParaRPr lang="en-US" altLang="zh-CN" sz="1600" dirty="0">
              <a:latin typeface="Consolas" panose="020B0609020204030204" pitchFamily="49" charset="0"/>
              <a:ea typeface="宋体" panose="02010600030101010101" pitchFamily="2" charset="-122"/>
            </a:endParaRPr>
          </a:p>
          <a:p>
            <a:pPr defTabSz="914400">
              <a:buSzPct val="90000"/>
              <a:buFont typeface="Wingdings" panose="05000000000000000000" pitchFamily="2" charset="2"/>
            </a:pPr>
            <a:r>
              <a:rPr lang="en-US" altLang="zh-CN" sz="1600" dirty="0">
                <a:solidFill>
                  <a:srgbClr val="00B0F0"/>
                </a:solidFill>
                <a:latin typeface="Consolas" panose="020B0609020204030204" pitchFamily="49" charset="0"/>
                <a:ea typeface="宋体" panose="02010600030101010101" pitchFamily="2" charset="-122"/>
                <a:sym typeface="Arial" panose="020B0604020202020204" pitchFamily="34" charset="0"/>
              </a:rPr>
              <a:t>True</a:t>
            </a:r>
          </a:p>
          <a:p>
            <a:pPr defTabSz="914400">
              <a:buSzPct val="90000"/>
              <a:buFont typeface="Wingdings" panose="05000000000000000000" pitchFamily="2" charset="2"/>
            </a:pPr>
            <a:r>
              <a:rPr lang="en-US" altLang="zh-CN" sz="1600" dirty="0">
                <a:latin typeface="Consolas" panose="020B0609020204030204" pitchFamily="49" charset="0"/>
                <a:ea typeface="宋体" panose="02010600030101010101" pitchFamily="2" charset="-122"/>
                <a:sym typeface="Arial" panose="020B0604020202020204" pitchFamily="34" charset="0"/>
              </a:rPr>
              <a:t>&gt;&gt;&gt; [3] in </a:t>
            </a:r>
            <a:r>
              <a:rPr lang="en-US" altLang="zh-CN" sz="1600" dirty="0" err="1">
                <a:latin typeface="Consolas" panose="020B0609020204030204" pitchFamily="49" charset="0"/>
                <a:ea typeface="宋体" panose="02010600030101010101" pitchFamily="2" charset="-122"/>
                <a:sym typeface="Arial" panose="020B0604020202020204" pitchFamily="34" charset="0"/>
              </a:rPr>
              <a:t>bList</a:t>
            </a:r>
            <a:endParaRPr lang="en-US" altLang="zh-CN" sz="1600" dirty="0">
              <a:latin typeface="Consolas" panose="020B0609020204030204" pitchFamily="49" charset="0"/>
              <a:ea typeface="宋体" panose="02010600030101010101" pitchFamily="2" charset="-122"/>
            </a:endParaRPr>
          </a:p>
          <a:p>
            <a:pPr defTabSz="914400">
              <a:buSzPct val="90000"/>
              <a:buFont typeface="Wingdings" panose="05000000000000000000" pitchFamily="2" charset="2"/>
            </a:pPr>
            <a:r>
              <a:rPr lang="en-US" altLang="zh-CN" sz="1600" dirty="0">
                <a:solidFill>
                  <a:srgbClr val="00B0F0"/>
                </a:solidFill>
                <a:latin typeface="Consolas" panose="020B0609020204030204" pitchFamily="49" charset="0"/>
                <a:ea typeface="宋体" panose="02010600030101010101" pitchFamily="2" charset="-122"/>
                <a:sym typeface="Arial" panose="020B0604020202020204" pitchFamily="34" charset="0"/>
              </a:rPr>
              <a:t>True</a:t>
            </a:r>
          </a:p>
          <a:p>
            <a:pPr defTabSz="914400">
              <a:buSzPct val="90000"/>
              <a:buFont typeface="Wingdings" panose="05000000000000000000" pitchFamily="2" charset="2"/>
            </a:pPr>
            <a:r>
              <a:rPr lang="en-US" altLang="zh-CN" sz="1600" dirty="0">
                <a:latin typeface="Consolas" panose="020B0609020204030204" pitchFamily="49" charset="0"/>
                <a:ea typeface="宋体" panose="02010600030101010101" pitchFamily="2" charset="-122"/>
                <a:sym typeface="Arial" panose="020B0604020202020204" pitchFamily="34" charset="0"/>
              </a:rPr>
              <a:t>&gt;&gt;&gt; </a:t>
            </a:r>
            <a:r>
              <a:rPr lang="en-US" altLang="zh-CN" sz="1600" dirty="0" err="1">
                <a:latin typeface="Consolas" panose="020B0609020204030204" pitchFamily="49" charset="0"/>
                <a:ea typeface="宋体" panose="02010600030101010101" pitchFamily="2" charset="-122"/>
                <a:sym typeface="Arial" panose="020B0604020202020204" pitchFamily="34" charset="0"/>
              </a:rPr>
              <a:t>aList</a:t>
            </a:r>
            <a:r>
              <a:rPr lang="en-US" altLang="zh-CN" sz="1600" dirty="0">
                <a:latin typeface="Consolas" panose="020B0609020204030204" pitchFamily="49" charset="0"/>
                <a:ea typeface="宋体" panose="02010600030101010101" pitchFamily="2" charset="-122"/>
                <a:sym typeface="Arial" panose="020B0604020202020204" pitchFamily="34" charset="0"/>
              </a:rPr>
              <a:t> = [3, 5, 7, 9, 11]</a:t>
            </a:r>
            <a:endParaRPr lang="en-US" altLang="zh-CN" sz="1600" dirty="0">
              <a:latin typeface="Consolas" panose="020B0609020204030204" pitchFamily="49" charset="0"/>
              <a:ea typeface="宋体" panose="02010600030101010101" pitchFamily="2" charset="-122"/>
            </a:endParaRPr>
          </a:p>
          <a:p>
            <a:pPr defTabSz="914400">
              <a:buSzPct val="90000"/>
              <a:buFont typeface="Wingdings" panose="05000000000000000000" pitchFamily="2" charset="2"/>
            </a:pPr>
            <a:r>
              <a:rPr lang="en-US" altLang="zh-CN" sz="1600" dirty="0">
                <a:latin typeface="Consolas" panose="020B0609020204030204" pitchFamily="49" charset="0"/>
                <a:ea typeface="宋体" panose="02010600030101010101" pitchFamily="2" charset="-122"/>
                <a:sym typeface="Arial" panose="020B0604020202020204" pitchFamily="34" charset="0"/>
              </a:rPr>
              <a:t>&gt;&gt;&gt; </a:t>
            </a:r>
            <a:r>
              <a:rPr lang="en-US" altLang="zh-CN" sz="1600" dirty="0" err="1">
                <a:latin typeface="Consolas" panose="020B0609020204030204" pitchFamily="49" charset="0"/>
                <a:ea typeface="宋体" panose="02010600030101010101" pitchFamily="2" charset="-122"/>
                <a:sym typeface="Arial" panose="020B0604020202020204" pitchFamily="34" charset="0"/>
              </a:rPr>
              <a:t>bList</a:t>
            </a:r>
            <a:r>
              <a:rPr lang="en-US" altLang="zh-CN" sz="1600" dirty="0">
                <a:latin typeface="Consolas" panose="020B0609020204030204" pitchFamily="49" charset="0"/>
                <a:ea typeface="宋体" panose="02010600030101010101" pitchFamily="2" charset="-122"/>
                <a:sym typeface="Arial" panose="020B0604020202020204" pitchFamily="34" charset="0"/>
              </a:rPr>
              <a:t> = ['a', 'b', 'c', 'd']</a:t>
            </a:r>
            <a:endParaRPr lang="en-US" altLang="zh-CN" sz="1600" dirty="0">
              <a:latin typeface="Consolas" panose="020B0609020204030204" pitchFamily="49" charset="0"/>
              <a:ea typeface="宋体" panose="02010600030101010101" pitchFamily="2" charset="-122"/>
            </a:endParaRPr>
          </a:p>
          <a:p>
            <a:pPr defTabSz="914400">
              <a:buSzPct val="90000"/>
              <a:buFont typeface="Wingdings" panose="05000000000000000000" pitchFamily="2" charset="2"/>
            </a:pPr>
            <a:r>
              <a:rPr lang="en-US" altLang="zh-CN" sz="1600" dirty="0">
                <a:latin typeface="Consolas" panose="020B0609020204030204" pitchFamily="49" charset="0"/>
                <a:ea typeface="宋体" panose="02010600030101010101" pitchFamily="2" charset="-122"/>
                <a:sym typeface="Arial" panose="020B0604020202020204" pitchFamily="34" charset="0"/>
              </a:rPr>
              <a:t>&gt;&gt;&gt; (3, 'a') in zip(</a:t>
            </a:r>
            <a:r>
              <a:rPr lang="en-US" altLang="zh-CN" sz="1600" dirty="0" err="1">
                <a:latin typeface="Consolas" panose="020B0609020204030204" pitchFamily="49" charset="0"/>
                <a:ea typeface="宋体" panose="02010600030101010101" pitchFamily="2" charset="-122"/>
                <a:sym typeface="Arial" panose="020B0604020202020204" pitchFamily="34" charset="0"/>
              </a:rPr>
              <a:t>aList</a:t>
            </a:r>
            <a:r>
              <a:rPr lang="en-US" altLang="zh-CN" sz="1600" dirty="0">
                <a:latin typeface="Consolas" panose="020B0609020204030204" pitchFamily="49" charset="0"/>
                <a:ea typeface="宋体" panose="02010600030101010101" pitchFamily="2" charset="-122"/>
                <a:sym typeface="Arial" panose="020B0604020202020204" pitchFamily="34" charset="0"/>
              </a:rPr>
              <a:t>, </a:t>
            </a:r>
            <a:r>
              <a:rPr lang="en-US" altLang="zh-CN" sz="1600" dirty="0" err="1">
                <a:latin typeface="Consolas" panose="020B0609020204030204" pitchFamily="49" charset="0"/>
                <a:ea typeface="宋体" panose="02010600030101010101" pitchFamily="2" charset="-122"/>
                <a:sym typeface="Arial" panose="020B0604020202020204" pitchFamily="34" charset="0"/>
              </a:rPr>
              <a:t>bList</a:t>
            </a:r>
            <a:r>
              <a:rPr lang="en-US" altLang="zh-CN" sz="1600" dirty="0">
                <a:latin typeface="Consolas" panose="020B0609020204030204" pitchFamily="49" charset="0"/>
                <a:ea typeface="宋体" panose="02010600030101010101" pitchFamily="2" charset="-122"/>
                <a:sym typeface="Arial" panose="020B0604020202020204" pitchFamily="34" charset="0"/>
              </a:rPr>
              <a:t>)</a:t>
            </a:r>
            <a:endParaRPr lang="en-US" altLang="zh-CN" sz="1600" dirty="0">
              <a:latin typeface="Consolas" panose="020B0609020204030204" pitchFamily="49" charset="0"/>
              <a:ea typeface="宋体" panose="02010600030101010101" pitchFamily="2" charset="-122"/>
            </a:endParaRPr>
          </a:p>
          <a:p>
            <a:pPr defTabSz="914400">
              <a:buSzPct val="90000"/>
              <a:buFont typeface="Wingdings" panose="05000000000000000000" pitchFamily="2" charset="2"/>
            </a:pPr>
            <a:r>
              <a:rPr lang="en-US" altLang="zh-CN" sz="1600" dirty="0">
                <a:solidFill>
                  <a:srgbClr val="00B0F0"/>
                </a:solidFill>
                <a:latin typeface="Consolas" panose="020B0609020204030204" pitchFamily="49" charset="0"/>
                <a:ea typeface="宋体" panose="02010600030101010101" pitchFamily="2" charset="-122"/>
                <a:sym typeface="Arial" panose="020B0604020202020204" pitchFamily="34" charset="0"/>
              </a:rPr>
              <a:t>True</a:t>
            </a:r>
          </a:p>
          <a:p>
            <a:pPr defTabSz="914400">
              <a:buSzPct val="90000"/>
              <a:buFont typeface="Wingdings" panose="05000000000000000000" pitchFamily="2" charset="2"/>
            </a:pPr>
            <a:r>
              <a:rPr lang="en-US" altLang="zh-CN" sz="1600" dirty="0">
                <a:latin typeface="Consolas" panose="020B0609020204030204" pitchFamily="49" charset="0"/>
                <a:ea typeface="宋体" panose="02010600030101010101" pitchFamily="2" charset="-122"/>
                <a:sym typeface="Arial" panose="020B0604020202020204" pitchFamily="34" charset="0"/>
              </a:rPr>
              <a:t>&gt;&gt;&gt; for a, b in zip(</a:t>
            </a:r>
            <a:r>
              <a:rPr lang="en-US" altLang="zh-CN" sz="1600" dirty="0" err="1">
                <a:latin typeface="Consolas" panose="020B0609020204030204" pitchFamily="49" charset="0"/>
                <a:ea typeface="宋体" panose="02010600030101010101" pitchFamily="2" charset="-122"/>
                <a:sym typeface="Arial" panose="020B0604020202020204" pitchFamily="34" charset="0"/>
              </a:rPr>
              <a:t>aList</a:t>
            </a:r>
            <a:r>
              <a:rPr lang="en-US" altLang="zh-CN" sz="1600" dirty="0">
                <a:latin typeface="Consolas" panose="020B0609020204030204" pitchFamily="49" charset="0"/>
                <a:ea typeface="宋体" panose="02010600030101010101" pitchFamily="2" charset="-122"/>
                <a:sym typeface="Arial" panose="020B0604020202020204" pitchFamily="34" charset="0"/>
              </a:rPr>
              <a:t>, </a:t>
            </a:r>
            <a:r>
              <a:rPr lang="en-US" altLang="zh-CN" sz="1600" dirty="0" err="1">
                <a:latin typeface="Consolas" panose="020B0609020204030204" pitchFamily="49" charset="0"/>
                <a:ea typeface="宋体" panose="02010600030101010101" pitchFamily="2" charset="-122"/>
                <a:sym typeface="Arial" panose="020B0604020202020204" pitchFamily="34" charset="0"/>
              </a:rPr>
              <a:t>bList</a:t>
            </a:r>
            <a:r>
              <a:rPr lang="en-US" altLang="zh-CN" sz="1600" dirty="0">
                <a:latin typeface="Consolas" panose="020B0609020204030204" pitchFamily="49" charset="0"/>
                <a:ea typeface="宋体" panose="02010600030101010101" pitchFamily="2" charset="-122"/>
                <a:sym typeface="Arial" panose="020B0604020202020204" pitchFamily="34" charset="0"/>
              </a:rPr>
              <a:t>):</a:t>
            </a:r>
            <a:endParaRPr lang="en-US" altLang="zh-CN" sz="1600" dirty="0">
              <a:latin typeface="Consolas" panose="020B0609020204030204" pitchFamily="49" charset="0"/>
              <a:ea typeface="宋体" panose="02010600030101010101" pitchFamily="2" charset="-122"/>
            </a:endParaRPr>
          </a:p>
          <a:p>
            <a:pPr defTabSz="914400">
              <a:buSzPct val="90000"/>
              <a:buFont typeface="Wingdings" panose="05000000000000000000" pitchFamily="2" charset="2"/>
            </a:pPr>
            <a:r>
              <a:rPr lang="en-US" altLang="zh-CN" sz="1600" dirty="0">
                <a:latin typeface="Consolas" panose="020B0609020204030204" pitchFamily="49" charset="0"/>
                <a:ea typeface="宋体" panose="02010600030101010101" pitchFamily="2" charset="-122"/>
                <a:sym typeface="Arial" panose="020B0604020202020204" pitchFamily="34" charset="0"/>
              </a:rPr>
              <a:t>	print(a, b)</a:t>
            </a:r>
            <a:endParaRPr lang="zh-CN" altLang="en-US" sz="1600" dirty="0">
              <a:latin typeface="Consolas" panose="020B0609020204030204" pitchFamily="49" charset="0"/>
              <a:ea typeface="宋体" panose="02010600030101010101" pitchFamily="2" charset="-122"/>
            </a:endParaRPr>
          </a:p>
        </p:txBody>
      </p:sp>
      <p:sp>
        <p:nvSpPr>
          <p:cNvPr id="2" name="矩形 1"/>
          <p:cNvSpPr/>
          <p:nvPr/>
        </p:nvSpPr>
        <p:spPr>
          <a:xfrm>
            <a:off x="3938934" y="5414305"/>
            <a:ext cx="7730107" cy="830997"/>
          </a:xfrm>
          <a:prstGeom prst="rect">
            <a:avLst/>
          </a:prstGeom>
        </p:spPr>
        <p:txBody>
          <a:bodyPr wrap="square">
            <a:spAutoFit/>
          </a:bodyPr>
          <a:lstStyle/>
          <a:p>
            <a:r>
              <a:rPr lang="en-US" altLang="zh-CN" dirty="0"/>
              <a:t>zip() </a:t>
            </a:r>
            <a:r>
              <a:rPr lang="zh-CN" altLang="en-US" dirty="0"/>
              <a:t>函数用于将可迭代的对象作为参数</a:t>
            </a:r>
            <a:r>
              <a:rPr lang="en-US" altLang="zh-CN" dirty="0"/>
              <a:t>,</a:t>
            </a:r>
            <a:r>
              <a:rPr lang="zh-CN" altLang="en-US" dirty="0"/>
              <a:t>将对象中对应的元素打包成一个个元组</a:t>
            </a:r>
            <a:r>
              <a:rPr lang="en-US" altLang="zh-CN" dirty="0"/>
              <a:t>,</a:t>
            </a:r>
            <a:r>
              <a:rPr lang="zh-CN" altLang="en-US" dirty="0"/>
              <a:t>然后返回由这些元组组成的列表。</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59015" y="726736"/>
            <a:ext cx="3600400" cy="689610"/>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方正大黑简体" panose="03000509000000000000" pitchFamily="2" charset="-122"/>
                <a:ea typeface="方正大黑简体" panose="03000509000000000000" pitchFamily="2" charset="-122"/>
              </a:rPr>
              <a:t>常用列表方法</a:t>
            </a:r>
          </a:p>
        </p:txBody>
      </p:sp>
      <p:graphicFrame>
        <p:nvGraphicFramePr>
          <p:cNvPr id="6" name="内容占位符 5"/>
          <p:cNvGraphicFramePr>
            <a:graphicFrameLocks noGrp="1"/>
          </p:cNvGraphicFramePr>
          <p:nvPr>
            <p:ph idx="1"/>
          </p:nvPr>
        </p:nvGraphicFramePr>
        <p:xfrm>
          <a:off x="2056638" y="1416346"/>
          <a:ext cx="8230870" cy="4937920"/>
        </p:xfrm>
        <a:graphic>
          <a:graphicData uri="http://schemas.openxmlformats.org/drawingml/2006/table">
            <a:tbl>
              <a:tblPr firstRow="1" bandRow="1">
                <a:tableStyleId>{8799B23B-EC83-4686-B30A-512413B5E67A}</a:tableStyleId>
              </a:tblPr>
              <a:tblGrid>
                <a:gridCol w="2531110">
                  <a:extLst>
                    <a:ext uri="{9D8B030D-6E8A-4147-A177-3AD203B41FA5}">
                      <a16:colId xmlns:a16="http://schemas.microsoft.com/office/drawing/2014/main" val="20000"/>
                    </a:ext>
                  </a:extLst>
                </a:gridCol>
                <a:gridCol w="5699760">
                  <a:extLst>
                    <a:ext uri="{9D8B030D-6E8A-4147-A177-3AD203B41FA5}">
                      <a16:colId xmlns:a16="http://schemas.microsoft.com/office/drawing/2014/main" val="20001"/>
                    </a:ext>
                  </a:extLst>
                </a:gridCol>
              </a:tblGrid>
              <a:tr h="457200">
                <a:tc>
                  <a:txBody>
                    <a:bodyPr/>
                    <a:lstStyle/>
                    <a:p>
                      <a:pPr algn="ctr"/>
                      <a:r>
                        <a:rPr lang="zh-CN" altLang="en-US" sz="2400" dirty="0">
                          <a:latin typeface="Arial Black" panose="020B0A04020102020204" pitchFamily="34" charset="0"/>
                          <a:ea typeface="微软雅黑" panose="020B0503020204020204" pitchFamily="34" charset="-122"/>
                        </a:rPr>
                        <a:t>函数</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tc>
                  <a:txBody>
                    <a:bodyPr/>
                    <a:lstStyle/>
                    <a:p>
                      <a:pPr algn="ctr"/>
                      <a:r>
                        <a:rPr lang="zh-CN" altLang="en-US" sz="2400" dirty="0">
                          <a:latin typeface="Arial Black" panose="020B0A04020102020204" pitchFamily="34" charset="0"/>
                          <a:ea typeface="微软雅黑" panose="020B0503020204020204" pitchFamily="34" charset="-122"/>
                        </a:rPr>
                        <a:t>返回值</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extLst>
                  <a:ext uri="{0D108BD9-81ED-4DB2-BD59-A6C34878D82A}">
                    <a16:rowId xmlns:a16="http://schemas.microsoft.com/office/drawing/2014/main" val="10000"/>
                  </a:ext>
                </a:extLst>
              </a:tr>
              <a:tr h="457200">
                <a:tc>
                  <a:txBody>
                    <a:bodyPr/>
                    <a:lstStyle/>
                    <a:p>
                      <a:r>
                        <a:rPr lang="en-US" altLang="zh-CN" sz="2400" dirty="0" err="1">
                          <a:latin typeface="Arial Black" panose="020B0A04020102020204" pitchFamily="34" charset="0"/>
                          <a:ea typeface="微软雅黑" panose="020B0503020204020204" pitchFamily="34" charset="-122"/>
                        </a:rPr>
                        <a:t>s.append</a:t>
                      </a:r>
                      <a:r>
                        <a:rPr lang="en-US" altLang="zh-CN" sz="2400" dirty="0">
                          <a:latin typeface="Arial Black" panose="020B0A04020102020204" pitchFamily="34" charset="0"/>
                          <a:ea typeface="微软雅黑" panose="020B0503020204020204" pitchFamily="34" charset="-122"/>
                        </a:rPr>
                        <a:t>(x)</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tc>
                  <a:txBody>
                    <a:bodyPr/>
                    <a:lstStyle/>
                    <a:p>
                      <a:r>
                        <a:rPr lang="zh-CN" altLang="en-US" sz="2400" dirty="0">
                          <a:latin typeface="Arial Black" panose="020B0A04020102020204" pitchFamily="34" charset="0"/>
                          <a:ea typeface="微软雅黑" panose="020B0503020204020204" pitchFamily="34" charset="-122"/>
                        </a:rPr>
                        <a:t>在列表</a:t>
                      </a:r>
                      <a:r>
                        <a:rPr lang="en-US" altLang="zh-CN" sz="2400" dirty="0">
                          <a:latin typeface="Arial Black" panose="020B0A04020102020204" pitchFamily="34" charset="0"/>
                          <a:ea typeface="微软雅黑" panose="020B0503020204020204" pitchFamily="34" charset="-122"/>
                        </a:rPr>
                        <a:t>s</a:t>
                      </a:r>
                      <a:r>
                        <a:rPr lang="zh-CN" altLang="en-US" sz="2400" dirty="0">
                          <a:latin typeface="Arial Black" panose="020B0A04020102020204" pitchFamily="34" charset="0"/>
                          <a:ea typeface="微软雅黑" panose="020B0503020204020204" pitchFamily="34" charset="-122"/>
                        </a:rPr>
                        <a:t>末尾处添加元素</a:t>
                      </a:r>
                      <a:r>
                        <a:rPr lang="en-US" altLang="zh-CN" sz="2400" dirty="0">
                          <a:latin typeface="Arial Black" panose="020B0A04020102020204" pitchFamily="34" charset="0"/>
                          <a:ea typeface="微软雅黑" panose="020B0503020204020204" pitchFamily="34" charset="-122"/>
                        </a:rPr>
                        <a:t>x</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extLst>
                  <a:ext uri="{0D108BD9-81ED-4DB2-BD59-A6C34878D82A}">
                    <a16:rowId xmlns:a16="http://schemas.microsoft.com/office/drawing/2014/main" val="10001"/>
                  </a:ext>
                </a:extLst>
              </a:tr>
              <a:tr h="457200">
                <a:tc>
                  <a:txBody>
                    <a:bodyPr/>
                    <a:lstStyle/>
                    <a:p>
                      <a:r>
                        <a:rPr lang="en-US" altLang="zh-CN" sz="2400" dirty="0" err="1">
                          <a:latin typeface="Arial Black" panose="020B0A04020102020204" pitchFamily="34" charset="0"/>
                          <a:ea typeface="微软雅黑" panose="020B0503020204020204" pitchFamily="34" charset="-122"/>
                        </a:rPr>
                        <a:t>s.count</a:t>
                      </a:r>
                      <a:r>
                        <a:rPr lang="en-US" altLang="zh-CN" sz="2400" dirty="0">
                          <a:latin typeface="Arial Black" panose="020B0A04020102020204" pitchFamily="34" charset="0"/>
                          <a:ea typeface="微软雅黑" panose="020B0503020204020204" pitchFamily="34" charset="-122"/>
                        </a:rPr>
                        <a:t>(x)</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tc>
                  <a:txBody>
                    <a:bodyPr/>
                    <a:lstStyle/>
                    <a:p>
                      <a:r>
                        <a:rPr lang="zh-CN" altLang="en-US" sz="2400" dirty="0">
                          <a:latin typeface="Arial Black" panose="020B0A04020102020204" pitchFamily="34" charset="0"/>
                          <a:ea typeface="微软雅黑" panose="020B0503020204020204" pitchFamily="34" charset="-122"/>
                        </a:rPr>
                        <a:t>返回元素</a:t>
                      </a:r>
                      <a:r>
                        <a:rPr lang="en-US" altLang="zh-CN" sz="2400" dirty="0">
                          <a:latin typeface="Arial Black" panose="020B0A04020102020204" pitchFamily="34" charset="0"/>
                          <a:ea typeface="微软雅黑" panose="020B0503020204020204" pitchFamily="34" charset="-122"/>
                        </a:rPr>
                        <a:t>x</a:t>
                      </a:r>
                      <a:r>
                        <a:rPr lang="zh-CN" altLang="en-US" sz="2400" dirty="0">
                          <a:latin typeface="Arial Black" panose="020B0A04020102020204" pitchFamily="34" charset="0"/>
                          <a:ea typeface="微软雅黑" panose="020B0503020204020204" pitchFamily="34" charset="-122"/>
                        </a:rPr>
                        <a:t>在列表中出现的次数</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extLst>
                  <a:ext uri="{0D108BD9-81ED-4DB2-BD59-A6C34878D82A}">
                    <a16:rowId xmlns:a16="http://schemas.microsoft.com/office/drawing/2014/main" val="10002"/>
                  </a:ext>
                </a:extLst>
              </a:tr>
              <a:tr h="457200">
                <a:tc>
                  <a:txBody>
                    <a:bodyPr/>
                    <a:lstStyle/>
                    <a:p>
                      <a:r>
                        <a:rPr lang="en-US" altLang="zh-CN" sz="2400" dirty="0" err="1">
                          <a:latin typeface="Arial Black" panose="020B0A04020102020204" pitchFamily="34" charset="0"/>
                          <a:ea typeface="微软雅黑" panose="020B0503020204020204" pitchFamily="34" charset="-122"/>
                        </a:rPr>
                        <a:t>s.extend</a:t>
                      </a:r>
                      <a:r>
                        <a:rPr lang="en-US" altLang="zh-CN" sz="2400" dirty="0">
                          <a:latin typeface="Arial Black" panose="020B0A04020102020204" pitchFamily="34" charset="0"/>
                          <a:ea typeface="微软雅黑" panose="020B0503020204020204" pitchFamily="34" charset="-122"/>
                        </a:rPr>
                        <a:t>(</a:t>
                      </a:r>
                      <a:r>
                        <a:rPr lang="en-US" altLang="zh-CN" sz="2400" dirty="0" err="1">
                          <a:latin typeface="Arial Black" panose="020B0A04020102020204" pitchFamily="34" charset="0"/>
                          <a:ea typeface="微软雅黑" panose="020B0503020204020204" pitchFamily="34" charset="-122"/>
                        </a:rPr>
                        <a:t>lst</a:t>
                      </a:r>
                      <a:r>
                        <a:rPr lang="en-US" altLang="zh-CN" sz="2400" dirty="0">
                          <a:latin typeface="Arial Black" panose="020B0A04020102020204" pitchFamily="34" charset="0"/>
                          <a:ea typeface="微软雅黑" panose="020B0503020204020204" pitchFamily="34" charset="-122"/>
                        </a:rPr>
                        <a:t>)</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tc>
                  <a:txBody>
                    <a:bodyPr/>
                    <a:lstStyle/>
                    <a:p>
                      <a:r>
                        <a:rPr lang="zh-CN" altLang="en-US" sz="2400" dirty="0">
                          <a:latin typeface="Arial Black" panose="020B0A04020102020204" pitchFamily="34" charset="0"/>
                          <a:ea typeface="微软雅黑" panose="020B0503020204020204" pitchFamily="34" charset="-122"/>
                        </a:rPr>
                        <a:t>将</a:t>
                      </a:r>
                      <a:r>
                        <a:rPr lang="en-US" altLang="zh-CN" sz="2400" dirty="0" err="1">
                          <a:latin typeface="Arial Black" panose="020B0A04020102020204" pitchFamily="34" charset="0"/>
                          <a:ea typeface="微软雅黑" panose="020B0503020204020204" pitchFamily="34" charset="-122"/>
                        </a:rPr>
                        <a:t>lst</a:t>
                      </a:r>
                      <a:r>
                        <a:rPr lang="zh-CN" altLang="en-US" sz="2400" dirty="0">
                          <a:latin typeface="Arial Black" panose="020B0A04020102020204" pitchFamily="34" charset="0"/>
                          <a:ea typeface="微软雅黑" panose="020B0503020204020204" pitchFamily="34" charset="-122"/>
                        </a:rPr>
                        <a:t>的所有元素都添加到列表</a:t>
                      </a:r>
                      <a:r>
                        <a:rPr lang="en-US" altLang="zh-CN" sz="2400" dirty="0">
                          <a:latin typeface="Arial Black" panose="020B0A04020102020204" pitchFamily="34" charset="0"/>
                          <a:ea typeface="微软雅黑" panose="020B0503020204020204" pitchFamily="34" charset="-122"/>
                        </a:rPr>
                        <a:t>s</a:t>
                      </a:r>
                      <a:r>
                        <a:rPr lang="zh-CN" altLang="en-US" sz="2400" dirty="0">
                          <a:latin typeface="Arial Black" panose="020B0A04020102020204" pitchFamily="34" charset="0"/>
                          <a:ea typeface="微软雅黑" panose="020B0503020204020204" pitchFamily="34" charset="-122"/>
                        </a:rPr>
                        <a:t>末尾</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extLst>
                  <a:ext uri="{0D108BD9-81ED-4DB2-BD59-A6C34878D82A}">
                    <a16:rowId xmlns:a16="http://schemas.microsoft.com/office/drawing/2014/main" val="10003"/>
                  </a:ext>
                </a:extLst>
              </a:tr>
              <a:tr h="457200">
                <a:tc>
                  <a:txBody>
                    <a:bodyPr/>
                    <a:lstStyle/>
                    <a:p>
                      <a:r>
                        <a:rPr lang="en-US" altLang="zh-CN" sz="2400" dirty="0" err="1">
                          <a:latin typeface="Arial Black" panose="020B0A04020102020204" pitchFamily="34" charset="0"/>
                          <a:ea typeface="微软雅黑" panose="020B0503020204020204" pitchFamily="34" charset="-122"/>
                        </a:rPr>
                        <a:t>s.index</a:t>
                      </a:r>
                      <a:r>
                        <a:rPr lang="en-US" altLang="zh-CN" sz="2400" dirty="0">
                          <a:latin typeface="Arial Black" panose="020B0A04020102020204" pitchFamily="34" charset="0"/>
                          <a:ea typeface="微软雅黑" panose="020B0503020204020204" pitchFamily="34" charset="-122"/>
                        </a:rPr>
                        <a:t>(x)</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tc>
                  <a:txBody>
                    <a:bodyPr/>
                    <a:lstStyle/>
                    <a:p>
                      <a:r>
                        <a:rPr lang="zh-CN" altLang="en-US" sz="2400" dirty="0">
                          <a:latin typeface="Arial Black" panose="020B0A04020102020204" pitchFamily="34" charset="0"/>
                          <a:ea typeface="微软雅黑" panose="020B0503020204020204" pitchFamily="34" charset="-122"/>
                        </a:rPr>
                        <a:t>返回第一个</a:t>
                      </a:r>
                      <a:r>
                        <a:rPr lang="en-US" altLang="zh-CN" sz="2400" dirty="0">
                          <a:latin typeface="Arial Black" panose="020B0A04020102020204" pitchFamily="34" charset="0"/>
                          <a:ea typeface="微软雅黑" panose="020B0503020204020204" pitchFamily="34" charset="-122"/>
                        </a:rPr>
                        <a:t>x</a:t>
                      </a:r>
                      <a:r>
                        <a:rPr lang="zh-CN" altLang="en-US" sz="2400" dirty="0">
                          <a:latin typeface="Arial Black" panose="020B0A04020102020204" pitchFamily="34" charset="0"/>
                          <a:ea typeface="微软雅黑" panose="020B0503020204020204" pitchFamily="34" charset="-122"/>
                        </a:rPr>
                        <a:t>元素的索引</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extLst>
                  <a:ext uri="{0D108BD9-81ED-4DB2-BD59-A6C34878D82A}">
                    <a16:rowId xmlns:a16="http://schemas.microsoft.com/office/drawing/2014/main" val="10004"/>
                  </a:ext>
                </a:extLst>
              </a:tr>
              <a:tr h="822960">
                <a:tc>
                  <a:txBody>
                    <a:bodyPr/>
                    <a:lstStyle/>
                    <a:p>
                      <a:r>
                        <a:rPr lang="en-US" altLang="zh-CN" sz="2400" dirty="0" err="1">
                          <a:latin typeface="Arial Black" panose="020B0A04020102020204" pitchFamily="34" charset="0"/>
                          <a:ea typeface="微软雅黑" panose="020B0503020204020204" pitchFamily="34" charset="-122"/>
                        </a:rPr>
                        <a:t>s.insert</a:t>
                      </a:r>
                      <a:r>
                        <a:rPr lang="en-US" altLang="zh-CN" sz="2400" dirty="0">
                          <a:latin typeface="Arial Black" panose="020B0A04020102020204" pitchFamily="34" charset="0"/>
                          <a:ea typeface="微软雅黑" panose="020B0503020204020204" pitchFamily="34" charset="-122"/>
                        </a:rPr>
                        <a:t>(</a:t>
                      </a:r>
                      <a:r>
                        <a:rPr lang="en-US" altLang="zh-CN" sz="2400" dirty="0" err="1">
                          <a:latin typeface="Arial Black" panose="020B0A04020102020204" pitchFamily="34" charset="0"/>
                          <a:ea typeface="微软雅黑" panose="020B0503020204020204" pitchFamily="34" charset="-122"/>
                        </a:rPr>
                        <a:t>i,x</a:t>
                      </a:r>
                      <a:r>
                        <a:rPr lang="en-US" altLang="zh-CN" sz="2400" dirty="0">
                          <a:latin typeface="Arial Black" panose="020B0A04020102020204" pitchFamily="34" charset="0"/>
                          <a:ea typeface="微软雅黑" panose="020B0503020204020204" pitchFamily="34" charset="-122"/>
                        </a:rPr>
                        <a:t>)</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tc>
                  <a:txBody>
                    <a:bodyPr/>
                    <a:lstStyle/>
                    <a:p>
                      <a:r>
                        <a:rPr lang="zh-CN" altLang="en-US" sz="2400" dirty="0">
                          <a:latin typeface="Arial Black" panose="020B0A04020102020204" pitchFamily="34" charset="0"/>
                          <a:ea typeface="微软雅黑" panose="020B0503020204020204" pitchFamily="34" charset="-122"/>
                        </a:rPr>
                        <a:t>将元素</a:t>
                      </a:r>
                      <a:r>
                        <a:rPr lang="en-US" altLang="zh-CN" sz="2400" dirty="0">
                          <a:latin typeface="Arial Black" panose="020B0A04020102020204" pitchFamily="34" charset="0"/>
                          <a:ea typeface="微软雅黑" panose="020B0503020204020204" pitchFamily="34" charset="-122"/>
                        </a:rPr>
                        <a:t>x</a:t>
                      </a:r>
                      <a:r>
                        <a:rPr lang="zh-CN" altLang="en-US" sz="2400" dirty="0">
                          <a:latin typeface="Arial Black" panose="020B0A04020102020204" pitchFamily="34" charset="0"/>
                          <a:ea typeface="微软雅黑" panose="020B0503020204020204" pitchFamily="34" charset="-122"/>
                        </a:rPr>
                        <a:t>插入到索引</a:t>
                      </a:r>
                      <a:r>
                        <a:rPr lang="en-US" altLang="zh-CN" sz="2400" dirty="0" err="1">
                          <a:latin typeface="Arial Black" panose="020B0A04020102020204" pitchFamily="34" charset="0"/>
                          <a:ea typeface="微软雅黑" panose="020B0503020204020204" pitchFamily="34" charset="-122"/>
                        </a:rPr>
                        <a:t>i</a:t>
                      </a:r>
                      <a:r>
                        <a:rPr lang="zh-CN" altLang="en-US" sz="2400" dirty="0">
                          <a:latin typeface="Arial Black" panose="020B0A04020102020204" pitchFamily="34" charset="0"/>
                          <a:ea typeface="微软雅黑" panose="020B0503020204020204" pitchFamily="34" charset="-122"/>
                        </a:rPr>
                        <a:t>指定的元素前面，结果是</a:t>
                      </a:r>
                      <a:r>
                        <a:rPr lang="en-US" altLang="zh-CN" sz="2400" dirty="0">
                          <a:latin typeface="Arial Black" panose="020B0A04020102020204" pitchFamily="34" charset="0"/>
                          <a:ea typeface="微软雅黑" panose="020B0503020204020204" pitchFamily="34" charset="-122"/>
                        </a:rPr>
                        <a:t>s[</a:t>
                      </a:r>
                      <a:r>
                        <a:rPr lang="en-US" altLang="zh-CN" sz="2400" dirty="0" err="1">
                          <a:latin typeface="Arial Black" panose="020B0A04020102020204" pitchFamily="34" charset="0"/>
                          <a:ea typeface="微软雅黑" panose="020B0503020204020204" pitchFamily="34" charset="-122"/>
                        </a:rPr>
                        <a:t>i</a:t>
                      </a:r>
                      <a:r>
                        <a:rPr lang="en-US" altLang="zh-CN" sz="2400" dirty="0">
                          <a:latin typeface="Arial Black" panose="020B0A04020102020204" pitchFamily="34" charset="0"/>
                          <a:ea typeface="微软雅黑" panose="020B0503020204020204" pitchFamily="34" charset="-122"/>
                        </a:rPr>
                        <a:t>]=x</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extLst>
                  <a:ext uri="{0D108BD9-81ED-4DB2-BD59-A6C34878D82A}">
                    <a16:rowId xmlns:a16="http://schemas.microsoft.com/office/drawing/2014/main" val="10005"/>
                  </a:ext>
                </a:extLst>
              </a:tr>
              <a:tr h="457200">
                <a:tc>
                  <a:txBody>
                    <a:bodyPr/>
                    <a:lstStyle/>
                    <a:p>
                      <a:r>
                        <a:rPr lang="en-US" altLang="zh-CN" sz="2400" dirty="0" err="1">
                          <a:latin typeface="Arial Black" panose="020B0A04020102020204" pitchFamily="34" charset="0"/>
                          <a:ea typeface="微软雅黑" panose="020B0503020204020204" pitchFamily="34" charset="-122"/>
                        </a:rPr>
                        <a:t>s.pop</a:t>
                      </a:r>
                      <a:r>
                        <a:rPr lang="en-US" altLang="zh-CN" sz="2400" dirty="0">
                          <a:latin typeface="Arial Black" panose="020B0A04020102020204" pitchFamily="34" charset="0"/>
                          <a:ea typeface="微软雅黑" panose="020B0503020204020204" pitchFamily="34" charset="-122"/>
                        </a:rPr>
                        <a:t>(x)</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tc>
                  <a:txBody>
                    <a:bodyPr/>
                    <a:lstStyle/>
                    <a:p>
                      <a:r>
                        <a:rPr lang="zh-CN" altLang="en-US" sz="2400" dirty="0">
                          <a:latin typeface="Arial Black" panose="020B0A04020102020204" pitchFamily="34" charset="0"/>
                          <a:ea typeface="微软雅黑" panose="020B0503020204020204" pitchFamily="34" charset="-122"/>
                        </a:rPr>
                        <a:t>删除并返回</a:t>
                      </a:r>
                      <a:r>
                        <a:rPr lang="en-US" altLang="zh-CN" sz="2400" dirty="0">
                          <a:latin typeface="Arial Black" panose="020B0A04020102020204" pitchFamily="34" charset="0"/>
                          <a:ea typeface="微软雅黑" panose="020B0503020204020204" pitchFamily="34" charset="-122"/>
                        </a:rPr>
                        <a:t>s</a:t>
                      </a:r>
                      <a:r>
                        <a:rPr lang="zh-CN" altLang="en-US" sz="2400" dirty="0">
                          <a:latin typeface="Arial Black" panose="020B0A04020102020204" pitchFamily="34" charset="0"/>
                          <a:ea typeface="微软雅黑" panose="020B0503020204020204" pitchFamily="34" charset="-122"/>
                        </a:rPr>
                        <a:t>中索引为</a:t>
                      </a:r>
                      <a:r>
                        <a:rPr lang="en-US" altLang="zh-CN" sz="2400" dirty="0" err="1">
                          <a:latin typeface="Arial Black" panose="020B0A04020102020204" pitchFamily="34" charset="0"/>
                          <a:ea typeface="微软雅黑" panose="020B0503020204020204" pitchFamily="34" charset="-122"/>
                        </a:rPr>
                        <a:t>i</a:t>
                      </a:r>
                      <a:r>
                        <a:rPr lang="zh-CN" altLang="en-US" sz="2400" dirty="0">
                          <a:latin typeface="Arial Black" panose="020B0A04020102020204" pitchFamily="34" charset="0"/>
                          <a:ea typeface="微软雅黑" panose="020B0503020204020204" pitchFamily="34" charset="-122"/>
                        </a:rPr>
                        <a:t>的元素</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extLst>
                  <a:ext uri="{0D108BD9-81ED-4DB2-BD59-A6C34878D82A}">
                    <a16:rowId xmlns:a16="http://schemas.microsoft.com/office/drawing/2014/main" val="10006"/>
                  </a:ext>
                </a:extLst>
              </a:tr>
              <a:tr h="457200">
                <a:tc>
                  <a:txBody>
                    <a:bodyPr/>
                    <a:lstStyle/>
                    <a:p>
                      <a:r>
                        <a:rPr lang="en-US" altLang="zh-CN" sz="2400" dirty="0" err="1">
                          <a:latin typeface="Arial Black" panose="020B0A04020102020204" pitchFamily="34" charset="0"/>
                          <a:ea typeface="微软雅黑" panose="020B0503020204020204" pitchFamily="34" charset="-122"/>
                        </a:rPr>
                        <a:t>s.remove</a:t>
                      </a:r>
                      <a:r>
                        <a:rPr lang="en-US" altLang="zh-CN" sz="2400" dirty="0">
                          <a:latin typeface="Arial Black" panose="020B0A04020102020204" pitchFamily="34" charset="0"/>
                          <a:ea typeface="微软雅黑" panose="020B0503020204020204" pitchFamily="34" charset="-122"/>
                        </a:rPr>
                        <a:t>(x)</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tc>
                  <a:txBody>
                    <a:bodyPr/>
                    <a:lstStyle/>
                    <a:p>
                      <a:r>
                        <a:rPr lang="zh-CN" altLang="en-US" sz="2400" dirty="0">
                          <a:latin typeface="Arial Black" panose="020B0A04020102020204" pitchFamily="34" charset="0"/>
                          <a:ea typeface="微软雅黑" panose="020B0503020204020204" pitchFamily="34" charset="-122"/>
                        </a:rPr>
                        <a:t>删除</a:t>
                      </a:r>
                      <a:r>
                        <a:rPr lang="en-US" altLang="zh-CN" sz="2400" dirty="0">
                          <a:latin typeface="Arial Black" panose="020B0A04020102020204" pitchFamily="34" charset="0"/>
                          <a:ea typeface="微软雅黑" panose="020B0503020204020204" pitchFamily="34" charset="-122"/>
                        </a:rPr>
                        <a:t>s</a:t>
                      </a:r>
                      <a:r>
                        <a:rPr lang="zh-CN" altLang="en-US" sz="2400" dirty="0">
                          <a:latin typeface="Arial Black" panose="020B0A04020102020204" pitchFamily="34" charset="0"/>
                          <a:ea typeface="微软雅黑" panose="020B0503020204020204" pitchFamily="34" charset="-122"/>
                        </a:rPr>
                        <a:t>中的第一个</a:t>
                      </a:r>
                      <a:r>
                        <a:rPr lang="en-US" altLang="zh-CN" sz="2400" dirty="0">
                          <a:latin typeface="Arial Black" panose="020B0A04020102020204" pitchFamily="34" charset="0"/>
                          <a:ea typeface="微软雅黑" panose="020B0503020204020204" pitchFamily="34" charset="-122"/>
                        </a:rPr>
                        <a:t>x</a:t>
                      </a:r>
                      <a:r>
                        <a:rPr lang="zh-CN" altLang="en-US" sz="2400" dirty="0">
                          <a:latin typeface="Arial Black" panose="020B0A04020102020204" pitchFamily="34" charset="0"/>
                          <a:ea typeface="微软雅黑" panose="020B0503020204020204" pitchFamily="34" charset="-122"/>
                        </a:rPr>
                        <a:t>元素</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extLst>
                  <a:ext uri="{0D108BD9-81ED-4DB2-BD59-A6C34878D82A}">
                    <a16:rowId xmlns:a16="http://schemas.microsoft.com/office/drawing/2014/main" val="10007"/>
                  </a:ext>
                </a:extLst>
              </a:tr>
              <a:tr h="457200">
                <a:tc>
                  <a:txBody>
                    <a:bodyPr/>
                    <a:lstStyle/>
                    <a:p>
                      <a:r>
                        <a:rPr lang="en-US" altLang="zh-CN" sz="2400" dirty="0" err="1">
                          <a:latin typeface="Arial Black" panose="020B0A04020102020204" pitchFamily="34" charset="0"/>
                          <a:ea typeface="微软雅黑" panose="020B0503020204020204" pitchFamily="34" charset="-122"/>
                        </a:rPr>
                        <a:t>s.reverse</a:t>
                      </a:r>
                      <a:r>
                        <a:rPr lang="en-US" altLang="zh-CN" sz="2400" dirty="0">
                          <a:latin typeface="Arial Black" panose="020B0A04020102020204" pitchFamily="34" charset="0"/>
                          <a:ea typeface="微软雅黑" panose="020B0503020204020204" pitchFamily="34" charset="-122"/>
                        </a:rPr>
                        <a:t>(x)</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tc>
                  <a:txBody>
                    <a:bodyPr/>
                    <a:lstStyle/>
                    <a:p>
                      <a:r>
                        <a:rPr lang="zh-CN" altLang="en-US" sz="2400" dirty="0">
                          <a:latin typeface="Arial Black" panose="020B0A04020102020204" pitchFamily="34" charset="0"/>
                          <a:ea typeface="微软雅黑" panose="020B0503020204020204" pitchFamily="34" charset="-122"/>
                        </a:rPr>
                        <a:t>反转</a:t>
                      </a:r>
                      <a:r>
                        <a:rPr lang="en-US" altLang="zh-CN" sz="2400" dirty="0">
                          <a:latin typeface="Arial Black" panose="020B0A04020102020204" pitchFamily="34" charset="0"/>
                          <a:ea typeface="微软雅黑" panose="020B0503020204020204" pitchFamily="34" charset="-122"/>
                        </a:rPr>
                        <a:t>s</a:t>
                      </a:r>
                      <a:r>
                        <a:rPr lang="zh-CN" altLang="en-US" sz="2400" dirty="0">
                          <a:latin typeface="Arial Black" panose="020B0A04020102020204" pitchFamily="34" charset="0"/>
                          <a:ea typeface="微软雅黑" panose="020B0503020204020204" pitchFamily="34" charset="-122"/>
                        </a:rPr>
                        <a:t>中元素的排列顺序</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extLst>
                  <a:ext uri="{0D108BD9-81ED-4DB2-BD59-A6C34878D82A}">
                    <a16:rowId xmlns:a16="http://schemas.microsoft.com/office/drawing/2014/main" val="10008"/>
                  </a:ext>
                </a:extLst>
              </a:tr>
              <a:tr h="457200">
                <a:tc>
                  <a:txBody>
                    <a:bodyPr/>
                    <a:lstStyle/>
                    <a:p>
                      <a:r>
                        <a:rPr lang="en-US" altLang="zh-CN" sz="2400" dirty="0" err="1">
                          <a:latin typeface="Arial Black" panose="020B0A04020102020204" pitchFamily="34" charset="0"/>
                          <a:ea typeface="微软雅黑" panose="020B0503020204020204" pitchFamily="34" charset="-122"/>
                        </a:rPr>
                        <a:t>s.sort</a:t>
                      </a:r>
                      <a:r>
                        <a:rPr lang="en-US" altLang="zh-CN" sz="2400" dirty="0">
                          <a:latin typeface="Arial Black" panose="020B0A04020102020204" pitchFamily="34" charset="0"/>
                          <a:ea typeface="微软雅黑" panose="020B0503020204020204" pitchFamily="34" charset="-122"/>
                        </a:rPr>
                        <a:t>()</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tc>
                  <a:txBody>
                    <a:bodyPr/>
                    <a:lstStyle/>
                    <a:p>
                      <a:r>
                        <a:rPr lang="zh-CN" altLang="en-US" sz="2400" dirty="0">
                          <a:latin typeface="Arial Black" panose="020B0A04020102020204" pitchFamily="34" charset="0"/>
                          <a:ea typeface="微软雅黑" panose="020B0503020204020204" pitchFamily="34" charset="-122"/>
                        </a:rPr>
                        <a:t>将</a:t>
                      </a:r>
                      <a:r>
                        <a:rPr lang="en-US" altLang="zh-CN" sz="2400" dirty="0">
                          <a:latin typeface="Arial Black" panose="020B0A04020102020204" pitchFamily="34" charset="0"/>
                          <a:ea typeface="微软雅黑" panose="020B0503020204020204" pitchFamily="34" charset="-122"/>
                        </a:rPr>
                        <a:t>s</a:t>
                      </a:r>
                      <a:r>
                        <a:rPr lang="zh-CN" altLang="en-US" sz="2400" dirty="0">
                          <a:latin typeface="Arial Black" panose="020B0A04020102020204" pitchFamily="34" charset="0"/>
                          <a:ea typeface="微软雅黑" panose="020B0503020204020204" pitchFamily="34" charset="-122"/>
                        </a:rPr>
                        <a:t>的元素按升序排列</a:t>
                      </a:r>
                      <a:endParaRPr lang="zh-CN" altLang="en-US" sz="2400" b="1" dirty="0">
                        <a:latin typeface="Arial Black" panose="020B0A04020102020204" pitchFamily="34" charset="0"/>
                        <a:ea typeface="微软雅黑" panose="020B0503020204020204" pitchFamily="34" charset="-122"/>
                      </a:endParaRPr>
                    </a:p>
                  </a:txBody>
                  <a:tcPr marL="91456" marR="91456" marT="45728" marB="45728"/>
                </a:tc>
                <a:extLst>
                  <a:ext uri="{0D108BD9-81ED-4DB2-BD59-A6C34878D82A}">
                    <a16:rowId xmlns:a16="http://schemas.microsoft.com/office/drawing/2014/main" val="10009"/>
                  </a:ext>
                </a:extLst>
              </a:tr>
            </a:tbl>
          </a:graphicData>
        </a:graphic>
      </p:graphicFrame>
      <p:sp>
        <p:nvSpPr>
          <p:cNvPr id="4"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Tree>
  </p:cSld>
  <p:clrMapOvr>
    <a:masterClrMapping/>
  </p:clrMapOvr>
  <p:transition spd="slow" advTm="0"/>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411163" y="1691640"/>
            <a:ext cx="11596687" cy="4068763"/>
          </a:xfrm>
          <a:prstGeom prst="rect">
            <a:avLst/>
          </a:prstGeom>
        </p:spPr>
        <p:txBody>
          <a:bodyPr>
            <a:normAutofit fontScale="90000" lnSpcReduction="20000"/>
          </a:bodyPr>
          <a:lstStyle/>
          <a:p>
            <a:pPr>
              <a:lnSpc>
                <a:spcPct val="150000"/>
              </a:lnSpc>
            </a:pPr>
            <a:r>
              <a:rPr kumimoji="1" lang="zh-CN" altLang="en-US" sz="2400" dirty="0">
                <a:latin typeface="微软雅黑" panose="020B0503020204020204" pitchFamily="34" charset="-122"/>
                <a:ea typeface="微软雅黑" panose="020B0503020204020204" pitchFamily="34" charset="-122"/>
              </a:rPr>
              <a:t>切片操作需要提供起始索引位置和最后索引位置，然后用冒号 </a:t>
            </a:r>
            <a:r>
              <a:rPr kumimoji="1" lang="en-US" altLang="zh-CN" sz="2400" dirty="0">
                <a:latin typeface="微软雅黑" panose="020B0503020204020204" pitchFamily="34" charset="-122"/>
                <a:ea typeface="微软雅黑" panose="020B0503020204020204" pitchFamily="34" charset="-122"/>
                <a:cs typeface="Monaco" charset="0"/>
              </a:rPr>
              <a:t>:</a:t>
            </a:r>
            <a:r>
              <a:rPr kumimoji="1" lang="zh-CN" altLang="en-US" sz="2400" dirty="0">
                <a:latin typeface="微软雅黑" panose="020B0503020204020204" pitchFamily="34" charset="-122"/>
                <a:ea typeface="微软雅黑" panose="020B0503020204020204" pitchFamily="34" charset="-122"/>
              </a:rPr>
              <a:t> 将两者分开</a:t>
            </a:r>
            <a:endParaRPr kumimoji="1" lang="en-US" altLang="zh-CN" sz="2400" dirty="0">
              <a:latin typeface="微软雅黑" panose="020B0503020204020204" pitchFamily="34" charset="-122"/>
              <a:ea typeface="微软雅黑" panose="020B0503020204020204" pitchFamily="34" charset="-122"/>
            </a:endParaRPr>
          </a:p>
          <a:p>
            <a:pPr>
              <a:lnSpc>
                <a:spcPct val="150000"/>
              </a:lnSpc>
            </a:pPr>
            <a:endParaRPr kumimoji="1" lang="en-US" altLang="zh-CN" sz="2400" dirty="0">
              <a:latin typeface="微软雅黑" panose="020B0503020204020204" pitchFamily="34" charset="-122"/>
              <a:ea typeface="微软雅黑" panose="020B0503020204020204" pitchFamily="34" charset="-122"/>
            </a:endParaRPr>
          </a:p>
          <a:p>
            <a:pPr>
              <a:lnSpc>
                <a:spcPct val="150000"/>
              </a:lnSpc>
            </a:pPr>
            <a:endParaRPr kumimoji="1" lang="en-US" altLang="zh-CN" sz="2400" dirty="0">
              <a:latin typeface="微软雅黑" panose="020B0503020204020204" pitchFamily="34" charset="-122"/>
              <a:ea typeface="微软雅黑" panose="020B0503020204020204" pitchFamily="34" charset="-122"/>
            </a:endParaRPr>
          </a:p>
          <a:p>
            <a:pPr>
              <a:lnSpc>
                <a:spcPct val="150000"/>
              </a:lnSpc>
            </a:pPr>
            <a:r>
              <a:rPr kumimoji="1" lang="zh-CN" altLang="en-US" sz="2400" dirty="0">
                <a:latin typeface="微软雅黑" panose="020B0503020204020204" pitchFamily="34" charset="-122"/>
                <a:ea typeface="微软雅黑" panose="020B0503020204020204" pitchFamily="34" charset="-122"/>
              </a:rPr>
              <a:t>如果未输入步长，则默认步长为 </a:t>
            </a:r>
            <a:r>
              <a:rPr kumimoji="1" lang="en-US" altLang="zh-CN" sz="2400" dirty="0">
                <a:latin typeface="微软雅黑" panose="020B0503020204020204" pitchFamily="34" charset="-122"/>
                <a:ea typeface="微软雅黑" panose="020B0503020204020204" pitchFamily="34" charset="-122"/>
                <a:cs typeface="Monaco" charset="0"/>
              </a:rPr>
              <a:t>1</a:t>
            </a:r>
            <a:r>
              <a:rPr kumimoji="1" lang="zh-CN" altLang="en-US" sz="2400" dirty="0">
                <a:latin typeface="微软雅黑" panose="020B0503020204020204" pitchFamily="34" charset="-122"/>
                <a:ea typeface="微软雅黑" panose="020B0503020204020204" pitchFamily="34" charset="-122"/>
                <a:cs typeface="Monaco" charset="0"/>
              </a:rPr>
              <a:t>，注意</a:t>
            </a:r>
            <a:r>
              <a:rPr kumimoji="1" lang="zh-CN" altLang="en-US" sz="2400" dirty="0">
                <a:solidFill>
                  <a:srgbClr val="FF0000"/>
                </a:solidFill>
                <a:latin typeface="微软雅黑" panose="020B0503020204020204" pitchFamily="34" charset="-122"/>
                <a:ea typeface="微软雅黑" panose="020B0503020204020204" pitchFamily="34" charset="-122"/>
                <a:cs typeface="Monaco" charset="0"/>
              </a:rPr>
              <a:t>不能为</a:t>
            </a:r>
            <a:r>
              <a:rPr kumimoji="1" lang="en-US" altLang="zh-CN" sz="2400" dirty="0">
                <a:solidFill>
                  <a:srgbClr val="FF0000"/>
                </a:solidFill>
                <a:latin typeface="微软雅黑" panose="020B0503020204020204" pitchFamily="34" charset="-122"/>
                <a:ea typeface="微软雅黑" panose="020B0503020204020204" pitchFamily="34" charset="-122"/>
                <a:cs typeface="Monaco" charset="0"/>
              </a:rPr>
              <a:t>0</a:t>
            </a:r>
            <a:r>
              <a:rPr kumimoji="1" lang="zh-CN" altLang="en-US" sz="2400" dirty="0">
                <a:latin typeface="微软雅黑" panose="020B0503020204020204" pitchFamily="34" charset="-122"/>
                <a:ea typeface="微软雅黑" panose="020B0503020204020204" pitchFamily="34" charset="-122"/>
                <a:cs typeface="Monaco" charset="0"/>
              </a:rPr>
              <a:t>，否则会报错，另步长为负数时，其切片方向发生改变。</a:t>
            </a:r>
            <a:endParaRPr kumimoji="1" lang="en-US" altLang="zh-CN" sz="2400" dirty="0">
              <a:latin typeface="微软雅黑" panose="020B0503020204020204" pitchFamily="34" charset="-122"/>
              <a:ea typeface="微软雅黑" panose="020B0503020204020204" pitchFamily="34" charset="-122"/>
              <a:cs typeface="Monaco" charset="0"/>
            </a:endParaRPr>
          </a:p>
          <a:p>
            <a:pPr>
              <a:lnSpc>
                <a:spcPct val="150000"/>
              </a:lnSpc>
            </a:pPr>
            <a:r>
              <a:rPr kumimoji="1" lang="zh-CN" altLang="en-US" sz="2400" dirty="0">
                <a:latin typeface="微软雅黑" panose="020B0503020204020204" pitchFamily="34" charset="-122"/>
                <a:ea typeface="微软雅黑" panose="020B0503020204020204" pitchFamily="34" charset="-122"/>
              </a:rPr>
              <a:t>切片操作返回一系列从起始索引位置开始到最后索引位置结束的数据元素</a:t>
            </a:r>
            <a:endParaRPr kumimoji="1" lang="en-US" altLang="zh-CN" sz="2400" dirty="0">
              <a:latin typeface="微软雅黑" panose="020B0503020204020204" pitchFamily="34" charset="-122"/>
              <a:ea typeface="微软雅黑" panose="020B0503020204020204" pitchFamily="34" charset="-122"/>
            </a:endParaRPr>
          </a:p>
          <a:p>
            <a:pPr>
              <a:lnSpc>
                <a:spcPct val="150000"/>
              </a:lnSpc>
            </a:pPr>
            <a:r>
              <a:rPr kumimoji="1" lang="zh-CN" altLang="en-US" sz="2400" dirty="0">
                <a:latin typeface="微软雅黑" panose="020B0503020204020204" pitchFamily="34" charset="-122"/>
                <a:ea typeface="微软雅黑" panose="020B0503020204020204" pitchFamily="34" charset="-122"/>
              </a:rPr>
              <a:t>需要注意的是，</a:t>
            </a:r>
            <a:r>
              <a:rPr kumimoji="1" lang="zh-CN" altLang="en-US" sz="2400" dirty="0">
                <a:solidFill>
                  <a:srgbClr val="FF0000"/>
                </a:solidFill>
                <a:latin typeface="微软雅黑" panose="020B0503020204020204" pitchFamily="34" charset="-122"/>
                <a:ea typeface="微软雅黑" panose="020B0503020204020204" pitchFamily="34" charset="-122"/>
              </a:rPr>
              <a:t>起始索引位置的值包含在返回结果中，而最后索引位置的值不包含在返回结果中</a:t>
            </a:r>
            <a:endParaRPr kumimoji="1" lang="en-US" altLang="zh-CN" sz="2400" dirty="0">
              <a:solidFill>
                <a:srgbClr val="FF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5257" y="2181311"/>
            <a:ext cx="8165705" cy="1008112"/>
          </a:xfrm>
          <a:prstGeom prst="rect">
            <a:avLst/>
          </a:prstGeom>
        </p:spPr>
      </p:pic>
      <p:sp>
        <p:nvSpPr>
          <p:cNvPr id="11"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、列表切片</a:t>
            </a:r>
          </a:p>
        </p:txBody>
      </p:sp>
      <p:sp>
        <p:nvSpPr>
          <p:cNvPr id="12"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6" name="矩形 5"/>
          <p:cNvSpPr/>
          <p:nvPr/>
        </p:nvSpPr>
        <p:spPr>
          <a:xfrm>
            <a:off x="9270962" y="2331682"/>
            <a:ext cx="2396810" cy="523220"/>
          </a:xfrm>
          <a:prstGeom prst="rect">
            <a:avLst/>
          </a:prstGeom>
        </p:spPr>
        <p:txBody>
          <a:bodyPr wrap="none">
            <a:spAutoFit/>
          </a:bodyPr>
          <a:lstStyle/>
          <a:p>
            <a:r>
              <a:rPr lang="en-US" altLang="zh-CN" sz="2800" dirty="0">
                <a:latin typeface="Arial Black" panose="020B0A04020102020204" pitchFamily="34" charset="0"/>
              </a:rPr>
              <a:t>L[</a:t>
            </a:r>
            <a:r>
              <a:rPr lang="en-US" altLang="zh-CN" sz="2800" dirty="0" err="1">
                <a:latin typeface="Arial Black" panose="020B0A04020102020204" pitchFamily="34" charset="0"/>
              </a:rPr>
              <a:t>m:n:step</a:t>
            </a:r>
            <a:r>
              <a:rPr lang="en-US" altLang="zh-CN" sz="2800" dirty="0">
                <a:latin typeface="Arial Black" panose="020B0A04020102020204" pitchFamily="34" charset="0"/>
              </a:rPr>
              <a:t>]</a:t>
            </a:r>
            <a:endParaRPr lang="zh-CN" altLang="en-US" sz="2800" dirty="0">
              <a:latin typeface="Arial Black" panose="020B0A040201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601663" y="1701800"/>
            <a:ext cx="11596687" cy="4068763"/>
          </a:xfrm>
          <a:prstGeom prst="rect">
            <a:avLst/>
          </a:prstGeom>
        </p:spPr>
        <p:txBody>
          <a:bodyPr>
            <a:normAutofit/>
          </a:bodyPr>
          <a:lstStyle/>
          <a:p>
            <a:pPr>
              <a:lnSpc>
                <a:spcPct val="150000"/>
              </a:lnSpc>
            </a:pPr>
            <a:r>
              <a:rPr kumimoji="1" lang="zh-CN" altLang="en-US" sz="2400" dirty="0">
                <a:latin typeface="微软雅黑" panose="020B0503020204020204" pitchFamily="34" charset="-122"/>
                <a:ea typeface="微软雅黑" panose="020B0503020204020204" pitchFamily="34" charset="-122"/>
              </a:rPr>
              <a:t>切片操作需要提供起始索引位置和最后索引位置，然后用冒号 </a:t>
            </a:r>
            <a:r>
              <a:rPr kumimoji="1" lang="en-US" altLang="zh-CN" sz="2400" dirty="0">
                <a:latin typeface="微软雅黑" panose="020B0503020204020204" pitchFamily="34" charset="-122"/>
                <a:ea typeface="微软雅黑" panose="020B0503020204020204" pitchFamily="34" charset="-122"/>
                <a:cs typeface="Monaco" charset="0"/>
              </a:rPr>
              <a:t>:</a:t>
            </a:r>
            <a:r>
              <a:rPr kumimoji="1" lang="zh-CN" altLang="en-US" sz="2400" dirty="0">
                <a:latin typeface="微软雅黑" panose="020B0503020204020204" pitchFamily="34" charset="-122"/>
                <a:ea typeface="微软雅黑" panose="020B0503020204020204" pitchFamily="34" charset="-122"/>
              </a:rPr>
              <a:t> 将两者分开</a:t>
            </a:r>
            <a:endParaRPr kumimoji="1" lang="en-US" altLang="zh-CN" sz="2400" dirty="0">
              <a:latin typeface="微软雅黑" panose="020B0503020204020204" pitchFamily="34" charset="-122"/>
              <a:ea typeface="微软雅黑" panose="020B0503020204020204" pitchFamily="34" charset="-122"/>
            </a:endParaRPr>
          </a:p>
        </p:txBody>
      </p:sp>
      <p:sp>
        <p:nvSpPr>
          <p:cNvPr id="12" name="标题 1"/>
          <p:cNvSpPr>
            <a:spLocks noGrp="1"/>
          </p:cNvSpPr>
          <p:nvPr/>
        </p:nvSpPr>
        <p:spPr>
          <a:xfrm>
            <a:off x="266527" y="1053530"/>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、列表切片</a:t>
            </a:r>
          </a:p>
        </p:txBody>
      </p:sp>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grpSp>
        <p:nvGrpSpPr>
          <p:cNvPr id="10" name="组合 9"/>
          <p:cNvGrpSpPr/>
          <p:nvPr/>
        </p:nvGrpSpPr>
        <p:grpSpPr>
          <a:xfrm>
            <a:off x="506738" y="2447488"/>
            <a:ext cx="10378704" cy="2933467"/>
            <a:chOff x="506738" y="2447488"/>
            <a:chExt cx="10378704" cy="2933467"/>
          </a:xfrm>
        </p:grpSpPr>
        <p:sp>
          <p:nvSpPr>
            <p:cNvPr id="8" name="矩形 7"/>
            <p:cNvSpPr/>
            <p:nvPr/>
          </p:nvSpPr>
          <p:spPr>
            <a:xfrm>
              <a:off x="506738" y="4012803"/>
              <a:ext cx="2396810" cy="523220"/>
            </a:xfrm>
            <a:prstGeom prst="rect">
              <a:avLst/>
            </a:prstGeom>
          </p:spPr>
          <p:txBody>
            <a:bodyPr wrap="none">
              <a:spAutoFit/>
            </a:bodyPr>
            <a:lstStyle/>
            <a:p>
              <a:r>
                <a:rPr lang="en-US" altLang="zh-CN" sz="2800" dirty="0">
                  <a:latin typeface="Arial Black" panose="020B0A04020102020204" pitchFamily="34" charset="0"/>
                </a:rPr>
                <a:t>L[</a:t>
              </a:r>
              <a:r>
                <a:rPr lang="en-US" altLang="zh-CN" sz="2800" dirty="0" err="1">
                  <a:latin typeface="Arial Black" panose="020B0A04020102020204" pitchFamily="34" charset="0"/>
                </a:rPr>
                <a:t>m:n:step</a:t>
              </a:r>
              <a:r>
                <a:rPr lang="en-US" altLang="zh-CN" sz="2800" dirty="0">
                  <a:latin typeface="Arial Black" panose="020B0A04020102020204" pitchFamily="34" charset="0"/>
                </a:rPr>
                <a:t>]</a:t>
              </a:r>
              <a:endParaRPr lang="zh-CN" altLang="en-US" sz="2800" dirty="0">
                <a:latin typeface="Arial Black" panose="020B0A04020102020204" pitchFamily="34" charset="0"/>
              </a:endParaRPr>
            </a:p>
          </p:txBody>
        </p:sp>
        <p:sp>
          <p:nvSpPr>
            <p:cNvPr id="7" name="矩形 6"/>
            <p:cNvSpPr/>
            <p:nvPr/>
          </p:nvSpPr>
          <p:spPr>
            <a:xfrm>
              <a:off x="3290863" y="2447488"/>
              <a:ext cx="2099339" cy="7200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L[</a:t>
              </a:r>
              <a:r>
                <a:rPr lang="en-US" altLang="zh-CN" sz="3200" b="1"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m:n</a:t>
              </a: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a:t>
              </a:r>
              <a:endParaRPr lang="zh-CN" alt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endParaRPr>
            </a:p>
          </p:txBody>
        </p:sp>
        <p:sp>
          <p:nvSpPr>
            <p:cNvPr id="11" name="矩形 10"/>
            <p:cNvSpPr/>
            <p:nvPr/>
          </p:nvSpPr>
          <p:spPr>
            <a:xfrm>
              <a:off x="8763916" y="2456636"/>
              <a:ext cx="2099339" cy="7200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L[:n]</a:t>
              </a:r>
              <a:endParaRPr lang="zh-CN" alt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endParaRPr>
            </a:p>
          </p:txBody>
        </p:sp>
        <p:sp>
          <p:nvSpPr>
            <p:cNvPr id="14" name="矩形 13"/>
            <p:cNvSpPr/>
            <p:nvPr/>
          </p:nvSpPr>
          <p:spPr>
            <a:xfrm>
              <a:off x="6074988" y="2456636"/>
              <a:ext cx="2099339" cy="7200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L[m:]</a:t>
              </a:r>
              <a:endParaRPr lang="zh-CN" alt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endParaRPr>
            </a:p>
          </p:txBody>
        </p:sp>
        <p:sp>
          <p:nvSpPr>
            <p:cNvPr id="15" name="矩形 14"/>
            <p:cNvSpPr/>
            <p:nvPr/>
          </p:nvSpPr>
          <p:spPr>
            <a:xfrm>
              <a:off x="3290863" y="3503880"/>
              <a:ext cx="2099339" cy="7200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L[</a:t>
              </a:r>
              <a:r>
                <a:rPr lang="en-US" altLang="zh-CN" sz="3200" b="1"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m:n:s</a:t>
              </a: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a:t>
              </a:r>
              <a:endParaRPr lang="zh-CN" alt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endParaRPr>
            </a:p>
          </p:txBody>
        </p:sp>
        <p:sp>
          <p:nvSpPr>
            <p:cNvPr id="16" name="矩形 15"/>
            <p:cNvSpPr/>
            <p:nvPr/>
          </p:nvSpPr>
          <p:spPr>
            <a:xfrm>
              <a:off x="6129495" y="4633579"/>
              <a:ext cx="2099339" cy="7200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L[:</a:t>
              </a:r>
              <a:r>
                <a:rPr lang="en-US" altLang="zh-CN" sz="3200" b="1"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n:s</a:t>
              </a: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a:t>
              </a:r>
              <a:endParaRPr lang="zh-CN" alt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endParaRPr>
            </a:p>
          </p:txBody>
        </p:sp>
        <p:sp>
          <p:nvSpPr>
            <p:cNvPr id="17" name="矩形 16"/>
            <p:cNvSpPr/>
            <p:nvPr/>
          </p:nvSpPr>
          <p:spPr>
            <a:xfrm>
              <a:off x="8786103" y="4571745"/>
              <a:ext cx="2099339" cy="7200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L[::s]</a:t>
              </a:r>
              <a:endParaRPr lang="zh-CN" alt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endParaRPr>
            </a:p>
          </p:txBody>
        </p:sp>
        <p:sp>
          <p:nvSpPr>
            <p:cNvPr id="18" name="矩形 17"/>
            <p:cNvSpPr/>
            <p:nvPr/>
          </p:nvSpPr>
          <p:spPr>
            <a:xfrm>
              <a:off x="3290862" y="4660875"/>
              <a:ext cx="2099339" cy="7200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L[m::s]</a:t>
              </a:r>
              <a:endParaRPr lang="zh-CN" alt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endParaRPr>
            </a:p>
          </p:txBody>
        </p:sp>
        <p:sp>
          <p:nvSpPr>
            <p:cNvPr id="19" name="矩形 18"/>
            <p:cNvSpPr/>
            <p:nvPr/>
          </p:nvSpPr>
          <p:spPr>
            <a:xfrm>
              <a:off x="6129495" y="3503880"/>
              <a:ext cx="2099339" cy="7200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L[m::]</a:t>
              </a:r>
              <a:endParaRPr lang="zh-CN" alt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endParaRPr>
            </a:p>
          </p:txBody>
        </p:sp>
        <p:sp>
          <p:nvSpPr>
            <p:cNvPr id="20" name="矩形 19"/>
            <p:cNvSpPr/>
            <p:nvPr/>
          </p:nvSpPr>
          <p:spPr>
            <a:xfrm>
              <a:off x="8783459" y="3503880"/>
              <a:ext cx="2099339" cy="7200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rPr>
                <a:t>L[:n:]</a:t>
              </a:r>
              <a:endParaRPr lang="zh-CN" alt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Black" panose="020B0A04020102020204" pitchFamily="34" charset="0"/>
              </a:endParaRPr>
            </a:p>
          </p:txBody>
        </p:sp>
      </p:grpSp>
      <p:sp>
        <p:nvSpPr>
          <p:cNvPr id="9" name="文本框 8"/>
          <p:cNvSpPr txBox="1"/>
          <p:nvPr/>
        </p:nvSpPr>
        <p:spPr>
          <a:xfrm>
            <a:off x="2413968" y="5745813"/>
            <a:ext cx="1728192" cy="523220"/>
          </a:xfrm>
          <a:prstGeom prst="rect">
            <a:avLst/>
          </a:prstGeom>
          <a:noFill/>
        </p:spPr>
        <p:txBody>
          <a:bodyPr wrap="square" rtlCol="0">
            <a:spAutoFit/>
          </a:bodyPr>
          <a:lstStyle/>
          <a:p>
            <a:r>
              <a:rPr lang="en-US" altLang="zh-CN" sz="2800" b="1" dirty="0">
                <a:solidFill>
                  <a:srgbClr val="FF0000"/>
                </a:solidFill>
                <a:latin typeface="微软雅黑" panose="020B0503020204020204" pitchFamily="34" charset="-122"/>
                <a:ea typeface="微软雅黑" panose="020B0503020204020204" pitchFamily="34" charset="-122"/>
              </a:rPr>
              <a:t>1</a:t>
            </a:r>
            <a:r>
              <a:rPr lang="zh-CN" altLang="en-US" sz="2800" b="1" dirty="0">
                <a:solidFill>
                  <a:srgbClr val="FF0000"/>
                </a:solidFill>
                <a:latin typeface="微软雅黑" panose="020B0503020204020204" pitchFamily="34" charset="-122"/>
                <a:ea typeface="微软雅黑" panose="020B0503020204020204" pitchFamily="34" charset="-122"/>
              </a:rPr>
              <a:t>个参数 </a:t>
            </a:r>
          </a:p>
        </p:txBody>
      </p:sp>
      <p:sp>
        <p:nvSpPr>
          <p:cNvPr id="22" name="文本框 21"/>
          <p:cNvSpPr txBox="1"/>
          <p:nvPr/>
        </p:nvSpPr>
        <p:spPr>
          <a:xfrm>
            <a:off x="5305394" y="5793120"/>
            <a:ext cx="1728192" cy="523220"/>
          </a:xfrm>
          <a:prstGeom prst="rect">
            <a:avLst/>
          </a:prstGeom>
          <a:noFill/>
        </p:spPr>
        <p:txBody>
          <a:bodyPr wrap="square" rtlCol="0">
            <a:spAutoFit/>
          </a:bodyPr>
          <a:lstStyle/>
          <a:p>
            <a:r>
              <a:rPr lang="en-US" altLang="zh-CN" sz="2800" b="1" dirty="0">
                <a:solidFill>
                  <a:srgbClr val="FF0000"/>
                </a:solidFill>
                <a:latin typeface="微软雅黑" panose="020B0503020204020204" pitchFamily="34" charset="-122"/>
                <a:ea typeface="微软雅黑" panose="020B0503020204020204" pitchFamily="34" charset="-122"/>
              </a:rPr>
              <a:t>2</a:t>
            </a:r>
            <a:r>
              <a:rPr lang="zh-CN" altLang="en-US" sz="2800" b="1" dirty="0">
                <a:solidFill>
                  <a:srgbClr val="FF0000"/>
                </a:solidFill>
                <a:latin typeface="微软雅黑" panose="020B0503020204020204" pitchFamily="34" charset="-122"/>
                <a:ea typeface="微软雅黑" panose="020B0503020204020204" pitchFamily="34" charset="-122"/>
              </a:rPr>
              <a:t>个参数 </a:t>
            </a:r>
          </a:p>
        </p:txBody>
      </p:sp>
      <p:sp>
        <p:nvSpPr>
          <p:cNvPr id="23" name="文本框 22"/>
          <p:cNvSpPr txBox="1"/>
          <p:nvPr/>
        </p:nvSpPr>
        <p:spPr>
          <a:xfrm>
            <a:off x="8043391" y="5745813"/>
            <a:ext cx="1728192" cy="523220"/>
          </a:xfrm>
          <a:prstGeom prst="rect">
            <a:avLst/>
          </a:prstGeom>
          <a:noFill/>
        </p:spPr>
        <p:txBody>
          <a:bodyPr wrap="square" rtlCol="0">
            <a:spAutoFit/>
          </a:bodyPr>
          <a:lstStyle/>
          <a:p>
            <a:r>
              <a:rPr lang="en-US" altLang="zh-CN" sz="2800" b="1" dirty="0">
                <a:solidFill>
                  <a:srgbClr val="FF0000"/>
                </a:solidFill>
                <a:latin typeface="微软雅黑" panose="020B0503020204020204" pitchFamily="34" charset="-122"/>
                <a:ea typeface="微软雅黑" panose="020B0503020204020204" pitchFamily="34" charset="-122"/>
              </a:rPr>
              <a:t>3</a:t>
            </a:r>
            <a:r>
              <a:rPr lang="zh-CN" altLang="en-US" sz="2800" b="1" dirty="0">
                <a:solidFill>
                  <a:srgbClr val="FF0000"/>
                </a:solidFill>
                <a:latin typeface="微软雅黑" panose="020B0503020204020204" pitchFamily="34" charset="-122"/>
                <a:ea typeface="微软雅黑" panose="020B0503020204020204" pitchFamily="34" charset="-122"/>
              </a:rPr>
              <a:t>个参数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fill="hold"/>
                                        <p:tgtEl>
                                          <p:spTgt spid="22"/>
                                        </p:tgtEl>
                                        <p:attrNameLst>
                                          <p:attrName>ppt_x</p:attrName>
                                        </p:attrNameLst>
                                      </p:cBhvr>
                                      <p:tavLst>
                                        <p:tav tm="0">
                                          <p:val>
                                            <p:strVal val="#ppt_x"/>
                                          </p:val>
                                        </p:tav>
                                        <p:tav tm="100000">
                                          <p:val>
                                            <p:strVal val="#ppt_x"/>
                                          </p:val>
                                        </p:tav>
                                      </p:tavLst>
                                    </p:anim>
                                    <p:anim calcmode="lin" valueType="num">
                                      <p:cBhvr additive="base">
                                        <p:cTn id="17" dur="500" fill="hold"/>
                                        <p:tgtEl>
                                          <p:spTgt spid="22"/>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additive="base">
                                        <p:cTn id="20" dur="500" fill="hold"/>
                                        <p:tgtEl>
                                          <p:spTgt spid="23"/>
                                        </p:tgtEl>
                                        <p:attrNameLst>
                                          <p:attrName>ppt_x</p:attrName>
                                        </p:attrNameLst>
                                      </p:cBhvr>
                                      <p:tavLst>
                                        <p:tav tm="0">
                                          <p:val>
                                            <p:strVal val="#ppt_x"/>
                                          </p:val>
                                        </p:tav>
                                        <p:tav tm="100000">
                                          <p:val>
                                            <p:strVal val="#ppt_x"/>
                                          </p:val>
                                        </p:tav>
                                      </p:tavLst>
                                    </p:anim>
                                    <p:anim calcmode="lin" valueType="num">
                                      <p:cBhvr additive="base">
                                        <p:cTn id="21"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2" grpId="0"/>
      <p:bldP spid="2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a:spLocks noGrp="1"/>
          </p:cNvSpPr>
          <p:nvPr/>
        </p:nvSpPr>
        <p:spPr>
          <a:xfrm>
            <a:off x="410543" y="1053530"/>
            <a:ext cx="1512167"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举例：</a:t>
            </a:r>
          </a:p>
        </p:txBody>
      </p:sp>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4" name="矩形 3"/>
          <p:cNvSpPr/>
          <p:nvPr/>
        </p:nvSpPr>
        <p:spPr>
          <a:xfrm>
            <a:off x="4591218" y="841135"/>
            <a:ext cx="4051109" cy="523220"/>
          </a:xfrm>
          <a:prstGeom prst="rect">
            <a:avLst/>
          </a:prstGeom>
        </p:spPr>
        <p:txBody>
          <a:bodyPr wrap="none">
            <a:spAutoFit/>
          </a:bodyPr>
          <a:lstStyle/>
          <a:p>
            <a:r>
              <a:rPr lang="zh-CN" altLang="en-US" sz="2800" dirty="0">
                <a:latin typeface="Arial Black" panose="020B0A04020102020204" pitchFamily="34" charset="0"/>
              </a:rPr>
              <a:t>a = [1,3,5,7,9,11,13]</a:t>
            </a:r>
          </a:p>
        </p:txBody>
      </p:sp>
      <p:sp>
        <p:nvSpPr>
          <p:cNvPr id="22" name="矩形 21"/>
          <p:cNvSpPr/>
          <p:nvPr/>
        </p:nvSpPr>
        <p:spPr>
          <a:xfrm>
            <a:off x="3753359" y="3096176"/>
            <a:ext cx="1061509" cy="523220"/>
          </a:xfrm>
          <a:prstGeom prst="rect">
            <a:avLst/>
          </a:prstGeom>
        </p:spPr>
        <p:txBody>
          <a:bodyPr wrap="none">
            <a:spAutoFit/>
          </a:bodyPr>
          <a:lstStyle/>
          <a:p>
            <a:r>
              <a:rPr lang="en-US" altLang="zh-CN" sz="2800" dirty="0">
                <a:latin typeface="Arial Black" panose="020B0A04020102020204" pitchFamily="34" charset="0"/>
              </a:rPr>
              <a:t>a[1:]</a:t>
            </a:r>
            <a:endParaRPr lang="zh-CN" altLang="en-US" sz="2800" dirty="0">
              <a:latin typeface="Arial Black" panose="020B0A04020102020204" pitchFamily="34" charset="0"/>
            </a:endParaRPr>
          </a:p>
        </p:txBody>
      </p:sp>
      <p:grpSp>
        <p:nvGrpSpPr>
          <p:cNvPr id="30" name="组合 29"/>
          <p:cNvGrpSpPr/>
          <p:nvPr/>
        </p:nvGrpSpPr>
        <p:grpSpPr>
          <a:xfrm>
            <a:off x="2786807" y="1989634"/>
            <a:ext cx="7050267" cy="576064"/>
            <a:chOff x="2642791" y="1701602"/>
            <a:chExt cx="7050267" cy="576064"/>
          </a:xfrm>
        </p:grpSpPr>
        <p:sp>
          <p:nvSpPr>
            <p:cNvPr id="10" name="矩形 9"/>
            <p:cNvSpPr/>
            <p:nvPr/>
          </p:nvSpPr>
          <p:spPr>
            <a:xfrm>
              <a:off x="2642791"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4" name="矩形 23"/>
            <p:cNvSpPr/>
            <p:nvPr/>
          </p:nvSpPr>
          <p:spPr>
            <a:xfrm>
              <a:off x="3657854"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3</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5" name="矩形 24"/>
            <p:cNvSpPr/>
            <p:nvPr/>
          </p:nvSpPr>
          <p:spPr>
            <a:xfrm>
              <a:off x="4665966"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5</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6" name="矩形 25"/>
            <p:cNvSpPr/>
            <p:nvPr/>
          </p:nvSpPr>
          <p:spPr>
            <a:xfrm>
              <a:off x="5674078"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7</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7" name="矩形 26"/>
            <p:cNvSpPr/>
            <p:nvPr/>
          </p:nvSpPr>
          <p:spPr>
            <a:xfrm>
              <a:off x="6682190"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9</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8" name="矩形 27"/>
            <p:cNvSpPr/>
            <p:nvPr/>
          </p:nvSpPr>
          <p:spPr>
            <a:xfrm>
              <a:off x="7670868"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11</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9" name="矩形 28"/>
            <p:cNvSpPr/>
            <p:nvPr/>
          </p:nvSpPr>
          <p:spPr>
            <a:xfrm>
              <a:off x="8684946"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13</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grpSp>
      <p:grpSp>
        <p:nvGrpSpPr>
          <p:cNvPr id="40" name="组合 39"/>
          <p:cNvGrpSpPr/>
          <p:nvPr/>
        </p:nvGrpSpPr>
        <p:grpSpPr>
          <a:xfrm>
            <a:off x="3079106" y="1404613"/>
            <a:ext cx="6513892" cy="550800"/>
            <a:chOff x="3079106" y="1404613"/>
            <a:chExt cx="6513892" cy="550800"/>
          </a:xfrm>
        </p:grpSpPr>
        <p:sp>
          <p:nvSpPr>
            <p:cNvPr id="31" name="矩形 30"/>
            <p:cNvSpPr/>
            <p:nvPr/>
          </p:nvSpPr>
          <p:spPr>
            <a:xfrm>
              <a:off x="3079106" y="143219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0</a:t>
              </a:r>
              <a:endParaRPr lang="zh-CN" altLang="en-US" sz="2800" dirty="0">
                <a:solidFill>
                  <a:srgbClr val="FF0000"/>
                </a:solidFill>
                <a:latin typeface="Arial Black" panose="020B0A04020102020204" pitchFamily="34" charset="0"/>
              </a:endParaRPr>
            </a:p>
          </p:txBody>
        </p:sp>
        <p:sp>
          <p:nvSpPr>
            <p:cNvPr id="34" name="矩形 33"/>
            <p:cNvSpPr/>
            <p:nvPr/>
          </p:nvSpPr>
          <p:spPr>
            <a:xfrm>
              <a:off x="4094169" y="140461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1</a:t>
              </a:r>
              <a:endParaRPr lang="zh-CN" altLang="en-US" sz="2800" dirty="0">
                <a:solidFill>
                  <a:srgbClr val="FF0000"/>
                </a:solidFill>
                <a:latin typeface="Arial Black" panose="020B0A04020102020204" pitchFamily="34" charset="0"/>
              </a:endParaRPr>
            </a:p>
          </p:txBody>
        </p:sp>
        <p:sp>
          <p:nvSpPr>
            <p:cNvPr id="35" name="矩形 34"/>
            <p:cNvSpPr/>
            <p:nvPr/>
          </p:nvSpPr>
          <p:spPr>
            <a:xfrm>
              <a:off x="5109232"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2</a:t>
              </a:r>
              <a:endParaRPr lang="zh-CN" altLang="en-US" sz="2800" dirty="0">
                <a:solidFill>
                  <a:srgbClr val="FF0000"/>
                </a:solidFill>
                <a:latin typeface="Arial Black" panose="020B0A04020102020204" pitchFamily="34" charset="0"/>
              </a:endParaRPr>
            </a:p>
          </p:txBody>
        </p:sp>
        <p:sp>
          <p:nvSpPr>
            <p:cNvPr id="36" name="矩形 35"/>
            <p:cNvSpPr/>
            <p:nvPr/>
          </p:nvSpPr>
          <p:spPr>
            <a:xfrm>
              <a:off x="6110393" y="140461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3</a:t>
              </a:r>
              <a:endParaRPr lang="zh-CN" altLang="en-US" sz="2800" dirty="0">
                <a:solidFill>
                  <a:srgbClr val="FF0000"/>
                </a:solidFill>
                <a:latin typeface="Arial Black" panose="020B0A04020102020204" pitchFamily="34" charset="0"/>
              </a:endParaRPr>
            </a:p>
          </p:txBody>
        </p:sp>
        <p:sp>
          <p:nvSpPr>
            <p:cNvPr id="37" name="矩形 36"/>
            <p:cNvSpPr/>
            <p:nvPr/>
          </p:nvSpPr>
          <p:spPr>
            <a:xfrm>
              <a:off x="7139358"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4</a:t>
              </a:r>
              <a:endParaRPr lang="zh-CN" altLang="en-US" sz="2800" dirty="0">
                <a:solidFill>
                  <a:srgbClr val="FF0000"/>
                </a:solidFill>
                <a:latin typeface="Arial Black" panose="020B0A04020102020204" pitchFamily="34" charset="0"/>
              </a:endParaRPr>
            </a:p>
          </p:txBody>
        </p:sp>
        <p:sp>
          <p:nvSpPr>
            <p:cNvPr id="38" name="矩形 37"/>
            <p:cNvSpPr/>
            <p:nvPr/>
          </p:nvSpPr>
          <p:spPr>
            <a:xfrm>
              <a:off x="8107183"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5</a:t>
              </a:r>
              <a:endParaRPr lang="zh-CN" altLang="en-US" sz="2800" dirty="0">
                <a:solidFill>
                  <a:srgbClr val="FF0000"/>
                </a:solidFill>
                <a:latin typeface="Arial Black" panose="020B0A04020102020204" pitchFamily="34" charset="0"/>
              </a:endParaRPr>
            </a:p>
          </p:txBody>
        </p:sp>
        <p:sp>
          <p:nvSpPr>
            <p:cNvPr id="39" name="矩形 38"/>
            <p:cNvSpPr/>
            <p:nvPr/>
          </p:nvSpPr>
          <p:spPr>
            <a:xfrm>
              <a:off x="9169484"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6</a:t>
              </a:r>
              <a:endParaRPr lang="zh-CN" altLang="en-US" sz="2800" dirty="0">
                <a:solidFill>
                  <a:srgbClr val="FF0000"/>
                </a:solidFill>
                <a:latin typeface="Arial Black" panose="020B0A04020102020204" pitchFamily="34" charset="0"/>
              </a:endParaRPr>
            </a:p>
          </p:txBody>
        </p:sp>
      </p:grpSp>
      <p:grpSp>
        <p:nvGrpSpPr>
          <p:cNvPr id="41" name="组合 40"/>
          <p:cNvGrpSpPr/>
          <p:nvPr/>
        </p:nvGrpSpPr>
        <p:grpSpPr>
          <a:xfrm>
            <a:off x="2930823" y="2637706"/>
            <a:ext cx="6912768" cy="550800"/>
            <a:chOff x="3079106" y="1404613"/>
            <a:chExt cx="6513892" cy="550800"/>
          </a:xfrm>
        </p:grpSpPr>
        <p:sp>
          <p:nvSpPr>
            <p:cNvPr id="42" name="矩形 41"/>
            <p:cNvSpPr/>
            <p:nvPr/>
          </p:nvSpPr>
          <p:spPr>
            <a:xfrm>
              <a:off x="3079106" y="1432193"/>
              <a:ext cx="536551"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-7</a:t>
              </a:r>
              <a:endParaRPr lang="zh-CN" altLang="en-US" sz="2800" dirty="0">
                <a:solidFill>
                  <a:srgbClr val="0071C1"/>
                </a:solidFill>
                <a:latin typeface="Arial Black" panose="020B0A04020102020204" pitchFamily="34" charset="0"/>
              </a:endParaRPr>
            </a:p>
          </p:txBody>
        </p:sp>
        <p:sp>
          <p:nvSpPr>
            <p:cNvPr id="43" name="矩形 42"/>
            <p:cNvSpPr/>
            <p:nvPr/>
          </p:nvSpPr>
          <p:spPr>
            <a:xfrm>
              <a:off x="4094168" y="1404613"/>
              <a:ext cx="617378"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-6</a:t>
              </a:r>
              <a:endParaRPr lang="zh-CN" altLang="en-US" sz="2800" dirty="0">
                <a:solidFill>
                  <a:srgbClr val="0071C1"/>
                </a:solidFill>
                <a:latin typeface="Arial Black" panose="020B0A04020102020204" pitchFamily="34" charset="0"/>
              </a:endParaRPr>
            </a:p>
          </p:txBody>
        </p:sp>
        <p:sp>
          <p:nvSpPr>
            <p:cNvPr id="44" name="矩形 43"/>
            <p:cNvSpPr/>
            <p:nvPr/>
          </p:nvSpPr>
          <p:spPr>
            <a:xfrm>
              <a:off x="5109231" y="1415384"/>
              <a:ext cx="643576"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-5</a:t>
              </a:r>
              <a:endParaRPr lang="zh-CN" altLang="en-US" sz="2800" dirty="0">
                <a:solidFill>
                  <a:srgbClr val="0071C1"/>
                </a:solidFill>
                <a:latin typeface="Arial Black" panose="020B0A04020102020204" pitchFamily="34" charset="0"/>
              </a:endParaRPr>
            </a:p>
          </p:txBody>
        </p:sp>
        <p:sp>
          <p:nvSpPr>
            <p:cNvPr id="45" name="矩形 44"/>
            <p:cNvSpPr/>
            <p:nvPr/>
          </p:nvSpPr>
          <p:spPr>
            <a:xfrm>
              <a:off x="6110393" y="1404613"/>
              <a:ext cx="707180"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-4</a:t>
              </a:r>
              <a:endParaRPr lang="zh-CN" altLang="en-US" sz="2800" dirty="0">
                <a:solidFill>
                  <a:srgbClr val="0071C1"/>
                </a:solidFill>
                <a:latin typeface="Arial Black" panose="020B0A04020102020204" pitchFamily="34" charset="0"/>
              </a:endParaRPr>
            </a:p>
          </p:txBody>
        </p:sp>
        <p:sp>
          <p:nvSpPr>
            <p:cNvPr id="46" name="矩形 45"/>
            <p:cNvSpPr/>
            <p:nvPr/>
          </p:nvSpPr>
          <p:spPr>
            <a:xfrm>
              <a:off x="7139357" y="1415384"/>
              <a:ext cx="609845"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-3</a:t>
              </a:r>
              <a:endParaRPr lang="zh-CN" altLang="en-US" sz="2800" dirty="0">
                <a:solidFill>
                  <a:srgbClr val="0071C1"/>
                </a:solidFill>
                <a:latin typeface="Arial Black" panose="020B0A04020102020204" pitchFamily="34" charset="0"/>
              </a:endParaRPr>
            </a:p>
          </p:txBody>
        </p:sp>
        <p:sp>
          <p:nvSpPr>
            <p:cNvPr id="47" name="矩形 46"/>
            <p:cNvSpPr/>
            <p:nvPr/>
          </p:nvSpPr>
          <p:spPr>
            <a:xfrm>
              <a:off x="8107182" y="1415384"/>
              <a:ext cx="591962"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-2</a:t>
              </a:r>
              <a:endParaRPr lang="zh-CN" altLang="en-US" sz="2800" dirty="0">
                <a:solidFill>
                  <a:srgbClr val="0071C1"/>
                </a:solidFill>
                <a:latin typeface="Arial Black" panose="020B0A04020102020204" pitchFamily="34" charset="0"/>
              </a:endParaRPr>
            </a:p>
          </p:txBody>
        </p:sp>
        <p:sp>
          <p:nvSpPr>
            <p:cNvPr id="48" name="矩形 47"/>
            <p:cNvSpPr/>
            <p:nvPr/>
          </p:nvSpPr>
          <p:spPr>
            <a:xfrm>
              <a:off x="9057125" y="1415384"/>
              <a:ext cx="535873"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-1</a:t>
              </a:r>
              <a:endParaRPr lang="zh-CN" altLang="en-US" sz="2800" dirty="0">
                <a:solidFill>
                  <a:srgbClr val="0071C1"/>
                </a:solidFill>
                <a:latin typeface="Arial Black" panose="020B0A04020102020204" pitchFamily="34" charset="0"/>
              </a:endParaRPr>
            </a:p>
          </p:txBody>
        </p:sp>
      </p:grpSp>
      <p:sp>
        <p:nvSpPr>
          <p:cNvPr id="49" name="矩形 48"/>
          <p:cNvSpPr/>
          <p:nvPr/>
        </p:nvSpPr>
        <p:spPr>
          <a:xfrm>
            <a:off x="6262516" y="3092778"/>
            <a:ext cx="2975495"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[3,5,7,9,11,13]</a:t>
            </a:r>
            <a:endParaRPr lang="zh-CN" altLang="en-US" sz="2800" dirty="0">
              <a:solidFill>
                <a:srgbClr val="FF0000"/>
              </a:solidFill>
              <a:latin typeface="Arial Black" panose="020B0A04020102020204" pitchFamily="34" charset="0"/>
            </a:endParaRPr>
          </a:p>
        </p:txBody>
      </p:sp>
      <p:sp>
        <p:nvSpPr>
          <p:cNvPr id="50" name="矩形 49"/>
          <p:cNvSpPr/>
          <p:nvPr/>
        </p:nvSpPr>
        <p:spPr>
          <a:xfrm>
            <a:off x="3722911" y="3645818"/>
            <a:ext cx="1181734" cy="523220"/>
          </a:xfrm>
          <a:prstGeom prst="rect">
            <a:avLst/>
          </a:prstGeom>
        </p:spPr>
        <p:txBody>
          <a:bodyPr wrap="none">
            <a:spAutoFit/>
          </a:bodyPr>
          <a:lstStyle/>
          <a:p>
            <a:r>
              <a:rPr lang="en-US" altLang="zh-CN" sz="2800" dirty="0">
                <a:latin typeface="Arial Black" panose="020B0A04020102020204" pitchFamily="34" charset="0"/>
              </a:rPr>
              <a:t>a[-1:]</a:t>
            </a:r>
            <a:endParaRPr lang="zh-CN" altLang="en-US" sz="2800" dirty="0">
              <a:latin typeface="Arial Black" panose="020B0A04020102020204" pitchFamily="34" charset="0"/>
            </a:endParaRPr>
          </a:p>
        </p:txBody>
      </p:sp>
      <p:sp>
        <p:nvSpPr>
          <p:cNvPr id="51" name="矩形 50"/>
          <p:cNvSpPr/>
          <p:nvPr/>
        </p:nvSpPr>
        <p:spPr>
          <a:xfrm>
            <a:off x="6262516" y="3573810"/>
            <a:ext cx="941283"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[13]</a:t>
            </a:r>
            <a:endParaRPr lang="zh-CN" altLang="en-US" sz="2800" dirty="0">
              <a:solidFill>
                <a:srgbClr val="FF0000"/>
              </a:solidFill>
              <a:latin typeface="Arial Black" panose="020B0A04020102020204" pitchFamily="34" charset="0"/>
            </a:endParaRPr>
          </a:p>
        </p:txBody>
      </p:sp>
      <p:sp>
        <p:nvSpPr>
          <p:cNvPr id="52" name="矩形 51"/>
          <p:cNvSpPr/>
          <p:nvPr/>
        </p:nvSpPr>
        <p:spPr>
          <a:xfrm>
            <a:off x="3744766" y="4149874"/>
            <a:ext cx="1181734" cy="523220"/>
          </a:xfrm>
          <a:prstGeom prst="rect">
            <a:avLst/>
          </a:prstGeom>
        </p:spPr>
        <p:txBody>
          <a:bodyPr wrap="none">
            <a:spAutoFit/>
          </a:bodyPr>
          <a:lstStyle/>
          <a:p>
            <a:r>
              <a:rPr lang="en-US" altLang="zh-CN" sz="2800" dirty="0">
                <a:latin typeface="Arial Black" panose="020B0A04020102020204" pitchFamily="34" charset="0"/>
              </a:rPr>
              <a:t>a[:2:]</a:t>
            </a:r>
            <a:endParaRPr lang="zh-CN" altLang="en-US" sz="2800" dirty="0">
              <a:latin typeface="Arial Black" panose="020B0A04020102020204" pitchFamily="34" charset="0"/>
            </a:endParaRPr>
          </a:p>
        </p:txBody>
      </p:sp>
      <p:sp>
        <p:nvSpPr>
          <p:cNvPr id="53" name="矩形 52"/>
          <p:cNvSpPr/>
          <p:nvPr/>
        </p:nvSpPr>
        <p:spPr>
          <a:xfrm>
            <a:off x="6262516" y="4077866"/>
            <a:ext cx="1181734"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[1,3 ]</a:t>
            </a:r>
            <a:endParaRPr lang="zh-CN" altLang="en-US" sz="2800" dirty="0">
              <a:solidFill>
                <a:srgbClr val="FF0000"/>
              </a:solidFill>
              <a:latin typeface="Arial Black" panose="020B0A04020102020204" pitchFamily="34" charset="0"/>
            </a:endParaRPr>
          </a:p>
        </p:txBody>
      </p:sp>
      <p:sp>
        <p:nvSpPr>
          <p:cNvPr id="56" name="文本框 55"/>
          <p:cNvSpPr txBox="1"/>
          <p:nvPr/>
        </p:nvSpPr>
        <p:spPr>
          <a:xfrm>
            <a:off x="523254" y="3698662"/>
            <a:ext cx="1728192" cy="523220"/>
          </a:xfrm>
          <a:prstGeom prst="rect">
            <a:avLst/>
          </a:prstGeom>
          <a:noFill/>
        </p:spPr>
        <p:txBody>
          <a:bodyPr wrap="square" rtlCol="0">
            <a:spAutoFit/>
          </a:bodyPr>
          <a:lstStyle/>
          <a:p>
            <a:r>
              <a:rPr lang="en-US" altLang="zh-CN" sz="2800" b="1" dirty="0">
                <a:solidFill>
                  <a:srgbClr val="FF0000"/>
                </a:solidFill>
                <a:latin typeface="微软雅黑" panose="020B0503020204020204" pitchFamily="34" charset="-122"/>
                <a:ea typeface="微软雅黑" panose="020B0503020204020204" pitchFamily="34" charset="-122"/>
              </a:rPr>
              <a:t>1</a:t>
            </a:r>
            <a:r>
              <a:rPr lang="zh-CN" altLang="en-US" sz="2800" b="1" dirty="0">
                <a:solidFill>
                  <a:srgbClr val="FF0000"/>
                </a:solidFill>
                <a:latin typeface="微软雅黑" panose="020B0503020204020204" pitchFamily="34" charset="-122"/>
                <a:ea typeface="微软雅黑" panose="020B0503020204020204" pitchFamily="34" charset="-122"/>
              </a:rPr>
              <a:t>个参数 </a:t>
            </a:r>
          </a:p>
        </p:txBody>
      </p:sp>
      <p:sp>
        <p:nvSpPr>
          <p:cNvPr id="57" name="矩形 56"/>
          <p:cNvSpPr/>
          <p:nvPr/>
        </p:nvSpPr>
        <p:spPr>
          <a:xfrm>
            <a:off x="3715059" y="4725938"/>
            <a:ext cx="1301959" cy="523220"/>
          </a:xfrm>
          <a:prstGeom prst="rect">
            <a:avLst/>
          </a:prstGeom>
        </p:spPr>
        <p:txBody>
          <a:bodyPr wrap="none">
            <a:spAutoFit/>
          </a:bodyPr>
          <a:lstStyle/>
          <a:p>
            <a:r>
              <a:rPr lang="en-US" altLang="zh-CN" sz="2800" dirty="0">
                <a:latin typeface="Arial Black" panose="020B0A04020102020204" pitchFamily="34" charset="0"/>
              </a:rPr>
              <a:t>a[:-2:]</a:t>
            </a:r>
            <a:endParaRPr lang="zh-CN" altLang="en-US" sz="2800" dirty="0">
              <a:latin typeface="Arial Black" panose="020B0A04020102020204" pitchFamily="34" charset="0"/>
            </a:endParaRPr>
          </a:p>
        </p:txBody>
      </p:sp>
      <p:sp>
        <p:nvSpPr>
          <p:cNvPr id="59" name="矩形 58"/>
          <p:cNvSpPr/>
          <p:nvPr/>
        </p:nvSpPr>
        <p:spPr>
          <a:xfrm>
            <a:off x="6243191" y="4653930"/>
            <a:ext cx="2258952"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[1,3,5,7,9 ]</a:t>
            </a:r>
            <a:endParaRPr lang="zh-CN" altLang="en-US" sz="2800" dirty="0">
              <a:solidFill>
                <a:srgbClr val="FF0000"/>
              </a:solidFill>
              <a:latin typeface="Arial Black" panose="020B0A04020102020204" pitchFamily="34" charset="0"/>
            </a:endParaRPr>
          </a:p>
        </p:txBody>
      </p:sp>
      <p:sp>
        <p:nvSpPr>
          <p:cNvPr id="60" name="矩形 59"/>
          <p:cNvSpPr/>
          <p:nvPr/>
        </p:nvSpPr>
        <p:spPr>
          <a:xfrm>
            <a:off x="3693246" y="5229994"/>
            <a:ext cx="1181734" cy="523220"/>
          </a:xfrm>
          <a:prstGeom prst="rect">
            <a:avLst/>
          </a:prstGeom>
        </p:spPr>
        <p:txBody>
          <a:bodyPr wrap="none">
            <a:spAutoFit/>
          </a:bodyPr>
          <a:lstStyle/>
          <a:p>
            <a:r>
              <a:rPr lang="en-US" altLang="zh-CN" sz="2800" dirty="0">
                <a:latin typeface="Arial Black" panose="020B0A04020102020204" pitchFamily="34" charset="0"/>
              </a:rPr>
              <a:t>a[::2]</a:t>
            </a:r>
            <a:endParaRPr lang="zh-CN" altLang="en-US" sz="2800" dirty="0">
              <a:latin typeface="Arial Black" panose="020B0A04020102020204" pitchFamily="34" charset="0"/>
            </a:endParaRPr>
          </a:p>
        </p:txBody>
      </p:sp>
      <p:sp>
        <p:nvSpPr>
          <p:cNvPr id="61" name="矩形 60"/>
          <p:cNvSpPr/>
          <p:nvPr/>
        </p:nvSpPr>
        <p:spPr>
          <a:xfrm>
            <a:off x="6290048" y="5229994"/>
            <a:ext cx="2138727"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[1,5,9,13 ]</a:t>
            </a:r>
            <a:endParaRPr lang="zh-CN" altLang="en-US" sz="2800" dirty="0">
              <a:solidFill>
                <a:srgbClr val="FF0000"/>
              </a:solidFill>
              <a:latin typeface="Arial Black" panose="020B0A04020102020204" pitchFamily="34" charset="0"/>
            </a:endParaRPr>
          </a:p>
        </p:txBody>
      </p:sp>
      <p:sp>
        <p:nvSpPr>
          <p:cNvPr id="62" name="矩形 61"/>
          <p:cNvSpPr/>
          <p:nvPr/>
        </p:nvSpPr>
        <p:spPr>
          <a:xfrm>
            <a:off x="3693246" y="5734050"/>
            <a:ext cx="1301959" cy="523220"/>
          </a:xfrm>
          <a:prstGeom prst="rect">
            <a:avLst/>
          </a:prstGeom>
        </p:spPr>
        <p:txBody>
          <a:bodyPr wrap="none">
            <a:spAutoFit/>
          </a:bodyPr>
          <a:lstStyle/>
          <a:p>
            <a:r>
              <a:rPr lang="en-US" altLang="zh-CN" sz="2800" dirty="0">
                <a:latin typeface="Arial Black" panose="020B0A04020102020204" pitchFamily="34" charset="0"/>
              </a:rPr>
              <a:t>a[::-2]</a:t>
            </a:r>
            <a:endParaRPr lang="zh-CN" altLang="en-US" sz="2800" dirty="0">
              <a:latin typeface="Arial Black" panose="020B0A04020102020204" pitchFamily="34" charset="0"/>
            </a:endParaRPr>
          </a:p>
        </p:txBody>
      </p:sp>
      <p:sp>
        <p:nvSpPr>
          <p:cNvPr id="63" name="矩形 62"/>
          <p:cNvSpPr/>
          <p:nvPr/>
        </p:nvSpPr>
        <p:spPr>
          <a:xfrm>
            <a:off x="6281751" y="5753214"/>
            <a:ext cx="2138727"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[13,9,5,1 ]</a:t>
            </a:r>
            <a:endParaRPr lang="zh-CN" altLang="en-US" sz="2800" dirty="0">
              <a:solidFill>
                <a:srgbClr val="FF0000"/>
              </a:solidFill>
              <a:latin typeface="Arial Black" panose="020B0A04020102020204" pitchFamily="34" charset="0"/>
            </a:endParaRPr>
          </a:p>
        </p:txBody>
      </p:sp>
      <p:sp>
        <p:nvSpPr>
          <p:cNvPr id="2" name="矩形 1"/>
          <p:cNvSpPr/>
          <p:nvPr/>
        </p:nvSpPr>
        <p:spPr>
          <a:xfrm>
            <a:off x="9238011" y="4915540"/>
            <a:ext cx="2732945" cy="1384995"/>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just"/>
            <a:r>
              <a:rPr lang="zh-CN" altLang="en-US" sz="2800" b="1" dirty="0">
                <a:solidFill>
                  <a:srgbClr val="FFFF00"/>
                </a:solidFill>
                <a:latin typeface="微软雅黑" panose="020B0503020204020204" pitchFamily="34" charset="-122"/>
                <a:ea typeface="微软雅黑" panose="020B0503020204020204" pitchFamily="34" charset="-122"/>
              </a:rPr>
              <a:t>第三个参数</a:t>
            </a:r>
            <a:r>
              <a:rPr lang="en-US" altLang="zh-CN" sz="2800" b="1" dirty="0">
                <a:solidFill>
                  <a:srgbClr val="FFFF00"/>
                </a:solidFill>
                <a:latin typeface="微软雅黑" panose="020B0503020204020204" pitchFamily="34" charset="-122"/>
                <a:ea typeface="微软雅黑" panose="020B0503020204020204" pitchFamily="34" charset="-122"/>
              </a:rPr>
              <a:t>&lt;0</a:t>
            </a:r>
            <a:r>
              <a:rPr lang="zh-CN" altLang="en-US" sz="2800" b="1" dirty="0">
                <a:solidFill>
                  <a:srgbClr val="FFFF00"/>
                </a:solidFill>
                <a:latin typeface="微软雅黑" panose="020B0503020204020204" pitchFamily="34" charset="-122"/>
                <a:ea typeface="微软雅黑" panose="020B0503020204020204" pitchFamily="34" charset="-122"/>
              </a:rPr>
              <a:t>时，切片方向可以被改变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left)">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right)">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 calcmode="lin" valueType="num">
                                      <p:cBhvr additive="base">
                                        <p:cTn id="22" dur="500" fill="hold"/>
                                        <p:tgtEl>
                                          <p:spTgt spid="56"/>
                                        </p:tgtEl>
                                        <p:attrNameLst>
                                          <p:attrName>ppt_x</p:attrName>
                                        </p:attrNameLst>
                                      </p:cBhvr>
                                      <p:tavLst>
                                        <p:tav tm="0">
                                          <p:val>
                                            <p:strVal val="#ppt_x"/>
                                          </p:val>
                                        </p:tav>
                                        <p:tav tm="100000">
                                          <p:val>
                                            <p:strVal val="#ppt_x"/>
                                          </p:val>
                                        </p:tav>
                                      </p:tavLst>
                                    </p:anim>
                                    <p:anim calcmode="lin" valueType="num">
                                      <p:cBhvr additive="base">
                                        <p:cTn id="23" dur="500" fill="hold"/>
                                        <p:tgtEl>
                                          <p:spTgt spid="56"/>
                                        </p:tgtEl>
                                        <p:attrNameLst>
                                          <p:attrName>ppt_y</p:attrName>
                                        </p:attrNameLst>
                                      </p:cBhvr>
                                      <p:tavLst>
                                        <p:tav tm="0">
                                          <p:val>
                                            <p:strVal val="1+#ppt_h/2"/>
                                          </p:val>
                                        </p:tav>
                                        <p:tav tm="100000">
                                          <p:val>
                                            <p:strVal val="#ppt_y"/>
                                          </p:val>
                                        </p:tav>
                                      </p:tavLst>
                                    </p:anim>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fade">
                                      <p:cBhvr>
                                        <p:cTn id="32" dur="500"/>
                                        <p:tgtEl>
                                          <p:spTgt spid="4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fade">
                                      <p:cBhvr>
                                        <p:cTn id="37" dur="500"/>
                                        <p:tgtEl>
                                          <p:spTgt spid="5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fade">
                                      <p:cBhvr>
                                        <p:cTn id="42" dur="500"/>
                                        <p:tgtEl>
                                          <p:spTgt spid="5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fade">
                                      <p:cBhvr>
                                        <p:cTn id="47" dur="500"/>
                                        <p:tgtEl>
                                          <p:spTgt spid="5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5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fade">
                                      <p:cBhvr>
                                        <p:cTn id="62" dur="500"/>
                                        <p:tgtEl>
                                          <p:spTgt spid="5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60"/>
                                        </p:tgtEl>
                                        <p:attrNameLst>
                                          <p:attrName>style.visibility</p:attrName>
                                        </p:attrNameLst>
                                      </p:cBhvr>
                                      <p:to>
                                        <p:strVal val="visible"/>
                                      </p:to>
                                    </p:set>
                                    <p:animEffect transition="in" filter="fade">
                                      <p:cBhvr>
                                        <p:cTn id="67" dur="500"/>
                                        <p:tgtEl>
                                          <p:spTgt spid="6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61"/>
                                        </p:tgtEl>
                                        <p:attrNameLst>
                                          <p:attrName>style.visibility</p:attrName>
                                        </p:attrNameLst>
                                      </p:cBhvr>
                                      <p:to>
                                        <p:strVal val="visible"/>
                                      </p:to>
                                    </p:set>
                                    <p:animEffect transition="in" filter="fade">
                                      <p:cBhvr>
                                        <p:cTn id="72" dur="500"/>
                                        <p:tgtEl>
                                          <p:spTgt spid="6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62"/>
                                        </p:tgtEl>
                                        <p:attrNameLst>
                                          <p:attrName>style.visibility</p:attrName>
                                        </p:attrNameLst>
                                      </p:cBhvr>
                                      <p:to>
                                        <p:strVal val="visible"/>
                                      </p:to>
                                    </p:set>
                                    <p:animEffect transition="in" filter="fade">
                                      <p:cBhvr>
                                        <p:cTn id="77" dur="500"/>
                                        <p:tgtEl>
                                          <p:spTgt spid="6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63"/>
                                        </p:tgtEl>
                                        <p:attrNameLst>
                                          <p:attrName>style.visibility</p:attrName>
                                        </p:attrNameLst>
                                      </p:cBhvr>
                                      <p:to>
                                        <p:strVal val="visible"/>
                                      </p:to>
                                    </p:set>
                                    <p:animEffect transition="in" filter="fade">
                                      <p:cBhvr>
                                        <p:cTn id="82" dur="500"/>
                                        <p:tgtEl>
                                          <p:spTgt spid="63"/>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2"/>
                                        </p:tgtEl>
                                        <p:attrNameLst>
                                          <p:attrName>style.visibility</p:attrName>
                                        </p:attrNameLst>
                                      </p:cBhvr>
                                      <p:to>
                                        <p:strVal val="visible"/>
                                      </p:to>
                                    </p:set>
                                    <p:anim calcmode="lin" valueType="num">
                                      <p:cBhvr>
                                        <p:cTn id="87" dur="500" fill="hold"/>
                                        <p:tgtEl>
                                          <p:spTgt spid="2"/>
                                        </p:tgtEl>
                                        <p:attrNameLst>
                                          <p:attrName>ppt_w</p:attrName>
                                        </p:attrNameLst>
                                      </p:cBhvr>
                                      <p:tavLst>
                                        <p:tav tm="0">
                                          <p:val>
                                            <p:fltVal val="0"/>
                                          </p:val>
                                        </p:tav>
                                        <p:tav tm="100000">
                                          <p:val>
                                            <p:strVal val="#ppt_w"/>
                                          </p:val>
                                        </p:tav>
                                      </p:tavLst>
                                    </p:anim>
                                    <p:anim calcmode="lin" valueType="num">
                                      <p:cBhvr>
                                        <p:cTn id="88" dur="500" fill="hold"/>
                                        <p:tgtEl>
                                          <p:spTgt spid="2"/>
                                        </p:tgtEl>
                                        <p:attrNameLst>
                                          <p:attrName>ppt_h</p:attrName>
                                        </p:attrNameLst>
                                      </p:cBhvr>
                                      <p:tavLst>
                                        <p:tav tm="0">
                                          <p:val>
                                            <p:fltVal val="0"/>
                                          </p:val>
                                        </p:tav>
                                        <p:tav tm="100000">
                                          <p:val>
                                            <p:strVal val="#ppt_h"/>
                                          </p:val>
                                        </p:tav>
                                      </p:tavLst>
                                    </p:anim>
                                    <p:animEffect transition="in" filter="fade">
                                      <p:cBhvr>
                                        <p:cTn id="8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49" grpId="0"/>
      <p:bldP spid="50" grpId="0"/>
      <p:bldP spid="51" grpId="0"/>
      <p:bldP spid="52" grpId="0"/>
      <p:bldP spid="53" grpId="0"/>
      <p:bldP spid="56" grpId="0"/>
      <p:bldP spid="57" grpId="0"/>
      <p:bldP spid="59" grpId="0"/>
      <p:bldP spid="60" grpId="0"/>
      <p:bldP spid="61" grpId="0"/>
      <p:bldP spid="62" grpId="0"/>
      <p:bldP spid="63" grpId="0"/>
      <p:bldP spid="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a:spLocks noGrp="1"/>
          </p:cNvSpPr>
          <p:nvPr/>
        </p:nvSpPr>
        <p:spPr>
          <a:xfrm>
            <a:off x="410543" y="1053530"/>
            <a:ext cx="1512167"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举例：</a:t>
            </a:r>
          </a:p>
        </p:txBody>
      </p:sp>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4" name="矩形 3"/>
          <p:cNvSpPr/>
          <p:nvPr/>
        </p:nvSpPr>
        <p:spPr>
          <a:xfrm>
            <a:off x="4591218" y="841135"/>
            <a:ext cx="4051109" cy="523220"/>
          </a:xfrm>
          <a:prstGeom prst="rect">
            <a:avLst/>
          </a:prstGeom>
        </p:spPr>
        <p:txBody>
          <a:bodyPr wrap="none">
            <a:spAutoFit/>
          </a:bodyPr>
          <a:lstStyle/>
          <a:p>
            <a:r>
              <a:rPr lang="zh-CN" altLang="en-US" sz="2800" dirty="0">
                <a:latin typeface="Arial Black" panose="020B0A04020102020204" pitchFamily="34" charset="0"/>
              </a:rPr>
              <a:t>a = [1,3,5,7,9,11,13]</a:t>
            </a:r>
          </a:p>
        </p:txBody>
      </p:sp>
      <p:grpSp>
        <p:nvGrpSpPr>
          <p:cNvPr id="30" name="组合 29"/>
          <p:cNvGrpSpPr/>
          <p:nvPr/>
        </p:nvGrpSpPr>
        <p:grpSpPr>
          <a:xfrm>
            <a:off x="2786807" y="1989634"/>
            <a:ext cx="7050267" cy="576064"/>
            <a:chOff x="2642791" y="1701602"/>
            <a:chExt cx="7050267" cy="576064"/>
          </a:xfrm>
        </p:grpSpPr>
        <p:sp>
          <p:nvSpPr>
            <p:cNvPr id="10" name="矩形 9"/>
            <p:cNvSpPr/>
            <p:nvPr/>
          </p:nvSpPr>
          <p:spPr>
            <a:xfrm>
              <a:off x="2642791"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4" name="矩形 23"/>
            <p:cNvSpPr/>
            <p:nvPr/>
          </p:nvSpPr>
          <p:spPr>
            <a:xfrm>
              <a:off x="3657854"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3</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5" name="矩形 24"/>
            <p:cNvSpPr/>
            <p:nvPr/>
          </p:nvSpPr>
          <p:spPr>
            <a:xfrm>
              <a:off x="4665966"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5</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6" name="矩形 25"/>
            <p:cNvSpPr/>
            <p:nvPr/>
          </p:nvSpPr>
          <p:spPr>
            <a:xfrm>
              <a:off x="5674078"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7</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7" name="矩形 26"/>
            <p:cNvSpPr/>
            <p:nvPr/>
          </p:nvSpPr>
          <p:spPr>
            <a:xfrm>
              <a:off x="6682190"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9</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8" name="矩形 27"/>
            <p:cNvSpPr/>
            <p:nvPr/>
          </p:nvSpPr>
          <p:spPr>
            <a:xfrm>
              <a:off x="7670868"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11</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9" name="矩形 28"/>
            <p:cNvSpPr/>
            <p:nvPr/>
          </p:nvSpPr>
          <p:spPr>
            <a:xfrm>
              <a:off x="8684946"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13</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grpSp>
      <p:grpSp>
        <p:nvGrpSpPr>
          <p:cNvPr id="40" name="组合 39"/>
          <p:cNvGrpSpPr/>
          <p:nvPr/>
        </p:nvGrpSpPr>
        <p:grpSpPr>
          <a:xfrm>
            <a:off x="3079106" y="1404613"/>
            <a:ext cx="6513892" cy="550800"/>
            <a:chOff x="3079106" y="1404613"/>
            <a:chExt cx="6513892" cy="550800"/>
          </a:xfrm>
        </p:grpSpPr>
        <p:sp>
          <p:nvSpPr>
            <p:cNvPr id="31" name="矩形 30"/>
            <p:cNvSpPr/>
            <p:nvPr/>
          </p:nvSpPr>
          <p:spPr>
            <a:xfrm>
              <a:off x="3079106" y="143219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0</a:t>
              </a:r>
              <a:endParaRPr lang="zh-CN" altLang="en-US" sz="2800" dirty="0">
                <a:solidFill>
                  <a:srgbClr val="FF0000"/>
                </a:solidFill>
                <a:latin typeface="Arial Black" panose="020B0A04020102020204" pitchFamily="34" charset="0"/>
              </a:endParaRPr>
            </a:p>
          </p:txBody>
        </p:sp>
        <p:sp>
          <p:nvSpPr>
            <p:cNvPr id="34" name="矩形 33"/>
            <p:cNvSpPr/>
            <p:nvPr/>
          </p:nvSpPr>
          <p:spPr>
            <a:xfrm>
              <a:off x="4094169" y="140461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1</a:t>
              </a:r>
              <a:endParaRPr lang="zh-CN" altLang="en-US" sz="2800" dirty="0">
                <a:solidFill>
                  <a:srgbClr val="FF0000"/>
                </a:solidFill>
                <a:latin typeface="Arial Black" panose="020B0A04020102020204" pitchFamily="34" charset="0"/>
              </a:endParaRPr>
            </a:p>
          </p:txBody>
        </p:sp>
        <p:sp>
          <p:nvSpPr>
            <p:cNvPr id="35" name="矩形 34"/>
            <p:cNvSpPr/>
            <p:nvPr/>
          </p:nvSpPr>
          <p:spPr>
            <a:xfrm>
              <a:off x="5109232"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2</a:t>
              </a:r>
              <a:endParaRPr lang="zh-CN" altLang="en-US" sz="2800" dirty="0">
                <a:solidFill>
                  <a:srgbClr val="FF0000"/>
                </a:solidFill>
                <a:latin typeface="Arial Black" panose="020B0A04020102020204" pitchFamily="34" charset="0"/>
              </a:endParaRPr>
            </a:p>
          </p:txBody>
        </p:sp>
        <p:sp>
          <p:nvSpPr>
            <p:cNvPr id="36" name="矩形 35"/>
            <p:cNvSpPr/>
            <p:nvPr/>
          </p:nvSpPr>
          <p:spPr>
            <a:xfrm>
              <a:off x="6110393" y="140461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3</a:t>
              </a:r>
              <a:endParaRPr lang="zh-CN" altLang="en-US" sz="2800" dirty="0">
                <a:solidFill>
                  <a:srgbClr val="FF0000"/>
                </a:solidFill>
                <a:latin typeface="Arial Black" panose="020B0A04020102020204" pitchFamily="34" charset="0"/>
              </a:endParaRPr>
            </a:p>
          </p:txBody>
        </p:sp>
        <p:sp>
          <p:nvSpPr>
            <p:cNvPr id="37" name="矩形 36"/>
            <p:cNvSpPr/>
            <p:nvPr/>
          </p:nvSpPr>
          <p:spPr>
            <a:xfrm>
              <a:off x="7139358"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4</a:t>
              </a:r>
              <a:endParaRPr lang="zh-CN" altLang="en-US" sz="2800" dirty="0">
                <a:solidFill>
                  <a:srgbClr val="FF0000"/>
                </a:solidFill>
                <a:latin typeface="Arial Black" panose="020B0A04020102020204" pitchFamily="34" charset="0"/>
              </a:endParaRPr>
            </a:p>
          </p:txBody>
        </p:sp>
        <p:sp>
          <p:nvSpPr>
            <p:cNvPr id="38" name="矩形 37"/>
            <p:cNvSpPr/>
            <p:nvPr/>
          </p:nvSpPr>
          <p:spPr>
            <a:xfrm>
              <a:off x="8107183"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5</a:t>
              </a:r>
              <a:endParaRPr lang="zh-CN" altLang="en-US" sz="2800" dirty="0">
                <a:solidFill>
                  <a:srgbClr val="FF0000"/>
                </a:solidFill>
                <a:latin typeface="Arial Black" panose="020B0A04020102020204" pitchFamily="34" charset="0"/>
              </a:endParaRPr>
            </a:p>
          </p:txBody>
        </p:sp>
        <p:sp>
          <p:nvSpPr>
            <p:cNvPr id="39" name="矩形 38"/>
            <p:cNvSpPr/>
            <p:nvPr/>
          </p:nvSpPr>
          <p:spPr>
            <a:xfrm>
              <a:off x="9169484"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6</a:t>
              </a:r>
              <a:endParaRPr lang="zh-CN" altLang="en-US" sz="2800" dirty="0">
                <a:solidFill>
                  <a:srgbClr val="FF0000"/>
                </a:solidFill>
                <a:latin typeface="Arial Black" panose="020B0A04020102020204" pitchFamily="34" charset="0"/>
              </a:endParaRPr>
            </a:p>
          </p:txBody>
        </p:sp>
      </p:grpSp>
      <p:grpSp>
        <p:nvGrpSpPr>
          <p:cNvPr id="41" name="组合 40"/>
          <p:cNvGrpSpPr/>
          <p:nvPr/>
        </p:nvGrpSpPr>
        <p:grpSpPr>
          <a:xfrm>
            <a:off x="2930823" y="2637706"/>
            <a:ext cx="6912768" cy="550800"/>
            <a:chOff x="3079106" y="1404613"/>
            <a:chExt cx="6513892" cy="550800"/>
          </a:xfrm>
        </p:grpSpPr>
        <p:sp>
          <p:nvSpPr>
            <p:cNvPr id="42" name="矩形 41"/>
            <p:cNvSpPr/>
            <p:nvPr/>
          </p:nvSpPr>
          <p:spPr>
            <a:xfrm>
              <a:off x="3079106" y="1432193"/>
              <a:ext cx="536551"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-7</a:t>
              </a:r>
              <a:endParaRPr lang="zh-CN" altLang="en-US" sz="2800" dirty="0">
                <a:solidFill>
                  <a:srgbClr val="0071C1"/>
                </a:solidFill>
                <a:latin typeface="Arial Black" panose="020B0A04020102020204" pitchFamily="34" charset="0"/>
              </a:endParaRPr>
            </a:p>
          </p:txBody>
        </p:sp>
        <p:sp>
          <p:nvSpPr>
            <p:cNvPr id="43" name="矩形 42"/>
            <p:cNvSpPr/>
            <p:nvPr/>
          </p:nvSpPr>
          <p:spPr>
            <a:xfrm>
              <a:off x="4094168" y="1404613"/>
              <a:ext cx="617378"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-6</a:t>
              </a:r>
              <a:endParaRPr lang="zh-CN" altLang="en-US" sz="2800" dirty="0">
                <a:solidFill>
                  <a:srgbClr val="0071C1"/>
                </a:solidFill>
                <a:latin typeface="Arial Black" panose="020B0A04020102020204" pitchFamily="34" charset="0"/>
              </a:endParaRPr>
            </a:p>
          </p:txBody>
        </p:sp>
        <p:sp>
          <p:nvSpPr>
            <p:cNvPr id="44" name="矩形 43"/>
            <p:cNvSpPr/>
            <p:nvPr/>
          </p:nvSpPr>
          <p:spPr>
            <a:xfrm>
              <a:off x="5109231" y="1415384"/>
              <a:ext cx="643576"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-5</a:t>
              </a:r>
              <a:endParaRPr lang="zh-CN" altLang="en-US" sz="2800" dirty="0">
                <a:solidFill>
                  <a:srgbClr val="0071C1"/>
                </a:solidFill>
                <a:latin typeface="Arial Black" panose="020B0A04020102020204" pitchFamily="34" charset="0"/>
              </a:endParaRPr>
            </a:p>
          </p:txBody>
        </p:sp>
        <p:sp>
          <p:nvSpPr>
            <p:cNvPr id="45" name="矩形 44"/>
            <p:cNvSpPr/>
            <p:nvPr/>
          </p:nvSpPr>
          <p:spPr>
            <a:xfrm>
              <a:off x="6110393" y="1404613"/>
              <a:ext cx="707180"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-4</a:t>
              </a:r>
              <a:endParaRPr lang="zh-CN" altLang="en-US" sz="2800" dirty="0">
                <a:solidFill>
                  <a:srgbClr val="0071C1"/>
                </a:solidFill>
                <a:latin typeface="Arial Black" panose="020B0A04020102020204" pitchFamily="34" charset="0"/>
              </a:endParaRPr>
            </a:p>
          </p:txBody>
        </p:sp>
        <p:sp>
          <p:nvSpPr>
            <p:cNvPr id="46" name="矩形 45"/>
            <p:cNvSpPr/>
            <p:nvPr/>
          </p:nvSpPr>
          <p:spPr>
            <a:xfrm>
              <a:off x="7139357" y="1415384"/>
              <a:ext cx="609845"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-3</a:t>
              </a:r>
              <a:endParaRPr lang="zh-CN" altLang="en-US" sz="2800" dirty="0">
                <a:solidFill>
                  <a:srgbClr val="0071C1"/>
                </a:solidFill>
                <a:latin typeface="Arial Black" panose="020B0A04020102020204" pitchFamily="34" charset="0"/>
              </a:endParaRPr>
            </a:p>
          </p:txBody>
        </p:sp>
        <p:sp>
          <p:nvSpPr>
            <p:cNvPr id="47" name="矩形 46"/>
            <p:cNvSpPr/>
            <p:nvPr/>
          </p:nvSpPr>
          <p:spPr>
            <a:xfrm>
              <a:off x="8107182" y="1415384"/>
              <a:ext cx="591962"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-2</a:t>
              </a:r>
              <a:endParaRPr lang="zh-CN" altLang="en-US" sz="2800" dirty="0">
                <a:solidFill>
                  <a:srgbClr val="0071C1"/>
                </a:solidFill>
                <a:latin typeface="Arial Black" panose="020B0A04020102020204" pitchFamily="34" charset="0"/>
              </a:endParaRPr>
            </a:p>
          </p:txBody>
        </p:sp>
        <p:sp>
          <p:nvSpPr>
            <p:cNvPr id="48" name="矩形 47"/>
            <p:cNvSpPr/>
            <p:nvPr/>
          </p:nvSpPr>
          <p:spPr>
            <a:xfrm>
              <a:off x="9057125" y="1415384"/>
              <a:ext cx="535873"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-1</a:t>
              </a:r>
              <a:endParaRPr lang="zh-CN" altLang="en-US" sz="2800" dirty="0">
                <a:solidFill>
                  <a:srgbClr val="0071C1"/>
                </a:solidFill>
                <a:latin typeface="Arial Black" panose="020B0A04020102020204" pitchFamily="34" charset="0"/>
              </a:endParaRPr>
            </a:p>
          </p:txBody>
        </p:sp>
      </p:grpSp>
      <p:sp>
        <p:nvSpPr>
          <p:cNvPr id="55" name="矩形 54"/>
          <p:cNvSpPr/>
          <p:nvPr/>
        </p:nvSpPr>
        <p:spPr>
          <a:xfrm>
            <a:off x="7139305" y="4003040"/>
            <a:ext cx="4620260" cy="953135"/>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just"/>
            <a:r>
              <a:rPr lang="zh-CN" altLang="en-US" sz="2800" b="1" dirty="0">
                <a:solidFill>
                  <a:srgbClr val="FFFF00"/>
                </a:solidFill>
                <a:latin typeface="微软雅黑" panose="020B0503020204020204" pitchFamily="34" charset="-122"/>
                <a:ea typeface="微软雅黑" panose="020B0503020204020204" pitchFamily="34" charset="-122"/>
              </a:rPr>
              <a:t>没有第</a:t>
            </a:r>
            <a:r>
              <a:rPr lang="en-US" altLang="zh-CN" sz="2800" b="1" dirty="0">
                <a:solidFill>
                  <a:srgbClr val="FFFF00"/>
                </a:solidFill>
                <a:latin typeface="微软雅黑" panose="020B0503020204020204" pitchFamily="34" charset="-122"/>
                <a:ea typeface="微软雅黑" panose="020B0503020204020204" pitchFamily="34" charset="-122"/>
              </a:rPr>
              <a:t>3</a:t>
            </a:r>
            <a:r>
              <a:rPr lang="zh-CN" altLang="en-US" sz="2800" b="1" dirty="0">
                <a:solidFill>
                  <a:srgbClr val="FFFF00"/>
                </a:solidFill>
                <a:latin typeface="微软雅黑" panose="020B0503020204020204" pitchFamily="34" charset="-122"/>
                <a:ea typeface="微软雅黑" panose="020B0503020204020204" pitchFamily="34" charset="-122"/>
              </a:rPr>
              <a:t>个参数时，切片只能从左向右</a:t>
            </a:r>
            <a:r>
              <a:rPr lang="en-US" altLang="zh-CN" sz="2800" b="1" dirty="0">
                <a:solidFill>
                  <a:srgbClr val="FFFF00"/>
                </a:solidFill>
                <a:latin typeface="微软雅黑" panose="020B0503020204020204" pitchFamily="34" charset="-122"/>
                <a:ea typeface="微软雅黑" panose="020B0503020204020204" pitchFamily="34" charset="-122"/>
              </a:rPr>
              <a:t>.</a:t>
            </a:r>
            <a:endParaRPr lang="zh-CN" altLang="en-US" sz="2800" b="1" dirty="0">
              <a:solidFill>
                <a:srgbClr val="FFFF00"/>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545472" y="3397869"/>
            <a:ext cx="1728192" cy="523220"/>
          </a:xfrm>
          <a:prstGeom prst="rect">
            <a:avLst/>
          </a:prstGeom>
          <a:noFill/>
        </p:spPr>
        <p:txBody>
          <a:bodyPr wrap="square" rtlCol="0">
            <a:spAutoFit/>
          </a:bodyPr>
          <a:lstStyle/>
          <a:p>
            <a:r>
              <a:rPr lang="en-US" altLang="zh-CN" sz="2800" b="1" dirty="0">
                <a:solidFill>
                  <a:srgbClr val="FF0000"/>
                </a:solidFill>
                <a:latin typeface="微软雅黑" panose="020B0503020204020204" pitchFamily="34" charset="-122"/>
                <a:ea typeface="微软雅黑" panose="020B0503020204020204" pitchFamily="34" charset="-122"/>
              </a:rPr>
              <a:t>2</a:t>
            </a:r>
            <a:r>
              <a:rPr lang="zh-CN" altLang="en-US" sz="2800" b="1" dirty="0">
                <a:solidFill>
                  <a:srgbClr val="FF0000"/>
                </a:solidFill>
                <a:latin typeface="微软雅黑" panose="020B0503020204020204" pitchFamily="34" charset="-122"/>
                <a:ea typeface="微软雅黑" panose="020B0503020204020204" pitchFamily="34" charset="-122"/>
              </a:rPr>
              <a:t>个参数 </a:t>
            </a:r>
          </a:p>
        </p:txBody>
      </p:sp>
      <p:sp>
        <p:nvSpPr>
          <p:cNvPr id="57" name="矩形 56"/>
          <p:cNvSpPr/>
          <p:nvPr/>
        </p:nvSpPr>
        <p:spPr>
          <a:xfrm>
            <a:off x="2740361" y="3345602"/>
            <a:ext cx="1300356" cy="523220"/>
          </a:xfrm>
          <a:prstGeom prst="rect">
            <a:avLst/>
          </a:prstGeom>
        </p:spPr>
        <p:txBody>
          <a:bodyPr wrap="none">
            <a:spAutoFit/>
          </a:bodyPr>
          <a:lstStyle/>
          <a:p>
            <a:r>
              <a:rPr lang="en-US" altLang="zh-CN" sz="2800" dirty="0">
                <a:latin typeface="Arial Black" panose="020B0A04020102020204" pitchFamily="34" charset="0"/>
              </a:rPr>
              <a:t>a[1:3]</a:t>
            </a:r>
            <a:endParaRPr lang="zh-CN" altLang="en-US" sz="2800" dirty="0">
              <a:latin typeface="Arial Black" panose="020B0A04020102020204" pitchFamily="34" charset="0"/>
            </a:endParaRPr>
          </a:p>
        </p:txBody>
      </p:sp>
      <p:sp>
        <p:nvSpPr>
          <p:cNvPr id="58" name="矩形 57"/>
          <p:cNvSpPr/>
          <p:nvPr/>
        </p:nvSpPr>
        <p:spPr>
          <a:xfrm>
            <a:off x="4582146" y="3349107"/>
            <a:ext cx="1061509"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[3,5]</a:t>
            </a:r>
            <a:endParaRPr lang="zh-CN" altLang="en-US" sz="2800" dirty="0">
              <a:solidFill>
                <a:srgbClr val="FF0000"/>
              </a:solidFill>
              <a:latin typeface="Arial Black" panose="020B0A04020102020204" pitchFamily="34" charset="0"/>
            </a:endParaRPr>
          </a:p>
        </p:txBody>
      </p:sp>
      <p:sp>
        <p:nvSpPr>
          <p:cNvPr id="59" name="矩形 58"/>
          <p:cNvSpPr/>
          <p:nvPr/>
        </p:nvSpPr>
        <p:spPr>
          <a:xfrm>
            <a:off x="2707686" y="3816256"/>
            <a:ext cx="1540806" cy="523220"/>
          </a:xfrm>
          <a:prstGeom prst="rect">
            <a:avLst/>
          </a:prstGeom>
        </p:spPr>
        <p:txBody>
          <a:bodyPr wrap="none">
            <a:spAutoFit/>
          </a:bodyPr>
          <a:lstStyle/>
          <a:p>
            <a:r>
              <a:rPr lang="en-US" altLang="zh-CN" sz="2800" dirty="0">
                <a:latin typeface="Arial Black" panose="020B0A04020102020204" pitchFamily="34" charset="0"/>
              </a:rPr>
              <a:t>a[-3:-1]</a:t>
            </a:r>
            <a:endParaRPr lang="zh-CN" altLang="en-US" sz="2800" dirty="0">
              <a:latin typeface="Arial Black" panose="020B0A04020102020204" pitchFamily="34" charset="0"/>
            </a:endParaRPr>
          </a:p>
        </p:txBody>
      </p:sp>
      <p:sp>
        <p:nvSpPr>
          <p:cNvPr id="61" name="矩形 60"/>
          <p:cNvSpPr/>
          <p:nvPr/>
        </p:nvSpPr>
        <p:spPr>
          <a:xfrm>
            <a:off x="4554507" y="3835266"/>
            <a:ext cx="1300356"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[9,11]</a:t>
            </a:r>
            <a:endParaRPr lang="zh-CN" altLang="en-US" sz="2800" dirty="0">
              <a:solidFill>
                <a:srgbClr val="FF0000"/>
              </a:solidFill>
              <a:latin typeface="Arial Black" panose="020B0A04020102020204" pitchFamily="34" charset="0"/>
            </a:endParaRPr>
          </a:p>
        </p:txBody>
      </p:sp>
      <p:sp>
        <p:nvSpPr>
          <p:cNvPr id="62" name="矩形 61"/>
          <p:cNvSpPr/>
          <p:nvPr/>
        </p:nvSpPr>
        <p:spPr>
          <a:xfrm>
            <a:off x="2695550" y="4358486"/>
            <a:ext cx="1540806" cy="523220"/>
          </a:xfrm>
          <a:prstGeom prst="rect">
            <a:avLst/>
          </a:prstGeom>
        </p:spPr>
        <p:txBody>
          <a:bodyPr wrap="none">
            <a:spAutoFit/>
          </a:bodyPr>
          <a:lstStyle/>
          <a:p>
            <a:r>
              <a:rPr lang="en-US" altLang="zh-CN" sz="2800" dirty="0">
                <a:latin typeface="Arial Black" panose="020B0A04020102020204" pitchFamily="34" charset="0"/>
              </a:rPr>
              <a:t>a[-1:-3]</a:t>
            </a:r>
            <a:endParaRPr lang="zh-CN" altLang="en-US" sz="2800" dirty="0">
              <a:latin typeface="Arial Black" panose="020B0A04020102020204" pitchFamily="34" charset="0"/>
            </a:endParaRPr>
          </a:p>
        </p:txBody>
      </p:sp>
      <p:sp>
        <p:nvSpPr>
          <p:cNvPr id="63" name="矩形 62"/>
          <p:cNvSpPr/>
          <p:nvPr/>
        </p:nvSpPr>
        <p:spPr>
          <a:xfrm>
            <a:off x="4582146" y="4407860"/>
            <a:ext cx="583814"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 ]</a:t>
            </a:r>
            <a:endParaRPr lang="zh-CN" altLang="en-US" sz="2800" dirty="0">
              <a:solidFill>
                <a:srgbClr val="FF0000"/>
              </a:solidFill>
              <a:latin typeface="Arial Black" panose="020B0A04020102020204" pitchFamily="34" charset="0"/>
            </a:endParaRPr>
          </a:p>
        </p:txBody>
      </p:sp>
      <p:sp>
        <p:nvSpPr>
          <p:cNvPr id="64" name="矩形 63"/>
          <p:cNvSpPr/>
          <p:nvPr/>
        </p:nvSpPr>
        <p:spPr>
          <a:xfrm>
            <a:off x="2722033" y="4881706"/>
            <a:ext cx="1420582" cy="523220"/>
          </a:xfrm>
          <a:prstGeom prst="rect">
            <a:avLst/>
          </a:prstGeom>
        </p:spPr>
        <p:txBody>
          <a:bodyPr wrap="none">
            <a:spAutoFit/>
          </a:bodyPr>
          <a:lstStyle/>
          <a:p>
            <a:r>
              <a:rPr lang="en-US" altLang="zh-CN" sz="2800" dirty="0">
                <a:latin typeface="Arial Black" panose="020B0A04020102020204" pitchFamily="34" charset="0"/>
              </a:rPr>
              <a:t>a[-1:3]</a:t>
            </a:r>
            <a:endParaRPr lang="zh-CN" altLang="en-US" sz="2800" dirty="0">
              <a:latin typeface="Arial Black" panose="020B0A04020102020204" pitchFamily="34" charset="0"/>
            </a:endParaRPr>
          </a:p>
        </p:txBody>
      </p:sp>
      <p:sp>
        <p:nvSpPr>
          <p:cNvPr id="66" name="矩形 65"/>
          <p:cNvSpPr/>
          <p:nvPr/>
        </p:nvSpPr>
        <p:spPr>
          <a:xfrm>
            <a:off x="2695550" y="5448348"/>
            <a:ext cx="1460656" cy="523220"/>
          </a:xfrm>
          <a:prstGeom prst="rect">
            <a:avLst/>
          </a:prstGeom>
        </p:spPr>
        <p:txBody>
          <a:bodyPr wrap="none">
            <a:spAutoFit/>
          </a:bodyPr>
          <a:lstStyle/>
          <a:p>
            <a:r>
              <a:rPr lang="en-US" altLang="zh-CN" sz="2800" dirty="0">
                <a:latin typeface="Arial Black" panose="020B0A04020102020204" pitchFamily="34" charset="0"/>
              </a:rPr>
              <a:t>a[3:-2]</a:t>
            </a:r>
            <a:endParaRPr lang="zh-CN" altLang="en-US" sz="2800" dirty="0">
              <a:latin typeface="Arial Black" panose="020B0A04020102020204" pitchFamily="34" charset="0"/>
            </a:endParaRPr>
          </a:p>
        </p:txBody>
      </p:sp>
      <p:sp>
        <p:nvSpPr>
          <p:cNvPr id="67" name="矩形 66"/>
          <p:cNvSpPr/>
          <p:nvPr/>
        </p:nvSpPr>
        <p:spPr>
          <a:xfrm>
            <a:off x="4594734" y="5439863"/>
            <a:ext cx="1181734"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[7,9 ]</a:t>
            </a:r>
            <a:endParaRPr lang="zh-CN" altLang="en-US" sz="2800" dirty="0">
              <a:solidFill>
                <a:srgbClr val="FF0000"/>
              </a:solidFill>
              <a:latin typeface="Arial Black" panose="020B0A04020102020204" pitchFamily="34" charset="0"/>
            </a:endParaRPr>
          </a:p>
        </p:txBody>
      </p:sp>
      <p:sp>
        <p:nvSpPr>
          <p:cNvPr id="68" name="矩形 67"/>
          <p:cNvSpPr/>
          <p:nvPr/>
        </p:nvSpPr>
        <p:spPr>
          <a:xfrm>
            <a:off x="4570615" y="4956080"/>
            <a:ext cx="583814"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 ]</a:t>
            </a:r>
            <a:endParaRPr lang="zh-CN" altLang="en-US" sz="2800" dirty="0">
              <a:solidFill>
                <a:srgbClr val="FF0000"/>
              </a:solidFill>
              <a:latin typeface="Arial Black" panose="020B0A040201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500" fill="hold"/>
                                        <p:tgtEl>
                                          <p:spTgt spid="56"/>
                                        </p:tgtEl>
                                        <p:attrNameLst>
                                          <p:attrName>ppt_x</p:attrName>
                                        </p:attrNameLst>
                                      </p:cBhvr>
                                      <p:tavLst>
                                        <p:tav tm="0">
                                          <p:val>
                                            <p:strVal val="#ppt_x"/>
                                          </p:val>
                                        </p:tav>
                                        <p:tav tm="100000">
                                          <p:val>
                                            <p:strVal val="#ppt_x"/>
                                          </p:val>
                                        </p:tav>
                                      </p:tavLst>
                                    </p:anim>
                                    <p:anim calcmode="lin" valueType="num">
                                      <p:cBhvr additive="base">
                                        <p:cTn id="8" dur="500" fill="hold"/>
                                        <p:tgtEl>
                                          <p:spTgt spid="5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fade">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fade">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fade">
                                      <p:cBhvr>
                                        <p:cTn id="22" dur="500"/>
                                        <p:tgtEl>
                                          <p:spTgt spid="5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500"/>
                                        <p:tgtEl>
                                          <p:spTgt spid="6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fade">
                                      <p:cBhvr>
                                        <p:cTn id="32" dur="500"/>
                                        <p:tgtEl>
                                          <p:spTgt spid="6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fade">
                                      <p:cBhvr>
                                        <p:cTn id="37" dur="500"/>
                                        <p:tgtEl>
                                          <p:spTgt spid="6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wipe(left)">
                                      <p:cBhvr>
                                        <p:cTn id="42" dur="500"/>
                                        <p:tgtEl>
                                          <p:spTgt spid="55"/>
                                        </p:tgtEl>
                                      </p:cBhvr>
                                    </p:animEffect>
                                  </p:childTnLst>
                                  <p:subTnLst>
                                    <p:set>
                                      <p:cBhvr override="childStyle">
                                        <p:cTn dur="1" fill="hold" display="0" masterRel="nextClick" afterEffect="1"/>
                                        <p:tgtEl>
                                          <p:spTgt spid="55"/>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fade">
                                      <p:cBhvr>
                                        <p:cTn id="47" dur="500"/>
                                        <p:tgtEl>
                                          <p:spTgt spid="6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fade">
                                      <p:cBhvr>
                                        <p:cTn id="52" dur="500"/>
                                        <p:tgtEl>
                                          <p:spTgt spid="6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6"/>
                                        </p:tgtEl>
                                        <p:attrNameLst>
                                          <p:attrName>style.visibility</p:attrName>
                                        </p:attrNameLst>
                                      </p:cBhvr>
                                      <p:to>
                                        <p:strVal val="visible"/>
                                      </p:to>
                                    </p:set>
                                    <p:animEffect transition="in" filter="fade">
                                      <p:cBhvr>
                                        <p:cTn id="57" dur="500"/>
                                        <p:tgtEl>
                                          <p:spTgt spid="6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7"/>
                                        </p:tgtEl>
                                        <p:attrNameLst>
                                          <p:attrName>style.visibility</p:attrName>
                                        </p:attrNameLst>
                                      </p:cBhvr>
                                      <p:to>
                                        <p:strVal val="visible"/>
                                      </p:to>
                                    </p:set>
                                    <p:animEffect transition="in" filter="fade">
                                      <p:cBhvr>
                                        <p:cTn id="62"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ldLvl="0" animBg="1"/>
      <p:bldP spid="56" grpId="0"/>
      <p:bldP spid="57" grpId="0"/>
      <p:bldP spid="58" grpId="0"/>
      <p:bldP spid="59" grpId="0"/>
      <p:bldP spid="61" grpId="0"/>
      <p:bldP spid="62" grpId="0"/>
      <p:bldP spid="63" grpId="0"/>
      <p:bldP spid="64" grpId="0"/>
      <p:bldP spid="66" grpId="0"/>
      <p:bldP spid="67" grpId="0"/>
      <p:bldP spid="6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a:spLocks noGrp="1"/>
          </p:cNvSpPr>
          <p:nvPr/>
        </p:nvSpPr>
        <p:spPr>
          <a:xfrm>
            <a:off x="410543" y="1053530"/>
            <a:ext cx="1512167"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举例：</a:t>
            </a:r>
          </a:p>
        </p:txBody>
      </p:sp>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4" name="矩形 3"/>
          <p:cNvSpPr/>
          <p:nvPr/>
        </p:nvSpPr>
        <p:spPr>
          <a:xfrm>
            <a:off x="4591218" y="841135"/>
            <a:ext cx="4051109" cy="523220"/>
          </a:xfrm>
          <a:prstGeom prst="rect">
            <a:avLst/>
          </a:prstGeom>
        </p:spPr>
        <p:txBody>
          <a:bodyPr wrap="none">
            <a:spAutoFit/>
          </a:bodyPr>
          <a:lstStyle/>
          <a:p>
            <a:r>
              <a:rPr lang="zh-CN" altLang="en-US" sz="2800" dirty="0">
                <a:latin typeface="Arial Black" panose="020B0A04020102020204" pitchFamily="34" charset="0"/>
              </a:rPr>
              <a:t>a = [1,3,5,7,9,11,13]</a:t>
            </a:r>
          </a:p>
        </p:txBody>
      </p:sp>
      <p:grpSp>
        <p:nvGrpSpPr>
          <p:cNvPr id="30" name="组合 29"/>
          <p:cNvGrpSpPr/>
          <p:nvPr/>
        </p:nvGrpSpPr>
        <p:grpSpPr>
          <a:xfrm>
            <a:off x="2786807" y="1989634"/>
            <a:ext cx="7050267" cy="576064"/>
            <a:chOff x="2642791" y="1701602"/>
            <a:chExt cx="7050267" cy="576064"/>
          </a:xfrm>
        </p:grpSpPr>
        <p:sp>
          <p:nvSpPr>
            <p:cNvPr id="10" name="矩形 9"/>
            <p:cNvSpPr/>
            <p:nvPr/>
          </p:nvSpPr>
          <p:spPr>
            <a:xfrm>
              <a:off x="2642791"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4" name="矩形 23"/>
            <p:cNvSpPr/>
            <p:nvPr/>
          </p:nvSpPr>
          <p:spPr>
            <a:xfrm>
              <a:off x="3657854"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3</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5" name="矩形 24"/>
            <p:cNvSpPr/>
            <p:nvPr/>
          </p:nvSpPr>
          <p:spPr>
            <a:xfrm>
              <a:off x="4665966"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5</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6" name="矩形 25"/>
            <p:cNvSpPr/>
            <p:nvPr/>
          </p:nvSpPr>
          <p:spPr>
            <a:xfrm>
              <a:off x="5674078"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7</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7" name="矩形 26"/>
            <p:cNvSpPr/>
            <p:nvPr/>
          </p:nvSpPr>
          <p:spPr>
            <a:xfrm>
              <a:off x="6682190"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9</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8" name="矩形 27"/>
            <p:cNvSpPr/>
            <p:nvPr/>
          </p:nvSpPr>
          <p:spPr>
            <a:xfrm>
              <a:off x="7670868"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11</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9" name="矩形 28"/>
            <p:cNvSpPr/>
            <p:nvPr/>
          </p:nvSpPr>
          <p:spPr>
            <a:xfrm>
              <a:off x="8684946"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13</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grpSp>
      <p:grpSp>
        <p:nvGrpSpPr>
          <p:cNvPr id="40" name="组合 39"/>
          <p:cNvGrpSpPr/>
          <p:nvPr/>
        </p:nvGrpSpPr>
        <p:grpSpPr>
          <a:xfrm>
            <a:off x="3079106" y="1404613"/>
            <a:ext cx="6513892" cy="550800"/>
            <a:chOff x="3079106" y="1404613"/>
            <a:chExt cx="6513892" cy="550800"/>
          </a:xfrm>
        </p:grpSpPr>
        <p:sp>
          <p:nvSpPr>
            <p:cNvPr id="31" name="矩形 30"/>
            <p:cNvSpPr/>
            <p:nvPr/>
          </p:nvSpPr>
          <p:spPr>
            <a:xfrm>
              <a:off x="3079106" y="143219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0</a:t>
              </a:r>
              <a:endParaRPr lang="zh-CN" altLang="en-US" sz="2800" dirty="0">
                <a:solidFill>
                  <a:srgbClr val="FF0000"/>
                </a:solidFill>
                <a:latin typeface="Arial Black" panose="020B0A04020102020204" pitchFamily="34" charset="0"/>
              </a:endParaRPr>
            </a:p>
          </p:txBody>
        </p:sp>
        <p:sp>
          <p:nvSpPr>
            <p:cNvPr id="34" name="矩形 33"/>
            <p:cNvSpPr/>
            <p:nvPr/>
          </p:nvSpPr>
          <p:spPr>
            <a:xfrm>
              <a:off x="4094169" y="140461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1</a:t>
              </a:r>
              <a:endParaRPr lang="zh-CN" altLang="en-US" sz="2800" dirty="0">
                <a:solidFill>
                  <a:srgbClr val="FF0000"/>
                </a:solidFill>
                <a:latin typeface="Arial Black" panose="020B0A04020102020204" pitchFamily="34" charset="0"/>
              </a:endParaRPr>
            </a:p>
          </p:txBody>
        </p:sp>
        <p:sp>
          <p:nvSpPr>
            <p:cNvPr id="35" name="矩形 34"/>
            <p:cNvSpPr/>
            <p:nvPr/>
          </p:nvSpPr>
          <p:spPr>
            <a:xfrm>
              <a:off x="5109232"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2</a:t>
              </a:r>
              <a:endParaRPr lang="zh-CN" altLang="en-US" sz="2800" dirty="0">
                <a:solidFill>
                  <a:srgbClr val="FF0000"/>
                </a:solidFill>
                <a:latin typeface="Arial Black" panose="020B0A04020102020204" pitchFamily="34" charset="0"/>
              </a:endParaRPr>
            </a:p>
          </p:txBody>
        </p:sp>
        <p:sp>
          <p:nvSpPr>
            <p:cNvPr id="36" name="矩形 35"/>
            <p:cNvSpPr/>
            <p:nvPr/>
          </p:nvSpPr>
          <p:spPr>
            <a:xfrm>
              <a:off x="6110393" y="140461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3</a:t>
              </a:r>
              <a:endParaRPr lang="zh-CN" altLang="en-US" sz="2800" dirty="0">
                <a:solidFill>
                  <a:srgbClr val="FF0000"/>
                </a:solidFill>
                <a:latin typeface="Arial Black" panose="020B0A04020102020204" pitchFamily="34" charset="0"/>
              </a:endParaRPr>
            </a:p>
          </p:txBody>
        </p:sp>
        <p:sp>
          <p:nvSpPr>
            <p:cNvPr id="37" name="矩形 36"/>
            <p:cNvSpPr/>
            <p:nvPr/>
          </p:nvSpPr>
          <p:spPr>
            <a:xfrm>
              <a:off x="7139358"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4</a:t>
              </a:r>
              <a:endParaRPr lang="zh-CN" altLang="en-US" sz="2800" dirty="0">
                <a:solidFill>
                  <a:srgbClr val="FF0000"/>
                </a:solidFill>
                <a:latin typeface="Arial Black" panose="020B0A04020102020204" pitchFamily="34" charset="0"/>
              </a:endParaRPr>
            </a:p>
          </p:txBody>
        </p:sp>
        <p:sp>
          <p:nvSpPr>
            <p:cNvPr id="38" name="矩形 37"/>
            <p:cNvSpPr/>
            <p:nvPr/>
          </p:nvSpPr>
          <p:spPr>
            <a:xfrm>
              <a:off x="8107183"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5</a:t>
              </a:r>
              <a:endParaRPr lang="zh-CN" altLang="en-US" sz="2800" dirty="0">
                <a:solidFill>
                  <a:srgbClr val="FF0000"/>
                </a:solidFill>
                <a:latin typeface="Arial Black" panose="020B0A04020102020204" pitchFamily="34" charset="0"/>
              </a:endParaRPr>
            </a:p>
          </p:txBody>
        </p:sp>
        <p:sp>
          <p:nvSpPr>
            <p:cNvPr id="39" name="矩形 38"/>
            <p:cNvSpPr/>
            <p:nvPr/>
          </p:nvSpPr>
          <p:spPr>
            <a:xfrm>
              <a:off x="9169484"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6</a:t>
              </a:r>
              <a:endParaRPr lang="zh-CN" altLang="en-US" sz="2800" dirty="0">
                <a:solidFill>
                  <a:srgbClr val="FF0000"/>
                </a:solidFill>
                <a:latin typeface="Arial Black" panose="020B0A04020102020204" pitchFamily="34" charset="0"/>
              </a:endParaRPr>
            </a:p>
          </p:txBody>
        </p:sp>
      </p:grpSp>
      <p:grpSp>
        <p:nvGrpSpPr>
          <p:cNvPr id="41" name="组合 40"/>
          <p:cNvGrpSpPr/>
          <p:nvPr/>
        </p:nvGrpSpPr>
        <p:grpSpPr>
          <a:xfrm>
            <a:off x="2930823" y="2637706"/>
            <a:ext cx="6912768" cy="550800"/>
            <a:chOff x="3079106" y="1404613"/>
            <a:chExt cx="6513892" cy="550800"/>
          </a:xfrm>
        </p:grpSpPr>
        <p:sp>
          <p:nvSpPr>
            <p:cNvPr id="42" name="矩形 41"/>
            <p:cNvSpPr/>
            <p:nvPr/>
          </p:nvSpPr>
          <p:spPr>
            <a:xfrm>
              <a:off x="3079106" y="1432193"/>
              <a:ext cx="536551"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-7</a:t>
              </a:r>
              <a:endParaRPr lang="zh-CN" altLang="en-US" sz="2800" dirty="0">
                <a:solidFill>
                  <a:srgbClr val="0071C1"/>
                </a:solidFill>
                <a:latin typeface="Arial Black" panose="020B0A04020102020204" pitchFamily="34" charset="0"/>
              </a:endParaRPr>
            </a:p>
          </p:txBody>
        </p:sp>
        <p:sp>
          <p:nvSpPr>
            <p:cNvPr id="43" name="矩形 42"/>
            <p:cNvSpPr/>
            <p:nvPr/>
          </p:nvSpPr>
          <p:spPr>
            <a:xfrm>
              <a:off x="4094168" y="1404613"/>
              <a:ext cx="617378"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-6</a:t>
              </a:r>
              <a:endParaRPr lang="zh-CN" altLang="en-US" sz="2800" dirty="0">
                <a:solidFill>
                  <a:srgbClr val="0071C1"/>
                </a:solidFill>
                <a:latin typeface="Arial Black" panose="020B0A04020102020204" pitchFamily="34" charset="0"/>
              </a:endParaRPr>
            </a:p>
          </p:txBody>
        </p:sp>
        <p:sp>
          <p:nvSpPr>
            <p:cNvPr id="44" name="矩形 43"/>
            <p:cNvSpPr/>
            <p:nvPr/>
          </p:nvSpPr>
          <p:spPr>
            <a:xfrm>
              <a:off x="5109231" y="1415384"/>
              <a:ext cx="643576"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-5</a:t>
              </a:r>
              <a:endParaRPr lang="zh-CN" altLang="en-US" sz="2800" dirty="0">
                <a:solidFill>
                  <a:srgbClr val="0071C1"/>
                </a:solidFill>
                <a:latin typeface="Arial Black" panose="020B0A04020102020204" pitchFamily="34" charset="0"/>
              </a:endParaRPr>
            </a:p>
          </p:txBody>
        </p:sp>
        <p:sp>
          <p:nvSpPr>
            <p:cNvPr id="45" name="矩形 44"/>
            <p:cNvSpPr/>
            <p:nvPr/>
          </p:nvSpPr>
          <p:spPr>
            <a:xfrm>
              <a:off x="6110393" y="1404613"/>
              <a:ext cx="707180"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-4</a:t>
              </a:r>
              <a:endParaRPr lang="zh-CN" altLang="en-US" sz="2800" dirty="0">
                <a:solidFill>
                  <a:srgbClr val="0071C1"/>
                </a:solidFill>
                <a:latin typeface="Arial Black" panose="020B0A04020102020204" pitchFamily="34" charset="0"/>
              </a:endParaRPr>
            </a:p>
          </p:txBody>
        </p:sp>
        <p:sp>
          <p:nvSpPr>
            <p:cNvPr id="46" name="矩形 45"/>
            <p:cNvSpPr/>
            <p:nvPr/>
          </p:nvSpPr>
          <p:spPr>
            <a:xfrm>
              <a:off x="7139357" y="1415384"/>
              <a:ext cx="609845"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-3</a:t>
              </a:r>
              <a:endParaRPr lang="zh-CN" altLang="en-US" sz="2800" dirty="0">
                <a:solidFill>
                  <a:srgbClr val="0071C1"/>
                </a:solidFill>
                <a:latin typeface="Arial Black" panose="020B0A04020102020204" pitchFamily="34" charset="0"/>
              </a:endParaRPr>
            </a:p>
          </p:txBody>
        </p:sp>
        <p:sp>
          <p:nvSpPr>
            <p:cNvPr id="47" name="矩形 46"/>
            <p:cNvSpPr/>
            <p:nvPr/>
          </p:nvSpPr>
          <p:spPr>
            <a:xfrm>
              <a:off x="8107182" y="1415384"/>
              <a:ext cx="591962"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-2</a:t>
              </a:r>
              <a:endParaRPr lang="zh-CN" altLang="en-US" sz="2800" dirty="0">
                <a:solidFill>
                  <a:srgbClr val="0071C1"/>
                </a:solidFill>
                <a:latin typeface="Arial Black" panose="020B0A04020102020204" pitchFamily="34" charset="0"/>
              </a:endParaRPr>
            </a:p>
          </p:txBody>
        </p:sp>
        <p:sp>
          <p:nvSpPr>
            <p:cNvPr id="48" name="矩形 47"/>
            <p:cNvSpPr/>
            <p:nvPr/>
          </p:nvSpPr>
          <p:spPr>
            <a:xfrm>
              <a:off x="9057125" y="1415384"/>
              <a:ext cx="535873"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-1</a:t>
              </a:r>
              <a:endParaRPr lang="zh-CN" altLang="en-US" sz="2800" dirty="0">
                <a:solidFill>
                  <a:srgbClr val="0071C1"/>
                </a:solidFill>
                <a:latin typeface="Arial Black" panose="020B0A04020102020204" pitchFamily="34" charset="0"/>
              </a:endParaRPr>
            </a:p>
          </p:txBody>
        </p:sp>
      </p:grpSp>
      <p:sp>
        <p:nvSpPr>
          <p:cNvPr id="54" name="文本框 53"/>
          <p:cNvSpPr txBox="1"/>
          <p:nvPr/>
        </p:nvSpPr>
        <p:spPr>
          <a:xfrm>
            <a:off x="523254" y="3698662"/>
            <a:ext cx="1728192" cy="523220"/>
          </a:xfrm>
          <a:prstGeom prst="rect">
            <a:avLst/>
          </a:prstGeom>
          <a:noFill/>
        </p:spPr>
        <p:txBody>
          <a:bodyPr wrap="square" rtlCol="0">
            <a:spAutoFit/>
          </a:bodyPr>
          <a:lstStyle/>
          <a:p>
            <a:r>
              <a:rPr lang="en-US" altLang="zh-CN" sz="2800" b="1" dirty="0">
                <a:solidFill>
                  <a:srgbClr val="FF0000"/>
                </a:solidFill>
                <a:latin typeface="微软雅黑" panose="020B0503020204020204" pitchFamily="34" charset="-122"/>
                <a:ea typeface="微软雅黑" panose="020B0503020204020204" pitchFamily="34" charset="-122"/>
              </a:rPr>
              <a:t>3</a:t>
            </a:r>
            <a:r>
              <a:rPr lang="zh-CN" altLang="en-US" sz="2800" b="1" dirty="0">
                <a:solidFill>
                  <a:srgbClr val="FF0000"/>
                </a:solidFill>
                <a:latin typeface="微软雅黑" panose="020B0503020204020204" pitchFamily="34" charset="-122"/>
                <a:ea typeface="微软雅黑" panose="020B0503020204020204" pitchFamily="34" charset="-122"/>
              </a:rPr>
              <a:t>个参数 </a:t>
            </a:r>
          </a:p>
        </p:txBody>
      </p:sp>
      <p:sp>
        <p:nvSpPr>
          <p:cNvPr id="56" name="矩形 55"/>
          <p:cNvSpPr/>
          <p:nvPr/>
        </p:nvSpPr>
        <p:spPr>
          <a:xfrm>
            <a:off x="7870181" y="3244149"/>
            <a:ext cx="1420582" cy="523220"/>
          </a:xfrm>
          <a:prstGeom prst="rect">
            <a:avLst/>
          </a:prstGeom>
        </p:spPr>
        <p:txBody>
          <a:bodyPr wrap="none">
            <a:spAutoFit/>
          </a:bodyPr>
          <a:lstStyle/>
          <a:p>
            <a:r>
              <a:rPr lang="en-US" altLang="zh-CN" sz="2800" dirty="0">
                <a:latin typeface="Arial Black" panose="020B0A04020102020204" pitchFamily="34" charset="0"/>
              </a:rPr>
              <a:t>a[3::2]</a:t>
            </a:r>
            <a:endParaRPr lang="zh-CN" altLang="en-US" sz="2800" dirty="0">
              <a:latin typeface="Arial Black" panose="020B0A04020102020204" pitchFamily="34" charset="0"/>
            </a:endParaRPr>
          </a:p>
        </p:txBody>
      </p:sp>
      <p:sp>
        <p:nvSpPr>
          <p:cNvPr id="57" name="矩形 56"/>
          <p:cNvSpPr/>
          <p:nvPr/>
        </p:nvSpPr>
        <p:spPr>
          <a:xfrm>
            <a:off x="10068278" y="3213770"/>
            <a:ext cx="1420582"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[7,11 ]</a:t>
            </a:r>
            <a:endParaRPr lang="zh-CN" altLang="en-US" sz="2800" dirty="0">
              <a:solidFill>
                <a:srgbClr val="FF0000"/>
              </a:solidFill>
              <a:latin typeface="Arial Black" panose="020B0A04020102020204" pitchFamily="34" charset="0"/>
            </a:endParaRPr>
          </a:p>
        </p:txBody>
      </p:sp>
      <p:sp>
        <p:nvSpPr>
          <p:cNvPr id="58" name="矩形 57"/>
          <p:cNvSpPr/>
          <p:nvPr/>
        </p:nvSpPr>
        <p:spPr>
          <a:xfrm>
            <a:off x="7874106" y="3753103"/>
            <a:ext cx="1540806" cy="523220"/>
          </a:xfrm>
          <a:prstGeom prst="rect">
            <a:avLst/>
          </a:prstGeom>
        </p:spPr>
        <p:txBody>
          <a:bodyPr wrap="none">
            <a:spAutoFit/>
          </a:bodyPr>
          <a:lstStyle/>
          <a:p>
            <a:r>
              <a:rPr lang="en-US" altLang="zh-CN" sz="2800" dirty="0">
                <a:latin typeface="Arial Black" panose="020B0A04020102020204" pitchFamily="34" charset="0"/>
              </a:rPr>
              <a:t>a[-3::2]</a:t>
            </a:r>
            <a:endParaRPr lang="zh-CN" altLang="en-US" sz="2800" dirty="0">
              <a:latin typeface="Arial Black" panose="020B0A04020102020204" pitchFamily="34" charset="0"/>
            </a:endParaRPr>
          </a:p>
        </p:txBody>
      </p:sp>
      <p:sp>
        <p:nvSpPr>
          <p:cNvPr id="59" name="矩形 58"/>
          <p:cNvSpPr/>
          <p:nvPr/>
        </p:nvSpPr>
        <p:spPr>
          <a:xfrm>
            <a:off x="10101171" y="3742267"/>
            <a:ext cx="1420582"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[9,13 ]</a:t>
            </a:r>
            <a:endParaRPr lang="zh-CN" altLang="en-US" sz="2800" dirty="0">
              <a:solidFill>
                <a:srgbClr val="FF0000"/>
              </a:solidFill>
              <a:latin typeface="Arial Black" panose="020B0A04020102020204" pitchFamily="34" charset="0"/>
            </a:endParaRPr>
          </a:p>
        </p:txBody>
      </p:sp>
      <p:sp>
        <p:nvSpPr>
          <p:cNvPr id="60" name="矩形 59"/>
          <p:cNvSpPr/>
          <p:nvPr/>
        </p:nvSpPr>
        <p:spPr>
          <a:xfrm>
            <a:off x="7879544" y="4369361"/>
            <a:ext cx="1661032" cy="523220"/>
          </a:xfrm>
          <a:prstGeom prst="rect">
            <a:avLst/>
          </a:prstGeom>
        </p:spPr>
        <p:txBody>
          <a:bodyPr wrap="none">
            <a:spAutoFit/>
          </a:bodyPr>
          <a:lstStyle/>
          <a:p>
            <a:r>
              <a:rPr lang="en-US" altLang="zh-CN" sz="2800" dirty="0">
                <a:latin typeface="Arial Black" panose="020B0A04020102020204" pitchFamily="34" charset="0"/>
              </a:rPr>
              <a:t>a[-3::-2]</a:t>
            </a:r>
            <a:endParaRPr lang="zh-CN" altLang="en-US" sz="2800" dirty="0">
              <a:latin typeface="Arial Black" panose="020B0A04020102020204" pitchFamily="34" charset="0"/>
            </a:endParaRPr>
          </a:p>
        </p:txBody>
      </p:sp>
      <p:sp>
        <p:nvSpPr>
          <p:cNvPr id="61" name="矩形 60"/>
          <p:cNvSpPr/>
          <p:nvPr/>
        </p:nvSpPr>
        <p:spPr>
          <a:xfrm>
            <a:off x="10136994" y="4386917"/>
            <a:ext cx="1540806"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[9,5,1 ]</a:t>
            </a:r>
            <a:endParaRPr lang="zh-CN" altLang="en-US" sz="2800" dirty="0">
              <a:solidFill>
                <a:srgbClr val="FF0000"/>
              </a:solidFill>
              <a:latin typeface="Arial Black" panose="020B0A04020102020204" pitchFamily="34" charset="0"/>
            </a:endParaRPr>
          </a:p>
        </p:txBody>
      </p:sp>
      <p:sp>
        <p:nvSpPr>
          <p:cNvPr id="62" name="矩形 61"/>
          <p:cNvSpPr/>
          <p:nvPr/>
        </p:nvSpPr>
        <p:spPr>
          <a:xfrm>
            <a:off x="7890068" y="4859415"/>
            <a:ext cx="1420582" cy="523220"/>
          </a:xfrm>
          <a:prstGeom prst="rect">
            <a:avLst/>
          </a:prstGeom>
        </p:spPr>
        <p:txBody>
          <a:bodyPr wrap="none">
            <a:spAutoFit/>
          </a:bodyPr>
          <a:lstStyle/>
          <a:p>
            <a:r>
              <a:rPr lang="en-US" altLang="zh-CN" sz="2800" dirty="0">
                <a:latin typeface="Arial Black" panose="020B0A04020102020204" pitchFamily="34" charset="0"/>
              </a:rPr>
              <a:t>a[:3:2]</a:t>
            </a:r>
            <a:endParaRPr lang="zh-CN" altLang="en-US" sz="2800" dirty="0">
              <a:latin typeface="Arial Black" panose="020B0A04020102020204" pitchFamily="34" charset="0"/>
            </a:endParaRPr>
          </a:p>
        </p:txBody>
      </p:sp>
      <p:sp>
        <p:nvSpPr>
          <p:cNvPr id="63" name="矩形 62"/>
          <p:cNvSpPr/>
          <p:nvPr/>
        </p:nvSpPr>
        <p:spPr>
          <a:xfrm>
            <a:off x="10144788" y="4906632"/>
            <a:ext cx="1181734"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[1,5 ]</a:t>
            </a:r>
            <a:endParaRPr lang="zh-CN" altLang="en-US" sz="2800" dirty="0">
              <a:solidFill>
                <a:srgbClr val="FF0000"/>
              </a:solidFill>
              <a:latin typeface="Arial Black" panose="020B0A04020102020204" pitchFamily="34" charset="0"/>
            </a:endParaRPr>
          </a:p>
        </p:txBody>
      </p:sp>
      <p:sp>
        <p:nvSpPr>
          <p:cNvPr id="64" name="矩形 63"/>
          <p:cNvSpPr/>
          <p:nvPr/>
        </p:nvSpPr>
        <p:spPr>
          <a:xfrm>
            <a:off x="7888955" y="5380478"/>
            <a:ext cx="1540806" cy="523220"/>
          </a:xfrm>
          <a:prstGeom prst="rect">
            <a:avLst/>
          </a:prstGeom>
        </p:spPr>
        <p:txBody>
          <a:bodyPr wrap="none">
            <a:spAutoFit/>
          </a:bodyPr>
          <a:lstStyle/>
          <a:p>
            <a:r>
              <a:rPr lang="en-US" altLang="zh-CN" sz="2800" dirty="0">
                <a:latin typeface="Arial Black" panose="020B0A04020102020204" pitchFamily="34" charset="0"/>
              </a:rPr>
              <a:t>a[:-3:2]</a:t>
            </a:r>
            <a:endParaRPr lang="zh-CN" altLang="en-US" sz="2800" dirty="0">
              <a:latin typeface="Arial Black" panose="020B0A04020102020204" pitchFamily="34" charset="0"/>
            </a:endParaRPr>
          </a:p>
        </p:txBody>
      </p:sp>
      <p:sp>
        <p:nvSpPr>
          <p:cNvPr id="65" name="矩形 64"/>
          <p:cNvSpPr/>
          <p:nvPr/>
        </p:nvSpPr>
        <p:spPr>
          <a:xfrm>
            <a:off x="10177044" y="5413532"/>
            <a:ext cx="1181734"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[1,5 ]</a:t>
            </a:r>
            <a:endParaRPr lang="zh-CN" altLang="en-US" sz="2800" dirty="0">
              <a:solidFill>
                <a:srgbClr val="FF0000"/>
              </a:solidFill>
              <a:latin typeface="Arial Black" panose="020B0A04020102020204" pitchFamily="34" charset="0"/>
            </a:endParaRPr>
          </a:p>
        </p:txBody>
      </p:sp>
      <p:sp>
        <p:nvSpPr>
          <p:cNvPr id="66" name="矩形 65"/>
          <p:cNvSpPr/>
          <p:nvPr/>
        </p:nvSpPr>
        <p:spPr>
          <a:xfrm>
            <a:off x="7911243" y="5976344"/>
            <a:ext cx="1661032" cy="523220"/>
          </a:xfrm>
          <a:prstGeom prst="rect">
            <a:avLst/>
          </a:prstGeom>
        </p:spPr>
        <p:txBody>
          <a:bodyPr wrap="none">
            <a:spAutoFit/>
          </a:bodyPr>
          <a:lstStyle/>
          <a:p>
            <a:r>
              <a:rPr lang="en-US" altLang="zh-CN" sz="2800" dirty="0">
                <a:latin typeface="Arial Black" panose="020B0A04020102020204" pitchFamily="34" charset="0"/>
              </a:rPr>
              <a:t>a[:-3:-2]</a:t>
            </a:r>
            <a:endParaRPr lang="zh-CN" altLang="en-US" sz="2800" dirty="0">
              <a:latin typeface="Arial Black" panose="020B0A04020102020204" pitchFamily="34" charset="0"/>
            </a:endParaRPr>
          </a:p>
        </p:txBody>
      </p:sp>
      <p:sp>
        <p:nvSpPr>
          <p:cNvPr id="67" name="矩形 66"/>
          <p:cNvSpPr/>
          <p:nvPr/>
        </p:nvSpPr>
        <p:spPr>
          <a:xfrm>
            <a:off x="10275639" y="5976344"/>
            <a:ext cx="1061509"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[13 ]</a:t>
            </a:r>
            <a:endParaRPr lang="zh-CN" altLang="en-US" sz="2800" dirty="0">
              <a:solidFill>
                <a:srgbClr val="FF0000"/>
              </a:solidFill>
              <a:latin typeface="Arial Black" panose="020B0A04020102020204" pitchFamily="34" charset="0"/>
            </a:endParaRPr>
          </a:p>
        </p:txBody>
      </p:sp>
      <p:sp>
        <p:nvSpPr>
          <p:cNvPr id="68" name="矩形 67"/>
          <p:cNvSpPr/>
          <p:nvPr/>
        </p:nvSpPr>
        <p:spPr>
          <a:xfrm>
            <a:off x="3173121" y="3407134"/>
            <a:ext cx="1659429" cy="523220"/>
          </a:xfrm>
          <a:prstGeom prst="rect">
            <a:avLst/>
          </a:prstGeom>
        </p:spPr>
        <p:txBody>
          <a:bodyPr wrap="none">
            <a:spAutoFit/>
          </a:bodyPr>
          <a:lstStyle/>
          <a:p>
            <a:r>
              <a:rPr lang="en-US" altLang="zh-CN" sz="2800" dirty="0">
                <a:latin typeface="Arial Black" panose="020B0A04020102020204" pitchFamily="34" charset="0"/>
              </a:rPr>
              <a:t>a[1:5:2]</a:t>
            </a:r>
            <a:endParaRPr lang="zh-CN" altLang="en-US" sz="2800" dirty="0">
              <a:latin typeface="Arial Black" panose="020B0A04020102020204" pitchFamily="34" charset="0"/>
            </a:endParaRPr>
          </a:p>
        </p:txBody>
      </p:sp>
      <p:sp>
        <p:nvSpPr>
          <p:cNvPr id="69" name="矩形 68"/>
          <p:cNvSpPr/>
          <p:nvPr/>
        </p:nvSpPr>
        <p:spPr>
          <a:xfrm>
            <a:off x="5314038" y="3364336"/>
            <a:ext cx="1181734"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[3,7 ]</a:t>
            </a:r>
            <a:endParaRPr lang="zh-CN" altLang="en-US" sz="2800" dirty="0">
              <a:solidFill>
                <a:srgbClr val="FF0000"/>
              </a:solidFill>
              <a:latin typeface="Arial Black" panose="020B0A04020102020204" pitchFamily="34" charset="0"/>
            </a:endParaRPr>
          </a:p>
        </p:txBody>
      </p:sp>
      <p:sp>
        <p:nvSpPr>
          <p:cNvPr id="70" name="矩形 69"/>
          <p:cNvSpPr/>
          <p:nvPr/>
        </p:nvSpPr>
        <p:spPr>
          <a:xfrm>
            <a:off x="3228288" y="4971714"/>
            <a:ext cx="1779654" cy="523220"/>
          </a:xfrm>
          <a:prstGeom prst="rect">
            <a:avLst/>
          </a:prstGeom>
        </p:spPr>
        <p:txBody>
          <a:bodyPr wrap="none">
            <a:spAutoFit/>
          </a:bodyPr>
          <a:lstStyle/>
          <a:p>
            <a:r>
              <a:rPr lang="en-US" altLang="zh-CN" sz="2800" dirty="0">
                <a:latin typeface="Arial Black" panose="020B0A04020102020204" pitchFamily="34" charset="0"/>
              </a:rPr>
              <a:t>a[-1:5:2]</a:t>
            </a:r>
            <a:endParaRPr lang="zh-CN" altLang="en-US" sz="2800" dirty="0">
              <a:latin typeface="Arial Black" panose="020B0A04020102020204" pitchFamily="34" charset="0"/>
            </a:endParaRPr>
          </a:p>
        </p:txBody>
      </p:sp>
      <p:sp>
        <p:nvSpPr>
          <p:cNvPr id="71" name="矩形 70"/>
          <p:cNvSpPr/>
          <p:nvPr/>
        </p:nvSpPr>
        <p:spPr>
          <a:xfrm>
            <a:off x="5407340" y="4947299"/>
            <a:ext cx="583814"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 ]</a:t>
            </a:r>
            <a:endParaRPr lang="zh-CN" altLang="en-US" sz="2800" dirty="0">
              <a:solidFill>
                <a:srgbClr val="FF0000"/>
              </a:solidFill>
              <a:latin typeface="Arial Black" panose="020B0A04020102020204" pitchFamily="34" charset="0"/>
            </a:endParaRPr>
          </a:p>
        </p:txBody>
      </p:sp>
      <p:sp>
        <p:nvSpPr>
          <p:cNvPr id="72" name="矩形 71"/>
          <p:cNvSpPr/>
          <p:nvPr/>
        </p:nvSpPr>
        <p:spPr>
          <a:xfrm>
            <a:off x="3216174" y="5557075"/>
            <a:ext cx="1899879" cy="523220"/>
          </a:xfrm>
          <a:prstGeom prst="rect">
            <a:avLst/>
          </a:prstGeom>
        </p:spPr>
        <p:txBody>
          <a:bodyPr wrap="none">
            <a:spAutoFit/>
          </a:bodyPr>
          <a:lstStyle/>
          <a:p>
            <a:r>
              <a:rPr lang="en-US" altLang="zh-CN" sz="2800" dirty="0">
                <a:latin typeface="Arial Black" panose="020B0A04020102020204" pitchFamily="34" charset="0"/>
              </a:rPr>
              <a:t>a[-1:-5:2]</a:t>
            </a:r>
            <a:endParaRPr lang="zh-CN" altLang="en-US" sz="2800" dirty="0">
              <a:latin typeface="Arial Black" panose="020B0A04020102020204" pitchFamily="34" charset="0"/>
            </a:endParaRPr>
          </a:p>
        </p:txBody>
      </p:sp>
      <p:sp>
        <p:nvSpPr>
          <p:cNvPr id="73" name="矩形 72"/>
          <p:cNvSpPr/>
          <p:nvPr/>
        </p:nvSpPr>
        <p:spPr>
          <a:xfrm>
            <a:off x="5426385" y="5570870"/>
            <a:ext cx="583814"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 ]</a:t>
            </a:r>
            <a:endParaRPr lang="zh-CN" altLang="en-US" sz="2800" dirty="0">
              <a:solidFill>
                <a:srgbClr val="FF0000"/>
              </a:solidFill>
              <a:latin typeface="Arial Black" panose="020B0A04020102020204" pitchFamily="34" charset="0"/>
            </a:endParaRPr>
          </a:p>
        </p:txBody>
      </p:sp>
      <p:sp>
        <p:nvSpPr>
          <p:cNvPr id="74" name="矩形 73"/>
          <p:cNvSpPr/>
          <p:nvPr/>
        </p:nvSpPr>
        <p:spPr>
          <a:xfrm>
            <a:off x="3141710" y="6002918"/>
            <a:ext cx="2020105" cy="523220"/>
          </a:xfrm>
          <a:prstGeom prst="rect">
            <a:avLst/>
          </a:prstGeom>
        </p:spPr>
        <p:txBody>
          <a:bodyPr wrap="none">
            <a:spAutoFit/>
          </a:bodyPr>
          <a:lstStyle/>
          <a:p>
            <a:r>
              <a:rPr lang="en-US" altLang="zh-CN" sz="2800" dirty="0">
                <a:latin typeface="Arial Black" panose="020B0A04020102020204" pitchFamily="34" charset="0"/>
              </a:rPr>
              <a:t>a[-1:-5:-2]</a:t>
            </a:r>
            <a:endParaRPr lang="zh-CN" altLang="en-US" sz="2800" dirty="0">
              <a:latin typeface="Arial Black" panose="020B0A04020102020204" pitchFamily="34" charset="0"/>
            </a:endParaRPr>
          </a:p>
        </p:txBody>
      </p:sp>
      <p:sp>
        <p:nvSpPr>
          <p:cNvPr id="75" name="矩形 74"/>
          <p:cNvSpPr/>
          <p:nvPr/>
        </p:nvSpPr>
        <p:spPr>
          <a:xfrm>
            <a:off x="5278805" y="5994246"/>
            <a:ext cx="1420582"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[13,9 ]</a:t>
            </a:r>
            <a:endParaRPr lang="zh-CN" altLang="en-US" sz="2800" dirty="0">
              <a:solidFill>
                <a:srgbClr val="FF0000"/>
              </a:solidFill>
              <a:latin typeface="Arial Black" panose="020B0A04020102020204" pitchFamily="34" charset="0"/>
            </a:endParaRPr>
          </a:p>
        </p:txBody>
      </p:sp>
      <p:sp>
        <p:nvSpPr>
          <p:cNvPr id="76" name="矩形 75"/>
          <p:cNvSpPr/>
          <p:nvPr/>
        </p:nvSpPr>
        <p:spPr>
          <a:xfrm>
            <a:off x="3217756" y="3924048"/>
            <a:ext cx="1779654" cy="523220"/>
          </a:xfrm>
          <a:prstGeom prst="rect">
            <a:avLst/>
          </a:prstGeom>
        </p:spPr>
        <p:txBody>
          <a:bodyPr wrap="none">
            <a:spAutoFit/>
          </a:bodyPr>
          <a:lstStyle/>
          <a:p>
            <a:r>
              <a:rPr lang="en-US" altLang="zh-CN" sz="2800" dirty="0">
                <a:latin typeface="Arial Black" panose="020B0A04020102020204" pitchFamily="34" charset="0"/>
              </a:rPr>
              <a:t>a[1:-5:2]</a:t>
            </a:r>
            <a:endParaRPr lang="zh-CN" altLang="en-US" sz="2800" dirty="0">
              <a:latin typeface="Arial Black" panose="020B0A04020102020204" pitchFamily="34" charset="0"/>
            </a:endParaRPr>
          </a:p>
        </p:txBody>
      </p:sp>
      <p:sp>
        <p:nvSpPr>
          <p:cNvPr id="77" name="矩形 76"/>
          <p:cNvSpPr/>
          <p:nvPr/>
        </p:nvSpPr>
        <p:spPr>
          <a:xfrm>
            <a:off x="5420530" y="3918538"/>
            <a:ext cx="822661"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[ 3]</a:t>
            </a:r>
            <a:endParaRPr lang="zh-CN" altLang="en-US" sz="2800" dirty="0">
              <a:solidFill>
                <a:srgbClr val="FF0000"/>
              </a:solidFill>
              <a:latin typeface="Arial Black" panose="020B0A04020102020204" pitchFamily="34" charset="0"/>
            </a:endParaRPr>
          </a:p>
        </p:txBody>
      </p:sp>
      <p:sp>
        <p:nvSpPr>
          <p:cNvPr id="78" name="矩形 77"/>
          <p:cNvSpPr/>
          <p:nvPr/>
        </p:nvSpPr>
        <p:spPr>
          <a:xfrm>
            <a:off x="3217756" y="4387597"/>
            <a:ext cx="1899879" cy="523220"/>
          </a:xfrm>
          <a:prstGeom prst="rect">
            <a:avLst/>
          </a:prstGeom>
        </p:spPr>
        <p:txBody>
          <a:bodyPr wrap="none">
            <a:spAutoFit/>
          </a:bodyPr>
          <a:lstStyle/>
          <a:p>
            <a:r>
              <a:rPr lang="en-US" altLang="zh-CN" sz="2800" dirty="0">
                <a:latin typeface="Arial Black" panose="020B0A04020102020204" pitchFamily="34" charset="0"/>
              </a:rPr>
              <a:t>a[1:-5:-2]</a:t>
            </a:r>
            <a:endParaRPr lang="zh-CN" altLang="en-US" sz="2800" dirty="0">
              <a:latin typeface="Arial Black" panose="020B0A04020102020204" pitchFamily="34" charset="0"/>
            </a:endParaRPr>
          </a:p>
        </p:txBody>
      </p:sp>
      <p:sp>
        <p:nvSpPr>
          <p:cNvPr id="79" name="矩形 78"/>
          <p:cNvSpPr/>
          <p:nvPr/>
        </p:nvSpPr>
        <p:spPr>
          <a:xfrm>
            <a:off x="5382841" y="4341963"/>
            <a:ext cx="583814"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 ]</a:t>
            </a:r>
            <a:endParaRPr lang="zh-CN" altLang="en-US" sz="2800" dirty="0">
              <a:solidFill>
                <a:srgbClr val="FF0000"/>
              </a:solidFill>
              <a:latin typeface="Arial Black" panose="020B0A040201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ppt_x"/>
                                          </p:val>
                                        </p:tav>
                                        <p:tav tm="100000">
                                          <p:val>
                                            <p:strVal val="#ppt_x"/>
                                          </p:val>
                                        </p:tav>
                                      </p:tavLst>
                                    </p:anim>
                                    <p:anim calcmode="lin" valueType="num">
                                      <p:cBhvr additive="base">
                                        <p:cTn id="8"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8"/>
                                        </p:tgtEl>
                                        <p:attrNameLst>
                                          <p:attrName>style.visibility</p:attrName>
                                        </p:attrNameLst>
                                      </p:cBhvr>
                                      <p:to>
                                        <p:strVal val="visible"/>
                                      </p:to>
                                    </p:set>
                                    <p:animEffect transition="in" filter="fade">
                                      <p:cBhvr>
                                        <p:cTn id="13" dur="500"/>
                                        <p:tgtEl>
                                          <p:spTgt spid="6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9"/>
                                        </p:tgtEl>
                                        <p:attrNameLst>
                                          <p:attrName>style.visibility</p:attrName>
                                        </p:attrNameLst>
                                      </p:cBhvr>
                                      <p:to>
                                        <p:strVal val="visible"/>
                                      </p:to>
                                    </p:set>
                                    <p:animEffect transition="in" filter="fade">
                                      <p:cBhvr>
                                        <p:cTn id="18" dur="500"/>
                                        <p:tgtEl>
                                          <p:spTgt spid="6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6"/>
                                        </p:tgtEl>
                                        <p:attrNameLst>
                                          <p:attrName>style.visibility</p:attrName>
                                        </p:attrNameLst>
                                      </p:cBhvr>
                                      <p:to>
                                        <p:strVal val="visible"/>
                                      </p:to>
                                    </p:set>
                                    <p:animEffect transition="in" filter="fade">
                                      <p:cBhvr>
                                        <p:cTn id="23" dur="500"/>
                                        <p:tgtEl>
                                          <p:spTgt spid="7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7"/>
                                        </p:tgtEl>
                                        <p:attrNameLst>
                                          <p:attrName>style.visibility</p:attrName>
                                        </p:attrNameLst>
                                      </p:cBhvr>
                                      <p:to>
                                        <p:strVal val="visible"/>
                                      </p:to>
                                    </p:set>
                                    <p:animEffect transition="in" filter="fade">
                                      <p:cBhvr>
                                        <p:cTn id="28" dur="500"/>
                                        <p:tgtEl>
                                          <p:spTgt spid="7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8"/>
                                        </p:tgtEl>
                                        <p:attrNameLst>
                                          <p:attrName>style.visibility</p:attrName>
                                        </p:attrNameLst>
                                      </p:cBhvr>
                                      <p:to>
                                        <p:strVal val="visible"/>
                                      </p:to>
                                    </p:set>
                                    <p:animEffect transition="in" filter="fade">
                                      <p:cBhvr>
                                        <p:cTn id="33" dur="500"/>
                                        <p:tgtEl>
                                          <p:spTgt spid="7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9"/>
                                        </p:tgtEl>
                                        <p:attrNameLst>
                                          <p:attrName>style.visibility</p:attrName>
                                        </p:attrNameLst>
                                      </p:cBhvr>
                                      <p:to>
                                        <p:strVal val="visible"/>
                                      </p:to>
                                    </p:set>
                                    <p:animEffect transition="in" filter="fade">
                                      <p:cBhvr>
                                        <p:cTn id="38" dur="500"/>
                                        <p:tgtEl>
                                          <p:spTgt spid="7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0"/>
                                        </p:tgtEl>
                                        <p:attrNameLst>
                                          <p:attrName>style.visibility</p:attrName>
                                        </p:attrNameLst>
                                      </p:cBhvr>
                                      <p:to>
                                        <p:strVal val="visible"/>
                                      </p:to>
                                    </p:set>
                                    <p:animEffect transition="in" filter="fade">
                                      <p:cBhvr>
                                        <p:cTn id="43" dur="500"/>
                                        <p:tgtEl>
                                          <p:spTgt spid="7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71"/>
                                        </p:tgtEl>
                                        <p:attrNameLst>
                                          <p:attrName>style.visibility</p:attrName>
                                        </p:attrNameLst>
                                      </p:cBhvr>
                                      <p:to>
                                        <p:strVal val="visible"/>
                                      </p:to>
                                    </p:set>
                                    <p:animEffect transition="in" filter="fade">
                                      <p:cBhvr>
                                        <p:cTn id="48" dur="500"/>
                                        <p:tgtEl>
                                          <p:spTgt spid="7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2"/>
                                        </p:tgtEl>
                                        <p:attrNameLst>
                                          <p:attrName>style.visibility</p:attrName>
                                        </p:attrNameLst>
                                      </p:cBhvr>
                                      <p:to>
                                        <p:strVal val="visible"/>
                                      </p:to>
                                    </p:set>
                                    <p:animEffect transition="in" filter="fade">
                                      <p:cBhvr>
                                        <p:cTn id="53" dur="500"/>
                                        <p:tgtEl>
                                          <p:spTgt spid="7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73"/>
                                        </p:tgtEl>
                                        <p:attrNameLst>
                                          <p:attrName>style.visibility</p:attrName>
                                        </p:attrNameLst>
                                      </p:cBhvr>
                                      <p:to>
                                        <p:strVal val="visible"/>
                                      </p:to>
                                    </p:set>
                                    <p:animEffect transition="in" filter="fade">
                                      <p:cBhvr>
                                        <p:cTn id="58" dur="500"/>
                                        <p:tgtEl>
                                          <p:spTgt spid="7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74"/>
                                        </p:tgtEl>
                                        <p:attrNameLst>
                                          <p:attrName>style.visibility</p:attrName>
                                        </p:attrNameLst>
                                      </p:cBhvr>
                                      <p:to>
                                        <p:strVal val="visible"/>
                                      </p:to>
                                    </p:set>
                                    <p:animEffect transition="in" filter="fade">
                                      <p:cBhvr>
                                        <p:cTn id="63" dur="500"/>
                                        <p:tgtEl>
                                          <p:spTgt spid="7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75"/>
                                        </p:tgtEl>
                                        <p:attrNameLst>
                                          <p:attrName>style.visibility</p:attrName>
                                        </p:attrNameLst>
                                      </p:cBhvr>
                                      <p:to>
                                        <p:strVal val="visible"/>
                                      </p:to>
                                    </p:set>
                                    <p:animEffect transition="in" filter="fade">
                                      <p:cBhvr>
                                        <p:cTn id="68" dur="500"/>
                                        <p:tgtEl>
                                          <p:spTgt spid="7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56"/>
                                        </p:tgtEl>
                                        <p:attrNameLst>
                                          <p:attrName>style.visibility</p:attrName>
                                        </p:attrNameLst>
                                      </p:cBhvr>
                                      <p:to>
                                        <p:strVal val="visible"/>
                                      </p:to>
                                    </p:set>
                                    <p:animEffect transition="in" filter="fade">
                                      <p:cBhvr>
                                        <p:cTn id="73" dur="500"/>
                                        <p:tgtEl>
                                          <p:spTgt spid="56"/>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57"/>
                                        </p:tgtEl>
                                        <p:attrNameLst>
                                          <p:attrName>style.visibility</p:attrName>
                                        </p:attrNameLst>
                                      </p:cBhvr>
                                      <p:to>
                                        <p:strVal val="visible"/>
                                      </p:to>
                                    </p:set>
                                    <p:animEffect transition="in" filter="fade">
                                      <p:cBhvr>
                                        <p:cTn id="78" dur="500"/>
                                        <p:tgtEl>
                                          <p:spTgt spid="57"/>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58"/>
                                        </p:tgtEl>
                                        <p:attrNameLst>
                                          <p:attrName>style.visibility</p:attrName>
                                        </p:attrNameLst>
                                      </p:cBhvr>
                                      <p:to>
                                        <p:strVal val="visible"/>
                                      </p:to>
                                    </p:set>
                                    <p:animEffect transition="in" filter="fade">
                                      <p:cBhvr>
                                        <p:cTn id="83" dur="500"/>
                                        <p:tgtEl>
                                          <p:spTgt spid="58"/>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59"/>
                                        </p:tgtEl>
                                        <p:attrNameLst>
                                          <p:attrName>style.visibility</p:attrName>
                                        </p:attrNameLst>
                                      </p:cBhvr>
                                      <p:to>
                                        <p:strVal val="visible"/>
                                      </p:to>
                                    </p:set>
                                    <p:animEffect transition="in" filter="fade">
                                      <p:cBhvr>
                                        <p:cTn id="88" dur="500"/>
                                        <p:tgtEl>
                                          <p:spTgt spid="59"/>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60"/>
                                        </p:tgtEl>
                                        <p:attrNameLst>
                                          <p:attrName>style.visibility</p:attrName>
                                        </p:attrNameLst>
                                      </p:cBhvr>
                                      <p:to>
                                        <p:strVal val="visible"/>
                                      </p:to>
                                    </p:set>
                                    <p:animEffect transition="in" filter="fade">
                                      <p:cBhvr>
                                        <p:cTn id="93" dur="500"/>
                                        <p:tgtEl>
                                          <p:spTgt spid="60"/>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61"/>
                                        </p:tgtEl>
                                        <p:attrNameLst>
                                          <p:attrName>style.visibility</p:attrName>
                                        </p:attrNameLst>
                                      </p:cBhvr>
                                      <p:to>
                                        <p:strVal val="visible"/>
                                      </p:to>
                                    </p:set>
                                    <p:animEffect transition="in" filter="fade">
                                      <p:cBhvr>
                                        <p:cTn id="98" dur="500"/>
                                        <p:tgtEl>
                                          <p:spTgt spid="61"/>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62"/>
                                        </p:tgtEl>
                                        <p:attrNameLst>
                                          <p:attrName>style.visibility</p:attrName>
                                        </p:attrNameLst>
                                      </p:cBhvr>
                                      <p:to>
                                        <p:strVal val="visible"/>
                                      </p:to>
                                    </p:set>
                                    <p:animEffect transition="in" filter="fade">
                                      <p:cBhvr>
                                        <p:cTn id="103" dur="500"/>
                                        <p:tgtEl>
                                          <p:spTgt spid="62"/>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63"/>
                                        </p:tgtEl>
                                        <p:attrNameLst>
                                          <p:attrName>style.visibility</p:attrName>
                                        </p:attrNameLst>
                                      </p:cBhvr>
                                      <p:to>
                                        <p:strVal val="visible"/>
                                      </p:to>
                                    </p:set>
                                    <p:animEffect transition="in" filter="fade">
                                      <p:cBhvr>
                                        <p:cTn id="108" dur="500"/>
                                        <p:tgtEl>
                                          <p:spTgt spid="63"/>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64"/>
                                        </p:tgtEl>
                                        <p:attrNameLst>
                                          <p:attrName>style.visibility</p:attrName>
                                        </p:attrNameLst>
                                      </p:cBhvr>
                                      <p:to>
                                        <p:strVal val="visible"/>
                                      </p:to>
                                    </p:set>
                                    <p:animEffect transition="in" filter="fade">
                                      <p:cBhvr>
                                        <p:cTn id="113" dur="500"/>
                                        <p:tgtEl>
                                          <p:spTgt spid="64"/>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65"/>
                                        </p:tgtEl>
                                        <p:attrNameLst>
                                          <p:attrName>style.visibility</p:attrName>
                                        </p:attrNameLst>
                                      </p:cBhvr>
                                      <p:to>
                                        <p:strVal val="visible"/>
                                      </p:to>
                                    </p:set>
                                    <p:animEffect transition="in" filter="fade">
                                      <p:cBhvr>
                                        <p:cTn id="118" dur="500"/>
                                        <p:tgtEl>
                                          <p:spTgt spid="65"/>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66"/>
                                        </p:tgtEl>
                                        <p:attrNameLst>
                                          <p:attrName>style.visibility</p:attrName>
                                        </p:attrNameLst>
                                      </p:cBhvr>
                                      <p:to>
                                        <p:strVal val="visible"/>
                                      </p:to>
                                    </p:set>
                                    <p:animEffect transition="in" filter="fade">
                                      <p:cBhvr>
                                        <p:cTn id="123" dur="500"/>
                                        <p:tgtEl>
                                          <p:spTgt spid="66"/>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67"/>
                                        </p:tgtEl>
                                        <p:attrNameLst>
                                          <p:attrName>style.visibility</p:attrName>
                                        </p:attrNameLst>
                                      </p:cBhvr>
                                      <p:to>
                                        <p:strVal val="visible"/>
                                      </p:to>
                                    </p:set>
                                    <p:animEffect transition="in" filter="fade">
                                      <p:cBhvr>
                                        <p:cTn id="128"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6" grpId="0"/>
      <p:bldP spid="57" grpId="0"/>
      <p:bldP spid="58" grpId="0"/>
      <p:bldP spid="59" grpId="0"/>
      <p:bldP spid="60" grpId="0"/>
      <p:bldP spid="61" grpId="0"/>
      <p:bldP spid="62" grpId="0"/>
      <p:bldP spid="63" grpId="0"/>
      <p:bldP spid="64" grpId="0"/>
      <p:bldP spid="65" grpId="0"/>
      <p:bldP spid="66" grpId="0"/>
      <p:bldP spid="67" grpId="0"/>
      <p:bldP spid="68" grpId="0"/>
      <p:bldP spid="69" grpId="0"/>
      <p:bldP spid="70" grpId="0"/>
      <p:bldP spid="71" grpId="0"/>
      <p:bldP spid="72" grpId="0"/>
      <p:bldP spid="73" grpId="0"/>
      <p:bldP spid="74" grpId="0"/>
      <p:bldP spid="75" grpId="0"/>
      <p:bldP spid="76" grpId="0"/>
      <p:bldP spid="77" grpId="0"/>
      <p:bldP spid="78" grpId="0"/>
      <p:bldP spid="7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a:spLocks noGrp="1"/>
          </p:cNvSpPr>
          <p:nvPr/>
        </p:nvSpPr>
        <p:spPr>
          <a:xfrm>
            <a:off x="410543" y="1053530"/>
            <a:ext cx="1512167"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举例：</a:t>
            </a:r>
          </a:p>
        </p:txBody>
      </p:sp>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4" name="矩形 3"/>
          <p:cNvSpPr/>
          <p:nvPr/>
        </p:nvSpPr>
        <p:spPr>
          <a:xfrm>
            <a:off x="4591218" y="841135"/>
            <a:ext cx="4051109" cy="523220"/>
          </a:xfrm>
          <a:prstGeom prst="rect">
            <a:avLst/>
          </a:prstGeom>
        </p:spPr>
        <p:txBody>
          <a:bodyPr wrap="none">
            <a:spAutoFit/>
          </a:bodyPr>
          <a:lstStyle/>
          <a:p>
            <a:r>
              <a:rPr lang="zh-CN" altLang="en-US" sz="2800" dirty="0">
                <a:latin typeface="Arial Black" panose="020B0A04020102020204" pitchFamily="34" charset="0"/>
              </a:rPr>
              <a:t>a = [1,3,5,7,9,11,13]</a:t>
            </a:r>
          </a:p>
        </p:txBody>
      </p:sp>
      <p:grpSp>
        <p:nvGrpSpPr>
          <p:cNvPr id="30" name="组合 29"/>
          <p:cNvGrpSpPr/>
          <p:nvPr/>
        </p:nvGrpSpPr>
        <p:grpSpPr>
          <a:xfrm>
            <a:off x="2786807" y="1989634"/>
            <a:ext cx="7050267" cy="576064"/>
            <a:chOff x="2642791" y="1701602"/>
            <a:chExt cx="7050267" cy="576064"/>
          </a:xfrm>
        </p:grpSpPr>
        <p:sp>
          <p:nvSpPr>
            <p:cNvPr id="10" name="矩形 9"/>
            <p:cNvSpPr/>
            <p:nvPr/>
          </p:nvSpPr>
          <p:spPr>
            <a:xfrm>
              <a:off x="2642791"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4" name="矩形 23"/>
            <p:cNvSpPr/>
            <p:nvPr/>
          </p:nvSpPr>
          <p:spPr>
            <a:xfrm>
              <a:off x="3657854"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3</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5" name="矩形 24"/>
            <p:cNvSpPr/>
            <p:nvPr/>
          </p:nvSpPr>
          <p:spPr>
            <a:xfrm>
              <a:off x="4665966"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5</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6" name="矩形 25"/>
            <p:cNvSpPr/>
            <p:nvPr/>
          </p:nvSpPr>
          <p:spPr>
            <a:xfrm>
              <a:off x="5674078"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7</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7" name="矩形 26"/>
            <p:cNvSpPr/>
            <p:nvPr/>
          </p:nvSpPr>
          <p:spPr>
            <a:xfrm>
              <a:off x="6682190"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9</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8" name="矩形 27"/>
            <p:cNvSpPr/>
            <p:nvPr/>
          </p:nvSpPr>
          <p:spPr>
            <a:xfrm>
              <a:off x="7670868"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11</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sp>
          <p:nvSpPr>
            <p:cNvPr id="29" name="矩形 28"/>
            <p:cNvSpPr/>
            <p:nvPr/>
          </p:nvSpPr>
          <p:spPr>
            <a:xfrm>
              <a:off x="8684946" y="1701602"/>
              <a:ext cx="1008112" cy="57606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rPr>
                <a:t>13</a:t>
              </a:r>
              <a:endParaRPr lang="zh-CN" altLang="en-US" sz="2800" dirty="0">
                <a:ln w="0"/>
                <a:solidFill>
                  <a:schemeClr val="tx1"/>
                </a:solidFill>
                <a:effectLst>
                  <a:outerShdw blurRad="38100" dist="19050" dir="2700000" algn="tl" rotWithShape="0">
                    <a:schemeClr val="dk1">
                      <a:alpha val="40000"/>
                    </a:schemeClr>
                  </a:outerShdw>
                </a:effectLst>
                <a:latin typeface="Arial Black" panose="020B0A04020102020204" pitchFamily="34" charset="0"/>
              </a:endParaRPr>
            </a:p>
          </p:txBody>
        </p:sp>
      </p:grpSp>
      <p:grpSp>
        <p:nvGrpSpPr>
          <p:cNvPr id="40" name="组合 39"/>
          <p:cNvGrpSpPr/>
          <p:nvPr/>
        </p:nvGrpSpPr>
        <p:grpSpPr>
          <a:xfrm>
            <a:off x="3079106" y="1404613"/>
            <a:ext cx="6513892" cy="550800"/>
            <a:chOff x="3079106" y="1404613"/>
            <a:chExt cx="6513892" cy="550800"/>
          </a:xfrm>
        </p:grpSpPr>
        <p:sp>
          <p:nvSpPr>
            <p:cNvPr id="31" name="矩形 30"/>
            <p:cNvSpPr/>
            <p:nvPr/>
          </p:nvSpPr>
          <p:spPr>
            <a:xfrm>
              <a:off x="3079106" y="143219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0</a:t>
              </a:r>
              <a:endParaRPr lang="zh-CN" altLang="en-US" sz="2800" dirty="0">
                <a:solidFill>
                  <a:srgbClr val="FF0000"/>
                </a:solidFill>
                <a:latin typeface="Arial Black" panose="020B0A04020102020204" pitchFamily="34" charset="0"/>
              </a:endParaRPr>
            </a:p>
          </p:txBody>
        </p:sp>
        <p:sp>
          <p:nvSpPr>
            <p:cNvPr id="34" name="矩形 33"/>
            <p:cNvSpPr/>
            <p:nvPr/>
          </p:nvSpPr>
          <p:spPr>
            <a:xfrm>
              <a:off x="4094169" y="140461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1</a:t>
              </a:r>
              <a:endParaRPr lang="zh-CN" altLang="en-US" sz="2800" dirty="0">
                <a:solidFill>
                  <a:srgbClr val="FF0000"/>
                </a:solidFill>
                <a:latin typeface="Arial Black" panose="020B0A04020102020204" pitchFamily="34" charset="0"/>
              </a:endParaRPr>
            </a:p>
          </p:txBody>
        </p:sp>
        <p:sp>
          <p:nvSpPr>
            <p:cNvPr id="35" name="矩形 34"/>
            <p:cNvSpPr/>
            <p:nvPr/>
          </p:nvSpPr>
          <p:spPr>
            <a:xfrm>
              <a:off x="5109232"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2</a:t>
              </a:r>
              <a:endParaRPr lang="zh-CN" altLang="en-US" sz="2800" dirty="0">
                <a:solidFill>
                  <a:srgbClr val="FF0000"/>
                </a:solidFill>
                <a:latin typeface="Arial Black" panose="020B0A04020102020204" pitchFamily="34" charset="0"/>
              </a:endParaRPr>
            </a:p>
          </p:txBody>
        </p:sp>
        <p:sp>
          <p:nvSpPr>
            <p:cNvPr id="36" name="矩形 35"/>
            <p:cNvSpPr/>
            <p:nvPr/>
          </p:nvSpPr>
          <p:spPr>
            <a:xfrm>
              <a:off x="6110393" y="1404613"/>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3</a:t>
              </a:r>
              <a:endParaRPr lang="zh-CN" altLang="en-US" sz="2800" dirty="0">
                <a:solidFill>
                  <a:srgbClr val="FF0000"/>
                </a:solidFill>
                <a:latin typeface="Arial Black" panose="020B0A04020102020204" pitchFamily="34" charset="0"/>
              </a:endParaRPr>
            </a:p>
          </p:txBody>
        </p:sp>
        <p:sp>
          <p:nvSpPr>
            <p:cNvPr id="37" name="矩形 36"/>
            <p:cNvSpPr/>
            <p:nvPr/>
          </p:nvSpPr>
          <p:spPr>
            <a:xfrm>
              <a:off x="7139358"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4</a:t>
              </a:r>
              <a:endParaRPr lang="zh-CN" altLang="en-US" sz="2800" dirty="0">
                <a:solidFill>
                  <a:srgbClr val="FF0000"/>
                </a:solidFill>
                <a:latin typeface="Arial Black" panose="020B0A04020102020204" pitchFamily="34" charset="0"/>
              </a:endParaRPr>
            </a:p>
          </p:txBody>
        </p:sp>
        <p:sp>
          <p:nvSpPr>
            <p:cNvPr id="38" name="矩形 37"/>
            <p:cNvSpPr/>
            <p:nvPr/>
          </p:nvSpPr>
          <p:spPr>
            <a:xfrm>
              <a:off x="8107183"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5</a:t>
              </a:r>
              <a:endParaRPr lang="zh-CN" altLang="en-US" sz="2800" dirty="0">
                <a:solidFill>
                  <a:srgbClr val="FF0000"/>
                </a:solidFill>
                <a:latin typeface="Arial Black" panose="020B0A04020102020204" pitchFamily="34" charset="0"/>
              </a:endParaRPr>
            </a:p>
          </p:txBody>
        </p:sp>
        <p:sp>
          <p:nvSpPr>
            <p:cNvPr id="39" name="矩形 38"/>
            <p:cNvSpPr/>
            <p:nvPr/>
          </p:nvSpPr>
          <p:spPr>
            <a:xfrm>
              <a:off x="9169484" y="1415384"/>
              <a:ext cx="423514" cy="523220"/>
            </a:xfrm>
            <a:prstGeom prst="rect">
              <a:avLst/>
            </a:prstGeom>
          </p:spPr>
          <p:txBody>
            <a:bodyPr wrap="square">
              <a:spAutoFit/>
            </a:bodyPr>
            <a:lstStyle/>
            <a:p>
              <a:r>
                <a:rPr lang="en-US" altLang="zh-CN" sz="2800" dirty="0">
                  <a:solidFill>
                    <a:srgbClr val="FF0000"/>
                  </a:solidFill>
                  <a:latin typeface="Arial Black" panose="020B0A04020102020204" pitchFamily="34" charset="0"/>
                </a:rPr>
                <a:t>6</a:t>
              </a:r>
              <a:endParaRPr lang="zh-CN" altLang="en-US" sz="2800" dirty="0">
                <a:solidFill>
                  <a:srgbClr val="FF0000"/>
                </a:solidFill>
                <a:latin typeface="Arial Black" panose="020B0A04020102020204" pitchFamily="34" charset="0"/>
              </a:endParaRPr>
            </a:p>
          </p:txBody>
        </p:sp>
      </p:grpSp>
      <p:grpSp>
        <p:nvGrpSpPr>
          <p:cNvPr id="41" name="组合 40"/>
          <p:cNvGrpSpPr/>
          <p:nvPr/>
        </p:nvGrpSpPr>
        <p:grpSpPr>
          <a:xfrm>
            <a:off x="2930823" y="2637706"/>
            <a:ext cx="6912768" cy="550800"/>
            <a:chOff x="3079106" y="1404613"/>
            <a:chExt cx="6513892" cy="550800"/>
          </a:xfrm>
        </p:grpSpPr>
        <p:sp>
          <p:nvSpPr>
            <p:cNvPr id="42" name="矩形 41"/>
            <p:cNvSpPr/>
            <p:nvPr/>
          </p:nvSpPr>
          <p:spPr>
            <a:xfrm>
              <a:off x="3079106" y="1432193"/>
              <a:ext cx="536551"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-7</a:t>
              </a:r>
              <a:endParaRPr lang="zh-CN" altLang="en-US" sz="2800" dirty="0">
                <a:solidFill>
                  <a:srgbClr val="0071C1"/>
                </a:solidFill>
                <a:latin typeface="Arial Black" panose="020B0A04020102020204" pitchFamily="34" charset="0"/>
              </a:endParaRPr>
            </a:p>
          </p:txBody>
        </p:sp>
        <p:sp>
          <p:nvSpPr>
            <p:cNvPr id="43" name="矩形 42"/>
            <p:cNvSpPr/>
            <p:nvPr/>
          </p:nvSpPr>
          <p:spPr>
            <a:xfrm>
              <a:off x="4094168" y="1404613"/>
              <a:ext cx="617378"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-6</a:t>
              </a:r>
              <a:endParaRPr lang="zh-CN" altLang="en-US" sz="2800" dirty="0">
                <a:solidFill>
                  <a:srgbClr val="0071C1"/>
                </a:solidFill>
                <a:latin typeface="Arial Black" panose="020B0A04020102020204" pitchFamily="34" charset="0"/>
              </a:endParaRPr>
            </a:p>
          </p:txBody>
        </p:sp>
        <p:sp>
          <p:nvSpPr>
            <p:cNvPr id="44" name="矩形 43"/>
            <p:cNvSpPr/>
            <p:nvPr/>
          </p:nvSpPr>
          <p:spPr>
            <a:xfrm>
              <a:off x="5109231" y="1415384"/>
              <a:ext cx="643576"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-5</a:t>
              </a:r>
              <a:endParaRPr lang="zh-CN" altLang="en-US" sz="2800" dirty="0">
                <a:solidFill>
                  <a:srgbClr val="0071C1"/>
                </a:solidFill>
                <a:latin typeface="Arial Black" panose="020B0A04020102020204" pitchFamily="34" charset="0"/>
              </a:endParaRPr>
            </a:p>
          </p:txBody>
        </p:sp>
        <p:sp>
          <p:nvSpPr>
            <p:cNvPr id="45" name="矩形 44"/>
            <p:cNvSpPr/>
            <p:nvPr/>
          </p:nvSpPr>
          <p:spPr>
            <a:xfrm>
              <a:off x="6110393" y="1404613"/>
              <a:ext cx="707180"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-4</a:t>
              </a:r>
              <a:endParaRPr lang="zh-CN" altLang="en-US" sz="2800" dirty="0">
                <a:solidFill>
                  <a:srgbClr val="0071C1"/>
                </a:solidFill>
                <a:latin typeface="Arial Black" panose="020B0A04020102020204" pitchFamily="34" charset="0"/>
              </a:endParaRPr>
            </a:p>
          </p:txBody>
        </p:sp>
        <p:sp>
          <p:nvSpPr>
            <p:cNvPr id="46" name="矩形 45"/>
            <p:cNvSpPr/>
            <p:nvPr/>
          </p:nvSpPr>
          <p:spPr>
            <a:xfrm>
              <a:off x="7139357" y="1415384"/>
              <a:ext cx="609845"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-3</a:t>
              </a:r>
              <a:endParaRPr lang="zh-CN" altLang="en-US" sz="2800" dirty="0">
                <a:solidFill>
                  <a:srgbClr val="0071C1"/>
                </a:solidFill>
                <a:latin typeface="Arial Black" panose="020B0A04020102020204" pitchFamily="34" charset="0"/>
              </a:endParaRPr>
            </a:p>
          </p:txBody>
        </p:sp>
        <p:sp>
          <p:nvSpPr>
            <p:cNvPr id="47" name="矩形 46"/>
            <p:cNvSpPr/>
            <p:nvPr/>
          </p:nvSpPr>
          <p:spPr>
            <a:xfrm>
              <a:off x="8107182" y="1415384"/>
              <a:ext cx="591962"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-2</a:t>
              </a:r>
              <a:endParaRPr lang="zh-CN" altLang="en-US" sz="2800" dirty="0">
                <a:solidFill>
                  <a:srgbClr val="0071C1"/>
                </a:solidFill>
                <a:latin typeface="Arial Black" panose="020B0A04020102020204" pitchFamily="34" charset="0"/>
              </a:endParaRPr>
            </a:p>
          </p:txBody>
        </p:sp>
        <p:sp>
          <p:nvSpPr>
            <p:cNvPr id="48" name="矩形 47"/>
            <p:cNvSpPr/>
            <p:nvPr/>
          </p:nvSpPr>
          <p:spPr>
            <a:xfrm>
              <a:off x="9057125" y="1415384"/>
              <a:ext cx="535873" cy="523220"/>
            </a:xfrm>
            <a:prstGeom prst="rect">
              <a:avLst/>
            </a:prstGeom>
          </p:spPr>
          <p:txBody>
            <a:bodyPr wrap="square">
              <a:spAutoFit/>
            </a:bodyPr>
            <a:lstStyle/>
            <a:p>
              <a:r>
                <a:rPr lang="en-US" altLang="zh-CN" sz="2800" dirty="0">
                  <a:solidFill>
                    <a:srgbClr val="0071C1"/>
                  </a:solidFill>
                  <a:latin typeface="Arial Black" panose="020B0A04020102020204" pitchFamily="34" charset="0"/>
                </a:rPr>
                <a:t>-1</a:t>
              </a:r>
              <a:endParaRPr lang="zh-CN" altLang="en-US" sz="2800" dirty="0">
                <a:solidFill>
                  <a:srgbClr val="0071C1"/>
                </a:solidFill>
                <a:latin typeface="Arial Black" panose="020B0A04020102020204" pitchFamily="34" charset="0"/>
              </a:endParaRPr>
            </a:p>
          </p:txBody>
        </p:sp>
      </p:grpSp>
      <p:sp>
        <p:nvSpPr>
          <p:cNvPr id="56" name="文本框 55"/>
          <p:cNvSpPr txBox="1"/>
          <p:nvPr/>
        </p:nvSpPr>
        <p:spPr>
          <a:xfrm>
            <a:off x="545472" y="3397869"/>
            <a:ext cx="1728192" cy="523220"/>
          </a:xfrm>
          <a:prstGeom prst="rect">
            <a:avLst/>
          </a:prstGeom>
          <a:noFill/>
        </p:spPr>
        <p:txBody>
          <a:bodyPr wrap="square" rtlCol="0">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极端情况</a:t>
            </a:r>
          </a:p>
        </p:txBody>
      </p:sp>
      <p:sp>
        <p:nvSpPr>
          <p:cNvPr id="49" name="矩形 48"/>
          <p:cNvSpPr/>
          <p:nvPr/>
        </p:nvSpPr>
        <p:spPr>
          <a:xfrm>
            <a:off x="3173121" y="3407134"/>
            <a:ext cx="822661" cy="523220"/>
          </a:xfrm>
          <a:prstGeom prst="rect">
            <a:avLst/>
          </a:prstGeom>
        </p:spPr>
        <p:txBody>
          <a:bodyPr wrap="none">
            <a:spAutoFit/>
          </a:bodyPr>
          <a:lstStyle/>
          <a:p>
            <a:r>
              <a:rPr lang="en-US" altLang="zh-CN" sz="2800" dirty="0">
                <a:latin typeface="Arial Black" panose="020B0A04020102020204" pitchFamily="34" charset="0"/>
              </a:rPr>
              <a:t>a[:]</a:t>
            </a:r>
            <a:endParaRPr lang="zh-CN" altLang="en-US" sz="2800" dirty="0">
              <a:latin typeface="Arial Black" panose="020B0A04020102020204" pitchFamily="34" charset="0"/>
            </a:endParaRPr>
          </a:p>
        </p:txBody>
      </p:sp>
      <p:sp>
        <p:nvSpPr>
          <p:cNvPr id="50" name="矩形 49"/>
          <p:cNvSpPr/>
          <p:nvPr/>
        </p:nvSpPr>
        <p:spPr>
          <a:xfrm>
            <a:off x="5314038" y="3364336"/>
            <a:ext cx="3454792"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[1,3,5,7,9,11,13 ]</a:t>
            </a:r>
            <a:endParaRPr lang="zh-CN" altLang="en-US" sz="2800" dirty="0">
              <a:solidFill>
                <a:srgbClr val="FF0000"/>
              </a:solidFill>
              <a:latin typeface="Arial Black" panose="020B0A04020102020204" pitchFamily="34" charset="0"/>
            </a:endParaRPr>
          </a:p>
        </p:txBody>
      </p:sp>
      <p:sp>
        <p:nvSpPr>
          <p:cNvPr id="51" name="矩形 50"/>
          <p:cNvSpPr/>
          <p:nvPr/>
        </p:nvSpPr>
        <p:spPr>
          <a:xfrm>
            <a:off x="3185381" y="4131729"/>
            <a:ext cx="942887" cy="523220"/>
          </a:xfrm>
          <a:prstGeom prst="rect">
            <a:avLst/>
          </a:prstGeom>
        </p:spPr>
        <p:txBody>
          <a:bodyPr wrap="none">
            <a:spAutoFit/>
          </a:bodyPr>
          <a:lstStyle/>
          <a:p>
            <a:r>
              <a:rPr lang="en-US" altLang="zh-CN" sz="2800" dirty="0">
                <a:latin typeface="Arial Black" panose="020B0A04020102020204" pitchFamily="34" charset="0"/>
              </a:rPr>
              <a:t>a[::]</a:t>
            </a:r>
            <a:endParaRPr lang="zh-CN" altLang="en-US" sz="2800" dirty="0">
              <a:latin typeface="Arial Black" panose="020B0A04020102020204" pitchFamily="34" charset="0"/>
            </a:endParaRPr>
          </a:p>
        </p:txBody>
      </p:sp>
      <p:sp>
        <p:nvSpPr>
          <p:cNvPr id="52" name="矩形 51"/>
          <p:cNvSpPr/>
          <p:nvPr/>
        </p:nvSpPr>
        <p:spPr>
          <a:xfrm>
            <a:off x="5233576" y="4180251"/>
            <a:ext cx="3454792"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[1,3,5,7,9,11,13 ]</a:t>
            </a:r>
            <a:endParaRPr lang="zh-CN" altLang="en-US" sz="2800" dirty="0">
              <a:solidFill>
                <a:srgbClr val="FF0000"/>
              </a:solidFill>
              <a:latin typeface="Arial Black" panose="020B0A04020102020204" pitchFamily="34" charset="0"/>
            </a:endParaRPr>
          </a:p>
        </p:txBody>
      </p:sp>
      <p:sp>
        <p:nvSpPr>
          <p:cNvPr id="53" name="矩形 52"/>
          <p:cNvSpPr/>
          <p:nvPr/>
        </p:nvSpPr>
        <p:spPr>
          <a:xfrm>
            <a:off x="3173121" y="4973165"/>
            <a:ext cx="2375971" cy="523220"/>
          </a:xfrm>
          <a:prstGeom prst="rect">
            <a:avLst/>
          </a:prstGeom>
        </p:spPr>
        <p:txBody>
          <a:bodyPr wrap="none">
            <a:spAutoFit/>
          </a:bodyPr>
          <a:lstStyle/>
          <a:p>
            <a:r>
              <a:rPr lang="en-US" altLang="zh-CN" sz="2800" dirty="0">
                <a:latin typeface="Arial Black" panose="020B0A04020102020204" pitchFamily="34" charset="0"/>
              </a:rPr>
              <a:t>a[-100:100]</a:t>
            </a:r>
            <a:endParaRPr lang="zh-CN" altLang="en-US" sz="2800" dirty="0">
              <a:latin typeface="Arial Black" panose="020B0A04020102020204" pitchFamily="34" charset="0"/>
            </a:endParaRPr>
          </a:p>
        </p:txBody>
      </p:sp>
      <p:sp>
        <p:nvSpPr>
          <p:cNvPr id="54" name="矩形 53"/>
          <p:cNvSpPr/>
          <p:nvPr/>
        </p:nvSpPr>
        <p:spPr>
          <a:xfrm>
            <a:off x="5623719" y="4973165"/>
            <a:ext cx="3454792"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[1,3,5,7,9,11,13 ]</a:t>
            </a:r>
            <a:endParaRPr lang="zh-CN" altLang="en-US" sz="2800" dirty="0">
              <a:solidFill>
                <a:srgbClr val="FF0000"/>
              </a:solidFill>
              <a:latin typeface="Arial Black" panose="020B0A04020102020204" pitchFamily="34" charset="0"/>
            </a:endParaRPr>
          </a:p>
        </p:txBody>
      </p:sp>
      <p:sp>
        <p:nvSpPr>
          <p:cNvPr id="60" name="矩形 59"/>
          <p:cNvSpPr/>
          <p:nvPr/>
        </p:nvSpPr>
        <p:spPr>
          <a:xfrm>
            <a:off x="3117940" y="5625752"/>
            <a:ext cx="1898277" cy="523220"/>
          </a:xfrm>
          <a:prstGeom prst="rect">
            <a:avLst/>
          </a:prstGeom>
        </p:spPr>
        <p:txBody>
          <a:bodyPr wrap="none">
            <a:spAutoFit/>
          </a:bodyPr>
          <a:lstStyle/>
          <a:p>
            <a:r>
              <a:rPr lang="en-US" altLang="zh-CN" sz="2800" dirty="0">
                <a:latin typeface="Arial Black" panose="020B0A04020102020204" pitchFamily="34" charset="0"/>
              </a:rPr>
              <a:t>a[3:-100]</a:t>
            </a:r>
            <a:endParaRPr lang="zh-CN" altLang="en-US" sz="2800" dirty="0">
              <a:latin typeface="Arial Black" panose="020B0A04020102020204" pitchFamily="34" charset="0"/>
            </a:endParaRPr>
          </a:p>
        </p:txBody>
      </p:sp>
      <p:sp>
        <p:nvSpPr>
          <p:cNvPr id="65" name="矩形 64"/>
          <p:cNvSpPr/>
          <p:nvPr/>
        </p:nvSpPr>
        <p:spPr>
          <a:xfrm>
            <a:off x="5623719" y="5689024"/>
            <a:ext cx="704039" cy="523220"/>
          </a:xfrm>
          <a:prstGeom prst="rect">
            <a:avLst/>
          </a:prstGeom>
        </p:spPr>
        <p:txBody>
          <a:bodyPr wrap="none">
            <a:spAutoFit/>
          </a:bodyPr>
          <a:lstStyle/>
          <a:p>
            <a:r>
              <a:rPr lang="en-US" altLang="zh-CN" sz="2800" dirty="0">
                <a:solidFill>
                  <a:srgbClr val="FF0000"/>
                </a:solidFill>
                <a:latin typeface="Arial Black" panose="020B0A04020102020204" pitchFamily="34" charset="0"/>
              </a:rPr>
              <a:t>[  ]</a:t>
            </a:r>
            <a:endParaRPr lang="zh-CN" altLang="en-US" sz="2800" dirty="0">
              <a:solidFill>
                <a:srgbClr val="FF0000"/>
              </a:solidFill>
              <a:latin typeface="Arial Black" panose="020B0A04020102020204" pitchFamily="34" charset="0"/>
            </a:endParaRPr>
          </a:p>
        </p:txBody>
      </p:sp>
      <p:sp>
        <p:nvSpPr>
          <p:cNvPr id="69" name="矩形 68"/>
          <p:cNvSpPr/>
          <p:nvPr/>
        </p:nvSpPr>
        <p:spPr>
          <a:xfrm>
            <a:off x="9078511" y="5581237"/>
            <a:ext cx="2964812" cy="52322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just"/>
            <a:r>
              <a:rPr lang="zh-CN" altLang="en-US" sz="2800" b="1" dirty="0">
                <a:solidFill>
                  <a:srgbClr val="FFFF00"/>
                </a:solidFill>
                <a:latin typeface="微软雅黑" panose="020B0503020204020204" pitchFamily="34" charset="-122"/>
                <a:ea typeface="微软雅黑" panose="020B0503020204020204" pitchFamily="34" charset="-122"/>
              </a:rPr>
              <a:t>负数越界，则归</a:t>
            </a:r>
            <a:r>
              <a:rPr lang="en-US" altLang="zh-CN" sz="2800" b="1" dirty="0">
                <a:solidFill>
                  <a:srgbClr val="FFFF00"/>
                </a:solidFill>
                <a:latin typeface="微软雅黑" panose="020B0503020204020204" pitchFamily="34" charset="-122"/>
                <a:ea typeface="微软雅黑" panose="020B0503020204020204" pitchFamily="34" charset="-122"/>
              </a:rPr>
              <a:t>0</a:t>
            </a:r>
            <a:endParaRPr lang="zh-CN" altLang="en-US" sz="28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500" fill="hold"/>
                                        <p:tgtEl>
                                          <p:spTgt spid="56"/>
                                        </p:tgtEl>
                                        <p:attrNameLst>
                                          <p:attrName>ppt_x</p:attrName>
                                        </p:attrNameLst>
                                      </p:cBhvr>
                                      <p:tavLst>
                                        <p:tav tm="0">
                                          <p:val>
                                            <p:strVal val="#ppt_x"/>
                                          </p:val>
                                        </p:tav>
                                        <p:tav tm="100000">
                                          <p:val>
                                            <p:strVal val="#ppt_x"/>
                                          </p:val>
                                        </p:tav>
                                      </p:tavLst>
                                    </p:anim>
                                    <p:anim calcmode="lin" valueType="num">
                                      <p:cBhvr additive="base">
                                        <p:cTn id="8"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500"/>
                                        <p:tgtEl>
                                          <p:spTgt spid="4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fade">
                                      <p:cBhvr>
                                        <p:cTn id="18" dur="500"/>
                                        <p:tgtEl>
                                          <p:spTgt spid="5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fade">
                                      <p:cBhvr>
                                        <p:cTn id="23" dur="500"/>
                                        <p:tgtEl>
                                          <p:spTgt spid="5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fade">
                                      <p:cBhvr>
                                        <p:cTn id="28" dur="500"/>
                                        <p:tgtEl>
                                          <p:spTgt spid="5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3"/>
                                        </p:tgtEl>
                                        <p:attrNameLst>
                                          <p:attrName>style.visibility</p:attrName>
                                        </p:attrNameLst>
                                      </p:cBhvr>
                                      <p:to>
                                        <p:strVal val="visible"/>
                                      </p:to>
                                    </p:set>
                                    <p:animEffect transition="in" filter="fade">
                                      <p:cBhvr>
                                        <p:cTn id="33" dur="500"/>
                                        <p:tgtEl>
                                          <p:spTgt spid="5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fade">
                                      <p:cBhvr>
                                        <p:cTn id="38" dur="500"/>
                                        <p:tgtEl>
                                          <p:spTgt spid="5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0"/>
                                        </p:tgtEl>
                                        <p:attrNameLst>
                                          <p:attrName>style.visibility</p:attrName>
                                        </p:attrNameLst>
                                      </p:cBhvr>
                                      <p:to>
                                        <p:strVal val="visible"/>
                                      </p:to>
                                    </p:set>
                                    <p:animEffect transition="in" filter="fade">
                                      <p:cBhvr>
                                        <p:cTn id="43" dur="500"/>
                                        <p:tgtEl>
                                          <p:spTgt spid="6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65"/>
                                        </p:tgtEl>
                                        <p:attrNameLst>
                                          <p:attrName>style.visibility</p:attrName>
                                        </p:attrNameLst>
                                      </p:cBhvr>
                                      <p:to>
                                        <p:strVal val="visible"/>
                                      </p:to>
                                    </p:set>
                                    <p:animEffect transition="in" filter="fade">
                                      <p:cBhvr>
                                        <p:cTn id="48" dur="500"/>
                                        <p:tgtEl>
                                          <p:spTgt spid="6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9"/>
                                        </p:tgtEl>
                                        <p:attrNameLst>
                                          <p:attrName>style.visibility</p:attrName>
                                        </p:attrNameLst>
                                      </p:cBhvr>
                                      <p:to>
                                        <p:strVal val="visible"/>
                                      </p:to>
                                    </p:set>
                                    <p:animEffect transition="in" filter="wipe(left)">
                                      <p:cBhvr>
                                        <p:cTn id="53" dur="500"/>
                                        <p:tgtEl>
                                          <p:spTgt spid="69"/>
                                        </p:tgtEl>
                                      </p:cBhvr>
                                    </p:animEffect>
                                  </p:childTnLst>
                                  <p:subTnLst>
                                    <p:set>
                                      <p:cBhvr override="childStyle">
                                        <p:cTn dur="1" fill="hold" display="0" masterRel="nextClick" afterEffect="1"/>
                                        <p:tgtEl>
                                          <p:spTgt spid="6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49" grpId="0"/>
      <p:bldP spid="50" grpId="0"/>
      <p:bldP spid="51" grpId="0"/>
      <p:bldP spid="52" grpId="0"/>
      <p:bldP spid="53" grpId="0"/>
      <p:bldP spid="54" grpId="0"/>
      <p:bldP spid="60" grpId="0"/>
      <p:bldP spid="65" grpId="0"/>
      <p:bldP spid="69"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300255" y="1629594"/>
            <a:ext cx="11596687" cy="3078163"/>
          </a:xfrm>
          <a:prstGeom prst="rect">
            <a:avLst/>
          </a:prstGeom>
        </p:spPr>
        <p:txBody>
          <a:bodyPr>
            <a:normAutofit/>
          </a:bodyPr>
          <a:lstStyle/>
          <a:p>
            <a:pPr>
              <a:lnSpc>
                <a:spcPct val="150000"/>
              </a:lnSpc>
            </a:pPr>
            <a:r>
              <a:rPr kumimoji="1" lang="zh-CN" altLang="en-US" sz="2400" dirty="0">
                <a:latin typeface="微软雅黑" panose="020B0503020204020204" pitchFamily="34" charset="-122"/>
                <a:ea typeface="微软雅黑" panose="020B0503020204020204" pitchFamily="34" charset="-122"/>
              </a:rPr>
              <a:t>逆向切片</a:t>
            </a:r>
            <a:endParaRPr kumimoji="1" lang="en-US" altLang="zh-CN" sz="2400" dirty="0">
              <a:latin typeface="微软雅黑" panose="020B0503020204020204" pitchFamily="34" charset="-122"/>
              <a:ea typeface="微软雅黑" panose="020B0503020204020204" pitchFamily="34" charset="-122"/>
            </a:endParaRPr>
          </a:p>
          <a:p>
            <a:pPr algn="r">
              <a:lnSpc>
                <a:spcPct val="150000"/>
              </a:lnSpc>
            </a:pPr>
            <a:r>
              <a:rPr kumimoji="1" lang="zh-CN" altLang="en-US" sz="2400" dirty="0">
                <a:latin typeface="微软雅黑" panose="020B0503020204020204" pitchFamily="34" charset="-122"/>
                <a:ea typeface="微软雅黑" panose="020B0503020204020204" pitchFamily="34" charset="-122"/>
              </a:rPr>
              <a:t>我们可以省略起始索引位置，表示从最开始进行切片，当我们将两个索引都省略之后，我们将按原样复制一个列表，如果想要将列表的顺序颠倒，则可以使用</a:t>
            </a:r>
            <a:r>
              <a:rPr kumimoji="1" lang="en-US" altLang="zh-CN" sz="2400" dirty="0">
                <a:latin typeface="微软雅黑" panose="020B0503020204020204" pitchFamily="34" charset="-122"/>
                <a:ea typeface="微软雅黑" panose="020B0503020204020204" pitchFamily="34" charset="-122"/>
                <a:cs typeface="Monaco" charset="0"/>
              </a:rPr>
              <a:t>::-1</a:t>
            </a:r>
            <a:endParaRPr kumimoji="1" lang="en-US" altLang="zh-CN" sz="2400" dirty="0">
              <a:latin typeface="微软雅黑" panose="020B0503020204020204" pitchFamily="34" charset="-122"/>
              <a:ea typeface="微软雅黑" panose="020B0503020204020204" pitchFamily="34" charset="-122"/>
            </a:endParaRPr>
          </a:p>
        </p:txBody>
      </p:sp>
      <p:sp>
        <p:nvSpPr>
          <p:cNvPr id="12" name="标题 1"/>
          <p:cNvSpPr>
            <a:spLocks noGrp="1"/>
          </p:cNvSpPr>
          <p:nvPr/>
        </p:nvSpPr>
        <p:spPr>
          <a:xfrm>
            <a:off x="266527" y="929142"/>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、列表切片</a:t>
            </a:r>
          </a:p>
        </p:txBody>
      </p:sp>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3" name="内容占位符 2"/>
          <p:cNvSpPr>
            <a:spLocks noGrp="1"/>
          </p:cNvSpPr>
          <p:nvPr/>
        </p:nvSpPr>
        <p:spPr>
          <a:xfrm>
            <a:off x="1960245" y="1235710"/>
            <a:ext cx="9606280" cy="4526280"/>
          </a:xfrm>
          <a:prstGeom prst="rect">
            <a:avLst/>
          </a:prstGeom>
          <a:noFill/>
          <a:ln w="9525">
            <a:noFill/>
          </a:ln>
        </p:spPr>
        <p:txBody>
          <a:bodyPr anchor="t"/>
          <a:lstStyle>
            <a:lvl1pPr marL="342900" lvl="0" indent="-342900" algn="l" defTabSz="914400" eaLnBrk="1" fontAlgn="base" latinLnBrk="0" hangingPunct="1">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a:lstStyle>
          <a:p>
            <a:pPr marL="0" indent="0">
              <a:buNone/>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一个非常棒的网站：http://pythontutor.com/live.html#mode=edit</a:t>
            </a:r>
          </a:p>
        </p:txBody>
      </p:sp>
      <p:pic>
        <p:nvPicPr>
          <p:cNvPr id="52227" name="图片 5"/>
          <p:cNvPicPr>
            <a:picLocks noChangeAspect="1"/>
          </p:cNvPicPr>
          <p:nvPr/>
        </p:nvPicPr>
        <p:blipFill>
          <a:blip r:embed="rId3"/>
          <a:stretch>
            <a:fillRect/>
          </a:stretch>
        </p:blipFill>
        <p:spPr>
          <a:xfrm>
            <a:off x="2432050" y="2199640"/>
            <a:ext cx="3613150" cy="1830388"/>
          </a:xfrm>
          <a:prstGeom prst="rect">
            <a:avLst/>
          </a:prstGeom>
          <a:noFill/>
          <a:ln w="9525" cap="flat" cmpd="sng">
            <a:solidFill>
              <a:schemeClr val="tx2"/>
            </a:solidFill>
            <a:prstDash val="solid"/>
            <a:round/>
            <a:headEnd type="none" w="med" len="med"/>
            <a:tailEnd type="none" w="med" len="med"/>
          </a:ln>
        </p:spPr>
      </p:pic>
      <p:pic>
        <p:nvPicPr>
          <p:cNvPr id="52228" name="图片 6"/>
          <p:cNvPicPr>
            <a:picLocks noChangeAspect="1"/>
          </p:cNvPicPr>
          <p:nvPr/>
        </p:nvPicPr>
        <p:blipFill>
          <a:blip r:embed="rId4"/>
          <a:stretch>
            <a:fillRect/>
          </a:stretch>
        </p:blipFill>
        <p:spPr>
          <a:xfrm>
            <a:off x="6057900" y="4044315"/>
            <a:ext cx="3603625" cy="2003425"/>
          </a:xfrm>
          <a:prstGeom prst="rect">
            <a:avLst/>
          </a:prstGeom>
          <a:noFill/>
          <a:ln w="9525" cap="flat" cmpd="sng">
            <a:solidFill>
              <a:schemeClr val="tx2"/>
            </a:solidFill>
            <a:prstDash val="solid"/>
            <a:round/>
            <a:headEnd type="none" w="med" len="med"/>
            <a:tailEnd type="none" w="med" len="me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2EF12-37C8-DEEA-EB96-290662BD5106}"/>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E09438D7-610B-6B02-4F71-83231218BF0E}"/>
              </a:ext>
            </a:extLst>
          </p:cNvPr>
          <p:cNvSpPr>
            <a:spLocks noGrp="1"/>
          </p:cNvSpPr>
          <p:nvPr>
            <p:ph idx="4294967295"/>
          </p:nvPr>
        </p:nvSpPr>
        <p:spPr>
          <a:xfrm>
            <a:off x="300255" y="1629594"/>
            <a:ext cx="11596687" cy="4752528"/>
          </a:xfrm>
          <a:prstGeom prst="rect">
            <a:avLst/>
          </a:prstGeom>
        </p:spPr>
        <p:txBody>
          <a:bodyPr>
            <a:normAutofit/>
          </a:bodyPr>
          <a:lstStyle/>
          <a:p>
            <a:pPr>
              <a:lnSpc>
                <a:spcPct val="150000"/>
              </a:lnSpc>
            </a:pPr>
            <a:r>
              <a:rPr kumimoji="1" lang="en" altLang="zh-CN" sz="2400" dirty="0">
                <a:latin typeface="微软雅黑" panose="020B0503020204020204" pitchFamily="34" charset="-122"/>
                <a:ea typeface="微软雅黑" panose="020B0503020204020204" pitchFamily="34" charset="-122"/>
              </a:rPr>
              <a:t>Python </a:t>
            </a:r>
            <a:r>
              <a:rPr kumimoji="1" lang="zh-CN" altLang="en-US" sz="2400" dirty="0">
                <a:latin typeface="微软雅黑" panose="020B0503020204020204" pitchFamily="34" charset="-122"/>
                <a:ea typeface="微软雅黑" panose="020B0503020204020204" pitchFamily="34" charset="-122"/>
              </a:rPr>
              <a:t>列表的切片操作看似简单，但底层却非常高效。</a:t>
            </a:r>
          </a:p>
          <a:p>
            <a:pPr>
              <a:lnSpc>
                <a:spcPct val="150000"/>
              </a:lnSpc>
            </a:pPr>
            <a:r>
              <a:rPr kumimoji="1" lang="zh-CN" altLang="en-US" sz="2400" dirty="0">
                <a:latin typeface="微软雅黑" panose="020B0503020204020204" pitchFamily="34" charset="-122"/>
                <a:ea typeface="微软雅黑" panose="020B0503020204020204" pitchFamily="34" charset="-122"/>
              </a:rPr>
              <a:t>当你执行 </a:t>
            </a:r>
            <a:r>
              <a:rPr kumimoji="1" lang="en" altLang="zh-CN" sz="2400" dirty="0">
                <a:latin typeface="微软雅黑" panose="020B0503020204020204" pitchFamily="34" charset="-122"/>
                <a:ea typeface="微软雅黑" panose="020B0503020204020204" pitchFamily="34" charset="-122"/>
              </a:rPr>
              <a:t>list[start</a:t>
            </a:r>
            <a:r>
              <a:rPr kumimoji="1" lang="en-US" altLang="zh-CN" sz="2400" dirty="0">
                <a:latin typeface="微软雅黑" panose="020B0503020204020204" pitchFamily="34" charset="-122"/>
                <a:ea typeface="微软雅黑" panose="020B0503020204020204" pitchFamily="34" charset="-122"/>
              </a:rPr>
              <a:t>:end:</a:t>
            </a:r>
            <a:r>
              <a:rPr kumimoji="1" lang="en" altLang="zh-CN" sz="2400" dirty="0">
                <a:latin typeface="微软雅黑" panose="020B0503020204020204" pitchFamily="34" charset="-122"/>
                <a:ea typeface="微软雅黑" panose="020B0503020204020204" pitchFamily="34" charset="-122"/>
              </a:rPr>
              <a:t>step] </a:t>
            </a:r>
            <a:r>
              <a:rPr kumimoji="1" lang="zh-CN" altLang="en-US" sz="2400" dirty="0">
                <a:latin typeface="微软雅黑" panose="020B0503020204020204" pitchFamily="34" charset="-122"/>
                <a:ea typeface="微软雅黑" panose="020B0503020204020204" pitchFamily="34" charset="-122"/>
              </a:rPr>
              <a:t>时，</a:t>
            </a:r>
            <a:r>
              <a:rPr kumimoji="1" lang="en" altLang="zh-CN" sz="2400" dirty="0">
                <a:latin typeface="微软雅黑" panose="020B0503020204020204" pitchFamily="34" charset="-122"/>
                <a:ea typeface="微软雅黑" panose="020B0503020204020204" pitchFamily="34" charset="-122"/>
              </a:rPr>
              <a:t>Python </a:t>
            </a:r>
            <a:r>
              <a:rPr kumimoji="1" lang="zh-CN" altLang="en-US" sz="2400" dirty="0">
                <a:latin typeface="微软雅黑" panose="020B0503020204020204" pitchFamily="34" charset="-122"/>
                <a:ea typeface="微软雅黑" panose="020B0503020204020204" pitchFamily="34" charset="-122"/>
              </a:rPr>
              <a:t>并不会直接复制整个列表，而是通过索引快速定位元素并生成一个新列表。</a:t>
            </a:r>
            <a:endParaRPr kumimoji="1" lang="en-US" altLang="zh-CN" sz="2400" dirty="0">
              <a:latin typeface="微软雅黑" panose="020B0503020204020204" pitchFamily="34" charset="-122"/>
              <a:ea typeface="微软雅黑" panose="020B0503020204020204" pitchFamily="34" charset="-122"/>
            </a:endParaRPr>
          </a:p>
          <a:p>
            <a:pPr>
              <a:lnSpc>
                <a:spcPct val="150000"/>
              </a:lnSpc>
            </a:pPr>
            <a:r>
              <a:rPr kumimoji="1" lang="zh-CN" altLang="en-US" sz="2400" dirty="0">
                <a:latin typeface="微软雅黑" panose="020B0503020204020204" pitchFamily="34" charset="-122"/>
                <a:ea typeface="微软雅黑" panose="020B0503020204020204" pitchFamily="34" charset="-122"/>
              </a:rPr>
              <a:t>工作原理：切片操作会调用 </a:t>
            </a:r>
            <a:r>
              <a:rPr kumimoji="1" lang="en-US" altLang="zh-CN" sz="2400" dirty="0" err="1">
                <a:latin typeface="微软雅黑" panose="020B0503020204020204" pitchFamily="34" charset="-122"/>
                <a:ea typeface="微软雅黑" panose="020B0503020204020204" pitchFamily="34" charset="-122"/>
              </a:rPr>
              <a:t>CPython</a:t>
            </a:r>
            <a:r>
              <a:rPr kumimoji="1" lang="en-US" altLang="zh-CN" sz="2400" dirty="0">
                <a:latin typeface="微软雅黑" panose="020B0503020204020204" pitchFamily="34" charset="-122"/>
                <a:ea typeface="微软雅黑" panose="020B0503020204020204" pitchFamily="34" charset="-122"/>
              </a:rPr>
              <a:t> </a:t>
            </a:r>
            <a:r>
              <a:rPr kumimoji="1" lang="zh-CN" altLang="en-US" sz="2400" dirty="0">
                <a:latin typeface="微软雅黑" panose="020B0503020204020204" pitchFamily="34" charset="-122"/>
                <a:ea typeface="微软雅黑" panose="020B0503020204020204" pitchFamily="34" charset="-122"/>
              </a:rPr>
              <a:t>的 </a:t>
            </a:r>
            <a:r>
              <a:rPr kumimoji="1" lang="en-US" altLang="zh-CN" sz="2400" dirty="0">
                <a:latin typeface="微软雅黑" panose="020B0503020204020204" pitchFamily="34" charset="-122"/>
                <a:ea typeface="微软雅黑" panose="020B0503020204020204" pitchFamily="34" charset="-122"/>
              </a:rPr>
              <a:t>_</a:t>
            </a:r>
            <a:r>
              <a:rPr kumimoji="1" lang="en-US" altLang="zh-CN" sz="2400" dirty="0" err="1">
                <a:latin typeface="微软雅黑" panose="020B0503020204020204" pitchFamily="34" charset="-122"/>
                <a:ea typeface="微软雅黑" panose="020B0503020204020204" pitchFamily="34" charset="-122"/>
              </a:rPr>
              <a:t>PyList_Subscript</a:t>
            </a:r>
            <a:r>
              <a:rPr kumimoji="1" lang="en-US" altLang="zh-CN" sz="2400" dirty="0">
                <a:latin typeface="微软雅黑" panose="020B0503020204020204" pitchFamily="34" charset="-122"/>
                <a:ea typeface="微软雅黑" panose="020B0503020204020204" pitchFamily="34" charset="-122"/>
              </a:rPr>
              <a:t> </a:t>
            </a:r>
            <a:r>
              <a:rPr kumimoji="1" lang="zh-CN" altLang="en-US" sz="2400" dirty="0">
                <a:latin typeface="微软雅黑" panose="020B0503020204020204" pitchFamily="34" charset="-122"/>
                <a:ea typeface="微软雅黑" panose="020B0503020204020204" pitchFamily="34" charset="-122"/>
              </a:rPr>
              <a:t>函数，该函数根据起始、结束和步长参数计算目标索引范围，然后按需分配内存并复制元素。</a:t>
            </a:r>
            <a:endParaRPr kumimoji="1" lang="en-US" altLang="zh-CN" sz="2400" dirty="0">
              <a:latin typeface="微软雅黑" panose="020B0503020204020204" pitchFamily="34" charset="-122"/>
              <a:ea typeface="微软雅黑" panose="020B0503020204020204" pitchFamily="34" charset="-122"/>
            </a:endParaRPr>
          </a:p>
          <a:p>
            <a:pPr>
              <a:lnSpc>
                <a:spcPct val="150000"/>
              </a:lnSpc>
            </a:pPr>
            <a:r>
              <a:rPr kumimoji="1" lang="zh-CN" altLang="en-US" sz="2400" dirty="0">
                <a:latin typeface="微软雅黑" panose="020B0503020204020204" pitchFamily="34" charset="-122"/>
                <a:ea typeface="微软雅黑" panose="020B0503020204020204" pitchFamily="34" charset="-122"/>
              </a:rPr>
              <a:t>这种方式避免了不必要的数据拷贝，性能更优！</a:t>
            </a:r>
          </a:p>
        </p:txBody>
      </p:sp>
      <p:sp>
        <p:nvSpPr>
          <p:cNvPr id="12" name="标题 1">
            <a:extLst>
              <a:ext uri="{FF2B5EF4-FFF2-40B4-BE49-F238E27FC236}">
                <a16:creationId xmlns:a16="http://schemas.microsoft.com/office/drawing/2014/main" id="{CBD3A64B-68EA-9E3D-A5A4-87A115182734}"/>
              </a:ext>
            </a:extLst>
          </p:cNvPr>
          <p:cNvSpPr>
            <a:spLocks noGrp="1"/>
          </p:cNvSpPr>
          <p:nvPr/>
        </p:nvSpPr>
        <p:spPr>
          <a:xfrm>
            <a:off x="266527" y="929142"/>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扩展：列表切片操作的底层实现</a:t>
            </a:r>
          </a:p>
        </p:txBody>
      </p:sp>
      <p:sp>
        <p:nvSpPr>
          <p:cNvPr id="13" name="标题 1">
            <a:extLst>
              <a:ext uri="{FF2B5EF4-FFF2-40B4-BE49-F238E27FC236}">
                <a16:creationId xmlns:a16="http://schemas.microsoft.com/office/drawing/2014/main" id="{885FBA20-F637-B5B6-F9A5-55A76566F2C1}"/>
              </a:ext>
            </a:extLst>
          </p:cNvPr>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Tree>
    <p:extLst>
      <p:ext uri="{BB962C8B-B14F-4D97-AF65-F5344CB8AC3E}">
        <p14:creationId xmlns:p14="http://schemas.microsoft.com/office/powerpoint/2010/main" val="4208384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698575" y="1989634"/>
            <a:ext cx="11596687" cy="3078163"/>
          </a:xfrm>
          <a:prstGeom prst="rect">
            <a:avLst/>
          </a:prstGeom>
        </p:spPr>
        <p:txBody>
          <a:bodyPr>
            <a:normAutofit/>
          </a:bodyPr>
          <a:lstStyle/>
          <a:p>
            <a:pPr marL="0" indent="0">
              <a:lnSpc>
                <a:spcPct val="150000"/>
              </a:lnSpc>
              <a:buNone/>
            </a:pPr>
            <a:r>
              <a:rPr kumimoji="1" lang="zh-CN" altLang="en-US" sz="2800" dirty="0">
                <a:latin typeface="方正大黑简体" panose="03000509000000000000" pitchFamily="2" charset="-122"/>
                <a:ea typeface="方正大黑简体" panose="03000509000000000000" pitchFamily="2" charset="-122"/>
              </a:rPr>
              <a:t>列表中的元素也可以是列表，这样可以将列表看成更高维的数组</a:t>
            </a:r>
            <a:endParaRPr kumimoji="1" lang="en-US" altLang="zh-CN" sz="2800" dirty="0">
              <a:latin typeface="方正大黑简体" panose="03000509000000000000" pitchFamily="2" charset="-122"/>
              <a:ea typeface="方正大黑简体" panose="03000509000000000000" pitchFamily="2" charset="-122"/>
            </a:endParaRPr>
          </a:p>
          <a:p>
            <a:pPr marL="0" indent="0">
              <a:lnSpc>
                <a:spcPct val="150000"/>
              </a:lnSpc>
              <a:buNone/>
            </a:pPr>
            <a:r>
              <a:rPr kumimoji="1" lang="en-US" altLang="zh-CN" sz="2800" dirty="0">
                <a:latin typeface="方正大黑简体" panose="03000509000000000000" pitchFamily="2" charset="-122"/>
                <a:ea typeface="方正大黑简体" panose="03000509000000000000" pitchFamily="2" charset="-122"/>
              </a:rPr>
              <a:t>temp = [[1,2],2]</a:t>
            </a:r>
          </a:p>
          <a:p>
            <a:pPr marL="0" indent="0">
              <a:lnSpc>
                <a:spcPct val="150000"/>
              </a:lnSpc>
              <a:buNone/>
            </a:pPr>
            <a:r>
              <a:rPr kumimoji="1" lang="en-US" altLang="zh-CN" sz="2800" dirty="0">
                <a:latin typeface="方正大黑简体" panose="03000509000000000000" pitchFamily="2" charset="-122"/>
                <a:ea typeface="方正大黑简体" panose="03000509000000000000" pitchFamily="2" charset="-122"/>
              </a:rPr>
              <a:t>print </a:t>
            </a:r>
            <a:r>
              <a:rPr kumimoji="1" lang="zh-CN" altLang="en-US" sz="2800" dirty="0">
                <a:latin typeface="方正大黑简体" panose="03000509000000000000" pitchFamily="2" charset="-122"/>
                <a:ea typeface="方正大黑简体" panose="03000509000000000000" pitchFamily="2" charset="-122"/>
              </a:rPr>
              <a:t>（</a:t>
            </a:r>
            <a:r>
              <a:rPr kumimoji="1" lang="en-US" altLang="zh-CN" sz="2800" dirty="0">
                <a:latin typeface="方正大黑简体" panose="03000509000000000000" pitchFamily="2" charset="-122"/>
                <a:ea typeface="方正大黑简体" panose="03000509000000000000" pitchFamily="2" charset="-122"/>
              </a:rPr>
              <a:t>temp[0][0]</a:t>
            </a:r>
            <a:r>
              <a:rPr kumimoji="1" lang="zh-CN" altLang="en-US" sz="2800" dirty="0">
                <a:latin typeface="方正大黑简体" panose="03000509000000000000" pitchFamily="2" charset="-122"/>
                <a:ea typeface="方正大黑简体" panose="03000509000000000000" pitchFamily="2" charset="-122"/>
              </a:rPr>
              <a:t>）</a:t>
            </a:r>
          </a:p>
        </p:txBody>
      </p:sp>
      <p:sp>
        <p:nvSpPr>
          <p:cNvPr id="12" name="标题 1"/>
          <p:cNvSpPr>
            <a:spLocks noGrp="1"/>
          </p:cNvSpPr>
          <p:nvPr/>
        </p:nvSpPr>
        <p:spPr>
          <a:xfrm>
            <a:off x="266527" y="929142"/>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、嵌套列表</a:t>
            </a:r>
          </a:p>
        </p:txBody>
      </p:sp>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a:spLocks noGrp="1"/>
          </p:cNvSpPr>
          <p:nvPr/>
        </p:nvSpPr>
        <p:spPr>
          <a:xfrm>
            <a:off x="266527" y="929142"/>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、列表其他操作</a:t>
            </a:r>
          </a:p>
        </p:txBody>
      </p:sp>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graphicFrame>
        <p:nvGraphicFramePr>
          <p:cNvPr id="3" name="表格 2"/>
          <p:cNvGraphicFramePr>
            <a:graphicFrameLocks noGrp="1"/>
          </p:cNvGraphicFramePr>
          <p:nvPr/>
        </p:nvGraphicFramePr>
        <p:xfrm>
          <a:off x="914598" y="1701602"/>
          <a:ext cx="9793089" cy="4416200"/>
        </p:xfrm>
        <a:graphic>
          <a:graphicData uri="http://schemas.openxmlformats.org/drawingml/2006/table">
            <a:tbl>
              <a:tblPr>
                <a:tableStyleId>{616DA210-FB5B-4158-B5E0-FEB733F419BA}</a:tableStyleId>
              </a:tblPr>
              <a:tblGrid>
                <a:gridCol w="3672409">
                  <a:extLst>
                    <a:ext uri="{9D8B030D-6E8A-4147-A177-3AD203B41FA5}">
                      <a16:colId xmlns:a16="http://schemas.microsoft.com/office/drawing/2014/main" val="20000"/>
                    </a:ext>
                  </a:extLst>
                </a:gridCol>
                <a:gridCol w="3652503">
                  <a:extLst>
                    <a:ext uri="{9D8B030D-6E8A-4147-A177-3AD203B41FA5}">
                      <a16:colId xmlns:a16="http://schemas.microsoft.com/office/drawing/2014/main" val="20001"/>
                    </a:ext>
                  </a:extLst>
                </a:gridCol>
                <a:gridCol w="2468177">
                  <a:extLst>
                    <a:ext uri="{9D8B030D-6E8A-4147-A177-3AD203B41FA5}">
                      <a16:colId xmlns:a16="http://schemas.microsoft.com/office/drawing/2014/main" val="20002"/>
                    </a:ext>
                  </a:extLst>
                </a:gridCol>
              </a:tblGrid>
              <a:tr h="725487">
                <a:tc>
                  <a:txBody>
                    <a:bodyPr/>
                    <a:lstStyle/>
                    <a:p>
                      <a:r>
                        <a:rPr lang="en-US" sz="2400" b="1" dirty="0">
                          <a:effectLst/>
                          <a:latin typeface="微软雅黑" panose="020B0503020204020204" pitchFamily="34" charset="-122"/>
                          <a:ea typeface="微软雅黑" panose="020B0503020204020204" pitchFamily="34" charset="-122"/>
                        </a:rPr>
                        <a:t>Python </a:t>
                      </a:r>
                      <a:r>
                        <a:rPr lang="zh-CN" altLang="en-US" sz="2400" b="1" dirty="0">
                          <a:effectLst/>
                          <a:latin typeface="微软雅黑" panose="020B0503020204020204" pitchFamily="34" charset="-122"/>
                          <a:ea typeface="微软雅黑" panose="020B0503020204020204" pitchFamily="34" charset="-122"/>
                        </a:rPr>
                        <a:t>表达式</a:t>
                      </a:r>
                      <a:endParaRPr lang="zh-CN" altLang="en-US" sz="2400" b="1" dirty="0">
                        <a:solidFill>
                          <a:srgbClr val="000000"/>
                        </a:solidFill>
                        <a:effectLst/>
                        <a:latin typeface="微软雅黑" panose="020B0503020204020204" pitchFamily="34" charset="-122"/>
                        <a:ea typeface="微软雅黑" panose="020B0503020204020204" pitchFamily="34" charset="-122"/>
                      </a:endParaRPr>
                    </a:p>
                  </a:txBody>
                  <a:tcPr marL="12803" marR="12803" marT="12803" marB="12803" anchor="ctr"/>
                </a:tc>
                <a:tc>
                  <a:txBody>
                    <a:bodyPr/>
                    <a:lstStyle/>
                    <a:p>
                      <a:r>
                        <a:rPr lang="zh-CN" altLang="en-US" sz="2400" b="1" dirty="0">
                          <a:effectLst/>
                          <a:latin typeface="微软雅黑" panose="020B0503020204020204" pitchFamily="34" charset="-122"/>
                          <a:ea typeface="微软雅黑" panose="020B0503020204020204" pitchFamily="34" charset="-122"/>
                        </a:rPr>
                        <a:t>结果</a:t>
                      </a:r>
                      <a:endParaRPr lang="zh-CN" altLang="en-US" sz="2400" b="1" dirty="0">
                        <a:solidFill>
                          <a:srgbClr val="000000"/>
                        </a:solidFill>
                        <a:effectLst/>
                        <a:latin typeface="微软雅黑" panose="020B0503020204020204" pitchFamily="34" charset="-122"/>
                        <a:ea typeface="微软雅黑" panose="020B0503020204020204" pitchFamily="34" charset="-122"/>
                      </a:endParaRPr>
                    </a:p>
                  </a:txBody>
                  <a:tcPr marL="12803" marR="12803" marT="12803" marB="12803" anchor="ctr"/>
                </a:tc>
                <a:tc>
                  <a:txBody>
                    <a:bodyPr/>
                    <a:lstStyle/>
                    <a:p>
                      <a:r>
                        <a:rPr lang="zh-CN" altLang="en-US" sz="2400" b="1" dirty="0">
                          <a:effectLst/>
                          <a:latin typeface="微软雅黑" panose="020B0503020204020204" pitchFamily="34" charset="-122"/>
                          <a:ea typeface="微软雅黑" panose="020B0503020204020204" pitchFamily="34" charset="-122"/>
                        </a:rPr>
                        <a:t>描述</a:t>
                      </a:r>
                      <a:endParaRPr lang="zh-CN" altLang="en-US" sz="2400" b="1" dirty="0">
                        <a:solidFill>
                          <a:srgbClr val="000000"/>
                        </a:solidFill>
                        <a:effectLst/>
                        <a:latin typeface="微软雅黑" panose="020B0503020204020204" pitchFamily="34" charset="-122"/>
                        <a:ea typeface="微软雅黑" panose="020B0503020204020204" pitchFamily="34" charset="-122"/>
                      </a:endParaRPr>
                    </a:p>
                  </a:txBody>
                  <a:tcPr marL="12803" marR="12803" marT="12803" marB="12803" anchor="ctr"/>
                </a:tc>
                <a:extLst>
                  <a:ext uri="{0D108BD9-81ED-4DB2-BD59-A6C34878D82A}">
                    <a16:rowId xmlns:a16="http://schemas.microsoft.com/office/drawing/2014/main" val="10000"/>
                  </a:ext>
                </a:extLst>
              </a:tr>
              <a:tr h="725487">
                <a:tc>
                  <a:txBody>
                    <a:bodyPr/>
                    <a:lstStyle/>
                    <a:p>
                      <a:r>
                        <a:rPr lang="en-US" sz="2400" b="1" dirty="0" err="1">
                          <a:effectLst/>
                          <a:latin typeface="Arial" panose="020B0604020202020204" pitchFamily="34" charset="0"/>
                          <a:cs typeface="Arial" panose="020B0604020202020204" pitchFamily="34" charset="0"/>
                        </a:rPr>
                        <a:t>len</a:t>
                      </a:r>
                      <a:r>
                        <a:rPr lang="en-US" sz="2400" b="1" dirty="0">
                          <a:effectLst/>
                          <a:latin typeface="Arial" panose="020B0604020202020204" pitchFamily="34" charset="0"/>
                          <a:cs typeface="Arial" panose="020B0604020202020204" pitchFamily="34" charset="0"/>
                        </a:rPr>
                        <a:t>([1, 2, 3])</a:t>
                      </a:r>
                    </a:p>
                  </a:txBody>
                  <a:tcPr marL="12803" marR="12803" marT="12803" marB="12803" anchor="ctr"/>
                </a:tc>
                <a:tc>
                  <a:txBody>
                    <a:bodyPr/>
                    <a:lstStyle/>
                    <a:p>
                      <a:r>
                        <a:rPr lang="en-US" altLang="zh-CN" sz="2400" b="1">
                          <a:effectLst/>
                          <a:latin typeface="Arial" panose="020B0604020202020204" pitchFamily="34" charset="0"/>
                          <a:cs typeface="Arial" panose="020B0604020202020204" pitchFamily="34" charset="0"/>
                        </a:rPr>
                        <a:t>3</a:t>
                      </a:r>
                    </a:p>
                  </a:txBody>
                  <a:tcPr marL="12803" marR="12803" marT="12803" marB="12803" anchor="ctr"/>
                </a:tc>
                <a:tc>
                  <a:txBody>
                    <a:bodyPr/>
                    <a:lstStyle/>
                    <a:p>
                      <a:r>
                        <a:rPr lang="zh-CN" altLang="en-US" sz="2400" b="1">
                          <a:effectLst/>
                          <a:latin typeface="Arial" panose="020B0604020202020204" pitchFamily="34" charset="0"/>
                          <a:cs typeface="Arial" panose="020B0604020202020204" pitchFamily="34" charset="0"/>
                        </a:rPr>
                        <a:t>长度</a:t>
                      </a:r>
                    </a:p>
                  </a:txBody>
                  <a:tcPr marL="12803" marR="12803" marT="12803" marB="12803" anchor="ctr"/>
                </a:tc>
                <a:extLst>
                  <a:ext uri="{0D108BD9-81ED-4DB2-BD59-A6C34878D82A}">
                    <a16:rowId xmlns:a16="http://schemas.microsoft.com/office/drawing/2014/main" val="10001"/>
                  </a:ext>
                </a:extLst>
              </a:tr>
              <a:tr h="725487">
                <a:tc>
                  <a:txBody>
                    <a:bodyPr/>
                    <a:lstStyle/>
                    <a:p>
                      <a:r>
                        <a:rPr lang="en-US" altLang="zh-CN" sz="2400" b="1">
                          <a:effectLst/>
                          <a:latin typeface="Arial" panose="020B0604020202020204" pitchFamily="34" charset="0"/>
                          <a:cs typeface="Arial" panose="020B0604020202020204" pitchFamily="34" charset="0"/>
                        </a:rPr>
                        <a:t>[1, 2, 3] + [4, 5, 6]</a:t>
                      </a:r>
                    </a:p>
                  </a:txBody>
                  <a:tcPr marL="12803" marR="12803" marT="12803" marB="12803" anchor="ctr"/>
                </a:tc>
                <a:tc>
                  <a:txBody>
                    <a:bodyPr/>
                    <a:lstStyle/>
                    <a:p>
                      <a:r>
                        <a:rPr lang="en-US" altLang="zh-CN" sz="2400" b="1">
                          <a:effectLst/>
                          <a:latin typeface="Arial" panose="020B0604020202020204" pitchFamily="34" charset="0"/>
                          <a:cs typeface="Arial" panose="020B0604020202020204" pitchFamily="34" charset="0"/>
                        </a:rPr>
                        <a:t>[1, 2, 3, 4, 5, 6]</a:t>
                      </a:r>
                    </a:p>
                  </a:txBody>
                  <a:tcPr marL="12803" marR="12803" marT="12803" marB="12803" anchor="ctr"/>
                </a:tc>
                <a:tc>
                  <a:txBody>
                    <a:bodyPr/>
                    <a:lstStyle/>
                    <a:p>
                      <a:r>
                        <a:rPr lang="zh-CN" altLang="en-US" sz="2400" b="1">
                          <a:effectLst/>
                          <a:latin typeface="Arial" panose="020B0604020202020204" pitchFamily="34" charset="0"/>
                          <a:cs typeface="Arial" panose="020B0604020202020204" pitchFamily="34" charset="0"/>
                        </a:rPr>
                        <a:t>组合</a:t>
                      </a:r>
                    </a:p>
                  </a:txBody>
                  <a:tcPr marL="12803" marR="12803" marT="12803" marB="12803" anchor="ctr"/>
                </a:tc>
                <a:extLst>
                  <a:ext uri="{0D108BD9-81ED-4DB2-BD59-A6C34878D82A}">
                    <a16:rowId xmlns:a16="http://schemas.microsoft.com/office/drawing/2014/main" val="10002"/>
                  </a:ext>
                </a:extLst>
              </a:tr>
              <a:tr h="725487">
                <a:tc>
                  <a:txBody>
                    <a:bodyPr/>
                    <a:lstStyle/>
                    <a:p>
                      <a:r>
                        <a:rPr lang="en-US" sz="2400" b="1">
                          <a:effectLst/>
                          <a:latin typeface="Arial" panose="020B0604020202020204" pitchFamily="34" charset="0"/>
                          <a:cs typeface="Arial" panose="020B0604020202020204" pitchFamily="34" charset="0"/>
                        </a:rPr>
                        <a:t>['Hi!'] * 4</a:t>
                      </a:r>
                    </a:p>
                  </a:txBody>
                  <a:tcPr marL="12803" marR="12803" marT="12803" marB="12803" anchor="ctr"/>
                </a:tc>
                <a:tc>
                  <a:txBody>
                    <a:bodyPr/>
                    <a:lstStyle/>
                    <a:p>
                      <a:r>
                        <a:rPr lang="en-US" sz="2400" b="1">
                          <a:effectLst/>
                          <a:latin typeface="Arial" panose="020B0604020202020204" pitchFamily="34" charset="0"/>
                          <a:cs typeface="Arial" panose="020B0604020202020204" pitchFamily="34" charset="0"/>
                        </a:rPr>
                        <a:t>['Hi!', 'Hi!', 'Hi!', 'Hi!']</a:t>
                      </a:r>
                    </a:p>
                  </a:txBody>
                  <a:tcPr marL="12803" marR="12803" marT="12803" marB="12803" anchor="ctr"/>
                </a:tc>
                <a:tc>
                  <a:txBody>
                    <a:bodyPr/>
                    <a:lstStyle/>
                    <a:p>
                      <a:r>
                        <a:rPr lang="zh-CN" altLang="en-US" sz="2400" b="1">
                          <a:effectLst/>
                          <a:latin typeface="Arial" panose="020B0604020202020204" pitchFamily="34" charset="0"/>
                          <a:cs typeface="Arial" panose="020B0604020202020204" pitchFamily="34" charset="0"/>
                        </a:rPr>
                        <a:t>重复</a:t>
                      </a:r>
                    </a:p>
                  </a:txBody>
                  <a:tcPr marL="12803" marR="12803" marT="12803" marB="12803" anchor="ctr"/>
                </a:tc>
                <a:extLst>
                  <a:ext uri="{0D108BD9-81ED-4DB2-BD59-A6C34878D82A}">
                    <a16:rowId xmlns:a16="http://schemas.microsoft.com/office/drawing/2014/main" val="10003"/>
                  </a:ext>
                </a:extLst>
              </a:tr>
              <a:tr h="725487">
                <a:tc>
                  <a:txBody>
                    <a:bodyPr/>
                    <a:lstStyle/>
                    <a:p>
                      <a:r>
                        <a:rPr lang="en-US" sz="2400" b="1">
                          <a:effectLst/>
                          <a:latin typeface="Arial" panose="020B0604020202020204" pitchFamily="34" charset="0"/>
                          <a:cs typeface="Arial" panose="020B0604020202020204" pitchFamily="34" charset="0"/>
                        </a:rPr>
                        <a:t>3 in [1, 2, 3]</a:t>
                      </a:r>
                    </a:p>
                  </a:txBody>
                  <a:tcPr marL="12803" marR="12803" marT="12803" marB="12803" anchor="ctr"/>
                </a:tc>
                <a:tc>
                  <a:txBody>
                    <a:bodyPr/>
                    <a:lstStyle/>
                    <a:p>
                      <a:r>
                        <a:rPr lang="en-US" sz="2400" b="1">
                          <a:effectLst/>
                          <a:latin typeface="Arial" panose="020B0604020202020204" pitchFamily="34" charset="0"/>
                          <a:cs typeface="Arial" panose="020B0604020202020204" pitchFamily="34" charset="0"/>
                        </a:rPr>
                        <a:t>True</a:t>
                      </a:r>
                    </a:p>
                  </a:txBody>
                  <a:tcPr marL="12803" marR="12803" marT="12803" marB="12803" anchor="ctr"/>
                </a:tc>
                <a:tc>
                  <a:txBody>
                    <a:bodyPr/>
                    <a:lstStyle/>
                    <a:p>
                      <a:r>
                        <a:rPr lang="zh-CN" altLang="en-US" sz="2400" b="1">
                          <a:effectLst/>
                          <a:latin typeface="Arial" panose="020B0604020202020204" pitchFamily="34" charset="0"/>
                          <a:cs typeface="Arial" panose="020B0604020202020204" pitchFamily="34" charset="0"/>
                        </a:rPr>
                        <a:t>元素是否存在于列表中</a:t>
                      </a:r>
                    </a:p>
                  </a:txBody>
                  <a:tcPr marL="12803" marR="12803" marT="12803" marB="12803" anchor="ctr"/>
                </a:tc>
                <a:extLst>
                  <a:ext uri="{0D108BD9-81ED-4DB2-BD59-A6C34878D82A}">
                    <a16:rowId xmlns:a16="http://schemas.microsoft.com/office/drawing/2014/main" val="10004"/>
                  </a:ext>
                </a:extLst>
              </a:tr>
              <a:tr h="725487">
                <a:tc>
                  <a:txBody>
                    <a:bodyPr/>
                    <a:lstStyle/>
                    <a:p>
                      <a:r>
                        <a:rPr lang="en-US" sz="2400" b="1" dirty="0">
                          <a:effectLst/>
                          <a:latin typeface="Arial" panose="020B0604020202020204" pitchFamily="34" charset="0"/>
                          <a:cs typeface="Arial" panose="020B0604020202020204" pitchFamily="34" charset="0"/>
                        </a:rPr>
                        <a:t>for x in [1, 2, 3]: </a:t>
                      </a:r>
                    </a:p>
                    <a:p>
                      <a:r>
                        <a:rPr lang="en-US" sz="2400" b="1" dirty="0">
                          <a:effectLst/>
                          <a:latin typeface="Arial" panose="020B0604020202020204" pitchFamily="34" charset="0"/>
                          <a:cs typeface="Arial" panose="020B0604020202020204" pitchFamily="34" charset="0"/>
                        </a:rPr>
                        <a:t>      print x</a:t>
                      </a:r>
                      <a:r>
                        <a:rPr lang="en-US" sz="2400" b="1" baseline="0" dirty="0">
                          <a:effectLst/>
                          <a:latin typeface="Arial" panose="020B0604020202020204" pitchFamily="34" charset="0"/>
                          <a:cs typeface="Arial" panose="020B0604020202020204" pitchFamily="34" charset="0"/>
                        </a:rPr>
                        <a:t>  </a:t>
                      </a:r>
                      <a:endParaRPr lang="en-US" sz="2400" b="1" dirty="0">
                        <a:effectLst/>
                        <a:latin typeface="Arial" panose="020B0604020202020204" pitchFamily="34" charset="0"/>
                        <a:cs typeface="Arial" panose="020B0604020202020204" pitchFamily="34" charset="0"/>
                      </a:endParaRPr>
                    </a:p>
                  </a:txBody>
                  <a:tcPr marL="12803" marR="12803" marT="12803" marB="12803" anchor="ctr"/>
                </a:tc>
                <a:tc>
                  <a:txBody>
                    <a:bodyPr/>
                    <a:lstStyle/>
                    <a:p>
                      <a:r>
                        <a:rPr lang="en-US" altLang="zh-CN" sz="2400" b="1">
                          <a:effectLst/>
                          <a:latin typeface="Arial" panose="020B0604020202020204" pitchFamily="34" charset="0"/>
                          <a:cs typeface="Arial" panose="020B0604020202020204" pitchFamily="34" charset="0"/>
                        </a:rPr>
                        <a:t>1 2 3</a:t>
                      </a:r>
                    </a:p>
                  </a:txBody>
                  <a:tcPr marL="12803" marR="12803" marT="12803" marB="12803" anchor="ctr"/>
                </a:tc>
                <a:tc>
                  <a:txBody>
                    <a:bodyPr/>
                    <a:lstStyle/>
                    <a:p>
                      <a:r>
                        <a:rPr lang="zh-CN" altLang="en-US" sz="2400" b="1" dirty="0">
                          <a:effectLst/>
                          <a:latin typeface="Arial" panose="020B0604020202020204" pitchFamily="34" charset="0"/>
                          <a:cs typeface="Arial" panose="020B0604020202020204" pitchFamily="34" charset="0"/>
                        </a:rPr>
                        <a:t>迭代</a:t>
                      </a:r>
                    </a:p>
                  </a:txBody>
                  <a:tcPr marL="12803" marR="12803" marT="12803" marB="12803"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a:spLocks noGrp="1"/>
          </p:cNvSpPr>
          <p:nvPr/>
        </p:nvSpPr>
        <p:spPr>
          <a:xfrm>
            <a:off x="266527" y="929142"/>
            <a:ext cx="7643955"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、列表操作函数</a:t>
            </a:r>
          </a:p>
        </p:txBody>
      </p:sp>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矩形 1"/>
          <p:cNvSpPr/>
          <p:nvPr/>
        </p:nvSpPr>
        <p:spPr>
          <a:xfrm>
            <a:off x="902281" y="1732077"/>
            <a:ext cx="11017224" cy="3970318"/>
          </a:xfrm>
          <a:prstGeom prst="rect">
            <a:avLst/>
          </a:prstGeom>
        </p:spPr>
        <p:txBody>
          <a:bodyPr wrap="square">
            <a:spAutoFit/>
          </a:bodyPr>
          <a:lstStyle/>
          <a:p>
            <a:pPr>
              <a:lnSpc>
                <a:spcPct val="150000"/>
              </a:lnSpc>
            </a:pPr>
            <a:r>
              <a:rPr lang="zh-CN" altLang="en-US" sz="2800" dirty="0">
                <a:solidFill>
                  <a:srgbClr val="333333"/>
                </a:solidFill>
                <a:latin typeface="微软雅黑" panose="020B0503020204020204" pitchFamily="34" charset="-122"/>
                <a:ea typeface="微软雅黑" panose="020B0503020204020204" pitchFamily="34" charset="-122"/>
              </a:rPr>
              <a:t>（</a:t>
            </a:r>
            <a:r>
              <a:rPr lang="en-US" altLang="zh-CN" sz="2800" dirty="0">
                <a:solidFill>
                  <a:srgbClr val="333333"/>
                </a:solidFill>
                <a:latin typeface="微软雅黑" panose="020B0503020204020204" pitchFamily="34" charset="-122"/>
                <a:ea typeface="微软雅黑" panose="020B0503020204020204" pitchFamily="34" charset="-122"/>
              </a:rPr>
              <a:t>1</a:t>
            </a:r>
            <a:r>
              <a:rPr lang="zh-CN" altLang="en-US" sz="2800" dirty="0">
                <a:solidFill>
                  <a:srgbClr val="333333"/>
                </a:solidFill>
                <a:latin typeface="微软雅黑" panose="020B0503020204020204" pitchFamily="34" charset="-122"/>
                <a:ea typeface="微软雅黑" panose="020B0503020204020204" pitchFamily="34" charset="-122"/>
              </a:rPr>
              <a:t>）</a:t>
            </a:r>
            <a:r>
              <a:rPr lang="en-US" altLang="zh-CN" sz="2800" dirty="0" err="1">
                <a:solidFill>
                  <a:srgbClr val="333333"/>
                </a:solidFill>
                <a:latin typeface="微软雅黑" panose="020B0503020204020204" pitchFamily="34" charset="-122"/>
                <a:ea typeface="微软雅黑" panose="020B0503020204020204" pitchFamily="34" charset="-122"/>
              </a:rPr>
              <a:t>cmp</a:t>
            </a:r>
            <a:r>
              <a:rPr lang="en-US" altLang="zh-CN" sz="2800" dirty="0">
                <a:solidFill>
                  <a:srgbClr val="333333"/>
                </a:solidFill>
                <a:latin typeface="微软雅黑" panose="020B0503020204020204" pitchFamily="34" charset="-122"/>
                <a:ea typeface="微软雅黑" panose="020B0503020204020204" pitchFamily="34" charset="-122"/>
              </a:rPr>
              <a:t>(list1, list2)</a:t>
            </a:r>
            <a:r>
              <a:rPr lang="zh-CN" altLang="en-US" sz="2800" dirty="0">
                <a:solidFill>
                  <a:srgbClr val="333333"/>
                </a:solidFill>
                <a:latin typeface="微软雅黑" panose="020B0503020204020204" pitchFamily="34" charset="-122"/>
                <a:ea typeface="微软雅黑" panose="020B0503020204020204" pitchFamily="34" charset="-122"/>
              </a:rPr>
              <a:t>：比较两个列表的元素 （</a:t>
            </a:r>
            <a:r>
              <a:rPr lang="en-US" altLang="zh-CN" sz="2800" dirty="0">
                <a:solidFill>
                  <a:srgbClr val="333333"/>
                </a:solidFill>
                <a:latin typeface="微软雅黑" panose="020B0503020204020204" pitchFamily="34" charset="-122"/>
                <a:ea typeface="微软雅黑" panose="020B0503020204020204" pitchFamily="34" charset="-122"/>
              </a:rPr>
              <a:t>Python2</a:t>
            </a:r>
            <a:r>
              <a:rPr lang="zh-CN" altLang="en-US" sz="2800" dirty="0">
                <a:solidFill>
                  <a:srgbClr val="333333"/>
                </a:solidFill>
                <a:latin typeface="微软雅黑" panose="020B0503020204020204" pitchFamily="34" charset="-122"/>
                <a:ea typeface="微软雅黑" panose="020B0503020204020204" pitchFamily="34" charset="-122"/>
              </a:rPr>
              <a:t>适用，</a:t>
            </a:r>
            <a:r>
              <a:rPr lang="en-US" altLang="zh-CN" sz="2800" dirty="0">
                <a:solidFill>
                  <a:srgbClr val="333333"/>
                </a:solidFill>
                <a:latin typeface="微软雅黑" panose="020B0503020204020204" pitchFamily="34" charset="-122"/>
                <a:ea typeface="微软雅黑" panose="020B0503020204020204" pitchFamily="34" charset="-122"/>
              </a:rPr>
              <a:t>Python3</a:t>
            </a:r>
            <a:r>
              <a:rPr lang="zh-CN" altLang="en-US" sz="2800" dirty="0">
                <a:solidFill>
                  <a:srgbClr val="333333"/>
                </a:solidFill>
                <a:latin typeface="微软雅黑" panose="020B0503020204020204" pitchFamily="34" charset="-122"/>
                <a:ea typeface="微软雅黑" panose="020B0503020204020204" pitchFamily="34" charset="-122"/>
              </a:rPr>
              <a:t>移除，改用</a:t>
            </a:r>
            <a:r>
              <a:rPr lang="en-US" altLang="zh-CN" sz="2800" dirty="0">
                <a:solidFill>
                  <a:srgbClr val="333333"/>
                </a:solidFill>
                <a:latin typeface="微软雅黑" panose="020B0503020204020204" pitchFamily="34" charset="-122"/>
                <a:ea typeface="微软雅黑" panose="020B0503020204020204" pitchFamily="34" charset="-122"/>
              </a:rPr>
              <a:t>operator</a:t>
            </a:r>
            <a:r>
              <a:rPr lang="zh-CN" altLang="en-US" sz="2800" dirty="0">
                <a:solidFill>
                  <a:srgbClr val="333333"/>
                </a:solidFill>
                <a:latin typeface="微软雅黑" panose="020B0503020204020204" pitchFamily="34" charset="-122"/>
                <a:ea typeface="微软雅黑" panose="020B0503020204020204" pitchFamily="34" charset="-122"/>
              </a:rPr>
              <a:t>中</a:t>
            </a:r>
            <a:r>
              <a:rPr lang="en" altLang="zh-CN" sz="2800" dirty="0" err="1">
                <a:solidFill>
                  <a:srgbClr val="333333"/>
                </a:solidFill>
                <a:latin typeface="微软雅黑" panose="020B0503020204020204" pitchFamily="34" charset="-122"/>
                <a:ea typeface="微软雅黑" panose="020B0503020204020204" pitchFamily="34" charset="-122"/>
              </a:rPr>
              <a:t>lt</a:t>
            </a:r>
            <a:r>
              <a:rPr lang="zh-CN" altLang="en" sz="2800" dirty="0">
                <a:solidFill>
                  <a:srgbClr val="333333"/>
                </a:solidFill>
                <a:latin typeface="微软雅黑" panose="020B0503020204020204" pitchFamily="34" charset="-122"/>
                <a:ea typeface="微软雅黑" panose="020B0503020204020204" pitchFamily="34" charset="-122"/>
              </a:rPr>
              <a:t>、</a:t>
            </a:r>
            <a:r>
              <a:rPr lang="en" altLang="zh-CN" sz="2800" dirty="0">
                <a:solidFill>
                  <a:srgbClr val="333333"/>
                </a:solidFill>
                <a:latin typeface="微软雅黑" panose="020B0503020204020204" pitchFamily="34" charset="-122"/>
                <a:ea typeface="微软雅黑" panose="020B0503020204020204" pitchFamily="34" charset="-122"/>
              </a:rPr>
              <a:t>le</a:t>
            </a:r>
            <a:r>
              <a:rPr lang="zh-CN" altLang="en" sz="2800" dirty="0">
                <a:solidFill>
                  <a:srgbClr val="333333"/>
                </a:solidFill>
                <a:latin typeface="微软雅黑" panose="020B0503020204020204" pitchFamily="34" charset="-122"/>
                <a:ea typeface="微软雅黑" panose="020B0503020204020204" pitchFamily="34" charset="-122"/>
              </a:rPr>
              <a:t>、</a:t>
            </a:r>
            <a:r>
              <a:rPr lang="en" altLang="zh-CN" sz="2800" dirty="0">
                <a:solidFill>
                  <a:srgbClr val="333333"/>
                </a:solidFill>
                <a:latin typeface="微软雅黑" panose="020B0503020204020204" pitchFamily="34" charset="-122"/>
                <a:ea typeface="微软雅黑" panose="020B0503020204020204" pitchFamily="34" charset="-122"/>
              </a:rPr>
              <a:t>eq</a:t>
            </a:r>
            <a:r>
              <a:rPr lang="zh-CN" altLang="en" sz="2800" dirty="0">
                <a:solidFill>
                  <a:srgbClr val="333333"/>
                </a:solidFill>
                <a:latin typeface="微软雅黑" panose="020B0503020204020204" pitchFamily="34" charset="-122"/>
                <a:ea typeface="微软雅黑" panose="020B0503020204020204" pitchFamily="34" charset="-122"/>
              </a:rPr>
              <a:t>、</a:t>
            </a:r>
            <a:r>
              <a:rPr lang="en" altLang="zh-CN" sz="2800" dirty="0">
                <a:solidFill>
                  <a:srgbClr val="333333"/>
                </a:solidFill>
                <a:latin typeface="微软雅黑" panose="020B0503020204020204" pitchFamily="34" charset="-122"/>
                <a:ea typeface="微软雅黑" panose="020B0503020204020204" pitchFamily="34" charset="-122"/>
              </a:rPr>
              <a:t>ne</a:t>
            </a:r>
            <a:r>
              <a:rPr lang="zh-CN" altLang="en" sz="2800" dirty="0">
                <a:solidFill>
                  <a:srgbClr val="333333"/>
                </a:solidFill>
                <a:latin typeface="微软雅黑" panose="020B0503020204020204" pitchFamily="34" charset="-122"/>
                <a:ea typeface="微软雅黑" panose="020B0503020204020204" pitchFamily="34" charset="-122"/>
              </a:rPr>
              <a:t>、</a:t>
            </a:r>
            <a:r>
              <a:rPr lang="en" altLang="zh-CN" sz="2800" dirty="0" err="1">
                <a:solidFill>
                  <a:srgbClr val="333333"/>
                </a:solidFill>
                <a:latin typeface="微软雅黑" panose="020B0503020204020204" pitchFamily="34" charset="-122"/>
                <a:ea typeface="微软雅黑" panose="020B0503020204020204" pitchFamily="34" charset="-122"/>
              </a:rPr>
              <a:t>ge</a:t>
            </a:r>
            <a:r>
              <a:rPr lang="zh-CN" altLang="en" sz="2800" dirty="0">
                <a:solidFill>
                  <a:srgbClr val="333333"/>
                </a:solidFill>
                <a:latin typeface="微软雅黑" panose="020B0503020204020204" pitchFamily="34" charset="-122"/>
                <a:ea typeface="微软雅黑" panose="020B0503020204020204" pitchFamily="34" charset="-122"/>
              </a:rPr>
              <a:t>、</a:t>
            </a:r>
            <a:r>
              <a:rPr lang="en" altLang="zh-CN" sz="2800" dirty="0" err="1">
                <a:solidFill>
                  <a:srgbClr val="333333"/>
                </a:solidFill>
                <a:latin typeface="微软雅黑" panose="020B0503020204020204" pitchFamily="34" charset="-122"/>
                <a:ea typeface="微软雅黑" panose="020B0503020204020204" pitchFamily="34" charset="-122"/>
              </a:rPr>
              <a:t>gt</a:t>
            </a:r>
            <a:r>
              <a:rPr lang="zh-CN" altLang="en-US" sz="2800" dirty="0">
                <a:solidFill>
                  <a:srgbClr val="333333"/>
                </a:solidFill>
                <a:latin typeface="微软雅黑" panose="020B0503020204020204" pitchFamily="34" charset="-122"/>
                <a:ea typeface="微软雅黑" panose="020B0503020204020204" pitchFamily="34" charset="-122"/>
              </a:rPr>
              <a:t>）</a:t>
            </a:r>
            <a:br>
              <a:rPr lang="zh-CN" altLang="en-US" sz="2800" dirty="0">
                <a:latin typeface="微软雅黑" panose="020B0503020204020204" pitchFamily="34" charset="-122"/>
                <a:ea typeface="微软雅黑" panose="020B0503020204020204" pitchFamily="34" charset="-122"/>
              </a:rPr>
            </a:br>
            <a:r>
              <a:rPr lang="zh-CN" altLang="en-US" sz="2800" dirty="0">
                <a:latin typeface="微软雅黑" panose="020B0503020204020204" pitchFamily="34" charset="-122"/>
                <a:ea typeface="微软雅黑" panose="020B0503020204020204" pitchFamily="34" charset="-122"/>
              </a:rPr>
              <a:t>（</a:t>
            </a:r>
            <a:r>
              <a:rPr lang="en-US" altLang="zh-CN" sz="2800" dirty="0">
                <a:solidFill>
                  <a:srgbClr val="333333"/>
                </a:solidFill>
                <a:latin typeface="微软雅黑" panose="020B0503020204020204" pitchFamily="34" charset="-122"/>
                <a:ea typeface="微软雅黑" panose="020B0503020204020204" pitchFamily="34" charset="-122"/>
              </a:rPr>
              <a:t>2</a:t>
            </a:r>
            <a:r>
              <a:rPr lang="zh-CN" altLang="en-US" sz="2800" dirty="0">
                <a:solidFill>
                  <a:srgbClr val="333333"/>
                </a:solidFill>
                <a:latin typeface="微软雅黑" panose="020B0503020204020204" pitchFamily="34" charset="-122"/>
                <a:ea typeface="微软雅黑" panose="020B0503020204020204" pitchFamily="34" charset="-122"/>
              </a:rPr>
              <a:t>）</a:t>
            </a:r>
            <a:r>
              <a:rPr lang="en-US" altLang="zh-CN" sz="2800" dirty="0" err="1">
                <a:solidFill>
                  <a:srgbClr val="333333"/>
                </a:solidFill>
                <a:latin typeface="微软雅黑" panose="020B0503020204020204" pitchFamily="34" charset="-122"/>
                <a:ea typeface="微软雅黑" panose="020B0503020204020204" pitchFamily="34" charset="-122"/>
              </a:rPr>
              <a:t>len</a:t>
            </a:r>
            <a:r>
              <a:rPr lang="en-US" altLang="zh-CN" sz="2800" dirty="0">
                <a:solidFill>
                  <a:srgbClr val="333333"/>
                </a:solidFill>
                <a:latin typeface="微软雅黑" panose="020B0503020204020204" pitchFamily="34" charset="-122"/>
                <a:ea typeface="微软雅黑" panose="020B0503020204020204" pitchFamily="34" charset="-122"/>
              </a:rPr>
              <a:t>(list)</a:t>
            </a:r>
            <a:r>
              <a:rPr lang="zh-CN" altLang="en-US" sz="2800" dirty="0">
                <a:solidFill>
                  <a:srgbClr val="333333"/>
                </a:solidFill>
                <a:latin typeface="微软雅黑" panose="020B0503020204020204" pitchFamily="34" charset="-122"/>
                <a:ea typeface="微软雅黑" panose="020B0503020204020204" pitchFamily="34" charset="-122"/>
              </a:rPr>
              <a:t>：列表元素个数 </a:t>
            </a:r>
            <a:br>
              <a:rPr lang="zh-CN" altLang="en-US" sz="2800" dirty="0">
                <a:latin typeface="微软雅黑" panose="020B0503020204020204" pitchFamily="34" charset="-122"/>
                <a:ea typeface="微软雅黑" panose="020B0503020204020204" pitchFamily="34" charset="-122"/>
              </a:rPr>
            </a:br>
            <a:r>
              <a:rPr lang="zh-CN" altLang="en-US" sz="2800" dirty="0">
                <a:latin typeface="微软雅黑" panose="020B0503020204020204" pitchFamily="34" charset="-122"/>
                <a:ea typeface="微软雅黑" panose="020B0503020204020204" pitchFamily="34" charset="-122"/>
              </a:rPr>
              <a:t>（</a:t>
            </a:r>
            <a:r>
              <a:rPr lang="en-US" altLang="zh-CN" sz="2800" dirty="0">
                <a:solidFill>
                  <a:srgbClr val="333333"/>
                </a:solidFill>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a:t>
            </a:r>
            <a:r>
              <a:rPr lang="en-US" altLang="zh-CN" sz="2800" dirty="0">
                <a:solidFill>
                  <a:srgbClr val="333333"/>
                </a:solidFill>
                <a:latin typeface="微软雅黑" panose="020B0503020204020204" pitchFamily="34" charset="-122"/>
                <a:ea typeface="微软雅黑" panose="020B0503020204020204" pitchFamily="34" charset="-122"/>
              </a:rPr>
              <a:t>max(list)</a:t>
            </a:r>
            <a:r>
              <a:rPr lang="zh-CN" altLang="en-US" sz="2800" dirty="0">
                <a:solidFill>
                  <a:srgbClr val="333333"/>
                </a:solidFill>
                <a:latin typeface="微软雅黑" panose="020B0503020204020204" pitchFamily="34" charset="-122"/>
                <a:ea typeface="微软雅黑" panose="020B0503020204020204" pitchFamily="34" charset="-122"/>
              </a:rPr>
              <a:t>：返回列表元素最大值 </a:t>
            </a:r>
            <a:br>
              <a:rPr lang="zh-CN" altLang="en-US" sz="2800" dirty="0">
                <a:latin typeface="微软雅黑" panose="020B0503020204020204" pitchFamily="34" charset="-122"/>
                <a:ea typeface="微软雅黑" panose="020B0503020204020204" pitchFamily="34" charset="-122"/>
              </a:rPr>
            </a:br>
            <a:r>
              <a:rPr lang="zh-CN" altLang="en-US" sz="2800" dirty="0">
                <a:latin typeface="微软雅黑" panose="020B0503020204020204" pitchFamily="34" charset="-122"/>
                <a:ea typeface="微软雅黑" panose="020B0503020204020204" pitchFamily="34" charset="-122"/>
              </a:rPr>
              <a:t>（</a:t>
            </a:r>
            <a:r>
              <a:rPr lang="en-US" altLang="zh-CN" sz="2800" dirty="0">
                <a:solidFill>
                  <a:srgbClr val="333333"/>
                </a:solidFill>
                <a:latin typeface="微软雅黑" panose="020B0503020204020204" pitchFamily="34" charset="-122"/>
                <a:ea typeface="微软雅黑" panose="020B0503020204020204" pitchFamily="34" charset="-122"/>
              </a:rPr>
              <a:t>4</a:t>
            </a:r>
            <a:r>
              <a:rPr lang="zh-CN" altLang="en-US" sz="2800" dirty="0">
                <a:latin typeface="微软雅黑" panose="020B0503020204020204" pitchFamily="34" charset="-122"/>
                <a:ea typeface="微软雅黑" panose="020B0503020204020204" pitchFamily="34" charset="-122"/>
              </a:rPr>
              <a:t>）</a:t>
            </a:r>
            <a:r>
              <a:rPr lang="en-US" altLang="zh-CN" sz="2800" dirty="0">
                <a:solidFill>
                  <a:srgbClr val="333333"/>
                </a:solidFill>
                <a:latin typeface="微软雅黑" panose="020B0503020204020204" pitchFamily="34" charset="-122"/>
                <a:ea typeface="微软雅黑" panose="020B0503020204020204" pitchFamily="34" charset="-122"/>
              </a:rPr>
              <a:t>min(list)</a:t>
            </a:r>
            <a:r>
              <a:rPr lang="zh-CN" altLang="en-US" sz="2800" dirty="0">
                <a:solidFill>
                  <a:srgbClr val="333333"/>
                </a:solidFill>
                <a:latin typeface="微软雅黑" panose="020B0503020204020204" pitchFamily="34" charset="-122"/>
                <a:ea typeface="微软雅黑" panose="020B0503020204020204" pitchFamily="34" charset="-122"/>
              </a:rPr>
              <a:t>：返回列表元素最小值 </a:t>
            </a:r>
            <a:br>
              <a:rPr lang="zh-CN" altLang="en-US" sz="2800" dirty="0">
                <a:latin typeface="微软雅黑" panose="020B0503020204020204" pitchFamily="34" charset="-122"/>
                <a:ea typeface="微软雅黑" panose="020B0503020204020204" pitchFamily="34" charset="-122"/>
              </a:rPr>
            </a:br>
            <a:r>
              <a:rPr lang="zh-CN" altLang="en-US" sz="2800" dirty="0">
                <a:latin typeface="微软雅黑" panose="020B0503020204020204" pitchFamily="34" charset="-122"/>
                <a:ea typeface="微软雅黑" panose="020B0503020204020204" pitchFamily="34" charset="-122"/>
              </a:rPr>
              <a:t>（</a:t>
            </a:r>
            <a:r>
              <a:rPr lang="en-US" altLang="zh-CN" sz="2800" dirty="0">
                <a:solidFill>
                  <a:srgbClr val="333333"/>
                </a:solidFill>
                <a:latin typeface="微软雅黑" panose="020B0503020204020204" pitchFamily="34" charset="-122"/>
                <a:ea typeface="微软雅黑" panose="020B0503020204020204" pitchFamily="34" charset="-122"/>
              </a:rPr>
              <a:t>5</a:t>
            </a:r>
            <a:r>
              <a:rPr lang="zh-CN" altLang="en-US" sz="2800" dirty="0">
                <a:latin typeface="微软雅黑" panose="020B0503020204020204" pitchFamily="34" charset="-122"/>
                <a:ea typeface="微软雅黑" panose="020B0503020204020204" pitchFamily="34" charset="-122"/>
              </a:rPr>
              <a:t>）</a:t>
            </a:r>
            <a:r>
              <a:rPr lang="en-US" altLang="zh-CN" sz="2800" dirty="0">
                <a:solidFill>
                  <a:srgbClr val="333333"/>
                </a:solidFill>
                <a:latin typeface="微软雅黑" panose="020B0503020204020204" pitchFamily="34" charset="-122"/>
                <a:ea typeface="微软雅黑" panose="020B0503020204020204" pitchFamily="34" charset="-122"/>
              </a:rPr>
              <a:t>list(</a:t>
            </a:r>
            <a:r>
              <a:rPr lang="en-US" altLang="zh-CN" sz="2800" dirty="0" err="1">
                <a:solidFill>
                  <a:srgbClr val="333333"/>
                </a:solidFill>
                <a:latin typeface="微软雅黑" panose="020B0503020204020204" pitchFamily="34" charset="-122"/>
                <a:ea typeface="微软雅黑" panose="020B0503020204020204" pitchFamily="34" charset="-122"/>
              </a:rPr>
              <a:t>seq</a:t>
            </a:r>
            <a:r>
              <a:rPr lang="en-US" altLang="zh-CN" sz="2800" dirty="0">
                <a:solidFill>
                  <a:srgbClr val="333333"/>
                </a:solidFill>
                <a:latin typeface="微软雅黑" panose="020B0503020204020204" pitchFamily="34" charset="-122"/>
                <a:ea typeface="微软雅黑" panose="020B0503020204020204" pitchFamily="34" charset="-122"/>
              </a:rPr>
              <a:t>)</a:t>
            </a:r>
            <a:r>
              <a:rPr lang="zh-CN" altLang="en-US" sz="2800" dirty="0">
                <a:solidFill>
                  <a:srgbClr val="333333"/>
                </a:solidFill>
                <a:latin typeface="微软雅黑" panose="020B0503020204020204" pitchFamily="34" charset="-122"/>
                <a:ea typeface="微软雅黑" panose="020B0503020204020204" pitchFamily="34" charset="-122"/>
              </a:rPr>
              <a:t>：将元组转换为列表 </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矩形 1"/>
          <p:cNvSpPr/>
          <p:nvPr/>
        </p:nvSpPr>
        <p:spPr>
          <a:xfrm>
            <a:off x="4803031" y="981522"/>
            <a:ext cx="2016224" cy="737235"/>
          </a:xfrm>
          <a:prstGeom prst="rect">
            <a:avLst/>
          </a:prstGeom>
        </p:spPr>
        <p:txBody>
          <a:bodyPr wrap="square">
            <a:spAutoFit/>
          </a:bodyPr>
          <a:lstStyle/>
          <a:p>
            <a:pPr>
              <a:lnSpc>
                <a:spcPct val="150000"/>
              </a:lnSpc>
            </a:pPr>
            <a:r>
              <a:rPr lang="zh-CN" altLang="en-US" sz="2800" b="1" dirty="0">
                <a:solidFill>
                  <a:srgbClr val="333333"/>
                </a:solidFill>
                <a:latin typeface="微软雅黑" panose="020B0503020204020204" pitchFamily="34" charset="-122"/>
                <a:ea typeface="微软雅黑" panose="020B0503020204020204" pitchFamily="34" charset="-122"/>
              </a:rPr>
              <a:t>课外练习</a:t>
            </a:r>
            <a:endParaRPr lang="zh-CN" altLang="en-US" sz="2800" b="1" dirty="0">
              <a:latin typeface="微软雅黑" panose="020B0503020204020204" pitchFamily="34" charset="-122"/>
              <a:ea typeface="微软雅黑" panose="020B0503020204020204" pitchFamily="34" charset="-122"/>
            </a:endParaRPr>
          </a:p>
        </p:txBody>
      </p:sp>
      <p:sp>
        <p:nvSpPr>
          <p:cNvPr id="4" name="矩形 3"/>
          <p:cNvSpPr/>
          <p:nvPr/>
        </p:nvSpPr>
        <p:spPr>
          <a:xfrm>
            <a:off x="1387912" y="2203701"/>
            <a:ext cx="9289032" cy="1667764"/>
          </a:xfrm>
          <a:prstGeom prst="rect">
            <a:avLst/>
          </a:prstGeom>
        </p:spPr>
        <p:txBody>
          <a:bodyPr wrap="square">
            <a:spAutoFit/>
          </a:bodyPr>
          <a:lstStyle/>
          <a:p>
            <a:pPr algn="just">
              <a:lnSpc>
                <a:spcPct val="150000"/>
              </a:lnSpc>
            </a:pPr>
            <a:r>
              <a:rPr lang="en-US" altLang="zh-CN" b="1" kern="100" dirty="0">
                <a:latin typeface="楷体" panose="02010609060101010101" pitchFamily="49" charset="-122"/>
                <a:ea typeface="楷体" panose="02010609060101010101" pitchFamily="49" charset="-122"/>
                <a:cs typeface="Times New Roman" panose="02020603050405020304" pitchFamily="18" charset="0"/>
              </a:rPr>
              <a:t>【</a:t>
            </a:r>
            <a:r>
              <a:rPr lang="zh-CN" altLang="en-US" b="1" kern="100" dirty="0">
                <a:latin typeface="楷体" panose="02010609060101010101" pitchFamily="49" charset="-122"/>
                <a:ea typeface="楷体" panose="02010609060101010101" pitchFamily="49" charset="-122"/>
                <a:cs typeface="Times New Roman" panose="02020603050405020304" pitchFamily="18" charset="0"/>
              </a:rPr>
              <a:t>课外练习</a:t>
            </a:r>
            <a:r>
              <a:rPr lang="en-US" altLang="zh-CN" b="1" kern="100" dirty="0">
                <a:latin typeface="楷体" panose="02010609060101010101" pitchFamily="49" charset="-122"/>
                <a:ea typeface="楷体" panose="02010609060101010101" pitchFamily="49" charset="-122"/>
                <a:cs typeface="Times New Roman" panose="02020603050405020304" pitchFamily="18" charset="0"/>
              </a:rPr>
              <a:t>】</a:t>
            </a:r>
            <a:r>
              <a:rPr lang="zh-CN" altLang="en-US" b="1" kern="100" dirty="0">
                <a:latin typeface="楷体" panose="02010609060101010101" pitchFamily="49" charset="-122"/>
                <a:ea typeface="楷体" panose="02010609060101010101" pitchFamily="49" charset="-122"/>
                <a:cs typeface="Times New Roman" panose="02020603050405020304" pitchFamily="18" charset="0"/>
              </a:rPr>
              <a:t>使用 </a:t>
            </a:r>
            <a:r>
              <a:rPr lang="en-US" altLang="zh-CN" b="1" kern="100" dirty="0">
                <a:latin typeface="楷体" panose="02010609060101010101" pitchFamily="49" charset="-122"/>
                <a:ea typeface="楷体" panose="02010609060101010101" pitchFamily="49" charset="-122"/>
                <a:cs typeface="Times New Roman" panose="02020603050405020304" pitchFamily="18" charset="0"/>
              </a:rPr>
              <a:t>python </a:t>
            </a:r>
            <a:r>
              <a:rPr lang="zh-CN" altLang="en-US" b="1" kern="100" dirty="0">
                <a:latin typeface="楷体" panose="02010609060101010101" pitchFamily="49" charset="-122"/>
                <a:ea typeface="楷体" panose="02010609060101010101" pitchFamily="49" charset="-122"/>
                <a:cs typeface="Times New Roman" panose="02020603050405020304" pitchFamily="18" charset="0"/>
              </a:rPr>
              <a:t>语言创建空列表 </a:t>
            </a:r>
            <a:r>
              <a:rPr lang="en-US" altLang="zh-CN" b="1" kern="100" dirty="0">
                <a:latin typeface="楷体" panose="02010609060101010101" pitchFamily="49" charset="-122"/>
                <a:ea typeface="楷体" panose="02010609060101010101" pitchFamily="49" charset="-122"/>
                <a:cs typeface="Times New Roman" panose="02020603050405020304" pitchFamily="18" charset="0"/>
              </a:rPr>
              <a:t>score</a:t>
            </a:r>
            <a:r>
              <a:rPr lang="zh-CN" altLang="en-US" b="1" kern="100" dirty="0">
                <a:latin typeface="楷体" panose="02010609060101010101" pitchFamily="49" charset="-122"/>
                <a:ea typeface="楷体" panose="02010609060101010101" pitchFamily="49" charset="-122"/>
                <a:cs typeface="Times New Roman" panose="02020603050405020304" pitchFamily="18" charset="0"/>
              </a:rPr>
              <a:t>，按学号顺序（由小到大）保存多个学生一门课程的考试成绩。调用列表操作的常用函数实现以下功能：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矩形 1"/>
          <p:cNvSpPr/>
          <p:nvPr/>
        </p:nvSpPr>
        <p:spPr>
          <a:xfrm>
            <a:off x="266527" y="792404"/>
            <a:ext cx="2016224" cy="737235"/>
          </a:xfrm>
          <a:prstGeom prst="rect">
            <a:avLst/>
          </a:prstGeom>
        </p:spPr>
        <p:txBody>
          <a:bodyPr wrap="square">
            <a:spAutoFit/>
          </a:bodyPr>
          <a:lstStyle/>
          <a:p>
            <a:pPr>
              <a:lnSpc>
                <a:spcPct val="150000"/>
              </a:lnSpc>
            </a:pPr>
            <a:r>
              <a:rPr lang="zh-CN" altLang="en-US" sz="2800" b="1" dirty="0">
                <a:solidFill>
                  <a:srgbClr val="333333"/>
                </a:solidFill>
                <a:latin typeface="微软雅黑" panose="020B0503020204020204" pitchFamily="34" charset="-122"/>
                <a:ea typeface="微软雅黑" panose="020B0503020204020204" pitchFamily="34" charset="-122"/>
              </a:rPr>
              <a:t>课外练习</a:t>
            </a:r>
            <a:endParaRPr lang="zh-CN" altLang="en-US" sz="2800" b="1" dirty="0">
              <a:latin typeface="微软雅黑" panose="020B0503020204020204" pitchFamily="34" charset="-122"/>
              <a:ea typeface="微软雅黑" panose="020B0503020204020204" pitchFamily="34" charset="-122"/>
            </a:endParaRPr>
          </a:p>
        </p:txBody>
      </p:sp>
      <p:sp>
        <p:nvSpPr>
          <p:cNvPr id="5" name="矩形 4"/>
          <p:cNvSpPr/>
          <p:nvPr/>
        </p:nvSpPr>
        <p:spPr>
          <a:xfrm>
            <a:off x="1082695" y="1701602"/>
            <a:ext cx="10892198" cy="4555734"/>
          </a:xfrm>
          <a:prstGeom prst="rect">
            <a:avLst/>
          </a:prstGeom>
        </p:spPr>
        <p:txBody>
          <a:bodyPr wrap="square">
            <a:spAutoFit/>
          </a:bodyPr>
          <a:lstStyle/>
          <a:p>
            <a:pPr algn="just">
              <a:lnSpc>
                <a:spcPts val="3200"/>
              </a:lnSpc>
            </a:pPr>
            <a:r>
              <a:rPr lang="zh-CN" altLang="en-US"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1</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）创建一个空列表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score</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a:t>
            </a:r>
            <a:endParaRPr lang="en-US" altLang="zh-CN" kern="100" dirty="0">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	score=[]</a:t>
            </a:r>
            <a:endParaRPr lang="zh-CN" altLang="en-US"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zh-CN" altLang="en-US"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2</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）调用</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append()</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函数在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score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列表中依次追加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10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个数值：</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68,87,92,100,76,88,54,89,76,61</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a:t>
            </a:r>
            <a:endParaRPr lang="en-US" altLang="zh-CN" kern="100" dirty="0">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	for x in [68,87,92,100,76,88,54,89,76,61]:</a:t>
            </a:r>
          </a:p>
          <a:p>
            <a:pPr algn="just">
              <a:lnSpc>
                <a:spcPts val="3200"/>
              </a:lnSpc>
            </a:pP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		</a:t>
            </a:r>
            <a:r>
              <a:rPr lang="en-US" altLang="zh-CN" kern="100" dirty="0" err="1">
                <a:solidFill>
                  <a:srgbClr val="0070C0"/>
                </a:solidFill>
                <a:latin typeface="楷体" panose="02010609060101010101" pitchFamily="49" charset="-122"/>
                <a:ea typeface="楷体" panose="02010609060101010101" pitchFamily="49" charset="-122"/>
                <a:cs typeface="Times New Roman" panose="02020603050405020304" pitchFamily="18" charset="0"/>
              </a:rPr>
              <a:t>score.append</a:t>
            </a: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(x)</a:t>
            </a:r>
            <a:endParaRPr lang="zh-CN" altLang="en-US"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zh-CN" altLang="en-US"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3</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）输出</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score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列表中第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3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个元素的数值；</a:t>
            </a:r>
            <a:endParaRPr lang="en-US" altLang="zh-CN" kern="100" dirty="0">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	print(score[2])</a:t>
            </a:r>
            <a:endParaRPr lang="zh-CN" altLang="en-US"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zh-CN" altLang="en-US"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4</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）输出</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score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列表中第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1~6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个元素的值；</a:t>
            </a:r>
            <a:endParaRPr lang="en-US" altLang="zh-CN" kern="100" dirty="0">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	print(score[:5])</a:t>
            </a:r>
            <a:endParaRPr lang="zh-CN" altLang="en-US"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zh-CN" altLang="en-US" kern="100" dirty="0">
                <a:latin typeface="楷体" panose="02010609060101010101" pitchFamily="49" charset="-122"/>
                <a:ea typeface="楷体" panose="02010609060101010101" pitchFamily="49" charset="-122"/>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6CBD6-6E36-7E8F-4AD2-75A54E47AE34}"/>
            </a:ext>
          </a:extLst>
        </p:cNvPr>
        <p:cNvGrpSpPr/>
        <p:nvPr/>
      </p:nvGrpSpPr>
      <p:grpSpPr>
        <a:xfrm>
          <a:off x="0" y="0"/>
          <a:ext cx="0" cy="0"/>
          <a:chOff x="0" y="0"/>
          <a:chExt cx="0" cy="0"/>
        </a:xfrm>
      </p:grpSpPr>
      <p:sp>
        <p:nvSpPr>
          <p:cNvPr id="13" name="标题 1">
            <a:extLst>
              <a:ext uri="{FF2B5EF4-FFF2-40B4-BE49-F238E27FC236}">
                <a16:creationId xmlns:a16="http://schemas.microsoft.com/office/drawing/2014/main" id="{78F6C9BD-984F-6E98-C9FF-7D6D385152D3}"/>
              </a:ext>
            </a:extLst>
          </p:cNvPr>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矩形 1">
            <a:extLst>
              <a:ext uri="{FF2B5EF4-FFF2-40B4-BE49-F238E27FC236}">
                <a16:creationId xmlns:a16="http://schemas.microsoft.com/office/drawing/2014/main" id="{21FE9A2A-8424-C7D9-C3B0-AA31689F342F}"/>
              </a:ext>
            </a:extLst>
          </p:cNvPr>
          <p:cNvSpPr/>
          <p:nvPr/>
        </p:nvSpPr>
        <p:spPr>
          <a:xfrm>
            <a:off x="266527" y="792404"/>
            <a:ext cx="2016224" cy="737235"/>
          </a:xfrm>
          <a:prstGeom prst="rect">
            <a:avLst/>
          </a:prstGeom>
        </p:spPr>
        <p:txBody>
          <a:bodyPr wrap="square">
            <a:spAutoFit/>
          </a:bodyPr>
          <a:lstStyle/>
          <a:p>
            <a:pPr>
              <a:lnSpc>
                <a:spcPct val="150000"/>
              </a:lnSpc>
            </a:pPr>
            <a:r>
              <a:rPr lang="zh-CN" altLang="en-US" sz="2800" b="1" dirty="0">
                <a:solidFill>
                  <a:srgbClr val="333333"/>
                </a:solidFill>
                <a:latin typeface="微软雅黑" panose="020B0503020204020204" pitchFamily="34" charset="-122"/>
                <a:ea typeface="微软雅黑" panose="020B0503020204020204" pitchFamily="34" charset="-122"/>
              </a:rPr>
              <a:t>课外练习</a:t>
            </a:r>
            <a:endParaRPr lang="zh-CN" altLang="en-US" sz="2800" b="1"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2D57A830-01DB-5E5B-CD68-667F846449B8}"/>
              </a:ext>
            </a:extLst>
          </p:cNvPr>
          <p:cNvSpPr/>
          <p:nvPr/>
        </p:nvSpPr>
        <p:spPr>
          <a:xfrm>
            <a:off x="1082695" y="1701602"/>
            <a:ext cx="10892198" cy="4145366"/>
          </a:xfrm>
          <a:prstGeom prst="rect">
            <a:avLst/>
          </a:prstGeom>
        </p:spPr>
        <p:txBody>
          <a:bodyPr wrap="square">
            <a:spAutoFit/>
          </a:bodyPr>
          <a:lstStyle/>
          <a:p>
            <a:pPr algn="just">
              <a:lnSpc>
                <a:spcPts val="3200"/>
              </a:lnSpc>
            </a:pPr>
            <a:r>
              <a:rPr lang="en-US" altLang="zh-CN" kern="100" dirty="0">
                <a:latin typeface="楷体" panose="02010609060101010101" pitchFamily="49" charset="-122"/>
                <a:ea typeface="楷体" panose="02010609060101010101" pitchFamily="49" charset="-122"/>
                <a:cs typeface="Times New Roman" panose="02020603050405020304" pitchFamily="18" charset="0"/>
              </a:rPr>
              <a:t> 5</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）调用</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insert()</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函数，在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score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列表第</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3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个元素之前添加数值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59</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a:t>
            </a:r>
            <a:endParaRPr lang="en-US" altLang="zh-CN" kern="100" dirty="0">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kern="100" dirty="0" err="1">
                <a:solidFill>
                  <a:srgbClr val="0070C0"/>
                </a:solidFill>
                <a:latin typeface="楷体" panose="02010609060101010101" pitchFamily="49" charset="-122"/>
                <a:ea typeface="楷体" panose="02010609060101010101" pitchFamily="49" charset="-122"/>
                <a:cs typeface="Times New Roman" panose="02020603050405020304" pitchFamily="18" charset="0"/>
              </a:rPr>
              <a:t>score.insert</a:t>
            </a: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(2, 59)</a:t>
            </a:r>
            <a:endParaRPr lang="zh-CN" altLang="en-US" kern="100" dirty="0">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zh-CN" altLang="en-US"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6</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）利用变量 </a:t>
            </a:r>
            <a:r>
              <a:rPr lang="en-US" altLang="zh-CN" kern="100" dirty="0" err="1">
                <a:latin typeface="楷体" panose="02010609060101010101" pitchFamily="49" charset="-122"/>
                <a:ea typeface="楷体" panose="02010609060101010101" pitchFamily="49" charset="-122"/>
                <a:cs typeface="Times New Roman" panose="02020603050405020304" pitchFamily="18" charset="0"/>
              </a:rPr>
              <a:t>num</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保存数值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76,</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调用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count()</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函数，查询 </a:t>
            </a:r>
            <a:r>
              <a:rPr lang="en-US" altLang="zh-CN" kern="100" dirty="0" err="1">
                <a:latin typeface="楷体" panose="02010609060101010101" pitchFamily="49" charset="-122"/>
                <a:ea typeface="楷体" panose="02010609060101010101" pitchFamily="49" charset="-122"/>
                <a:cs typeface="Times New Roman" panose="02020603050405020304" pitchFamily="18" charset="0"/>
              </a:rPr>
              <a:t>num</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变量值在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score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列表中出现的次数；</a:t>
            </a:r>
            <a:endParaRPr lang="en-US" altLang="zh-CN" kern="100" dirty="0">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num = 76</a:t>
            </a:r>
          </a:p>
          <a:p>
            <a:pPr algn="just">
              <a:lnSpc>
                <a:spcPts val="3200"/>
              </a:lnSpc>
            </a:pP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	print(</a:t>
            </a:r>
            <a:r>
              <a:rPr lang="en-US" altLang="zh-CN" kern="100" dirty="0" err="1">
                <a:solidFill>
                  <a:srgbClr val="0070C0"/>
                </a:solidFill>
                <a:latin typeface="楷体" panose="02010609060101010101" pitchFamily="49" charset="-122"/>
                <a:ea typeface="楷体" panose="02010609060101010101" pitchFamily="49" charset="-122"/>
                <a:cs typeface="Times New Roman" panose="02020603050405020304" pitchFamily="18" charset="0"/>
              </a:rPr>
              <a:t>score.count</a:t>
            </a: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(num))</a:t>
            </a:r>
            <a:endParaRPr lang="zh-CN" altLang="en-US" kern="100" dirty="0">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zh-CN" altLang="en-US"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7</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）使用</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in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查询</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score</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列表中是否有</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num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变量值的考试成绩；</a:t>
            </a:r>
            <a:endParaRPr lang="en-US" altLang="zh-CN" kern="100" dirty="0">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	print(num in score)</a:t>
            </a:r>
            <a:endParaRPr lang="zh-CN" altLang="en-US"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zh-CN" altLang="en-US"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8</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）调用</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index()</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函数，查询 </a:t>
            </a:r>
            <a:r>
              <a:rPr lang="en-US" altLang="zh-CN" kern="100" dirty="0">
                <a:latin typeface="楷体" panose="02010609060101010101" pitchFamily="49" charset="-122"/>
                <a:ea typeface="楷体" panose="02010609060101010101" pitchFamily="49" charset="-122"/>
                <a:cs typeface="Times New Roman" panose="02020603050405020304" pitchFamily="18" charset="0"/>
              </a:rPr>
              <a:t>score </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列表中成绩是满分的学生学号；</a:t>
            </a:r>
            <a:endParaRPr lang="en-US" altLang="zh-CN" kern="100" dirty="0">
              <a:latin typeface="楷体" panose="02010609060101010101" pitchFamily="49" charset="-122"/>
              <a:ea typeface="楷体" panose="02010609060101010101" pitchFamily="49" charset="-122"/>
              <a:cs typeface="Times New Roman" panose="02020603050405020304" pitchFamily="18" charset="0"/>
            </a:endParaRPr>
          </a:p>
          <a:p>
            <a:pPr algn="just">
              <a:lnSpc>
                <a:spcPts val="3200"/>
              </a:lnSpc>
            </a:pP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	print(</a:t>
            </a:r>
            <a:r>
              <a:rPr lang="en-US" altLang="zh-CN" kern="100" dirty="0" err="1">
                <a:solidFill>
                  <a:srgbClr val="0070C0"/>
                </a:solidFill>
                <a:latin typeface="楷体" panose="02010609060101010101" pitchFamily="49" charset="-122"/>
                <a:ea typeface="楷体" panose="02010609060101010101" pitchFamily="49" charset="-122"/>
                <a:cs typeface="Times New Roman" panose="02020603050405020304" pitchFamily="18" charset="0"/>
              </a:rPr>
              <a:t>score.index</a:t>
            </a:r>
            <a:r>
              <a:rPr lang="en-US" altLang="zh-CN"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rPr>
              <a:t>(100))</a:t>
            </a:r>
            <a:endParaRPr lang="zh-CN" altLang="en-US" kern="100" dirty="0">
              <a:solidFill>
                <a:srgbClr val="0070C0"/>
              </a:solidFill>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10700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矩形 1"/>
          <p:cNvSpPr/>
          <p:nvPr/>
        </p:nvSpPr>
        <p:spPr>
          <a:xfrm>
            <a:off x="266527" y="792404"/>
            <a:ext cx="3456384" cy="737235"/>
          </a:xfrm>
          <a:prstGeom prst="rect">
            <a:avLst/>
          </a:prstGeom>
        </p:spPr>
        <p:txBody>
          <a:bodyPr wrap="square">
            <a:spAutoFit/>
          </a:bodyPr>
          <a:lstStyle/>
          <a:p>
            <a:pPr>
              <a:lnSpc>
                <a:spcPct val="150000"/>
              </a:lnSpc>
            </a:pPr>
            <a:r>
              <a:rPr lang="zh-CN" altLang="en-US" sz="2800" b="1" dirty="0">
                <a:solidFill>
                  <a:srgbClr val="333333"/>
                </a:solidFill>
                <a:latin typeface="微软雅黑" panose="020B0503020204020204" pitchFamily="34" charset="-122"/>
                <a:ea typeface="微软雅黑" panose="020B0503020204020204" pitchFamily="34" charset="-122"/>
              </a:rPr>
              <a:t>课外练习（续）</a:t>
            </a:r>
            <a:endParaRPr lang="zh-CN" altLang="en-US" sz="2800" b="1" dirty="0">
              <a:latin typeface="微软雅黑" panose="020B0503020204020204" pitchFamily="34" charset="-122"/>
              <a:ea typeface="微软雅黑" panose="020B0503020204020204" pitchFamily="34" charset="-122"/>
            </a:endParaRPr>
          </a:p>
        </p:txBody>
      </p:sp>
      <p:sp>
        <p:nvSpPr>
          <p:cNvPr id="5" name="矩形 4"/>
          <p:cNvSpPr/>
          <p:nvPr/>
        </p:nvSpPr>
        <p:spPr>
          <a:xfrm>
            <a:off x="482551" y="1553995"/>
            <a:ext cx="11525229" cy="4893647"/>
          </a:xfrm>
          <a:prstGeom prst="rect">
            <a:avLst/>
          </a:prstGeom>
        </p:spPr>
        <p:txBody>
          <a:bodyPr wrap="square">
            <a:spAutoFit/>
          </a:bodyPr>
          <a:lstStyle/>
          <a:p>
            <a:pPr algn="just"/>
            <a:r>
              <a:rPr lang="zh-CN" altLang="en-US"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dirty="0">
                <a:latin typeface="楷体" panose="02010609060101010101" pitchFamily="49" charset="-122"/>
                <a:ea typeface="楷体" panose="02010609060101010101" pitchFamily="49" charset="-122"/>
              </a:rPr>
              <a:t>9</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score </a:t>
            </a:r>
            <a:r>
              <a:rPr lang="zh-CN" altLang="en-US" dirty="0">
                <a:latin typeface="楷体" panose="02010609060101010101" pitchFamily="49" charset="-122"/>
                <a:ea typeface="楷体" panose="02010609060101010101" pitchFamily="49" charset="-122"/>
              </a:rPr>
              <a:t>列表中将 </a:t>
            </a:r>
            <a:r>
              <a:rPr lang="en-US" altLang="zh-CN" dirty="0">
                <a:latin typeface="楷体" panose="02010609060101010101" pitchFamily="49" charset="-122"/>
                <a:ea typeface="楷体" panose="02010609060101010101" pitchFamily="49" charset="-122"/>
              </a:rPr>
              <a:t>59</a:t>
            </a:r>
            <a:r>
              <a:rPr lang="zh-CN" altLang="en-US" dirty="0">
                <a:latin typeface="楷体" panose="02010609060101010101" pitchFamily="49" charset="-122"/>
                <a:ea typeface="楷体" panose="02010609060101010101" pitchFamily="49" charset="-122"/>
              </a:rPr>
              <a:t>分加</a:t>
            </a:r>
            <a:r>
              <a:rPr lang="en-US" altLang="zh-CN" dirty="0">
                <a:latin typeface="楷体" panose="02010609060101010101" pitchFamily="49" charset="-122"/>
                <a:ea typeface="楷体" panose="02010609060101010101" pitchFamily="49" charset="-122"/>
              </a:rPr>
              <a:t>1 </a:t>
            </a:r>
            <a:r>
              <a:rPr lang="zh-CN" altLang="en-US" dirty="0">
                <a:latin typeface="楷体" panose="02010609060101010101" pitchFamily="49" charset="-122"/>
                <a:ea typeface="楷体" panose="02010609060101010101" pitchFamily="49" charset="-122"/>
              </a:rPr>
              <a:t>分；</a:t>
            </a:r>
            <a:endParaRPr lang="en-US" altLang="zh-CN" dirty="0">
              <a:latin typeface="楷体" panose="02010609060101010101" pitchFamily="49" charset="-122"/>
              <a:ea typeface="楷体" panose="02010609060101010101" pitchFamily="49" charset="-122"/>
            </a:endParaRPr>
          </a:p>
          <a:p>
            <a:pPr fontAlgn="base"/>
            <a:r>
              <a:rPr lang="en-US" altLang="zh-CN" dirty="0">
                <a:solidFill>
                  <a:srgbClr val="0070C0"/>
                </a:solidFill>
                <a:latin typeface="楷体" panose="02010609060101010101" pitchFamily="49" charset="-122"/>
                <a:ea typeface="楷体" panose="02010609060101010101" pitchFamily="49" charset="-122"/>
              </a:rPr>
              <a:t>	</a:t>
            </a:r>
            <a:r>
              <a:rPr lang="en" altLang="zh-CN" dirty="0">
                <a:solidFill>
                  <a:srgbClr val="C00000"/>
                </a:solidFill>
              </a:rPr>
              <a:t>for x in score:</a:t>
            </a:r>
          </a:p>
          <a:p>
            <a:pPr fontAlgn="base"/>
            <a:r>
              <a:rPr lang="en" altLang="zh-CN" dirty="0">
                <a:solidFill>
                  <a:srgbClr val="C00000"/>
                </a:solidFill>
              </a:rPr>
              <a:t>   		if x == 59:</a:t>
            </a:r>
            <a:r>
              <a:rPr lang="zh-CN" altLang="en-US" dirty="0">
                <a:solidFill>
                  <a:srgbClr val="C00000"/>
                </a:solidFill>
              </a:rPr>
              <a:t> </a:t>
            </a:r>
            <a:r>
              <a:rPr lang="en-US" altLang="zh-CN" dirty="0">
                <a:solidFill>
                  <a:srgbClr val="C00000"/>
                </a:solidFill>
              </a:rPr>
              <a:t>x</a:t>
            </a:r>
            <a:r>
              <a:rPr lang="en" altLang="zh-CN" dirty="0">
                <a:solidFill>
                  <a:srgbClr val="C00000"/>
                </a:solidFill>
              </a:rPr>
              <a:t> += 1</a:t>
            </a:r>
          </a:p>
          <a:p>
            <a:pPr fontAlgn="base"/>
            <a:r>
              <a:rPr lang="en" altLang="zh-CN" dirty="0">
                <a:solidFill>
                  <a:srgbClr val="0070C0"/>
                </a:solidFill>
              </a:rPr>
              <a:t>	for </a:t>
            </a:r>
            <a:r>
              <a:rPr lang="en" altLang="zh-CN" dirty="0" err="1">
                <a:solidFill>
                  <a:srgbClr val="0070C0"/>
                </a:solidFill>
              </a:rPr>
              <a:t>i</a:t>
            </a:r>
            <a:r>
              <a:rPr lang="en" altLang="zh-CN" dirty="0">
                <a:solidFill>
                  <a:srgbClr val="0070C0"/>
                </a:solidFill>
              </a:rPr>
              <a:t> in range(</a:t>
            </a:r>
            <a:r>
              <a:rPr lang="en" altLang="zh-CN" dirty="0" err="1">
                <a:solidFill>
                  <a:srgbClr val="0070C0"/>
                </a:solidFill>
              </a:rPr>
              <a:t>len</a:t>
            </a:r>
            <a:r>
              <a:rPr lang="en" altLang="zh-CN" dirty="0">
                <a:solidFill>
                  <a:srgbClr val="0070C0"/>
                </a:solidFill>
              </a:rPr>
              <a:t>(score)):</a:t>
            </a:r>
          </a:p>
          <a:p>
            <a:pPr fontAlgn="base"/>
            <a:r>
              <a:rPr lang="en" altLang="zh-CN" dirty="0">
                <a:solidFill>
                  <a:srgbClr val="0070C0"/>
                </a:solidFill>
              </a:rPr>
              <a:t>    		if score[</a:t>
            </a:r>
            <a:r>
              <a:rPr lang="en" altLang="zh-CN" dirty="0" err="1">
                <a:solidFill>
                  <a:srgbClr val="0070C0"/>
                </a:solidFill>
              </a:rPr>
              <a:t>i</a:t>
            </a:r>
            <a:r>
              <a:rPr lang="en" altLang="zh-CN" dirty="0">
                <a:solidFill>
                  <a:srgbClr val="0070C0"/>
                </a:solidFill>
              </a:rPr>
              <a:t>] == 59: score[</a:t>
            </a:r>
            <a:r>
              <a:rPr lang="en" altLang="zh-CN" dirty="0" err="1">
                <a:solidFill>
                  <a:srgbClr val="0070C0"/>
                </a:solidFill>
              </a:rPr>
              <a:t>i</a:t>
            </a:r>
            <a:r>
              <a:rPr lang="en" altLang="zh-CN" dirty="0">
                <a:solidFill>
                  <a:srgbClr val="0070C0"/>
                </a:solidFill>
              </a:rPr>
              <a:t>] += 1</a:t>
            </a:r>
          </a:p>
          <a:p>
            <a:pPr algn="just"/>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10</a:t>
            </a:r>
            <a:r>
              <a:rPr lang="zh-CN" altLang="en-US" dirty="0">
                <a:latin typeface="楷体" panose="02010609060101010101" pitchFamily="49" charset="-122"/>
                <a:ea typeface="楷体" panose="02010609060101010101" pitchFamily="49" charset="-122"/>
              </a:rPr>
              <a:t>）调用</a:t>
            </a:r>
            <a:r>
              <a:rPr lang="en-US" altLang="zh-CN" dirty="0">
                <a:latin typeface="楷体" panose="02010609060101010101" pitchFamily="49" charset="-122"/>
                <a:ea typeface="楷体" panose="02010609060101010101" pitchFamily="49" charset="-122"/>
              </a:rPr>
              <a:t>del()</a:t>
            </a:r>
            <a:r>
              <a:rPr lang="zh-CN" altLang="en-US" dirty="0">
                <a:latin typeface="楷体" panose="02010609060101010101" pitchFamily="49" charset="-122"/>
                <a:ea typeface="楷体" panose="02010609060101010101" pitchFamily="49" charset="-122"/>
              </a:rPr>
              <a:t>函数删除 </a:t>
            </a:r>
            <a:r>
              <a:rPr lang="en-US" altLang="zh-CN" dirty="0">
                <a:latin typeface="楷体" panose="02010609060101010101" pitchFamily="49" charset="-122"/>
                <a:ea typeface="楷体" panose="02010609060101010101" pitchFamily="49" charset="-122"/>
              </a:rPr>
              <a:t>score </a:t>
            </a:r>
            <a:r>
              <a:rPr lang="zh-CN" altLang="en-US" dirty="0">
                <a:latin typeface="楷体" panose="02010609060101010101" pitchFamily="49" charset="-122"/>
                <a:ea typeface="楷体" panose="02010609060101010101" pitchFamily="49" charset="-122"/>
              </a:rPr>
              <a:t>列表中第</a:t>
            </a:r>
            <a:r>
              <a:rPr lang="en-US" altLang="zh-CN" dirty="0">
                <a:latin typeface="楷体" panose="02010609060101010101" pitchFamily="49" charset="-122"/>
                <a:ea typeface="楷体" panose="02010609060101010101" pitchFamily="49" charset="-122"/>
              </a:rPr>
              <a:t>1 </a:t>
            </a:r>
            <a:r>
              <a:rPr lang="zh-CN" altLang="en-US" dirty="0">
                <a:latin typeface="楷体" panose="02010609060101010101" pitchFamily="49" charset="-122"/>
                <a:ea typeface="楷体" panose="02010609060101010101" pitchFamily="49" charset="-122"/>
              </a:rPr>
              <a:t>个元素；</a:t>
            </a:r>
            <a:endParaRPr lang="en-US" altLang="zh-CN" dirty="0">
              <a:latin typeface="楷体" panose="02010609060101010101" pitchFamily="49" charset="-122"/>
              <a:ea typeface="楷体" panose="02010609060101010101" pitchFamily="49" charset="-122"/>
            </a:endParaRPr>
          </a:p>
          <a:p>
            <a:pPr algn="just"/>
            <a:r>
              <a:rPr lang="en-US" altLang="zh-CN" dirty="0">
                <a:solidFill>
                  <a:srgbClr val="0070C0"/>
                </a:solidFill>
                <a:latin typeface="楷体" panose="02010609060101010101" pitchFamily="49" charset="-122"/>
                <a:ea typeface="楷体" panose="02010609060101010101" pitchFamily="49" charset="-122"/>
              </a:rPr>
              <a:t>	del(score[0])</a:t>
            </a:r>
            <a:endParaRPr lang="zh-CN" altLang="en-US" dirty="0">
              <a:solidFill>
                <a:srgbClr val="0070C0"/>
              </a:solidFill>
              <a:latin typeface="楷体" panose="02010609060101010101" pitchFamily="49" charset="-122"/>
              <a:ea typeface="楷体" panose="02010609060101010101" pitchFamily="49" charset="-122"/>
            </a:endParaRPr>
          </a:p>
          <a:p>
            <a:pPr algn="just"/>
            <a:r>
              <a:rPr lang="en-US" altLang="zh-CN" dirty="0">
                <a:latin typeface="楷体" panose="02010609060101010101" pitchFamily="49" charset="-122"/>
                <a:ea typeface="楷体" panose="02010609060101010101" pitchFamily="49" charset="-122"/>
              </a:rPr>
              <a:t> 11</a:t>
            </a:r>
            <a:r>
              <a:rPr lang="zh-CN" altLang="en-US" dirty="0">
                <a:latin typeface="楷体" panose="02010609060101010101" pitchFamily="49" charset="-122"/>
                <a:ea typeface="楷体" panose="02010609060101010101" pitchFamily="49" charset="-122"/>
              </a:rPr>
              <a:t>）调用</a:t>
            </a:r>
            <a:r>
              <a:rPr lang="en-US" altLang="zh-CN" dirty="0" err="1">
                <a:latin typeface="楷体" panose="02010609060101010101" pitchFamily="49" charset="-122"/>
                <a:ea typeface="楷体" panose="02010609060101010101" pitchFamily="49" charset="-122"/>
              </a:rPr>
              <a:t>len</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函数获得 </a:t>
            </a:r>
            <a:r>
              <a:rPr lang="en-US" altLang="zh-CN" dirty="0">
                <a:latin typeface="楷体" panose="02010609060101010101" pitchFamily="49" charset="-122"/>
                <a:ea typeface="楷体" panose="02010609060101010101" pitchFamily="49" charset="-122"/>
              </a:rPr>
              <a:t>score </a:t>
            </a:r>
            <a:r>
              <a:rPr lang="zh-CN" altLang="en-US" dirty="0">
                <a:latin typeface="楷体" panose="02010609060101010101" pitchFamily="49" charset="-122"/>
                <a:ea typeface="楷体" panose="02010609060101010101" pitchFamily="49" charset="-122"/>
              </a:rPr>
              <a:t>列表中元素的个数；</a:t>
            </a:r>
            <a:endParaRPr lang="en-US" altLang="zh-CN" dirty="0">
              <a:latin typeface="楷体" panose="02010609060101010101" pitchFamily="49" charset="-122"/>
              <a:ea typeface="楷体" panose="02010609060101010101" pitchFamily="49" charset="-122"/>
            </a:endParaRPr>
          </a:p>
          <a:p>
            <a:pPr algn="just"/>
            <a:r>
              <a:rPr lang="en-US" altLang="zh-CN" dirty="0">
                <a:solidFill>
                  <a:srgbClr val="0070C0"/>
                </a:solidFill>
                <a:latin typeface="楷体" panose="02010609060101010101" pitchFamily="49" charset="-122"/>
                <a:ea typeface="楷体" panose="02010609060101010101" pitchFamily="49" charset="-122"/>
              </a:rPr>
              <a:t>	print(</a:t>
            </a:r>
            <a:r>
              <a:rPr lang="en-US" altLang="zh-CN" dirty="0" err="1">
                <a:solidFill>
                  <a:srgbClr val="0070C0"/>
                </a:solidFill>
                <a:latin typeface="楷体" panose="02010609060101010101" pitchFamily="49" charset="-122"/>
                <a:ea typeface="楷体" panose="02010609060101010101" pitchFamily="49" charset="-122"/>
              </a:rPr>
              <a:t>len</a:t>
            </a:r>
            <a:r>
              <a:rPr lang="en-US" altLang="zh-CN" dirty="0">
                <a:solidFill>
                  <a:srgbClr val="0070C0"/>
                </a:solidFill>
                <a:latin typeface="楷体" panose="02010609060101010101" pitchFamily="49" charset="-122"/>
                <a:ea typeface="楷体" panose="02010609060101010101" pitchFamily="49" charset="-122"/>
              </a:rPr>
              <a:t>(score))</a:t>
            </a:r>
            <a:endParaRPr lang="zh-CN" altLang="en-US" dirty="0">
              <a:solidFill>
                <a:srgbClr val="0070C0"/>
              </a:solidFill>
              <a:latin typeface="楷体" panose="02010609060101010101" pitchFamily="49" charset="-122"/>
              <a:ea typeface="楷体" panose="02010609060101010101" pitchFamily="49" charset="-122"/>
            </a:endParaRPr>
          </a:p>
          <a:p>
            <a:pPr algn="just"/>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12</a:t>
            </a:r>
            <a:r>
              <a:rPr lang="zh-CN" altLang="en-US" dirty="0">
                <a:latin typeface="楷体" panose="02010609060101010101" pitchFamily="49" charset="-122"/>
                <a:ea typeface="楷体" panose="02010609060101010101" pitchFamily="49" charset="-122"/>
              </a:rPr>
              <a:t>）调用</a:t>
            </a:r>
            <a:r>
              <a:rPr lang="en-US" altLang="zh-CN" dirty="0">
                <a:latin typeface="楷体" panose="02010609060101010101" pitchFamily="49" charset="-122"/>
                <a:ea typeface="楷体" panose="02010609060101010101" pitchFamily="49" charset="-122"/>
              </a:rPr>
              <a:t>sort()</a:t>
            </a:r>
            <a:r>
              <a:rPr lang="zh-CN" altLang="en-US" dirty="0">
                <a:latin typeface="楷体" panose="02010609060101010101" pitchFamily="49" charset="-122"/>
                <a:ea typeface="楷体" panose="02010609060101010101" pitchFamily="49" charset="-122"/>
              </a:rPr>
              <a:t>函数，对列表中所有元素进行排序，输出考试的最高分和最低分；</a:t>
            </a:r>
            <a:endParaRPr lang="en-US" altLang="zh-CN" dirty="0">
              <a:latin typeface="楷体" panose="02010609060101010101" pitchFamily="49" charset="-122"/>
              <a:ea typeface="楷体" panose="02010609060101010101" pitchFamily="49" charset="-122"/>
            </a:endParaRPr>
          </a:p>
          <a:p>
            <a:pPr algn="just"/>
            <a:r>
              <a:rPr lang="en-US" altLang="zh-CN" dirty="0">
                <a:solidFill>
                  <a:srgbClr val="0070C0"/>
                </a:solidFill>
                <a:latin typeface="楷体" panose="02010609060101010101" pitchFamily="49" charset="-122"/>
                <a:ea typeface="楷体" panose="02010609060101010101" pitchFamily="49" charset="-122"/>
              </a:rPr>
              <a:t>	</a:t>
            </a:r>
            <a:r>
              <a:rPr lang="en-US" altLang="zh-CN" dirty="0" err="1">
                <a:solidFill>
                  <a:srgbClr val="0070C0"/>
                </a:solidFill>
                <a:latin typeface="楷体" panose="02010609060101010101" pitchFamily="49" charset="-122"/>
                <a:ea typeface="楷体" panose="02010609060101010101" pitchFamily="49" charset="-122"/>
              </a:rPr>
              <a:t>score.sort</a:t>
            </a:r>
            <a:r>
              <a:rPr lang="en-US" altLang="zh-CN" dirty="0">
                <a:solidFill>
                  <a:srgbClr val="0070C0"/>
                </a:solidFill>
                <a:latin typeface="楷体" panose="02010609060101010101" pitchFamily="49" charset="-122"/>
                <a:ea typeface="楷体" panose="02010609060101010101" pitchFamily="49" charset="-122"/>
              </a:rPr>
              <a:t>()#</a:t>
            </a:r>
            <a:r>
              <a:rPr lang="zh-CN" altLang="en-US" dirty="0">
                <a:solidFill>
                  <a:srgbClr val="0070C0"/>
                </a:solidFill>
                <a:latin typeface="楷体" panose="02010609060101010101" pitchFamily="49" charset="-122"/>
                <a:ea typeface="楷体" panose="02010609060101010101" pitchFamily="49" charset="-122"/>
              </a:rPr>
              <a:t>由高到低</a:t>
            </a:r>
            <a:endParaRPr lang="en-US" altLang="zh-CN" dirty="0">
              <a:solidFill>
                <a:srgbClr val="0070C0"/>
              </a:solidFill>
              <a:latin typeface="楷体" panose="02010609060101010101" pitchFamily="49" charset="-122"/>
              <a:ea typeface="楷体" panose="02010609060101010101" pitchFamily="49" charset="-122"/>
            </a:endParaRPr>
          </a:p>
          <a:p>
            <a:pPr algn="just"/>
            <a:r>
              <a:rPr lang="en-US" altLang="zh-CN" dirty="0">
                <a:solidFill>
                  <a:srgbClr val="0070C0"/>
                </a:solidFill>
                <a:latin typeface="楷体" panose="02010609060101010101" pitchFamily="49" charset="-122"/>
                <a:ea typeface="楷体" panose="02010609060101010101" pitchFamily="49" charset="-122"/>
              </a:rPr>
              <a:t>	print(score[0], score[-1])</a:t>
            </a:r>
            <a:endParaRPr lang="zh-CN" altLang="en-US" dirty="0">
              <a:solidFill>
                <a:srgbClr val="0070C0"/>
              </a:solidFill>
              <a:latin typeface="楷体" panose="02010609060101010101" pitchFamily="49" charset="-122"/>
              <a:ea typeface="楷体" panose="02010609060101010101" pitchFamily="49" charset="-122"/>
            </a:endParaRPr>
          </a:p>
          <a:p>
            <a:pPr algn="just"/>
            <a:r>
              <a:rPr lang="zh-CN" altLang="en-US" dirty="0">
                <a:latin typeface="楷体" panose="02010609060101010101" pitchFamily="49" charset="-122"/>
                <a:ea typeface="楷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5C57D-5D99-CBED-7736-DA13D0B082E9}"/>
            </a:ext>
          </a:extLst>
        </p:cNvPr>
        <p:cNvGrpSpPr/>
        <p:nvPr/>
      </p:nvGrpSpPr>
      <p:grpSpPr>
        <a:xfrm>
          <a:off x="0" y="0"/>
          <a:ext cx="0" cy="0"/>
          <a:chOff x="0" y="0"/>
          <a:chExt cx="0" cy="0"/>
        </a:xfrm>
      </p:grpSpPr>
      <p:sp>
        <p:nvSpPr>
          <p:cNvPr id="13" name="标题 1">
            <a:extLst>
              <a:ext uri="{FF2B5EF4-FFF2-40B4-BE49-F238E27FC236}">
                <a16:creationId xmlns:a16="http://schemas.microsoft.com/office/drawing/2014/main" id="{B7C5C772-162C-223D-C31A-F84C63325D43}"/>
              </a:ext>
            </a:extLst>
          </p:cNvPr>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矩形 1">
            <a:extLst>
              <a:ext uri="{FF2B5EF4-FFF2-40B4-BE49-F238E27FC236}">
                <a16:creationId xmlns:a16="http://schemas.microsoft.com/office/drawing/2014/main" id="{9D688B73-3AA5-BEFA-D365-C31AD1B9A84E}"/>
              </a:ext>
            </a:extLst>
          </p:cNvPr>
          <p:cNvSpPr/>
          <p:nvPr/>
        </p:nvSpPr>
        <p:spPr>
          <a:xfrm>
            <a:off x="266527" y="792404"/>
            <a:ext cx="3456384" cy="737235"/>
          </a:xfrm>
          <a:prstGeom prst="rect">
            <a:avLst/>
          </a:prstGeom>
        </p:spPr>
        <p:txBody>
          <a:bodyPr wrap="square">
            <a:spAutoFit/>
          </a:bodyPr>
          <a:lstStyle/>
          <a:p>
            <a:pPr>
              <a:lnSpc>
                <a:spcPct val="150000"/>
              </a:lnSpc>
            </a:pPr>
            <a:r>
              <a:rPr lang="zh-CN" altLang="en-US" sz="2800" b="1" dirty="0">
                <a:solidFill>
                  <a:srgbClr val="333333"/>
                </a:solidFill>
                <a:latin typeface="微软雅黑" panose="020B0503020204020204" pitchFamily="34" charset="-122"/>
                <a:ea typeface="微软雅黑" panose="020B0503020204020204" pitchFamily="34" charset="-122"/>
              </a:rPr>
              <a:t>课外练习（续）</a:t>
            </a:r>
            <a:endParaRPr lang="zh-CN" altLang="en-US" sz="2800" b="1"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ED6C62FB-F57F-D771-F545-709856249BAC}"/>
              </a:ext>
            </a:extLst>
          </p:cNvPr>
          <p:cNvSpPr/>
          <p:nvPr/>
        </p:nvSpPr>
        <p:spPr>
          <a:xfrm>
            <a:off x="482551" y="1553995"/>
            <a:ext cx="11525229" cy="4893647"/>
          </a:xfrm>
          <a:prstGeom prst="rect">
            <a:avLst/>
          </a:prstGeom>
        </p:spPr>
        <p:txBody>
          <a:bodyPr wrap="square">
            <a:spAutoFit/>
          </a:bodyPr>
          <a:lstStyle/>
          <a:p>
            <a:pPr algn="just"/>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13</a:t>
            </a:r>
            <a:r>
              <a:rPr lang="zh-CN" altLang="en-US" dirty="0">
                <a:latin typeface="楷体" panose="02010609060101010101" pitchFamily="49" charset="-122"/>
                <a:ea typeface="楷体" panose="02010609060101010101" pitchFamily="49" charset="-122"/>
              </a:rPr>
              <a:t>）调用</a:t>
            </a:r>
            <a:r>
              <a:rPr lang="en-US" altLang="zh-CN" dirty="0">
                <a:latin typeface="楷体" panose="02010609060101010101" pitchFamily="49" charset="-122"/>
                <a:ea typeface="楷体" panose="02010609060101010101" pitchFamily="49" charset="-122"/>
              </a:rPr>
              <a:t>reverse()</a:t>
            </a:r>
            <a:r>
              <a:rPr lang="zh-CN" altLang="en-US" dirty="0">
                <a:latin typeface="楷体" panose="02010609060101010101" pitchFamily="49" charset="-122"/>
                <a:ea typeface="楷体" panose="02010609060101010101" pitchFamily="49" charset="-122"/>
              </a:rPr>
              <a:t>函数，颠倒</a:t>
            </a:r>
            <a:r>
              <a:rPr lang="en-US" altLang="zh-CN" dirty="0">
                <a:latin typeface="楷体" panose="02010609060101010101" pitchFamily="49" charset="-122"/>
                <a:ea typeface="楷体" panose="02010609060101010101" pitchFamily="49" charset="-122"/>
              </a:rPr>
              <a:t>score </a:t>
            </a:r>
            <a:r>
              <a:rPr lang="zh-CN" altLang="en-US" dirty="0">
                <a:latin typeface="楷体" panose="02010609060101010101" pitchFamily="49" charset="-122"/>
                <a:ea typeface="楷体" panose="02010609060101010101" pitchFamily="49" charset="-122"/>
              </a:rPr>
              <a:t>列表中元素的顺序；</a:t>
            </a:r>
            <a:endParaRPr lang="en-US" altLang="zh-CN" dirty="0">
              <a:latin typeface="楷体" panose="02010609060101010101" pitchFamily="49" charset="-122"/>
              <a:ea typeface="楷体" panose="02010609060101010101" pitchFamily="49" charset="-122"/>
            </a:endParaRPr>
          </a:p>
          <a:p>
            <a:pPr algn="just"/>
            <a:r>
              <a:rPr lang="en-US" altLang="zh-CN" dirty="0">
                <a:solidFill>
                  <a:srgbClr val="0070C0"/>
                </a:solidFill>
                <a:latin typeface="楷体" panose="02010609060101010101" pitchFamily="49" charset="-122"/>
                <a:ea typeface="楷体" panose="02010609060101010101" pitchFamily="49" charset="-122"/>
              </a:rPr>
              <a:t>	</a:t>
            </a:r>
            <a:r>
              <a:rPr lang="en-US" altLang="zh-CN" dirty="0" err="1">
                <a:solidFill>
                  <a:srgbClr val="0070C0"/>
                </a:solidFill>
                <a:latin typeface="楷体" panose="02010609060101010101" pitchFamily="49" charset="-122"/>
                <a:ea typeface="楷体" panose="02010609060101010101" pitchFamily="49" charset="-122"/>
              </a:rPr>
              <a:t>score.reverse</a:t>
            </a:r>
            <a:r>
              <a:rPr lang="en-US" altLang="zh-CN" dirty="0">
                <a:solidFill>
                  <a:srgbClr val="0070C0"/>
                </a:solidFill>
                <a:latin typeface="楷体" panose="02010609060101010101" pitchFamily="49" charset="-122"/>
                <a:ea typeface="楷体" panose="02010609060101010101" pitchFamily="49" charset="-122"/>
              </a:rPr>
              <a:t>()</a:t>
            </a:r>
            <a:endParaRPr lang="zh-CN" altLang="en-US" dirty="0">
              <a:solidFill>
                <a:srgbClr val="0070C0"/>
              </a:solidFill>
              <a:latin typeface="楷体" panose="02010609060101010101" pitchFamily="49" charset="-122"/>
              <a:ea typeface="楷体" panose="02010609060101010101" pitchFamily="49" charset="-122"/>
            </a:endParaRPr>
          </a:p>
          <a:p>
            <a:pPr algn="just"/>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14</a:t>
            </a:r>
            <a:r>
              <a:rPr lang="zh-CN" altLang="en-US" dirty="0">
                <a:latin typeface="楷体" panose="02010609060101010101" pitchFamily="49" charset="-122"/>
                <a:ea typeface="楷体" panose="02010609060101010101" pitchFamily="49" charset="-122"/>
              </a:rPr>
              <a:t>）调用</a:t>
            </a:r>
            <a:r>
              <a:rPr lang="en-US" altLang="zh-CN" dirty="0">
                <a:latin typeface="楷体" panose="02010609060101010101" pitchFamily="49" charset="-122"/>
                <a:ea typeface="楷体" panose="02010609060101010101" pitchFamily="49" charset="-122"/>
              </a:rPr>
              <a:t>pop()</a:t>
            </a:r>
            <a:r>
              <a:rPr lang="zh-CN" altLang="en-US" dirty="0">
                <a:latin typeface="楷体" panose="02010609060101010101" pitchFamily="49" charset="-122"/>
                <a:ea typeface="楷体" panose="02010609060101010101" pitchFamily="49" charset="-122"/>
              </a:rPr>
              <a:t>函数删除 </a:t>
            </a:r>
            <a:r>
              <a:rPr lang="en-US" altLang="zh-CN" dirty="0">
                <a:latin typeface="楷体" panose="02010609060101010101" pitchFamily="49" charset="-122"/>
                <a:ea typeface="楷体" panose="02010609060101010101" pitchFamily="49" charset="-122"/>
              </a:rPr>
              <a:t>score </a:t>
            </a:r>
            <a:r>
              <a:rPr lang="zh-CN" altLang="en-US" dirty="0">
                <a:latin typeface="楷体" panose="02010609060101010101" pitchFamily="49" charset="-122"/>
                <a:ea typeface="楷体" panose="02010609060101010101" pitchFamily="49" charset="-122"/>
              </a:rPr>
              <a:t>列表中尾部的元素，返回删除的元素；</a:t>
            </a:r>
            <a:endParaRPr lang="en-US" altLang="zh-CN" dirty="0">
              <a:latin typeface="楷体" panose="02010609060101010101" pitchFamily="49" charset="-122"/>
              <a:ea typeface="楷体" panose="02010609060101010101" pitchFamily="49" charset="-122"/>
            </a:endParaRPr>
          </a:p>
          <a:p>
            <a:pPr algn="just"/>
            <a:r>
              <a:rPr lang="en-US" altLang="zh-CN" dirty="0">
                <a:solidFill>
                  <a:srgbClr val="0070C0"/>
                </a:solidFill>
                <a:latin typeface="楷体" panose="02010609060101010101" pitchFamily="49" charset="-122"/>
                <a:ea typeface="楷体" panose="02010609060101010101" pitchFamily="49" charset="-122"/>
              </a:rPr>
              <a:t>	print(</a:t>
            </a:r>
            <a:r>
              <a:rPr lang="en-US" altLang="zh-CN" dirty="0" err="1">
                <a:solidFill>
                  <a:srgbClr val="0070C0"/>
                </a:solidFill>
                <a:latin typeface="楷体" panose="02010609060101010101" pitchFamily="49" charset="-122"/>
                <a:ea typeface="楷体" panose="02010609060101010101" pitchFamily="49" charset="-122"/>
              </a:rPr>
              <a:t>score.pop</a:t>
            </a:r>
            <a:r>
              <a:rPr lang="en-US" altLang="zh-CN" dirty="0">
                <a:solidFill>
                  <a:srgbClr val="0070C0"/>
                </a:solidFill>
                <a:latin typeface="楷体" panose="02010609060101010101" pitchFamily="49" charset="-122"/>
                <a:ea typeface="楷体" panose="02010609060101010101" pitchFamily="49" charset="-122"/>
              </a:rPr>
              <a:t>())</a:t>
            </a:r>
            <a:endParaRPr lang="zh-CN" altLang="en-US" dirty="0">
              <a:solidFill>
                <a:srgbClr val="0070C0"/>
              </a:solidFill>
              <a:latin typeface="楷体" panose="02010609060101010101" pitchFamily="49" charset="-122"/>
              <a:ea typeface="楷体" panose="02010609060101010101" pitchFamily="49" charset="-122"/>
            </a:endParaRPr>
          </a:p>
          <a:p>
            <a:pPr algn="just"/>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15</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score </a:t>
            </a:r>
            <a:r>
              <a:rPr lang="zh-CN" altLang="en-US" dirty="0">
                <a:latin typeface="楷体" panose="02010609060101010101" pitchFamily="49" charset="-122"/>
                <a:ea typeface="楷体" panose="02010609060101010101" pitchFamily="49" charset="-122"/>
              </a:rPr>
              <a:t>列表中追加数值 </a:t>
            </a:r>
            <a:r>
              <a:rPr lang="en-US" altLang="zh-CN" dirty="0">
                <a:latin typeface="楷体" panose="02010609060101010101" pitchFamily="49" charset="-122"/>
                <a:ea typeface="楷体" panose="02010609060101010101" pitchFamily="49" charset="-122"/>
              </a:rPr>
              <a:t>88</a:t>
            </a:r>
            <a:r>
              <a:rPr lang="zh-CN" altLang="en-US" dirty="0">
                <a:latin typeface="楷体" panose="02010609060101010101" pitchFamily="49" charset="-122"/>
                <a:ea typeface="楷体" panose="02010609060101010101" pitchFamily="49" charset="-122"/>
              </a:rPr>
              <a:t>，并输出。调用 </a:t>
            </a:r>
            <a:r>
              <a:rPr lang="en-US" altLang="zh-CN" dirty="0">
                <a:latin typeface="楷体" panose="02010609060101010101" pitchFamily="49" charset="-122"/>
                <a:ea typeface="楷体" panose="02010609060101010101" pitchFamily="49" charset="-122"/>
              </a:rPr>
              <a:t>remove()</a:t>
            </a:r>
            <a:r>
              <a:rPr lang="zh-CN" altLang="en-US" dirty="0">
                <a:latin typeface="楷体" panose="02010609060101010101" pitchFamily="49" charset="-122"/>
                <a:ea typeface="楷体" panose="02010609060101010101" pitchFamily="49" charset="-122"/>
              </a:rPr>
              <a:t>函数删除 </a:t>
            </a:r>
            <a:r>
              <a:rPr lang="en-US" altLang="zh-CN" dirty="0">
                <a:latin typeface="楷体" panose="02010609060101010101" pitchFamily="49" charset="-122"/>
                <a:ea typeface="楷体" panose="02010609060101010101" pitchFamily="49" charset="-122"/>
              </a:rPr>
              <a:t>score </a:t>
            </a:r>
            <a:r>
              <a:rPr lang="zh-CN" altLang="en-US" dirty="0">
                <a:latin typeface="楷体" panose="02010609060101010101" pitchFamily="49" charset="-122"/>
                <a:ea typeface="楷体" panose="02010609060101010101" pitchFamily="49" charset="-122"/>
              </a:rPr>
              <a:t>列表中第一个数值</a:t>
            </a:r>
            <a:r>
              <a:rPr lang="en-US" altLang="zh-CN" dirty="0">
                <a:latin typeface="楷体" panose="02010609060101010101" pitchFamily="49" charset="-122"/>
                <a:ea typeface="楷体" panose="02010609060101010101" pitchFamily="49" charset="-122"/>
              </a:rPr>
              <a:t>88</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algn="just"/>
            <a:r>
              <a:rPr lang="en-US" altLang="zh-CN" dirty="0">
                <a:solidFill>
                  <a:srgbClr val="0070C0"/>
                </a:solidFill>
                <a:latin typeface="楷体" panose="02010609060101010101" pitchFamily="49" charset="-122"/>
                <a:ea typeface="楷体" panose="02010609060101010101" pitchFamily="49" charset="-122"/>
              </a:rPr>
              <a:t>	</a:t>
            </a:r>
            <a:r>
              <a:rPr lang="en-US" altLang="zh-CN" dirty="0" err="1">
                <a:solidFill>
                  <a:srgbClr val="0070C0"/>
                </a:solidFill>
                <a:latin typeface="楷体" panose="02010609060101010101" pitchFamily="49" charset="-122"/>
                <a:ea typeface="楷体" panose="02010609060101010101" pitchFamily="49" charset="-122"/>
              </a:rPr>
              <a:t>score.append</a:t>
            </a:r>
            <a:r>
              <a:rPr lang="en-US" altLang="zh-CN" dirty="0">
                <a:solidFill>
                  <a:srgbClr val="0070C0"/>
                </a:solidFill>
                <a:latin typeface="楷体" panose="02010609060101010101" pitchFamily="49" charset="-122"/>
                <a:ea typeface="楷体" panose="02010609060101010101" pitchFamily="49" charset="-122"/>
              </a:rPr>
              <a:t>(88);print(score);</a:t>
            </a:r>
            <a:r>
              <a:rPr lang="en-US" altLang="zh-CN" dirty="0" err="1">
                <a:solidFill>
                  <a:srgbClr val="0070C0"/>
                </a:solidFill>
                <a:latin typeface="楷体" panose="02010609060101010101" pitchFamily="49" charset="-122"/>
                <a:ea typeface="楷体" panose="02010609060101010101" pitchFamily="49" charset="-122"/>
              </a:rPr>
              <a:t>score.remove</a:t>
            </a:r>
            <a:r>
              <a:rPr lang="en-US" altLang="zh-CN" dirty="0">
                <a:solidFill>
                  <a:srgbClr val="0070C0"/>
                </a:solidFill>
                <a:latin typeface="楷体" panose="02010609060101010101" pitchFamily="49" charset="-122"/>
                <a:ea typeface="楷体" panose="02010609060101010101" pitchFamily="49" charset="-122"/>
              </a:rPr>
              <a:t>(88)</a:t>
            </a:r>
          </a:p>
          <a:p>
            <a:pPr algn="just"/>
            <a:r>
              <a:rPr lang="en-US" altLang="zh-CN" dirty="0">
                <a:latin typeface="楷体" panose="02010609060101010101" pitchFamily="49" charset="-122"/>
                <a:ea typeface="楷体" panose="02010609060101010101" pitchFamily="49" charset="-122"/>
              </a:rPr>
              <a:t>16</a:t>
            </a:r>
            <a:r>
              <a:rPr lang="zh-CN" altLang="en-US" dirty="0">
                <a:latin typeface="楷体" panose="02010609060101010101" pitchFamily="49" charset="-122"/>
                <a:ea typeface="楷体" panose="02010609060101010101" pitchFamily="49" charset="-122"/>
              </a:rPr>
              <a:t>）创建</a:t>
            </a:r>
            <a:r>
              <a:rPr lang="en-US" altLang="zh-CN" dirty="0">
                <a:latin typeface="楷体" panose="02010609060101010101" pitchFamily="49" charset="-122"/>
                <a:ea typeface="楷体" panose="02010609060101010101" pitchFamily="49" charset="-122"/>
              </a:rPr>
              <a:t>2 </a:t>
            </a:r>
            <a:r>
              <a:rPr lang="zh-CN" altLang="en-US" dirty="0">
                <a:latin typeface="楷体" panose="02010609060101010101" pitchFamily="49" charset="-122"/>
                <a:ea typeface="楷体" panose="02010609060101010101" pitchFamily="49" charset="-122"/>
              </a:rPr>
              <a:t>个列表 </a:t>
            </a:r>
            <a:r>
              <a:rPr lang="en-US" altLang="zh-CN" dirty="0">
                <a:latin typeface="楷体" panose="02010609060101010101" pitchFamily="49" charset="-122"/>
                <a:ea typeface="楷体" panose="02010609060101010101" pitchFamily="49" charset="-122"/>
              </a:rPr>
              <a:t>score1 </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score2</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score1 </a:t>
            </a:r>
            <a:r>
              <a:rPr lang="zh-CN" altLang="en-US" dirty="0">
                <a:latin typeface="楷体" panose="02010609060101010101" pitchFamily="49" charset="-122"/>
                <a:ea typeface="楷体" panose="02010609060101010101" pitchFamily="49" charset="-122"/>
              </a:rPr>
              <a:t>中包含数值</a:t>
            </a:r>
            <a:r>
              <a:rPr lang="en-US" altLang="zh-CN" dirty="0">
                <a:latin typeface="楷体" panose="02010609060101010101" pitchFamily="49" charset="-122"/>
                <a:ea typeface="楷体" panose="02010609060101010101" pitchFamily="49" charset="-122"/>
              </a:rPr>
              <a:t>2 </a:t>
            </a:r>
            <a:r>
              <a:rPr lang="zh-CN" altLang="en-US" dirty="0">
                <a:latin typeface="楷体" panose="02010609060101010101" pitchFamily="49" charset="-122"/>
                <a:ea typeface="楷体" panose="02010609060101010101" pitchFamily="49" charset="-122"/>
              </a:rPr>
              <a:t>个元素值： </a:t>
            </a:r>
            <a:r>
              <a:rPr lang="en-US" altLang="zh-CN" dirty="0">
                <a:latin typeface="楷体" panose="02010609060101010101" pitchFamily="49" charset="-122"/>
                <a:ea typeface="楷体" panose="02010609060101010101" pitchFamily="49" charset="-122"/>
              </a:rPr>
              <a:t>80,61</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score2</a:t>
            </a:r>
            <a:r>
              <a:rPr lang="zh-CN" altLang="en-US" dirty="0">
                <a:latin typeface="楷体" panose="02010609060101010101" pitchFamily="49" charset="-122"/>
                <a:ea typeface="楷体" panose="02010609060101010101" pitchFamily="49" charset="-122"/>
              </a:rPr>
              <a:t>中包含</a:t>
            </a:r>
            <a:r>
              <a:rPr lang="en-US" altLang="zh-CN" dirty="0">
                <a:latin typeface="楷体" panose="02010609060101010101" pitchFamily="49" charset="-122"/>
                <a:ea typeface="楷体" panose="02010609060101010101" pitchFamily="49" charset="-122"/>
              </a:rPr>
              <a:t>3 </a:t>
            </a:r>
            <a:r>
              <a:rPr lang="zh-CN" altLang="en-US" dirty="0">
                <a:latin typeface="楷体" panose="02010609060101010101" pitchFamily="49" charset="-122"/>
                <a:ea typeface="楷体" panose="02010609060101010101" pitchFamily="49" charset="-122"/>
              </a:rPr>
              <a:t>个元素值：</a:t>
            </a:r>
            <a:r>
              <a:rPr lang="en-US" altLang="zh-CN" dirty="0">
                <a:latin typeface="楷体" panose="02010609060101010101" pitchFamily="49" charset="-122"/>
                <a:ea typeface="楷体" panose="02010609060101010101" pitchFamily="49" charset="-122"/>
              </a:rPr>
              <a:t>71,95</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82</a:t>
            </a:r>
            <a:r>
              <a:rPr lang="zh-CN" altLang="en-US" dirty="0">
                <a:latin typeface="楷体" panose="02010609060101010101" pitchFamily="49" charset="-122"/>
                <a:ea typeface="楷体" panose="02010609060101010101" pitchFamily="49" charset="-122"/>
              </a:rPr>
              <a:t>，合并这两个列表，并输出全部元素；</a:t>
            </a:r>
            <a:endParaRPr lang="en-US" altLang="zh-CN" dirty="0">
              <a:latin typeface="楷体" panose="02010609060101010101" pitchFamily="49" charset="-122"/>
              <a:ea typeface="楷体" panose="02010609060101010101" pitchFamily="49" charset="-122"/>
            </a:endParaRPr>
          </a:p>
          <a:p>
            <a:pPr algn="just"/>
            <a:r>
              <a:rPr lang="en-US" altLang="zh-CN" dirty="0">
                <a:solidFill>
                  <a:srgbClr val="0070C0"/>
                </a:solidFill>
                <a:latin typeface="楷体" panose="02010609060101010101" pitchFamily="49" charset="-122"/>
                <a:ea typeface="楷体" panose="02010609060101010101" pitchFamily="49" charset="-122"/>
              </a:rPr>
              <a:t>	score1=[80,61];score2=[71,95,82];print(score1+score2)</a:t>
            </a:r>
            <a:endParaRPr lang="zh-CN" altLang="en-US" dirty="0">
              <a:solidFill>
                <a:srgbClr val="0070C0"/>
              </a:solidFill>
              <a:latin typeface="楷体" panose="02010609060101010101" pitchFamily="49" charset="-122"/>
              <a:ea typeface="楷体" panose="02010609060101010101" pitchFamily="49" charset="-122"/>
            </a:endParaRPr>
          </a:p>
          <a:p>
            <a:pPr algn="just"/>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17</a:t>
            </a:r>
            <a:r>
              <a:rPr lang="zh-CN" altLang="en-US" dirty="0">
                <a:latin typeface="楷体" panose="02010609060101010101" pitchFamily="49" charset="-122"/>
                <a:ea typeface="楷体" panose="02010609060101010101" pitchFamily="49" charset="-122"/>
              </a:rPr>
              <a:t>）创建</a:t>
            </a:r>
            <a:r>
              <a:rPr lang="en-US" altLang="zh-CN" dirty="0">
                <a:latin typeface="楷体" panose="02010609060101010101" pitchFamily="49" charset="-122"/>
                <a:ea typeface="楷体" panose="02010609060101010101" pitchFamily="49" charset="-122"/>
              </a:rPr>
              <a:t>score1 </a:t>
            </a:r>
            <a:r>
              <a:rPr lang="zh-CN" altLang="en-US" dirty="0">
                <a:latin typeface="楷体" panose="02010609060101010101" pitchFamily="49" charset="-122"/>
                <a:ea typeface="楷体" panose="02010609060101010101" pitchFamily="49" charset="-122"/>
              </a:rPr>
              <a:t>列表，其中包含数值 </a:t>
            </a:r>
            <a:r>
              <a:rPr lang="en-US" altLang="zh-CN" dirty="0">
                <a:latin typeface="楷体" panose="02010609060101010101" pitchFamily="49" charset="-122"/>
                <a:ea typeface="楷体" panose="02010609060101010101" pitchFamily="49" charset="-122"/>
              </a:rPr>
              <a:t>2 </a:t>
            </a:r>
            <a:r>
              <a:rPr lang="zh-CN" altLang="en-US" dirty="0">
                <a:latin typeface="楷体" panose="02010609060101010101" pitchFamily="49" charset="-122"/>
                <a:ea typeface="楷体" panose="02010609060101010101" pitchFamily="49" charset="-122"/>
              </a:rPr>
              <a:t>个元素值：</a:t>
            </a:r>
            <a:r>
              <a:rPr lang="en-US" altLang="zh-CN" dirty="0">
                <a:latin typeface="楷体" panose="02010609060101010101" pitchFamily="49" charset="-122"/>
                <a:ea typeface="楷体" panose="02010609060101010101" pitchFamily="49" charset="-122"/>
              </a:rPr>
              <a:t>80,61</a:t>
            </a:r>
            <a:r>
              <a:rPr lang="zh-CN" altLang="en-US" dirty="0">
                <a:latin typeface="楷体" panose="02010609060101010101" pitchFamily="49" charset="-122"/>
                <a:ea typeface="楷体" panose="02010609060101010101" pitchFamily="49" charset="-122"/>
              </a:rPr>
              <a:t>，将 </a:t>
            </a:r>
            <a:r>
              <a:rPr lang="en-US" altLang="zh-CN" dirty="0">
                <a:latin typeface="楷体" panose="02010609060101010101" pitchFamily="49" charset="-122"/>
                <a:ea typeface="楷体" panose="02010609060101010101" pitchFamily="49" charset="-122"/>
              </a:rPr>
              <a:t>score1</a:t>
            </a:r>
            <a:r>
              <a:rPr lang="zh-CN" altLang="en-US" dirty="0">
                <a:latin typeface="楷体" panose="02010609060101010101" pitchFamily="49" charset="-122"/>
                <a:ea typeface="楷体" panose="02010609060101010101" pitchFamily="49" charset="-122"/>
              </a:rPr>
              <a:t>中元素复制</a:t>
            </a:r>
            <a:r>
              <a:rPr lang="en-US" altLang="zh-CN" dirty="0">
                <a:latin typeface="楷体" panose="02010609060101010101" pitchFamily="49" charset="-122"/>
                <a:ea typeface="楷体" panose="02010609060101010101" pitchFamily="49" charset="-122"/>
              </a:rPr>
              <a:t>5 </a:t>
            </a:r>
            <a:endParaRPr lang="zh-CN" altLang="en-US" dirty="0">
              <a:latin typeface="楷体" panose="02010609060101010101" pitchFamily="49" charset="-122"/>
              <a:ea typeface="楷体" panose="02010609060101010101" pitchFamily="49" charset="-122"/>
            </a:endParaRPr>
          </a:p>
          <a:p>
            <a:pPr algn="just"/>
            <a:r>
              <a:rPr lang="zh-CN" altLang="en-US" dirty="0">
                <a:latin typeface="楷体" panose="02010609060101010101" pitchFamily="49" charset="-122"/>
                <a:ea typeface="楷体" panose="02010609060101010101" pitchFamily="49" charset="-122"/>
              </a:rPr>
              <a:t>遍保存在</a:t>
            </a:r>
            <a:r>
              <a:rPr lang="en-US" altLang="zh-CN" dirty="0">
                <a:latin typeface="楷体" panose="02010609060101010101" pitchFamily="49" charset="-122"/>
                <a:ea typeface="楷体" panose="02010609060101010101" pitchFamily="49" charset="-122"/>
              </a:rPr>
              <a:t>score2 </a:t>
            </a:r>
            <a:r>
              <a:rPr lang="zh-CN" altLang="en-US" dirty="0">
                <a:latin typeface="楷体" panose="02010609060101010101" pitchFamily="49" charset="-122"/>
                <a:ea typeface="楷体" panose="02010609060101010101" pitchFamily="49" charset="-122"/>
              </a:rPr>
              <a:t>列表中，输出</a:t>
            </a:r>
            <a:r>
              <a:rPr lang="en-US" altLang="zh-CN" dirty="0">
                <a:latin typeface="楷体" panose="02010609060101010101" pitchFamily="49" charset="-122"/>
                <a:ea typeface="楷体" panose="02010609060101010101" pitchFamily="49" charset="-122"/>
              </a:rPr>
              <a:t>score2 </a:t>
            </a:r>
            <a:r>
              <a:rPr lang="zh-CN" altLang="en-US" dirty="0">
                <a:latin typeface="楷体" panose="02010609060101010101" pitchFamily="49" charset="-122"/>
                <a:ea typeface="楷体" panose="02010609060101010101" pitchFamily="49" charset="-122"/>
              </a:rPr>
              <a:t>列表中全部元素。</a:t>
            </a:r>
            <a:endParaRPr lang="en-US" altLang="zh-CN" dirty="0">
              <a:latin typeface="楷体" panose="02010609060101010101" pitchFamily="49" charset="-122"/>
              <a:ea typeface="楷体" panose="02010609060101010101" pitchFamily="49" charset="-122"/>
            </a:endParaRPr>
          </a:p>
          <a:p>
            <a:pPr algn="just"/>
            <a:r>
              <a:rPr lang="en-US" altLang="zh-CN" dirty="0">
                <a:solidFill>
                  <a:srgbClr val="0070C0"/>
                </a:solidFill>
                <a:latin typeface="楷体" panose="02010609060101010101" pitchFamily="49" charset="-122"/>
                <a:ea typeface="楷体" panose="02010609060101010101" pitchFamily="49" charset="-122"/>
              </a:rPr>
              <a:t>	score1=[80,61];score2=score1*5;print(score2)</a:t>
            </a:r>
            <a:endParaRPr lang="zh-CN" altLang="en-US" dirty="0">
              <a:solidFill>
                <a:srgbClr val="0070C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15243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矩形 1"/>
          <p:cNvSpPr/>
          <p:nvPr/>
        </p:nvSpPr>
        <p:spPr>
          <a:xfrm>
            <a:off x="4803031" y="981522"/>
            <a:ext cx="2016224" cy="737235"/>
          </a:xfrm>
          <a:prstGeom prst="rect">
            <a:avLst/>
          </a:prstGeom>
        </p:spPr>
        <p:txBody>
          <a:bodyPr wrap="square">
            <a:spAutoFit/>
          </a:bodyPr>
          <a:lstStyle/>
          <a:p>
            <a:pPr>
              <a:lnSpc>
                <a:spcPct val="150000"/>
              </a:lnSpc>
            </a:pPr>
            <a:r>
              <a:rPr lang="zh-CN" altLang="en-US" sz="2800" b="1" dirty="0">
                <a:solidFill>
                  <a:srgbClr val="333333"/>
                </a:solidFill>
                <a:latin typeface="微软雅黑" panose="020B0503020204020204" pitchFamily="34" charset="-122"/>
                <a:ea typeface="微软雅黑" panose="020B0503020204020204" pitchFamily="34" charset="-122"/>
              </a:rPr>
              <a:t>课外练习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626567" y="1917626"/>
            <a:ext cx="11165259" cy="3322955"/>
          </a:xfrm>
          <a:prstGeom prst="rect">
            <a:avLst/>
          </a:prstGeom>
          <a:noFill/>
        </p:spPr>
        <p:txBody>
          <a:bodyPr wrap="square" rtlCol="0">
            <a:spAutoFit/>
          </a:bodyPr>
          <a:lstStyle/>
          <a:p>
            <a:pPr algn="just">
              <a:lnSpc>
                <a:spcPct val="150000"/>
              </a:lnSpc>
            </a:pP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a:t>
            </a:r>
            <a:r>
              <a:rPr lang="zh-CN" altLang="en-US" sz="2800" b="1" dirty="0">
                <a:solidFill>
                  <a:srgbClr val="FF0000"/>
                </a:solidFill>
                <a:latin typeface="楷体" panose="02010609060101010101" pitchFamily="49" charset="-122"/>
                <a:ea typeface="楷体" panose="02010609060101010101" pitchFamily="49" charset="-122"/>
              </a:rPr>
              <a:t>开发敏感词语过滤程序</a:t>
            </a:r>
            <a:r>
              <a:rPr lang="zh-CN" altLang="en-US" sz="2800" dirty="0">
                <a:latin typeface="楷体" panose="02010609060101010101" pitchFamily="49" charset="-122"/>
                <a:ea typeface="楷体" panose="02010609060101010101" pitchFamily="49" charset="-122"/>
              </a:rPr>
              <a:t>。提示用户输入评论内容，如果用户输入的内容中包含特殊的字符：敏感词列表</a:t>
            </a:r>
            <a:endParaRPr lang="en-US" altLang="zh-CN" sz="2800" dirty="0">
              <a:latin typeface="楷体" panose="02010609060101010101" pitchFamily="49" charset="-122"/>
              <a:ea typeface="楷体" panose="02010609060101010101" pitchFamily="49" charset="-122"/>
            </a:endParaRPr>
          </a:p>
          <a:p>
            <a:pPr algn="just">
              <a:lnSpc>
                <a:spcPct val="150000"/>
              </a:lnSpc>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li = ["</a:t>
            </a:r>
            <a:r>
              <a:rPr lang="zh-CN" altLang="en-US" sz="2800" dirty="0">
                <a:latin typeface="楷体" panose="02010609060101010101" pitchFamily="49" charset="-122"/>
                <a:ea typeface="楷体" panose="02010609060101010101" pitchFamily="49" charset="-122"/>
              </a:rPr>
              <a:t>考前答案</a:t>
            </a:r>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枪手网</a:t>
            </a:r>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窃听器</a:t>
            </a:r>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替考</a:t>
            </a:r>
            <a:r>
              <a:rPr lang="en-US" altLang="zh-CN" sz="2800" dirty="0">
                <a:latin typeface="楷体" panose="02010609060101010101" pitchFamily="49" charset="-122"/>
                <a:ea typeface="楷体" panose="02010609060101010101" pitchFamily="49" charset="-122"/>
              </a:rPr>
              <a:t>"]</a:t>
            </a:r>
          </a:p>
          <a:p>
            <a:pPr algn="just">
              <a:lnSpc>
                <a:spcPct val="150000"/>
              </a:lnSpc>
            </a:pPr>
            <a:r>
              <a:rPr lang="zh-CN" altLang="en-US" sz="2800" dirty="0">
                <a:latin typeface="楷体" panose="02010609060101010101" pitchFamily="49" charset="-122"/>
                <a:ea typeface="楷体" panose="02010609060101010101" pitchFamily="49" charset="-122"/>
              </a:rPr>
              <a:t>则将用户输入的内容中的敏感词汇替换成***，并添加到一个列表中；如果用户输入的内容没有敏感词汇，则直接输出信息。</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矩形 1"/>
          <p:cNvSpPr/>
          <p:nvPr/>
        </p:nvSpPr>
        <p:spPr>
          <a:xfrm>
            <a:off x="4875039" y="752982"/>
            <a:ext cx="2016224" cy="662554"/>
          </a:xfrm>
          <a:prstGeom prst="rect">
            <a:avLst/>
          </a:prstGeom>
        </p:spPr>
        <p:txBody>
          <a:bodyPr wrap="square">
            <a:spAutoFit/>
          </a:bodyPr>
          <a:lstStyle/>
          <a:p>
            <a:pPr>
              <a:lnSpc>
                <a:spcPct val="150000"/>
              </a:lnSpc>
            </a:pPr>
            <a:r>
              <a:rPr lang="zh-CN" altLang="en-US" sz="2800" b="1">
                <a:solidFill>
                  <a:srgbClr val="333333"/>
                </a:solidFill>
                <a:latin typeface="微软雅黑" panose="020B0503020204020204" pitchFamily="34" charset="-122"/>
                <a:ea typeface="微软雅黑" panose="020B0503020204020204" pitchFamily="34" charset="-122"/>
              </a:rPr>
              <a:t>课外练习</a:t>
            </a:r>
            <a:endParaRPr lang="zh-CN" altLang="en-US" sz="28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770583" y="1269554"/>
            <a:ext cx="11165259" cy="637675"/>
          </a:xfrm>
          <a:prstGeom prst="rect">
            <a:avLst/>
          </a:prstGeom>
          <a:noFill/>
        </p:spPr>
        <p:txBody>
          <a:bodyPr wrap="square" rtlCol="0">
            <a:spAutoFit/>
          </a:bodyPr>
          <a:lstStyle/>
          <a:p>
            <a:pPr algn="just">
              <a:lnSpc>
                <a:spcPct val="150000"/>
              </a:lnSpc>
            </a:pPr>
            <a:r>
              <a:rPr lang="zh-CN" altLang="en-US" sz="2800" b="1" dirty="0">
                <a:solidFill>
                  <a:srgbClr val="FF0000"/>
                </a:solidFill>
                <a:latin typeface="楷体" panose="02010609060101010101" pitchFamily="49" charset="-122"/>
                <a:ea typeface="楷体" panose="02010609060101010101" pitchFamily="49" charset="-122"/>
              </a:rPr>
              <a:t>开发敏感词语过滤程序</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p:sp>
        <p:nvSpPr>
          <p:cNvPr id="4" name="矩形 3"/>
          <p:cNvSpPr/>
          <p:nvPr/>
        </p:nvSpPr>
        <p:spPr>
          <a:xfrm>
            <a:off x="2666169" y="1951060"/>
            <a:ext cx="8450187" cy="4778231"/>
          </a:xfrm>
          <a:prstGeom prst="rect">
            <a:avLst/>
          </a:prstGeom>
        </p:spPr>
        <p:txBody>
          <a:bodyPr wrap="square">
            <a:spAutoFit/>
          </a:bodyPr>
          <a:lstStyle/>
          <a:p>
            <a:pPr algn="just">
              <a:lnSpc>
                <a:spcPct val="150000"/>
              </a:lnSpc>
            </a:pPr>
            <a:r>
              <a:rPr lang="en-US" altLang="zh-CN" dirty="0">
                <a:latin typeface="楷体" panose="02010609060101010101" pitchFamily="49" charset="-122"/>
                <a:ea typeface="楷体" panose="02010609060101010101" pitchFamily="49" charset="-122"/>
              </a:rPr>
              <a:t>li = ["</a:t>
            </a:r>
            <a:r>
              <a:rPr lang="zh-CN" altLang="en-US" dirty="0">
                <a:latin typeface="楷体" panose="02010609060101010101" pitchFamily="49" charset="-122"/>
                <a:ea typeface="楷体" panose="02010609060101010101" pitchFamily="49" charset="-122"/>
              </a:rPr>
              <a:t>考前答案</a:t>
            </a: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枪手网</a:t>
            </a: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窃听器</a:t>
            </a: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替考</a:t>
            </a:r>
            <a:r>
              <a:rPr lang="en-US" altLang="zh-CN" dirty="0">
                <a:latin typeface="楷体" panose="02010609060101010101" pitchFamily="49" charset="-122"/>
                <a:ea typeface="楷体" panose="02010609060101010101" pitchFamily="49" charset="-122"/>
              </a:rPr>
              <a:t>"]</a:t>
            </a:r>
          </a:p>
          <a:p>
            <a:pPr algn="just">
              <a:lnSpc>
                <a:spcPts val="3500"/>
              </a:lnSpc>
            </a:pPr>
            <a:r>
              <a:rPr lang="en-US" altLang="zh-CN" dirty="0" err="1">
                <a:latin typeface="楷体" panose="02010609060101010101" pitchFamily="49" charset="-122"/>
                <a:ea typeface="楷体" panose="02010609060101010101" pitchFamily="49" charset="-122"/>
              </a:rPr>
              <a:t>new_li</a:t>
            </a:r>
            <a:r>
              <a:rPr lang="en-US" altLang="zh-CN" dirty="0">
                <a:latin typeface="楷体" panose="02010609060101010101" pitchFamily="49" charset="-122"/>
                <a:ea typeface="楷体" panose="02010609060101010101" pitchFamily="49" charset="-122"/>
              </a:rPr>
              <a:t>= []</a:t>
            </a:r>
          </a:p>
          <a:p>
            <a:pPr algn="just">
              <a:lnSpc>
                <a:spcPts val="3500"/>
              </a:lnSpc>
            </a:pPr>
            <a:r>
              <a:rPr lang="en-US" altLang="zh-CN" dirty="0">
                <a:latin typeface="楷体" panose="02010609060101010101" pitchFamily="49" charset="-122"/>
                <a:ea typeface="楷体" panose="02010609060101010101" pitchFamily="49" charset="-122"/>
              </a:rPr>
              <a:t>info = input(“</a:t>
            </a:r>
            <a:r>
              <a:rPr lang="zh-CN" altLang="en-US" dirty="0">
                <a:latin typeface="楷体" panose="02010609060101010101" pitchFamily="49" charset="-122"/>
                <a:ea typeface="楷体" panose="02010609060101010101" pitchFamily="49" charset="-122"/>
              </a:rPr>
              <a:t>评论：</a:t>
            </a:r>
            <a:r>
              <a:rPr lang="en-US" altLang="zh-CN" dirty="0">
                <a:latin typeface="楷体" panose="02010609060101010101" pitchFamily="49" charset="-122"/>
                <a:ea typeface="楷体" panose="02010609060101010101" pitchFamily="49" charset="-122"/>
              </a:rPr>
              <a:t>”)  # </a:t>
            </a:r>
            <a:r>
              <a:rPr lang="zh-CN" altLang="en-US" dirty="0">
                <a:latin typeface="楷体" panose="02010609060101010101" pitchFamily="49" charset="-122"/>
                <a:ea typeface="楷体" panose="02010609060101010101" pitchFamily="49" charset="-122"/>
              </a:rPr>
              <a:t>输入信息</a:t>
            </a:r>
          </a:p>
          <a:p>
            <a:pPr algn="just">
              <a:lnSpc>
                <a:spcPts val="3500"/>
              </a:lnSpc>
            </a:pPr>
            <a:r>
              <a:rPr lang="en-US" altLang="zh-CN" dirty="0">
                <a:latin typeface="楷体" panose="02010609060101010101" pitchFamily="49" charset="-122"/>
                <a:ea typeface="楷体" panose="02010609060101010101" pitchFamily="49" charset="-122"/>
              </a:rPr>
              <a:t>for </a:t>
            </a:r>
            <a:r>
              <a:rPr lang="en-US" altLang="zh-CN" dirty="0" err="1">
                <a:latin typeface="楷体" panose="02010609060101010101" pitchFamily="49" charset="-122"/>
                <a:ea typeface="楷体" panose="02010609060101010101" pitchFamily="49" charset="-122"/>
              </a:rPr>
              <a:t>i</a:t>
            </a:r>
            <a:r>
              <a:rPr lang="en-US" altLang="zh-CN" dirty="0">
                <a:latin typeface="楷体" panose="02010609060101010101" pitchFamily="49" charset="-122"/>
                <a:ea typeface="楷体" panose="02010609060101010101" pitchFamily="49" charset="-122"/>
              </a:rPr>
              <a:t> in li:</a:t>
            </a:r>
          </a:p>
          <a:p>
            <a:pPr algn="just">
              <a:lnSpc>
                <a:spcPts val="3500"/>
              </a:lnSpc>
            </a:pPr>
            <a:r>
              <a:rPr lang="en-US" altLang="zh-CN" dirty="0">
                <a:latin typeface="楷体" panose="02010609060101010101" pitchFamily="49" charset="-122"/>
                <a:ea typeface="楷体" panose="02010609060101010101" pitchFamily="49" charset="-122"/>
              </a:rPr>
              <a:t>    if </a:t>
            </a:r>
            <a:r>
              <a:rPr lang="en-US" altLang="zh-CN" dirty="0" err="1">
                <a:latin typeface="楷体" panose="02010609060101010101" pitchFamily="49" charset="-122"/>
                <a:ea typeface="楷体" panose="02010609060101010101" pitchFamily="49" charset="-122"/>
              </a:rPr>
              <a:t>i</a:t>
            </a:r>
            <a:r>
              <a:rPr lang="en-US" altLang="zh-CN" dirty="0">
                <a:latin typeface="楷体" panose="02010609060101010101" pitchFamily="49" charset="-122"/>
                <a:ea typeface="楷体" panose="02010609060101010101" pitchFamily="49" charset="-122"/>
              </a:rPr>
              <a:t> in info:</a:t>
            </a:r>
          </a:p>
          <a:p>
            <a:pPr algn="just">
              <a:lnSpc>
                <a:spcPts val="3500"/>
              </a:lnSpc>
            </a:pPr>
            <a:r>
              <a:rPr lang="en-US" altLang="zh-CN" dirty="0">
                <a:latin typeface="楷体" panose="02010609060101010101" pitchFamily="49" charset="-122"/>
                <a:ea typeface="楷体" panose="02010609060101010101" pitchFamily="49" charset="-122"/>
              </a:rPr>
              <a:t>        l = </a:t>
            </a:r>
            <a:r>
              <a:rPr lang="en-US" altLang="zh-CN" dirty="0" err="1">
                <a:latin typeface="楷体" panose="02010609060101010101" pitchFamily="49" charset="-122"/>
                <a:ea typeface="楷体" panose="02010609060101010101" pitchFamily="49" charset="-122"/>
              </a:rPr>
              <a:t>len</a:t>
            </a:r>
            <a:r>
              <a:rPr lang="en-US" altLang="zh-CN" dirty="0">
                <a:latin typeface="楷体" panose="02010609060101010101" pitchFamily="49" charset="-122"/>
                <a:ea typeface="楷体" panose="02010609060101010101" pitchFamily="49" charset="-122"/>
              </a:rPr>
              <a:t>(</a:t>
            </a:r>
            <a:r>
              <a:rPr lang="en-US" altLang="zh-CN" dirty="0" err="1">
                <a:latin typeface="楷体" panose="02010609060101010101" pitchFamily="49" charset="-122"/>
                <a:ea typeface="楷体" panose="02010609060101010101" pitchFamily="49" charset="-122"/>
              </a:rPr>
              <a:t>i</a:t>
            </a:r>
            <a:r>
              <a:rPr lang="en-US" altLang="zh-CN" dirty="0">
                <a:latin typeface="楷体" panose="02010609060101010101" pitchFamily="49" charset="-122"/>
                <a:ea typeface="楷体" panose="02010609060101010101" pitchFamily="49" charset="-122"/>
              </a:rPr>
              <a:t>)</a:t>
            </a:r>
          </a:p>
          <a:p>
            <a:pPr algn="just">
              <a:lnSpc>
                <a:spcPts val="3500"/>
              </a:lnSpc>
            </a:pPr>
            <a:r>
              <a:rPr lang="en-US" altLang="zh-CN" dirty="0">
                <a:latin typeface="楷体" panose="02010609060101010101" pitchFamily="49" charset="-122"/>
                <a:ea typeface="楷体" panose="02010609060101010101" pitchFamily="49" charset="-122"/>
              </a:rPr>
              <a:t>        info=</a:t>
            </a:r>
            <a:r>
              <a:rPr lang="en-US" altLang="zh-CN" dirty="0" err="1">
                <a:latin typeface="楷体" panose="02010609060101010101" pitchFamily="49" charset="-122"/>
                <a:ea typeface="楷体" panose="02010609060101010101" pitchFamily="49" charset="-122"/>
              </a:rPr>
              <a:t>info.replace</a:t>
            </a:r>
            <a:r>
              <a:rPr lang="en-US" altLang="zh-CN" dirty="0">
                <a:latin typeface="楷体" panose="02010609060101010101" pitchFamily="49" charset="-122"/>
                <a:ea typeface="楷体" panose="02010609060101010101" pitchFamily="49" charset="-122"/>
              </a:rPr>
              <a:t>(</a:t>
            </a:r>
            <a:r>
              <a:rPr lang="en-US" altLang="zh-CN" dirty="0" err="1">
                <a:latin typeface="楷体" panose="02010609060101010101" pitchFamily="49" charset="-122"/>
                <a:ea typeface="楷体" panose="02010609060101010101" pitchFamily="49" charset="-122"/>
              </a:rPr>
              <a:t>i</a:t>
            </a:r>
            <a:r>
              <a:rPr lang="en-US" altLang="zh-CN" dirty="0">
                <a:latin typeface="楷体" panose="02010609060101010101" pitchFamily="49" charset="-122"/>
                <a:ea typeface="楷体" panose="02010609060101010101" pitchFamily="49" charset="-122"/>
              </a:rPr>
              <a:t>,'*'*l)</a:t>
            </a:r>
          </a:p>
          <a:p>
            <a:pPr algn="just">
              <a:lnSpc>
                <a:spcPts val="3500"/>
              </a:lnSpc>
            </a:pPr>
            <a:r>
              <a:rPr lang="en-US" altLang="zh-CN" dirty="0" err="1">
                <a:latin typeface="楷体" panose="02010609060101010101" pitchFamily="49" charset="-122"/>
                <a:ea typeface="楷体" panose="02010609060101010101" pitchFamily="49" charset="-122"/>
              </a:rPr>
              <a:t>new_li.append</a:t>
            </a:r>
            <a:r>
              <a:rPr lang="en-US" altLang="zh-CN" dirty="0">
                <a:latin typeface="楷体" panose="02010609060101010101" pitchFamily="49" charset="-122"/>
                <a:ea typeface="楷体" panose="02010609060101010101" pitchFamily="49" charset="-122"/>
              </a:rPr>
              <a:t>(info)</a:t>
            </a:r>
          </a:p>
          <a:p>
            <a:pPr algn="just">
              <a:lnSpc>
                <a:spcPts val="3500"/>
              </a:lnSpc>
            </a:pPr>
            <a:r>
              <a:rPr lang="en-US" altLang="zh-CN" dirty="0">
                <a:latin typeface="楷体" panose="02010609060101010101" pitchFamily="49" charset="-122"/>
                <a:ea typeface="楷体" panose="02010609060101010101" pitchFamily="49" charset="-122"/>
              </a:rPr>
              <a:t>print(</a:t>
            </a:r>
            <a:r>
              <a:rPr lang="en-US" altLang="zh-CN" dirty="0" err="1">
                <a:latin typeface="楷体" panose="02010609060101010101" pitchFamily="49" charset="-122"/>
                <a:ea typeface="楷体" panose="02010609060101010101" pitchFamily="49" charset="-122"/>
              </a:rPr>
              <a:t>new_li</a:t>
            </a:r>
            <a:r>
              <a:rPr lang="en-US" altLang="zh-CN" dirty="0">
                <a:latin typeface="楷体" panose="02010609060101010101" pitchFamily="49" charset="-122"/>
                <a:ea typeface="楷体" panose="02010609060101010101" pitchFamily="49" charset="-122"/>
              </a:rPr>
              <a:t>)</a:t>
            </a:r>
          </a:p>
          <a:p>
            <a:pPr algn="just">
              <a:lnSpc>
                <a:spcPts val="3500"/>
              </a:lnSpc>
            </a:pPr>
            <a:endParaRPr lang="zh-CN" altLang="en-US"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a:spLocks noGrp="1"/>
          </p:cNvSpPr>
          <p:nvPr/>
        </p:nvSpPr>
        <p:spPr>
          <a:xfrm>
            <a:off x="4587007" y="1269554"/>
            <a:ext cx="2880320" cy="436378"/>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小结</a:t>
            </a:r>
          </a:p>
        </p:txBody>
      </p:sp>
      <p:sp>
        <p:nvSpPr>
          <p:cNvPr id="13" name="标题 1"/>
          <p:cNvSpPr>
            <a:spLocks noGrp="1"/>
          </p:cNvSpPr>
          <p:nvPr/>
        </p:nvSpPr>
        <p:spPr>
          <a:xfrm>
            <a:off x="10214610" y="71120"/>
            <a:ext cx="1793240" cy="673100"/>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lvl="0" algn="r" defTabSz="914400" eaLnBrk="0" fontAlgn="base" hangingPunct="0">
              <a:lnSpc>
                <a:spcPct val="90000"/>
              </a:lnSpc>
              <a:buClrTx/>
              <a:buSzTx/>
              <a:buFontTx/>
              <a:defRPr/>
            </a:pPr>
            <a:r>
              <a:rPr lang="zh-CN" altLang="en-US" sz="28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3.2 列表</a:t>
            </a:r>
          </a:p>
        </p:txBody>
      </p:sp>
      <p:sp>
        <p:nvSpPr>
          <p:cNvPr id="2" name="矩形 1"/>
          <p:cNvSpPr/>
          <p:nvPr/>
        </p:nvSpPr>
        <p:spPr>
          <a:xfrm>
            <a:off x="4082951" y="2421682"/>
            <a:ext cx="4392488" cy="2031325"/>
          </a:xfrm>
          <a:prstGeom prst="rect">
            <a:avLst/>
          </a:prstGeom>
        </p:spPr>
        <p:txBody>
          <a:bodyPr wrap="square">
            <a:spAutoFit/>
          </a:bodyPr>
          <a:lstStyle/>
          <a:p>
            <a:pPr marL="457200" indent="-457200">
              <a:lnSpc>
                <a:spcPct val="150000"/>
              </a:lnSpc>
              <a:buFont typeface="Wingdings" panose="05000000000000000000" pitchFamily="2" charset="2"/>
              <a:buChar char="u"/>
            </a:pPr>
            <a:r>
              <a:rPr lang="zh-CN" altLang="en-US" sz="2800" dirty="0">
                <a:solidFill>
                  <a:srgbClr val="333333"/>
                </a:solidFill>
                <a:latin typeface="微软雅黑" panose="020B0503020204020204" pitchFamily="34" charset="-122"/>
                <a:ea typeface="微软雅黑" panose="020B0503020204020204" pitchFamily="34" charset="-122"/>
              </a:rPr>
              <a:t>列表定义</a:t>
            </a:r>
            <a:endParaRPr lang="en-US" altLang="zh-CN" sz="2800" dirty="0">
              <a:solidFill>
                <a:srgbClr val="333333"/>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u"/>
            </a:pPr>
            <a:r>
              <a:rPr lang="zh-CN" altLang="en-US" sz="2800" dirty="0">
                <a:solidFill>
                  <a:srgbClr val="333333"/>
                </a:solidFill>
                <a:latin typeface="微软雅黑" panose="020B0503020204020204" pitchFamily="34" charset="-122"/>
                <a:ea typeface="微软雅黑" panose="020B0503020204020204" pitchFamily="34" charset="-122"/>
              </a:rPr>
              <a:t>列表的操作</a:t>
            </a:r>
            <a:endParaRPr lang="en-US" altLang="zh-CN" sz="2800" dirty="0">
              <a:solidFill>
                <a:srgbClr val="333333"/>
              </a:solidFill>
              <a:latin typeface="微软雅黑" panose="020B0503020204020204" pitchFamily="34" charset="-122"/>
              <a:ea typeface="微软雅黑" panose="020B0503020204020204" pitchFamily="34" charset="-122"/>
            </a:endParaRPr>
          </a:p>
          <a:p>
            <a:pPr marL="457200" indent="-457200">
              <a:lnSpc>
                <a:spcPct val="150000"/>
              </a:lnSpc>
              <a:buFont typeface="Wingdings" panose="05000000000000000000" pitchFamily="2" charset="2"/>
              <a:buChar char="u"/>
            </a:pPr>
            <a:r>
              <a:rPr lang="zh-CN" altLang="en-US" sz="2800" dirty="0">
                <a:solidFill>
                  <a:srgbClr val="333333"/>
                </a:solidFill>
                <a:latin typeface="微软雅黑" panose="020B0503020204020204" pitchFamily="34" charset="-122"/>
                <a:ea typeface="微软雅黑" panose="020B0503020204020204" pitchFamily="34" charset="-122"/>
              </a:rPr>
              <a:t>列表的索引与切片</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0" y="3810736"/>
            <a:ext cx="12198448" cy="3048588"/>
          </a:xfrm>
          <a:prstGeom prst="rect">
            <a:avLst/>
          </a:prstGeom>
          <a:pattFill prst="dkHorz">
            <a:fgClr>
              <a:srgbClr val="F2F2F2"/>
            </a:fgClr>
            <a:bgClr>
              <a:srgbClr val="FFFFFF"/>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p:cNvSpPr/>
          <p:nvPr>
            <p:custDataLst>
              <p:tags r:id="rId3"/>
            </p:custDataLst>
          </p:nvPr>
        </p:nvSpPr>
        <p:spPr>
          <a:xfrm>
            <a:off x="1677254" y="914251"/>
            <a:ext cx="8843875" cy="853503"/>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8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1"/>
          <p:cNvSpPr/>
          <p:nvPr>
            <p:custDataLst>
              <p:tags r:id="rId4"/>
            </p:custDataLst>
          </p:nvPr>
        </p:nvSpPr>
        <p:spPr>
          <a:xfrm>
            <a:off x="1677241" y="2194436"/>
            <a:ext cx="8843875" cy="3777441"/>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custDataLst>
              <p:tags r:id="rId5"/>
            </p:custDataLst>
          </p:nvPr>
        </p:nvSpPr>
        <p:spPr>
          <a:xfrm>
            <a:off x="1982200" y="1066680"/>
            <a:ext cx="8233950" cy="548639"/>
          </a:xfrm>
          <a:prstGeom prst="rect">
            <a:avLst/>
          </a:prstGeom>
          <a:noFill/>
        </p:spPr>
        <p:txBody>
          <a:bodyPr wrap="square" rtlCol="0" anchor="ctr">
            <a:noAutofit/>
          </a:bodyPr>
          <a:lstStyle/>
          <a:p>
            <a:pPr marL="0" indent="0" algn="ctr">
              <a:lnSpc>
                <a:spcPct val="100000"/>
              </a:lnSpc>
              <a:spcBef>
                <a:spcPts val="0"/>
              </a:spcBef>
              <a:spcAft>
                <a:spcPts val="0"/>
              </a:spcAft>
              <a:buSzPct val="100000"/>
              <a:buNone/>
            </a:pPr>
            <a:r>
              <a:rPr lang="zh-CN" altLang="en-US" sz="3600" b="1" spc="300" dirty="0">
                <a:solidFill>
                  <a:srgbClr val="0070C0"/>
                </a:solidFill>
                <a:latin typeface="微软雅黑" panose="020B0503020204020204" pitchFamily="34" charset="-122"/>
                <a:ea typeface="微软雅黑" panose="020B0503020204020204" pitchFamily="34" charset="-122"/>
              </a:rPr>
              <a:t>主要内容</a:t>
            </a:r>
          </a:p>
        </p:txBody>
      </p:sp>
      <p:sp>
        <p:nvSpPr>
          <p:cNvPr id="12" name="弧形 11"/>
          <p:cNvSpPr/>
          <p:nvPr>
            <p:custDataLst>
              <p:tags r:id="rId6"/>
            </p:custDataLst>
          </p:nvPr>
        </p:nvSpPr>
        <p:spPr>
          <a:xfrm>
            <a:off x="2322195"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13" name="文本框 80"/>
          <p:cNvSpPr txBox="1"/>
          <p:nvPr>
            <p:custDataLst>
              <p:tags r:id="rId7"/>
            </p:custDataLst>
          </p:nvPr>
        </p:nvSpPr>
        <p:spPr>
          <a:xfrm>
            <a:off x="204406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概述</a:t>
            </a:r>
          </a:p>
        </p:txBody>
      </p:sp>
      <p:sp>
        <p:nvSpPr>
          <p:cNvPr id="14" name="标题 5"/>
          <p:cNvSpPr>
            <a:spLocks noGrp="1"/>
          </p:cNvSpPr>
          <p:nvPr>
            <p:custDataLst>
              <p:tags r:id="rId8"/>
            </p:custDataLst>
          </p:nvPr>
        </p:nvSpPr>
        <p:spPr>
          <a:xfrm>
            <a:off x="243268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3.1</a:t>
            </a:r>
          </a:p>
        </p:txBody>
      </p:sp>
      <p:sp>
        <p:nvSpPr>
          <p:cNvPr id="15" name="菱形 14"/>
          <p:cNvSpPr/>
          <p:nvPr>
            <p:custDataLst>
              <p:tags r:id="rId9"/>
            </p:custDataLst>
          </p:nvPr>
        </p:nvSpPr>
        <p:spPr>
          <a:xfrm>
            <a:off x="2143760"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
        <p:nvSpPr>
          <p:cNvPr id="16" name="弧形 15"/>
          <p:cNvSpPr/>
          <p:nvPr>
            <p:custDataLst>
              <p:tags r:id="rId10"/>
            </p:custDataLst>
          </p:nvPr>
        </p:nvSpPr>
        <p:spPr>
          <a:xfrm>
            <a:off x="4001135"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1" name="文本框 80"/>
          <p:cNvSpPr txBox="1"/>
          <p:nvPr>
            <p:custDataLst>
              <p:tags r:id="rId11"/>
            </p:custDataLst>
          </p:nvPr>
        </p:nvSpPr>
        <p:spPr>
          <a:xfrm>
            <a:off x="3723640"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列表</a:t>
            </a:r>
          </a:p>
        </p:txBody>
      </p:sp>
      <p:sp>
        <p:nvSpPr>
          <p:cNvPr id="22" name="标题 5"/>
          <p:cNvSpPr>
            <a:spLocks noGrp="1"/>
          </p:cNvSpPr>
          <p:nvPr>
            <p:custDataLst>
              <p:tags r:id="rId12"/>
            </p:custDataLst>
          </p:nvPr>
        </p:nvSpPr>
        <p:spPr>
          <a:xfrm>
            <a:off x="411226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3.2</a:t>
            </a:r>
          </a:p>
        </p:txBody>
      </p:sp>
      <p:sp>
        <p:nvSpPr>
          <p:cNvPr id="23" name="菱形 22"/>
          <p:cNvSpPr/>
          <p:nvPr>
            <p:custDataLst>
              <p:tags r:id="rId13"/>
            </p:custDataLst>
          </p:nvPr>
        </p:nvSpPr>
        <p:spPr>
          <a:xfrm>
            <a:off x="3822700"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
        <p:nvSpPr>
          <p:cNvPr id="24" name="弧形 23"/>
          <p:cNvSpPr/>
          <p:nvPr>
            <p:custDataLst>
              <p:tags r:id="rId14"/>
            </p:custDataLst>
          </p:nvPr>
        </p:nvSpPr>
        <p:spPr>
          <a:xfrm>
            <a:off x="5680710" y="2520962"/>
            <a:ext cx="727075" cy="716915"/>
          </a:xfrm>
          <a:prstGeom prst="arc">
            <a:avLst>
              <a:gd name="adj1" fmla="val 11619054"/>
              <a:gd name="adj2" fmla="val 10295063"/>
            </a:avLst>
          </a:prstGeom>
          <a:ln w="190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5" name="文本框 80"/>
          <p:cNvSpPr txBox="1"/>
          <p:nvPr>
            <p:custDataLst>
              <p:tags r:id="rId15"/>
            </p:custDataLst>
          </p:nvPr>
        </p:nvSpPr>
        <p:spPr>
          <a:xfrm>
            <a:off x="5412740" y="334646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FF0000"/>
                </a:solidFill>
                <a:latin typeface="微软雅黑" panose="020B0503020204020204" pitchFamily="34" charset="-122"/>
                <a:ea typeface="微软雅黑" panose="020B0503020204020204" pitchFamily="34" charset="-122"/>
              </a:rPr>
              <a:t>元组</a:t>
            </a:r>
          </a:p>
        </p:txBody>
      </p:sp>
      <p:sp>
        <p:nvSpPr>
          <p:cNvPr id="26" name="标题 5"/>
          <p:cNvSpPr>
            <a:spLocks noGrp="1"/>
          </p:cNvSpPr>
          <p:nvPr>
            <p:custDataLst>
              <p:tags r:id="rId16"/>
            </p:custDataLst>
          </p:nvPr>
        </p:nvSpPr>
        <p:spPr>
          <a:xfrm>
            <a:off x="579120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FF0000"/>
                </a:solidFill>
                <a:latin typeface="微软雅黑" panose="020B0503020204020204" pitchFamily="34" charset="-122"/>
              </a:rPr>
              <a:t>3.3</a:t>
            </a:r>
          </a:p>
        </p:txBody>
      </p:sp>
      <p:sp>
        <p:nvSpPr>
          <p:cNvPr id="27" name="菱形 26"/>
          <p:cNvSpPr/>
          <p:nvPr>
            <p:custDataLst>
              <p:tags r:id="rId17"/>
            </p:custDataLst>
          </p:nvPr>
        </p:nvSpPr>
        <p:spPr>
          <a:xfrm>
            <a:off x="5489575" y="2703207"/>
            <a:ext cx="301625" cy="301625"/>
          </a:xfrm>
          <a:prstGeom prst="diamond">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
        <p:nvSpPr>
          <p:cNvPr id="28" name="弧形 27"/>
          <p:cNvSpPr/>
          <p:nvPr>
            <p:custDataLst>
              <p:tags r:id="rId18"/>
            </p:custDataLst>
          </p:nvPr>
        </p:nvSpPr>
        <p:spPr>
          <a:xfrm>
            <a:off x="7359650"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9" name="文本框 80"/>
          <p:cNvSpPr txBox="1"/>
          <p:nvPr>
            <p:custDataLst>
              <p:tags r:id="rId19"/>
            </p:custDataLst>
          </p:nvPr>
        </p:nvSpPr>
        <p:spPr>
          <a:xfrm>
            <a:off x="708215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字典</a:t>
            </a:r>
          </a:p>
        </p:txBody>
      </p:sp>
      <p:sp>
        <p:nvSpPr>
          <p:cNvPr id="30" name="标题 5"/>
          <p:cNvSpPr>
            <a:spLocks noGrp="1"/>
          </p:cNvSpPr>
          <p:nvPr>
            <p:custDataLst>
              <p:tags r:id="rId20"/>
            </p:custDataLst>
          </p:nvPr>
        </p:nvSpPr>
        <p:spPr>
          <a:xfrm>
            <a:off x="747077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3.4</a:t>
            </a:r>
          </a:p>
        </p:txBody>
      </p:sp>
      <p:sp>
        <p:nvSpPr>
          <p:cNvPr id="31" name="菱形 30"/>
          <p:cNvSpPr/>
          <p:nvPr>
            <p:custDataLst>
              <p:tags r:id="rId21"/>
            </p:custDataLst>
          </p:nvPr>
        </p:nvSpPr>
        <p:spPr>
          <a:xfrm>
            <a:off x="7181215"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
        <p:nvSpPr>
          <p:cNvPr id="4" name="弧形 3"/>
          <p:cNvSpPr/>
          <p:nvPr>
            <p:custDataLst>
              <p:tags r:id="rId22"/>
            </p:custDataLst>
          </p:nvPr>
        </p:nvSpPr>
        <p:spPr>
          <a:xfrm>
            <a:off x="8997950" y="251207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5" name="文本框 80"/>
          <p:cNvSpPr txBox="1"/>
          <p:nvPr>
            <p:custDataLst>
              <p:tags r:id="rId23"/>
            </p:custDataLst>
          </p:nvPr>
        </p:nvSpPr>
        <p:spPr>
          <a:xfrm>
            <a:off x="8720455" y="334646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集合</a:t>
            </a:r>
          </a:p>
        </p:txBody>
      </p:sp>
      <p:sp>
        <p:nvSpPr>
          <p:cNvPr id="7" name="标题 5"/>
          <p:cNvSpPr>
            <a:spLocks noGrp="1"/>
          </p:cNvSpPr>
          <p:nvPr>
            <p:custDataLst>
              <p:tags r:id="rId24"/>
            </p:custDataLst>
          </p:nvPr>
        </p:nvSpPr>
        <p:spPr>
          <a:xfrm>
            <a:off x="9109075" y="260732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3.5</a:t>
            </a:r>
          </a:p>
        </p:txBody>
      </p:sp>
      <p:sp>
        <p:nvSpPr>
          <p:cNvPr id="8" name="菱形 7"/>
          <p:cNvSpPr/>
          <p:nvPr>
            <p:custDataLst>
              <p:tags r:id="rId25"/>
            </p:custDataLst>
          </p:nvPr>
        </p:nvSpPr>
        <p:spPr>
          <a:xfrm>
            <a:off x="8819515" y="270320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FFFFFF"/>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Tm="0"/>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35479" y="189434"/>
            <a:ext cx="3107451" cy="580394"/>
          </a:xfrm>
        </p:spPr>
        <p:txBody>
          <a:bodyPr vert="horz" wrap="square" lIns="91456" tIns="45728" rIns="91456" bIns="45728" numCol="1" anchor="b" anchorCtr="0" compatLnSpc="1">
            <a:noAutofit/>
          </a:body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8195" name="内容占位符 2"/>
          <p:cNvSpPr>
            <a:spLocks noGrp="1"/>
          </p:cNvSpPr>
          <p:nvPr>
            <p:ph idx="1"/>
          </p:nvPr>
        </p:nvSpPr>
        <p:spPr>
          <a:xfrm>
            <a:off x="914599" y="1629594"/>
            <a:ext cx="10873208" cy="4456938"/>
          </a:xfrm>
        </p:spPr>
        <p:txBody>
          <a:bodyPr vert="horz" wrap="square" lIns="91456" tIns="45728" rIns="91456" bIns="45728" anchor="t"/>
          <a:lstStyle/>
          <a:p>
            <a:pPr>
              <a:lnSpc>
                <a:spcPct val="150000"/>
              </a:lnSpc>
            </a:pPr>
            <a:r>
              <a:rPr lang="zh-CN" altLang="en-US" sz="2800" b="1" dirty="0">
                <a:latin typeface="微软雅黑" panose="020B0503020204020204" pitchFamily="34" charset="-122"/>
                <a:ea typeface="微软雅黑" panose="020B0503020204020204" pitchFamily="34" charset="-122"/>
              </a:rPr>
              <a:t>元组是一种不可变序列，即</a:t>
            </a:r>
            <a:r>
              <a:rPr lang="zh-CN" altLang="en-US" sz="2800" b="1" dirty="0">
                <a:solidFill>
                  <a:srgbClr val="FF0000"/>
                </a:solidFill>
                <a:latin typeface="微软雅黑" panose="020B0503020204020204" pitchFamily="34" charset="-122"/>
                <a:ea typeface="微软雅黑" panose="020B0503020204020204" pitchFamily="34" charset="-122"/>
              </a:rPr>
              <a:t>创建之后不能再做任何修改</a:t>
            </a:r>
            <a:r>
              <a:rPr lang="zh-CN" altLang="en-US" sz="2800" b="1" dirty="0">
                <a:latin typeface="微软雅黑" panose="020B0503020204020204" pitchFamily="34" charset="-122"/>
                <a:ea typeface="微软雅黑" panose="020B0503020204020204" pitchFamily="34" charset="-122"/>
              </a:rPr>
              <a:t>。</a:t>
            </a:r>
            <a:endParaRPr lang="en-US" altLang="zh-CN" sz="2800" b="1" dirty="0">
              <a:latin typeface="微软雅黑" panose="020B0503020204020204" pitchFamily="34" charset="-122"/>
              <a:ea typeface="微软雅黑" panose="020B0503020204020204" pitchFamily="34" charset="-122"/>
            </a:endParaRPr>
          </a:p>
          <a:p>
            <a:pPr>
              <a:lnSpc>
                <a:spcPct val="150000"/>
              </a:lnSpc>
            </a:pPr>
            <a:r>
              <a:rPr lang="zh-CN" altLang="en-US" sz="2800" b="1" dirty="0">
                <a:latin typeface="微软雅黑" panose="020B0503020204020204" pitchFamily="34" charset="-122"/>
                <a:ea typeface="微软雅黑" panose="020B0503020204020204" pitchFamily="34" charset="-122"/>
              </a:rPr>
              <a:t>元组由不同的元素组成，每个元素可以存储不同类型的数据，如字符串、数字甚至元组。</a:t>
            </a:r>
            <a:endParaRPr lang="en-US" altLang="zh-CN" sz="2800" b="1" dirty="0">
              <a:latin typeface="微软雅黑" panose="020B0503020204020204" pitchFamily="34" charset="-122"/>
              <a:ea typeface="微软雅黑" panose="020B0503020204020204" pitchFamily="34" charset="-122"/>
            </a:endParaRPr>
          </a:p>
          <a:p>
            <a:pPr>
              <a:lnSpc>
                <a:spcPct val="150000"/>
              </a:lnSpc>
            </a:pPr>
            <a:r>
              <a:rPr lang="zh-CN" altLang="en-US" sz="2800" b="1" dirty="0">
                <a:latin typeface="微软雅黑" panose="020B0503020204020204" pitchFamily="34" charset="-122"/>
                <a:ea typeface="微软雅黑" panose="020B0503020204020204" pitchFamily="34" charset="-122"/>
              </a:rPr>
              <a:t>元组通常代表一行数据，而元组中的元素代表不同的数据项。</a:t>
            </a:r>
          </a:p>
        </p:txBody>
      </p:sp>
    </p:spTree>
  </p:cSld>
  <p:clrMapOvr>
    <a:masterClrMapping/>
  </p:clrMapOvr>
  <p:transition spd="slow" advTm="0"/>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4519" y="769828"/>
            <a:ext cx="3672408" cy="580394"/>
          </a:xfrm>
        </p:spPr>
        <p:txBody>
          <a:bodyPr vert="horz" wrap="square" lIns="91456" tIns="45728" rIns="91456" bIns="45728" numCol="1" anchor="b" anchorCtr="0" compatLnSpc="1"/>
          <a:lstStyle/>
          <a:p>
            <a:pPr algn="l" defTabSz="914400" eaLnBrk="0" fontAlgn="base" hangingPunct="0">
              <a:lnSpc>
                <a:spcPct val="90000"/>
              </a:lnSpc>
              <a:spcAft>
                <a:spcPct val="0"/>
              </a:spcAft>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、元组的创建</a:t>
            </a:r>
          </a:p>
        </p:txBody>
      </p:sp>
      <p:sp>
        <p:nvSpPr>
          <p:cNvPr id="3" name="内容占位符 2"/>
          <p:cNvSpPr>
            <a:spLocks noGrp="1"/>
          </p:cNvSpPr>
          <p:nvPr>
            <p:ph idx="1"/>
          </p:nvPr>
        </p:nvSpPr>
        <p:spPr>
          <a:xfrm>
            <a:off x="842591" y="2205658"/>
            <a:ext cx="10585176" cy="2416767"/>
          </a:xfrm>
        </p:spPr>
        <p:txBody>
          <a:bodyPr vert="horz" wrap="square" lIns="91456" tIns="45728" rIns="91456" bIns="45728" numCol="1" anchor="t" anchorCtr="0" compatLnSpc="1"/>
          <a:lstStyle/>
          <a:p>
            <a:pPr marL="342900" marR="0" lvl="0" indent="-342900" algn="l" defTabSz="914400" rtl="0" eaLnBrk="0" fontAlgn="base" latinLnBrk="0" hangingPunct="0">
              <a:lnSpc>
                <a:spcPts val="4300"/>
              </a:lnSpc>
              <a:spcBef>
                <a:spcPct val="20000"/>
              </a:spcBef>
              <a:spcAft>
                <a:spcPct val="0"/>
              </a:spcAft>
              <a:buClrTx/>
              <a:buSzTx/>
              <a:buFontTx/>
              <a:buChar char="•"/>
              <a:defRPr/>
            </a:pPr>
            <a:r>
              <a:rPr kumimoji="0" lang="zh-CN" altLang="en-US" sz="32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格式：</a:t>
            </a:r>
            <a:endParaRPr kumimoji="0" lang="en-US" altLang="zh-CN" sz="32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ts val="4300"/>
              </a:lnSpc>
              <a:spcBef>
                <a:spcPct val="20000"/>
              </a:spcBef>
              <a:spcAft>
                <a:spcPct val="0"/>
              </a:spcAft>
              <a:buClrTx/>
              <a:buSzTx/>
              <a:buFontTx/>
              <a:buNone/>
              <a:defRPr/>
            </a:pPr>
            <a:r>
              <a:rPr kumimoji="0" lang="en-US" altLang="zh-CN" sz="32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tuple=(</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元素</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1,</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元素</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2,…</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元素</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n)  #</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定义</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n</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个元素组成的元组</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ts val="4300"/>
              </a:lnSpc>
              <a:spcBef>
                <a:spcPct val="20000"/>
              </a:spcBef>
              <a:spcAft>
                <a:spcPct val="0"/>
              </a:spcAft>
              <a:buClrTx/>
              <a:buSzTx/>
              <a:buFontTx/>
              <a:buNone/>
              <a:defRPr/>
            </a:pP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tuple=()  #</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定义空元组</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ts val="4300"/>
              </a:lnSpc>
              <a:spcBef>
                <a:spcPct val="20000"/>
              </a:spcBef>
              <a:spcAft>
                <a:spcPct val="0"/>
              </a:spcAft>
              <a:buClrTx/>
              <a:buSzTx/>
              <a:buFontTx/>
              <a:buNone/>
              <a:defRPr/>
            </a:pP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tuple=(</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元素</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1</a:t>
            </a:r>
            <a:r>
              <a:rPr kumimoji="0" lang="en-US" altLang="zh-CN"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定义单元素元组</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0" fontAlgn="base" latinLnBrk="0" hangingPunct="0">
              <a:lnSpc>
                <a:spcPts val="4300"/>
              </a:lnSpc>
              <a:spcBef>
                <a:spcPct val="20000"/>
              </a:spcBef>
              <a:spcAft>
                <a:spcPct val="0"/>
              </a:spcAft>
              <a:buClrTx/>
              <a:buSzTx/>
              <a:buFontTx/>
              <a:buChar char="•"/>
              <a:defRPr/>
            </a:pPr>
            <a:endPar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6"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up)">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1130" y="838835"/>
            <a:ext cx="2592070" cy="708660"/>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j-cs"/>
              </a:rPr>
              <a:t>例：创建元组</a:t>
            </a:r>
          </a:p>
        </p:txBody>
      </p:sp>
      <p:sp>
        <p:nvSpPr>
          <p:cNvPr id="9"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3" name="矩形 2"/>
          <p:cNvSpPr/>
          <p:nvPr/>
        </p:nvSpPr>
        <p:spPr>
          <a:xfrm>
            <a:off x="955239" y="1744008"/>
            <a:ext cx="10080571" cy="4154170"/>
          </a:xfrm>
          <a:prstGeom prst="rect">
            <a:avLst/>
          </a:prstGeom>
        </p:spPr>
        <p:txBody>
          <a:bodyPr wrap="square">
            <a:spAutoFit/>
          </a:bodyPr>
          <a:lstStyle/>
          <a:p>
            <a:pPr>
              <a:lnSpc>
                <a:spcPct val="200000"/>
              </a:lnSpc>
            </a:pPr>
            <a:r>
              <a:rPr lang="en-US" altLang="zh-CN" dirty="0">
                <a:solidFill>
                  <a:srgbClr val="0055AA"/>
                </a:solidFill>
                <a:latin typeface="Arial Black" panose="020B0A04020102020204" pitchFamily="34" charset="0"/>
              </a:rPr>
              <a:t>tup1</a:t>
            </a:r>
            <a:r>
              <a:rPr lang="en-US" altLang="zh-CN" dirty="0">
                <a:solidFill>
                  <a:srgbClr val="808080"/>
                </a:solidFill>
                <a:latin typeface="Arial Black" panose="020B0A04020102020204" pitchFamily="34" charset="0"/>
              </a:rPr>
              <a:t> = </a:t>
            </a:r>
            <a:r>
              <a:rPr lang="en-US" altLang="zh-CN" dirty="0">
                <a:solidFill>
                  <a:srgbClr val="808000"/>
                </a:solidFill>
                <a:latin typeface="Arial Black" panose="020B0A04020102020204" pitchFamily="34" charset="0"/>
              </a:rPr>
              <a:t>(</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Python</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Hello</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00000"/>
                </a:solidFill>
                <a:latin typeface="Arial Black" panose="020B0A04020102020204" pitchFamily="34" charset="0"/>
              </a:rPr>
              <a:t>1997</a:t>
            </a:r>
            <a:r>
              <a:rPr lang="en-US" altLang="zh-CN" dirty="0">
                <a:solidFill>
                  <a:srgbClr val="808080"/>
                </a:solidFill>
                <a:latin typeface="Arial Black" panose="020B0A04020102020204" pitchFamily="34" charset="0"/>
              </a:rPr>
              <a:t>, </a:t>
            </a:r>
            <a:r>
              <a:rPr lang="en-US" altLang="zh-CN" dirty="0">
                <a:solidFill>
                  <a:srgbClr val="800000"/>
                </a:solidFill>
                <a:latin typeface="Arial Black" panose="020B0A04020102020204" pitchFamily="34" charset="0"/>
              </a:rPr>
              <a:t>2000</a:t>
            </a:r>
            <a:r>
              <a:rPr lang="en-US" altLang="zh-CN" dirty="0">
                <a:solidFill>
                  <a:srgbClr val="808000"/>
                </a:solidFill>
                <a:latin typeface="Arial Black" panose="020B0A04020102020204" pitchFamily="34" charset="0"/>
              </a:rPr>
              <a:t>)</a:t>
            </a:r>
          </a:p>
          <a:p>
            <a:pPr>
              <a:lnSpc>
                <a:spcPct val="200000"/>
              </a:lnSpc>
            </a:pPr>
            <a:r>
              <a:rPr lang="en-US" altLang="zh-CN" dirty="0">
                <a:latin typeface="Arial Black" panose="020B0A04020102020204" pitchFamily="34" charset="0"/>
              </a:rPr>
              <a:t>tup2 = (1, 2, 3, 4, 5 )</a:t>
            </a:r>
          </a:p>
          <a:p>
            <a:pPr>
              <a:lnSpc>
                <a:spcPct val="200000"/>
              </a:lnSpc>
            </a:pPr>
            <a:r>
              <a:rPr lang="en-US" altLang="zh-CN" dirty="0">
                <a:latin typeface="Arial Black" panose="020B0A04020102020204" pitchFamily="34" charset="0"/>
              </a:rPr>
              <a:t>tup3 = "a", "b", "c", "d" # </a:t>
            </a:r>
            <a:r>
              <a:rPr lang="zh-CN" altLang="en-US" b="1" dirty="0">
                <a:latin typeface="Arial Black" panose="020B0A04020102020204" pitchFamily="34" charset="0"/>
              </a:rPr>
              <a:t>不需要括号也可以</a:t>
            </a:r>
            <a:endParaRPr lang="en-US" altLang="zh-CN" b="1" dirty="0">
              <a:latin typeface="Arial Black" panose="020B0A04020102020204" pitchFamily="34" charset="0"/>
            </a:endParaRPr>
          </a:p>
          <a:p>
            <a:pPr>
              <a:lnSpc>
                <a:spcPct val="200000"/>
              </a:lnSpc>
            </a:pPr>
            <a:r>
              <a:rPr lang="en-US" altLang="zh-CN" dirty="0">
                <a:latin typeface="Arial Black" panose="020B0A04020102020204" pitchFamily="34" charset="0"/>
              </a:rPr>
              <a:t>tup4 = ()</a:t>
            </a:r>
          </a:p>
          <a:p>
            <a:pPr>
              <a:lnSpc>
                <a:spcPct val="200000"/>
              </a:lnSpc>
            </a:pPr>
            <a:r>
              <a:rPr lang="en-US" altLang="zh-CN" dirty="0">
                <a:latin typeface="Arial Black" panose="020B0A04020102020204" pitchFamily="34" charset="0"/>
              </a:rPr>
              <a:t>tup5 = (1)# </a:t>
            </a:r>
            <a:r>
              <a:rPr lang="zh-CN" altLang="en-US" b="1" dirty="0">
                <a:latin typeface="Arial Black" panose="020B0A04020102020204" pitchFamily="34" charset="0"/>
              </a:rPr>
              <a:t>不建议这样写，因为与数学上小括号重复，易产生歧义</a:t>
            </a:r>
            <a:endParaRPr lang="en-US" altLang="zh-CN" b="1" dirty="0">
              <a:latin typeface="Arial Black" panose="020B0A04020102020204" pitchFamily="34" charset="0"/>
            </a:endParaRPr>
          </a:p>
          <a:p>
            <a:endParaRPr lang="zh-CN" altLang="en-US" dirty="0">
              <a:latin typeface="Arial Black" panose="020B0A04020102020204" pitchFamily="34" charset="0"/>
            </a:endParaRPr>
          </a:p>
        </p:txBody>
      </p:sp>
    </p:spTree>
  </p:cSld>
  <p:clrMapOvr>
    <a:masterClrMapping/>
  </p:clrMapOvr>
  <p:transition spd="slow" advTm="0"/>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577316" y="871598"/>
            <a:ext cx="2977724" cy="719006"/>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方正大黑简体" panose="03000509000000000000" pitchFamily="2" charset="-122"/>
                <a:ea typeface="方正大黑简体" panose="03000509000000000000" pitchFamily="2" charset="-122"/>
              </a:rPr>
              <a:t>注意：</a:t>
            </a:r>
          </a:p>
        </p:txBody>
      </p:sp>
      <p:sp>
        <p:nvSpPr>
          <p:cNvPr id="9"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3" name="矩形 2"/>
          <p:cNvSpPr/>
          <p:nvPr/>
        </p:nvSpPr>
        <p:spPr>
          <a:xfrm>
            <a:off x="1145207" y="1572238"/>
            <a:ext cx="10482718" cy="1384995"/>
          </a:xfrm>
          <a:prstGeom prst="rect">
            <a:avLst/>
          </a:prstGeom>
        </p:spPr>
        <p:txBody>
          <a:bodyPr wrap="square">
            <a:spAutoFit/>
          </a:bodyPr>
          <a:lstStyle/>
          <a:p>
            <a:pPr>
              <a:lnSpc>
                <a:spcPct val="150000"/>
              </a:lnSpc>
            </a:pPr>
            <a:r>
              <a:rPr lang="zh-CN" altLang="en-US" sz="2800" dirty="0">
                <a:latin typeface="微软雅黑" panose="020B0503020204020204" pitchFamily="34" charset="-122"/>
                <a:ea typeface="微软雅黑" panose="020B0503020204020204" pitchFamily="34" charset="-122"/>
              </a:rPr>
              <a:t>      元组中只包含一个元素时，需要在元素后面添加逗号，否则括号会被当作运算符使用。</a:t>
            </a:r>
          </a:p>
        </p:txBody>
      </p:sp>
      <p:sp>
        <p:nvSpPr>
          <p:cNvPr id="4" name="矩形 3"/>
          <p:cNvSpPr/>
          <p:nvPr/>
        </p:nvSpPr>
        <p:spPr>
          <a:xfrm>
            <a:off x="2716676" y="2904908"/>
            <a:ext cx="9228131" cy="3358868"/>
          </a:xfrm>
          <a:prstGeom prst="rect">
            <a:avLst/>
          </a:prstGeom>
        </p:spPr>
        <p:txBody>
          <a:bodyPr wrap="square">
            <a:spAutoFit/>
          </a:bodyPr>
          <a:lstStyle/>
          <a:p>
            <a:pPr>
              <a:lnSpc>
                <a:spcPct val="150000"/>
              </a:lnSpc>
            </a:pPr>
            <a:r>
              <a:rPr lang="en-US" altLang="zh-CN" dirty="0">
                <a:solidFill>
                  <a:srgbClr val="808080"/>
                </a:solidFill>
                <a:latin typeface="Arial Black" panose="020B0A04020102020204" pitchFamily="34" charset="0"/>
              </a:rPr>
              <a:t>&gt;&gt;&gt;</a:t>
            </a:r>
            <a:r>
              <a:rPr lang="en-US" altLang="zh-CN" dirty="0">
                <a:solidFill>
                  <a:srgbClr val="0055AA"/>
                </a:solidFill>
                <a:latin typeface="Arial Black" panose="020B0A04020102020204" pitchFamily="34" charset="0"/>
              </a:rPr>
              <a:t>tup1</a:t>
            </a:r>
            <a:r>
              <a:rPr lang="en-US" altLang="zh-CN" dirty="0">
                <a:solidFill>
                  <a:srgbClr val="808080"/>
                </a:solidFill>
                <a:latin typeface="Arial Black" panose="020B0A04020102020204" pitchFamily="34" charset="0"/>
              </a:rPr>
              <a:t> = </a:t>
            </a:r>
            <a:r>
              <a:rPr lang="en-US" altLang="zh-CN" dirty="0">
                <a:solidFill>
                  <a:srgbClr val="808000"/>
                </a:solidFill>
                <a:latin typeface="Arial Black" panose="020B0A04020102020204" pitchFamily="34" charset="0"/>
              </a:rPr>
              <a:t>(</a:t>
            </a:r>
            <a:r>
              <a:rPr lang="en-US" altLang="zh-CN" dirty="0">
                <a:solidFill>
                  <a:srgbClr val="800000"/>
                </a:solidFill>
                <a:latin typeface="Arial Black" panose="020B0A04020102020204" pitchFamily="34" charset="0"/>
              </a:rPr>
              <a:t>50</a:t>
            </a:r>
            <a:r>
              <a:rPr lang="en-US" altLang="zh-CN" dirty="0">
                <a:solidFill>
                  <a:srgbClr val="808000"/>
                </a:solidFill>
                <a:latin typeface="Arial Black" panose="020B0A04020102020204" pitchFamily="34" charset="0"/>
              </a:rPr>
              <a:t>)</a:t>
            </a:r>
            <a:r>
              <a:rPr lang="en-US" altLang="zh-CN" dirty="0">
                <a:solidFill>
                  <a:srgbClr val="808080"/>
                </a:solidFill>
                <a:latin typeface="Arial Black" panose="020B0A04020102020204" pitchFamily="34" charset="0"/>
              </a:rPr>
              <a:t> </a:t>
            </a:r>
          </a:p>
          <a:p>
            <a:pPr>
              <a:lnSpc>
                <a:spcPct val="150000"/>
              </a:lnSpc>
            </a:pPr>
            <a:r>
              <a:rPr lang="en-US" altLang="zh-CN" dirty="0">
                <a:solidFill>
                  <a:srgbClr val="808080"/>
                </a:solidFill>
                <a:latin typeface="Arial Black" panose="020B0A04020102020204" pitchFamily="34" charset="0"/>
              </a:rPr>
              <a:t>&gt;&gt;&gt; </a:t>
            </a:r>
            <a:r>
              <a:rPr lang="en-US" altLang="zh-CN" dirty="0">
                <a:solidFill>
                  <a:srgbClr val="008080"/>
                </a:solidFill>
                <a:latin typeface="Arial Black" panose="020B0A04020102020204" pitchFamily="34" charset="0"/>
              </a:rPr>
              <a:t>type</a:t>
            </a:r>
            <a:r>
              <a:rPr lang="en-US" altLang="zh-CN" dirty="0">
                <a:solidFill>
                  <a:srgbClr val="808000"/>
                </a:solidFill>
                <a:latin typeface="Arial Black" panose="020B0A04020102020204" pitchFamily="34" charset="0"/>
              </a:rPr>
              <a:t>(</a:t>
            </a:r>
            <a:r>
              <a:rPr lang="en-US" altLang="zh-CN" dirty="0">
                <a:solidFill>
                  <a:srgbClr val="0055AA"/>
                </a:solidFill>
                <a:latin typeface="Arial Black" panose="020B0A04020102020204" pitchFamily="34" charset="0"/>
              </a:rPr>
              <a:t>tup1</a:t>
            </a:r>
            <a:r>
              <a:rPr lang="en-US" altLang="zh-CN" dirty="0">
                <a:solidFill>
                  <a:srgbClr val="808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AA5500"/>
                </a:solidFill>
                <a:latin typeface="Arial Black" panose="020B0A04020102020204" pitchFamily="34" charset="0"/>
              </a:rPr>
              <a:t># </a:t>
            </a:r>
            <a:r>
              <a:rPr lang="zh-CN" altLang="en-US" b="1" dirty="0">
                <a:solidFill>
                  <a:srgbClr val="AA5500"/>
                </a:solidFill>
                <a:latin typeface="Arial Black" panose="020B0A04020102020204" pitchFamily="34" charset="0"/>
              </a:rPr>
              <a:t>不加逗号，类型为整型</a:t>
            </a:r>
            <a:endParaRPr lang="en-US" altLang="zh-CN" b="1" dirty="0">
              <a:solidFill>
                <a:srgbClr val="AA5500"/>
              </a:solidFill>
              <a:latin typeface="Arial Black" panose="020B0A04020102020204" pitchFamily="34" charset="0"/>
            </a:endParaRPr>
          </a:p>
          <a:p>
            <a:pPr>
              <a:lnSpc>
                <a:spcPct val="150000"/>
              </a:lnSpc>
            </a:pPr>
            <a:r>
              <a:rPr lang="zh-CN" altLang="en-US" dirty="0">
                <a:solidFill>
                  <a:srgbClr val="808080"/>
                </a:solidFill>
                <a:latin typeface="Arial Black" panose="020B0A04020102020204" pitchFamily="34" charset="0"/>
              </a:rPr>
              <a:t> </a:t>
            </a:r>
            <a:r>
              <a:rPr lang="en-US" altLang="zh-CN" dirty="0">
                <a:solidFill>
                  <a:srgbClr val="808080"/>
                </a:solidFill>
                <a:latin typeface="Arial Black" panose="020B0A04020102020204" pitchFamily="34" charset="0"/>
              </a:rPr>
              <a:t>&lt;</a:t>
            </a:r>
            <a:r>
              <a:rPr lang="en-US" altLang="zh-CN" dirty="0">
                <a:solidFill>
                  <a:srgbClr val="008000"/>
                </a:solidFill>
                <a:latin typeface="Arial Black" panose="020B0A04020102020204" pitchFamily="34" charset="0"/>
              </a:rPr>
              <a:t>class</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err="1">
                <a:solidFill>
                  <a:srgbClr val="AA1111"/>
                </a:solidFill>
                <a:latin typeface="Arial Black" panose="020B0A04020102020204" pitchFamily="34" charset="0"/>
              </a:rPr>
              <a:t>int</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&gt; </a:t>
            </a:r>
          </a:p>
          <a:p>
            <a:pPr>
              <a:lnSpc>
                <a:spcPct val="150000"/>
              </a:lnSpc>
            </a:pPr>
            <a:r>
              <a:rPr lang="en-US" altLang="zh-CN" dirty="0">
                <a:solidFill>
                  <a:srgbClr val="808080"/>
                </a:solidFill>
                <a:latin typeface="Arial Black" panose="020B0A04020102020204" pitchFamily="34" charset="0"/>
              </a:rPr>
              <a:t>&gt;&gt;&gt; </a:t>
            </a:r>
            <a:r>
              <a:rPr lang="en-US" altLang="zh-CN" dirty="0">
                <a:solidFill>
                  <a:srgbClr val="0055AA"/>
                </a:solidFill>
                <a:latin typeface="Arial Black" panose="020B0A04020102020204" pitchFamily="34" charset="0"/>
              </a:rPr>
              <a:t>tup1</a:t>
            </a:r>
            <a:r>
              <a:rPr lang="en-US" altLang="zh-CN" dirty="0">
                <a:solidFill>
                  <a:srgbClr val="808080"/>
                </a:solidFill>
                <a:latin typeface="Arial Black" panose="020B0A04020102020204" pitchFamily="34" charset="0"/>
              </a:rPr>
              <a:t> = </a:t>
            </a:r>
            <a:r>
              <a:rPr lang="en-US" altLang="zh-CN" dirty="0">
                <a:solidFill>
                  <a:srgbClr val="808000"/>
                </a:solidFill>
                <a:latin typeface="Arial Black" panose="020B0A04020102020204" pitchFamily="34" charset="0"/>
              </a:rPr>
              <a:t>(</a:t>
            </a:r>
            <a:r>
              <a:rPr lang="en-US" altLang="zh-CN" dirty="0">
                <a:solidFill>
                  <a:srgbClr val="800000"/>
                </a:solidFill>
                <a:latin typeface="Arial Black" panose="020B0A04020102020204" pitchFamily="34" charset="0"/>
              </a:rPr>
              <a:t>50</a:t>
            </a:r>
            <a:r>
              <a:rPr lang="en-US" altLang="zh-CN" dirty="0">
                <a:solidFill>
                  <a:srgbClr val="808080"/>
                </a:solidFill>
                <a:latin typeface="Arial Black" panose="020B0A04020102020204" pitchFamily="34" charset="0"/>
              </a:rPr>
              <a:t>,</a:t>
            </a:r>
            <a:r>
              <a:rPr lang="en-US" altLang="zh-CN" dirty="0">
                <a:solidFill>
                  <a:srgbClr val="808000"/>
                </a:solidFill>
                <a:latin typeface="Arial Black" panose="020B0A04020102020204" pitchFamily="34" charset="0"/>
              </a:rPr>
              <a:t>)</a:t>
            </a:r>
            <a:r>
              <a:rPr lang="en-US" altLang="zh-CN" dirty="0">
                <a:solidFill>
                  <a:srgbClr val="808080"/>
                </a:solidFill>
                <a:latin typeface="Arial Black" panose="020B0A04020102020204" pitchFamily="34" charset="0"/>
              </a:rPr>
              <a:t> </a:t>
            </a:r>
          </a:p>
          <a:p>
            <a:pPr>
              <a:lnSpc>
                <a:spcPct val="150000"/>
              </a:lnSpc>
            </a:pPr>
            <a:r>
              <a:rPr lang="en-US" altLang="zh-CN" dirty="0">
                <a:solidFill>
                  <a:srgbClr val="808080"/>
                </a:solidFill>
                <a:latin typeface="Arial Black" panose="020B0A04020102020204" pitchFamily="34" charset="0"/>
              </a:rPr>
              <a:t>&gt;&gt;&gt; </a:t>
            </a:r>
            <a:r>
              <a:rPr lang="en-US" altLang="zh-CN" dirty="0">
                <a:solidFill>
                  <a:srgbClr val="008080"/>
                </a:solidFill>
                <a:latin typeface="Arial Black" panose="020B0A04020102020204" pitchFamily="34" charset="0"/>
              </a:rPr>
              <a:t>type</a:t>
            </a:r>
            <a:r>
              <a:rPr lang="en-US" altLang="zh-CN" dirty="0">
                <a:solidFill>
                  <a:srgbClr val="808000"/>
                </a:solidFill>
                <a:latin typeface="Arial Black" panose="020B0A04020102020204" pitchFamily="34" charset="0"/>
              </a:rPr>
              <a:t>(</a:t>
            </a:r>
            <a:r>
              <a:rPr lang="en-US" altLang="zh-CN" dirty="0">
                <a:solidFill>
                  <a:srgbClr val="0055AA"/>
                </a:solidFill>
                <a:latin typeface="Arial Black" panose="020B0A04020102020204" pitchFamily="34" charset="0"/>
              </a:rPr>
              <a:t>tup1</a:t>
            </a:r>
            <a:r>
              <a:rPr lang="en-US" altLang="zh-CN" dirty="0">
                <a:solidFill>
                  <a:srgbClr val="808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AA5500"/>
                </a:solidFill>
                <a:latin typeface="Arial Black" panose="020B0A04020102020204" pitchFamily="34" charset="0"/>
              </a:rPr>
              <a:t># </a:t>
            </a:r>
            <a:r>
              <a:rPr lang="zh-CN" altLang="en-US" b="1" dirty="0">
                <a:solidFill>
                  <a:srgbClr val="AA5500"/>
                </a:solidFill>
                <a:latin typeface="Arial Black" panose="020B0A04020102020204" pitchFamily="34" charset="0"/>
              </a:rPr>
              <a:t>加上逗号，类型为元组</a:t>
            </a:r>
            <a:r>
              <a:rPr lang="zh-CN" altLang="en-US" b="1" dirty="0">
                <a:solidFill>
                  <a:srgbClr val="808080"/>
                </a:solidFill>
                <a:latin typeface="Arial Black" panose="020B0A04020102020204" pitchFamily="34" charset="0"/>
              </a:rPr>
              <a:t> </a:t>
            </a:r>
            <a:endParaRPr lang="en-US" altLang="zh-CN" b="1" dirty="0">
              <a:solidFill>
                <a:srgbClr val="808080"/>
              </a:solidFill>
              <a:latin typeface="Arial Black" panose="020B0A04020102020204" pitchFamily="34" charset="0"/>
            </a:endParaRPr>
          </a:p>
          <a:p>
            <a:pPr>
              <a:lnSpc>
                <a:spcPct val="150000"/>
              </a:lnSpc>
            </a:pPr>
            <a:r>
              <a:rPr lang="en-US" altLang="zh-CN" dirty="0">
                <a:solidFill>
                  <a:srgbClr val="808080"/>
                </a:solidFill>
                <a:latin typeface="Arial Black" panose="020B0A04020102020204" pitchFamily="34" charset="0"/>
              </a:rPr>
              <a:t>&lt;</a:t>
            </a:r>
            <a:r>
              <a:rPr lang="en-US" altLang="zh-CN" dirty="0">
                <a:solidFill>
                  <a:srgbClr val="008000"/>
                </a:solidFill>
                <a:latin typeface="Arial Black" panose="020B0A04020102020204" pitchFamily="34" charset="0"/>
              </a:rPr>
              <a:t>class</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tuple</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&gt;</a:t>
            </a:r>
            <a:endParaRPr lang="zh-CN" altLang="en-US" dirty="0">
              <a:latin typeface="Arial Black" panose="020B0A04020102020204" pitchFamily="34" charset="0"/>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8535" y="782406"/>
            <a:ext cx="8245415" cy="724410"/>
          </a:xfrm>
        </p:spPr>
        <p:txBody>
          <a:bodyPr vert="horz" wrap="square" lIns="91456" tIns="45728" rIns="91456" bIns="45728" numCol="1" anchor="b" anchorCtr="0" compatLnSpc="1"/>
          <a:lstStyle/>
          <a:p>
            <a:pPr marL="0" marR="0" lvl="0" indent="0" algn="l" defTabSz="914400" eaLnBrk="0" fontAlgn="base" hangingPunct="0">
              <a:lnSpc>
                <a:spcPct val="90000"/>
              </a:lnSpc>
              <a:spcAft>
                <a:spcPct val="0"/>
              </a:spcAft>
              <a:buClrTx/>
              <a:buSzTx/>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、元组的访问</a:t>
            </a:r>
          </a:p>
        </p:txBody>
      </p:sp>
      <p:sp>
        <p:nvSpPr>
          <p:cNvPr id="3" name="内容占位符 2"/>
          <p:cNvSpPr>
            <a:spLocks noGrp="1"/>
          </p:cNvSpPr>
          <p:nvPr>
            <p:ph idx="1"/>
          </p:nvPr>
        </p:nvSpPr>
        <p:spPr>
          <a:xfrm>
            <a:off x="698575" y="1845618"/>
            <a:ext cx="11233248" cy="4456938"/>
          </a:xfrm>
        </p:spPr>
        <p:txBody>
          <a:bodyPr vert="horz" wrap="square" lIns="91456" tIns="45728" rIns="91456" bIns="45728" numCol="1" anchor="t" anchorCtr="0" compatLnSpc="1"/>
          <a:lstStyle/>
          <a:p>
            <a:pPr marL="342900" marR="0" lvl="0" indent="-342900" algn="just" defTabSz="914400" rtl="0" eaLnBrk="0" fontAlgn="base" latinLnBrk="0" hangingPunct="0">
              <a:lnSpc>
                <a:spcPts val="3800"/>
              </a:lnSpc>
              <a:spcBef>
                <a:spcPct val="20000"/>
              </a:spcBef>
              <a:spcAft>
                <a:spcPct val="0"/>
              </a:spcAft>
              <a:buClrTx/>
              <a:buSzTx/>
              <a:buFontTx/>
              <a:buChar char="•"/>
              <a:defRPr/>
            </a:pP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元组中元素的值通过索引访问，索引是一对方括号中的数字，索引也称为“下标”。</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342900" marR="0" lvl="0" indent="-342900" algn="just" defTabSz="914400" rtl="0" eaLnBrk="0" fontAlgn="base" latinLnBrk="0" hangingPunct="0">
              <a:lnSpc>
                <a:spcPts val="3800"/>
              </a:lnSpc>
              <a:spcBef>
                <a:spcPct val="20000"/>
              </a:spcBef>
              <a:spcAft>
                <a:spcPct val="0"/>
              </a:spcAft>
              <a:buClrTx/>
              <a:buSzTx/>
              <a:buFontTx/>
              <a:buChar char="•"/>
              <a:defRPr/>
            </a:pP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格式：</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0" marR="0" lvl="0" indent="0" algn="just" defTabSz="914400" rtl="0" eaLnBrk="0" fontAlgn="base" latinLnBrk="0" hangingPunct="0">
              <a:lnSpc>
                <a:spcPts val="3800"/>
              </a:lnSpc>
              <a:spcBef>
                <a:spcPct val="20000"/>
              </a:spcBef>
              <a:spcAft>
                <a:spcPct val="0"/>
              </a:spcAft>
              <a:buClrTx/>
              <a:buSzTx/>
              <a:buFontTx/>
              <a:buNone/>
              <a:defRPr/>
            </a:pP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tuple[n]  #</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访问第</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n</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个元素</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0" marR="0" lvl="0" indent="0" algn="just" defTabSz="914400" rtl="0" eaLnBrk="0" fontAlgn="base" latinLnBrk="0" hangingPunct="0">
              <a:lnSpc>
                <a:spcPts val="3800"/>
              </a:lnSpc>
              <a:spcBef>
                <a:spcPct val="20000"/>
              </a:spcBef>
              <a:spcAft>
                <a:spcPct val="0"/>
              </a:spcAft>
              <a:buClrTx/>
              <a:buSzTx/>
              <a:buFontTx/>
              <a:buNone/>
              <a:defRPr/>
            </a:pP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tuple[</a:t>
            </a:r>
            <a:r>
              <a:rPr kumimoji="0" lang="en-US" altLang="zh-CN" sz="28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rPr>
              <a:t>m:n</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  #</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访问第</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1</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个索引到第</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2</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个索引之间的索引元素，但不包括第</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2</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个索引指向的元素其中，</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n</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m</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可以为</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0</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、正、负整数。</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342900" marR="0" lvl="0" indent="-342900" algn="just" defTabSz="914400" rtl="0" eaLnBrk="0" fontAlgn="base" latinLnBrk="0" hangingPunct="0">
              <a:lnSpc>
                <a:spcPts val="3800"/>
              </a:lnSpc>
              <a:spcBef>
                <a:spcPct val="20000"/>
              </a:spcBef>
              <a:spcAft>
                <a:spcPct val="0"/>
              </a:spcAft>
              <a:buClrTx/>
              <a:buSzTx/>
              <a:buFontTx/>
              <a:buChar char="•"/>
              <a:defRPr/>
            </a:pPr>
            <a:r>
              <a:rPr lang="zh-CN" altLang="en-US" sz="2800" kern="0" dirty="0">
                <a:latin typeface="微软雅黑" panose="020B0503020204020204" pitchFamily="34" charset="-122"/>
                <a:ea typeface="微软雅黑" panose="020B0503020204020204" pitchFamily="34" charset="-122"/>
              </a:rPr>
              <a:t>元组的切片索引操作与列表一致。</a:t>
            </a:r>
            <a:endPar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6"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Tree>
  </p:cSld>
  <p:clrMapOvr>
    <a:masterClrMapping/>
  </p:clrMapOvr>
  <p:transition spd="slow" advTm="0"/>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150888" y="838620"/>
            <a:ext cx="2977724" cy="719006"/>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例：访问元组</a:t>
            </a:r>
          </a:p>
        </p:txBody>
      </p:sp>
      <p:sp>
        <p:nvSpPr>
          <p:cNvPr id="8"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2" name="矩形 1"/>
          <p:cNvSpPr/>
          <p:nvPr/>
        </p:nvSpPr>
        <p:spPr>
          <a:xfrm>
            <a:off x="2642791" y="1865855"/>
            <a:ext cx="8162155" cy="3046095"/>
          </a:xfrm>
          <a:prstGeom prst="rect">
            <a:avLst/>
          </a:prstGeom>
        </p:spPr>
        <p:txBody>
          <a:bodyPr wrap="square">
            <a:spAutoFit/>
          </a:bodyPr>
          <a:lstStyle/>
          <a:p>
            <a:pPr>
              <a:lnSpc>
                <a:spcPct val="200000"/>
              </a:lnSpc>
            </a:pPr>
            <a:r>
              <a:rPr lang="en-US" altLang="zh-CN" dirty="0">
                <a:solidFill>
                  <a:srgbClr val="0055AA"/>
                </a:solidFill>
                <a:latin typeface="Arial Black" panose="020B0A04020102020204" pitchFamily="34" charset="0"/>
              </a:rPr>
              <a:t>tup1</a:t>
            </a:r>
            <a:r>
              <a:rPr lang="en-US" altLang="zh-CN" dirty="0">
                <a:solidFill>
                  <a:srgbClr val="808080"/>
                </a:solidFill>
                <a:latin typeface="Arial Black" panose="020B0A04020102020204" pitchFamily="34" charset="0"/>
              </a:rPr>
              <a:t> = </a:t>
            </a:r>
            <a:r>
              <a:rPr lang="en-US" altLang="zh-CN" dirty="0">
                <a:solidFill>
                  <a:srgbClr val="808000"/>
                </a:solidFill>
                <a:latin typeface="Arial Black" panose="020B0A04020102020204" pitchFamily="34" charset="0"/>
              </a:rPr>
              <a:t>(</a:t>
            </a:r>
            <a:r>
              <a:rPr lang="en-US" altLang="zh-CN" dirty="0">
                <a:solidFill>
                  <a:srgbClr val="8B0000"/>
                </a:solidFill>
                <a:latin typeface="Arial Black" panose="020B0A04020102020204" pitchFamily="34" charset="0"/>
              </a:rPr>
              <a:t>‘Python’</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'Hello'</a:t>
            </a:r>
            <a:r>
              <a:rPr lang="en-US" altLang="zh-CN" dirty="0">
                <a:solidFill>
                  <a:srgbClr val="808080"/>
                </a:solidFill>
                <a:latin typeface="Arial Black" panose="020B0A04020102020204" pitchFamily="34" charset="0"/>
              </a:rPr>
              <a:t>, </a:t>
            </a:r>
            <a:r>
              <a:rPr lang="en-US" altLang="zh-CN" dirty="0">
                <a:solidFill>
                  <a:srgbClr val="800000"/>
                </a:solidFill>
                <a:latin typeface="Arial Black" panose="020B0A04020102020204" pitchFamily="34" charset="0"/>
              </a:rPr>
              <a:t>1997</a:t>
            </a:r>
            <a:r>
              <a:rPr lang="en-US" altLang="zh-CN" dirty="0">
                <a:solidFill>
                  <a:srgbClr val="808080"/>
                </a:solidFill>
                <a:latin typeface="Arial Black" panose="020B0A04020102020204" pitchFamily="34" charset="0"/>
              </a:rPr>
              <a:t>, </a:t>
            </a:r>
            <a:r>
              <a:rPr lang="en-US" altLang="zh-CN" dirty="0">
                <a:solidFill>
                  <a:srgbClr val="800000"/>
                </a:solidFill>
                <a:latin typeface="Arial Black" panose="020B0A04020102020204" pitchFamily="34" charset="0"/>
              </a:rPr>
              <a:t>2000</a:t>
            </a:r>
            <a:r>
              <a:rPr lang="en-US" altLang="zh-CN" dirty="0">
                <a:solidFill>
                  <a:srgbClr val="808000"/>
                </a:solidFill>
                <a:latin typeface="Arial Black" panose="020B0A04020102020204" pitchFamily="34" charset="0"/>
              </a:rPr>
              <a:t>)</a:t>
            </a:r>
            <a:r>
              <a:rPr lang="en-US" altLang="zh-CN" dirty="0">
                <a:solidFill>
                  <a:srgbClr val="808080"/>
                </a:solidFill>
                <a:latin typeface="Arial Black" panose="020B0A04020102020204" pitchFamily="34" charset="0"/>
              </a:rPr>
              <a:t> </a:t>
            </a:r>
          </a:p>
          <a:p>
            <a:pPr>
              <a:lnSpc>
                <a:spcPct val="200000"/>
              </a:lnSpc>
            </a:pPr>
            <a:r>
              <a:rPr lang="en-US" altLang="zh-CN" dirty="0">
                <a:solidFill>
                  <a:srgbClr val="0055AA"/>
                </a:solidFill>
                <a:latin typeface="Arial Black" panose="020B0A04020102020204" pitchFamily="34" charset="0"/>
              </a:rPr>
              <a:t>tup2</a:t>
            </a:r>
            <a:r>
              <a:rPr lang="en-US" altLang="zh-CN" dirty="0">
                <a:solidFill>
                  <a:srgbClr val="808080"/>
                </a:solidFill>
                <a:latin typeface="Arial Black" panose="020B0A04020102020204" pitchFamily="34" charset="0"/>
              </a:rPr>
              <a:t> = </a:t>
            </a:r>
            <a:r>
              <a:rPr lang="en-US" altLang="zh-CN" dirty="0">
                <a:solidFill>
                  <a:srgbClr val="808000"/>
                </a:solidFill>
                <a:latin typeface="Arial Black" panose="020B0A04020102020204" pitchFamily="34" charset="0"/>
              </a:rPr>
              <a:t>(</a:t>
            </a:r>
            <a:r>
              <a:rPr lang="en-US" altLang="zh-CN" dirty="0">
                <a:solidFill>
                  <a:srgbClr val="800000"/>
                </a:solidFill>
                <a:latin typeface="Arial Black" panose="020B0A04020102020204" pitchFamily="34" charset="0"/>
              </a:rPr>
              <a:t>1</a:t>
            </a:r>
            <a:r>
              <a:rPr lang="en-US" altLang="zh-CN" dirty="0">
                <a:solidFill>
                  <a:srgbClr val="808080"/>
                </a:solidFill>
                <a:latin typeface="Arial Black" panose="020B0A04020102020204" pitchFamily="34" charset="0"/>
              </a:rPr>
              <a:t>, </a:t>
            </a:r>
            <a:r>
              <a:rPr lang="en-US" altLang="zh-CN" dirty="0">
                <a:solidFill>
                  <a:srgbClr val="800000"/>
                </a:solidFill>
                <a:latin typeface="Arial Black" panose="020B0A04020102020204" pitchFamily="34" charset="0"/>
              </a:rPr>
              <a:t>2</a:t>
            </a:r>
            <a:r>
              <a:rPr lang="en-US" altLang="zh-CN" dirty="0">
                <a:solidFill>
                  <a:srgbClr val="808080"/>
                </a:solidFill>
                <a:latin typeface="Arial Black" panose="020B0A04020102020204" pitchFamily="34" charset="0"/>
              </a:rPr>
              <a:t>, </a:t>
            </a:r>
            <a:r>
              <a:rPr lang="en-US" altLang="zh-CN" dirty="0">
                <a:solidFill>
                  <a:srgbClr val="800000"/>
                </a:solidFill>
                <a:latin typeface="Arial Black" panose="020B0A04020102020204" pitchFamily="34" charset="0"/>
              </a:rPr>
              <a:t>3</a:t>
            </a:r>
            <a:r>
              <a:rPr lang="en-US" altLang="zh-CN" dirty="0">
                <a:solidFill>
                  <a:srgbClr val="808080"/>
                </a:solidFill>
                <a:latin typeface="Arial Black" panose="020B0A04020102020204" pitchFamily="34" charset="0"/>
              </a:rPr>
              <a:t>, </a:t>
            </a:r>
            <a:r>
              <a:rPr lang="en-US" altLang="zh-CN" dirty="0">
                <a:solidFill>
                  <a:srgbClr val="800000"/>
                </a:solidFill>
                <a:latin typeface="Arial Black" panose="020B0A04020102020204" pitchFamily="34" charset="0"/>
              </a:rPr>
              <a:t>4</a:t>
            </a:r>
            <a:r>
              <a:rPr lang="en-US" altLang="zh-CN" dirty="0">
                <a:solidFill>
                  <a:srgbClr val="808080"/>
                </a:solidFill>
                <a:latin typeface="Arial Black" panose="020B0A04020102020204" pitchFamily="34" charset="0"/>
              </a:rPr>
              <a:t>, </a:t>
            </a:r>
            <a:r>
              <a:rPr lang="en-US" altLang="zh-CN" dirty="0">
                <a:solidFill>
                  <a:srgbClr val="800000"/>
                </a:solidFill>
                <a:latin typeface="Arial Black" panose="020B0A04020102020204" pitchFamily="34" charset="0"/>
              </a:rPr>
              <a:t>5</a:t>
            </a:r>
            <a:r>
              <a:rPr lang="en-US" altLang="zh-CN" dirty="0">
                <a:solidFill>
                  <a:srgbClr val="808080"/>
                </a:solidFill>
                <a:latin typeface="Arial Black" panose="020B0A04020102020204" pitchFamily="34" charset="0"/>
              </a:rPr>
              <a:t>, </a:t>
            </a:r>
            <a:r>
              <a:rPr lang="en-US" altLang="zh-CN" dirty="0">
                <a:solidFill>
                  <a:srgbClr val="800000"/>
                </a:solidFill>
                <a:latin typeface="Arial Black" panose="020B0A04020102020204" pitchFamily="34" charset="0"/>
              </a:rPr>
              <a:t>6</a:t>
            </a:r>
            <a:r>
              <a:rPr lang="en-US" altLang="zh-CN" dirty="0">
                <a:solidFill>
                  <a:srgbClr val="808080"/>
                </a:solidFill>
                <a:latin typeface="Arial Black" panose="020B0A04020102020204" pitchFamily="34" charset="0"/>
              </a:rPr>
              <a:t>, </a:t>
            </a:r>
            <a:r>
              <a:rPr lang="en-US" altLang="zh-CN" dirty="0">
                <a:solidFill>
                  <a:srgbClr val="800000"/>
                </a:solidFill>
                <a:latin typeface="Arial Black" panose="020B0A04020102020204" pitchFamily="34" charset="0"/>
              </a:rPr>
              <a:t>7</a:t>
            </a:r>
            <a:r>
              <a:rPr lang="en-US" altLang="zh-CN" dirty="0">
                <a:solidFill>
                  <a:srgbClr val="808080"/>
                </a:solidFill>
                <a:latin typeface="Arial Black" panose="020B0A04020102020204" pitchFamily="34" charset="0"/>
              </a:rPr>
              <a:t> </a:t>
            </a:r>
            <a:r>
              <a:rPr lang="en-US" altLang="zh-CN" dirty="0">
                <a:solidFill>
                  <a:srgbClr val="808000"/>
                </a:solidFill>
                <a:latin typeface="Arial Black" panose="020B0A04020102020204" pitchFamily="34" charset="0"/>
              </a:rPr>
              <a:t>)</a:t>
            </a:r>
            <a:r>
              <a:rPr lang="en-US" altLang="zh-CN" dirty="0">
                <a:solidFill>
                  <a:srgbClr val="808080"/>
                </a:solidFill>
                <a:latin typeface="Arial Black" panose="020B0A04020102020204" pitchFamily="34" charset="0"/>
              </a:rPr>
              <a:t> </a:t>
            </a:r>
          </a:p>
          <a:p>
            <a:pPr>
              <a:lnSpc>
                <a:spcPct val="200000"/>
              </a:lnSpc>
            </a:pPr>
            <a:r>
              <a:rPr lang="en-US" altLang="zh-CN" dirty="0">
                <a:solidFill>
                  <a:srgbClr val="0055AA"/>
                </a:solidFill>
                <a:latin typeface="Arial Black" panose="020B0A04020102020204" pitchFamily="34" charset="0"/>
              </a:rPr>
              <a:t>print</a:t>
            </a:r>
            <a:r>
              <a:rPr lang="en-US" altLang="zh-CN" dirty="0">
                <a:solidFill>
                  <a:srgbClr val="808080"/>
                </a:solidFill>
                <a:latin typeface="Arial Black" panose="020B0A04020102020204" pitchFamily="34" charset="0"/>
              </a:rPr>
              <a:t> </a:t>
            </a:r>
            <a:r>
              <a:rPr lang="en-US" altLang="zh-CN" dirty="0">
                <a:solidFill>
                  <a:srgbClr val="808000"/>
                </a:solidFill>
                <a:latin typeface="Arial Black" panose="020B0A04020102020204" pitchFamily="34" charset="0"/>
              </a:rPr>
              <a:t>(</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tup1[0]: </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0055AA"/>
                </a:solidFill>
                <a:latin typeface="Arial Black" panose="020B0A04020102020204" pitchFamily="34" charset="0"/>
              </a:rPr>
              <a:t>tup1</a:t>
            </a:r>
            <a:r>
              <a:rPr lang="en-US" altLang="zh-CN" dirty="0">
                <a:solidFill>
                  <a:srgbClr val="808000"/>
                </a:solidFill>
                <a:latin typeface="Arial Black" panose="020B0A04020102020204" pitchFamily="34" charset="0"/>
              </a:rPr>
              <a:t>[</a:t>
            </a:r>
            <a:r>
              <a:rPr lang="en-US" altLang="zh-CN" dirty="0">
                <a:solidFill>
                  <a:srgbClr val="800000"/>
                </a:solidFill>
                <a:latin typeface="Arial Black" panose="020B0A04020102020204" pitchFamily="34" charset="0"/>
              </a:rPr>
              <a:t>0</a:t>
            </a:r>
            <a:r>
              <a:rPr lang="en-US" altLang="zh-CN" dirty="0">
                <a:solidFill>
                  <a:srgbClr val="808000"/>
                </a:solidFill>
                <a:latin typeface="Arial Black" panose="020B0A04020102020204" pitchFamily="34" charset="0"/>
              </a:rPr>
              <a:t>])</a:t>
            </a:r>
          </a:p>
          <a:p>
            <a:pPr>
              <a:lnSpc>
                <a:spcPct val="200000"/>
              </a:lnSpc>
            </a:pPr>
            <a:r>
              <a:rPr lang="en-US" altLang="zh-CN" dirty="0">
                <a:solidFill>
                  <a:srgbClr val="0055AA"/>
                </a:solidFill>
                <a:latin typeface="Arial Black" panose="020B0A04020102020204" pitchFamily="34" charset="0"/>
              </a:rPr>
              <a:t>print</a:t>
            </a:r>
            <a:r>
              <a:rPr lang="en-US" altLang="zh-CN" dirty="0">
                <a:solidFill>
                  <a:srgbClr val="808080"/>
                </a:solidFill>
                <a:latin typeface="Arial Black" panose="020B0A04020102020204" pitchFamily="34" charset="0"/>
              </a:rPr>
              <a:t> </a:t>
            </a:r>
            <a:r>
              <a:rPr lang="en-US" altLang="zh-CN" dirty="0">
                <a:solidFill>
                  <a:srgbClr val="808000"/>
                </a:solidFill>
                <a:latin typeface="Arial Black" panose="020B0A04020102020204" pitchFamily="34" charset="0"/>
              </a:rPr>
              <a:t>(</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tup2[1:5]: </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0055AA"/>
                </a:solidFill>
                <a:latin typeface="Arial Black" panose="020B0A04020102020204" pitchFamily="34" charset="0"/>
              </a:rPr>
              <a:t>tup2</a:t>
            </a:r>
            <a:r>
              <a:rPr lang="en-US" altLang="zh-CN" dirty="0">
                <a:solidFill>
                  <a:srgbClr val="808000"/>
                </a:solidFill>
                <a:latin typeface="Arial Black" panose="020B0A04020102020204" pitchFamily="34" charset="0"/>
              </a:rPr>
              <a:t>[</a:t>
            </a:r>
            <a:r>
              <a:rPr lang="en-US" altLang="zh-CN" dirty="0">
                <a:solidFill>
                  <a:srgbClr val="800000"/>
                </a:solidFill>
                <a:latin typeface="Arial Black" panose="020B0A04020102020204" pitchFamily="34" charset="0"/>
              </a:rPr>
              <a:t>1</a:t>
            </a:r>
            <a:r>
              <a:rPr lang="en-US" altLang="zh-CN" dirty="0">
                <a:solidFill>
                  <a:srgbClr val="808080"/>
                </a:solidFill>
                <a:latin typeface="Arial Black" panose="020B0A04020102020204" pitchFamily="34" charset="0"/>
              </a:rPr>
              <a:t>:</a:t>
            </a:r>
            <a:r>
              <a:rPr lang="en-US" altLang="zh-CN" dirty="0">
                <a:solidFill>
                  <a:srgbClr val="800000"/>
                </a:solidFill>
                <a:latin typeface="Arial Black" panose="020B0A04020102020204" pitchFamily="34" charset="0"/>
              </a:rPr>
              <a:t>5</a:t>
            </a:r>
            <a:r>
              <a:rPr lang="en-US" altLang="zh-CN" dirty="0">
                <a:solidFill>
                  <a:srgbClr val="808000"/>
                </a:solidFill>
                <a:latin typeface="Arial Black" panose="020B0A04020102020204" pitchFamily="34" charset="0"/>
              </a:rPr>
              <a:t>])</a:t>
            </a:r>
            <a:endParaRPr lang="zh-CN" altLang="en-US" dirty="0">
              <a:latin typeface="Arial Black" panose="020B0A04020102020204" pitchFamily="34" charset="0"/>
            </a:endParaRPr>
          </a:p>
        </p:txBody>
      </p:sp>
    </p:spTree>
  </p:cSld>
  <p:clrMapOvr>
    <a:masterClrMapping/>
  </p:clrMapOvr>
  <p:transition spd="slow" advTm="0"/>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1"/>
          <p:cNvSpPr txBox="1"/>
          <p:nvPr/>
        </p:nvSpPr>
        <p:spPr>
          <a:xfrm>
            <a:off x="502383" y="1989634"/>
            <a:ext cx="11440547" cy="4619465"/>
          </a:xfrm>
          <a:prstGeom prst="rect">
            <a:avLst/>
          </a:prstGeom>
        </p:spPr>
        <p:txBody>
          <a:bodyPr vert="horz" lIns="91461" tIns="45731" rIns="91461" bIns="4573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Light" panose="020B0502040204020203" pitchFamily="34" charset="-122"/>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kumimoji="1" lang="zh-CN" altLang="en-US" dirty="0">
                <a:latin typeface="微软雅黑" panose="020B0503020204020204" pitchFamily="34" charset="-122"/>
                <a:ea typeface="微软雅黑" panose="020B0503020204020204" pitchFamily="34" charset="-122"/>
                <a:cs typeface="微软雅黑" panose="020B0503020204020204" pitchFamily="34" charset="-122"/>
              </a:rPr>
              <a:t>由于元组的数值是不可变的，因此</a:t>
            </a:r>
            <a:r>
              <a:rPr kumimoji="1"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元组对象没有</a:t>
            </a:r>
            <a:r>
              <a:rPr kumimoji="1"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append()</a:t>
            </a:r>
            <a:r>
              <a:rPr kumimoji="1"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insert()</a:t>
            </a:r>
            <a:r>
              <a:rPr kumimoji="1"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和</a:t>
            </a:r>
            <a:r>
              <a:rPr kumimoji="1"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del</a:t>
            </a:r>
            <a:r>
              <a:rPr kumimoji="1"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这样的方法。</a:t>
            </a:r>
          </a:p>
          <a:p>
            <a:pPr>
              <a:lnSpc>
                <a:spcPct val="150000"/>
              </a:lnSpc>
            </a:pPr>
            <a:r>
              <a:rPr kumimoji="1" lang="zh-CN" altLang="en-US" dirty="0">
                <a:latin typeface="微软雅黑" panose="020B0503020204020204" pitchFamily="34" charset="-122"/>
                <a:ea typeface="微软雅黑" panose="020B0503020204020204" pitchFamily="34" charset="-122"/>
                <a:cs typeface="微软雅黑" panose="020B0503020204020204" pitchFamily="34" charset="-122"/>
              </a:rPr>
              <a:t>实际上，</a:t>
            </a:r>
            <a:r>
              <a:rPr kumimoji="1" lang="en-US" altLang="zh-CN" dirty="0">
                <a:latin typeface="微软雅黑" panose="020B0503020204020204" pitchFamily="34" charset="-122"/>
                <a:ea typeface="微软雅黑" panose="020B0503020204020204" pitchFamily="34" charset="-122"/>
                <a:cs typeface="微软雅黑" panose="020B0503020204020204" pitchFamily="34" charset="-122"/>
              </a:rPr>
              <a:t>tuple</a:t>
            </a:r>
            <a:r>
              <a:rPr kumimoji="1" lang="zh-CN" altLang="en-US" dirty="0">
                <a:latin typeface="微软雅黑" panose="020B0503020204020204" pitchFamily="34" charset="-122"/>
                <a:ea typeface="微软雅黑" panose="020B0503020204020204" pitchFamily="34" charset="-122"/>
                <a:cs typeface="微软雅黑" panose="020B0503020204020204" pitchFamily="34" charset="-122"/>
              </a:rPr>
              <a:t>的使用可以使得代码更安全，防止错误赋值导致重要对象的改变。</a:t>
            </a:r>
          </a:p>
        </p:txBody>
      </p:sp>
      <p:sp>
        <p:nvSpPr>
          <p:cNvPr id="8"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11" name="标题 1"/>
          <p:cNvSpPr txBox="1"/>
          <p:nvPr/>
        </p:nvSpPr>
        <p:spPr>
          <a:xfrm>
            <a:off x="4717327" y="1136537"/>
            <a:ext cx="2977724" cy="719006"/>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chemeClr val="tx2"/>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元组说明</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2" name="矩形 1"/>
          <p:cNvSpPr/>
          <p:nvPr/>
        </p:nvSpPr>
        <p:spPr>
          <a:xfrm>
            <a:off x="3074839" y="1845618"/>
            <a:ext cx="5976664" cy="3416320"/>
          </a:xfrm>
          <a:prstGeom prst="rect">
            <a:avLst/>
          </a:prstGeom>
        </p:spPr>
        <p:txBody>
          <a:bodyPr wrap="square">
            <a:spAutoFit/>
          </a:bodyPr>
          <a:lstStyle/>
          <a:p>
            <a:pPr>
              <a:lnSpc>
                <a:spcPct val="150000"/>
              </a:lnSpc>
            </a:pPr>
            <a:r>
              <a:rPr lang="en-US" altLang="zh-CN" dirty="0">
                <a:solidFill>
                  <a:srgbClr val="0055AA"/>
                </a:solidFill>
                <a:latin typeface="Arial Black" panose="020B0A04020102020204" pitchFamily="34" charset="0"/>
              </a:rPr>
              <a:t>tup1</a:t>
            </a:r>
            <a:r>
              <a:rPr lang="en-US" altLang="zh-CN" dirty="0">
                <a:solidFill>
                  <a:srgbClr val="808080"/>
                </a:solidFill>
                <a:latin typeface="Arial Black" panose="020B0A04020102020204" pitchFamily="34" charset="0"/>
              </a:rPr>
              <a:t> = </a:t>
            </a:r>
            <a:r>
              <a:rPr lang="en-US" altLang="zh-CN" dirty="0">
                <a:solidFill>
                  <a:srgbClr val="808000"/>
                </a:solidFill>
                <a:latin typeface="Arial Black" panose="020B0A04020102020204" pitchFamily="34" charset="0"/>
              </a:rPr>
              <a:t>(</a:t>
            </a:r>
            <a:r>
              <a:rPr lang="en-US" altLang="zh-CN" dirty="0">
                <a:solidFill>
                  <a:srgbClr val="800000"/>
                </a:solidFill>
                <a:latin typeface="Arial Black" panose="020B0A04020102020204" pitchFamily="34" charset="0"/>
              </a:rPr>
              <a:t>12</a:t>
            </a:r>
            <a:r>
              <a:rPr lang="en-US" altLang="zh-CN" dirty="0">
                <a:solidFill>
                  <a:srgbClr val="808080"/>
                </a:solidFill>
                <a:latin typeface="Arial Black" panose="020B0A04020102020204" pitchFamily="34" charset="0"/>
              </a:rPr>
              <a:t>, </a:t>
            </a:r>
            <a:r>
              <a:rPr lang="en-US" altLang="zh-CN" dirty="0">
                <a:solidFill>
                  <a:srgbClr val="800000"/>
                </a:solidFill>
                <a:latin typeface="Arial Black" panose="020B0A04020102020204" pitchFamily="34" charset="0"/>
              </a:rPr>
              <a:t>34.56</a:t>
            </a:r>
            <a:r>
              <a:rPr lang="en-US" altLang="zh-CN" dirty="0">
                <a:solidFill>
                  <a:srgbClr val="808000"/>
                </a:solidFill>
                <a:latin typeface="Arial Black" panose="020B0A04020102020204" pitchFamily="34" charset="0"/>
              </a:rPr>
              <a:t>)</a:t>
            </a:r>
            <a:endParaRPr lang="en-US" altLang="zh-CN" dirty="0">
              <a:solidFill>
                <a:srgbClr val="808080"/>
              </a:solidFill>
              <a:latin typeface="Arial Black" panose="020B0A04020102020204" pitchFamily="34" charset="0"/>
            </a:endParaRPr>
          </a:p>
          <a:p>
            <a:pPr>
              <a:lnSpc>
                <a:spcPct val="150000"/>
              </a:lnSpc>
            </a:pPr>
            <a:r>
              <a:rPr lang="en-US" altLang="zh-CN" dirty="0">
                <a:solidFill>
                  <a:srgbClr val="0055AA"/>
                </a:solidFill>
                <a:latin typeface="Arial Black" panose="020B0A04020102020204" pitchFamily="34" charset="0"/>
              </a:rPr>
              <a:t>tup2</a:t>
            </a:r>
            <a:r>
              <a:rPr lang="en-US" altLang="zh-CN" dirty="0">
                <a:solidFill>
                  <a:srgbClr val="808080"/>
                </a:solidFill>
                <a:latin typeface="Arial Black" panose="020B0A04020102020204" pitchFamily="34" charset="0"/>
              </a:rPr>
              <a:t> = </a:t>
            </a:r>
            <a:r>
              <a:rPr lang="en-US" altLang="zh-CN" dirty="0">
                <a:solidFill>
                  <a:srgbClr val="808000"/>
                </a:solidFill>
                <a:latin typeface="Arial Black" panose="020B0A04020102020204" pitchFamily="34" charset="0"/>
              </a:rPr>
              <a:t>(</a:t>
            </a:r>
            <a:r>
              <a:rPr lang="en-US" altLang="zh-CN" dirty="0">
                <a:solidFill>
                  <a:srgbClr val="8B0000"/>
                </a:solidFill>
                <a:latin typeface="Arial Black" panose="020B0A04020102020204" pitchFamily="34" charset="0"/>
              </a:rPr>
              <a:t>'</a:t>
            </a:r>
            <a:r>
              <a:rPr lang="en-US" altLang="zh-CN" dirty="0" err="1">
                <a:solidFill>
                  <a:srgbClr val="AA1111"/>
                </a:solidFill>
                <a:latin typeface="Arial Black" panose="020B0A04020102020204" pitchFamily="34" charset="0"/>
              </a:rPr>
              <a:t>abc</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xyz</a:t>
            </a:r>
            <a:r>
              <a:rPr lang="en-US" altLang="zh-CN" dirty="0">
                <a:solidFill>
                  <a:srgbClr val="8B0000"/>
                </a:solidFill>
                <a:latin typeface="Arial Black" panose="020B0A04020102020204" pitchFamily="34" charset="0"/>
              </a:rPr>
              <a:t>'</a:t>
            </a:r>
            <a:r>
              <a:rPr lang="en-US" altLang="zh-CN" dirty="0">
                <a:solidFill>
                  <a:srgbClr val="808000"/>
                </a:solidFill>
                <a:latin typeface="Arial Black" panose="020B0A04020102020204" pitchFamily="34" charset="0"/>
              </a:rPr>
              <a:t>)</a:t>
            </a:r>
            <a:r>
              <a:rPr lang="en-US" altLang="zh-CN" dirty="0">
                <a:solidFill>
                  <a:srgbClr val="808080"/>
                </a:solidFill>
                <a:latin typeface="Arial Black" panose="020B0A04020102020204" pitchFamily="34" charset="0"/>
              </a:rPr>
              <a:t> </a:t>
            </a:r>
          </a:p>
          <a:p>
            <a:pPr>
              <a:lnSpc>
                <a:spcPct val="150000"/>
              </a:lnSpc>
            </a:pPr>
            <a:r>
              <a:rPr lang="en-US" altLang="zh-CN" dirty="0">
                <a:solidFill>
                  <a:srgbClr val="FF0000"/>
                </a:solidFill>
                <a:latin typeface="Arial Black" panose="020B0A04020102020204" pitchFamily="34" charset="0"/>
              </a:rPr>
              <a:t>tup1[0] = 100 # </a:t>
            </a:r>
            <a:r>
              <a:rPr lang="zh-CN" altLang="en-US" dirty="0">
                <a:solidFill>
                  <a:srgbClr val="FF0000"/>
                </a:solidFill>
                <a:latin typeface="Arial Black" panose="020B0A04020102020204" pitchFamily="34" charset="0"/>
              </a:rPr>
              <a:t>此语句非法。 </a:t>
            </a:r>
            <a:endParaRPr lang="en-US" altLang="zh-CN" dirty="0">
              <a:solidFill>
                <a:srgbClr val="FF0000"/>
              </a:solidFill>
              <a:latin typeface="Arial Black" panose="020B0A04020102020204" pitchFamily="34" charset="0"/>
            </a:endParaRPr>
          </a:p>
          <a:p>
            <a:pPr>
              <a:lnSpc>
                <a:spcPct val="150000"/>
              </a:lnSpc>
            </a:pPr>
            <a:r>
              <a:rPr lang="en-US" altLang="zh-CN" dirty="0">
                <a:solidFill>
                  <a:srgbClr val="AA5500"/>
                </a:solidFill>
                <a:latin typeface="Arial Black" panose="020B0A04020102020204" pitchFamily="34" charset="0"/>
              </a:rPr>
              <a:t># </a:t>
            </a:r>
            <a:r>
              <a:rPr lang="zh-CN" altLang="en-US" dirty="0">
                <a:solidFill>
                  <a:srgbClr val="AA5500"/>
                </a:solidFill>
                <a:latin typeface="Arial Black" panose="020B0A04020102020204" pitchFamily="34" charset="0"/>
              </a:rPr>
              <a:t>创建一个新的元组</a:t>
            </a:r>
            <a:r>
              <a:rPr lang="zh-CN" altLang="en-US" dirty="0">
                <a:solidFill>
                  <a:srgbClr val="808080"/>
                </a:solidFill>
                <a:latin typeface="Arial Black" panose="020B0A04020102020204" pitchFamily="34" charset="0"/>
              </a:rPr>
              <a:t> </a:t>
            </a:r>
            <a:endParaRPr lang="en-US" altLang="zh-CN" dirty="0">
              <a:solidFill>
                <a:srgbClr val="808080"/>
              </a:solidFill>
              <a:latin typeface="Arial Black" panose="020B0A04020102020204" pitchFamily="34" charset="0"/>
            </a:endParaRPr>
          </a:p>
          <a:p>
            <a:pPr>
              <a:lnSpc>
                <a:spcPct val="150000"/>
              </a:lnSpc>
            </a:pPr>
            <a:r>
              <a:rPr lang="en-US" altLang="zh-CN" dirty="0">
                <a:solidFill>
                  <a:srgbClr val="0055AA"/>
                </a:solidFill>
                <a:latin typeface="Arial Black" panose="020B0A04020102020204" pitchFamily="34" charset="0"/>
              </a:rPr>
              <a:t>tup3</a:t>
            </a:r>
            <a:r>
              <a:rPr lang="en-US" altLang="zh-CN" dirty="0">
                <a:solidFill>
                  <a:srgbClr val="808080"/>
                </a:solidFill>
                <a:latin typeface="Arial Black" panose="020B0A04020102020204" pitchFamily="34" charset="0"/>
              </a:rPr>
              <a:t> = </a:t>
            </a:r>
            <a:r>
              <a:rPr lang="en-US" altLang="zh-CN" dirty="0">
                <a:solidFill>
                  <a:srgbClr val="0055AA"/>
                </a:solidFill>
                <a:latin typeface="Arial Black" panose="020B0A04020102020204" pitchFamily="34" charset="0"/>
              </a:rPr>
              <a:t>tup1</a:t>
            </a:r>
            <a:r>
              <a:rPr lang="en-US" altLang="zh-CN" dirty="0">
                <a:solidFill>
                  <a:srgbClr val="808080"/>
                </a:solidFill>
                <a:latin typeface="Arial Black" panose="020B0A04020102020204" pitchFamily="34" charset="0"/>
              </a:rPr>
              <a:t> + </a:t>
            </a:r>
            <a:r>
              <a:rPr lang="en-US" altLang="zh-CN" dirty="0">
                <a:solidFill>
                  <a:srgbClr val="0055AA"/>
                </a:solidFill>
                <a:latin typeface="Arial Black" panose="020B0A04020102020204" pitchFamily="34" charset="0"/>
              </a:rPr>
              <a:t>tup2</a:t>
            </a:r>
            <a:endParaRPr lang="en-US" altLang="zh-CN" dirty="0">
              <a:solidFill>
                <a:srgbClr val="808080"/>
              </a:solidFill>
              <a:latin typeface="Arial Black" panose="020B0A04020102020204" pitchFamily="34" charset="0"/>
            </a:endParaRPr>
          </a:p>
          <a:p>
            <a:pPr>
              <a:lnSpc>
                <a:spcPct val="150000"/>
              </a:lnSpc>
            </a:pPr>
            <a:r>
              <a:rPr lang="en-US" altLang="zh-CN" dirty="0">
                <a:solidFill>
                  <a:srgbClr val="0055AA"/>
                </a:solidFill>
                <a:latin typeface="Arial Black" panose="020B0A04020102020204" pitchFamily="34" charset="0"/>
              </a:rPr>
              <a:t>print</a:t>
            </a:r>
            <a:r>
              <a:rPr lang="en-US" altLang="zh-CN" dirty="0">
                <a:solidFill>
                  <a:srgbClr val="808080"/>
                </a:solidFill>
                <a:latin typeface="Arial Black" panose="020B0A04020102020204" pitchFamily="34" charset="0"/>
              </a:rPr>
              <a:t> </a:t>
            </a:r>
            <a:r>
              <a:rPr lang="en-US" altLang="zh-CN" dirty="0">
                <a:solidFill>
                  <a:srgbClr val="808000"/>
                </a:solidFill>
                <a:latin typeface="Arial Black" panose="020B0A04020102020204" pitchFamily="34" charset="0"/>
              </a:rPr>
              <a:t>(</a:t>
            </a:r>
            <a:r>
              <a:rPr lang="en-US" altLang="zh-CN" dirty="0">
                <a:solidFill>
                  <a:srgbClr val="0055AA"/>
                </a:solidFill>
                <a:latin typeface="Arial Black" panose="020B0A04020102020204" pitchFamily="34" charset="0"/>
              </a:rPr>
              <a:t>tup3</a:t>
            </a:r>
            <a:r>
              <a:rPr lang="en-US" altLang="zh-CN" dirty="0">
                <a:solidFill>
                  <a:srgbClr val="808000"/>
                </a:solidFill>
                <a:latin typeface="Arial Black" panose="020B0A04020102020204" pitchFamily="34" charset="0"/>
              </a:rPr>
              <a:t>)</a:t>
            </a:r>
            <a:endParaRPr lang="zh-CN" altLang="en-US" dirty="0">
              <a:latin typeface="Arial Black" panose="020B0A04020102020204" pitchFamily="34" charset="0"/>
            </a:endParaRPr>
          </a:p>
        </p:txBody>
      </p:sp>
      <p:sp>
        <p:nvSpPr>
          <p:cNvPr id="8" name="标题 1"/>
          <p:cNvSpPr txBox="1"/>
          <p:nvPr/>
        </p:nvSpPr>
        <p:spPr>
          <a:xfrm>
            <a:off x="554559" y="1105738"/>
            <a:ext cx="2977724" cy="719006"/>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chemeClr val="tx2"/>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举例：</a:t>
            </a:r>
          </a:p>
        </p:txBody>
      </p:sp>
    </p:spTree>
  </p:cSld>
  <p:clrMapOvr>
    <a:masterClrMapping/>
  </p:clrMapOvr>
  <p:transition spd="slow" advTm="0"/>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11" name="标题 1"/>
          <p:cNvSpPr txBox="1"/>
          <p:nvPr/>
        </p:nvSpPr>
        <p:spPr>
          <a:xfrm>
            <a:off x="626567" y="1485578"/>
            <a:ext cx="3024336" cy="719006"/>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chemeClr val="tx2"/>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思考</a:t>
            </a:r>
            <a:r>
              <a:rPr lang="en-US" altLang="zh-CN" sz="3200" b="1" kern="0" dirty="0">
                <a:solidFill>
                  <a:schemeClr val="tx2"/>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t</a:t>
            </a:r>
            <a:r>
              <a:rPr lang="zh-CN" altLang="en-US" sz="3200" b="1" kern="0" dirty="0">
                <a:solidFill>
                  <a:schemeClr val="tx2"/>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的结果：</a:t>
            </a:r>
          </a:p>
        </p:txBody>
      </p:sp>
      <p:sp>
        <p:nvSpPr>
          <p:cNvPr id="2" name="Rectangle 1"/>
          <p:cNvSpPr>
            <a:spLocks noChangeArrowheads="1"/>
          </p:cNvSpPr>
          <p:nvPr/>
        </p:nvSpPr>
        <p:spPr bwMode="auto">
          <a:xfrm>
            <a:off x="3218855" y="2493690"/>
            <a:ext cx="5256584" cy="1992768"/>
          </a:xfrm>
          <a:prstGeom prst="rect">
            <a:avLst/>
          </a:prstGeom>
          <a:solidFill>
            <a:schemeClr val="bg1"/>
          </a:solidFill>
          <a:ln>
            <a:noFill/>
          </a:ln>
          <a:effectLst/>
        </p:spPr>
        <p:txBody>
          <a:bodyPr vert="horz" wrap="square" lIns="0" tIns="133308" rIns="0" bIns="133308"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800" b="0" i="0" u="none" strike="noStrike" cap="none" normalizeH="0" baseline="0" dirty="0">
                <a:ln>
                  <a:noFill/>
                </a:ln>
                <a:solidFill>
                  <a:srgbClr val="990073"/>
                </a:solidFill>
                <a:effectLst/>
                <a:latin typeface="Arial Black" panose="020B0A04020102020204" pitchFamily="34" charset="0"/>
                <a:cs typeface="Consolas" panose="020B0609020204030204" pitchFamily="49" charset="0"/>
              </a:rPr>
              <a:t>&gt;&gt;&gt; </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t = (</a:t>
            </a:r>
            <a:r>
              <a:rPr kumimoji="0" lang="zh-CN" altLang="zh-CN" sz="2800" b="0" i="0" u="none" strike="noStrike" cap="none" normalizeH="0" baseline="0" dirty="0">
                <a:ln>
                  <a:noFill/>
                </a:ln>
                <a:solidFill>
                  <a:srgbClr val="DD1144"/>
                </a:solidFill>
                <a:effectLst/>
                <a:latin typeface="Arial Black" panose="020B0A04020102020204" pitchFamily="34" charset="0"/>
                <a:cs typeface="Consolas" panose="020B0609020204030204" pitchFamily="49" charset="0"/>
              </a:rPr>
              <a:t>'a'</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 </a:t>
            </a:r>
            <a:r>
              <a:rPr kumimoji="0" lang="zh-CN" altLang="zh-CN" sz="2800" b="0" i="0" u="none" strike="noStrike" cap="none" normalizeH="0" baseline="0" dirty="0">
                <a:ln>
                  <a:noFill/>
                </a:ln>
                <a:solidFill>
                  <a:srgbClr val="DD1144"/>
                </a:solidFill>
                <a:effectLst/>
                <a:latin typeface="Arial Black" panose="020B0A04020102020204" pitchFamily="34" charset="0"/>
                <a:cs typeface="Consolas" panose="020B0609020204030204" pitchFamily="49" charset="0"/>
              </a:rPr>
              <a:t>'b'</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 [</a:t>
            </a:r>
            <a:r>
              <a:rPr kumimoji="0" lang="zh-CN" altLang="zh-CN" sz="2800" b="0" i="0" u="none" strike="noStrike" cap="none" normalizeH="0" baseline="0" dirty="0">
                <a:ln>
                  <a:noFill/>
                </a:ln>
                <a:solidFill>
                  <a:srgbClr val="DD1144"/>
                </a:solidFill>
                <a:effectLst/>
                <a:latin typeface="Arial Black" panose="020B0A04020102020204" pitchFamily="34" charset="0"/>
                <a:cs typeface="Consolas" panose="020B0609020204030204" pitchFamily="49" charset="0"/>
              </a:rPr>
              <a:t>'A'</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 </a:t>
            </a:r>
            <a:r>
              <a:rPr kumimoji="0" lang="zh-CN" altLang="zh-CN" sz="2800" b="0" i="0" u="none" strike="noStrike" cap="none" normalizeH="0" baseline="0" dirty="0">
                <a:ln>
                  <a:noFill/>
                </a:ln>
                <a:solidFill>
                  <a:srgbClr val="DD1144"/>
                </a:solidFill>
                <a:effectLst/>
                <a:latin typeface="Arial Black" panose="020B0A04020102020204" pitchFamily="34" charset="0"/>
                <a:cs typeface="Consolas" panose="020B0609020204030204" pitchFamily="49" charset="0"/>
              </a:rPr>
              <a:t>'B'</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a:t>
            </a:r>
            <a:endParaRPr kumimoji="0" lang="en-US"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800" b="0" i="0" u="none" strike="noStrike" cap="none" normalizeH="0" baseline="0" dirty="0">
                <a:ln>
                  <a:noFill/>
                </a:ln>
                <a:solidFill>
                  <a:srgbClr val="990073"/>
                </a:solidFill>
                <a:effectLst/>
                <a:latin typeface="Arial Black" panose="020B0A04020102020204" pitchFamily="34" charset="0"/>
                <a:cs typeface="Consolas" panose="020B0609020204030204" pitchFamily="49" charset="0"/>
              </a:rPr>
              <a:t>&gt;&gt;&gt; </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t[</a:t>
            </a:r>
            <a:r>
              <a:rPr kumimoji="0" lang="zh-CN" altLang="zh-CN" sz="2800" b="0" i="0" u="none" strike="noStrike" cap="none" normalizeH="0" baseline="0" dirty="0">
                <a:ln>
                  <a:noFill/>
                </a:ln>
                <a:solidFill>
                  <a:srgbClr val="009999"/>
                </a:solidFill>
                <a:effectLst/>
                <a:latin typeface="Arial Black" panose="020B0A04020102020204" pitchFamily="34" charset="0"/>
                <a:cs typeface="Consolas" panose="020B0609020204030204" pitchFamily="49" charset="0"/>
              </a:rPr>
              <a:t>2</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a:t>
            </a:r>
            <a:r>
              <a:rPr kumimoji="0" lang="zh-CN" altLang="zh-CN" sz="2800" b="0" i="0" u="none" strike="noStrike" cap="none" normalizeH="0" baseline="0" dirty="0">
                <a:ln>
                  <a:noFill/>
                </a:ln>
                <a:solidFill>
                  <a:srgbClr val="009999"/>
                </a:solidFill>
                <a:effectLst/>
                <a:latin typeface="Arial Black" panose="020B0A04020102020204" pitchFamily="34" charset="0"/>
                <a:cs typeface="Consolas" panose="020B0609020204030204" pitchFamily="49" charset="0"/>
              </a:rPr>
              <a:t>0</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 = </a:t>
            </a:r>
            <a:r>
              <a:rPr kumimoji="0" lang="zh-CN" altLang="zh-CN" sz="2800" b="0" i="0" u="none" strike="noStrike" cap="none" normalizeH="0" baseline="0" dirty="0">
                <a:ln>
                  <a:noFill/>
                </a:ln>
                <a:solidFill>
                  <a:srgbClr val="DD1144"/>
                </a:solidFill>
                <a:effectLst/>
                <a:latin typeface="Arial Black" panose="020B0A04020102020204" pitchFamily="34" charset="0"/>
                <a:cs typeface="Consolas" panose="020B0609020204030204" pitchFamily="49" charset="0"/>
              </a:rPr>
              <a:t>'X'</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 </a:t>
            </a:r>
            <a:endParaRPr kumimoji="0" lang="en-US"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800" b="0" i="0" u="none" strike="noStrike" cap="none" normalizeH="0" baseline="0" dirty="0">
                <a:ln>
                  <a:noFill/>
                </a:ln>
                <a:solidFill>
                  <a:srgbClr val="990073"/>
                </a:solidFill>
                <a:effectLst/>
                <a:latin typeface="Arial Black" panose="020B0A04020102020204" pitchFamily="34" charset="0"/>
                <a:cs typeface="Consolas" panose="020B0609020204030204" pitchFamily="49" charset="0"/>
              </a:rPr>
              <a:t>&gt;&gt;&gt; </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t[</a:t>
            </a:r>
            <a:r>
              <a:rPr kumimoji="0" lang="zh-CN" altLang="zh-CN" sz="2800" b="0" i="0" u="none" strike="noStrike" cap="none" normalizeH="0" baseline="0" dirty="0">
                <a:ln>
                  <a:noFill/>
                </a:ln>
                <a:solidFill>
                  <a:srgbClr val="009999"/>
                </a:solidFill>
                <a:effectLst/>
                <a:latin typeface="Arial Black" panose="020B0A04020102020204" pitchFamily="34" charset="0"/>
                <a:cs typeface="Consolas" panose="020B0609020204030204" pitchFamily="49" charset="0"/>
              </a:rPr>
              <a:t>2</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a:t>
            </a:r>
            <a:r>
              <a:rPr kumimoji="0" lang="zh-CN" altLang="zh-CN" sz="2800" b="0" i="0" u="none" strike="noStrike" cap="none" normalizeH="0" baseline="0" dirty="0">
                <a:ln>
                  <a:noFill/>
                </a:ln>
                <a:solidFill>
                  <a:srgbClr val="009999"/>
                </a:solidFill>
                <a:effectLst/>
                <a:latin typeface="Arial Black" panose="020B0A04020102020204" pitchFamily="34" charset="0"/>
                <a:cs typeface="Consolas" panose="020B0609020204030204" pitchFamily="49" charset="0"/>
              </a:rPr>
              <a:t>1</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 = </a:t>
            </a:r>
            <a:r>
              <a:rPr kumimoji="0" lang="zh-CN" altLang="zh-CN" sz="2800" b="0" i="0" u="none" strike="noStrike" cap="none" normalizeH="0" baseline="0" dirty="0">
                <a:ln>
                  <a:noFill/>
                </a:ln>
                <a:solidFill>
                  <a:srgbClr val="DD1144"/>
                </a:solidFill>
                <a:effectLst/>
                <a:latin typeface="Arial Black" panose="020B0A04020102020204" pitchFamily="34" charset="0"/>
                <a:cs typeface="Consolas" panose="020B0609020204030204" pitchFamily="49" charset="0"/>
              </a:rPr>
              <a:t>'Y'</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 </a:t>
            </a:r>
            <a:endParaRPr kumimoji="0" lang="en-US"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800" b="0" i="0" u="none" strike="noStrike" cap="none" normalizeH="0" baseline="0" dirty="0">
                <a:ln>
                  <a:noFill/>
                </a:ln>
                <a:solidFill>
                  <a:srgbClr val="990073"/>
                </a:solidFill>
                <a:effectLst/>
                <a:latin typeface="Arial Black" panose="020B0A04020102020204" pitchFamily="34" charset="0"/>
                <a:cs typeface="Consolas" panose="020B0609020204030204" pitchFamily="49" charset="0"/>
              </a:rPr>
              <a:t>&gt;&gt;&gt; </a:t>
            </a:r>
            <a:r>
              <a:rPr kumimoji="0" lang="zh-CN" altLang="zh-CN" sz="2800" b="0" i="0" u="none" strike="noStrike" cap="none" normalizeH="0" baseline="0" dirty="0">
                <a:ln>
                  <a:noFill/>
                </a:ln>
                <a:solidFill>
                  <a:srgbClr val="444444"/>
                </a:solidFill>
                <a:effectLst/>
                <a:latin typeface="Arial Black" panose="020B0A04020102020204" pitchFamily="34" charset="0"/>
                <a:cs typeface="Consolas" panose="020B0609020204030204" pitchFamily="49" charset="0"/>
              </a:rPr>
              <a:t>t</a:t>
            </a:r>
            <a:r>
              <a:rPr kumimoji="0" lang="zh-CN" altLang="zh-CN" sz="2800" b="0" i="0" u="none" strike="noStrike" cap="none" normalizeH="0" baseline="0" dirty="0">
                <a:ln>
                  <a:noFill/>
                </a:ln>
                <a:solidFill>
                  <a:schemeClr val="tx1"/>
                </a:solidFill>
                <a:effectLst/>
                <a:latin typeface="Arial Black" panose="020B0A04020102020204" pitchFamily="34" charset="0"/>
              </a:rPr>
              <a:t>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11" name="标题 1"/>
          <p:cNvSpPr txBox="1"/>
          <p:nvPr/>
        </p:nvSpPr>
        <p:spPr>
          <a:xfrm>
            <a:off x="338535" y="789897"/>
            <a:ext cx="3024336" cy="719006"/>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en-US" altLang="zh-CN" sz="3200" b="1" kern="0" dirty="0">
                <a:solidFill>
                  <a:schemeClr val="tx2"/>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t</a:t>
            </a:r>
            <a:r>
              <a:rPr lang="zh-CN" altLang="en-US" sz="3200" b="1" kern="0" dirty="0">
                <a:solidFill>
                  <a:schemeClr val="tx2"/>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的结果：</a:t>
            </a:r>
          </a:p>
        </p:txBody>
      </p:sp>
      <p:sp>
        <p:nvSpPr>
          <p:cNvPr id="5" name="右箭头 4"/>
          <p:cNvSpPr/>
          <p:nvPr/>
        </p:nvSpPr>
        <p:spPr>
          <a:xfrm>
            <a:off x="5456275" y="3390930"/>
            <a:ext cx="936104" cy="576064"/>
          </a:xfrm>
          <a:prstGeom prst="rightArrow">
            <a:avLst/>
          </a:prstGeom>
          <a:solidFill>
            <a:srgbClr val="FF0000"/>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pic>
        <p:nvPicPr>
          <p:cNvPr id="7169" name="Picture 1" descr="C:\Users\ThinkPad\AppData\Roaming\Tencent\Users\19379577\QQ\WinTemp\RichOle\[}}YP1E]05_Q$`CL8`NEMG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551" y="1917627"/>
            <a:ext cx="4872544" cy="2622752"/>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Users\ThinkPad\AppData\Roaming\Tencent\Users\19379577\QQ\WinTemp\RichOle\M5CCX`0%_%93SG%]0CR$E`V.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1223" y="2565698"/>
            <a:ext cx="4928624" cy="23662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nodeType="withEffect">
                                  <p:stCondLst>
                                    <p:cond delay="0"/>
                                  </p:stCondLst>
                                  <p:childTnLst>
                                    <p:set>
                                      <p:cBhvr>
                                        <p:cTn id="9" dur="1" fill="hold">
                                          <p:stCondLst>
                                            <p:cond delay="0"/>
                                          </p:stCondLst>
                                        </p:cTn>
                                        <p:tgtEl>
                                          <p:spTgt spid="7170"/>
                                        </p:tgtEl>
                                        <p:attrNameLst>
                                          <p:attrName>style.visibility</p:attrName>
                                        </p:attrNameLst>
                                      </p:cBhvr>
                                      <p:to>
                                        <p:strVal val="visible"/>
                                      </p:to>
                                    </p:set>
                                    <p:animEffect transition="in" filter="wipe(left)">
                                      <p:cBhvr>
                                        <p:cTn id="10"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11" name="标题 1"/>
          <p:cNvSpPr txBox="1"/>
          <p:nvPr/>
        </p:nvSpPr>
        <p:spPr>
          <a:xfrm>
            <a:off x="410543" y="981522"/>
            <a:ext cx="3024336" cy="719006"/>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chemeClr val="tx2"/>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强调－元组</a:t>
            </a:r>
          </a:p>
        </p:txBody>
      </p:sp>
      <p:sp>
        <p:nvSpPr>
          <p:cNvPr id="2" name="Rectangle 1"/>
          <p:cNvSpPr>
            <a:spLocks noChangeArrowheads="1"/>
          </p:cNvSpPr>
          <p:nvPr/>
        </p:nvSpPr>
        <p:spPr bwMode="auto">
          <a:xfrm>
            <a:off x="407357" y="1965044"/>
            <a:ext cx="11631513" cy="2785378"/>
          </a:xfrm>
          <a:prstGeom prst="rect">
            <a:avLst/>
          </a:prstGeom>
          <a:solidFill>
            <a:schemeClr val="bg1"/>
          </a:solidFill>
          <a:ln>
            <a:noFill/>
          </a:ln>
          <a:effec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ts val="4200"/>
              </a:lnSpc>
              <a:spcBef>
                <a:spcPct val="0"/>
              </a:spcBef>
              <a:spcAft>
                <a:spcPct val="0"/>
              </a:spcAft>
              <a:buClrTx/>
              <a:buSzTx/>
              <a:buFontTx/>
              <a:buNone/>
            </a:pPr>
            <a:r>
              <a:rPr kumimoji="0" lang="en-US" altLang="zh-CN" sz="2800" b="0" i="0" u="none" strike="noStrike" cap="none" normalizeH="0" baseline="0" dirty="0">
                <a:ln>
                  <a:noFill/>
                </a:ln>
                <a:solidFill>
                  <a:srgbClr val="666666"/>
                </a:solidFill>
                <a:effectLst/>
                <a:latin typeface="微软雅黑" panose="020B0503020204020204" pitchFamily="34" charset="-122"/>
                <a:ea typeface="微软雅黑" panose="020B0503020204020204" pitchFamily="34" charset="-122"/>
              </a:rPr>
              <a:t>        </a:t>
            </a:r>
            <a:r>
              <a:rPr kumimoji="0" lang="zh-CN" altLang="zh-CN" sz="2800" b="0" i="0" u="none" strike="noStrike" cap="none" normalizeH="0" baseline="0" dirty="0">
                <a:ln>
                  <a:noFill/>
                </a:ln>
                <a:solidFill>
                  <a:srgbClr val="666666"/>
                </a:solidFill>
                <a:effectLst/>
                <a:latin typeface="微软雅黑" panose="020B0503020204020204" pitchFamily="34" charset="-122"/>
                <a:ea typeface="微软雅黑" panose="020B0503020204020204" pitchFamily="34" charset="-122"/>
              </a:rPr>
              <a:t>表面上看，tuple的元素确实变了，但其实变的不是tuple的元素，而是list的元素。tuple一开始指向的list并没有改成别的list，所以，tuple所谓的“不变”是说，</a:t>
            </a:r>
            <a:r>
              <a:rPr kumimoji="0" lang="zh-CN" altLang="zh-CN" sz="28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tuple的每个元素，指向永远不变</a:t>
            </a:r>
            <a:r>
              <a:rPr kumimoji="0" lang="zh-CN" altLang="zh-CN" sz="2800" b="0" i="0" u="none" strike="noStrike" cap="none" normalizeH="0" baseline="0" dirty="0">
                <a:ln>
                  <a:noFill/>
                </a:ln>
                <a:solidFill>
                  <a:srgbClr val="666666"/>
                </a:solidFill>
                <a:effectLst/>
                <a:latin typeface="微软雅黑" panose="020B0503020204020204" pitchFamily="34" charset="-122"/>
                <a:ea typeface="微软雅黑" panose="020B0503020204020204" pitchFamily="34" charset="-122"/>
              </a:rPr>
              <a:t>。即指向</a:t>
            </a:r>
            <a:r>
              <a:rPr kumimoji="0" lang="zh-CN" altLang="zh-CN" sz="2800" b="0" i="0" u="none" strike="noStrike" cap="none" normalizeH="0" baseline="0" dirty="0">
                <a:ln>
                  <a:noFill/>
                </a:ln>
                <a:solidFill>
                  <a:srgbClr val="DD0055"/>
                </a:solidFill>
                <a:effectLst/>
                <a:latin typeface="微软雅黑" panose="020B0503020204020204" pitchFamily="34" charset="-122"/>
                <a:ea typeface="微软雅黑" panose="020B0503020204020204" pitchFamily="34" charset="-122"/>
                <a:cs typeface="Consolas" panose="020B0609020204030204" pitchFamily="49" charset="0"/>
              </a:rPr>
              <a:t>'a'</a:t>
            </a:r>
            <a:r>
              <a:rPr kumimoji="0" lang="zh-CN" altLang="zh-CN" sz="2800" b="0" i="0" u="none" strike="noStrike" cap="none" normalizeH="0" baseline="0" dirty="0">
                <a:ln>
                  <a:noFill/>
                </a:ln>
                <a:solidFill>
                  <a:srgbClr val="666666"/>
                </a:solidFill>
                <a:effectLst/>
                <a:latin typeface="微软雅黑" panose="020B0503020204020204" pitchFamily="34" charset="-122"/>
                <a:ea typeface="微软雅黑" panose="020B0503020204020204" pitchFamily="34" charset="-122"/>
              </a:rPr>
              <a:t>，就不能改成指向</a:t>
            </a:r>
            <a:r>
              <a:rPr kumimoji="0" lang="zh-CN" altLang="zh-CN" sz="2800" b="0" i="0" u="none" strike="noStrike" cap="none" normalizeH="0" baseline="0" dirty="0">
                <a:ln>
                  <a:noFill/>
                </a:ln>
                <a:solidFill>
                  <a:srgbClr val="DD0055"/>
                </a:solidFill>
                <a:effectLst/>
                <a:latin typeface="微软雅黑" panose="020B0503020204020204" pitchFamily="34" charset="-122"/>
                <a:ea typeface="微软雅黑" panose="020B0503020204020204" pitchFamily="34" charset="-122"/>
                <a:cs typeface="Consolas" panose="020B0609020204030204" pitchFamily="49" charset="0"/>
              </a:rPr>
              <a:t>'b'</a:t>
            </a:r>
            <a:r>
              <a:rPr kumimoji="0" lang="zh-CN" altLang="zh-CN" sz="2800" b="0" i="0" u="none" strike="noStrike" cap="none" normalizeH="0" baseline="0" dirty="0">
                <a:ln>
                  <a:noFill/>
                </a:ln>
                <a:solidFill>
                  <a:srgbClr val="666666"/>
                </a:solidFill>
                <a:effectLst/>
                <a:latin typeface="微软雅黑" panose="020B0503020204020204" pitchFamily="34" charset="-122"/>
                <a:ea typeface="微软雅黑" panose="020B0503020204020204" pitchFamily="34" charset="-122"/>
              </a:rPr>
              <a:t>，指向一个list，就不能改成指向其他对象，但</a:t>
            </a:r>
            <a:r>
              <a:rPr kumimoji="0" lang="zh-CN" altLang="zh-CN" sz="28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指向的这个list本身是可变的</a:t>
            </a:r>
            <a:r>
              <a:rPr kumimoji="0" lang="zh-CN" altLang="zh-CN" sz="2800" b="0" i="0" u="none" strike="noStrike" cap="none" normalizeH="0" baseline="0" dirty="0">
                <a:ln>
                  <a:noFill/>
                </a:ln>
                <a:solidFill>
                  <a:srgbClr val="666666"/>
                </a:solidFill>
                <a:effectLst/>
                <a:latin typeface="微软雅黑" panose="020B0503020204020204" pitchFamily="34" charset="-122"/>
                <a:ea typeface="微软雅黑" panose="020B0503020204020204" pitchFamily="34" charset="-122"/>
              </a:rPr>
              <a:t>！</a:t>
            </a:r>
            <a:r>
              <a:rPr kumimoji="0" lang="zh-CN"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38535" y="782406"/>
            <a:ext cx="8245415" cy="724410"/>
          </a:xfrm>
        </p:spPr>
        <p:txBody>
          <a:bodyPr vert="horz" wrap="square" lIns="91456" tIns="45728" rIns="91456" bIns="45728" numCol="1" anchor="b" anchorCtr="0" compatLnSpc="1"/>
          <a:lstStyle/>
          <a:p>
            <a:pPr marL="0" marR="0" lvl="0" indent="0" algn="l" defTabSz="914400" eaLnBrk="0" fontAlgn="base" hangingPunct="0">
              <a:lnSpc>
                <a:spcPct val="90000"/>
              </a:lnSpc>
              <a:spcAft>
                <a:spcPct val="0"/>
              </a:spcAft>
              <a:buClrTx/>
              <a:buSzTx/>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、元组删除</a:t>
            </a:r>
          </a:p>
        </p:txBody>
      </p:sp>
      <p:sp>
        <p:nvSpPr>
          <p:cNvPr id="3" name="内容占位符 2"/>
          <p:cNvSpPr>
            <a:spLocks noGrp="1"/>
          </p:cNvSpPr>
          <p:nvPr>
            <p:ph idx="4294967295"/>
          </p:nvPr>
        </p:nvSpPr>
        <p:spPr>
          <a:xfrm>
            <a:off x="709682" y="1845618"/>
            <a:ext cx="11233248" cy="792088"/>
          </a:xfrm>
          <a:solidFill>
            <a:schemeClr val="bg1"/>
          </a:solidFill>
          <a:ln>
            <a:noFill/>
          </a:ln>
          <a:effectLst/>
        </p:spPr>
        <p:txBody>
          <a:bodyPr vert="horz" wrap="square" lIns="91440" tIns="45720" rIns="91440" bIns="45720" numCol="1" anchor="t" anchorCtr="0" compatLnSpc="1">
            <a:noAutofit/>
          </a:bodyPr>
          <a:lstStyle/>
          <a:p>
            <a:pPr marL="0" indent="0" algn="just" defTabSz="914400" eaLnBrk="0" fontAlgn="base" hangingPunct="0">
              <a:lnSpc>
                <a:spcPts val="4200"/>
              </a:lnSpc>
              <a:spcBef>
                <a:spcPct val="0"/>
              </a:spcBef>
              <a:spcAft>
                <a:spcPct val="0"/>
              </a:spcAft>
              <a:buFontTx/>
              <a:buNone/>
            </a:pPr>
            <a:r>
              <a:rPr lang="zh-CN" altLang="en-US" sz="2800" dirty="0">
                <a:latin typeface="微软雅黑" panose="020B0503020204020204" pitchFamily="34" charset="-122"/>
                <a:ea typeface="微软雅黑" panose="020B0503020204020204" pitchFamily="34" charset="-122"/>
              </a:rPr>
              <a:t>元组中的元素值是不允许删除的，但可以使用</a:t>
            </a:r>
            <a:r>
              <a:rPr lang="en-US" altLang="zh-CN" sz="2800" dirty="0">
                <a:latin typeface="微软雅黑" panose="020B0503020204020204" pitchFamily="34" charset="-122"/>
                <a:ea typeface="微软雅黑" panose="020B0503020204020204" pitchFamily="34" charset="-122"/>
              </a:rPr>
              <a:t>del</a:t>
            </a:r>
            <a:r>
              <a:rPr lang="zh-CN" altLang="en-US" sz="2800" dirty="0">
                <a:latin typeface="微软雅黑" panose="020B0503020204020204" pitchFamily="34" charset="-122"/>
                <a:ea typeface="微软雅黑" panose="020B0503020204020204" pitchFamily="34" charset="-122"/>
              </a:rPr>
              <a:t>语句来删除整个元组</a:t>
            </a:r>
          </a:p>
        </p:txBody>
      </p:sp>
      <p:sp>
        <p:nvSpPr>
          <p:cNvPr id="6"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4" name="矩形 3"/>
          <p:cNvSpPr/>
          <p:nvPr/>
        </p:nvSpPr>
        <p:spPr>
          <a:xfrm>
            <a:off x="1922711" y="2744000"/>
            <a:ext cx="9649072" cy="2803203"/>
          </a:xfrm>
          <a:prstGeom prst="rect">
            <a:avLst/>
          </a:prstGeom>
        </p:spPr>
        <p:txBody>
          <a:bodyPr wrap="square">
            <a:spAutoFit/>
          </a:bodyPr>
          <a:lstStyle/>
          <a:p>
            <a:pPr>
              <a:lnSpc>
                <a:spcPct val="150000"/>
              </a:lnSpc>
            </a:pPr>
            <a:r>
              <a:rPr lang="en-US" altLang="zh-CN" dirty="0" err="1">
                <a:solidFill>
                  <a:srgbClr val="0055AA"/>
                </a:solidFill>
                <a:latin typeface="Arial Black" panose="020B0A04020102020204" pitchFamily="34" charset="0"/>
                <a:ea typeface="微软雅黑" panose="020B0503020204020204" pitchFamily="34" charset="-122"/>
              </a:rPr>
              <a:t>tup</a:t>
            </a:r>
            <a:r>
              <a:rPr lang="en-US" altLang="zh-CN" dirty="0">
                <a:solidFill>
                  <a:srgbClr val="808080"/>
                </a:solidFill>
                <a:latin typeface="Arial Black" panose="020B0A04020102020204" pitchFamily="34" charset="0"/>
                <a:ea typeface="微软雅黑" panose="020B0503020204020204" pitchFamily="34" charset="-122"/>
              </a:rPr>
              <a:t> = </a:t>
            </a:r>
            <a:r>
              <a:rPr lang="en-US" altLang="zh-CN" dirty="0">
                <a:solidFill>
                  <a:srgbClr val="808000"/>
                </a:solidFill>
                <a:latin typeface="Arial Black" panose="020B0A04020102020204" pitchFamily="34" charset="0"/>
                <a:ea typeface="微软雅黑" panose="020B0503020204020204" pitchFamily="34" charset="-122"/>
              </a:rPr>
              <a:t>(</a:t>
            </a:r>
            <a:r>
              <a:rPr lang="en-US" altLang="zh-CN" dirty="0">
                <a:solidFill>
                  <a:srgbClr val="8B0000"/>
                </a:solidFill>
                <a:latin typeface="Arial Black" panose="020B0A04020102020204" pitchFamily="34" charset="0"/>
                <a:ea typeface="微软雅黑" panose="020B0503020204020204" pitchFamily="34" charset="-122"/>
              </a:rPr>
              <a:t>'Python'</a:t>
            </a:r>
            <a:r>
              <a:rPr lang="en-US" altLang="zh-CN" dirty="0">
                <a:solidFill>
                  <a:srgbClr val="808080"/>
                </a:solidFill>
                <a:latin typeface="Arial Black" panose="020B0A04020102020204" pitchFamily="34" charset="0"/>
                <a:ea typeface="微软雅黑" panose="020B0503020204020204" pitchFamily="34" charset="-122"/>
              </a:rPr>
              <a:t>, </a:t>
            </a:r>
            <a:r>
              <a:rPr lang="en-US" altLang="zh-CN" dirty="0">
                <a:solidFill>
                  <a:srgbClr val="8B0000"/>
                </a:solidFill>
                <a:latin typeface="Arial Black" panose="020B0A04020102020204" pitchFamily="34" charset="0"/>
                <a:ea typeface="微软雅黑" panose="020B0503020204020204" pitchFamily="34" charset="-122"/>
              </a:rPr>
              <a:t>'Hello'</a:t>
            </a:r>
            <a:r>
              <a:rPr lang="en-US" altLang="zh-CN" dirty="0">
                <a:solidFill>
                  <a:srgbClr val="808080"/>
                </a:solidFill>
                <a:latin typeface="Arial Black" panose="020B0A04020102020204" pitchFamily="34" charset="0"/>
                <a:ea typeface="微软雅黑" panose="020B0503020204020204" pitchFamily="34" charset="-122"/>
              </a:rPr>
              <a:t>, </a:t>
            </a:r>
            <a:r>
              <a:rPr lang="en-US" altLang="zh-CN" dirty="0">
                <a:solidFill>
                  <a:srgbClr val="800000"/>
                </a:solidFill>
                <a:latin typeface="Arial Black" panose="020B0A04020102020204" pitchFamily="34" charset="0"/>
                <a:ea typeface="微软雅黑" panose="020B0503020204020204" pitchFamily="34" charset="-122"/>
              </a:rPr>
              <a:t>1997</a:t>
            </a:r>
            <a:r>
              <a:rPr lang="en-US" altLang="zh-CN" dirty="0">
                <a:solidFill>
                  <a:srgbClr val="808080"/>
                </a:solidFill>
                <a:latin typeface="Arial Black" panose="020B0A04020102020204" pitchFamily="34" charset="0"/>
                <a:ea typeface="微软雅黑" panose="020B0503020204020204" pitchFamily="34" charset="-122"/>
              </a:rPr>
              <a:t>, </a:t>
            </a:r>
            <a:r>
              <a:rPr lang="en-US" altLang="zh-CN" dirty="0">
                <a:solidFill>
                  <a:srgbClr val="800000"/>
                </a:solidFill>
                <a:latin typeface="Arial Black" panose="020B0A04020102020204" pitchFamily="34" charset="0"/>
                <a:ea typeface="微软雅黑" panose="020B0503020204020204" pitchFamily="34" charset="-122"/>
              </a:rPr>
              <a:t>2000</a:t>
            </a:r>
            <a:r>
              <a:rPr lang="en-US" altLang="zh-CN" dirty="0">
                <a:solidFill>
                  <a:srgbClr val="808000"/>
                </a:solidFill>
                <a:latin typeface="Arial Black" panose="020B0A04020102020204" pitchFamily="34" charset="0"/>
                <a:ea typeface="微软雅黑" panose="020B0503020204020204" pitchFamily="34" charset="-122"/>
              </a:rPr>
              <a:t>)</a:t>
            </a:r>
            <a:r>
              <a:rPr lang="en-US" altLang="zh-CN" dirty="0">
                <a:solidFill>
                  <a:srgbClr val="808080"/>
                </a:solidFill>
                <a:latin typeface="Arial Black" panose="020B0A04020102020204" pitchFamily="34" charset="0"/>
                <a:ea typeface="微软雅黑" panose="020B0503020204020204" pitchFamily="34" charset="-122"/>
              </a:rPr>
              <a:t> </a:t>
            </a:r>
          </a:p>
          <a:p>
            <a:pPr>
              <a:lnSpc>
                <a:spcPct val="150000"/>
              </a:lnSpc>
            </a:pPr>
            <a:r>
              <a:rPr lang="en-US" altLang="zh-CN" dirty="0">
                <a:solidFill>
                  <a:srgbClr val="0055AA"/>
                </a:solidFill>
                <a:latin typeface="Arial Black" panose="020B0A04020102020204" pitchFamily="34" charset="0"/>
                <a:ea typeface="微软雅黑" panose="020B0503020204020204" pitchFamily="34" charset="-122"/>
              </a:rPr>
              <a:t>print</a:t>
            </a:r>
            <a:r>
              <a:rPr lang="en-US" altLang="zh-CN" dirty="0">
                <a:solidFill>
                  <a:srgbClr val="808080"/>
                </a:solidFill>
                <a:latin typeface="Arial Black" panose="020B0A04020102020204" pitchFamily="34" charset="0"/>
                <a:ea typeface="微软雅黑" panose="020B0503020204020204" pitchFamily="34" charset="-122"/>
              </a:rPr>
              <a:t> </a:t>
            </a:r>
            <a:r>
              <a:rPr lang="en-US" altLang="zh-CN" dirty="0">
                <a:solidFill>
                  <a:srgbClr val="808000"/>
                </a:solidFill>
                <a:latin typeface="Arial Black" panose="020B0A04020102020204" pitchFamily="34" charset="0"/>
                <a:ea typeface="微软雅黑" panose="020B0503020204020204" pitchFamily="34" charset="-122"/>
              </a:rPr>
              <a:t>(</a:t>
            </a:r>
            <a:r>
              <a:rPr lang="en-US" altLang="zh-CN" dirty="0" err="1">
                <a:solidFill>
                  <a:srgbClr val="0055AA"/>
                </a:solidFill>
                <a:latin typeface="Arial Black" panose="020B0A04020102020204" pitchFamily="34" charset="0"/>
                <a:ea typeface="微软雅黑" panose="020B0503020204020204" pitchFamily="34" charset="-122"/>
              </a:rPr>
              <a:t>tup</a:t>
            </a:r>
            <a:r>
              <a:rPr lang="en-US" altLang="zh-CN" dirty="0">
                <a:solidFill>
                  <a:srgbClr val="808000"/>
                </a:solidFill>
                <a:latin typeface="Arial Black" panose="020B0A04020102020204" pitchFamily="34" charset="0"/>
                <a:ea typeface="微软雅黑" panose="020B0503020204020204" pitchFamily="34" charset="-122"/>
              </a:rPr>
              <a:t>)</a:t>
            </a:r>
            <a:r>
              <a:rPr lang="en-US" altLang="zh-CN" dirty="0">
                <a:solidFill>
                  <a:srgbClr val="808080"/>
                </a:solidFill>
                <a:latin typeface="Arial Black" panose="020B0A04020102020204" pitchFamily="34" charset="0"/>
                <a:ea typeface="微软雅黑" panose="020B0503020204020204" pitchFamily="34" charset="-122"/>
              </a:rPr>
              <a:t> </a:t>
            </a:r>
          </a:p>
          <a:p>
            <a:pPr>
              <a:lnSpc>
                <a:spcPct val="150000"/>
              </a:lnSpc>
            </a:pPr>
            <a:r>
              <a:rPr lang="en-US" altLang="zh-CN" dirty="0">
                <a:solidFill>
                  <a:srgbClr val="008000"/>
                </a:solidFill>
                <a:latin typeface="Arial Black" panose="020B0A04020102020204" pitchFamily="34" charset="0"/>
                <a:ea typeface="微软雅黑" panose="020B0503020204020204" pitchFamily="34" charset="-122"/>
              </a:rPr>
              <a:t>del</a:t>
            </a:r>
            <a:r>
              <a:rPr lang="en-US" altLang="zh-CN" dirty="0">
                <a:solidFill>
                  <a:srgbClr val="808080"/>
                </a:solidFill>
                <a:latin typeface="Arial Black" panose="020B0A04020102020204" pitchFamily="34" charset="0"/>
                <a:ea typeface="微软雅黑" panose="020B0503020204020204" pitchFamily="34" charset="-122"/>
              </a:rPr>
              <a:t> </a:t>
            </a:r>
            <a:r>
              <a:rPr lang="en-US" altLang="zh-CN" dirty="0" err="1">
                <a:solidFill>
                  <a:srgbClr val="0055AA"/>
                </a:solidFill>
                <a:latin typeface="Arial Black" panose="020B0A04020102020204" pitchFamily="34" charset="0"/>
                <a:ea typeface="微软雅黑" panose="020B0503020204020204" pitchFamily="34" charset="-122"/>
              </a:rPr>
              <a:t>tup</a:t>
            </a:r>
            <a:endParaRPr lang="en-US" altLang="zh-CN" dirty="0">
              <a:solidFill>
                <a:srgbClr val="808080"/>
              </a:solidFill>
              <a:latin typeface="Arial Black" panose="020B0A04020102020204" pitchFamily="34" charset="0"/>
              <a:ea typeface="微软雅黑" panose="020B0503020204020204" pitchFamily="34" charset="-122"/>
            </a:endParaRPr>
          </a:p>
          <a:p>
            <a:pPr>
              <a:lnSpc>
                <a:spcPct val="150000"/>
              </a:lnSpc>
            </a:pPr>
            <a:r>
              <a:rPr lang="en-US" altLang="zh-CN" dirty="0">
                <a:solidFill>
                  <a:srgbClr val="0055AA"/>
                </a:solidFill>
                <a:latin typeface="Arial Black" panose="020B0A04020102020204" pitchFamily="34" charset="0"/>
                <a:ea typeface="微软雅黑" panose="020B0503020204020204" pitchFamily="34" charset="-122"/>
              </a:rPr>
              <a:t>print</a:t>
            </a:r>
            <a:r>
              <a:rPr lang="en-US" altLang="zh-CN" dirty="0">
                <a:solidFill>
                  <a:srgbClr val="808080"/>
                </a:solidFill>
                <a:latin typeface="Arial Black" panose="020B0A04020102020204" pitchFamily="34" charset="0"/>
                <a:ea typeface="微软雅黑" panose="020B0503020204020204" pitchFamily="34" charset="-122"/>
              </a:rPr>
              <a:t> </a:t>
            </a:r>
            <a:r>
              <a:rPr lang="en-US" altLang="zh-CN" dirty="0">
                <a:solidFill>
                  <a:srgbClr val="808000"/>
                </a:solidFill>
                <a:latin typeface="Arial Black" panose="020B0A04020102020204" pitchFamily="34" charset="0"/>
                <a:ea typeface="微软雅黑" panose="020B0503020204020204" pitchFamily="34" charset="-122"/>
              </a:rPr>
              <a:t>(</a:t>
            </a:r>
            <a:r>
              <a:rPr lang="en-US" altLang="zh-CN" dirty="0">
                <a:solidFill>
                  <a:srgbClr val="8B0000"/>
                </a:solidFill>
                <a:latin typeface="Arial Black" panose="020B0A04020102020204" pitchFamily="34" charset="0"/>
                <a:ea typeface="微软雅黑" panose="020B0503020204020204" pitchFamily="34" charset="-122"/>
              </a:rPr>
              <a:t>"</a:t>
            </a:r>
            <a:r>
              <a:rPr lang="zh-CN" altLang="en-US" dirty="0">
                <a:solidFill>
                  <a:srgbClr val="AA1111"/>
                </a:solidFill>
                <a:latin typeface="Arial Black" panose="020B0A04020102020204" pitchFamily="34" charset="0"/>
                <a:ea typeface="微软雅黑" panose="020B0503020204020204" pitchFamily="34" charset="-122"/>
              </a:rPr>
              <a:t>删除后的元组 </a:t>
            </a:r>
            <a:r>
              <a:rPr lang="en-US" altLang="zh-CN" dirty="0" err="1">
                <a:solidFill>
                  <a:srgbClr val="AA1111"/>
                </a:solidFill>
                <a:latin typeface="Arial Black" panose="020B0A04020102020204" pitchFamily="34" charset="0"/>
                <a:ea typeface="微软雅黑" panose="020B0503020204020204" pitchFamily="34" charset="-122"/>
              </a:rPr>
              <a:t>tup</a:t>
            </a:r>
            <a:r>
              <a:rPr lang="en-US" altLang="zh-CN" dirty="0">
                <a:solidFill>
                  <a:srgbClr val="AA1111"/>
                </a:solidFill>
                <a:latin typeface="Arial Black" panose="020B0A04020102020204" pitchFamily="34" charset="0"/>
                <a:ea typeface="微软雅黑" panose="020B0503020204020204" pitchFamily="34" charset="-122"/>
              </a:rPr>
              <a:t> : </a:t>
            </a:r>
            <a:r>
              <a:rPr lang="en-US" altLang="zh-CN" dirty="0">
                <a:solidFill>
                  <a:srgbClr val="8B0000"/>
                </a:solidFill>
                <a:latin typeface="Arial Black" panose="020B0A04020102020204" pitchFamily="34" charset="0"/>
                <a:ea typeface="微软雅黑" panose="020B0503020204020204" pitchFamily="34" charset="-122"/>
              </a:rPr>
              <a:t>"</a:t>
            </a:r>
            <a:r>
              <a:rPr lang="en-US" altLang="zh-CN" dirty="0">
                <a:solidFill>
                  <a:srgbClr val="808000"/>
                </a:solidFill>
                <a:latin typeface="Arial Black" panose="020B0A04020102020204" pitchFamily="34" charset="0"/>
                <a:ea typeface="微软雅黑" panose="020B0503020204020204" pitchFamily="34" charset="-122"/>
              </a:rPr>
              <a:t>)</a:t>
            </a:r>
            <a:r>
              <a:rPr lang="en-US" altLang="zh-CN" dirty="0">
                <a:solidFill>
                  <a:srgbClr val="808080"/>
                </a:solidFill>
                <a:latin typeface="Arial Black" panose="020B0A04020102020204" pitchFamily="34" charset="0"/>
                <a:ea typeface="微软雅黑" panose="020B0503020204020204" pitchFamily="34" charset="-122"/>
              </a:rPr>
              <a:t> </a:t>
            </a:r>
          </a:p>
          <a:p>
            <a:pPr>
              <a:lnSpc>
                <a:spcPct val="150000"/>
              </a:lnSpc>
            </a:pPr>
            <a:r>
              <a:rPr lang="en-US" altLang="zh-CN" dirty="0">
                <a:solidFill>
                  <a:srgbClr val="0055AA"/>
                </a:solidFill>
                <a:latin typeface="Arial Black" panose="020B0A04020102020204" pitchFamily="34" charset="0"/>
                <a:ea typeface="微软雅黑" panose="020B0503020204020204" pitchFamily="34" charset="-122"/>
              </a:rPr>
              <a:t>print</a:t>
            </a:r>
            <a:r>
              <a:rPr lang="en-US" altLang="zh-CN" dirty="0">
                <a:solidFill>
                  <a:srgbClr val="808080"/>
                </a:solidFill>
                <a:latin typeface="Arial Black" panose="020B0A04020102020204" pitchFamily="34" charset="0"/>
                <a:ea typeface="微软雅黑" panose="020B0503020204020204" pitchFamily="34" charset="-122"/>
              </a:rPr>
              <a:t> </a:t>
            </a:r>
            <a:r>
              <a:rPr lang="en-US" altLang="zh-CN" dirty="0">
                <a:solidFill>
                  <a:srgbClr val="808000"/>
                </a:solidFill>
                <a:latin typeface="Arial Black" panose="020B0A04020102020204" pitchFamily="34" charset="0"/>
                <a:ea typeface="微软雅黑" panose="020B0503020204020204" pitchFamily="34" charset="-122"/>
              </a:rPr>
              <a:t>(</a:t>
            </a:r>
            <a:r>
              <a:rPr lang="en-US" altLang="zh-CN" dirty="0" err="1">
                <a:solidFill>
                  <a:srgbClr val="0055AA"/>
                </a:solidFill>
                <a:latin typeface="Arial Black" panose="020B0A04020102020204" pitchFamily="34" charset="0"/>
                <a:ea typeface="微软雅黑" panose="020B0503020204020204" pitchFamily="34" charset="-122"/>
              </a:rPr>
              <a:t>tup</a:t>
            </a:r>
            <a:r>
              <a:rPr lang="en-US" altLang="zh-CN" dirty="0">
                <a:solidFill>
                  <a:srgbClr val="808000"/>
                </a:solidFill>
                <a:latin typeface="Arial Black" panose="020B0A04020102020204" pitchFamily="34" charset="0"/>
                <a:ea typeface="微软雅黑" panose="020B0503020204020204" pitchFamily="34" charset="-122"/>
              </a:rPr>
              <a:t>) # </a:t>
            </a:r>
            <a:r>
              <a:rPr lang="zh-CN" altLang="en-US" dirty="0">
                <a:solidFill>
                  <a:srgbClr val="808000"/>
                </a:solidFill>
                <a:latin typeface="Arial Black" panose="020B0A04020102020204" pitchFamily="34" charset="0"/>
                <a:ea typeface="微软雅黑" panose="020B0503020204020204" pitchFamily="34" charset="-122"/>
              </a:rPr>
              <a:t>此句会报错</a:t>
            </a:r>
            <a:endParaRPr lang="zh-CN" altLang="en-US" dirty="0">
              <a:latin typeface="Arial Black" panose="020B0A04020102020204" pitchFamily="34" charset="0"/>
              <a:ea typeface="微软雅黑" panose="020B0503020204020204" pitchFamily="34" charset="-122"/>
            </a:endParaRPr>
          </a:p>
        </p:txBody>
      </p:sp>
    </p:spTree>
  </p:cSld>
  <p:clrMapOvr>
    <a:masterClrMapping/>
  </p:clrMapOvr>
  <p:transition spd="slow" advTm="0"/>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38535" y="782406"/>
            <a:ext cx="8245415" cy="724410"/>
          </a:xfrm>
        </p:spPr>
        <p:txBody>
          <a:bodyPr vert="horz" wrap="square" lIns="91456" tIns="45728" rIns="91456" bIns="45728" numCol="1" anchor="b" anchorCtr="0" compatLnSpc="1"/>
          <a:lstStyle/>
          <a:p>
            <a:pPr marL="0" marR="0" lvl="0" indent="0" algn="l" defTabSz="914400" eaLnBrk="0" fontAlgn="base" hangingPunct="0">
              <a:lnSpc>
                <a:spcPct val="90000"/>
              </a:lnSpc>
              <a:spcAft>
                <a:spcPct val="0"/>
              </a:spcAft>
              <a:buClrTx/>
              <a:buSzTx/>
              <a:defRPr/>
            </a:pPr>
            <a:r>
              <a:rPr lang="en-US" altLang="zh-CN"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8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、元组的运算符</a:t>
            </a:r>
          </a:p>
        </p:txBody>
      </p:sp>
      <p:sp>
        <p:nvSpPr>
          <p:cNvPr id="3" name="内容占位符 2"/>
          <p:cNvSpPr>
            <a:spLocks noGrp="1"/>
          </p:cNvSpPr>
          <p:nvPr>
            <p:ph idx="4294967295"/>
          </p:nvPr>
        </p:nvSpPr>
        <p:spPr>
          <a:xfrm>
            <a:off x="554559" y="1610968"/>
            <a:ext cx="11233248" cy="1242762"/>
          </a:xfrm>
          <a:solidFill>
            <a:schemeClr val="bg1"/>
          </a:solidFill>
          <a:ln>
            <a:noFill/>
          </a:ln>
          <a:effectLst/>
        </p:spPr>
        <p:txBody>
          <a:bodyPr vert="horz" wrap="square" lIns="91440" tIns="45720" rIns="91440" bIns="45720" numCol="1" anchor="t" anchorCtr="0" compatLnSpc="1">
            <a:noAutofit/>
          </a:bodyPr>
          <a:lstStyle/>
          <a:p>
            <a:pPr marL="0" indent="0" algn="just" defTabSz="914400" eaLnBrk="0" fontAlgn="base" hangingPunct="0">
              <a:lnSpc>
                <a:spcPts val="4200"/>
              </a:lnSpc>
              <a:spcBef>
                <a:spcPct val="0"/>
              </a:spcBef>
              <a:spcAft>
                <a:spcPct val="0"/>
              </a:spcAft>
              <a:buFontTx/>
              <a:buNone/>
            </a:pPr>
            <a:r>
              <a:rPr lang="zh-CN" altLang="en-US" sz="2800" dirty="0">
                <a:latin typeface="微软雅黑" panose="020B0503020204020204" pitchFamily="34" charset="-122"/>
                <a:ea typeface="微软雅黑" panose="020B0503020204020204" pitchFamily="34" charset="-122"/>
              </a:rPr>
              <a:t>     元组之间可以使用 </a:t>
            </a:r>
            <a:r>
              <a:rPr lang="en-US" altLang="zh-CN" sz="2800" dirty="0">
                <a:latin typeface="微软雅黑" panose="020B0503020204020204" pitchFamily="34" charset="-122"/>
                <a:ea typeface="微软雅黑" panose="020B0503020204020204" pitchFamily="34" charset="-122"/>
              </a:rPr>
              <a:t>+ </a:t>
            </a:r>
            <a:r>
              <a:rPr lang="zh-CN" altLang="en-US" sz="2800" dirty="0">
                <a:latin typeface="微软雅黑" panose="020B0503020204020204" pitchFamily="34" charset="-122"/>
                <a:ea typeface="微软雅黑" panose="020B0503020204020204" pitchFamily="34" charset="-122"/>
              </a:rPr>
              <a:t>号和 * 号进行运算。这就意味着它们可以组合和复制，运算后会生成一个新的元组。</a:t>
            </a:r>
          </a:p>
        </p:txBody>
      </p:sp>
      <p:sp>
        <p:nvSpPr>
          <p:cNvPr id="6"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graphicFrame>
        <p:nvGraphicFramePr>
          <p:cNvPr id="5" name="表格 4"/>
          <p:cNvGraphicFramePr>
            <a:graphicFrameLocks noGrp="1"/>
          </p:cNvGraphicFramePr>
          <p:nvPr>
            <p:extLst>
              <p:ext uri="{D42A27DB-BD31-4B8C-83A1-F6EECF244321}">
                <p14:modId xmlns:p14="http://schemas.microsoft.com/office/powerpoint/2010/main" val="1196250209"/>
              </p:ext>
            </p:extLst>
          </p:nvPr>
        </p:nvGraphicFramePr>
        <p:xfrm>
          <a:off x="712871" y="2957882"/>
          <a:ext cx="11230059" cy="2918460"/>
        </p:xfrm>
        <a:graphic>
          <a:graphicData uri="http://schemas.openxmlformats.org/drawingml/2006/table">
            <a:tbl>
              <a:tblPr/>
              <a:tblGrid>
                <a:gridCol w="4608512">
                  <a:extLst>
                    <a:ext uri="{9D8B030D-6E8A-4147-A177-3AD203B41FA5}">
                      <a16:colId xmlns:a16="http://schemas.microsoft.com/office/drawing/2014/main" val="20000"/>
                    </a:ext>
                  </a:extLst>
                </a:gridCol>
                <a:gridCol w="3672408">
                  <a:extLst>
                    <a:ext uri="{9D8B030D-6E8A-4147-A177-3AD203B41FA5}">
                      <a16:colId xmlns:a16="http://schemas.microsoft.com/office/drawing/2014/main" val="20001"/>
                    </a:ext>
                  </a:extLst>
                </a:gridCol>
                <a:gridCol w="2949139">
                  <a:extLst>
                    <a:ext uri="{9D8B030D-6E8A-4147-A177-3AD203B41FA5}">
                      <a16:colId xmlns:a16="http://schemas.microsoft.com/office/drawing/2014/main" val="20002"/>
                    </a:ext>
                  </a:extLst>
                </a:gridCol>
              </a:tblGrid>
              <a:tr h="0">
                <a:tc>
                  <a:txBody>
                    <a:bodyPr/>
                    <a:lstStyle/>
                    <a:p>
                      <a:pPr algn="l" fontAlgn="t"/>
                      <a:r>
                        <a:rPr lang="en-US" dirty="0">
                          <a:solidFill>
                            <a:srgbClr val="FFFFFF"/>
                          </a:solidFill>
                          <a:effectLst/>
                          <a:latin typeface="微软雅黑" panose="020B0503020204020204" pitchFamily="34" charset="-122"/>
                          <a:ea typeface="微软雅黑" panose="020B0503020204020204" pitchFamily="34" charset="-122"/>
                        </a:rPr>
                        <a:t>Python </a:t>
                      </a:r>
                      <a:r>
                        <a:rPr lang="zh-CN" altLang="en-US" dirty="0">
                          <a:solidFill>
                            <a:srgbClr val="FFFFFF"/>
                          </a:solidFill>
                          <a:effectLst/>
                          <a:latin typeface="微软雅黑" panose="020B0503020204020204" pitchFamily="34" charset="-122"/>
                          <a:ea typeface="微软雅黑" panose="020B0503020204020204" pitchFamily="34" charset="-122"/>
                        </a:rPr>
                        <a:t>表达式</a:t>
                      </a:r>
                    </a:p>
                  </a:txBody>
                  <a:tcPr marL="28575" marR="28575" marT="28575" marB="285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zh-CN" altLang="en-US">
                          <a:solidFill>
                            <a:srgbClr val="FFFFFF"/>
                          </a:solidFill>
                          <a:effectLst/>
                          <a:latin typeface="微软雅黑" panose="020B0503020204020204" pitchFamily="34" charset="-122"/>
                          <a:ea typeface="微软雅黑" panose="020B0503020204020204" pitchFamily="34" charset="-122"/>
                        </a:rPr>
                        <a:t>结果</a:t>
                      </a:r>
                    </a:p>
                  </a:txBody>
                  <a:tcPr marL="28575" marR="28575" marT="28575" marB="285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c>
                  <a:txBody>
                    <a:bodyPr/>
                    <a:lstStyle/>
                    <a:p>
                      <a:pPr algn="l" fontAlgn="t"/>
                      <a:r>
                        <a:rPr lang="zh-CN" altLang="en-US">
                          <a:solidFill>
                            <a:srgbClr val="FFFFFF"/>
                          </a:solidFill>
                          <a:effectLst/>
                          <a:latin typeface="微软雅黑" panose="020B0503020204020204" pitchFamily="34" charset="-122"/>
                          <a:ea typeface="微软雅黑" panose="020B0503020204020204" pitchFamily="34" charset="-122"/>
                        </a:rPr>
                        <a:t>描述</a:t>
                      </a:r>
                    </a:p>
                  </a:txBody>
                  <a:tcPr marL="28575" marR="28575" marT="28575" marB="28575">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extLst>
                  <a:ext uri="{0D108BD9-81ED-4DB2-BD59-A6C34878D82A}">
                    <a16:rowId xmlns:a16="http://schemas.microsoft.com/office/drawing/2014/main" val="10000"/>
                  </a:ext>
                </a:extLst>
              </a:tr>
              <a:tr h="0">
                <a:tc>
                  <a:txBody>
                    <a:bodyPr/>
                    <a:lstStyle/>
                    <a:p>
                      <a:pPr fontAlgn="t"/>
                      <a:r>
                        <a:rPr lang="en-US">
                          <a:effectLst/>
                          <a:latin typeface="微软雅黑" panose="020B0503020204020204" pitchFamily="34" charset="-122"/>
                          <a:ea typeface="微软雅黑" panose="020B0503020204020204" pitchFamily="34" charset="-122"/>
                        </a:rPr>
                        <a:t>len((1, 2, 3))</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altLang="zh-CN">
                          <a:effectLst/>
                          <a:latin typeface="微软雅黑" panose="020B0503020204020204" pitchFamily="34" charset="-122"/>
                          <a:ea typeface="微软雅黑" panose="020B0503020204020204" pitchFamily="34" charset="-122"/>
                        </a:rPr>
                        <a:t>3</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a:effectLst/>
                          <a:latin typeface="微软雅黑" panose="020B0503020204020204" pitchFamily="34" charset="-122"/>
                          <a:ea typeface="微软雅黑" panose="020B0503020204020204" pitchFamily="34" charset="-122"/>
                        </a:rPr>
                        <a:t>计算元素个数</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fontAlgn="t"/>
                      <a:r>
                        <a:rPr lang="en-US" altLang="zh-CN" dirty="0">
                          <a:effectLst/>
                          <a:latin typeface="微软雅黑" panose="020B0503020204020204" pitchFamily="34" charset="-122"/>
                          <a:ea typeface="微软雅黑" panose="020B0503020204020204" pitchFamily="34" charset="-122"/>
                        </a:rPr>
                        <a:t>(1, 2, 3) + (4, 5, 6)</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altLang="zh-CN">
                          <a:effectLst/>
                          <a:latin typeface="微软雅黑" panose="020B0503020204020204" pitchFamily="34" charset="-122"/>
                          <a:ea typeface="微软雅黑" panose="020B0503020204020204" pitchFamily="34" charset="-122"/>
                        </a:rPr>
                        <a:t>(1, 2, 3, 4, 5, 6)</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a:effectLst/>
                          <a:latin typeface="微软雅黑" panose="020B0503020204020204" pitchFamily="34" charset="-122"/>
                          <a:ea typeface="微软雅黑" panose="020B0503020204020204" pitchFamily="34" charset="-122"/>
                        </a:rPr>
                        <a:t>连接</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2"/>
                  </a:ext>
                </a:extLst>
              </a:tr>
              <a:tr h="0">
                <a:tc>
                  <a:txBody>
                    <a:bodyPr/>
                    <a:lstStyle/>
                    <a:p>
                      <a:pPr fontAlgn="t"/>
                      <a:r>
                        <a:rPr lang="en-US" dirty="0">
                          <a:effectLst/>
                          <a:latin typeface="微软雅黑" panose="020B0503020204020204" pitchFamily="34" charset="-122"/>
                          <a:ea typeface="微软雅黑" panose="020B0503020204020204" pitchFamily="34" charset="-122"/>
                        </a:rPr>
                        <a:t>(</a:t>
                      </a:r>
                      <a:r>
                        <a:rPr lang="en-US" altLang="zh-CN" dirty="0">
                          <a:effectLst/>
                          <a:latin typeface="微软雅黑" panose="020B0503020204020204" pitchFamily="34" charset="-122"/>
                          <a:ea typeface="微软雅黑" panose="020B0503020204020204" pitchFamily="34" charset="-122"/>
                        </a:rPr>
                        <a:t>'OK</a:t>
                      </a:r>
                      <a:r>
                        <a:rPr lang="en-US" dirty="0">
                          <a:effectLst/>
                          <a:latin typeface="微软雅黑" panose="020B0503020204020204" pitchFamily="34" charset="-122"/>
                          <a:ea typeface="微软雅黑" panose="020B0503020204020204" pitchFamily="34" charset="-122"/>
                        </a:rPr>
                        <a:t>'</a:t>
                      </a:r>
                      <a:r>
                        <a:rPr lang="en-US" b="1" dirty="0">
                          <a:solidFill>
                            <a:srgbClr val="FF0000"/>
                          </a:solidFill>
                          <a:effectLst/>
                          <a:latin typeface="微软雅黑" panose="020B0503020204020204" pitchFamily="34" charset="-122"/>
                          <a:ea typeface="微软雅黑" panose="020B0503020204020204" pitchFamily="34" charset="-122"/>
                        </a:rPr>
                        <a:t>,</a:t>
                      </a:r>
                      <a:r>
                        <a:rPr lang="en-US" dirty="0">
                          <a:effectLst/>
                          <a:latin typeface="微软雅黑" panose="020B0503020204020204" pitchFamily="34" charset="-122"/>
                          <a:ea typeface="微软雅黑" panose="020B0503020204020204" pitchFamily="34" charset="-122"/>
                        </a:rPr>
                        <a:t>) * 4</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dirty="0">
                          <a:effectLst/>
                          <a:latin typeface="微软雅黑" panose="020B0503020204020204" pitchFamily="34" charset="-122"/>
                          <a:ea typeface="微软雅黑" panose="020B0503020204020204" pitchFamily="34" charset="-122"/>
                        </a:rPr>
                        <a:t>(</a:t>
                      </a:r>
                      <a:r>
                        <a:rPr lang="en-US" altLang="zh-CN" dirty="0">
                          <a:effectLst/>
                          <a:latin typeface="微软雅黑" panose="020B0503020204020204" pitchFamily="34" charset="-122"/>
                          <a:ea typeface="微软雅黑" panose="020B0503020204020204" pitchFamily="34" charset="-122"/>
                        </a:rPr>
                        <a:t>'OK</a:t>
                      </a:r>
                      <a:r>
                        <a:rPr lang="en-US" dirty="0">
                          <a:effectLst/>
                          <a:latin typeface="微软雅黑" panose="020B0503020204020204" pitchFamily="34" charset="-122"/>
                          <a:ea typeface="微软雅黑" panose="020B0503020204020204" pitchFamily="34" charset="-122"/>
                        </a:rPr>
                        <a:t>', '</a:t>
                      </a:r>
                      <a:r>
                        <a:rPr lang="en-US" altLang="zh-CN" dirty="0">
                          <a:effectLst/>
                          <a:latin typeface="微软雅黑" panose="020B0503020204020204" pitchFamily="34" charset="-122"/>
                          <a:ea typeface="微软雅黑" panose="020B0503020204020204" pitchFamily="34" charset="-122"/>
                        </a:rPr>
                        <a:t>OK</a:t>
                      </a:r>
                      <a:r>
                        <a:rPr lang="en-US" dirty="0">
                          <a:effectLst/>
                          <a:latin typeface="微软雅黑" panose="020B0503020204020204" pitchFamily="34" charset="-122"/>
                          <a:ea typeface="微软雅黑" panose="020B0503020204020204" pitchFamily="34" charset="-122"/>
                        </a:rPr>
                        <a:t>', '</a:t>
                      </a:r>
                      <a:r>
                        <a:rPr lang="en-US" altLang="zh-CN" dirty="0">
                          <a:effectLst/>
                          <a:latin typeface="微软雅黑" panose="020B0503020204020204" pitchFamily="34" charset="-122"/>
                          <a:ea typeface="微软雅黑" panose="020B0503020204020204" pitchFamily="34" charset="-122"/>
                        </a:rPr>
                        <a:t>OK</a:t>
                      </a:r>
                      <a:r>
                        <a:rPr lang="en-US" dirty="0">
                          <a:effectLst/>
                          <a:latin typeface="微软雅黑" panose="020B0503020204020204" pitchFamily="34" charset="-122"/>
                          <a:ea typeface="微软雅黑" panose="020B0503020204020204" pitchFamily="34" charset="-122"/>
                        </a:rPr>
                        <a:t>', '</a:t>
                      </a:r>
                      <a:r>
                        <a:rPr lang="en-US" altLang="zh-CN" dirty="0">
                          <a:effectLst/>
                          <a:latin typeface="微软雅黑" panose="020B0503020204020204" pitchFamily="34" charset="-122"/>
                          <a:ea typeface="微软雅黑" panose="020B0503020204020204" pitchFamily="34" charset="-122"/>
                        </a:rPr>
                        <a:t>OK</a:t>
                      </a:r>
                      <a:r>
                        <a:rPr lang="en-US" dirty="0">
                          <a:effectLst/>
                          <a:latin typeface="微软雅黑" panose="020B0503020204020204" pitchFamily="34" charset="-122"/>
                          <a:ea typeface="微软雅黑" panose="020B0503020204020204" pitchFamily="34" charset="-122"/>
                        </a:rPr>
                        <a:t>')</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a:effectLst/>
                          <a:latin typeface="微软雅黑" panose="020B0503020204020204" pitchFamily="34" charset="-122"/>
                          <a:ea typeface="微软雅黑" panose="020B0503020204020204" pitchFamily="34" charset="-122"/>
                        </a:rPr>
                        <a:t>复制</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fontAlgn="t"/>
                      <a:r>
                        <a:rPr lang="en-US" dirty="0">
                          <a:effectLst/>
                          <a:latin typeface="微软雅黑" panose="020B0503020204020204" pitchFamily="34" charset="-122"/>
                          <a:ea typeface="微软雅黑" panose="020B0503020204020204" pitchFamily="34" charset="-122"/>
                        </a:rPr>
                        <a:t>3 in (1, 2, 3)</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en-US">
                          <a:effectLst/>
                          <a:latin typeface="微软雅黑" panose="020B0503020204020204" pitchFamily="34" charset="-122"/>
                          <a:ea typeface="微软雅黑" panose="020B0503020204020204" pitchFamily="34" charset="-122"/>
                        </a:rPr>
                        <a:t>True</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a:effectLst/>
                          <a:latin typeface="微软雅黑" panose="020B0503020204020204" pitchFamily="34" charset="-122"/>
                          <a:ea typeface="微软雅黑" panose="020B0503020204020204" pitchFamily="34" charset="-122"/>
                        </a:rPr>
                        <a:t>元素是否存在</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04"/>
                  </a:ext>
                </a:extLst>
              </a:tr>
              <a:tr h="0">
                <a:tc>
                  <a:txBody>
                    <a:bodyPr/>
                    <a:lstStyle/>
                    <a:p>
                      <a:pPr fontAlgn="t"/>
                      <a:r>
                        <a:rPr lang="en-US">
                          <a:effectLst/>
                          <a:latin typeface="微软雅黑" panose="020B0503020204020204" pitchFamily="34" charset="-122"/>
                          <a:ea typeface="微软雅黑" panose="020B0503020204020204" pitchFamily="34" charset="-122"/>
                        </a:rPr>
                        <a:t>for x in (1, 2, 3): print (x,)</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en-US" altLang="zh-CN">
                          <a:effectLst/>
                          <a:latin typeface="微软雅黑" panose="020B0503020204020204" pitchFamily="34" charset="-122"/>
                          <a:ea typeface="微软雅黑" panose="020B0503020204020204" pitchFamily="34" charset="-122"/>
                        </a:rPr>
                        <a:t>1 2 3</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dirty="0">
                          <a:effectLst/>
                          <a:latin typeface="微软雅黑" panose="020B0503020204020204" pitchFamily="34" charset="-122"/>
                          <a:ea typeface="微软雅黑" panose="020B0503020204020204" pitchFamily="34" charset="-122"/>
                        </a:rPr>
                        <a:t>迭代</a:t>
                      </a:r>
                    </a:p>
                  </a:txBody>
                  <a:tcPr marL="47625" marR="47625" marT="66675" marB="66675">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8935" y="857126"/>
            <a:ext cx="4032447" cy="52260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方正大黑简体" panose="03000509000000000000" pitchFamily="2" charset="-122"/>
                <a:ea typeface="方正大黑简体" panose="03000509000000000000" pitchFamily="2" charset="-122"/>
              </a:rPr>
              <a:t>常用元组操作方法</a:t>
            </a:r>
          </a:p>
        </p:txBody>
      </p:sp>
      <p:graphicFrame>
        <p:nvGraphicFramePr>
          <p:cNvPr id="6" name="内容占位符 5"/>
          <p:cNvGraphicFramePr>
            <a:graphicFrameLocks noGrp="1"/>
          </p:cNvGraphicFramePr>
          <p:nvPr>
            <p:ph idx="1"/>
          </p:nvPr>
        </p:nvGraphicFramePr>
        <p:xfrm>
          <a:off x="1274639" y="1629594"/>
          <a:ext cx="9793088" cy="4705486"/>
        </p:xfrm>
        <a:graphic>
          <a:graphicData uri="http://schemas.openxmlformats.org/drawingml/2006/table">
            <a:tbl>
              <a:tblPr firstRow="1" bandRow="1">
                <a:tableStyleId>{073A0DAA-6AF3-43AB-8588-CEC1D06C72B9}</a:tableStyleId>
              </a:tblPr>
              <a:tblGrid>
                <a:gridCol w="3528392">
                  <a:extLst>
                    <a:ext uri="{9D8B030D-6E8A-4147-A177-3AD203B41FA5}">
                      <a16:colId xmlns:a16="http://schemas.microsoft.com/office/drawing/2014/main" val="20000"/>
                    </a:ext>
                  </a:extLst>
                </a:gridCol>
                <a:gridCol w="6264696">
                  <a:extLst>
                    <a:ext uri="{9D8B030D-6E8A-4147-A177-3AD203B41FA5}">
                      <a16:colId xmlns:a16="http://schemas.microsoft.com/office/drawing/2014/main" val="20001"/>
                    </a:ext>
                  </a:extLst>
                </a:gridCol>
              </a:tblGrid>
              <a:tr h="433735">
                <a:tc>
                  <a:txBody>
                    <a:bodyPr/>
                    <a:lstStyle/>
                    <a:p>
                      <a:pPr algn="ctr"/>
                      <a:r>
                        <a:rPr lang="zh-CN" altLang="en-US" sz="2400" b="0" dirty="0">
                          <a:latin typeface="微软雅黑" panose="020B0503020204020204" pitchFamily="34" charset="-122"/>
                          <a:ea typeface="微软雅黑" panose="020B0503020204020204" pitchFamily="34" charset="-122"/>
                        </a:rPr>
                        <a:t>方法名</a:t>
                      </a:r>
                    </a:p>
                  </a:txBody>
                  <a:tcPr marL="91456" marR="91456" marT="45736" marB="45736"/>
                </a:tc>
                <a:tc>
                  <a:txBody>
                    <a:bodyPr/>
                    <a:lstStyle/>
                    <a:p>
                      <a:pPr algn="ctr"/>
                      <a:r>
                        <a:rPr lang="zh-CN" altLang="en-US" sz="2400" b="0" dirty="0">
                          <a:latin typeface="微软雅黑" panose="020B0503020204020204" pitchFamily="34" charset="-122"/>
                          <a:ea typeface="微软雅黑" panose="020B0503020204020204" pitchFamily="34" charset="-122"/>
                        </a:rPr>
                        <a:t>说明</a:t>
                      </a:r>
                    </a:p>
                  </a:txBody>
                  <a:tcPr marL="91456" marR="91456" marT="45736" marB="45736"/>
                </a:tc>
                <a:extLst>
                  <a:ext uri="{0D108BD9-81ED-4DB2-BD59-A6C34878D82A}">
                    <a16:rowId xmlns:a16="http://schemas.microsoft.com/office/drawing/2014/main" val="10000"/>
                  </a:ext>
                </a:extLst>
              </a:tr>
              <a:tr h="780699">
                <a:tc>
                  <a:txBody>
                    <a:bodyPr/>
                    <a:lstStyle/>
                    <a:p>
                      <a:r>
                        <a:rPr lang="en-US" altLang="zh-CN" sz="2400" b="0" dirty="0">
                          <a:latin typeface="微软雅黑" panose="020B0503020204020204" pitchFamily="34" charset="-122"/>
                          <a:ea typeface="微软雅黑" panose="020B0503020204020204" pitchFamily="34" charset="-122"/>
                        </a:rPr>
                        <a:t>x in </a:t>
                      </a:r>
                      <a:r>
                        <a:rPr lang="en-US" altLang="zh-CN" sz="2400" b="0" dirty="0" err="1">
                          <a:latin typeface="微软雅黑" panose="020B0503020204020204" pitchFamily="34" charset="-122"/>
                          <a:ea typeface="微软雅黑" panose="020B0503020204020204" pitchFamily="34" charset="-122"/>
                        </a:rPr>
                        <a:t>tupple</a:t>
                      </a:r>
                      <a:endParaRPr lang="zh-CN" altLang="en-US" sz="2400" b="0" dirty="0">
                        <a:latin typeface="微软雅黑" panose="020B0503020204020204" pitchFamily="34" charset="-122"/>
                        <a:ea typeface="微软雅黑" panose="020B0503020204020204" pitchFamily="34" charset="-122"/>
                      </a:endParaRPr>
                    </a:p>
                  </a:txBody>
                  <a:tcPr marL="91456" marR="91456" marT="45736" marB="45736"/>
                </a:tc>
                <a:tc>
                  <a:txBody>
                    <a:bodyPr/>
                    <a:lstStyle/>
                    <a:p>
                      <a:r>
                        <a:rPr lang="zh-CN" altLang="en-US" sz="2400" b="0" dirty="0">
                          <a:latin typeface="微软雅黑" panose="020B0503020204020204" pitchFamily="34" charset="-122"/>
                          <a:ea typeface="微软雅黑" panose="020B0503020204020204" pitchFamily="34" charset="-122"/>
                        </a:rPr>
                        <a:t>若</a:t>
                      </a:r>
                      <a:r>
                        <a:rPr lang="en-US" altLang="zh-CN" sz="2400" b="0" dirty="0">
                          <a:latin typeface="微软雅黑" panose="020B0503020204020204" pitchFamily="34" charset="-122"/>
                          <a:ea typeface="微软雅黑" panose="020B0503020204020204" pitchFamily="34" charset="-122"/>
                        </a:rPr>
                        <a:t>x</a:t>
                      </a:r>
                      <a:r>
                        <a:rPr lang="zh-CN" altLang="en-US" sz="2400" b="0" dirty="0">
                          <a:latin typeface="微软雅黑" panose="020B0503020204020204" pitchFamily="34" charset="-122"/>
                          <a:ea typeface="微软雅黑" panose="020B0503020204020204" pitchFamily="34" charset="-122"/>
                        </a:rPr>
                        <a:t>是元组</a:t>
                      </a:r>
                      <a:r>
                        <a:rPr lang="en-US" altLang="zh-CN" sz="2400" b="0" dirty="0" err="1">
                          <a:latin typeface="微软雅黑" panose="020B0503020204020204" pitchFamily="34" charset="-122"/>
                          <a:ea typeface="微软雅黑" panose="020B0503020204020204" pitchFamily="34" charset="-122"/>
                        </a:rPr>
                        <a:t>tupple</a:t>
                      </a:r>
                      <a:r>
                        <a:rPr lang="zh-CN" altLang="en-US" sz="2400" b="0" dirty="0">
                          <a:latin typeface="微软雅黑" panose="020B0503020204020204" pitchFamily="34" charset="-122"/>
                          <a:ea typeface="微软雅黑" panose="020B0503020204020204" pitchFamily="34" charset="-122"/>
                        </a:rPr>
                        <a:t>中的一个元素，则返回</a:t>
                      </a:r>
                      <a:r>
                        <a:rPr lang="en-US" altLang="zh-CN" sz="2400" b="0" dirty="0">
                          <a:latin typeface="微软雅黑" panose="020B0503020204020204" pitchFamily="34" charset="-122"/>
                          <a:ea typeface="微软雅黑" panose="020B0503020204020204" pitchFamily="34" charset="-122"/>
                        </a:rPr>
                        <a:t>True</a:t>
                      </a:r>
                      <a:r>
                        <a:rPr lang="zh-CN" altLang="en-US" sz="2400" b="0" dirty="0">
                          <a:latin typeface="微软雅黑" panose="020B0503020204020204" pitchFamily="34" charset="-122"/>
                          <a:ea typeface="微软雅黑" panose="020B0503020204020204" pitchFamily="34" charset="-122"/>
                        </a:rPr>
                        <a:t>，否则返回</a:t>
                      </a:r>
                      <a:r>
                        <a:rPr lang="en-US" altLang="zh-CN" sz="2400" b="0" dirty="0">
                          <a:latin typeface="微软雅黑" panose="020B0503020204020204" pitchFamily="34" charset="-122"/>
                          <a:ea typeface="微软雅黑" panose="020B0503020204020204" pitchFamily="34" charset="-122"/>
                        </a:rPr>
                        <a:t>False</a:t>
                      </a:r>
                      <a:endParaRPr lang="zh-CN" altLang="en-US" sz="2400" b="0" dirty="0">
                        <a:latin typeface="微软雅黑" panose="020B0503020204020204" pitchFamily="34" charset="-122"/>
                        <a:ea typeface="微软雅黑" panose="020B0503020204020204" pitchFamily="34" charset="-122"/>
                      </a:endParaRPr>
                    </a:p>
                  </a:txBody>
                  <a:tcPr marL="91456" marR="91456" marT="45736" marB="45736"/>
                </a:tc>
                <a:extLst>
                  <a:ext uri="{0D108BD9-81ED-4DB2-BD59-A6C34878D82A}">
                    <a16:rowId xmlns:a16="http://schemas.microsoft.com/office/drawing/2014/main" val="10001"/>
                  </a:ext>
                </a:extLst>
              </a:tr>
              <a:tr h="433735">
                <a:tc>
                  <a:txBody>
                    <a:bodyPr/>
                    <a:lstStyle/>
                    <a:p>
                      <a:r>
                        <a:rPr lang="en-US" altLang="zh-CN" sz="2400" b="0" dirty="0" err="1">
                          <a:latin typeface="微软雅黑" panose="020B0503020204020204" pitchFamily="34" charset="-122"/>
                          <a:ea typeface="微软雅黑" panose="020B0503020204020204" pitchFamily="34" charset="-122"/>
                        </a:rPr>
                        <a:t>len</a:t>
                      </a:r>
                      <a:r>
                        <a:rPr lang="en-US" altLang="zh-CN" sz="2400" b="0" dirty="0">
                          <a:latin typeface="微软雅黑" panose="020B0503020204020204" pitchFamily="34" charset="-122"/>
                          <a:ea typeface="微软雅黑" panose="020B0503020204020204" pitchFamily="34" charset="-122"/>
                        </a:rPr>
                        <a:t>(</a:t>
                      </a:r>
                      <a:r>
                        <a:rPr lang="en-US" altLang="zh-CN" sz="2400" b="0" dirty="0" err="1">
                          <a:latin typeface="微软雅黑" panose="020B0503020204020204" pitchFamily="34" charset="-122"/>
                          <a:ea typeface="微软雅黑" panose="020B0503020204020204" pitchFamily="34" charset="-122"/>
                        </a:rPr>
                        <a:t>tupple</a:t>
                      </a:r>
                      <a:r>
                        <a:rPr lang="en-US" altLang="zh-CN" sz="2400" b="0" dirty="0">
                          <a:latin typeface="微软雅黑" panose="020B0503020204020204" pitchFamily="34" charset="-122"/>
                          <a:ea typeface="微软雅黑" panose="020B0503020204020204" pitchFamily="34" charset="-122"/>
                        </a:rPr>
                        <a:t>)</a:t>
                      </a:r>
                      <a:endParaRPr lang="zh-CN" altLang="en-US" sz="2400" b="0" dirty="0">
                        <a:latin typeface="微软雅黑" panose="020B0503020204020204" pitchFamily="34" charset="-122"/>
                        <a:ea typeface="微软雅黑" panose="020B0503020204020204" pitchFamily="34" charset="-122"/>
                      </a:endParaRPr>
                    </a:p>
                  </a:txBody>
                  <a:tcPr marL="91456" marR="91456" marT="45736" marB="45736"/>
                </a:tc>
                <a:tc>
                  <a:txBody>
                    <a:bodyPr/>
                    <a:lstStyle/>
                    <a:p>
                      <a:r>
                        <a:rPr lang="zh-CN" altLang="en-US" sz="2400" b="0" dirty="0">
                          <a:latin typeface="微软雅黑" panose="020B0503020204020204" pitchFamily="34" charset="-122"/>
                          <a:ea typeface="微软雅黑" panose="020B0503020204020204" pitchFamily="34" charset="-122"/>
                        </a:rPr>
                        <a:t>元组</a:t>
                      </a:r>
                      <a:r>
                        <a:rPr lang="en-US" altLang="zh-CN" sz="2400" b="0" dirty="0" err="1">
                          <a:latin typeface="微软雅黑" panose="020B0503020204020204" pitchFamily="34" charset="-122"/>
                          <a:ea typeface="微软雅黑" panose="020B0503020204020204" pitchFamily="34" charset="-122"/>
                        </a:rPr>
                        <a:t>tupple</a:t>
                      </a:r>
                      <a:r>
                        <a:rPr lang="zh-CN" altLang="en-US" sz="2400" b="0" dirty="0">
                          <a:latin typeface="微软雅黑" panose="020B0503020204020204" pitchFamily="34" charset="-122"/>
                          <a:ea typeface="微软雅黑" panose="020B0503020204020204" pitchFamily="34" charset="-122"/>
                        </a:rPr>
                        <a:t>包含的元素数</a:t>
                      </a:r>
                    </a:p>
                  </a:txBody>
                  <a:tcPr marL="91456" marR="91456" marT="45736" marB="45736"/>
                </a:tc>
                <a:extLst>
                  <a:ext uri="{0D108BD9-81ED-4DB2-BD59-A6C34878D82A}">
                    <a16:rowId xmlns:a16="http://schemas.microsoft.com/office/drawing/2014/main" val="10002"/>
                  </a:ext>
                </a:extLst>
              </a:tr>
              <a:tr h="552214">
                <a:tc>
                  <a:txBody>
                    <a:bodyPr/>
                    <a:lstStyle/>
                    <a:p>
                      <a:r>
                        <a:rPr lang="en-US" altLang="zh-CN" sz="2400" b="0" dirty="0" err="1">
                          <a:latin typeface="微软雅黑" panose="020B0503020204020204" pitchFamily="34" charset="-122"/>
                          <a:ea typeface="微软雅黑" panose="020B0503020204020204" pitchFamily="34" charset="-122"/>
                        </a:rPr>
                        <a:t>tupple.count</a:t>
                      </a:r>
                      <a:r>
                        <a:rPr lang="en-US" altLang="zh-CN" sz="2400" b="0" dirty="0">
                          <a:latin typeface="微软雅黑" panose="020B0503020204020204" pitchFamily="34" charset="-122"/>
                          <a:ea typeface="微软雅黑" panose="020B0503020204020204" pitchFamily="34" charset="-122"/>
                        </a:rPr>
                        <a:t>(x)</a:t>
                      </a:r>
                      <a:endParaRPr lang="zh-CN" altLang="en-US" sz="2400" b="0" dirty="0">
                        <a:latin typeface="微软雅黑" panose="020B0503020204020204" pitchFamily="34" charset="-122"/>
                        <a:ea typeface="微软雅黑" panose="020B0503020204020204" pitchFamily="34" charset="-122"/>
                      </a:endParaRPr>
                    </a:p>
                  </a:txBody>
                  <a:tcPr marL="91456" marR="91456" marT="45736" marB="45736"/>
                </a:tc>
                <a:tc>
                  <a:txBody>
                    <a:bodyPr/>
                    <a:lstStyle/>
                    <a:p>
                      <a:r>
                        <a:rPr lang="zh-CN" altLang="en-US" sz="2400" b="0" dirty="0">
                          <a:latin typeface="微软雅黑" panose="020B0503020204020204" pitchFamily="34" charset="-122"/>
                          <a:ea typeface="微软雅黑" panose="020B0503020204020204" pitchFamily="34" charset="-122"/>
                        </a:rPr>
                        <a:t>元素</a:t>
                      </a:r>
                      <a:r>
                        <a:rPr lang="en-US" altLang="zh-CN" sz="2400" b="0" dirty="0">
                          <a:latin typeface="微软雅黑" panose="020B0503020204020204" pitchFamily="34" charset="-122"/>
                          <a:ea typeface="微软雅黑" panose="020B0503020204020204" pitchFamily="34" charset="-122"/>
                        </a:rPr>
                        <a:t>x</a:t>
                      </a:r>
                      <a:r>
                        <a:rPr lang="zh-CN" altLang="en-US" sz="2400" b="0" dirty="0">
                          <a:latin typeface="微软雅黑" panose="020B0503020204020204" pitchFamily="34" charset="-122"/>
                          <a:ea typeface="微软雅黑" panose="020B0503020204020204" pitchFamily="34" charset="-122"/>
                        </a:rPr>
                        <a:t>在元组</a:t>
                      </a:r>
                      <a:r>
                        <a:rPr lang="en-US" altLang="zh-CN" sz="2400" b="0" dirty="0" err="1">
                          <a:latin typeface="微软雅黑" panose="020B0503020204020204" pitchFamily="34" charset="-122"/>
                          <a:ea typeface="微软雅黑" panose="020B0503020204020204" pitchFamily="34" charset="-122"/>
                        </a:rPr>
                        <a:t>tupple</a:t>
                      </a:r>
                      <a:r>
                        <a:rPr lang="zh-CN" altLang="en-US" sz="2400" b="0" dirty="0">
                          <a:latin typeface="微软雅黑" panose="020B0503020204020204" pitchFamily="34" charset="-122"/>
                          <a:ea typeface="微软雅黑" panose="020B0503020204020204" pitchFamily="34" charset="-122"/>
                        </a:rPr>
                        <a:t>中出现的次数</a:t>
                      </a:r>
                    </a:p>
                  </a:txBody>
                  <a:tcPr marL="91456" marR="91456" marT="45736" marB="45736"/>
                </a:tc>
                <a:extLst>
                  <a:ext uri="{0D108BD9-81ED-4DB2-BD59-A6C34878D82A}">
                    <a16:rowId xmlns:a16="http://schemas.microsoft.com/office/drawing/2014/main" val="10003"/>
                  </a:ext>
                </a:extLst>
              </a:tr>
              <a:tr h="796412">
                <a:tc>
                  <a:txBody>
                    <a:bodyPr/>
                    <a:lstStyle/>
                    <a:p>
                      <a:r>
                        <a:rPr lang="en-US" altLang="zh-CN" sz="2400" b="0" dirty="0" err="1">
                          <a:latin typeface="微软雅黑" panose="020B0503020204020204" pitchFamily="34" charset="-122"/>
                          <a:ea typeface="微软雅黑" panose="020B0503020204020204" pitchFamily="34" charset="-122"/>
                        </a:rPr>
                        <a:t>tupple.index</a:t>
                      </a:r>
                      <a:r>
                        <a:rPr lang="en-US" altLang="zh-CN" sz="2400" b="0" dirty="0">
                          <a:latin typeface="微软雅黑" panose="020B0503020204020204" pitchFamily="34" charset="-122"/>
                          <a:ea typeface="微软雅黑" panose="020B0503020204020204" pitchFamily="34" charset="-122"/>
                        </a:rPr>
                        <a:t>(x)</a:t>
                      </a:r>
                      <a:endParaRPr lang="zh-CN" altLang="en-US" sz="2400" b="0" dirty="0">
                        <a:latin typeface="微软雅黑" panose="020B0503020204020204" pitchFamily="34" charset="-122"/>
                        <a:ea typeface="微软雅黑" panose="020B0503020204020204" pitchFamily="34" charset="-122"/>
                      </a:endParaRPr>
                    </a:p>
                  </a:txBody>
                  <a:tcPr marL="91456" marR="91456" marT="45736" marB="45736"/>
                </a:tc>
                <a:tc>
                  <a:txBody>
                    <a:bodyPr/>
                    <a:lstStyle/>
                    <a:p>
                      <a:r>
                        <a:rPr lang="zh-CN" altLang="en-US" sz="2400" b="0" dirty="0">
                          <a:latin typeface="微软雅黑" panose="020B0503020204020204" pitchFamily="34" charset="-122"/>
                          <a:ea typeface="微软雅黑" panose="020B0503020204020204" pitchFamily="34" charset="-122"/>
                        </a:rPr>
                        <a:t>元组</a:t>
                      </a:r>
                      <a:r>
                        <a:rPr lang="en-US" altLang="zh-CN" sz="2400" b="0" dirty="0" err="1">
                          <a:latin typeface="微软雅黑" panose="020B0503020204020204" pitchFamily="34" charset="-122"/>
                          <a:ea typeface="微软雅黑" panose="020B0503020204020204" pitchFamily="34" charset="-122"/>
                        </a:rPr>
                        <a:t>tupple</a:t>
                      </a:r>
                      <a:r>
                        <a:rPr lang="zh-CN" altLang="en-US" sz="2400" b="0" dirty="0">
                          <a:latin typeface="微软雅黑" panose="020B0503020204020204" pitchFamily="34" charset="-122"/>
                          <a:ea typeface="微软雅黑" panose="020B0503020204020204" pitchFamily="34" charset="-122"/>
                        </a:rPr>
                        <a:t>中第一个元素</a:t>
                      </a:r>
                      <a:r>
                        <a:rPr lang="en-US" altLang="zh-CN" sz="2400" b="0" dirty="0">
                          <a:latin typeface="微软雅黑" panose="020B0503020204020204" pitchFamily="34" charset="-122"/>
                          <a:ea typeface="微软雅黑" panose="020B0503020204020204" pitchFamily="34" charset="-122"/>
                        </a:rPr>
                        <a:t>x</a:t>
                      </a:r>
                      <a:r>
                        <a:rPr lang="zh-CN" altLang="en-US" sz="2400" b="0" dirty="0">
                          <a:latin typeface="微软雅黑" panose="020B0503020204020204" pitchFamily="34" charset="-122"/>
                          <a:ea typeface="微软雅黑" panose="020B0503020204020204" pitchFamily="34" charset="-122"/>
                        </a:rPr>
                        <a:t>的索引，若</a:t>
                      </a:r>
                      <a:r>
                        <a:rPr lang="en-US" altLang="zh-CN" sz="2400" b="0" dirty="0">
                          <a:latin typeface="微软雅黑" panose="020B0503020204020204" pitchFamily="34" charset="-122"/>
                          <a:ea typeface="微软雅黑" panose="020B0503020204020204" pitchFamily="34" charset="-122"/>
                        </a:rPr>
                        <a:t>x</a:t>
                      </a:r>
                      <a:r>
                        <a:rPr lang="zh-CN" altLang="en-US" sz="2400" b="0" dirty="0">
                          <a:latin typeface="微软雅黑" panose="020B0503020204020204" pitchFamily="34" charset="-122"/>
                          <a:ea typeface="微软雅黑" panose="020B0503020204020204" pitchFamily="34" charset="-122"/>
                        </a:rPr>
                        <a:t>未包含在</a:t>
                      </a:r>
                      <a:r>
                        <a:rPr lang="en-US" altLang="zh-CN" sz="2400" b="0" dirty="0" err="1">
                          <a:latin typeface="微软雅黑" panose="020B0503020204020204" pitchFamily="34" charset="-122"/>
                          <a:ea typeface="微软雅黑" panose="020B0503020204020204" pitchFamily="34" charset="-122"/>
                        </a:rPr>
                        <a:t>tupple</a:t>
                      </a:r>
                      <a:r>
                        <a:rPr lang="zh-CN" altLang="en-US" sz="2400" b="0" dirty="0">
                          <a:latin typeface="微软雅黑" panose="020B0503020204020204" pitchFamily="34" charset="-122"/>
                          <a:ea typeface="微软雅黑" panose="020B0503020204020204" pitchFamily="34" charset="-122"/>
                        </a:rPr>
                        <a:t>中，将引发</a:t>
                      </a:r>
                      <a:r>
                        <a:rPr lang="en-US" altLang="zh-CN" sz="2400" b="0" dirty="0" err="1">
                          <a:latin typeface="微软雅黑" panose="020B0503020204020204" pitchFamily="34" charset="-122"/>
                          <a:ea typeface="微软雅黑" panose="020B0503020204020204" pitchFamily="34" charset="-122"/>
                        </a:rPr>
                        <a:t>ValueError</a:t>
                      </a:r>
                      <a:r>
                        <a:rPr lang="zh-CN" altLang="en-US" sz="2400" b="0" dirty="0">
                          <a:latin typeface="微软雅黑" panose="020B0503020204020204" pitchFamily="34" charset="-122"/>
                          <a:ea typeface="微软雅黑" panose="020B0503020204020204" pitchFamily="34" charset="-122"/>
                        </a:rPr>
                        <a:t>异常</a:t>
                      </a:r>
                    </a:p>
                  </a:txBody>
                  <a:tcPr marL="91456" marR="91456" marT="45736" marB="45736"/>
                </a:tc>
                <a:extLst>
                  <a:ext uri="{0D108BD9-81ED-4DB2-BD59-A6C34878D82A}">
                    <a16:rowId xmlns:a16="http://schemas.microsoft.com/office/drawing/2014/main" val="10004"/>
                  </a:ext>
                </a:extLst>
              </a:tr>
              <a:tr h="796412">
                <a:tc>
                  <a:txBody>
                    <a:bodyPr/>
                    <a:lstStyle/>
                    <a:p>
                      <a:r>
                        <a:rPr lang="en-US" altLang="zh-CN" sz="2400" dirty="0">
                          <a:effectLst/>
                          <a:latin typeface="微软雅黑" panose="020B0503020204020204" pitchFamily="34" charset="-122"/>
                          <a:ea typeface="微软雅黑" panose="020B0503020204020204" pitchFamily="34" charset="-122"/>
                        </a:rPr>
                        <a:t>max(tuple)/min(tuple)</a:t>
                      </a:r>
                      <a:endParaRPr lang="zh-CN" altLang="en-US" sz="2400" b="0" dirty="0">
                        <a:latin typeface="微软雅黑" panose="020B0503020204020204" pitchFamily="34" charset="-122"/>
                        <a:ea typeface="微软雅黑" panose="020B0503020204020204" pitchFamily="34" charset="-122"/>
                      </a:endParaRPr>
                    </a:p>
                  </a:txBody>
                  <a:tcPr marL="91456" marR="91456" marT="45736" marB="45736"/>
                </a:tc>
                <a:tc>
                  <a:txBody>
                    <a:bodyPr/>
                    <a:lstStyle/>
                    <a:p>
                      <a:r>
                        <a:rPr lang="zh-CN" altLang="en-US" sz="2400" dirty="0">
                          <a:effectLst/>
                          <a:latin typeface="微软雅黑" panose="020B0503020204020204" pitchFamily="34" charset="-122"/>
                          <a:ea typeface="微软雅黑" panose="020B0503020204020204" pitchFamily="34" charset="-122"/>
                        </a:rPr>
                        <a:t>返回元组中元素最大值</a:t>
                      </a:r>
                      <a:r>
                        <a:rPr lang="en-US" altLang="zh-CN" sz="2400" dirty="0">
                          <a:effectLst/>
                          <a:latin typeface="微软雅黑" panose="020B0503020204020204" pitchFamily="34" charset="-122"/>
                          <a:ea typeface="微软雅黑" panose="020B0503020204020204" pitchFamily="34" charset="-122"/>
                        </a:rPr>
                        <a:t>/</a:t>
                      </a:r>
                      <a:r>
                        <a:rPr lang="zh-CN" altLang="en-US" sz="2400" dirty="0">
                          <a:effectLst/>
                          <a:latin typeface="微软雅黑" panose="020B0503020204020204" pitchFamily="34" charset="-122"/>
                          <a:ea typeface="微软雅黑" panose="020B0503020204020204" pitchFamily="34" charset="-122"/>
                        </a:rPr>
                        <a:t>最小值。</a:t>
                      </a:r>
                      <a:endParaRPr lang="zh-CN" altLang="en-US" sz="2400" b="0" dirty="0">
                        <a:latin typeface="微软雅黑" panose="020B0503020204020204" pitchFamily="34" charset="-122"/>
                        <a:ea typeface="微软雅黑" panose="020B0503020204020204" pitchFamily="34" charset="-122"/>
                      </a:endParaRPr>
                    </a:p>
                  </a:txBody>
                  <a:tcPr marL="91456" marR="91456" marT="45736" marB="45736"/>
                </a:tc>
                <a:extLst>
                  <a:ext uri="{0D108BD9-81ED-4DB2-BD59-A6C34878D82A}">
                    <a16:rowId xmlns:a16="http://schemas.microsoft.com/office/drawing/2014/main" val="10005"/>
                  </a:ext>
                </a:extLst>
              </a:tr>
              <a:tr h="796412">
                <a:tc>
                  <a:txBody>
                    <a:bodyPr/>
                    <a:lstStyle/>
                    <a:p>
                      <a:r>
                        <a:rPr lang="en-US" altLang="zh-CN" sz="2400" dirty="0">
                          <a:effectLst/>
                          <a:latin typeface="微软雅黑" panose="020B0503020204020204" pitchFamily="34" charset="-122"/>
                          <a:ea typeface="微软雅黑" panose="020B0503020204020204" pitchFamily="34" charset="-122"/>
                        </a:rPr>
                        <a:t>tuple(</a:t>
                      </a:r>
                      <a:r>
                        <a:rPr lang="en-US" altLang="zh-CN" sz="2400" dirty="0" err="1">
                          <a:effectLst/>
                          <a:latin typeface="微软雅黑" panose="020B0503020204020204" pitchFamily="34" charset="-122"/>
                          <a:ea typeface="微软雅黑" panose="020B0503020204020204" pitchFamily="34" charset="-122"/>
                        </a:rPr>
                        <a:t>seq</a:t>
                      </a:r>
                      <a:r>
                        <a:rPr lang="en-US" altLang="zh-CN" sz="2400" dirty="0">
                          <a:effectLst/>
                          <a:latin typeface="微软雅黑" panose="020B0503020204020204" pitchFamily="34" charset="-122"/>
                          <a:ea typeface="微软雅黑" panose="020B0503020204020204" pitchFamily="34" charset="-122"/>
                        </a:rPr>
                        <a:t>)</a:t>
                      </a:r>
                      <a:endParaRPr lang="zh-CN" altLang="en-US" sz="2400" b="0" dirty="0">
                        <a:latin typeface="微软雅黑" panose="020B0503020204020204" pitchFamily="34" charset="-122"/>
                        <a:ea typeface="微软雅黑" panose="020B0503020204020204" pitchFamily="34" charset="-122"/>
                      </a:endParaRPr>
                    </a:p>
                  </a:txBody>
                  <a:tcPr marL="91456" marR="91456" marT="45736" marB="45736"/>
                </a:tc>
                <a:tc>
                  <a:txBody>
                    <a:bodyPr/>
                    <a:lstStyle/>
                    <a:p>
                      <a:pPr marL="0" marR="0" indent="0" algn="l" defTabSz="1219200" rtl="0" eaLnBrk="1" fontAlgn="auto" latinLnBrk="0" hangingPunct="1">
                        <a:lnSpc>
                          <a:spcPct val="100000"/>
                        </a:lnSpc>
                        <a:spcBef>
                          <a:spcPts val="0"/>
                        </a:spcBef>
                        <a:spcAft>
                          <a:spcPts val="0"/>
                        </a:spcAft>
                        <a:buClrTx/>
                        <a:buSzTx/>
                        <a:buFontTx/>
                        <a:buNone/>
                        <a:defRPr/>
                      </a:pPr>
                      <a:r>
                        <a:rPr lang="zh-CN" altLang="en-US" sz="2400" dirty="0">
                          <a:effectLst/>
                          <a:latin typeface="微软雅黑" panose="020B0503020204020204" pitchFamily="34" charset="-122"/>
                          <a:ea typeface="微软雅黑" panose="020B0503020204020204" pitchFamily="34" charset="-122"/>
                        </a:rPr>
                        <a:t>将列表转换为元组</a:t>
                      </a:r>
                      <a:endParaRPr lang="zh-CN" altLang="en-US" sz="2400" b="0" dirty="0">
                        <a:latin typeface="微软雅黑" panose="020B0503020204020204" pitchFamily="34" charset="-122"/>
                        <a:ea typeface="微软雅黑" panose="020B0503020204020204" pitchFamily="34" charset="-122"/>
                      </a:endParaRPr>
                    </a:p>
                  </a:txBody>
                  <a:tcPr marL="91456" marR="91456" marT="45736" marB="45736"/>
                </a:tc>
                <a:extLst>
                  <a:ext uri="{0D108BD9-81ED-4DB2-BD59-A6C34878D82A}">
                    <a16:rowId xmlns:a16="http://schemas.microsoft.com/office/drawing/2014/main" val="10006"/>
                  </a:ext>
                </a:extLst>
              </a:tr>
            </a:tbl>
          </a:graphicData>
        </a:graphic>
      </p:graphicFrame>
      <p:sp>
        <p:nvSpPr>
          <p:cNvPr id="7"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Tree>
  </p:cSld>
  <p:clrMapOvr>
    <a:masterClrMapping/>
  </p:clrMapOvr>
  <p:transition spd="slow" advTm="0"/>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54835" y="899671"/>
            <a:ext cx="4032447" cy="52260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方正大黑简体" panose="03000509000000000000" pitchFamily="2" charset="-122"/>
                <a:ea typeface="方正大黑简体" panose="03000509000000000000" pitchFamily="2" charset="-122"/>
              </a:rPr>
              <a:t>元组</a:t>
            </a: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方正大黑简体" panose="03000509000000000000" pitchFamily="2" charset="-122"/>
                <a:ea typeface="方正大黑简体" panose="03000509000000000000" pitchFamily="2" charset="-122"/>
              </a:rPr>
              <a:t>和</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方正大黑简体" panose="03000509000000000000" pitchFamily="2" charset="-122"/>
                <a:ea typeface="方正大黑简体" panose="03000509000000000000" pitchFamily="2" charset="-122"/>
              </a:rPr>
              <a:t>列表</a:t>
            </a: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方正大黑简体" panose="03000509000000000000" pitchFamily="2" charset="-122"/>
                <a:ea typeface="方正大黑简体" panose="03000509000000000000" pitchFamily="2" charset="-122"/>
              </a:rPr>
              <a:t>的异同</a:t>
            </a:r>
          </a:p>
        </p:txBody>
      </p:sp>
      <p:sp>
        <p:nvSpPr>
          <p:cNvPr id="7"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3" name="内容占位符 2"/>
          <p:cNvSpPr>
            <a:spLocks noGrp="1"/>
          </p:cNvSpPr>
          <p:nvPr/>
        </p:nvSpPr>
        <p:spPr>
          <a:xfrm>
            <a:off x="841375" y="1600835"/>
            <a:ext cx="10515600" cy="4639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列表和元组都属于有序序列，都支持使用双向索引访问其中的元素，以及使用count()方法统计指定元素的出现次数和index()方法获取指定元素的索引，len()、map()、filter()等大量内置函数和+、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、in等运算符也都可以作用于列表和元组。</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54835" y="899671"/>
            <a:ext cx="4032447" cy="522605"/>
          </a:xfrm>
        </p:spPr>
        <p:txBody>
          <a:bodyPr vert="horz" wrap="square" lIns="91456" tIns="45728" rIns="91456" bIns="45728" numCol="1" anchor="b" anchorCtr="0" compatLnSpc="1"/>
          <a:lstStyle/>
          <a:p>
            <a:pPr lvl="0" algn="l" defTabSz="914400" eaLnBrk="0" fontAlgn="base" hangingPunct="0">
              <a:lnSpc>
                <a:spcPct val="90000"/>
              </a:lnSpc>
              <a:spcAft>
                <a:spcPct val="0"/>
              </a:spcAft>
              <a:defRPr/>
            </a:pPr>
            <a:r>
              <a:rPr lang="zh-CN" altLang="en-US" sz="3200" b="1" kern="0" dirty="0">
                <a:solidFill>
                  <a:srgbClr val="FF0000"/>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元组</a:t>
            </a:r>
            <a:r>
              <a:rPr lang="zh-CN" altLang="en-US" sz="3200" b="1" kern="0" dirty="0">
                <a:solidFill>
                  <a:schemeClr val="tx2"/>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和</a:t>
            </a:r>
            <a:r>
              <a:rPr lang="zh-CN" altLang="en-US" sz="3200" b="1" kern="0" dirty="0">
                <a:solidFill>
                  <a:srgbClr val="FF0000"/>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列表</a:t>
            </a: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方正大黑简体" panose="03000509000000000000" pitchFamily="2" charset="-122"/>
                <a:ea typeface="方正大黑简体" panose="03000509000000000000" pitchFamily="2" charset="-122"/>
              </a:rPr>
              <a:t>的异同</a:t>
            </a:r>
          </a:p>
        </p:txBody>
      </p:sp>
      <p:sp>
        <p:nvSpPr>
          <p:cNvPr id="7"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4" name="内容占位符 2"/>
          <p:cNvSpPr>
            <a:spLocks noGrp="1"/>
          </p:cNvSpPr>
          <p:nvPr/>
        </p:nvSpPr>
        <p:spPr>
          <a:xfrm>
            <a:off x="841375" y="1422400"/>
            <a:ext cx="10515600" cy="4639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50000"/>
              </a:lnSpc>
              <a:spcBef>
                <a:spcPts val="40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元组属于</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不可变</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（immutable）序列，不可以直接修改元组中元素的值，也无法为元组增加或删除元素。</a:t>
            </a:r>
          </a:p>
          <a:p>
            <a:pPr fontAlgn="auto">
              <a:lnSpc>
                <a:spcPct val="150000"/>
              </a:lnSpc>
              <a:spcBef>
                <a:spcPts val="40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元组没有提供append()、extend()和insert()等方法，无法向元组中添加元素；同样，元组也没有remove()和pop()方法，也不支持对元组元素进行del操作，不能从元组中删除元素，而只能使用del命令删除整个元组。</a:t>
            </a:r>
          </a:p>
          <a:p>
            <a:pPr fontAlgn="auto">
              <a:lnSpc>
                <a:spcPct val="150000"/>
              </a:lnSpc>
              <a:spcBef>
                <a:spcPts val="40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元组也支持切片操作，但是只能通过切片来访问元组中的元素，而不允许使用切片来修改元组中元素的值，也不支持使用切片操作来为元组增加或删除元素。</a:t>
            </a:r>
          </a:p>
        </p:txBody>
      </p:sp>
    </p:spTree>
  </p:cSld>
  <p:clrMapOvr>
    <a:masterClrMapping/>
  </p:clrMapOvr>
  <p:transition spd="slow" advTm="0"/>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54835" y="899671"/>
            <a:ext cx="4032447" cy="522605"/>
          </a:xfrm>
        </p:spPr>
        <p:txBody>
          <a:bodyPr vert="horz" wrap="square" lIns="91456" tIns="45728" rIns="91456" bIns="45728" numCol="1" anchor="b" anchorCtr="0" compatLnSpc="1"/>
          <a:lstStyle/>
          <a:p>
            <a:pPr lvl="0" algn="l" defTabSz="914400" eaLnBrk="0" fontAlgn="base" hangingPunct="0">
              <a:lnSpc>
                <a:spcPct val="90000"/>
              </a:lnSpc>
              <a:spcAft>
                <a:spcPct val="0"/>
              </a:spcAft>
              <a:defRPr/>
            </a:pPr>
            <a:r>
              <a:rPr lang="zh-CN" altLang="en-US" sz="3200" b="1" kern="0" dirty="0">
                <a:solidFill>
                  <a:srgbClr val="FF0000"/>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元组</a:t>
            </a:r>
            <a:r>
              <a:rPr lang="zh-CN" altLang="en-US" sz="3200" b="1" kern="0" dirty="0">
                <a:solidFill>
                  <a:schemeClr val="tx2"/>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和</a:t>
            </a:r>
            <a:r>
              <a:rPr lang="zh-CN" altLang="en-US" sz="3200" b="1" kern="0" dirty="0">
                <a:solidFill>
                  <a:srgbClr val="FF0000"/>
                </a:solidFill>
                <a:effectLst>
                  <a:outerShdw blurRad="38100" dist="38100" dir="2700000" algn="tl">
                    <a:srgbClr val="C0C0C0"/>
                  </a:outerShdw>
                </a:effectLst>
                <a:latin typeface="方正大黑简体" panose="03000509000000000000" pitchFamily="2" charset="-122"/>
                <a:ea typeface="方正大黑简体" panose="03000509000000000000" pitchFamily="2" charset="-122"/>
              </a:rPr>
              <a:t>列表</a:t>
            </a: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方正大黑简体" panose="03000509000000000000" pitchFamily="2" charset="-122"/>
                <a:ea typeface="方正大黑简体" panose="03000509000000000000" pitchFamily="2" charset="-122"/>
              </a:rPr>
              <a:t>的异同</a:t>
            </a:r>
          </a:p>
        </p:txBody>
      </p:sp>
      <p:sp>
        <p:nvSpPr>
          <p:cNvPr id="7" name="标题 1"/>
          <p:cNvSpPr txBox="1"/>
          <p:nvPr/>
        </p:nvSpPr>
        <p:spPr>
          <a:xfrm>
            <a:off x="8835479" y="189434"/>
            <a:ext cx="3107451" cy="580394"/>
          </a:xfrm>
        </p:spPr>
        <p:txBody>
          <a:bodyPr vert="horz" wrap="square" lIns="91456" tIns="45728" rIns="91456" bIns="45728" numCol="1" anchor="b" anchorCtr="0" compatLnSpc="1">
            <a:noAutofit/>
          </a:bodyPr>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pPr>
            <a:r>
              <a:rPr lang="zh-CN" altLang="en-US" sz="2800" b="1" kern="0" dirty="0">
                <a:solidFill>
                  <a:schemeClr val="bg1"/>
                </a:solidFill>
                <a:latin typeface="微软雅黑" panose="020B0503020204020204" pitchFamily="34" charset="-122"/>
                <a:ea typeface="微软雅黑" panose="020B0503020204020204" pitchFamily="34" charset="-122"/>
              </a:rPr>
              <a:t>3.3 元组</a:t>
            </a:r>
          </a:p>
        </p:txBody>
      </p:sp>
      <p:sp>
        <p:nvSpPr>
          <p:cNvPr id="3" name="内容占位符 2"/>
          <p:cNvSpPr>
            <a:spLocks noGrp="1"/>
          </p:cNvSpPr>
          <p:nvPr/>
        </p:nvSpPr>
        <p:spPr>
          <a:xfrm>
            <a:off x="841375" y="1511300"/>
            <a:ext cx="10515600" cy="4639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50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Python的内部实现对元组做了大量优化，</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访问速度比列表更快</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。如果定义了一系列常量值，主要用途仅是对它们进行遍历或其他类似用途，而不需要对其元素进行任何修改，那么一般建议使用元组而不用列表。</a:t>
            </a:r>
          </a:p>
          <a:p>
            <a:pPr algn="just" fontAlgn="auto">
              <a:lnSpc>
                <a:spcPct val="150000"/>
              </a:lnSpc>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元组在内部实现上不允许修改其元素值，从而使得</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代码更加安全</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，例如调用函数时使用元组传递参数可以防止在函数中修改元组，而使用列表则很难保证这一点。</a:t>
            </a:r>
          </a:p>
        </p:txBody>
      </p:sp>
    </p:spTree>
  </p:cSld>
  <p:clrMapOvr>
    <a:masterClrMapping/>
  </p:clrMapOvr>
  <p:transition spd="slow" advTm="0"/>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nvSpPr>
        <p:spPr>
          <a:xfrm>
            <a:off x="1070610" y="1561465"/>
            <a:ext cx="10206990" cy="14605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lvl="0" algn="l">
              <a:buNone/>
            </a:pPr>
            <a:r>
              <a:rPr lang="en-US" altLang="zh-CN" sz="2200" dirty="0" err="1">
                <a:latin typeface="Tahoma" panose="020B0604030504040204" pitchFamily="34" charset="0"/>
                <a:cs typeface="Tahoma" panose="020B0604030504040204" pitchFamily="34" charset="0"/>
              </a:rPr>
              <a:t>1</a:t>
            </a:r>
            <a:r>
              <a:rPr altLang="en-US" sz="2200" dirty="0" err="1">
                <a:latin typeface="Tahoma" panose="020B0604030504040204" pitchFamily="34" charset="0"/>
                <a:cs typeface="Tahoma" panose="020B0604030504040204" pitchFamily="34" charset="0"/>
              </a:rPr>
              <a:t>、</a:t>
            </a:r>
            <a:r>
              <a:rPr lang="en-US" altLang="zh-CN" sz="2200" dirty="0">
                <a:solidFill>
                  <a:srgbClr val="000000"/>
                </a:solidFill>
                <a:latin typeface="微软雅黑" panose="020B0503020204020204" pitchFamily="34" charset="-122"/>
                <a:ea typeface="微软雅黑" panose="020B0503020204020204" pitchFamily="34" charset="-122"/>
                <a:sym typeface="+mn-ea"/>
              </a:rPr>
              <a:t>fruits=['</a:t>
            </a:r>
            <a:r>
              <a:rPr lang="en-US" altLang="zh-CN" sz="2200" dirty="0" err="1">
                <a:solidFill>
                  <a:srgbClr val="000000"/>
                </a:solidFill>
                <a:latin typeface="微软雅黑" panose="020B0503020204020204" pitchFamily="34" charset="-122"/>
                <a:ea typeface="微软雅黑" panose="020B0503020204020204" pitchFamily="34" charset="-122"/>
                <a:sym typeface="+mn-ea"/>
              </a:rPr>
              <a:t>apple','banana','pear</a:t>
            </a:r>
            <a:r>
              <a:rPr lang="en-US" altLang="zh-CN" sz="2200" dirty="0">
                <a:solidFill>
                  <a:srgbClr val="000000"/>
                </a:solidFill>
                <a:latin typeface="微软雅黑" panose="020B0503020204020204" pitchFamily="34" charset="-122"/>
                <a:ea typeface="微软雅黑" panose="020B0503020204020204" pitchFamily="34" charset="-122"/>
                <a:sym typeface="+mn-ea"/>
              </a:rPr>
              <a:t>']</a:t>
            </a:r>
          </a:p>
          <a:p>
            <a:pPr lvl="0" algn="l">
              <a:buNone/>
            </a:pPr>
            <a:r>
              <a:rPr lang="en-US" altLang="zh-CN" sz="2200" dirty="0">
                <a:solidFill>
                  <a:srgbClr val="000000"/>
                </a:solidFill>
                <a:latin typeface="微软雅黑" panose="020B0503020204020204" pitchFamily="34" charset="-122"/>
                <a:ea typeface="微软雅黑" panose="020B0503020204020204" pitchFamily="34" charset="-122"/>
                <a:sym typeface="+mn-ea"/>
              </a:rPr>
              <a:t>      print(fruits[-1][-1])</a:t>
            </a:r>
            <a:endParaRPr lang="zh-CN" altLang="en-US" sz="2200" dirty="0">
              <a:solidFill>
                <a:srgbClr val="000000"/>
              </a:solidFill>
              <a:latin typeface="微软雅黑" panose="020B0503020204020204" pitchFamily="34" charset="-122"/>
              <a:ea typeface="微软雅黑" panose="020B0503020204020204" pitchFamily="34" charset="-122"/>
            </a:endParaRPr>
          </a:p>
          <a:p>
            <a:pPr lvl="0" algn="l">
              <a:buNone/>
            </a:pPr>
            <a:r>
              <a:rPr altLang="en-US" sz="2200" dirty="0">
                <a:solidFill>
                  <a:srgbClr val="000000"/>
                </a:solidFill>
                <a:latin typeface="微软雅黑" panose="020B0503020204020204" pitchFamily="34" charset="-122"/>
                <a:ea typeface="微软雅黑" panose="020B0503020204020204" pitchFamily="34" charset="-122"/>
                <a:sym typeface="+mn-ea"/>
              </a:rPr>
              <a:t>     程序输出结果？</a:t>
            </a:r>
            <a:endParaRPr altLang="en-US" sz="2200" dirty="0">
              <a:latin typeface="Tahoma" panose="020B0604030504040204" pitchFamily="34" charset="0"/>
              <a:cs typeface="Tahoma" panose="020B0604030504040204" pitchFamily="34" charset="0"/>
            </a:endParaRPr>
          </a:p>
        </p:txBody>
      </p:sp>
      <p:sp>
        <p:nvSpPr>
          <p:cNvPr id="4" name="标题 1"/>
          <p:cNvSpPr>
            <a:spLocks noGrp="1"/>
          </p:cNvSpPr>
          <p:nvPr/>
        </p:nvSpPr>
        <p:spPr>
          <a:xfrm>
            <a:off x="731520" y="908050"/>
            <a:ext cx="1837055" cy="653415"/>
          </a:xfrm>
          <a:prstGeom prst="rect">
            <a:avLst/>
          </a:prstGeom>
          <a:ln>
            <a:no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altLang="en-US" sz="2800" dirty="0">
                <a:solidFill>
                  <a:srgbClr val="FF0000"/>
                </a:solidFill>
                <a:latin typeface="方正大黑简体" panose="03000509000000000000" pitchFamily="2" charset="-122"/>
                <a:ea typeface="方正大黑简体" panose="03000509000000000000" pitchFamily="2" charset="-122"/>
              </a:rPr>
              <a:t>思考：</a:t>
            </a:r>
          </a:p>
        </p:txBody>
      </p:sp>
      <p:sp>
        <p:nvSpPr>
          <p:cNvPr id="5" name="内容占位符 2"/>
          <p:cNvSpPr>
            <a:spLocks noGrp="1"/>
          </p:cNvSpPr>
          <p:nvPr/>
        </p:nvSpPr>
        <p:spPr>
          <a:xfrm>
            <a:off x="1070610" y="3027457"/>
            <a:ext cx="10206990" cy="264477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lvl="0" algn="l">
              <a:buNone/>
            </a:pPr>
            <a:r>
              <a:rPr lang="en-US" altLang="zh-CN" sz="2200" dirty="0" err="1">
                <a:latin typeface="Tahoma" panose="020B0604030504040204" pitchFamily="34" charset="0"/>
                <a:cs typeface="Tahoma" panose="020B0604030504040204" pitchFamily="34" charset="0"/>
              </a:rPr>
              <a:t>2</a:t>
            </a:r>
            <a:r>
              <a:rPr altLang="en-US" sz="2200" dirty="0">
                <a:latin typeface="Tahoma" panose="020B0604030504040204" pitchFamily="34" charset="0"/>
                <a:cs typeface="Tahoma" panose="020B0604030504040204" pitchFamily="34" charset="0"/>
              </a:rPr>
              <a:t>、</a:t>
            </a:r>
            <a:r>
              <a:rPr altLang="en-US" sz="2200" dirty="0">
                <a:solidFill>
                  <a:srgbClr val="000000"/>
                </a:solidFill>
                <a:latin typeface="微软雅黑" panose="020B0503020204020204" pitchFamily="34" charset="-122"/>
                <a:ea typeface="微软雅黑" panose="020B0503020204020204" pitchFamily="34" charset="-122"/>
                <a:sym typeface="+mn-ea"/>
              </a:rPr>
              <a:t>在python中，设有s=[1,2,3,4,5,6]，执行下列语句序列后：</a:t>
            </a:r>
          </a:p>
          <a:p>
            <a:pPr lvl="0" algn="l">
              <a:buNone/>
            </a:pPr>
            <a:r>
              <a:rPr altLang="en-US" sz="2200" dirty="0">
                <a:solidFill>
                  <a:srgbClr val="000000"/>
                </a:solidFill>
                <a:latin typeface="微软雅黑" panose="020B0503020204020204" pitchFamily="34" charset="-122"/>
                <a:ea typeface="微软雅黑" panose="020B0503020204020204" pitchFamily="34" charset="-122"/>
                <a:sym typeface="+mn-ea"/>
              </a:rPr>
              <a:t>s[:1]=[]</a:t>
            </a:r>
          </a:p>
          <a:p>
            <a:pPr lvl="0" algn="l">
              <a:buNone/>
            </a:pPr>
            <a:r>
              <a:rPr altLang="en-US" sz="2200" dirty="0">
                <a:solidFill>
                  <a:srgbClr val="000000"/>
                </a:solidFill>
                <a:latin typeface="微软雅黑" panose="020B0503020204020204" pitchFamily="34" charset="-122"/>
                <a:ea typeface="微软雅黑" panose="020B0503020204020204" pitchFamily="34" charset="-122"/>
                <a:sym typeface="+mn-ea"/>
              </a:rPr>
              <a:t>s[:2]='a'</a:t>
            </a:r>
          </a:p>
          <a:p>
            <a:pPr lvl="0" algn="l">
              <a:buNone/>
            </a:pPr>
            <a:r>
              <a:rPr altLang="en-US" sz="2200" dirty="0">
                <a:solidFill>
                  <a:srgbClr val="000000"/>
                </a:solidFill>
                <a:latin typeface="微软雅黑" panose="020B0503020204020204" pitchFamily="34" charset="-122"/>
                <a:ea typeface="微软雅黑" panose="020B0503020204020204" pitchFamily="34" charset="-122"/>
                <a:sym typeface="+mn-ea"/>
              </a:rPr>
              <a:t>s[2:]='b'</a:t>
            </a:r>
          </a:p>
          <a:p>
            <a:pPr lvl="0" algn="l">
              <a:buNone/>
            </a:pPr>
            <a:r>
              <a:rPr altLang="en-US" sz="2200" dirty="0">
                <a:solidFill>
                  <a:srgbClr val="000000"/>
                </a:solidFill>
                <a:latin typeface="微软雅黑" panose="020B0503020204020204" pitchFamily="34" charset="-122"/>
                <a:ea typeface="微软雅黑" panose="020B0503020204020204" pitchFamily="34" charset="-122"/>
                <a:sym typeface="+mn-ea"/>
              </a:rPr>
              <a:t>s[2:3]=['x','y']</a:t>
            </a:r>
          </a:p>
          <a:p>
            <a:pPr lvl="0" algn="l">
              <a:buNone/>
            </a:pPr>
            <a:r>
              <a:rPr altLang="en-US" sz="2200" dirty="0">
                <a:solidFill>
                  <a:srgbClr val="000000"/>
                </a:solidFill>
                <a:latin typeface="微软雅黑" panose="020B0503020204020204" pitchFamily="34" charset="-122"/>
                <a:ea typeface="微软雅黑" panose="020B0503020204020204" pitchFamily="34" charset="-122"/>
                <a:sym typeface="+mn-ea"/>
              </a:rPr>
              <a:t>del s[:1]</a:t>
            </a:r>
          </a:p>
          <a:p>
            <a:pPr lvl="0" algn="l">
              <a:buNone/>
            </a:pPr>
            <a:r>
              <a:rPr altLang="en-US" sz="2200" dirty="0">
                <a:solidFill>
                  <a:srgbClr val="000000"/>
                </a:solidFill>
                <a:latin typeface="微软雅黑" panose="020B0503020204020204" pitchFamily="34" charset="-122"/>
                <a:ea typeface="微软雅黑" panose="020B0503020204020204" pitchFamily="34" charset="-122"/>
                <a:sym typeface="+mn-ea"/>
              </a:rPr>
              <a:t>s的值为 </a:t>
            </a:r>
            <a:endParaRPr altLang="en-US" sz="2200" dirty="0">
              <a:latin typeface="Tahoma" panose="020B0604030504040204" pitchFamily="34" charset="0"/>
              <a:cs typeface="Tahoma" panose="020B0604030504040204" pitchFamily="34" charset="0"/>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nvSpPr>
        <p:spPr>
          <a:xfrm>
            <a:off x="1070610" y="1561465"/>
            <a:ext cx="10206990" cy="14605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lvl="0" algn="l">
              <a:buNone/>
            </a:pPr>
            <a:r>
              <a:rPr lang="en-US" altLang="zh-CN" sz="2200" dirty="0" err="1">
                <a:latin typeface="Tahoma" panose="020B0604030504040204" pitchFamily="34" charset="0"/>
                <a:cs typeface="Tahoma" panose="020B0604030504040204" pitchFamily="34" charset="0"/>
              </a:rPr>
              <a:t>3</a:t>
            </a:r>
            <a:r>
              <a:rPr altLang="en-US" sz="2200" dirty="0" err="1">
                <a:latin typeface="Tahoma" panose="020B0604030504040204" pitchFamily="34" charset="0"/>
                <a:cs typeface="Tahoma" panose="020B0604030504040204" pitchFamily="34" charset="0"/>
              </a:rPr>
              <a:t>、</a:t>
            </a:r>
            <a:r>
              <a:rPr lang="en-US" altLang="zh-CN" sz="2200" dirty="0" err="1">
                <a:solidFill>
                  <a:srgbClr val="000000"/>
                </a:solidFill>
                <a:latin typeface="微软雅黑" panose="020B0503020204020204" pitchFamily="34" charset="-122"/>
                <a:ea typeface="微软雅黑" panose="020B0503020204020204" pitchFamily="34" charset="-122"/>
                <a:sym typeface="+mn-ea"/>
              </a:rPr>
              <a:t>tup</a:t>
            </a:r>
            <a:r>
              <a:rPr lang="en-US" altLang="zh-CN" sz="2200" dirty="0">
                <a:solidFill>
                  <a:srgbClr val="000000"/>
                </a:solidFill>
                <a:latin typeface="微软雅黑" panose="020B0503020204020204" pitchFamily="34" charset="-122"/>
                <a:ea typeface="微软雅黑" panose="020B0503020204020204" pitchFamily="34" charset="-122"/>
                <a:sym typeface="+mn-ea"/>
              </a:rPr>
              <a:t>=(1,3,2,7,0)</a:t>
            </a:r>
          </a:p>
          <a:p>
            <a:pPr lvl="0" algn="l">
              <a:buNone/>
            </a:pPr>
            <a:r>
              <a:rPr lang="en-US" altLang="zh-CN" sz="2200" dirty="0">
                <a:latin typeface="Tahoma" panose="020B0604030504040204" pitchFamily="34" charset="0"/>
                <a:cs typeface="Tahoma" panose="020B0604030504040204" pitchFamily="34" charset="0"/>
              </a:rPr>
              <a:t>      sort(tup)</a:t>
            </a:r>
          </a:p>
          <a:p>
            <a:pPr lvl="0" algn="l">
              <a:buNone/>
            </a:pPr>
            <a:r>
              <a:rPr altLang="en-US" sz="2200" dirty="0">
                <a:latin typeface="Tahoma" panose="020B0604030504040204" pitchFamily="34" charset="0"/>
                <a:cs typeface="Tahoma" panose="020B0604030504040204" pitchFamily="34" charset="0"/>
              </a:rPr>
              <a:t>程序的结果为？</a:t>
            </a:r>
          </a:p>
        </p:txBody>
      </p:sp>
      <p:sp>
        <p:nvSpPr>
          <p:cNvPr id="4" name="标题 1"/>
          <p:cNvSpPr>
            <a:spLocks noGrp="1"/>
          </p:cNvSpPr>
          <p:nvPr/>
        </p:nvSpPr>
        <p:spPr>
          <a:xfrm>
            <a:off x="731520" y="908050"/>
            <a:ext cx="1837055" cy="653415"/>
          </a:xfrm>
          <a:prstGeom prst="rect">
            <a:avLst/>
          </a:prstGeom>
          <a:ln>
            <a:no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altLang="en-US" sz="2800" dirty="0">
                <a:solidFill>
                  <a:srgbClr val="FF0000"/>
                </a:solidFill>
                <a:latin typeface="方正大黑简体" panose="03000509000000000000" pitchFamily="2" charset="-122"/>
                <a:ea typeface="方正大黑简体" panose="03000509000000000000" pitchFamily="2" charset="-122"/>
              </a:rPr>
              <a:t>思考：</a:t>
            </a:r>
          </a:p>
        </p:txBody>
      </p:sp>
      <p:sp>
        <p:nvSpPr>
          <p:cNvPr id="5" name="内容占位符 2"/>
          <p:cNvSpPr>
            <a:spLocks noGrp="1"/>
          </p:cNvSpPr>
          <p:nvPr/>
        </p:nvSpPr>
        <p:spPr>
          <a:xfrm>
            <a:off x="1070610" y="2781722"/>
            <a:ext cx="10206990" cy="276055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pPr>
              <a:buNone/>
            </a:pPr>
            <a:r>
              <a:rPr lang="zh-CN" altLang="en-US" sz="2200" dirty="0">
                <a:latin typeface="Tahoma" panose="020B0604030504040204" pitchFamily="34" charset="0"/>
                <a:cs typeface="Tahoma" panose="020B0604030504040204" pitchFamily="34" charset="0"/>
              </a:rPr>
              <a:t>执行</a:t>
            </a:r>
            <a:r>
              <a:rPr lang="en-US" altLang="zh-CN" sz="2200" dirty="0">
                <a:latin typeface="Tahoma" panose="020B0604030504040204" pitchFamily="34" charset="0"/>
                <a:cs typeface="Tahoma" panose="020B0604030504040204" pitchFamily="34" charset="0"/>
              </a:rPr>
              <a:t>sorted(tup)</a:t>
            </a:r>
            <a:r>
              <a:rPr lang="zh-CN" altLang="en-US" sz="2200" dirty="0">
                <a:latin typeface="Tahoma" panose="020B0604030504040204" pitchFamily="34" charset="0"/>
                <a:cs typeface="Tahoma" panose="020B0604030504040204" pitchFamily="34" charset="0"/>
              </a:rPr>
              <a:t>输出结果为？</a:t>
            </a:r>
            <a:endParaRPr lang="en-US" altLang="zh-CN" sz="2200" dirty="0">
              <a:latin typeface="Tahoma" panose="020B0604030504040204" pitchFamily="34" charset="0"/>
              <a:cs typeface="Tahoma" panose="020B0604030504040204" pitchFamily="34" charset="0"/>
            </a:endParaRPr>
          </a:p>
          <a:p>
            <a:pPr lvl="0" algn="l">
              <a:buNone/>
            </a:pPr>
            <a:r>
              <a:rPr lang="en-US" altLang="zh-CN" sz="2200" dirty="0" err="1">
                <a:latin typeface="Tahoma" panose="020B0604030504040204" pitchFamily="34" charset="0"/>
                <a:cs typeface="Tahoma" panose="020B0604030504040204" pitchFamily="34" charset="0"/>
              </a:rPr>
              <a:t>执</a:t>
            </a:r>
            <a:r>
              <a:rPr altLang="en-US" sz="2200" dirty="0" err="1">
                <a:latin typeface="Tahoma" panose="020B0604030504040204" pitchFamily="34" charset="0"/>
                <a:cs typeface="Tahoma" panose="020B0604030504040204" pitchFamily="34" charset="0"/>
              </a:rPr>
              <a:t>行</a:t>
            </a:r>
            <a:r>
              <a:rPr lang="en-US" altLang="zh-CN" sz="2200" dirty="0" err="1">
                <a:latin typeface="Tahoma" panose="020B0604030504040204" pitchFamily="34" charset="0"/>
                <a:cs typeface="Tahoma" panose="020B0604030504040204" pitchFamily="34" charset="0"/>
              </a:rPr>
              <a:t>del tup[0]</a:t>
            </a:r>
            <a:r>
              <a:rPr altLang="en-US" sz="2200" dirty="0" err="1">
                <a:latin typeface="Tahoma" panose="020B0604030504040204" pitchFamily="34" charset="0"/>
                <a:cs typeface="Tahoma" panose="020B0604030504040204" pitchFamily="34" charset="0"/>
              </a:rPr>
              <a:t>输出结果为？</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5"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0" y="3810736"/>
            <a:ext cx="12198448" cy="3048588"/>
          </a:xfrm>
          <a:prstGeom prst="rect">
            <a:avLst/>
          </a:prstGeom>
          <a:pattFill prst="dkHorz">
            <a:fgClr>
              <a:srgbClr val="F2F2F2"/>
            </a:fgClr>
            <a:bgClr>
              <a:srgbClr val="FFFFFF"/>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p:cNvSpPr/>
          <p:nvPr>
            <p:custDataLst>
              <p:tags r:id="rId3"/>
            </p:custDataLst>
          </p:nvPr>
        </p:nvSpPr>
        <p:spPr>
          <a:xfrm>
            <a:off x="1677254" y="914251"/>
            <a:ext cx="8843875" cy="853503"/>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32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1"/>
          <p:cNvSpPr/>
          <p:nvPr>
            <p:custDataLst>
              <p:tags r:id="rId4"/>
            </p:custDataLst>
          </p:nvPr>
        </p:nvSpPr>
        <p:spPr>
          <a:xfrm>
            <a:off x="1677241" y="2194436"/>
            <a:ext cx="8843875" cy="3777441"/>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custDataLst>
              <p:tags r:id="rId5"/>
            </p:custDataLst>
          </p:nvPr>
        </p:nvSpPr>
        <p:spPr>
          <a:xfrm>
            <a:off x="1982200" y="1066680"/>
            <a:ext cx="8233950" cy="548639"/>
          </a:xfrm>
          <a:prstGeom prst="rect">
            <a:avLst/>
          </a:prstGeom>
          <a:noFill/>
        </p:spPr>
        <p:txBody>
          <a:bodyPr wrap="square" rtlCol="0" anchor="ctr">
            <a:noAutofit/>
          </a:bodyPr>
          <a:lstStyle/>
          <a:p>
            <a:pPr marL="0" indent="0" algn="ctr">
              <a:lnSpc>
                <a:spcPct val="100000"/>
              </a:lnSpc>
              <a:spcBef>
                <a:spcPts val="0"/>
              </a:spcBef>
              <a:spcAft>
                <a:spcPts val="0"/>
              </a:spcAft>
              <a:buSzPct val="100000"/>
              <a:buNone/>
            </a:pPr>
            <a:r>
              <a:rPr lang="zh-CN" altLang="en-US" sz="3600" b="1" spc="300" dirty="0">
                <a:solidFill>
                  <a:srgbClr val="0070C0"/>
                </a:solidFill>
                <a:latin typeface="微软雅黑" panose="020B0503020204020204" pitchFamily="34" charset="-122"/>
                <a:ea typeface="微软雅黑" panose="020B0503020204020204" pitchFamily="34" charset="-122"/>
              </a:rPr>
              <a:t>主要内容</a:t>
            </a:r>
          </a:p>
        </p:txBody>
      </p:sp>
      <p:sp>
        <p:nvSpPr>
          <p:cNvPr id="12" name="弧形 11"/>
          <p:cNvSpPr/>
          <p:nvPr>
            <p:custDataLst>
              <p:tags r:id="rId6"/>
            </p:custDataLst>
          </p:nvPr>
        </p:nvSpPr>
        <p:spPr>
          <a:xfrm>
            <a:off x="2322195"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13" name="文本框 80"/>
          <p:cNvSpPr txBox="1"/>
          <p:nvPr>
            <p:custDataLst>
              <p:tags r:id="rId7"/>
            </p:custDataLst>
          </p:nvPr>
        </p:nvSpPr>
        <p:spPr>
          <a:xfrm>
            <a:off x="204406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概述</a:t>
            </a:r>
          </a:p>
        </p:txBody>
      </p:sp>
      <p:sp>
        <p:nvSpPr>
          <p:cNvPr id="14" name="标题 5"/>
          <p:cNvSpPr>
            <a:spLocks noGrp="1"/>
          </p:cNvSpPr>
          <p:nvPr>
            <p:custDataLst>
              <p:tags r:id="rId8"/>
            </p:custDataLst>
          </p:nvPr>
        </p:nvSpPr>
        <p:spPr>
          <a:xfrm>
            <a:off x="243268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3.1</a:t>
            </a:r>
          </a:p>
        </p:txBody>
      </p:sp>
      <p:sp>
        <p:nvSpPr>
          <p:cNvPr id="15" name="菱形 14"/>
          <p:cNvSpPr/>
          <p:nvPr>
            <p:custDataLst>
              <p:tags r:id="rId9"/>
            </p:custDataLst>
          </p:nvPr>
        </p:nvSpPr>
        <p:spPr>
          <a:xfrm>
            <a:off x="2143760"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16" name="弧形 15"/>
          <p:cNvSpPr/>
          <p:nvPr>
            <p:custDataLst>
              <p:tags r:id="rId10"/>
            </p:custDataLst>
          </p:nvPr>
        </p:nvSpPr>
        <p:spPr>
          <a:xfrm>
            <a:off x="4001135"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1" name="文本框 80"/>
          <p:cNvSpPr txBox="1"/>
          <p:nvPr>
            <p:custDataLst>
              <p:tags r:id="rId11"/>
            </p:custDataLst>
          </p:nvPr>
        </p:nvSpPr>
        <p:spPr>
          <a:xfrm>
            <a:off x="3723640"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列表</a:t>
            </a:r>
          </a:p>
        </p:txBody>
      </p:sp>
      <p:sp>
        <p:nvSpPr>
          <p:cNvPr id="22" name="标题 5"/>
          <p:cNvSpPr>
            <a:spLocks noGrp="1"/>
          </p:cNvSpPr>
          <p:nvPr>
            <p:custDataLst>
              <p:tags r:id="rId12"/>
            </p:custDataLst>
          </p:nvPr>
        </p:nvSpPr>
        <p:spPr>
          <a:xfrm>
            <a:off x="411226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3.2</a:t>
            </a:r>
          </a:p>
        </p:txBody>
      </p:sp>
      <p:sp>
        <p:nvSpPr>
          <p:cNvPr id="23" name="菱形 22"/>
          <p:cNvSpPr/>
          <p:nvPr>
            <p:custDataLst>
              <p:tags r:id="rId13"/>
            </p:custDataLst>
          </p:nvPr>
        </p:nvSpPr>
        <p:spPr>
          <a:xfrm>
            <a:off x="3822700"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24" name="弧形 23"/>
          <p:cNvSpPr/>
          <p:nvPr>
            <p:custDataLst>
              <p:tags r:id="rId14"/>
            </p:custDataLst>
          </p:nvPr>
        </p:nvSpPr>
        <p:spPr>
          <a:xfrm>
            <a:off x="5680710"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5" name="文本框 80"/>
          <p:cNvSpPr txBox="1"/>
          <p:nvPr>
            <p:custDataLst>
              <p:tags r:id="rId15"/>
            </p:custDataLst>
          </p:nvPr>
        </p:nvSpPr>
        <p:spPr>
          <a:xfrm>
            <a:off x="5402580"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元组</a:t>
            </a:r>
          </a:p>
        </p:txBody>
      </p:sp>
      <p:sp>
        <p:nvSpPr>
          <p:cNvPr id="26" name="标题 5"/>
          <p:cNvSpPr>
            <a:spLocks noGrp="1"/>
          </p:cNvSpPr>
          <p:nvPr>
            <p:custDataLst>
              <p:tags r:id="rId16"/>
            </p:custDataLst>
          </p:nvPr>
        </p:nvSpPr>
        <p:spPr>
          <a:xfrm>
            <a:off x="579120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3.3</a:t>
            </a:r>
          </a:p>
        </p:txBody>
      </p:sp>
      <p:sp>
        <p:nvSpPr>
          <p:cNvPr id="27" name="菱形 26"/>
          <p:cNvSpPr/>
          <p:nvPr>
            <p:custDataLst>
              <p:tags r:id="rId17"/>
            </p:custDataLst>
          </p:nvPr>
        </p:nvSpPr>
        <p:spPr>
          <a:xfrm>
            <a:off x="5502275"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28" name="弧形 27"/>
          <p:cNvSpPr/>
          <p:nvPr>
            <p:custDataLst>
              <p:tags r:id="rId18"/>
            </p:custDataLst>
          </p:nvPr>
        </p:nvSpPr>
        <p:spPr>
          <a:xfrm>
            <a:off x="7359650" y="2520962"/>
            <a:ext cx="727075" cy="716915"/>
          </a:xfrm>
          <a:prstGeom prst="arc">
            <a:avLst>
              <a:gd name="adj1" fmla="val 11619054"/>
              <a:gd name="adj2" fmla="val 10295063"/>
            </a:avLst>
          </a:prstGeom>
          <a:ln w="190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9" name="文本框 80"/>
          <p:cNvSpPr txBox="1"/>
          <p:nvPr>
            <p:custDataLst>
              <p:tags r:id="rId19"/>
            </p:custDataLst>
          </p:nvPr>
        </p:nvSpPr>
        <p:spPr>
          <a:xfrm>
            <a:off x="708215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FF0000"/>
                </a:solidFill>
                <a:latin typeface="微软雅黑" panose="020B0503020204020204" pitchFamily="34" charset="-122"/>
                <a:ea typeface="微软雅黑" panose="020B0503020204020204" pitchFamily="34" charset="-122"/>
              </a:rPr>
              <a:t>字典</a:t>
            </a:r>
          </a:p>
        </p:txBody>
      </p:sp>
      <p:sp>
        <p:nvSpPr>
          <p:cNvPr id="30" name="标题 5"/>
          <p:cNvSpPr>
            <a:spLocks noGrp="1"/>
          </p:cNvSpPr>
          <p:nvPr>
            <p:custDataLst>
              <p:tags r:id="rId20"/>
            </p:custDataLst>
          </p:nvPr>
        </p:nvSpPr>
        <p:spPr>
          <a:xfrm>
            <a:off x="747077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FF0000"/>
                </a:solidFill>
                <a:latin typeface="微软雅黑" panose="020B0503020204020204" pitchFamily="34" charset="-122"/>
              </a:rPr>
              <a:t>3.4</a:t>
            </a:r>
          </a:p>
        </p:txBody>
      </p:sp>
      <p:sp>
        <p:nvSpPr>
          <p:cNvPr id="31" name="菱形 30"/>
          <p:cNvSpPr/>
          <p:nvPr>
            <p:custDataLst>
              <p:tags r:id="rId21"/>
            </p:custDataLst>
          </p:nvPr>
        </p:nvSpPr>
        <p:spPr>
          <a:xfrm>
            <a:off x="7181215" y="2712097"/>
            <a:ext cx="301625" cy="301625"/>
          </a:xfrm>
          <a:prstGeom prst="diamond">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4" name="弧形 3"/>
          <p:cNvSpPr/>
          <p:nvPr>
            <p:custDataLst>
              <p:tags r:id="rId22"/>
            </p:custDataLst>
          </p:nvPr>
        </p:nvSpPr>
        <p:spPr>
          <a:xfrm>
            <a:off x="8997950" y="251207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5" name="文本框 80"/>
          <p:cNvSpPr txBox="1"/>
          <p:nvPr>
            <p:custDataLst>
              <p:tags r:id="rId23"/>
            </p:custDataLst>
          </p:nvPr>
        </p:nvSpPr>
        <p:spPr>
          <a:xfrm>
            <a:off x="8720455" y="334646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集合</a:t>
            </a:r>
          </a:p>
        </p:txBody>
      </p:sp>
      <p:sp>
        <p:nvSpPr>
          <p:cNvPr id="7" name="标题 5"/>
          <p:cNvSpPr>
            <a:spLocks noGrp="1"/>
          </p:cNvSpPr>
          <p:nvPr>
            <p:custDataLst>
              <p:tags r:id="rId24"/>
            </p:custDataLst>
          </p:nvPr>
        </p:nvSpPr>
        <p:spPr>
          <a:xfrm>
            <a:off x="9109075" y="260732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3.5</a:t>
            </a:r>
          </a:p>
        </p:txBody>
      </p:sp>
      <p:sp>
        <p:nvSpPr>
          <p:cNvPr id="8" name="菱形 7"/>
          <p:cNvSpPr/>
          <p:nvPr>
            <p:custDataLst>
              <p:tags r:id="rId25"/>
            </p:custDataLst>
          </p:nvPr>
        </p:nvSpPr>
        <p:spPr>
          <a:xfrm>
            <a:off x="8819515" y="270320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Tm="0"/>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r" defTabSz="914400" eaLnBrk="0" fontAlgn="base" hangingPunct="0">
              <a:lnSpc>
                <a:spcPct val="90000"/>
              </a:lnSpc>
              <a:spcAft>
                <a:spcPct val="0"/>
              </a:spcAft>
              <a:defRPr/>
            </a:pPr>
            <a:r>
              <a:rPr lang="zh-CN" altLang="en-US" sz="2800" b="1" kern="0">
                <a:solidFill>
                  <a:schemeClr val="bg1"/>
                </a:solidFill>
                <a:latin typeface="微软雅黑" panose="020B0503020204020204" pitchFamily="34" charset="-122"/>
                <a:ea typeface="微软雅黑" panose="020B0503020204020204" pitchFamily="34" charset="-122"/>
              </a:rPr>
              <a:t>3.4 字典</a:t>
            </a:r>
            <a:endParaRPr lang="zh-CN" altLang="en-US" sz="2800" b="1" kern="0" dirty="0">
              <a:solidFill>
                <a:schemeClr val="bg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842591" y="1773610"/>
            <a:ext cx="3810000" cy="3810000"/>
          </a:xfrm>
          <a:prstGeom prst="rect">
            <a:avLst/>
          </a:prstGeom>
        </p:spPr>
      </p:pic>
      <p:sp>
        <p:nvSpPr>
          <p:cNvPr id="7" name="文本框 6"/>
          <p:cNvSpPr txBox="1"/>
          <p:nvPr/>
        </p:nvSpPr>
        <p:spPr>
          <a:xfrm>
            <a:off x="7107287" y="2133650"/>
            <a:ext cx="2016224" cy="584775"/>
          </a:xfrm>
          <a:prstGeom prst="rect">
            <a:avLst/>
          </a:prstGeom>
          <a:noFill/>
        </p:spPr>
        <p:txBody>
          <a:bodyPr wrap="square" rtlCol="0">
            <a:spAutoFit/>
          </a:bodyPr>
          <a:lstStyle/>
          <a:p>
            <a:r>
              <a:rPr lang="zh-CN" altLang="en-US" sz="3200" dirty="0">
                <a:solidFill>
                  <a:srgbClr val="FF0000"/>
                </a:solidFill>
                <a:latin typeface="方正大黑简体" panose="03000509000000000000" pitchFamily="2" charset="-122"/>
                <a:ea typeface="方正大黑简体" panose="03000509000000000000" pitchFamily="2" charset="-122"/>
              </a:rPr>
              <a:t>检索功能</a:t>
            </a:r>
          </a:p>
        </p:txBody>
      </p:sp>
      <p:sp>
        <p:nvSpPr>
          <p:cNvPr id="8" name="矩形 7"/>
          <p:cNvSpPr/>
          <p:nvPr/>
        </p:nvSpPr>
        <p:spPr>
          <a:xfrm>
            <a:off x="4999569" y="3306240"/>
            <a:ext cx="880369" cy="923330"/>
          </a:xfrm>
          <a:prstGeom prst="rect">
            <a:avLst/>
          </a:prstGeom>
          <a:noFill/>
        </p:spPr>
        <p:txBody>
          <a:bodyPr wrap="none" lIns="91440" tIns="45720" rIns="91440" bIns="45720">
            <a:spAutoFit/>
          </a:bodyPr>
          <a:lstStyle/>
          <a:p>
            <a:pPr algn="ctr"/>
            <a:r>
              <a:rPr lang="zh-CN" altLang="en-US" sz="5400" b="1" dirty="0">
                <a:latin typeface="微软雅黑" panose="020B0503020204020204" pitchFamily="34" charset="-122"/>
                <a:ea typeface="微软雅黑" panose="020B0503020204020204" pitchFamily="34" charset="-122"/>
              </a:rPr>
              <a:t>覩</a:t>
            </a:r>
          </a:p>
        </p:txBody>
      </p:sp>
      <p:sp>
        <p:nvSpPr>
          <p:cNvPr id="9" name="矩形 8"/>
          <p:cNvSpPr/>
          <p:nvPr/>
        </p:nvSpPr>
        <p:spPr>
          <a:xfrm>
            <a:off x="8547447" y="3447777"/>
            <a:ext cx="1980029" cy="523220"/>
          </a:xfrm>
          <a:prstGeom prst="rect">
            <a:avLst/>
          </a:prstGeom>
        </p:spPr>
        <p:txBody>
          <a:bodyPr wrap="none">
            <a:spAutoFit/>
          </a:bodyPr>
          <a:lstStyle/>
          <a:p>
            <a:r>
              <a:rPr lang="zh-CN" altLang="en-US" sz="2800" b="1" dirty="0">
                <a:solidFill>
                  <a:srgbClr val="000000"/>
                </a:solidFill>
                <a:latin typeface="微软雅黑" panose="020B0503020204020204" pitchFamily="34" charset="-122"/>
                <a:ea typeface="微软雅黑" panose="020B0503020204020204" pitchFamily="34" charset="-122"/>
              </a:rPr>
              <a:t>古同“睹”</a:t>
            </a:r>
            <a:endParaRPr lang="zh-CN" altLang="en-US" sz="2800" b="1" dirty="0">
              <a:latin typeface="微软雅黑" panose="020B0503020204020204" pitchFamily="34" charset="-122"/>
              <a:ea typeface="微软雅黑" panose="020B0503020204020204" pitchFamily="34" charset="-122"/>
            </a:endParaRPr>
          </a:p>
        </p:txBody>
      </p:sp>
      <p:sp>
        <p:nvSpPr>
          <p:cNvPr id="10" name="右箭头 9"/>
          <p:cNvSpPr/>
          <p:nvPr/>
        </p:nvSpPr>
        <p:spPr>
          <a:xfrm>
            <a:off x="6459215" y="3416856"/>
            <a:ext cx="1152128" cy="702097"/>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980930" y="78105"/>
            <a:ext cx="2119630" cy="678180"/>
          </a:xfrm>
        </p:spPr>
        <p:txBody>
          <a:bodyPr vert="horz" wrap="square" lIns="91456" tIns="45728" rIns="91456" bIns="45728" numCol="1" anchor="b" anchorCtr="0" compatLnSpc="1"/>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41987" name="内容占位符 2"/>
          <p:cNvSpPr>
            <a:spLocks noGrp="1"/>
          </p:cNvSpPr>
          <p:nvPr>
            <p:ph idx="1"/>
          </p:nvPr>
        </p:nvSpPr>
        <p:spPr>
          <a:xfrm>
            <a:off x="417195" y="1600200"/>
            <a:ext cx="11548745" cy="3930650"/>
          </a:xfrm>
        </p:spPr>
        <p:txBody>
          <a:bodyPr vert="horz" wrap="square" lIns="91456" tIns="45728" rIns="91456" bIns="45728" anchor="t"/>
          <a:lstStyle/>
          <a:p>
            <a:pPr algn="just"/>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字典是</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重要的数据类型，字典是由“键</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值”对组成的集合，字典中的“值”通过“键”来引用。字典也称为关联数组、映射（</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map</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）或散列表。</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r>
              <a:rPr kumimoji="1"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字典是一种大小可变的键值对集，其中键（</a:t>
            </a:r>
            <a:r>
              <a:rPr kumimoji="1"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key</a:t>
            </a:r>
            <a:r>
              <a:rPr kumimoji="1"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）和值（</a:t>
            </a:r>
            <a:r>
              <a:rPr kumimoji="1"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value</a:t>
            </a:r>
            <a:r>
              <a:rPr kumimoji="1"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）都是</a:t>
            </a:r>
            <a:r>
              <a:rPr kumimoji="1"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Python</a:t>
            </a:r>
            <a:r>
              <a:rPr kumimoji="1"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对象</a:t>
            </a:r>
            <a:endParaRPr kumimoji="1"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r>
              <a:rPr kumimoji="1"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字典用在需要高速查找的地方。</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0"/>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980930" y="78105"/>
            <a:ext cx="2119630" cy="678180"/>
          </a:xfrm>
        </p:spPr>
        <p:txBody>
          <a:bodyPr vert="horz" wrap="square" lIns="91456" tIns="45728" rIns="91456" bIns="45728" numCol="1" anchor="b" anchorCtr="0" compatLnSpc="1"/>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3" name="标题 1"/>
          <p:cNvSpPr>
            <a:spLocks noGrp="1"/>
          </p:cNvSpPr>
          <p:nvPr/>
        </p:nvSpPr>
        <p:spPr>
          <a:xfrm>
            <a:off x="419100" y="87087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rPr>
              <a:t>问一：该如何存储生词本？</a:t>
            </a:r>
          </a:p>
        </p:txBody>
      </p:sp>
      <p:graphicFrame>
        <p:nvGraphicFramePr>
          <p:cNvPr id="13" name="表格 12"/>
          <p:cNvGraphicFramePr>
            <a:graphicFrameLocks noGrp="1"/>
          </p:cNvGraphicFramePr>
          <p:nvPr>
            <p:custDataLst>
              <p:tags r:id="rId1"/>
            </p:custDataLst>
          </p:nvPr>
        </p:nvGraphicFramePr>
        <p:xfrm>
          <a:off x="6976105" y="2073930"/>
          <a:ext cx="2927648" cy="3200400"/>
        </p:xfrm>
        <a:graphic>
          <a:graphicData uri="http://schemas.openxmlformats.org/drawingml/2006/table">
            <a:tbl>
              <a:tblPr firstRow="1" bandRow="1">
                <a:tableStyleId>{5940675A-B579-460E-94D1-54222C63F5DA}</a:tableStyleId>
              </a:tblPr>
              <a:tblGrid>
                <a:gridCol w="1715852">
                  <a:extLst>
                    <a:ext uri="{9D8B030D-6E8A-4147-A177-3AD203B41FA5}">
                      <a16:colId xmlns:a16="http://schemas.microsoft.com/office/drawing/2014/main" val="20000"/>
                    </a:ext>
                  </a:extLst>
                </a:gridCol>
                <a:gridCol w="1211796">
                  <a:extLst>
                    <a:ext uri="{9D8B030D-6E8A-4147-A177-3AD203B41FA5}">
                      <a16:colId xmlns:a16="http://schemas.microsoft.com/office/drawing/2014/main" val="20001"/>
                    </a:ext>
                  </a:extLst>
                </a:gridCol>
              </a:tblGrid>
              <a:tr h="457200">
                <a:tc>
                  <a:txBody>
                    <a:bodyPr/>
                    <a:lstStyle/>
                    <a:p>
                      <a:r>
                        <a:rPr lang="en-US" altLang="zh-CN" sz="2400" dirty="0"/>
                        <a:t> name</a:t>
                      </a:r>
                      <a:endParaRPr lang="zh-CN" altLang="en-US" sz="2400" dirty="0"/>
                    </a:p>
                  </a:txBody>
                  <a:tcPr/>
                </a:tc>
                <a:tc>
                  <a:txBody>
                    <a:bodyPr/>
                    <a:lstStyle/>
                    <a:p>
                      <a:r>
                        <a:rPr lang="zh-CN" altLang="en-US" sz="2400" dirty="0"/>
                        <a:t>名字</a:t>
                      </a:r>
                    </a:p>
                  </a:txBody>
                  <a:tcPr/>
                </a:tc>
                <a:extLst>
                  <a:ext uri="{0D108BD9-81ED-4DB2-BD59-A6C34878D82A}">
                    <a16:rowId xmlns:a16="http://schemas.microsoft.com/office/drawing/2014/main" val="10000"/>
                  </a:ext>
                </a:extLst>
              </a:tr>
              <a:tr h="370840">
                <a:tc>
                  <a:txBody>
                    <a:bodyPr/>
                    <a:lstStyle/>
                    <a:p>
                      <a:r>
                        <a:rPr lang="en-US" altLang="zh-CN" sz="2400" dirty="0"/>
                        <a:t> python</a:t>
                      </a:r>
                      <a:endParaRPr lang="zh-CN" altLang="en-US" sz="2400" dirty="0"/>
                    </a:p>
                  </a:txBody>
                  <a:tcPr/>
                </a:tc>
                <a:tc>
                  <a:txBody>
                    <a:bodyPr/>
                    <a:lstStyle/>
                    <a:p>
                      <a:r>
                        <a:rPr lang="zh-CN" altLang="en-US" sz="2400" dirty="0"/>
                        <a:t>蟒蛇</a:t>
                      </a:r>
                    </a:p>
                  </a:txBody>
                  <a:tcPr/>
                </a:tc>
                <a:extLst>
                  <a:ext uri="{0D108BD9-81ED-4DB2-BD59-A6C34878D82A}">
                    <a16:rowId xmlns:a16="http://schemas.microsoft.com/office/drawing/2014/main" val="10001"/>
                  </a:ext>
                </a:extLst>
              </a:tr>
              <a:tr h="370840">
                <a:tc>
                  <a:txBody>
                    <a:bodyPr/>
                    <a:lstStyle/>
                    <a:p>
                      <a:r>
                        <a:rPr lang="en-US" altLang="zh-CN" sz="2400" dirty="0"/>
                        <a:t> dictionary</a:t>
                      </a:r>
                      <a:endParaRPr lang="zh-CN" altLang="en-US" sz="2400" dirty="0"/>
                    </a:p>
                  </a:txBody>
                  <a:tcPr/>
                </a:tc>
                <a:tc>
                  <a:txBody>
                    <a:bodyPr/>
                    <a:lstStyle/>
                    <a:p>
                      <a:r>
                        <a:rPr lang="zh-CN" altLang="en-US" sz="2400" dirty="0"/>
                        <a:t>字典</a:t>
                      </a:r>
                    </a:p>
                  </a:txBody>
                  <a:tcPr/>
                </a:tc>
                <a:extLst>
                  <a:ext uri="{0D108BD9-81ED-4DB2-BD59-A6C34878D82A}">
                    <a16:rowId xmlns:a16="http://schemas.microsoft.com/office/drawing/2014/main" val="10002"/>
                  </a:ext>
                </a:extLst>
              </a:tr>
              <a:tr h="370840">
                <a:tc>
                  <a:txBody>
                    <a:bodyPr/>
                    <a:lstStyle/>
                    <a:p>
                      <a:r>
                        <a:rPr lang="en-US" altLang="zh-CN" sz="2400" dirty="0"/>
                        <a:t> list</a:t>
                      </a:r>
                      <a:endParaRPr lang="zh-CN" altLang="en-US" sz="2400" dirty="0"/>
                    </a:p>
                  </a:txBody>
                  <a:tcPr/>
                </a:tc>
                <a:tc>
                  <a:txBody>
                    <a:bodyPr/>
                    <a:lstStyle/>
                    <a:p>
                      <a:r>
                        <a:rPr lang="zh-CN" altLang="en-US" sz="2400" dirty="0"/>
                        <a:t>列表</a:t>
                      </a:r>
                    </a:p>
                  </a:txBody>
                  <a:tcPr/>
                </a:tc>
                <a:extLst>
                  <a:ext uri="{0D108BD9-81ED-4DB2-BD59-A6C34878D82A}">
                    <a16:rowId xmlns:a16="http://schemas.microsoft.com/office/drawing/2014/main" val="10003"/>
                  </a:ext>
                </a:extLst>
              </a:tr>
              <a:tr h="370840">
                <a:tc>
                  <a:txBody>
                    <a:bodyPr/>
                    <a:lstStyle/>
                    <a:p>
                      <a:r>
                        <a:rPr lang="en-US" altLang="zh-CN" sz="2400" dirty="0"/>
                        <a:t> variable</a:t>
                      </a:r>
                      <a:endParaRPr lang="zh-CN" altLang="en-US" sz="2400" dirty="0"/>
                    </a:p>
                  </a:txBody>
                  <a:tcPr/>
                </a:tc>
                <a:tc>
                  <a:txBody>
                    <a:bodyPr/>
                    <a:lstStyle/>
                    <a:p>
                      <a:r>
                        <a:rPr lang="zh-CN" altLang="en-US" sz="2400" dirty="0"/>
                        <a:t>变量</a:t>
                      </a:r>
                    </a:p>
                  </a:txBody>
                  <a:tcPr/>
                </a:tc>
                <a:extLst>
                  <a:ext uri="{0D108BD9-81ED-4DB2-BD59-A6C34878D82A}">
                    <a16:rowId xmlns:a16="http://schemas.microsoft.com/office/drawing/2014/main" val="10004"/>
                  </a:ext>
                </a:extLst>
              </a:tr>
              <a:tr h="370840">
                <a:tc>
                  <a:txBody>
                    <a:bodyPr/>
                    <a:lstStyle/>
                    <a:p>
                      <a:r>
                        <a:rPr lang="en-US" altLang="zh-CN" sz="2400" dirty="0"/>
                        <a:t> class</a:t>
                      </a:r>
                      <a:endParaRPr lang="zh-CN" altLang="en-US" sz="2400" dirty="0"/>
                    </a:p>
                  </a:txBody>
                  <a:tcPr/>
                </a:tc>
                <a:tc>
                  <a:txBody>
                    <a:bodyPr/>
                    <a:lstStyle/>
                    <a:p>
                      <a:r>
                        <a:rPr lang="zh-CN" altLang="en-US" sz="2400" dirty="0"/>
                        <a:t>类</a:t>
                      </a:r>
                    </a:p>
                  </a:txBody>
                  <a:tcPr/>
                </a:tc>
                <a:extLst>
                  <a:ext uri="{0D108BD9-81ED-4DB2-BD59-A6C34878D82A}">
                    <a16:rowId xmlns:a16="http://schemas.microsoft.com/office/drawing/2014/main" val="10005"/>
                  </a:ext>
                </a:extLst>
              </a:tr>
              <a:tr h="370840">
                <a:tc>
                  <a:txBody>
                    <a:bodyPr/>
                    <a:lstStyle/>
                    <a:p>
                      <a:r>
                        <a:rPr lang="en-US" altLang="zh-CN" sz="2400" dirty="0"/>
                        <a:t> object</a:t>
                      </a:r>
                      <a:endParaRPr lang="zh-CN" altLang="en-US" sz="2400" dirty="0"/>
                    </a:p>
                  </a:txBody>
                  <a:tcPr/>
                </a:tc>
                <a:tc>
                  <a:txBody>
                    <a:bodyPr/>
                    <a:lstStyle/>
                    <a:p>
                      <a:r>
                        <a:rPr lang="zh-CN" altLang="en-US" sz="2400" dirty="0"/>
                        <a:t>对象</a:t>
                      </a:r>
                    </a:p>
                  </a:txBody>
                  <a:tcPr/>
                </a:tc>
                <a:extLst>
                  <a:ext uri="{0D108BD9-81ED-4DB2-BD59-A6C34878D82A}">
                    <a16:rowId xmlns:a16="http://schemas.microsoft.com/office/drawing/2014/main" val="10006"/>
                  </a:ext>
                </a:extLst>
              </a:tr>
            </a:tbl>
          </a:graphicData>
        </a:graphic>
      </p:graphicFrame>
      <p:sp>
        <p:nvSpPr>
          <p:cNvPr id="15" name="TextBox 14"/>
          <p:cNvSpPr txBox="1"/>
          <p:nvPr/>
        </p:nvSpPr>
        <p:spPr>
          <a:xfrm>
            <a:off x="419100" y="2349674"/>
            <a:ext cx="6280145" cy="2246769"/>
          </a:xfrm>
          <a:prstGeom prst="rect">
            <a:avLst/>
          </a:prstGeom>
          <a:noFill/>
        </p:spPr>
        <p:txBody>
          <a:bodyPr wrap="square" rtlCol="0">
            <a:spAutoFit/>
          </a:bodyPr>
          <a:lstStyle/>
          <a:p>
            <a:pPr marL="342900" indent="-342900">
              <a:buFont typeface="Arial" panose="020B0604020202020204" pitchFamily="34" charset="0"/>
              <a:buChar char="•"/>
            </a:pPr>
            <a:r>
              <a:rPr lang="zh-CN" altLang="en-US" sz="2800" b="1" dirty="0">
                <a:latin typeface="黑体" panose="02010609060101010101" charset="-122"/>
                <a:ea typeface="黑体" panose="02010609060101010101" charset="-122"/>
              </a:rPr>
              <a:t>生词本程序功能：输入英文单词，快速得出单词的中文含义。</a:t>
            </a:r>
            <a:endParaRPr lang="en-US" altLang="zh-CN" sz="2800" b="1" dirty="0">
              <a:latin typeface="黑体" panose="02010609060101010101" charset="-122"/>
              <a:ea typeface="黑体" panose="02010609060101010101" charset="-122"/>
            </a:endParaRPr>
          </a:p>
          <a:p>
            <a:pPr marL="342900" indent="-342900">
              <a:buFont typeface="Arial" panose="020B0604020202020204" pitchFamily="34" charset="0"/>
              <a:buChar char="•"/>
            </a:pPr>
            <a:endParaRPr lang="zh-CN" altLang="en-US" sz="2800" b="1" dirty="0">
              <a:latin typeface="黑体" panose="02010609060101010101" charset="-122"/>
              <a:ea typeface="黑体" panose="02010609060101010101" charset="-122"/>
            </a:endParaRPr>
          </a:p>
          <a:p>
            <a:pPr marL="342900" indent="-342900">
              <a:buFont typeface="Arial" panose="020B0604020202020204" pitchFamily="34" charset="0"/>
              <a:buChar char="•"/>
            </a:pPr>
            <a:r>
              <a:rPr lang="zh-CN" altLang="en-US" sz="2800" b="1" dirty="0">
                <a:solidFill>
                  <a:srgbClr val="FF0000"/>
                </a:solidFill>
                <a:latin typeface="黑体" panose="02010609060101010101" charset="-122"/>
                <a:ea typeface="黑体" panose="02010609060101010101" charset="-122"/>
              </a:rPr>
              <a:t>程序中该如何存储类似右边的生词本？</a:t>
            </a:r>
            <a:endParaRPr lang="en-US" altLang="zh-CN" sz="2800" b="1" dirty="0">
              <a:solidFill>
                <a:srgbClr val="FF0000"/>
              </a:solidFill>
              <a:latin typeface="黑体" panose="02010609060101010101" charset="-122"/>
              <a:ea typeface="黑体" panose="02010609060101010101" charset="-122"/>
            </a:endParaRPr>
          </a:p>
          <a:p>
            <a:pPr marL="342900" indent="-342900">
              <a:buFont typeface="Arial" panose="020B0604020202020204" pitchFamily="34" charset="0"/>
              <a:buChar char="•"/>
            </a:pPr>
            <a:endParaRPr lang="en-US" altLang="zh-CN" sz="2800" b="1" dirty="0">
              <a:latin typeface="黑体" panose="02010609060101010101" charset="-122"/>
              <a:ea typeface="黑体" panose="02010609060101010101" charset="-122"/>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980930" y="78105"/>
            <a:ext cx="2119630" cy="678180"/>
          </a:xfrm>
        </p:spPr>
        <p:txBody>
          <a:bodyPr vert="horz" wrap="square" lIns="91456" tIns="45728" rIns="91456" bIns="45728" numCol="1" anchor="b" anchorCtr="0" compatLnSpc="1"/>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4" name="标题 1"/>
          <p:cNvSpPr>
            <a:spLocks noGrp="1"/>
          </p:cNvSpPr>
          <p:nvPr/>
        </p:nvSpPr>
        <p:spPr>
          <a:xfrm>
            <a:off x="291465" y="75657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pPr lvl="0" algn="l"/>
            <a:r>
              <a:rPr altLang="en-US" sz="2800" dirty="0">
                <a:latin typeface="微软雅黑" panose="020B0503020204020204" pitchFamily="34" charset="-122"/>
                <a:ea typeface="微软雅黑" panose="020B0503020204020204" pitchFamily="34" charset="-122"/>
                <a:sym typeface="+mn-ea"/>
              </a:rPr>
              <a:t>问二：该如何存储电话簿？</a:t>
            </a:r>
          </a:p>
        </p:txBody>
      </p:sp>
      <p:graphicFrame>
        <p:nvGraphicFramePr>
          <p:cNvPr id="5" name="表格 4"/>
          <p:cNvGraphicFramePr>
            <a:graphicFrameLocks noGrp="1"/>
          </p:cNvGraphicFramePr>
          <p:nvPr/>
        </p:nvGraphicFramePr>
        <p:xfrm>
          <a:off x="6922765" y="1829455"/>
          <a:ext cx="3456386" cy="3200400"/>
        </p:xfrm>
        <a:graphic>
          <a:graphicData uri="http://schemas.openxmlformats.org/drawingml/2006/table">
            <a:tbl>
              <a:tblPr firstRow="1" bandRow="1">
                <a:tableStyleId>{5940675A-B579-460E-94D1-54222C63F5DA}</a:tableStyleId>
              </a:tblPr>
              <a:tblGrid>
                <a:gridCol w="1080120">
                  <a:extLst>
                    <a:ext uri="{9D8B030D-6E8A-4147-A177-3AD203B41FA5}">
                      <a16:colId xmlns:a16="http://schemas.microsoft.com/office/drawing/2014/main" val="20000"/>
                    </a:ext>
                  </a:extLst>
                </a:gridCol>
                <a:gridCol w="2376266">
                  <a:extLst>
                    <a:ext uri="{9D8B030D-6E8A-4147-A177-3AD203B41FA5}">
                      <a16:colId xmlns:a16="http://schemas.microsoft.com/office/drawing/2014/main" val="20001"/>
                    </a:ext>
                  </a:extLst>
                </a:gridCol>
              </a:tblGrid>
              <a:tr h="457200">
                <a:tc>
                  <a:txBody>
                    <a:bodyPr/>
                    <a:lstStyle/>
                    <a:p>
                      <a:r>
                        <a:rPr lang="zh-CN" altLang="en-US" sz="2400">
                          <a:latin typeface="微软雅黑" panose="020B0503020204020204" pitchFamily="34" charset="-122"/>
                          <a:ea typeface="微软雅黑" panose="020B0503020204020204" pitchFamily="34" charset="-122"/>
                        </a:rPr>
                        <a:t>马云</a:t>
                      </a:r>
                      <a:endParaRPr lang="zh-CN" altLang="en-US" sz="2400" dirty="0">
                        <a:latin typeface="微软雅黑" panose="020B0503020204020204" pitchFamily="34" charset="-122"/>
                        <a:ea typeface="微软雅黑" panose="020B0503020204020204" pitchFamily="34" charset="-122"/>
                      </a:endParaRPr>
                    </a:p>
                  </a:txBody>
                  <a:tcPr/>
                </a:tc>
                <a:tc>
                  <a:txBody>
                    <a:bodyPr/>
                    <a:lstStyle/>
                    <a:p>
                      <a:r>
                        <a:rPr lang="en-US" altLang="zh-CN" sz="2400" dirty="0">
                          <a:latin typeface="微软雅黑" panose="020B0503020204020204" pitchFamily="34" charset="-122"/>
                          <a:ea typeface="微软雅黑" panose="020B0503020204020204" pitchFamily="34" charset="-122"/>
                        </a:rPr>
                        <a:t>133 0928 3335</a:t>
                      </a:r>
                    </a:p>
                  </a:txBody>
                  <a:tcPr/>
                </a:tc>
                <a:extLst>
                  <a:ext uri="{0D108BD9-81ED-4DB2-BD59-A6C34878D82A}">
                    <a16:rowId xmlns:a16="http://schemas.microsoft.com/office/drawing/2014/main" val="10000"/>
                  </a:ext>
                </a:extLst>
              </a:tr>
              <a:tr h="370840">
                <a:tc>
                  <a:txBody>
                    <a:bodyPr/>
                    <a:lstStyle/>
                    <a:p>
                      <a:r>
                        <a:rPr lang="zh-CN" altLang="en-US" sz="2400" dirty="0">
                          <a:latin typeface="微软雅黑" panose="020B0503020204020204" pitchFamily="34" charset="-122"/>
                          <a:ea typeface="微软雅黑" panose="020B0503020204020204" pitchFamily="34" charset="-122"/>
                        </a:rPr>
                        <a:t>赵龙</a:t>
                      </a:r>
                    </a:p>
                  </a:txBody>
                  <a:tcPr/>
                </a:tc>
                <a:tc>
                  <a:txBody>
                    <a:bodyPr/>
                    <a:lstStyle/>
                    <a:p>
                      <a:r>
                        <a:rPr lang="en-US" altLang="zh-CN" sz="2400" dirty="0">
                          <a:latin typeface="微软雅黑" panose="020B0503020204020204" pitchFamily="34" charset="-122"/>
                          <a:ea typeface="微软雅黑" panose="020B0503020204020204" pitchFamily="34" charset="-122"/>
                        </a:rPr>
                        <a:t>189</a:t>
                      </a:r>
                      <a:r>
                        <a:rPr lang="en-US" altLang="zh-CN" sz="2400" baseline="0" dirty="0">
                          <a:latin typeface="微软雅黑" panose="020B0503020204020204" pitchFamily="34" charset="-122"/>
                          <a:ea typeface="微软雅黑" panose="020B0503020204020204" pitchFamily="34" charset="-122"/>
                        </a:rPr>
                        <a:t> 8922 7822</a:t>
                      </a:r>
                      <a:endParaRPr lang="zh-CN" altLang="en-US" sz="2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1"/>
                  </a:ext>
                </a:extLst>
              </a:tr>
              <a:tr h="370840">
                <a:tc>
                  <a:txBody>
                    <a:bodyPr/>
                    <a:lstStyle/>
                    <a:p>
                      <a:r>
                        <a:rPr lang="zh-CN" altLang="en-US" sz="2400" dirty="0">
                          <a:latin typeface="微软雅黑" panose="020B0503020204020204" pitchFamily="34" charset="-122"/>
                          <a:ea typeface="微软雅黑" panose="020B0503020204020204" pitchFamily="34" charset="-122"/>
                        </a:rPr>
                        <a:t>张敏</a:t>
                      </a:r>
                    </a:p>
                  </a:txBody>
                  <a:tcPr/>
                </a:tc>
                <a:tc>
                  <a:txBody>
                    <a:bodyPr/>
                    <a:lstStyle/>
                    <a:p>
                      <a:r>
                        <a:rPr lang="en-US" altLang="zh-CN" sz="2400" dirty="0">
                          <a:latin typeface="微软雅黑" panose="020B0503020204020204" pitchFamily="34" charset="-122"/>
                          <a:ea typeface="微软雅黑" panose="020B0503020204020204" pitchFamily="34" charset="-122"/>
                        </a:rPr>
                        <a:t>133 8239 8921</a:t>
                      </a:r>
                    </a:p>
                  </a:txBody>
                  <a:tcPr/>
                </a:tc>
                <a:extLst>
                  <a:ext uri="{0D108BD9-81ED-4DB2-BD59-A6C34878D82A}">
                    <a16:rowId xmlns:a16="http://schemas.microsoft.com/office/drawing/2014/main" val="10002"/>
                  </a:ext>
                </a:extLst>
              </a:tr>
              <a:tr h="370840">
                <a:tc>
                  <a:txBody>
                    <a:bodyPr/>
                    <a:lstStyle/>
                    <a:p>
                      <a:r>
                        <a:rPr lang="zh-CN" altLang="en-US" sz="2400" dirty="0">
                          <a:latin typeface="微软雅黑" panose="020B0503020204020204" pitchFamily="34" charset="-122"/>
                          <a:ea typeface="微软雅黑" panose="020B0503020204020204" pitchFamily="34" charset="-122"/>
                        </a:rPr>
                        <a:t>乔治</a:t>
                      </a:r>
                    </a:p>
                  </a:txBody>
                  <a:tcPr/>
                </a:tc>
                <a:tc>
                  <a:txBody>
                    <a:bodyPr/>
                    <a:lstStyle/>
                    <a:p>
                      <a:r>
                        <a:rPr lang="en-US" altLang="zh-CN" sz="2400" dirty="0">
                          <a:latin typeface="微软雅黑" panose="020B0503020204020204" pitchFamily="34" charset="-122"/>
                          <a:ea typeface="微软雅黑" panose="020B0503020204020204" pitchFamily="34" charset="-122"/>
                        </a:rPr>
                        <a:t>198 3382 4743</a:t>
                      </a:r>
                    </a:p>
                  </a:txBody>
                  <a:tcPr/>
                </a:tc>
                <a:extLst>
                  <a:ext uri="{0D108BD9-81ED-4DB2-BD59-A6C34878D82A}">
                    <a16:rowId xmlns:a16="http://schemas.microsoft.com/office/drawing/2014/main" val="10003"/>
                  </a:ext>
                </a:extLst>
              </a:tr>
              <a:tr h="370840">
                <a:tc>
                  <a:txBody>
                    <a:bodyPr/>
                    <a:lstStyle/>
                    <a:p>
                      <a:r>
                        <a:rPr lang="zh-CN" altLang="en-US" sz="2400" dirty="0">
                          <a:latin typeface="微软雅黑" panose="020B0503020204020204" pitchFamily="34" charset="-122"/>
                          <a:ea typeface="微软雅黑" panose="020B0503020204020204" pitchFamily="34" charset="-122"/>
                        </a:rPr>
                        <a:t>乔丹</a:t>
                      </a:r>
                    </a:p>
                  </a:txBody>
                  <a:tcPr/>
                </a:tc>
                <a:tc>
                  <a:txBody>
                    <a:bodyPr/>
                    <a:lstStyle/>
                    <a:p>
                      <a:r>
                        <a:rPr lang="en-US" altLang="zh-CN" sz="2400" dirty="0">
                          <a:latin typeface="微软雅黑" panose="020B0503020204020204" pitchFamily="34" charset="-122"/>
                          <a:ea typeface="微软雅黑" panose="020B0503020204020204" pitchFamily="34" charset="-122"/>
                        </a:rPr>
                        <a:t>188</a:t>
                      </a:r>
                      <a:r>
                        <a:rPr lang="en-US" altLang="zh-CN" sz="2400" baseline="0" dirty="0">
                          <a:latin typeface="微软雅黑" panose="020B0503020204020204" pitchFamily="34" charset="-122"/>
                          <a:ea typeface="微软雅黑" panose="020B0503020204020204" pitchFamily="34" charset="-122"/>
                        </a:rPr>
                        <a:t> 0731 7878</a:t>
                      </a:r>
                      <a:endParaRPr lang="zh-CN" altLang="en-US" sz="2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4"/>
                  </a:ext>
                </a:extLst>
              </a:tr>
              <a:tr h="370840">
                <a:tc>
                  <a:txBody>
                    <a:bodyPr/>
                    <a:lstStyle/>
                    <a:p>
                      <a:r>
                        <a:rPr lang="zh-CN" altLang="en-US" sz="2400" dirty="0">
                          <a:latin typeface="微软雅黑" panose="020B0503020204020204" pitchFamily="34" charset="-122"/>
                          <a:ea typeface="微软雅黑" panose="020B0503020204020204" pitchFamily="34" charset="-122"/>
                        </a:rPr>
                        <a:t>库里</a:t>
                      </a:r>
                    </a:p>
                  </a:txBody>
                  <a:tcPr/>
                </a:tc>
                <a:tc>
                  <a:txBody>
                    <a:bodyPr/>
                    <a:lstStyle/>
                    <a:p>
                      <a:r>
                        <a:rPr lang="en-US" altLang="zh-CN" sz="2400" dirty="0">
                          <a:latin typeface="微软雅黑" panose="020B0503020204020204" pitchFamily="34" charset="-122"/>
                          <a:ea typeface="微软雅黑" panose="020B0503020204020204" pitchFamily="34" charset="-122"/>
                        </a:rPr>
                        <a:t>150 9348 8129</a:t>
                      </a:r>
                    </a:p>
                  </a:txBody>
                  <a:tcPr/>
                </a:tc>
                <a:extLst>
                  <a:ext uri="{0D108BD9-81ED-4DB2-BD59-A6C34878D82A}">
                    <a16:rowId xmlns:a16="http://schemas.microsoft.com/office/drawing/2014/main" val="10005"/>
                  </a:ext>
                </a:extLst>
              </a:tr>
              <a:tr h="370840">
                <a:tc>
                  <a:txBody>
                    <a:bodyPr/>
                    <a:lstStyle/>
                    <a:p>
                      <a:r>
                        <a:rPr lang="zh-CN" altLang="en-US" sz="2400" dirty="0">
                          <a:latin typeface="微软雅黑" panose="020B0503020204020204" pitchFamily="34" charset="-122"/>
                          <a:ea typeface="微软雅黑" panose="020B0503020204020204" pitchFamily="34" charset="-122"/>
                        </a:rPr>
                        <a:t>韦德</a:t>
                      </a:r>
                    </a:p>
                  </a:txBody>
                  <a:tcPr/>
                </a:tc>
                <a:tc>
                  <a:txBody>
                    <a:bodyPr/>
                    <a:lstStyle/>
                    <a:p>
                      <a:r>
                        <a:rPr lang="en-US" altLang="zh-CN" sz="2400" dirty="0">
                          <a:latin typeface="微软雅黑" panose="020B0503020204020204" pitchFamily="34" charset="-122"/>
                          <a:ea typeface="微软雅黑" panose="020B0503020204020204" pitchFamily="34" charset="-122"/>
                        </a:rPr>
                        <a:t>192 8293</a:t>
                      </a:r>
                      <a:r>
                        <a:rPr lang="en-US" altLang="zh-CN" sz="2400" baseline="0" dirty="0">
                          <a:latin typeface="微软雅黑" panose="020B0503020204020204" pitchFamily="34" charset="-122"/>
                          <a:ea typeface="微软雅黑" panose="020B0503020204020204" pitchFamily="34" charset="-122"/>
                        </a:rPr>
                        <a:t> 7665</a:t>
                      </a:r>
                      <a:endParaRPr lang="zh-CN" altLang="en-US" sz="24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6"/>
                  </a:ext>
                </a:extLst>
              </a:tr>
            </a:tbl>
          </a:graphicData>
        </a:graphic>
      </p:graphicFrame>
      <p:sp>
        <p:nvSpPr>
          <p:cNvPr id="6" name="TextBox 14"/>
          <p:cNvSpPr txBox="1"/>
          <p:nvPr/>
        </p:nvSpPr>
        <p:spPr>
          <a:xfrm>
            <a:off x="410543" y="2205658"/>
            <a:ext cx="5956300" cy="2246769"/>
          </a:xfrm>
          <a:prstGeom prst="rect">
            <a:avLst/>
          </a:prstGeom>
          <a:noFill/>
        </p:spPr>
        <p:txBody>
          <a:bodyPr wrap="square" rtlCol="0">
            <a:spAutoFit/>
          </a:bodyPr>
          <a:lstStyle/>
          <a:p>
            <a:pPr lvl="0" algn="l">
              <a:buFont typeface="Arial" panose="020B0604020202020204" pitchFamily="34" charset="0"/>
            </a:pPr>
            <a:r>
              <a:rPr lang="zh-CN" altLang="en-US" sz="2800" b="1" dirty="0">
                <a:latin typeface="黑体" panose="02010609060101010101" charset="-122"/>
                <a:ea typeface="黑体" panose="02010609060101010101" charset="-122"/>
                <a:sym typeface="+mn-ea"/>
              </a:rPr>
              <a:t>电话簿程序功能：输入名字，快速得出对应的电话号码。</a:t>
            </a:r>
          </a:p>
          <a:p>
            <a:pPr marL="342900" lvl="0" indent="-342900" algn="l">
              <a:buFont typeface="Arial" panose="020B0604020202020204" pitchFamily="34" charset="0"/>
            </a:pPr>
            <a:endParaRPr lang="zh-CN" altLang="en-US" sz="2800" b="1" dirty="0">
              <a:latin typeface="黑体" panose="02010609060101010101" charset="-122"/>
              <a:ea typeface="黑体" panose="02010609060101010101" charset="-122"/>
              <a:sym typeface="+mn-ea"/>
            </a:endParaRPr>
          </a:p>
          <a:p>
            <a:pPr marL="342900" lvl="0" indent="-342900" algn="l">
              <a:buFont typeface="Arial" panose="020B0604020202020204" pitchFamily="34" charset="0"/>
            </a:pPr>
            <a:r>
              <a:rPr lang="zh-CN" altLang="en-US" sz="2800" b="1" dirty="0">
                <a:solidFill>
                  <a:srgbClr val="FF0000"/>
                </a:solidFill>
                <a:latin typeface="黑体" panose="02010609060101010101" charset="-122"/>
                <a:ea typeface="黑体" panose="02010609060101010101" charset="-122"/>
                <a:sym typeface="+mn-ea"/>
              </a:rPr>
              <a:t>程序中该如何存储类似右边的电话簿？</a:t>
            </a:r>
            <a:endParaRPr lang="zh-CN" altLang="en-US" sz="2800" b="1" dirty="0">
              <a:latin typeface="黑体" panose="02010609060101010101" charset="-122"/>
              <a:ea typeface="黑体" panose="02010609060101010101" charset="-122"/>
              <a:sym typeface="+mn-ea"/>
            </a:endParaRPr>
          </a:p>
          <a:p>
            <a:pPr marL="342900" lvl="0" indent="-342900" algn="l">
              <a:buFont typeface="Arial" panose="020B0604020202020204" pitchFamily="34" charset="0"/>
            </a:pPr>
            <a:endParaRPr lang="zh-CN" altLang="en-US" sz="2800" b="1" dirty="0">
              <a:latin typeface="黑体" panose="02010609060101010101" charset="-122"/>
              <a:ea typeface="黑体" panose="02010609060101010101" charset="-122"/>
              <a:sym typeface="+mn-ea"/>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45" y="756285"/>
            <a:ext cx="8245475" cy="688340"/>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、创建字典</a:t>
            </a:r>
          </a:p>
        </p:txBody>
      </p:sp>
      <p:sp>
        <p:nvSpPr>
          <p:cNvPr id="3" name="内容占位符 2"/>
          <p:cNvSpPr>
            <a:spLocks noGrp="1"/>
          </p:cNvSpPr>
          <p:nvPr>
            <p:ph idx="1"/>
          </p:nvPr>
        </p:nvSpPr>
        <p:spPr>
          <a:xfrm>
            <a:off x="557530" y="1584960"/>
            <a:ext cx="11083925" cy="4457065"/>
          </a:xfrm>
        </p:spPr>
        <p:txBody>
          <a:bodyPr vert="horz" wrap="square" lIns="91456" tIns="45728" rIns="91456" bIns="45728"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格式：</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0" fontAlgn="base" latinLnBrk="0" hangingPunct="0">
              <a:lnSpc>
                <a:spcPct val="100000"/>
              </a:lnSpc>
              <a:spcBef>
                <a:spcPct val="20000"/>
              </a:spcBef>
              <a:spcAft>
                <a:spcPct val="0"/>
              </a:spcAft>
              <a:buClrTx/>
              <a:buSzTx/>
              <a:buFontTx/>
              <a:buNone/>
              <a:defRPr/>
            </a:pP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dictionary={key1:value1, key2:value2, …, </a:t>
            </a:r>
            <a:r>
              <a:rPr kumimoji="0" lang="en-US" altLang="zh-CN" sz="28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keyn:valuen</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创建</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个“键</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值”对组成的字典</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just" defTabSz="914400" rtl="0" eaLnBrk="0" fontAlgn="base" latinLnBrk="0" hangingPunct="0">
              <a:lnSpc>
                <a:spcPct val="100000"/>
              </a:lnSpc>
              <a:spcBef>
                <a:spcPct val="20000"/>
              </a:spcBef>
              <a:spcAft>
                <a:spcPct val="0"/>
              </a:spcAft>
              <a:buClrTx/>
              <a:buSzTx/>
              <a:buFontTx/>
              <a:buNone/>
              <a:defRPr/>
            </a:pP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800"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dictionary</a:t>
            </a:r>
            <a:r>
              <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创建空字典</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注意，对于字典的键有两个限制：</a:t>
            </a:r>
            <a:endParaRPr kumimoji="0" lang="en-US" altLang="zh-CN" sz="280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rPr>
              <a:t>字典中的键必须独一无二，即在同一个字典中，任何两个键</a:t>
            </a:r>
            <a:r>
              <a:rPr kumimoji="0" lang="en-US" altLang="zh-CN" sz="28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rPr>
              <a:t>—</a:t>
            </a:r>
            <a:r>
              <a:rPr kumimoji="0" lang="zh-CN" altLang="en-US" sz="28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rPr>
              <a:t>值对都不能相同；</a:t>
            </a:r>
            <a:endParaRPr kumimoji="0" lang="en-US" altLang="zh-CN" sz="28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rPr>
              <a:t>键必须是不可变的。因此，字典键不能是列表、字典</a:t>
            </a:r>
            <a:endParaRPr kumimoji="0" lang="en-US" altLang="zh-CN" sz="28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rPr>
              <a:t>对值没有这两个限制。</a:t>
            </a:r>
            <a:endParaRPr kumimoji="0" lang="en-US" altLang="zh-CN" sz="28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楷体" panose="02010609060101010101" pitchFamily="49" charset="-122"/>
            </a:endParaRP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Tree>
  </p:cSld>
  <p:clrMapOvr>
    <a:masterClrMapping/>
  </p:clrMapOvr>
  <p:transition spd="slow" advTm="0"/>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5435" y="915035"/>
            <a:ext cx="7353935" cy="593725"/>
          </a:xfrm>
        </p:spPr>
        <p:txBody>
          <a:bodyPr/>
          <a:lstStyle/>
          <a:p>
            <a:pPr algn="l"/>
            <a:r>
              <a:rPr lang="zh-CN" altLang="en-US" sz="2800" dirty="0">
                <a:latin typeface="微软雅黑" panose="020B0503020204020204" pitchFamily="34" charset="-122"/>
                <a:ea typeface="微软雅黑" panose="020B0503020204020204" pitchFamily="34" charset="-122"/>
              </a:rPr>
              <a:t>用字典存储电话簿？</a:t>
            </a:r>
          </a:p>
        </p:txBody>
      </p:sp>
      <p:sp>
        <p:nvSpPr>
          <p:cNvPr id="6" name="内容占位符 2"/>
          <p:cNvSpPr txBox="1"/>
          <p:nvPr/>
        </p:nvSpPr>
        <p:spPr>
          <a:xfrm>
            <a:off x="6383798" y="1557326"/>
            <a:ext cx="4897451" cy="4609365"/>
          </a:xfrm>
          <a:prstGeom prst="rect">
            <a:avLst/>
          </a:prstGeom>
          <a:solidFill>
            <a:schemeClr val="bg1">
              <a:lumMod val="95000"/>
            </a:schemeClr>
          </a:solidFill>
          <a:ln w="12700">
            <a:solidFill>
              <a:schemeClr val="tx1"/>
            </a:solid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dirty="0"/>
              <a:t>contacts</a:t>
            </a:r>
            <a:r>
              <a:rPr lang="zh-CN" altLang="en-US" dirty="0"/>
              <a:t> </a:t>
            </a:r>
            <a:r>
              <a:rPr lang="en-US" altLang="zh-CN" dirty="0"/>
              <a:t>= {</a:t>
            </a:r>
            <a:br>
              <a:rPr lang="en-US" altLang="zh-CN" dirty="0"/>
            </a:br>
            <a:r>
              <a:rPr lang="en-US" altLang="zh-CN" dirty="0"/>
              <a:t>    </a:t>
            </a:r>
            <a:r>
              <a:rPr lang="en-US" altLang="zh-CN" b="1" dirty="0"/>
              <a:t>'</a:t>
            </a:r>
            <a:r>
              <a:rPr lang="zh-CN" altLang="en-US" b="1" dirty="0"/>
              <a:t>马云</a:t>
            </a:r>
            <a:r>
              <a:rPr lang="en-US" altLang="zh-CN" b="1" dirty="0"/>
              <a:t>'</a:t>
            </a:r>
            <a:r>
              <a:rPr lang="en-US" altLang="zh-CN" b="1" dirty="0">
                <a:solidFill>
                  <a:srgbClr val="FF0000"/>
                </a:solidFill>
              </a:rPr>
              <a:t>: </a:t>
            </a:r>
            <a:r>
              <a:rPr lang="en-US" altLang="zh-CN" dirty="0"/>
              <a:t> </a:t>
            </a:r>
            <a:r>
              <a:rPr lang="en-US" altLang="zh-CN" b="1" dirty="0"/>
              <a:t>'13309283335'</a:t>
            </a:r>
            <a:r>
              <a:rPr lang="en-US" altLang="zh-CN" dirty="0"/>
              <a:t>,</a:t>
            </a:r>
            <a:br>
              <a:rPr lang="en-US" altLang="zh-CN" dirty="0"/>
            </a:br>
            <a:r>
              <a:rPr lang="en-US" altLang="zh-CN" dirty="0"/>
              <a:t>    </a:t>
            </a:r>
            <a:r>
              <a:rPr lang="en-US" altLang="zh-CN" b="1" dirty="0"/>
              <a:t>'</a:t>
            </a:r>
            <a:r>
              <a:rPr lang="zh-CN" altLang="en-US" b="1" dirty="0"/>
              <a:t>赵龙</a:t>
            </a:r>
            <a:r>
              <a:rPr lang="en-US" altLang="zh-CN" b="1" dirty="0"/>
              <a:t>'</a:t>
            </a:r>
            <a:r>
              <a:rPr lang="en-US" altLang="zh-CN" dirty="0"/>
              <a:t>:  </a:t>
            </a:r>
            <a:r>
              <a:rPr lang="en-US" altLang="zh-CN" b="1" dirty="0"/>
              <a:t>'18989227822'</a:t>
            </a:r>
            <a:r>
              <a:rPr lang="en-US" altLang="zh-CN" dirty="0"/>
              <a:t>,</a:t>
            </a:r>
            <a:br>
              <a:rPr lang="en-US" altLang="zh-CN" dirty="0"/>
            </a:br>
            <a:r>
              <a:rPr lang="en-US" altLang="zh-CN" dirty="0"/>
              <a:t>    </a:t>
            </a:r>
            <a:r>
              <a:rPr lang="en-US" altLang="zh-CN" b="1" dirty="0"/>
              <a:t>'</a:t>
            </a:r>
            <a:r>
              <a:rPr lang="zh-CN" altLang="en-US" b="1" dirty="0"/>
              <a:t>张敏</a:t>
            </a:r>
            <a:r>
              <a:rPr lang="en-US" altLang="zh-CN" b="1" dirty="0"/>
              <a:t>'</a:t>
            </a:r>
            <a:r>
              <a:rPr lang="en-US" altLang="zh-CN" dirty="0"/>
              <a:t>:  </a:t>
            </a:r>
            <a:r>
              <a:rPr lang="en-US" altLang="zh-CN" b="1" dirty="0"/>
              <a:t>'13382398921'</a:t>
            </a:r>
            <a:r>
              <a:rPr lang="en-US" altLang="zh-CN" dirty="0"/>
              <a:t>,</a:t>
            </a:r>
            <a:br>
              <a:rPr lang="en-US" altLang="zh-CN" dirty="0"/>
            </a:br>
            <a:r>
              <a:rPr lang="en-US" altLang="zh-CN" dirty="0"/>
              <a:t>    </a:t>
            </a:r>
            <a:r>
              <a:rPr lang="en-US" altLang="zh-CN" b="1" dirty="0"/>
              <a:t>'</a:t>
            </a:r>
            <a:r>
              <a:rPr lang="zh-CN" altLang="en-US" b="1" dirty="0"/>
              <a:t>乔治</a:t>
            </a:r>
            <a:r>
              <a:rPr lang="en-US" altLang="zh-CN" b="1" dirty="0"/>
              <a:t>'</a:t>
            </a:r>
            <a:r>
              <a:rPr lang="en-US" altLang="zh-CN" dirty="0"/>
              <a:t>:  </a:t>
            </a:r>
            <a:r>
              <a:rPr lang="en-US" altLang="zh-CN" b="1" dirty="0"/>
              <a:t>'19833824743'</a:t>
            </a:r>
            <a:r>
              <a:rPr lang="en-US" altLang="zh-CN" dirty="0"/>
              <a:t>,</a:t>
            </a:r>
            <a:br>
              <a:rPr lang="en-US" altLang="zh-CN" dirty="0"/>
            </a:br>
            <a:r>
              <a:rPr lang="en-US" altLang="zh-CN" dirty="0"/>
              <a:t>    </a:t>
            </a:r>
            <a:r>
              <a:rPr lang="en-US" altLang="zh-CN" b="1" dirty="0"/>
              <a:t>'</a:t>
            </a:r>
            <a:r>
              <a:rPr lang="zh-CN" altLang="en-US" b="1" dirty="0"/>
              <a:t>乔丹</a:t>
            </a:r>
            <a:r>
              <a:rPr lang="en-US" altLang="zh-CN" b="1" dirty="0"/>
              <a:t>'</a:t>
            </a:r>
            <a:r>
              <a:rPr lang="en-US" altLang="zh-CN" dirty="0"/>
              <a:t>:  </a:t>
            </a:r>
            <a:r>
              <a:rPr lang="en-US" altLang="zh-CN" b="1" dirty="0"/>
              <a:t>'18807317878'</a:t>
            </a:r>
            <a:r>
              <a:rPr lang="en-US" altLang="zh-CN" dirty="0"/>
              <a:t>,</a:t>
            </a:r>
            <a:br>
              <a:rPr lang="en-US" altLang="zh-CN" dirty="0"/>
            </a:br>
            <a:r>
              <a:rPr lang="en-US" altLang="zh-CN" dirty="0"/>
              <a:t>    </a:t>
            </a:r>
            <a:r>
              <a:rPr lang="en-US" altLang="zh-CN" b="1" dirty="0"/>
              <a:t>'</a:t>
            </a:r>
            <a:r>
              <a:rPr lang="zh-CN" altLang="en-US" b="1" dirty="0"/>
              <a:t>库里</a:t>
            </a:r>
            <a:r>
              <a:rPr lang="en-US" altLang="zh-CN" b="1" dirty="0"/>
              <a:t>'</a:t>
            </a:r>
            <a:r>
              <a:rPr lang="en-US" altLang="zh-CN" dirty="0"/>
              <a:t>:  </a:t>
            </a:r>
            <a:r>
              <a:rPr lang="en-US" altLang="zh-CN" b="1" dirty="0"/>
              <a:t>'15093488129'</a:t>
            </a:r>
            <a:r>
              <a:rPr lang="en-US" altLang="zh-CN" dirty="0"/>
              <a:t>,</a:t>
            </a:r>
            <a:br>
              <a:rPr lang="en-US" altLang="zh-CN" dirty="0"/>
            </a:br>
            <a:r>
              <a:rPr lang="en-US" altLang="zh-CN" dirty="0"/>
              <a:t>    </a:t>
            </a:r>
            <a:r>
              <a:rPr lang="en-US" altLang="zh-CN" b="1" dirty="0"/>
              <a:t>'</a:t>
            </a:r>
            <a:r>
              <a:rPr lang="zh-CN" altLang="en-US" b="1" dirty="0"/>
              <a:t>韦德</a:t>
            </a:r>
            <a:r>
              <a:rPr lang="en-US" altLang="zh-CN" b="1" dirty="0"/>
              <a:t>'</a:t>
            </a:r>
            <a:r>
              <a:rPr lang="en-US" altLang="zh-CN" dirty="0"/>
              <a:t>:  </a:t>
            </a:r>
            <a:r>
              <a:rPr lang="en-US" altLang="zh-CN" b="1" dirty="0"/>
              <a:t>'19282937665'</a:t>
            </a:r>
            <a:br>
              <a:rPr lang="en-US" altLang="zh-CN" b="1" dirty="0"/>
            </a:br>
            <a:r>
              <a:rPr lang="en-US" altLang="zh-CN" dirty="0"/>
              <a:t>} </a:t>
            </a:r>
            <a:r>
              <a:rPr lang="en-US" altLang="zh-CN" sz="2665" i="1" dirty="0"/>
              <a:t>#</a:t>
            </a:r>
            <a:r>
              <a:rPr lang="zh-CN" altLang="en-US" sz="2665" i="1" dirty="0"/>
              <a:t>例字典存储电话簿</a:t>
            </a:r>
            <a:endParaRPr lang="zh-CN" altLang="en-US" sz="2665" dirty="0">
              <a:solidFill>
                <a:srgbClr val="C00000"/>
              </a:solidFill>
            </a:endParaRPr>
          </a:p>
        </p:txBody>
      </p:sp>
      <p:graphicFrame>
        <p:nvGraphicFramePr>
          <p:cNvPr id="13" name="表格 12"/>
          <p:cNvGraphicFramePr>
            <a:graphicFrameLocks noGrp="1"/>
          </p:cNvGraphicFramePr>
          <p:nvPr/>
        </p:nvGraphicFramePr>
        <p:xfrm>
          <a:off x="669290" y="1661795"/>
          <a:ext cx="3903980" cy="4507230"/>
        </p:xfrm>
        <a:graphic>
          <a:graphicData uri="http://schemas.openxmlformats.org/drawingml/2006/table">
            <a:tbl>
              <a:tblPr firstRow="1" bandRow="1">
                <a:tableStyleId>{5940675A-B579-460E-94D1-54222C63F5DA}</a:tableStyleId>
              </a:tblPr>
              <a:tblGrid>
                <a:gridCol w="1215390">
                  <a:extLst>
                    <a:ext uri="{9D8B030D-6E8A-4147-A177-3AD203B41FA5}">
                      <a16:colId xmlns:a16="http://schemas.microsoft.com/office/drawing/2014/main" val="20000"/>
                    </a:ext>
                  </a:extLst>
                </a:gridCol>
                <a:gridCol w="2688590">
                  <a:extLst>
                    <a:ext uri="{9D8B030D-6E8A-4147-A177-3AD203B41FA5}">
                      <a16:colId xmlns:a16="http://schemas.microsoft.com/office/drawing/2014/main" val="20001"/>
                    </a:ext>
                  </a:extLst>
                </a:gridCol>
              </a:tblGrid>
              <a:tr h="643890">
                <a:tc>
                  <a:txBody>
                    <a:bodyPr/>
                    <a:lstStyle/>
                    <a:p>
                      <a:r>
                        <a:rPr lang="zh-CN" altLang="en-US" sz="2400" dirty="0">
                          <a:latin typeface="微软雅黑" panose="020B0503020204020204" pitchFamily="34" charset="-122"/>
                          <a:ea typeface="微软雅黑" panose="020B0503020204020204" pitchFamily="34" charset="-122"/>
                        </a:rPr>
                        <a:t>马云</a:t>
                      </a:r>
                    </a:p>
                  </a:txBody>
                  <a:tcPr marL="121942" marR="121942" marT="60971" marB="60971" anchor="ctr"/>
                </a:tc>
                <a:tc>
                  <a:txBody>
                    <a:bodyPr/>
                    <a:lstStyle/>
                    <a:p>
                      <a:r>
                        <a:rPr lang="en-US" altLang="zh-CN" sz="2400" dirty="0">
                          <a:latin typeface="微软雅黑" panose="020B0503020204020204" pitchFamily="34" charset="-122"/>
                          <a:ea typeface="微软雅黑" panose="020B0503020204020204" pitchFamily="34" charset="-122"/>
                        </a:rPr>
                        <a:t>133 0928 3335</a:t>
                      </a:r>
                    </a:p>
                  </a:txBody>
                  <a:tcPr marL="121942" marR="121942" marT="60971" marB="60971" anchor="ctr"/>
                </a:tc>
                <a:extLst>
                  <a:ext uri="{0D108BD9-81ED-4DB2-BD59-A6C34878D82A}">
                    <a16:rowId xmlns:a16="http://schemas.microsoft.com/office/drawing/2014/main" val="10000"/>
                  </a:ext>
                </a:extLst>
              </a:tr>
              <a:tr h="643890">
                <a:tc>
                  <a:txBody>
                    <a:bodyPr/>
                    <a:lstStyle/>
                    <a:p>
                      <a:r>
                        <a:rPr lang="zh-CN" altLang="en-US" sz="2400" dirty="0">
                          <a:latin typeface="微软雅黑" panose="020B0503020204020204" pitchFamily="34" charset="-122"/>
                          <a:ea typeface="微软雅黑" panose="020B0503020204020204" pitchFamily="34" charset="-122"/>
                        </a:rPr>
                        <a:t>赵龙</a:t>
                      </a:r>
                    </a:p>
                  </a:txBody>
                  <a:tcPr marL="121942" marR="121942" marT="60971" marB="60971" anchor="ctr"/>
                </a:tc>
                <a:tc>
                  <a:txBody>
                    <a:bodyPr/>
                    <a:lstStyle/>
                    <a:p>
                      <a:r>
                        <a:rPr lang="en-US" altLang="zh-CN" sz="2400" dirty="0">
                          <a:latin typeface="微软雅黑" panose="020B0503020204020204" pitchFamily="34" charset="-122"/>
                          <a:ea typeface="微软雅黑" panose="020B0503020204020204" pitchFamily="34" charset="-122"/>
                        </a:rPr>
                        <a:t>189</a:t>
                      </a:r>
                      <a:r>
                        <a:rPr lang="en-US" altLang="zh-CN" sz="2400" baseline="0" dirty="0">
                          <a:latin typeface="微软雅黑" panose="020B0503020204020204" pitchFamily="34" charset="-122"/>
                          <a:ea typeface="微软雅黑" panose="020B0503020204020204" pitchFamily="34" charset="-122"/>
                        </a:rPr>
                        <a:t> 8922 7822</a:t>
                      </a:r>
                      <a:endParaRPr lang="en-US" altLang="zh-CN" sz="2400" dirty="0">
                        <a:latin typeface="微软雅黑" panose="020B0503020204020204" pitchFamily="34" charset="-122"/>
                        <a:ea typeface="微软雅黑" panose="020B0503020204020204" pitchFamily="34" charset="-122"/>
                      </a:endParaRPr>
                    </a:p>
                  </a:txBody>
                  <a:tcPr marL="121942" marR="121942" marT="60971" marB="60971" anchor="ctr"/>
                </a:tc>
                <a:extLst>
                  <a:ext uri="{0D108BD9-81ED-4DB2-BD59-A6C34878D82A}">
                    <a16:rowId xmlns:a16="http://schemas.microsoft.com/office/drawing/2014/main" val="10001"/>
                  </a:ext>
                </a:extLst>
              </a:tr>
              <a:tr h="643890">
                <a:tc>
                  <a:txBody>
                    <a:bodyPr/>
                    <a:lstStyle/>
                    <a:p>
                      <a:r>
                        <a:rPr lang="zh-CN" altLang="en-US" sz="2400" dirty="0">
                          <a:latin typeface="微软雅黑" panose="020B0503020204020204" pitchFamily="34" charset="-122"/>
                          <a:ea typeface="微软雅黑" panose="020B0503020204020204" pitchFamily="34" charset="-122"/>
                        </a:rPr>
                        <a:t>张敏</a:t>
                      </a:r>
                    </a:p>
                  </a:txBody>
                  <a:tcPr marL="121942" marR="121942" marT="60971" marB="60971" anchor="ctr"/>
                </a:tc>
                <a:tc>
                  <a:txBody>
                    <a:bodyPr/>
                    <a:lstStyle/>
                    <a:p>
                      <a:r>
                        <a:rPr lang="en-US" altLang="zh-CN" sz="2400" dirty="0">
                          <a:latin typeface="微软雅黑" panose="020B0503020204020204" pitchFamily="34" charset="-122"/>
                          <a:ea typeface="微软雅黑" panose="020B0503020204020204" pitchFamily="34" charset="-122"/>
                        </a:rPr>
                        <a:t>133 8239 8921</a:t>
                      </a:r>
                    </a:p>
                  </a:txBody>
                  <a:tcPr marL="121942" marR="121942" marT="60971" marB="60971" anchor="ctr"/>
                </a:tc>
                <a:extLst>
                  <a:ext uri="{0D108BD9-81ED-4DB2-BD59-A6C34878D82A}">
                    <a16:rowId xmlns:a16="http://schemas.microsoft.com/office/drawing/2014/main" val="10002"/>
                  </a:ext>
                </a:extLst>
              </a:tr>
              <a:tr h="643890">
                <a:tc>
                  <a:txBody>
                    <a:bodyPr/>
                    <a:lstStyle/>
                    <a:p>
                      <a:r>
                        <a:rPr lang="zh-CN" altLang="en-US" sz="2400" dirty="0">
                          <a:latin typeface="微软雅黑" panose="020B0503020204020204" pitchFamily="34" charset="-122"/>
                          <a:ea typeface="微软雅黑" panose="020B0503020204020204" pitchFamily="34" charset="-122"/>
                        </a:rPr>
                        <a:t>乔治</a:t>
                      </a:r>
                    </a:p>
                  </a:txBody>
                  <a:tcPr marL="121942" marR="121942" marT="60971" marB="60971" anchor="ctr"/>
                </a:tc>
                <a:tc>
                  <a:txBody>
                    <a:bodyPr/>
                    <a:lstStyle/>
                    <a:p>
                      <a:r>
                        <a:rPr lang="en-US" altLang="zh-CN" sz="2400" dirty="0">
                          <a:latin typeface="微软雅黑" panose="020B0503020204020204" pitchFamily="34" charset="-122"/>
                          <a:ea typeface="微软雅黑" panose="020B0503020204020204" pitchFamily="34" charset="-122"/>
                        </a:rPr>
                        <a:t>198 3382 4743</a:t>
                      </a:r>
                    </a:p>
                  </a:txBody>
                  <a:tcPr marL="121942" marR="121942" marT="60971" marB="60971" anchor="ctr"/>
                </a:tc>
                <a:extLst>
                  <a:ext uri="{0D108BD9-81ED-4DB2-BD59-A6C34878D82A}">
                    <a16:rowId xmlns:a16="http://schemas.microsoft.com/office/drawing/2014/main" val="10003"/>
                  </a:ext>
                </a:extLst>
              </a:tr>
              <a:tr h="643890">
                <a:tc>
                  <a:txBody>
                    <a:bodyPr/>
                    <a:lstStyle/>
                    <a:p>
                      <a:r>
                        <a:rPr lang="zh-CN" altLang="en-US" sz="2400" dirty="0">
                          <a:latin typeface="微软雅黑" panose="020B0503020204020204" pitchFamily="34" charset="-122"/>
                          <a:ea typeface="微软雅黑" panose="020B0503020204020204" pitchFamily="34" charset="-122"/>
                        </a:rPr>
                        <a:t>乔丹</a:t>
                      </a:r>
                    </a:p>
                  </a:txBody>
                  <a:tcPr marL="121942" marR="121942" marT="60971" marB="60971" anchor="ctr"/>
                </a:tc>
                <a:tc>
                  <a:txBody>
                    <a:bodyPr/>
                    <a:lstStyle/>
                    <a:p>
                      <a:r>
                        <a:rPr lang="en-US" altLang="zh-CN" sz="2400" dirty="0">
                          <a:latin typeface="微软雅黑" panose="020B0503020204020204" pitchFamily="34" charset="-122"/>
                          <a:ea typeface="微软雅黑" panose="020B0503020204020204" pitchFamily="34" charset="-122"/>
                        </a:rPr>
                        <a:t>188</a:t>
                      </a:r>
                      <a:r>
                        <a:rPr lang="en-US" altLang="zh-CN" sz="2400" baseline="0" dirty="0">
                          <a:latin typeface="微软雅黑" panose="020B0503020204020204" pitchFamily="34" charset="-122"/>
                          <a:ea typeface="微软雅黑" panose="020B0503020204020204" pitchFamily="34" charset="-122"/>
                        </a:rPr>
                        <a:t> 0731 7878</a:t>
                      </a:r>
                      <a:endParaRPr lang="en-US" altLang="zh-CN" sz="2400" dirty="0">
                        <a:latin typeface="微软雅黑" panose="020B0503020204020204" pitchFamily="34" charset="-122"/>
                        <a:ea typeface="微软雅黑" panose="020B0503020204020204" pitchFamily="34" charset="-122"/>
                      </a:endParaRPr>
                    </a:p>
                  </a:txBody>
                  <a:tcPr marL="121942" marR="121942" marT="60971" marB="60971" anchor="ctr"/>
                </a:tc>
                <a:extLst>
                  <a:ext uri="{0D108BD9-81ED-4DB2-BD59-A6C34878D82A}">
                    <a16:rowId xmlns:a16="http://schemas.microsoft.com/office/drawing/2014/main" val="10004"/>
                  </a:ext>
                </a:extLst>
              </a:tr>
              <a:tr h="643890">
                <a:tc>
                  <a:txBody>
                    <a:bodyPr/>
                    <a:lstStyle/>
                    <a:p>
                      <a:r>
                        <a:rPr lang="zh-CN" altLang="en-US" sz="2400" dirty="0">
                          <a:latin typeface="微软雅黑" panose="020B0503020204020204" pitchFamily="34" charset="-122"/>
                          <a:ea typeface="微软雅黑" panose="020B0503020204020204" pitchFamily="34" charset="-122"/>
                        </a:rPr>
                        <a:t>库里</a:t>
                      </a:r>
                    </a:p>
                  </a:txBody>
                  <a:tcPr marL="121942" marR="121942" marT="60971" marB="60971" anchor="ctr"/>
                </a:tc>
                <a:tc>
                  <a:txBody>
                    <a:bodyPr/>
                    <a:lstStyle/>
                    <a:p>
                      <a:r>
                        <a:rPr lang="en-US" altLang="zh-CN" sz="2400" dirty="0">
                          <a:latin typeface="微软雅黑" panose="020B0503020204020204" pitchFamily="34" charset="-122"/>
                          <a:ea typeface="微软雅黑" panose="020B0503020204020204" pitchFamily="34" charset="-122"/>
                        </a:rPr>
                        <a:t>150 9348 8129</a:t>
                      </a:r>
                    </a:p>
                  </a:txBody>
                  <a:tcPr marL="121942" marR="121942" marT="60971" marB="60971" anchor="ctr"/>
                </a:tc>
                <a:extLst>
                  <a:ext uri="{0D108BD9-81ED-4DB2-BD59-A6C34878D82A}">
                    <a16:rowId xmlns:a16="http://schemas.microsoft.com/office/drawing/2014/main" val="10005"/>
                  </a:ext>
                </a:extLst>
              </a:tr>
              <a:tr h="643890">
                <a:tc>
                  <a:txBody>
                    <a:bodyPr/>
                    <a:lstStyle/>
                    <a:p>
                      <a:r>
                        <a:rPr lang="zh-CN" altLang="en-US" sz="2400" dirty="0">
                          <a:latin typeface="微软雅黑" panose="020B0503020204020204" pitchFamily="34" charset="-122"/>
                          <a:ea typeface="微软雅黑" panose="020B0503020204020204" pitchFamily="34" charset="-122"/>
                        </a:rPr>
                        <a:t>韦德</a:t>
                      </a:r>
                    </a:p>
                  </a:txBody>
                  <a:tcPr marL="121942" marR="121942" marT="60971" marB="60971" anchor="ctr"/>
                </a:tc>
                <a:tc>
                  <a:txBody>
                    <a:bodyPr/>
                    <a:lstStyle/>
                    <a:p>
                      <a:r>
                        <a:rPr lang="en-US" altLang="zh-CN" sz="2400" dirty="0">
                          <a:latin typeface="微软雅黑" panose="020B0503020204020204" pitchFamily="34" charset="-122"/>
                          <a:ea typeface="微软雅黑" panose="020B0503020204020204" pitchFamily="34" charset="-122"/>
                        </a:rPr>
                        <a:t>192 8293</a:t>
                      </a:r>
                      <a:r>
                        <a:rPr lang="en-US" altLang="zh-CN" sz="2400" baseline="0" dirty="0">
                          <a:latin typeface="微软雅黑" panose="020B0503020204020204" pitchFamily="34" charset="-122"/>
                          <a:ea typeface="微软雅黑" panose="020B0503020204020204" pitchFamily="34" charset="-122"/>
                        </a:rPr>
                        <a:t> 7665</a:t>
                      </a:r>
                      <a:endParaRPr lang="en-US" altLang="zh-CN" sz="2400" dirty="0">
                        <a:latin typeface="微软雅黑" panose="020B0503020204020204" pitchFamily="34" charset="-122"/>
                        <a:ea typeface="微软雅黑" panose="020B0503020204020204" pitchFamily="34" charset="-122"/>
                      </a:endParaRPr>
                    </a:p>
                  </a:txBody>
                  <a:tcPr marL="121942" marR="121942" marT="60971" marB="60971" anchor="ctr"/>
                </a:tc>
                <a:extLst>
                  <a:ext uri="{0D108BD9-81ED-4DB2-BD59-A6C34878D82A}">
                    <a16:rowId xmlns:a16="http://schemas.microsoft.com/office/drawing/2014/main" val="10006"/>
                  </a:ext>
                </a:extLst>
              </a:tr>
            </a:tbl>
          </a:graphicData>
        </a:graphic>
      </p:graphicFrame>
      <p:sp>
        <p:nvSpPr>
          <p:cNvPr id="9" name="线形标注 2(无边框) 8"/>
          <p:cNvSpPr/>
          <p:nvPr/>
        </p:nvSpPr>
        <p:spPr>
          <a:xfrm>
            <a:off x="9844283" y="1317009"/>
            <a:ext cx="2112624" cy="703770"/>
          </a:xfrm>
          <a:prstGeom prst="callout2">
            <a:avLst>
              <a:gd name="adj1" fmla="val 33273"/>
              <a:gd name="adj2" fmla="val -215"/>
              <a:gd name="adj3" fmla="val 13544"/>
              <a:gd name="adj4" fmla="val -6909"/>
              <a:gd name="adj5" fmla="val 101189"/>
              <a:gd name="adj6" fmla="val -34019"/>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lvl="0" indent="-342900" algn="just">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键: 值</a:t>
            </a:r>
          </a:p>
        </p:txBody>
      </p:sp>
      <p:grpSp>
        <p:nvGrpSpPr>
          <p:cNvPr id="7" name="组合 6"/>
          <p:cNvGrpSpPr/>
          <p:nvPr/>
        </p:nvGrpSpPr>
        <p:grpSpPr>
          <a:xfrm>
            <a:off x="4573270" y="3065145"/>
            <a:ext cx="1713230" cy="1132205"/>
            <a:chOff x="7202" y="4827"/>
            <a:chExt cx="2698" cy="1783"/>
          </a:xfrm>
        </p:grpSpPr>
        <p:sp>
          <p:nvSpPr>
            <p:cNvPr id="14" name="右箭头 13"/>
            <p:cNvSpPr/>
            <p:nvPr/>
          </p:nvSpPr>
          <p:spPr>
            <a:xfrm>
              <a:off x="7347" y="5552"/>
              <a:ext cx="2409" cy="1059"/>
            </a:xfrm>
            <a:prstGeom prst="right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p>
          </p:txBody>
        </p:sp>
        <p:sp>
          <p:nvSpPr>
            <p:cNvPr id="3" name="文本框 2"/>
            <p:cNvSpPr txBox="1"/>
            <p:nvPr/>
          </p:nvSpPr>
          <p:spPr>
            <a:xfrm>
              <a:off x="7202" y="4827"/>
              <a:ext cx="2698" cy="725"/>
            </a:xfrm>
            <a:prstGeom prst="rect">
              <a:avLst/>
            </a:prstGeom>
            <a:noFill/>
          </p:spPr>
          <p:txBody>
            <a:bodyPr wrap="none" rtlCol="0" anchor="t">
              <a:spAutoFit/>
            </a:bodyPr>
            <a:lstStyle/>
            <a:p>
              <a:pPr algn="ctr"/>
              <a:r>
                <a:rPr lang="zh-CN" altLang="en-US" b="1" dirty="0">
                  <a:solidFill>
                    <a:srgbClr val="C00000"/>
                  </a:solidFill>
                  <a:sym typeface="+mn-ea"/>
                </a:rPr>
                <a:t>用字典存储</a:t>
              </a:r>
              <a:endParaRPr lang="zh-CN" altLang="en-US"/>
            </a:p>
          </p:txBody>
        </p:sp>
      </p:gr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Par">
                                  <p:stCondLst>
                                    <p:cond delay="0"/>
                                  </p:stCondLst>
                                  <p:childTnLst>
                                    <p:set>
                                      <p:cBhvr>
                                        <p:cTn id="16" dur="500"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bldLvl="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980930" y="78105"/>
            <a:ext cx="2119630" cy="678180"/>
          </a:xfrm>
        </p:spPr>
        <p:txBody>
          <a:bodyPr vert="horz" wrap="square" lIns="91456" tIns="45728" rIns="91456" bIns="45728" numCol="1" anchor="b" anchorCtr="0" compatLnSpc="1"/>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3" name="内容占位符 2"/>
          <p:cNvSpPr txBox="1"/>
          <p:nvPr/>
        </p:nvSpPr>
        <p:spPr>
          <a:xfrm>
            <a:off x="6438399" y="1985159"/>
            <a:ext cx="3672408" cy="3456384"/>
          </a:xfrm>
          <a:prstGeom prst="rect">
            <a:avLst/>
          </a:prstGeom>
          <a:solidFill>
            <a:schemeClr val="bg1">
              <a:lumMod val="95000"/>
            </a:schemeClr>
          </a:solidFill>
          <a:ln w="12700">
            <a:solidFill>
              <a:schemeClr val="tx1"/>
            </a:solid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400" dirty="0" err="1"/>
              <a:t>word_dict</a:t>
            </a:r>
            <a:r>
              <a:rPr lang="en-US" altLang="zh-CN" sz="2400" dirty="0"/>
              <a:t> = </a:t>
            </a:r>
            <a:r>
              <a:rPr lang="en-US" altLang="zh-CN" sz="2400" b="1" dirty="0">
                <a:solidFill>
                  <a:srgbClr val="FF0000"/>
                </a:solidFill>
                <a:latin typeface="Arial Unicode MS" panose="020B0604020202020204" charset="-122"/>
                <a:ea typeface="Arial Unicode MS" panose="020B0604020202020204" charset="-122"/>
                <a:cs typeface="Arial Unicode MS" panose="020B0604020202020204" charset="-122"/>
              </a:rPr>
              <a:t>{</a:t>
            </a:r>
            <a:br>
              <a:rPr lang="en-US" altLang="zh-CN" sz="2400" dirty="0"/>
            </a:br>
            <a:r>
              <a:rPr lang="en-US" altLang="zh-CN" sz="2400" dirty="0"/>
              <a:t>    </a:t>
            </a:r>
            <a:r>
              <a:rPr lang="en-US" altLang="zh-CN" sz="2400" b="1" dirty="0"/>
              <a:t>'name'</a:t>
            </a:r>
            <a:r>
              <a:rPr lang="en-US" altLang="zh-CN" sz="2400" dirty="0">
                <a:solidFill>
                  <a:srgbClr val="FF0000"/>
                </a:solidFill>
              </a:rPr>
              <a:t>:</a:t>
            </a:r>
            <a:r>
              <a:rPr lang="en-US" altLang="zh-CN" sz="2400" dirty="0"/>
              <a:t> </a:t>
            </a:r>
            <a:r>
              <a:rPr lang="en-US" altLang="zh-CN" sz="2400" b="1" dirty="0"/>
              <a:t>'</a:t>
            </a:r>
            <a:r>
              <a:rPr lang="zh-CN" altLang="en-US" sz="2400" b="1" dirty="0"/>
              <a:t>名字</a:t>
            </a:r>
            <a:r>
              <a:rPr lang="en-US" altLang="zh-CN" sz="2400" b="1" dirty="0"/>
              <a:t>'</a:t>
            </a:r>
            <a:r>
              <a:rPr lang="en-US" altLang="zh-CN" sz="2400" dirty="0"/>
              <a:t>,</a:t>
            </a:r>
            <a:br>
              <a:rPr lang="en-US" altLang="zh-CN" sz="2400" dirty="0"/>
            </a:br>
            <a:r>
              <a:rPr lang="en-US" altLang="zh-CN" sz="2400" dirty="0"/>
              <a:t>    </a:t>
            </a:r>
            <a:r>
              <a:rPr lang="en-US" altLang="zh-CN" sz="2400" b="1" dirty="0"/>
              <a:t>'python'</a:t>
            </a:r>
            <a:r>
              <a:rPr lang="en-US" altLang="zh-CN" sz="2400" dirty="0"/>
              <a:t>: </a:t>
            </a:r>
            <a:r>
              <a:rPr lang="en-US" altLang="zh-CN" sz="2400" b="1" dirty="0"/>
              <a:t>'</a:t>
            </a:r>
            <a:r>
              <a:rPr lang="zh-CN" altLang="en-US" sz="2400" b="1" dirty="0"/>
              <a:t>蟒蛇</a:t>
            </a:r>
            <a:r>
              <a:rPr lang="en-US" altLang="zh-CN" sz="2400" b="1" dirty="0"/>
              <a:t>'</a:t>
            </a:r>
            <a:r>
              <a:rPr lang="en-US" altLang="zh-CN" sz="2400" dirty="0"/>
              <a:t>,</a:t>
            </a:r>
            <a:br>
              <a:rPr lang="en-US" altLang="zh-CN" sz="2400" dirty="0"/>
            </a:br>
            <a:r>
              <a:rPr lang="en-US" altLang="zh-CN" sz="2400" dirty="0"/>
              <a:t>    </a:t>
            </a:r>
            <a:r>
              <a:rPr lang="en-US" altLang="zh-CN" sz="2400" b="1" dirty="0"/>
              <a:t>'dictionary'</a:t>
            </a:r>
            <a:r>
              <a:rPr lang="en-US" altLang="zh-CN" sz="2400" dirty="0"/>
              <a:t>: </a:t>
            </a:r>
            <a:r>
              <a:rPr lang="en-US" altLang="zh-CN" sz="2400" b="1" dirty="0"/>
              <a:t>'</a:t>
            </a:r>
            <a:r>
              <a:rPr lang="zh-CN" altLang="en-US" sz="2400" b="1" dirty="0"/>
              <a:t>字典</a:t>
            </a:r>
            <a:r>
              <a:rPr lang="en-US" altLang="zh-CN" sz="2400" b="1" dirty="0"/>
              <a:t>'</a:t>
            </a:r>
            <a:r>
              <a:rPr lang="en-US" altLang="zh-CN" sz="2400" dirty="0"/>
              <a:t>,</a:t>
            </a:r>
            <a:br>
              <a:rPr lang="en-US" altLang="zh-CN" sz="2400" dirty="0"/>
            </a:br>
            <a:r>
              <a:rPr lang="en-US" altLang="zh-CN" sz="2400" dirty="0"/>
              <a:t>    </a:t>
            </a:r>
            <a:r>
              <a:rPr lang="en-US" altLang="zh-CN" sz="2400" b="1" dirty="0"/>
              <a:t>'list'</a:t>
            </a:r>
            <a:r>
              <a:rPr lang="en-US" altLang="zh-CN" sz="2400" dirty="0"/>
              <a:t>: </a:t>
            </a:r>
            <a:r>
              <a:rPr lang="en-US" altLang="zh-CN" sz="2400" b="1" dirty="0"/>
              <a:t>'</a:t>
            </a:r>
            <a:r>
              <a:rPr lang="zh-CN" altLang="en-US" sz="2400" b="1" dirty="0"/>
              <a:t>列表</a:t>
            </a:r>
            <a:r>
              <a:rPr lang="en-US" altLang="zh-CN" sz="2400" b="1" dirty="0"/>
              <a:t>'</a:t>
            </a:r>
            <a:r>
              <a:rPr lang="en-US" altLang="zh-CN" sz="2400" dirty="0"/>
              <a:t>,</a:t>
            </a:r>
            <a:br>
              <a:rPr lang="en-US" altLang="zh-CN" sz="2400" dirty="0"/>
            </a:br>
            <a:r>
              <a:rPr lang="en-US" altLang="zh-CN" sz="2400" dirty="0"/>
              <a:t>    </a:t>
            </a:r>
            <a:r>
              <a:rPr lang="en-US" altLang="zh-CN" sz="2400" b="1" dirty="0"/>
              <a:t>'variable'</a:t>
            </a:r>
            <a:r>
              <a:rPr lang="en-US" altLang="zh-CN" sz="2400" dirty="0">
                <a:solidFill>
                  <a:srgbClr val="FF0000"/>
                </a:solidFill>
              </a:rPr>
              <a:t>:</a:t>
            </a:r>
            <a:r>
              <a:rPr lang="en-US" altLang="zh-CN" sz="2400" dirty="0"/>
              <a:t> </a:t>
            </a:r>
            <a:r>
              <a:rPr lang="en-US" altLang="zh-CN" sz="2400" b="1" dirty="0"/>
              <a:t>'</a:t>
            </a:r>
            <a:r>
              <a:rPr lang="zh-CN" altLang="en-US" sz="2400" b="1" dirty="0"/>
              <a:t>变量</a:t>
            </a:r>
            <a:r>
              <a:rPr lang="en-US" altLang="zh-CN" sz="2400" b="1" dirty="0"/>
              <a:t>'</a:t>
            </a:r>
            <a:r>
              <a:rPr lang="en-US" altLang="zh-CN" sz="2400" dirty="0"/>
              <a:t>,</a:t>
            </a:r>
            <a:br>
              <a:rPr lang="en-US" altLang="zh-CN" sz="2400" dirty="0"/>
            </a:br>
            <a:r>
              <a:rPr lang="en-US" altLang="zh-CN" sz="2400" dirty="0"/>
              <a:t>    </a:t>
            </a:r>
            <a:r>
              <a:rPr lang="en-US" altLang="zh-CN" sz="2400" b="1" dirty="0"/>
              <a:t>'class'</a:t>
            </a:r>
            <a:r>
              <a:rPr lang="en-US" altLang="zh-CN" sz="2400" dirty="0"/>
              <a:t>: </a:t>
            </a:r>
            <a:r>
              <a:rPr lang="en-US" altLang="zh-CN" sz="2400" b="1" dirty="0"/>
              <a:t>'</a:t>
            </a:r>
            <a:r>
              <a:rPr lang="zh-CN" altLang="en-US" sz="2400" b="1" dirty="0"/>
              <a:t>类</a:t>
            </a:r>
            <a:r>
              <a:rPr lang="en-US" altLang="zh-CN" sz="2400" b="1" dirty="0"/>
              <a:t>'</a:t>
            </a:r>
            <a:r>
              <a:rPr lang="en-US" altLang="zh-CN" sz="2400" dirty="0"/>
              <a:t>,</a:t>
            </a:r>
            <a:br>
              <a:rPr lang="en-US" altLang="zh-CN" sz="2400" dirty="0"/>
            </a:br>
            <a:r>
              <a:rPr lang="en-US" altLang="zh-CN" sz="2400" dirty="0"/>
              <a:t>    </a:t>
            </a:r>
            <a:r>
              <a:rPr lang="en-US" altLang="zh-CN" sz="2400" b="1" dirty="0"/>
              <a:t>'object'</a:t>
            </a:r>
            <a:r>
              <a:rPr lang="en-US" altLang="zh-CN" sz="2400" dirty="0"/>
              <a:t>: </a:t>
            </a:r>
            <a:r>
              <a:rPr lang="en-US" altLang="zh-CN" sz="2400" b="1" dirty="0"/>
              <a:t>'</a:t>
            </a:r>
            <a:r>
              <a:rPr lang="zh-CN" altLang="en-US" sz="2400" b="1" dirty="0"/>
              <a:t>对象</a:t>
            </a:r>
            <a:r>
              <a:rPr lang="en-US" altLang="zh-CN" sz="2400" b="1" dirty="0"/>
              <a:t>'</a:t>
            </a:r>
            <a:br>
              <a:rPr lang="en-US" altLang="zh-CN" sz="2400" b="1" dirty="0"/>
            </a:br>
            <a:r>
              <a:rPr lang="en-US" altLang="zh-CN" sz="2400" b="1" dirty="0">
                <a:solidFill>
                  <a:srgbClr val="FF0000"/>
                </a:solidFill>
                <a:latin typeface="Arial Unicode MS" panose="020B0604020202020204" charset="-122"/>
                <a:ea typeface="Arial Unicode MS" panose="020B0604020202020204" charset="-122"/>
                <a:cs typeface="Arial Unicode MS" panose="020B0604020202020204" charset="-122"/>
              </a:rPr>
              <a:t>}</a:t>
            </a:r>
            <a:r>
              <a:rPr lang="en-US" altLang="zh-CN" sz="2400" dirty="0"/>
              <a:t>  </a:t>
            </a:r>
            <a:r>
              <a:rPr lang="en-US" altLang="zh-CN" sz="2000" i="1" dirty="0"/>
              <a:t>#</a:t>
            </a:r>
            <a:r>
              <a:rPr lang="zh-CN" altLang="en-US" sz="2000" i="1" dirty="0"/>
              <a:t>例</a:t>
            </a:r>
            <a:r>
              <a:rPr lang="en-US" altLang="zh-CN" sz="2000" i="1" dirty="0"/>
              <a:t>  </a:t>
            </a:r>
            <a:r>
              <a:rPr lang="zh-CN" altLang="en-US" sz="2000" i="1" dirty="0"/>
              <a:t>字典实现生词本</a:t>
            </a:r>
            <a:endParaRPr lang="zh-CN" altLang="en-US" sz="2400" dirty="0">
              <a:solidFill>
                <a:srgbClr val="C00000"/>
              </a:solidFill>
            </a:endParaRPr>
          </a:p>
        </p:txBody>
      </p:sp>
      <p:graphicFrame>
        <p:nvGraphicFramePr>
          <p:cNvPr id="13" name="表格 12"/>
          <p:cNvGraphicFramePr>
            <a:graphicFrameLocks noGrp="1"/>
          </p:cNvGraphicFramePr>
          <p:nvPr/>
        </p:nvGraphicFramePr>
        <p:xfrm>
          <a:off x="2304852" y="1984723"/>
          <a:ext cx="2520280" cy="3200400"/>
        </p:xfrm>
        <a:graphic>
          <a:graphicData uri="http://schemas.openxmlformats.org/drawingml/2006/table">
            <a:tbl>
              <a:tblPr firstRow="1" bandRow="1">
                <a:tableStyleId>{5940675A-B579-460E-94D1-54222C63F5DA}</a:tableStyleId>
              </a:tblPr>
              <a:tblGrid>
                <a:gridCol w="1592229">
                  <a:extLst>
                    <a:ext uri="{9D8B030D-6E8A-4147-A177-3AD203B41FA5}">
                      <a16:colId xmlns:a16="http://schemas.microsoft.com/office/drawing/2014/main" val="20000"/>
                    </a:ext>
                  </a:extLst>
                </a:gridCol>
                <a:gridCol w="928051">
                  <a:extLst>
                    <a:ext uri="{9D8B030D-6E8A-4147-A177-3AD203B41FA5}">
                      <a16:colId xmlns:a16="http://schemas.microsoft.com/office/drawing/2014/main" val="20001"/>
                    </a:ext>
                  </a:extLst>
                </a:gridCol>
              </a:tblGrid>
              <a:tr h="457200">
                <a:tc>
                  <a:txBody>
                    <a:bodyPr/>
                    <a:lstStyle/>
                    <a:p>
                      <a:r>
                        <a:rPr lang="en-US" altLang="zh-CN" sz="2400" dirty="0"/>
                        <a:t> name</a:t>
                      </a:r>
                      <a:endParaRPr lang="zh-CN" altLang="en-US" sz="2400" dirty="0"/>
                    </a:p>
                  </a:txBody>
                  <a:tcPr/>
                </a:tc>
                <a:tc>
                  <a:txBody>
                    <a:bodyPr/>
                    <a:lstStyle/>
                    <a:p>
                      <a:r>
                        <a:rPr lang="zh-CN" altLang="en-US" sz="2400" dirty="0"/>
                        <a:t>名字</a:t>
                      </a:r>
                    </a:p>
                  </a:txBody>
                  <a:tcPr/>
                </a:tc>
                <a:extLst>
                  <a:ext uri="{0D108BD9-81ED-4DB2-BD59-A6C34878D82A}">
                    <a16:rowId xmlns:a16="http://schemas.microsoft.com/office/drawing/2014/main" val="10000"/>
                  </a:ext>
                </a:extLst>
              </a:tr>
              <a:tr h="370840">
                <a:tc>
                  <a:txBody>
                    <a:bodyPr/>
                    <a:lstStyle/>
                    <a:p>
                      <a:r>
                        <a:rPr lang="en-US" altLang="zh-CN" sz="2400" dirty="0"/>
                        <a:t> python</a:t>
                      </a:r>
                      <a:endParaRPr lang="zh-CN" altLang="en-US" sz="2400" dirty="0"/>
                    </a:p>
                  </a:txBody>
                  <a:tcPr/>
                </a:tc>
                <a:tc>
                  <a:txBody>
                    <a:bodyPr/>
                    <a:lstStyle/>
                    <a:p>
                      <a:r>
                        <a:rPr lang="zh-CN" altLang="en-US" sz="2400" dirty="0"/>
                        <a:t>蟒蛇</a:t>
                      </a:r>
                    </a:p>
                  </a:txBody>
                  <a:tcPr/>
                </a:tc>
                <a:extLst>
                  <a:ext uri="{0D108BD9-81ED-4DB2-BD59-A6C34878D82A}">
                    <a16:rowId xmlns:a16="http://schemas.microsoft.com/office/drawing/2014/main" val="10001"/>
                  </a:ext>
                </a:extLst>
              </a:tr>
              <a:tr h="370840">
                <a:tc>
                  <a:txBody>
                    <a:bodyPr/>
                    <a:lstStyle/>
                    <a:p>
                      <a:r>
                        <a:rPr lang="en-US" altLang="zh-CN" sz="2400" dirty="0"/>
                        <a:t> dictionary</a:t>
                      </a:r>
                      <a:endParaRPr lang="zh-CN" altLang="en-US" sz="2400" dirty="0"/>
                    </a:p>
                  </a:txBody>
                  <a:tcPr/>
                </a:tc>
                <a:tc>
                  <a:txBody>
                    <a:bodyPr/>
                    <a:lstStyle/>
                    <a:p>
                      <a:r>
                        <a:rPr lang="zh-CN" altLang="en-US" sz="2400" dirty="0"/>
                        <a:t>字典</a:t>
                      </a:r>
                    </a:p>
                  </a:txBody>
                  <a:tcPr/>
                </a:tc>
                <a:extLst>
                  <a:ext uri="{0D108BD9-81ED-4DB2-BD59-A6C34878D82A}">
                    <a16:rowId xmlns:a16="http://schemas.microsoft.com/office/drawing/2014/main" val="10002"/>
                  </a:ext>
                </a:extLst>
              </a:tr>
              <a:tr h="370840">
                <a:tc>
                  <a:txBody>
                    <a:bodyPr/>
                    <a:lstStyle/>
                    <a:p>
                      <a:r>
                        <a:rPr lang="en-US" altLang="zh-CN" sz="2400" dirty="0"/>
                        <a:t> list</a:t>
                      </a:r>
                      <a:endParaRPr lang="zh-CN" altLang="en-US" sz="2400" dirty="0"/>
                    </a:p>
                  </a:txBody>
                  <a:tcPr/>
                </a:tc>
                <a:tc>
                  <a:txBody>
                    <a:bodyPr/>
                    <a:lstStyle/>
                    <a:p>
                      <a:r>
                        <a:rPr lang="zh-CN" altLang="en-US" sz="2400" dirty="0"/>
                        <a:t>列表</a:t>
                      </a:r>
                    </a:p>
                  </a:txBody>
                  <a:tcPr/>
                </a:tc>
                <a:extLst>
                  <a:ext uri="{0D108BD9-81ED-4DB2-BD59-A6C34878D82A}">
                    <a16:rowId xmlns:a16="http://schemas.microsoft.com/office/drawing/2014/main" val="10003"/>
                  </a:ext>
                </a:extLst>
              </a:tr>
              <a:tr h="370840">
                <a:tc>
                  <a:txBody>
                    <a:bodyPr/>
                    <a:lstStyle/>
                    <a:p>
                      <a:r>
                        <a:rPr lang="en-US" altLang="zh-CN" sz="2400" dirty="0"/>
                        <a:t> variable</a:t>
                      </a:r>
                      <a:endParaRPr lang="zh-CN" altLang="en-US" sz="2400" dirty="0"/>
                    </a:p>
                  </a:txBody>
                  <a:tcPr/>
                </a:tc>
                <a:tc>
                  <a:txBody>
                    <a:bodyPr/>
                    <a:lstStyle/>
                    <a:p>
                      <a:r>
                        <a:rPr lang="zh-CN" altLang="en-US" sz="2400" dirty="0"/>
                        <a:t>变量</a:t>
                      </a:r>
                    </a:p>
                  </a:txBody>
                  <a:tcPr/>
                </a:tc>
                <a:extLst>
                  <a:ext uri="{0D108BD9-81ED-4DB2-BD59-A6C34878D82A}">
                    <a16:rowId xmlns:a16="http://schemas.microsoft.com/office/drawing/2014/main" val="10004"/>
                  </a:ext>
                </a:extLst>
              </a:tr>
              <a:tr h="370840">
                <a:tc>
                  <a:txBody>
                    <a:bodyPr/>
                    <a:lstStyle/>
                    <a:p>
                      <a:r>
                        <a:rPr lang="en-US" altLang="zh-CN" sz="2400" dirty="0"/>
                        <a:t> class</a:t>
                      </a:r>
                      <a:endParaRPr lang="zh-CN" altLang="en-US" sz="2400" dirty="0"/>
                    </a:p>
                  </a:txBody>
                  <a:tcPr/>
                </a:tc>
                <a:tc>
                  <a:txBody>
                    <a:bodyPr/>
                    <a:lstStyle/>
                    <a:p>
                      <a:r>
                        <a:rPr lang="zh-CN" altLang="en-US" sz="2400" dirty="0"/>
                        <a:t>类</a:t>
                      </a:r>
                    </a:p>
                  </a:txBody>
                  <a:tcPr/>
                </a:tc>
                <a:extLst>
                  <a:ext uri="{0D108BD9-81ED-4DB2-BD59-A6C34878D82A}">
                    <a16:rowId xmlns:a16="http://schemas.microsoft.com/office/drawing/2014/main" val="10005"/>
                  </a:ext>
                </a:extLst>
              </a:tr>
              <a:tr h="370840">
                <a:tc>
                  <a:txBody>
                    <a:bodyPr/>
                    <a:lstStyle/>
                    <a:p>
                      <a:r>
                        <a:rPr lang="en-US" altLang="zh-CN" sz="2400" dirty="0"/>
                        <a:t> object</a:t>
                      </a:r>
                      <a:endParaRPr lang="zh-CN" altLang="en-US" sz="2400" dirty="0"/>
                    </a:p>
                  </a:txBody>
                  <a:tcPr/>
                </a:tc>
                <a:tc>
                  <a:txBody>
                    <a:bodyPr/>
                    <a:lstStyle/>
                    <a:p>
                      <a:r>
                        <a:rPr lang="zh-CN" altLang="en-US" sz="2400" dirty="0"/>
                        <a:t>对象</a:t>
                      </a:r>
                    </a:p>
                  </a:txBody>
                  <a:tcPr/>
                </a:tc>
                <a:extLst>
                  <a:ext uri="{0D108BD9-81ED-4DB2-BD59-A6C34878D82A}">
                    <a16:rowId xmlns:a16="http://schemas.microsoft.com/office/drawing/2014/main" val="10006"/>
                  </a:ext>
                </a:extLst>
              </a:tr>
            </a:tbl>
          </a:graphicData>
        </a:graphic>
      </p:graphicFrame>
      <p:sp>
        <p:nvSpPr>
          <p:cNvPr id="14" name="右箭头 13"/>
          <p:cNvSpPr/>
          <p:nvPr/>
        </p:nvSpPr>
        <p:spPr>
          <a:xfrm>
            <a:off x="4925695" y="3709035"/>
            <a:ext cx="1512570" cy="504190"/>
          </a:xfrm>
          <a:prstGeom prst="right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8" name="线形标注 2(无边框) 7"/>
          <p:cNvSpPr/>
          <p:nvPr/>
        </p:nvSpPr>
        <p:spPr>
          <a:xfrm>
            <a:off x="8526368" y="2112993"/>
            <a:ext cx="1584175" cy="527730"/>
          </a:xfrm>
          <a:prstGeom prst="callout2">
            <a:avLst>
              <a:gd name="adj1" fmla="val 33273"/>
              <a:gd name="adj2" fmla="val -215"/>
              <a:gd name="adj3" fmla="val 13544"/>
              <a:gd name="adj4" fmla="val -6909"/>
              <a:gd name="adj5" fmla="val 45988"/>
              <a:gd name="adj6" fmla="val -35551"/>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lvl="0" indent="-342900" algn="just">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键: 值</a:t>
            </a:r>
          </a:p>
        </p:txBody>
      </p:sp>
      <p:sp>
        <p:nvSpPr>
          <p:cNvPr id="9" name="线形标注 2(无边框) 8"/>
          <p:cNvSpPr/>
          <p:nvPr/>
        </p:nvSpPr>
        <p:spPr>
          <a:xfrm>
            <a:off x="8685291" y="3504818"/>
            <a:ext cx="1584175" cy="527730"/>
          </a:xfrm>
          <a:prstGeom prst="callout2">
            <a:avLst>
              <a:gd name="adj1" fmla="val 33273"/>
              <a:gd name="adj2" fmla="val -215"/>
              <a:gd name="adj3" fmla="val 13544"/>
              <a:gd name="adj4" fmla="val -6909"/>
              <a:gd name="adj5" fmla="val 45988"/>
              <a:gd name="adj6" fmla="val -35551"/>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lvl="0" indent="-342900" algn="just">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键: 值</a:t>
            </a:r>
          </a:p>
        </p:txBody>
      </p:sp>
      <p:sp>
        <p:nvSpPr>
          <p:cNvPr id="7" name="标题 1"/>
          <p:cNvSpPr>
            <a:spLocks noGrp="1"/>
          </p:cNvSpPr>
          <p:nvPr/>
        </p:nvSpPr>
        <p:spPr>
          <a:xfrm>
            <a:off x="448945" y="75657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pPr lvl="0" algn="l"/>
            <a:r>
              <a:rPr altLang="en-US" sz="2800" dirty="0">
                <a:latin typeface="微软雅黑" panose="020B0503020204020204" pitchFamily="34" charset="-122"/>
                <a:ea typeface="微软雅黑" panose="020B0503020204020204" pitchFamily="34" charset="-122"/>
                <a:sym typeface="+mn-ea"/>
              </a:rPr>
              <a:t>用字典存储生词本</a:t>
            </a:r>
          </a:p>
        </p:txBody>
      </p:sp>
      <p:sp>
        <p:nvSpPr>
          <p:cNvPr id="10" name="文本框 9"/>
          <p:cNvSpPr txBox="1"/>
          <p:nvPr/>
        </p:nvSpPr>
        <p:spPr>
          <a:xfrm>
            <a:off x="4825365" y="3044190"/>
            <a:ext cx="1713230" cy="460375"/>
          </a:xfrm>
          <a:prstGeom prst="rect">
            <a:avLst/>
          </a:prstGeom>
          <a:noFill/>
        </p:spPr>
        <p:txBody>
          <a:bodyPr wrap="none" rtlCol="0" anchor="t">
            <a:spAutoFit/>
          </a:bodyPr>
          <a:lstStyle/>
          <a:p>
            <a:pPr algn="ctr"/>
            <a:r>
              <a:rPr lang="zh-CN" altLang="en-US" b="1" dirty="0">
                <a:solidFill>
                  <a:srgbClr val="C00000"/>
                </a:solidFill>
                <a:sym typeface="+mn-ea"/>
              </a:rPr>
              <a:t>用字典存储</a:t>
            </a:r>
            <a:endParaRPr lang="zh-CN" altLang="en-US"/>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980930" y="78105"/>
            <a:ext cx="2119630" cy="678180"/>
          </a:xfrm>
        </p:spPr>
        <p:txBody>
          <a:bodyPr vert="horz" wrap="square" lIns="91456" tIns="45728" rIns="91456" bIns="45728" numCol="1" anchor="b" anchorCtr="0" compatLnSpc="1"/>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7" name="标题 1"/>
          <p:cNvSpPr>
            <a:spLocks noGrp="1"/>
          </p:cNvSpPr>
          <p:nvPr/>
        </p:nvSpPr>
        <p:spPr>
          <a:xfrm>
            <a:off x="448945" y="756579"/>
            <a:ext cx="8077200" cy="85725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pPr lvl="0" algn="l"/>
            <a:r>
              <a:rPr altLang="en-US" sz="2800" dirty="0">
                <a:latin typeface="微软雅黑" panose="020B0503020204020204" pitchFamily="34" charset="-122"/>
                <a:ea typeface="微软雅黑" panose="020B0503020204020204" pitchFamily="34" charset="-122"/>
                <a:sym typeface="+mn-ea"/>
              </a:rPr>
              <a:t>用字典存储电话本</a:t>
            </a:r>
            <a:endParaRPr lang="en-US" altLang="zh-CN" sz="2800" dirty="0">
              <a:latin typeface="微软雅黑" panose="020B0503020204020204" pitchFamily="34" charset="-122"/>
              <a:ea typeface="微软雅黑" panose="020B0503020204020204" pitchFamily="34" charset="-122"/>
              <a:sym typeface="+mn-ea"/>
            </a:endParaRPr>
          </a:p>
        </p:txBody>
      </p:sp>
      <p:sp>
        <p:nvSpPr>
          <p:cNvPr id="6" name="内容占位符 2"/>
          <p:cNvSpPr txBox="1"/>
          <p:nvPr/>
        </p:nvSpPr>
        <p:spPr>
          <a:xfrm>
            <a:off x="1457325" y="1771015"/>
            <a:ext cx="10125710" cy="3672205"/>
          </a:xfrm>
          <a:prstGeom prst="rect">
            <a:avLst/>
          </a:prstGeom>
          <a:solidFill>
            <a:schemeClr val="bg1">
              <a:lumMod val="95000"/>
            </a:schemeClr>
          </a:solidFill>
          <a:ln w="12700">
            <a:solidFill>
              <a:schemeClr val="tx1"/>
            </a:solid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800" i="1" dirty="0">
                <a:latin typeface="Arial Black" panose="020B0A04020102020204" pitchFamily="34" charset="0"/>
                <a:cs typeface="Arial Black" panose="020B0A04020102020204" pitchFamily="34" charset="0"/>
              </a:rPr>
              <a:t>#</a:t>
            </a:r>
            <a:r>
              <a:rPr lang="zh-CN" altLang="en-US" sz="2800" i="1" dirty="0">
                <a:latin typeface="Arial Black" panose="020B0A04020102020204" pitchFamily="34" charset="0"/>
                <a:cs typeface="Arial Black" panose="020B0A04020102020204" pitchFamily="34" charset="0"/>
              </a:rPr>
              <a:t>例</a:t>
            </a:r>
            <a:r>
              <a:rPr lang="en-US" altLang="zh-CN" sz="2800" i="1" dirty="0">
                <a:latin typeface="Arial Black" panose="020B0A04020102020204" pitchFamily="34" charset="0"/>
                <a:cs typeface="Arial Black" panose="020B0A04020102020204" pitchFamily="34" charset="0"/>
              </a:rPr>
              <a:t> </a:t>
            </a:r>
            <a:r>
              <a:rPr lang="zh-CN" altLang="en-US" sz="2800" i="1" dirty="0">
                <a:latin typeface="Arial Black" panose="020B0A04020102020204" pitchFamily="34" charset="0"/>
                <a:cs typeface="Arial Black" panose="020B0A04020102020204" pitchFamily="34" charset="0"/>
              </a:rPr>
              <a:t>字典存储电话簿</a:t>
            </a:r>
            <a:endParaRPr lang="en-US" altLang="zh-CN" sz="2800" i="1" dirty="0">
              <a:latin typeface="Arial Black" panose="020B0A04020102020204" pitchFamily="34" charset="0"/>
              <a:cs typeface="Arial Black" panose="020B0A04020102020204" pitchFamily="34" charset="0"/>
            </a:endParaRPr>
          </a:p>
          <a:p>
            <a:pPr marL="0" indent="0">
              <a:buNone/>
            </a:pPr>
            <a:r>
              <a:rPr lang="en-US" altLang="zh-CN" sz="2800">
                <a:latin typeface="Arial Black" panose="020B0A04020102020204" pitchFamily="34" charset="0"/>
                <a:cs typeface="Arial Black" panose="020B0A04020102020204" pitchFamily="34" charset="0"/>
              </a:rPr>
              <a:t>contacts </a:t>
            </a:r>
            <a:r>
              <a:rPr lang="en-US" altLang="zh-CN" sz="2800" dirty="0">
                <a:latin typeface="Arial Black" panose="020B0A04020102020204" pitchFamily="34" charset="0"/>
                <a:cs typeface="Arial Black" panose="020B0A04020102020204" pitchFamily="34" charset="0"/>
              </a:rPr>
              <a:t>= {…} #</a:t>
            </a:r>
            <a:r>
              <a:rPr lang="zh-CN" altLang="en-US" sz="2800" dirty="0">
                <a:latin typeface="Arial Black" panose="020B0A04020102020204" pitchFamily="34" charset="0"/>
                <a:cs typeface="Arial Black" panose="020B0A04020102020204" pitchFamily="34" charset="0"/>
              </a:rPr>
              <a:t>此处有省略，见上页</a:t>
            </a:r>
            <a:endParaRPr lang="en-US" altLang="zh-CN" sz="2800" dirty="0">
              <a:latin typeface="Arial Black" panose="020B0A04020102020204" pitchFamily="34" charset="0"/>
              <a:cs typeface="Arial Black" panose="020B0A04020102020204" pitchFamily="34" charset="0"/>
            </a:endParaRPr>
          </a:p>
          <a:p>
            <a:pPr marL="0" indent="0">
              <a:buNone/>
            </a:pPr>
            <a:r>
              <a:rPr lang="en-US" altLang="zh-CN" sz="2800" dirty="0">
                <a:latin typeface="Arial Black" panose="020B0A04020102020204" pitchFamily="34" charset="0"/>
                <a:cs typeface="Arial Black" panose="020B0A04020102020204" pitchFamily="34" charset="0"/>
              </a:rPr>
              <a:t>name = input(</a:t>
            </a:r>
            <a:r>
              <a:rPr lang="en-US" altLang="zh-CN" sz="2800" b="1" dirty="0">
                <a:latin typeface="Arial Black" panose="020B0A04020102020204" pitchFamily="34" charset="0"/>
                <a:cs typeface="Arial Black" panose="020B0A04020102020204" pitchFamily="34" charset="0"/>
              </a:rPr>
              <a:t>"</a:t>
            </a:r>
            <a:r>
              <a:rPr lang="zh-CN" altLang="en-US" sz="2800" b="1" dirty="0">
                <a:latin typeface="Arial Black" panose="020B0A04020102020204" pitchFamily="34" charset="0"/>
                <a:cs typeface="Arial Black" panose="020B0A04020102020204" pitchFamily="34" charset="0"/>
              </a:rPr>
              <a:t>输入姓名：</a:t>
            </a:r>
            <a:r>
              <a:rPr lang="en-US" altLang="zh-CN" sz="2800" b="1" dirty="0">
                <a:latin typeface="Arial Black" panose="020B0A04020102020204" pitchFamily="34" charset="0"/>
                <a:cs typeface="Arial Black" panose="020B0A04020102020204" pitchFamily="34" charset="0"/>
              </a:rPr>
              <a:t>"</a:t>
            </a:r>
            <a:r>
              <a:rPr lang="en-US" altLang="zh-CN" sz="2800" dirty="0">
                <a:latin typeface="Arial Black" panose="020B0A04020102020204" pitchFamily="34" charset="0"/>
                <a:cs typeface="Arial Black" panose="020B0A04020102020204" pitchFamily="34" charset="0"/>
              </a:rPr>
              <a:t>)</a:t>
            </a:r>
            <a:br>
              <a:rPr lang="en-US" altLang="zh-CN" sz="2800" dirty="0">
                <a:latin typeface="Arial Black" panose="020B0A04020102020204" pitchFamily="34" charset="0"/>
                <a:cs typeface="Arial Black" panose="020B0A04020102020204" pitchFamily="34" charset="0"/>
              </a:rPr>
            </a:br>
            <a:r>
              <a:rPr lang="en-US" altLang="zh-CN" sz="2800" b="1" dirty="0">
                <a:latin typeface="Arial Black" panose="020B0A04020102020204" pitchFamily="34" charset="0"/>
                <a:cs typeface="Arial Black" panose="020B0A04020102020204" pitchFamily="34" charset="0"/>
              </a:rPr>
              <a:t>if </a:t>
            </a:r>
            <a:r>
              <a:rPr lang="en-US" altLang="zh-CN" sz="2800" dirty="0">
                <a:latin typeface="Arial Black" panose="020B0A04020102020204" pitchFamily="34" charset="0"/>
                <a:cs typeface="Arial Black" panose="020B0A04020102020204" pitchFamily="34" charset="0"/>
              </a:rPr>
              <a:t>name </a:t>
            </a:r>
            <a:r>
              <a:rPr lang="en-US" altLang="zh-CN" sz="2800" b="1" dirty="0">
                <a:latin typeface="Arial Black" panose="020B0A04020102020204" pitchFamily="34" charset="0"/>
                <a:cs typeface="Arial Black" panose="020B0A04020102020204" pitchFamily="34" charset="0"/>
              </a:rPr>
              <a:t>in </a:t>
            </a:r>
            <a:r>
              <a:rPr lang="en-US" altLang="zh-CN" sz="2800" dirty="0">
                <a:latin typeface="Arial Black" panose="020B0A04020102020204" pitchFamily="34" charset="0"/>
                <a:cs typeface="Arial Black" panose="020B0A04020102020204" pitchFamily="34" charset="0"/>
              </a:rPr>
              <a:t>contacts:</a:t>
            </a:r>
            <a:br>
              <a:rPr lang="en-US" altLang="zh-CN" sz="2800" dirty="0">
                <a:latin typeface="Arial Black" panose="020B0A04020102020204" pitchFamily="34" charset="0"/>
                <a:cs typeface="Arial Black" panose="020B0A04020102020204" pitchFamily="34" charset="0"/>
              </a:rPr>
            </a:br>
            <a:r>
              <a:rPr lang="en-US" altLang="zh-CN" sz="2800" dirty="0">
                <a:latin typeface="Arial Black" panose="020B0A04020102020204" pitchFamily="34" charset="0"/>
                <a:cs typeface="Arial Black" panose="020B0A04020102020204" pitchFamily="34" charset="0"/>
              </a:rPr>
              <a:t>    print(name, </a:t>
            </a:r>
            <a:r>
              <a:rPr lang="en-US" altLang="zh-CN" sz="2800" b="1" dirty="0">
                <a:latin typeface="Arial Black" panose="020B0A04020102020204" pitchFamily="34" charset="0"/>
                <a:cs typeface="Arial Black" panose="020B0A04020102020204" pitchFamily="34" charset="0"/>
              </a:rPr>
              <a:t>":"</a:t>
            </a:r>
            <a:r>
              <a:rPr lang="en-US" altLang="zh-CN" sz="2800" dirty="0">
                <a:latin typeface="Arial Black" panose="020B0A04020102020204" pitchFamily="34" charset="0"/>
                <a:cs typeface="Arial Black" panose="020B0A04020102020204" pitchFamily="34" charset="0"/>
              </a:rPr>
              <a:t>, </a:t>
            </a:r>
            <a:r>
              <a:rPr lang="en-US" altLang="zh-CN" sz="2800" b="1" dirty="0">
                <a:solidFill>
                  <a:srgbClr val="FF0000"/>
                </a:solidFill>
                <a:latin typeface="Arial Black" panose="020B0A04020102020204" pitchFamily="34" charset="0"/>
                <a:cs typeface="Arial Black" panose="020B0A04020102020204" pitchFamily="34" charset="0"/>
              </a:rPr>
              <a:t>contacts[name]</a:t>
            </a:r>
            <a:r>
              <a:rPr lang="en-US" altLang="zh-CN" sz="2800" dirty="0">
                <a:latin typeface="Arial Black" panose="020B0A04020102020204" pitchFamily="34" charset="0"/>
                <a:cs typeface="Arial Black" panose="020B0A04020102020204" pitchFamily="34" charset="0"/>
              </a:rPr>
              <a:t>)</a:t>
            </a:r>
            <a:br>
              <a:rPr lang="en-US" altLang="zh-CN" sz="2800" dirty="0">
                <a:latin typeface="Arial Black" panose="020B0A04020102020204" pitchFamily="34" charset="0"/>
                <a:cs typeface="Arial Black" panose="020B0A04020102020204" pitchFamily="34" charset="0"/>
              </a:rPr>
            </a:br>
            <a:r>
              <a:rPr lang="en-US" altLang="zh-CN" sz="2800" b="1" dirty="0">
                <a:latin typeface="Arial Black" panose="020B0A04020102020204" pitchFamily="34" charset="0"/>
                <a:cs typeface="Arial Black" panose="020B0A04020102020204" pitchFamily="34" charset="0"/>
              </a:rPr>
              <a:t>else</a:t>
            </a:r>
            <a:r>
              <a:rPr lang="en-US" altLang="zh-CN" sz="2800" dirty="0">
                <a:latin typeface="Arial Black" panose="020B0A04020102020204" pitchFamily="34" charset="0"/>
                <a:cs typeface="Arial Black" panose="020B0A04020102020204" pitchFamily="34" charset="0"/>
              </a:rPr>
              <a:t>:</a:t>
            </a:r>
            <a:br>
              <a:rPr lang="en-US" altLang="zh-CN" sz="2800" dirty="0">
                <a:latin typeface="Arial Black" panose="020B0A04020102020204" pitchFamily="34" charset="0"/>
                <a:cs typeface="Arial Black" panose="020B0A04020102020204" pitchFamily="34" charset="0"/>
              </a:rPr>
            </a:br>
            <a:r>
              <a:rPr lang="en-US" altLang="zh-CN" sz="2800" dirty="0">
                <a:latin typeface="Arial Black" panose="020B0A04020102020204" pitchFamily="34" charset="0"/>
                <a:cs typeface="Arial Black" panose="020B0A04020102020204" pitchFamily="34" charset="0"/>
              </a:rPr>
              <a:t>    print(</a:t>
            </a:r>
            <a:r>
              <a:rPr lang="en-US" altLang="zh-CN" sz="2800" b="1" dirty="0">
                <a:latin typeface="Arial Black" panose="020B0A04020102020204" pitchFamily="34" charset="0"/>
                <a:cs typeface="Arial Black" panose="020B0A04020102020204" pitchFamily="34" charset="0"/>
              </a:rPr>
              <a:t>"</a:t>
            </a:r>
            <a:r>
              <a:rPr lang="zh-CN" altLang="en-US" sz="2800" b="1" dirty="0">
                <a:latin typeface="Arial Black" panose="020B0A04020102020204" pitchFamily="34" charset="0"/>
                <a:cs typeface="Arial Black" panose="020B0A04020102020204" pitchFamily="34" charset="0"/>
              </a:rPr>
              <a:t>没找到</a:t>
            </a:r>
            <a:r>
              <a:rPr lang="en-US" altLang="zh-CN" sz="2800" b="1" dirty="0">
                <a:latin typeface="Arial Black" panose="020B0A04020102020204" pitchFamily="34" charset="0"/>
                <a:cs typeface="Arial Black" panose="020B0A04020102020204" pitchFamily="34" charset="0"/>
              </a:rPr>
              <a:t>" </a:t>
            </a:r>
            <a:r>
              <a:rPr lang="en-US" altLang="zh-CN" sz="2800" dirty="0">
                <a:latin typeface="Arial Black" panose="020B0A04020102020204" pitchFamily="34" charset="0"/>
                <a:cs typeface="Arial Black" panose="020B0A04020102020204" pitchFamily="34" charset="0"/>
              </a:rPr>
              <a:t>+ name)</a:t>
            </a:r>
            <a:endParaRPr lang="zh-CN" altLang="en-US" sz="2800" b="1" dirty="0">
              <a:solidFill>
                <a:srgbClr val="FF0000"/>
              </a:solidFill>
              <a:latin typeface="Arial Black" panose="020B0A04020102020204" pitchFamily="34" charset="0"/>
              <a:ea typeface="Microsoft YaHei UI" panose="020B0503020204020204" pitchFamily="34" charset="-122"/>
              <a:cs typeface="Arial Black" panose="020B0A04020102020204" pitchFamily="34" charset="0"/>
            </a:endParaRPr>
          </a:p>
        </p:txBody>
      </p:sp>
    </p:spTree>
  </p:cSld>
  <p:clrMapOvr>
    <a:masterClrMapping/>
  </p:clrMapOvr>
  <p:transition spd="slow" advTm="0"/>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9980930" y="78105"/>
            <a:ext cx="2119630" cy="678180"/>
          </a:xfrm>
        </p:spPr>
        <p:txBody>
          <a:bodyPr vert="horz" wrap="square" lIns="91456" tIns="45728" rIns="91456" bIns="45728" numCol="1" anchor="b" anchorCtr="0" compatLnSpc="1"/>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标题 1"/>
          <p:cNvSpPr txBox="1"/>
          <p:nvPr/>
        </p:nvSpPr>
        <p:spPr>
          <a:xfrm>
            <a:off x="3938935" y="770724"/>
            <a:ext cx="3851018" cy="68834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其他创建字典方法</a:t>
            </a:r>
          </a:p>
        </p:txBody>
      </p:sp>
      <p:sp>
        <p:nvSpPr>
          <p:cNvPr id="3" name="矩形 2"/>
          <p:cNvSpPr/>
          <p:nvPr/>
        </p:nvSpPr>
        <p:spPr>
          <a:xfrm>
            <a:off x="194519" y="1585169"/>
            <a:ext cx="5291257" cy="523220"/>
          </a:xfrm>
          <a:prstGeom prst="rect">
            <a:avLst/>
          </a:prstGeom>
        </p:spPr>
        <p:txBody>
          <a:bodyPr wrap="none">
            <a:spAutoFit/>
          </a:bodyPr>
          <a:lstStyle/>
          <a:p>
            <a:pPr marL="342900" indent="-342900">
              <a:buFont typeface="Wingdings" panose="05000000000000000000" pitchFamily="2" charset="2"/>
              <a:buChar char="u"/>
            </a:pPr>
            <a:r>
              <a:rPr lang="zh-CN" altLang="en-US" sz="2800" b="1" dirty="0">
                <a:solidFill>
                  <a:srgbClr val="2F2F2F"/>
                </a:solidFill>
                <a:latin typeface="微软雅黑" panose="020B0503020204020204" pitchFamily="34" charset="-122"/>
                <a:ea typeface="微软雅黑" panose="020B0503020204020204" pitchFamily="34" charset="-122"/>
              </a:rPr>
              <a:t>通过动态值来创建</a:t>
            </a:r>
            <a:r>
              <a:rPr lang="en-US" altLang="zh-CN" sz="2800" b="1" dirty="0">
                <a:solidFill>
                  <a:srgbClr val="2F2F2F"/>
                </a:solidFill>
                <a:latin typeface="微软雅黑" panose="020B0503020204020204" pitchFamily="34" charset="-122"/>
                <a:ea typeface="微软雅黑" panose="020B0503020204020204" pitchFamily="34" charset="-122"/>
              </a:rPr>
              <a:t>Dictionary</a:t>
            </a:r>
            <a:endParaRPr lang="en-US" altLang="zh-CN" sz="2800" b="1" i="0" dirty="0">
              <a:solidFill>
                <a:srgbClr val="2F2F2F"/>
              </a:solidFill>
              <a:effectLst/>
              <a:latin typeface="微软雅黑" panose="020B0503020204020204" pitchFamily="34" charset="-122"/>
              <a:ea typeface="微软雅黑" panose="020B0503020204020204" pitchFamily="34" charset="-122"/>
            </a:endParaRPr>
          </a:p>
        </p:txBody>
      </p:sp>
      <p:sp>
        <p:nvSpPr>
          <p:cNvPr id="4" name="Rectangle 1"/>
          <p:cNvSpPr>
            <a:spLocks noChangeArrowheads="1"/>
          </p:cNvSpPr>
          <p:nvPr/>
        </p:nvSpPr>
        <p:spPr bwMode="auto">
          <a:xfrm>
            <a:off x="482551" y="2392767"/>
            <a:ext cx="7776864" cy="3654602"/>
          </a:xfrm>
          <a:prstGeom prst="rect">
            <a:avLst/>
          </a:prstGeom>
          <a:noFill/>
          <a:ln>
            <a:noFill/>
          </a:ln>
          <a:effectLst/>
        </p:spPr>
        <p:txBody>
          <a:bodyPr vert="horz" wrap="square" lIns="0" tIns="0" rIns="0" bIns="179331" numCol="1" anchor="ctr" anchorCtr="0" compatLnSpc="1">
            <a:noAutofit/>
          </a:bodyPr>
          <a:lstStyle/>
          <a:p>
            <a:pPr marL="0" marR="0" lvl="0" indent="0" algn="l" defTabSz="914400" rtl="0" eaLnBrk="0" fontAlgn="ctr" latinLnBrk="0" hangingPunct="0">
              <a:lnSpc>
                <a:spcPts val="3800"/>
              </a:lnSpc>
              <a:spcBef>
                <a:spcPct val="0"/>
              </a:spcBef>
              <a:spcAft>
                <a:spcPct val="0"/>
              </a:spcAft>
              <a:buClrTx/>
              <a:buSzTx/>
              <a:buFontTx/>
              <a:buNone/>
            </a:pPr>
            <a:r>
              <a:rPr kumimoji="0" lang="zh-CN" altLang="zh-CN" sz="2800" b="1" i="0" u="none" strike="noStrike" cap="none" normalizeH="0" baseline="0" dirty="0">
                <a:ln>
                  <a:noFill/>
                </a:ln>
                <a:effectLst/>
                <a:latin typeface="Arial Unicode MS" panose="020B0604020202020204" charset="-122"/>
                <a:ea typeface="Menlo"/>
              </a:rPr>
              <a:t>my_dict = {} </a:t>
            </a:r>
            <a:endParaRPr kumimoji="0" lang="en-US" altLang="zh-CN" sz="2800" b="1" i="0" u="none" strike="noStrike" cap="none" normalizeH="0" baseline="0" dirty="0">
              <a:ln>
                <a:noFill/>
              </a:ln>
              <a:effectLst/>
              <a:latin typeface="Arial Unicode MS" panose="020B0604020202020204" charset="-122"/>
              <a:ea typeface="Menlo"/>
            </a:endParaRPr>
          </a:p>
          <a:p>
            <a:pPr marL="0" marR="0" lvl="0" indent="0" algn="l" defTabSz="914400" rtl="0" eaLnBrk="0" fontAlgn="ctr" latinLnBrk="0" hangingPunct="0">
              <a:lnSpc>
                <a:spcPts val="3800"/>
              </a:lnSpc>
              <a:spcBef>
                <a:spcPct val="0"/>
              </a:spcBef>
              <a:spcAft>
                <a:spcPct val="0"/>
              </a:spcAft>
              <a:buClrTx/>
              <a:buSzTx/>
              <a:buFontTx/>
              <a:buNone/>
            </a:pPr>
            <a:r>
              <a:rPr kumimoji="0" lang="en-US" altLang="zh-CN" sz="2800" b="1" i="0" u="none" strike="noStrike" cap="none" normalizeH="0" baseline="0" dirty="0">
                <a:ln>
                  <a:noFill/>
                </a:ln>
                <a:effectLst/>
                <a:latin typeface="Arial Unicode MS" panose="020B0604020202020204" charset="-122"/>
                <a:ea typeface="Menlo"/>
              </a:rPr>
              <a:t>n</a:t>
            </a:r>
            <a:r>
              <a:rPr kumimoji="0" lang="zh-CN" altLang="zh-CN" sz="2800" b="1" i="0" u="none" strike="noStrike" cap="none" normalizeH="0" baseline="0" dirty="0">
                <a:ln>
                  <a:noFill/>
                </a:ln>
                <a:effectLst/>
                <a:latin typeface="Arial Unicode MS" panose="020B0604020202020204" charset="-122"/>
                <a:ea typeface="Menlo"/>
              </a:rPr>
              <a:t>ame = ‘</a:t>
            </a:r>
            <a:r>
              <a:rPr kumimoji="0" lang="zh-CN" altLang="en-US" sz="2800" b="1" i="0" u="none" strike="noStrike" cap="none" normalizeH="0" baseline="0" dirty="0">
                <a:ln>
                  <a:noFill/>
                </a:ln>
                <a:effectLst/>
                <a:latin typeface="Arial Unicode MS" panose="020B0604020202020204" charset="-122"/>
                <a:ea typeface="Menlo"/>
              </a:rPr>
              <a:t>李杰</a:t>
            </a:r>
            <a:r>
              <a:rPr kumimoji="0" lang="zh-CN" altLang="zh-CN" sz="2800" b="1" i="0" u="none" strike="noStrike" cap="none" normalizeH="0" baseline="0" dirty="0">
                <a:ln>
                  <a:noFill/>
                </a:ln>
                <a:effectLst/>
                <a:latin typeface="Arial Unicode MS" panose="020B0604020202020204" charset="-122"/>
                <a:ea typeface="Menlo"/>
              </a:rPr>
              <a:t>' </a:t>
            </a:r>
            <a:endParaRPr kumimoji="0" lang="en-US" altLang="zh-CN" sz="2800" b="1" i="0" u="none" strike="noStrike" cap="none" normalizeH="0" baseline="0" dirty="0">
              <a:ln>
                <a:noFill/>
              </a:ln>
              <a:effectLst/>
              <a:latin typeface="Arial Unicode MS" panose="020B0604020202020204" charset="-122"/>
              <a:ea typeface="Menlo"/>
            </a:endParaRPr>
          </a:p>
          <a:p>
            <a:pPr marL="0" marR="0" lvl="0" indent="0" algn="l" defTabSz="914400" rtl="0" eaLnBrk="0" fontAlgn="ctr" latinLnBrk="0" hangingPunct="0">
              <a:lnSpc>
                <a:spcPts val="3800"/>
              </a:lnSpc>
              <a:spcBef>
                <a:spcPct val="0"/>
              </a:spcBef>
              <a:spcAft>
                <a:spcPct val="0"/>
              </a:spcAft>
              <a:buClrTx/>
              <a:buSzTx/>
              <a:buFontTx/>
              <a:buNone/>
            </a:pPr>
            <a:r>
              <a:rPr kumimoji="0" lang="en-US" altLang="zh-CN" sz="2800" b="1" i="0" u="none" strike="noStrike" cap="none" normalizeH="0" baseline="0" dirty="0">
                <a:ln>
                  <a:noFill/>
                </a:ln>
                <a:effectLst/>
                <a:latin typeface="Arial Unicode MS" panose="020B0604020202020204" charset="-122"/>
                <a:ea typeface="Menlo"/>
              </a:rPr>
              <a:t>a</a:t>
            </a:r>
            <a:r>
              <a:rPr kumimoji="0" lang="zh-CN" altLang="zh-CN" sz="2800" b="1" i="0" u="none" strike="noStrike" cap="none" normalizeH="0" baseline="0" dirty="0">
                <a:ln>
                  <a:noFill/>
                </a:ln>
                <a:effectLst/>
                <a:latin typeface="Arial Unicode MS" panose="020B0604020202020204" charset="-122"/>
                <a:ea typeface="Menlo"/>
              </a:rPr>
              <a:t>ge = 28 </a:t>
            </a:r>
            <a:endParaRPr kumimoji="0" lang="en-US" altLang="zh-CN" sz="2800" b="1" i="0" u="none" strike="noStrike" cap="none" normalizeH="0" baseline="0" dirty="0">
              <a:ln>
                <a:noFill/>
              </a:ln>
              <a:effectLst/>
              <a:latin typeface="Arial Unicode MS" panose="020B0604020202020204" charset="-122"/>
              <a:ea typeface="Menlo"/>
            </a:endParaRPr>
          </a:p>
          <a:p>
            <a:pPr marL="0" marR="0" lvl="0" indent="0" algn="l" defTabSz="914400" rtl="0" eaLnBrk="0" fontAlgn="ctr" latinLnBrk="0" hangingPunct="0">
              <a:lnSpc>
                <a:spcPts val="3800"/>
              </a:lnSpc>
              <a:spcBef>
                <a:spcPct val="0"/>
              </a:spcBef>
              <a:spcAft>
                <a:spcPct val="0"/>
              </a:spcAft>
              <a:buClrTx/>
              <a:buSzTx/>
              <a:buFontTx/>
              <a:buNone/>
            </a:pPr>
            <a:r>
              <a:rPr kumimoji="0" lang="zh-CN" altLang="zh-CN" sz="2800" b="1" i="0" u="none" strike="noStrike" cap="none" normalizeH="0" baseline="0" dirty="0">
                <a:ln>
                  <a:noFill/>
                </a:ln>
                <a:effectLst/>
                <a:latin typeface="Arial Unicode MS" panose="020B0604020202020204" charset="-122"/>
                <a:ea typeface="Menlo"/>
              </a:rPr>
              <a:t>location = '厦门' </a:t>
            </a:r>
            <a:endParaRPr kumimoji="0" lang="en-US" altLang="zh-CN" sz="2800" b="1" i="0" u="none" strike="noStrike" cap="none" normalizeH="0" baseline="0" dirty="0">
              <a:ln>
                <a:noFill/>
              </a:ln>
              <a:effectLst/>
              <a:latin typeface="Arial Unicode MS" panose="020B0604020202020204" charset="-122"/>
              <a:ea typeface="Menlo"/>
            </a:endParaRPr>
          </a:p>
          <a:p>
            <a:pPr marL="0" marR="0" lvl="0" indent="0" algn="l" defTabSz="914400" rtl="0" eaLnBrk="0" fontAlgn="ctr" latinLnBrk="0" hangingPunct="0">
              <a:lnSpc>
                <a:spcPts val="3800"/>
              </a:lnSpc>
              <a:spcBef>
                <a:spcPct val="0"/>
              </a:spcBef>
              <a:spcAft>
                <a:spcPct val="0"/>
              </a:spcAft>
              <a:buClrTx/>
              <a:buSzTx/>
              <a:buFontTx/>
              <a:buNone/>
            </a:pPr>
            <a:r>
              <a:rPr kumimoji="0" lang="zh-CN" altLang="zh-CN" sz="2800" b="1" i="0" u="none" strike="noStrike" cap="none" normalizeH="0" baseline="0" dirty="0">
                <a:ln>
                  <a:noFill/>
                </a:ln>
                <a:effectLst/>
                <a:latin typeface="Arial Unicode MS" panose="020B0604020202020204" charset="-122"/>
                <a:ea typeface="Menlo"/>
              </a:rPr>
              <a:t>my_dict['</a:t>
            </a:r>
            <a:r>
              <a:rPr kumimoji="0" lang="en-US" altLang="zh-CN" sz="2800" b="1" i="0" u="none" strike="noStrike" cap="none" normalizeH="0" baseline="0" dirty="0">
                <a:ln>
                  <a:noFill/>
                </a:ln>
                <a:effectLst/>
                <a:latin typeface="Arial Unicode MS" panose="020B0604020202020204" charset="-122"/>
                <a:ea typeface="Menlo"/>
              </a:rPr>
              <a:t>N</a:t>
            </a:r>
            <a:r>
              <a:rPr kumimoji="0" lang="zh-CN" altLang="zh-CN" sz="2800" b="1" i="0" u="none" strike="noStrike" cap="none" normalizeH="0" baseline="0" dirty="0">
                <a:ln>
                  <a:noFill/>
                </a:ln>
                <a:effectLst/>
                <a:latin typeface="Arial Unicode MS" panose="020B0604020202020204" charset="-122"/>
                <a:ea typeface="Menlo"/>
              </a:rPr>
              <a:t>ame'] = name </a:t>
            </a:r>
            <a:endParaRPr kumimoji="0" lang="en-US" altLang="zh-CN" sz="2800" b="1" i="0" u="none" strike="noStrike" cap="none" normalizeH="0" baseline="0" dirty="0">
              <a:ln>
                <a:noFill/>
              </a:ln>
              <a:effectLst/>
              <a:latin typeface="Arial Unicode MS" panose="020B0604020202020204" charset="-122"/>
              <a:ea typeface="Menlo"/>
            </a:endParaRPr>
          </a:p>
          <a:p>
            <a:pPr marL="0" marR="0" lvl="0" indent="0" algn="l" defTabSz="914400" rtl="0" eaLnBrk="0" fontAlgn="ctr" latinLnBrk="0" hangingPunct="0">
              <a:lnSpc>
                <a:spcPts val="3800"/>
              </a:lnSpc>
              <a:spcBef>
                <a:spcPct val="0"/>
              </a:spcBef>
              <a:spcAft>
                <a:spcPct val="0"/>
              </a:spcAft>
              <a:buClrTx/>
              <a:buSzTx/>
              <a:buFontTx/>
              <a:buNone/>
            </a:pPr>
            <a:r>
              <a:rPr kumimoji="0" lang="zh-CN" altLang="zh-CN" sz="2800" b="1" i="0" u="none" strike="noStrike" cap="none" normalizeH="0" baseline="0" dirty="0">
                <a:ln>
                  <a:noFill/>
                </a:ln>
                <a:effectLst/>
                <a:latin typeface="Arial Unicode MS" panose="020B0604020202020204" charset="-122"/>
                <a:ea typeface="Menlo"/>
              </a:rPr>
              <a:t>my_dict['</a:t>
            </a:r>
            <a:r>
              <a:rPr kumimoji="0" lang="en-US" altLang="zh-CN" sz="2800" b="1" i="0" u="none" strike="noStrike" cap="none" normalizeH="0" baseline="0" dirty="0">
                <a:ln>
                  <a:noFill/>
                </a:ln>
                <a:effectLst/>
                <a:latin typeface="Arial Unicode MS" panose="020B0604020202020204" charset="-122"/>
                <a:ea typeface="Menlo"/>
              </a:rPr>
              <a:t>A</a:t>
            </a:r>
            <a:r>
              <a:rPr kumimoji="0" lang="zh-CN" altLang="zh-CN" sz="2800" b="1" i="0" u="none" strike="noStrike" cap="none" normalizeH="0" baseline="0" dirty="0">
                <a:ln>
                  <a:noFill/>
                </a:ln>
                <a:effectLst/>
                <a:latin typeface="Arial Unicode MS" panose="020B0604020202020204" charset="-122"/>
                <a:ea typeface="Menlo"/>
              </a:rPr>
              <a:t>ge'] = age</a:t>
            </a:r>
            <a:endParaRPr kumimoji="0" lang="en-US" altLang="zh-CN" sz="2800" b="1" i="0" u="none" strike="noStrike" cap="none" normalizeH="0" baseline="0" dirty="0">
              <a:ln>
                <a:noFill/>
              </a:ln>
              <a:effectLst/>
              <a:latin typeface="Arial Unicode MS" panose="020B0604020202020204" charset="-122"/>
              <a:ea typeface="Menlo"/>
            </a:endParaRPr>
          </a:p>
          <a:p>
            <a:pPr marL="0" marR="0" lvl="0" indent="0" algn="l" defTabSz="914400" rtl="0" eaLnBrk="0" fontAlgn="ctr" latinLnBrk="0" hangingPunct="0">
              <a:lnSpc>
                <a:spcPts val="3800"/>
              </a:lnSpc>
              <a:spcBef>
                <a:spcPct val="0"/>
              </a:spcBef>
              <a:spcAft>
                <a:spcPct val="0"/>
              </a:spcAft>
              <a:buClrTx/>
              <a:buSzTx/>
              <a:buFontTx/>
              <a:buNone/>
            </a:pPr>
            <a:r>
              <a:rPr kumimoji="0" lang="zh-CN" altLang="zh-CN" sz="2800" b="1" i="0" u="none" strike="noStrike" cap="none" normalizeH="0" baseline="0" dirty="0">
                <a:ln>
                  <a:noFill/>
                </a:ln>
                <a:effectLst/>
                <a:latin typeface="Arial Unicode MS" panose="020B0604020202020204" charset="-122"/>
                <a:ea typeface="Menlo"/>
              </a:rPr>
              <a:t> my_dict['</a:t>
            </a:r>
            <a:r>
              <a:rPr kumimoji="0" lang="en-US" altLang="zh-CN" sz="2800" b="1" i="0" u="none" strike="noStrike" cap="none" normalizeH="0" baseline="0" dirty="0">
                <a:ln>
                  <a:noFill/>
                </a:ln>
                <a:effectLst/>
                <a:latin typeface="Arial Unicode MS" panose="020B0604020202020204" charset="-122"/>
                <a:ea typeface="Menlo"/>
              </a:rPr>
              <a:t>L</a:t>
            </a:r>
            <a:r>
              <a:rPr kumimoji="0" lang="zh-CN" altLang="zh-CN" sz="2800" b="1" i="0" u="none" strike="noStrike" cap="none" normalizeH="0" baseline="0" dirty="0">
                <a:ln>
                  <a:noFill/>
                </a:ln>
                <a:effectLst/>
                <a:latin typeface="Arial Unicode MS" panose="020B0604020202020204" charset="-122"/>
                <a:ea typeface="Menlo"/>
              </a:rPr>
              <a:t>ocation'] = location</a:t>
            </a:r>
            <a:r>
              <a:rPr kumimoji="0" lang="zh-CN" altLang="zh-CN" sz="2800" b="1" i="0" u="none" strike="noStrike" cap="none" normalizeH="0" baseline="0" dirty="0">
                <a:ln>
                  <a:noFill/>
                </a:ln>
                <a:effectLst/>
              </a:rPr>
              <a:t> </a:t>
            </a:r>
            <a:endParaRPr kumimoji="0" lang="zh-CN" altLang="zh-CN" sz="2800" b="1" i="0" u="none" strike="noStrike" cap="none" normalizeH="0" baseline="0" dirty="0">
              <a:ln>
                <a:noFill/>
              </a:ln>
              <a:effectLst/>
              <a:latin typeface="Arial" panose="020B0604020202020204" pitchFamily="34" charset="0"/>
            </a:endParaRPr>
          </a:p>
        </p:txBody>
      </p:sp>
      <p:sp>
        <p:nvSpPr>
          <p:cNvPr id="6" name="矩形 5"/>
          <p:cNvSpPr/>
          <p:nvPr/>
        </p:nvSpPr>
        <p:spPr>
          <a:xfrm>
            <a:off x="6099175" y="2853730"/>
            <a:ext cx="5472608" cy="2306955"/>
          </a:xfrm>
          <a:prstGeom prst="rect">
            <a:avLst/>
          </a:prstGeom>
        </p:spPr>
        <p:txBody>
          <a:bodyPr wrap="square">
            <a:spAutoFit/>
          </a:bodyPr>
          <a:lstStyle/>
          <a:p>
            <a:pPr>
              <a:lnSpc>
                <a:spcPct val="150000"/>
              </a:lnSpc>
            </a:pPr>
            <a:r>
              <a:rPr lang="zh-CN" altLang="en-US" b="1" dirty="0">
                <a:solidFill>
                  <a:srgbClr val="FF0000"/>
                </a:solidFill>
                <a:latin typeface="微软雅黑" panose="020B0503020204020204" pitchFamily="34" charset="-122"/>
                <a:ea typeface="微软雅黑" panose="020B0503020204020204" pitchFamily="34" charset="-122"/>
              </a:rPr>
              <a:t>适用时机</a:t>
            </a:r>
            <a:r>
              <a:rPr lang="zh-CN" altLang="en-US" b="1" dirty="0">
                <a:solidFill>
                  <a:srgbClr val="2F2F2F"/>
                </a:solidFill>
                <a:latin typeface="微软雅黑" panose="020B0503020204020204" pitchFamily="34" charset="-122"/>
                <a:ea typeface="微软雅黑" panose="020B0503020204020204" pitchFamily="34" charset="-122"/>
              </a:rPr>
              <a:t>：</a:t>
            </a:r>
            <a:r>
              <a:rPr lang="zh-CN" altLang="en-US" dirty="0">
                <a:solidFill>
                  <a:srgbClr val="2F2F2F"/>
                </a:solidFill>
                <a:latin typeface="微软雅黑" panose="020B0503020204020204" pitchFamily="34" charset="-122"/>
                <a:ea typeface="微软雅黑" panose="020B0503020204020204" pitchFamily="34" charset="-122"/>
              </a:rPr>
              <a:t>常用在一些事先并不知道返回结果的场景中，如服务器返回数据。当获得这些返回结果的时候，再逐一向</a:t>
            </a:r>
            <a:r>
              <a:rPr lang="en-US" altLang="zh-CN" dirty="0">
                <a:solidFill>
                  <a:srgbClr val="2F2F2F"/>
                </a:solidFill>
                <a:latin typeface="微软雅黑" panose="020B0503020204020204" pitchFamily="34" charset="-122"/>
                <a:ea typeface="微软雅黑" panose="020B0503020204020204" pitchFamily="34" charset="-122"/>
              </a:rPr>
              <a:t>Dictionary</a:t>
            </a:r>
            <a:r>
              <a:rPr lang="zh-CN" altLang="en-US" dirty="0">
                <a:solidFill>
                  <a:srgbClr val="2F2F2F"/>
                </a:solidFill>
                <a:latin typeface="微软雅黑" panose="020B0503020204020204" pitchFamily="34" charset="-122"/>
                <a:ea typeface="微软雅黑" panose="020B0503020204020204" pitchFamily="34" charset="-122"/>
              </a:rPr>
              <a:t>中添加。</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9980930" y="78105"/>
            <a:ext cx="2119630" cy="678180"/>
          </a:xfrm>
        </p:spPr>
        <p:txBody>
          <a:bodyPr vert="horz" wrap="square" lIns="91456" tIns="45728" rIns="91456" bIns="45728" numCol="1" anchor="b" anchorCtr="0" compatLnSpc="1"/>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标题 1"/>
          <p:cNvSpPr txBox="1"/>
          <p:nvPr/>
        </p:nvSpPr>
        <p:spPr>
          <a:xfrm>
            <a:off x="3938935" y="770724"/>
            <a:ext cx="3851018" cy="68834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其他创建字典方法</a:t>
            </a:r>
          </a:p>
        </p:txBody>
      </p:sp>
      <p:sp>
        <p:nvSpPr>
          <p:cNvPr id="3" name="矩形 2"/>
          <p:cNvSpPr/>
          <p:nvPr/>
        </p:nvSpPr>
        <p:spPr>
          <a:xfrm>
            <a:off x="194519" y="1585169"/>
            <a:ext cx="3651962" cy="523220"/>
          </a:xfrm>
          <a:prstGeom prst="rect">
            <a:avLst/>
          </a:prstGeom>
        </p:spPr>
        <p:txBody>
          <a:bodyPr wrap="none">
            <a:spAutoFit/>
          </a:bodyPr>
          <a:lstStyle/>
          <a:p>
            <a:pPr marL="342900" indent="-342900">
              <a:buFont typeface="Wingdings" panose="05000000000000000000" pitchFamily="2" charset="2"/>
              <a:buChar char="u"/>
            </a:pPr>
            <a:r>
              <a:rPr lang="zh-CN" altLang="en-US" sz="2800" b="1" dirty="0">
                <a:solidFill>
                  <a:srgbClr val="2F2F2F"/>
                </a:solidFill>
                <a:latin typeface="微软雅黑" panose="020B0503020204020204" pitchFamily="34" charset="-122"/>
                <a:ea typeface="微软雅黑" panose="020B0503020204020204" pitchFamily="34" charset="-122"/>
              </a:rPr>
              <a:t>通过系统</a:t>
            </a:r>
            <a:r>
              <a:rPr lang="en-US" altLang="zh-CN" sz="2800" b="1" dirty="0" err="1">
                <a:solidFill>
                  <a:srgbClr val="2F2F2F"/>
                </a:solidFill>
                <a:latin typeface="微软雅黑" panose="020B0503020204020204" pitchFamily="34" charset="-122"/>
                <a:ea typeface="微软雅黑" panose="020B0503020204020204" pitchFamily="34" charset="-122"/>
              </a:rPr>
              <a:t>dict</a:t>
            </a:r>
            <a:r>
              <a:rPr lang="en-US" altLang="zh-CN" sz="2800" b="1" dirty="0">
                <a:solidFill>
                  <a:srgbClr val="2F2F2F"/>
                </a:solidFill>
                <a:latin typeface="微软雅黑" panose="020B0503020204020204" pitchFamily="34" charset="-122"/>
                <a:ea typeface="微软雅黑" panose="020B0503020204020204" pitchFamily="34" charset="-122"/>
              </a:rPr>
              <a:t>()</a:t>
            </a:r>
            <a:r>
              <a:rPr lang="zh-CN" altLang="en-US" sz="2800" b="1" dirty="0">
                <a:solidFill>
                  <a:srgbClr val="2F2F2F"/>
                </a:solidFill>
                <a:latin typeface="微软雅黑" panose="020B0503020204020204" pitchFamily="34" charset="-122"/>
                <a:ea typeface="微软雅黑" panose="020B0503020204020204" pitchFamily="34" charset="-122"/>
              </a:rPr>
              <a:t>方法</a:t>
            </a:r>
            <a:endParaRPr lang="en-US" altLang="zh-CN" sz="2800" b="1" i="0" dirty="0">
              <a:solidFill>
                <a:srgbClr val="2F2F2F"/>
              </a:solidFill>
              <a:effectLst/>
              <a:latin typeface="微软雅黑" panose="020B0503020204020204" pitchFamily="34" charset="-122"/>
              <a:ea typeface="微软雅黑" panose="020B0503020204020204" pitchFamily="34" charset="-122"/>
            </a:endParaRPr>
          </a:p>
        </p:txBody>
      </p:sp>
      <p:sp>
        <p:nvSpPr>
          <p:cNvPr id="4" name="Rectangle 1"/>
          <p:cNvSpPr>
            <a:spLocks noChangeArrowheads="1"/>
          </p:cNvSpPr>
          <p:nvPr/>
        </p:nvSpPr>
        <p:spPr bwMode="auto">
          <a:xfrm>
            <a:off x="698575" y="2381990"/>
            <a:ext cx="11715799" cy="611969"/>
          </a:xfrm>
          <a:prstGeom prst="rect">
            <a:avLst/>
          </a:prstGeom>
          <a:noFill/>
          <a:ln>
            <a:noFill/>
          </a:ln>
          <a:effectLst/>
        </p:spPr>
        <p:txBody>
          <a:bodyPr vert="horz" wrap="square" lIns="0" tIns="0" rIns="0" bIns="179331" numCol="1" anchor="ctr" anchorCtr="0" compatLnSpc="1">
            <a:spAutoFit/>
          </a:bodyPr>
          <a:lstStyle/>
          <a:p>
            <a:pPr lvl="0" defTabSz="914400" eaLnBrk="0" fontAlgn="ctr" hangingPunct="0">
              <a:spcBef>
                <a:spcPct val="0"/>
              </a:spcBef>
              <a:spcAft>
                <a:spcPct val="0"/>
              </a:spcAft>
            </a:pPr>
            <a:r>
              <a:rPr kumimoji="0" lang="zh-CN" altLang="zh-CN" sz="2800" b="1" i="0" u="none" strike="noStrike" cap="none" normalizeH="0" baseline="0" dirty="0">
                <a:ln>
                  <a:noFill/>
                </a:ln>
                <a:effectLst/>
                <a:latin typeface="微软雅黑" panose="020B0503020204020204" pitchFamily="34" charset="-122"/>
                <a:ea typeface="微软雅黑" panose="020B0503020204020204" pitchFamily="34" charset="-122"/>
              </a:rPr>
              <a:t>my_dict = </a:t>
            </a:r>
            <a:r>
              <a:rPr kumimoji="0" lang="en-US" altLang="zh-CN" sz="2800" b="1" i="0" u="none" strike="noStrike" cap="none" normalizeH="0" baseline="0" dirty="0" err="1">
                <a:ln>
                  <a:noFill/>
                </a:ln>
                <a:effectLst/>
                <a:latin typeface="微软雅黑" panose="020B0503020204020204" pitchFamily="34" charset="-122"/>
                <a:ea typeface="微软雅黑" panose="020B0503020204020204" pitchFamily="34" charset="-122"/>
              </a:rPr>
              <a:t>dict</a:t>
            </a:r>
            <a:r>
              <a:rPr lang="en-US" altLang="zh-CN" sz="2800" b="1" dirty="0">
                <a:latin typeface="微软雅黑" panose="020B0503020204020204" pitchFamily="34" charset="-122"/>
                <a:ea typeface="微软雅黑" panose="020B0503020204020204" pitchFamily="34" charset="-122"/>
              </a:rPr>
              <a:t>(</a:t>
            </a:r>
            <a:r>
              <a:rPr lang="zh-CN" altLang="zh-CN" sz="2800" b="1" dirty="0">
                <a:latin typeface="微软雅黑" panose="020B0503020204020204" pitchFamily="34" charset="-122"/>
                <a:ea typeface="微软雅黑" panose="020B0503020204020204" pitchFamily="34" charset="-122"/>
              </a:rPr>
              <a:t>name</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＇李杰＇</a:t>
            </a:r>
            <a:r>
              <a:rPr lang="zh-CN" altLang="zh-CN" sz="2800" b="1" dirty="0">
                <a:latin typeface="微软雅黑" panose="020B0503020204020204" pitchFamily="34" charset="-122"/>
                <a:ea typeface="微软雅黑" panose="020B0503020204020204" pitchFamily="34" charset="-122"/>
              </a:rPr>
              <a:t>, age</a:t>
            </a:r>
            <a:r>
              <a:rPr lang="en-US" altLang="zh-CN" sz="2800" b="1" dirty="0">
                <a:latin typeface="微软雅黑" panose="020B0503020204020204" pitchFamily="34" charset="-122"/>
                <a:ea typeface="微软雅黑" panose="020B0503020204020204" pitchFamily="34" charset="-122"/>
              </a:rPr>
              <a:t>=</a:t>
            </a:r>
            <a:r>
              <a:rPr lang="zh-CN" altLang="zh-CN" sz="2800" b="1" dirty="0">
                <a:latin typeface="微软雅黑" panose="020B0503020204020204" pitchFamily="34" charset="-122"/>
                <a:ea typeface="微软雅黑" panose="020B0503020204020204" pitchFamily="34" charset="-122"/>
              </a:rPr>
              <a:t>28, location</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＇厦门＇</a:t>
            </a:r>
            <a:r>
              <a:rPr lang="zh-CN" altLang="zh-CN" sz="2800" b="1" dirty="0">
                <a:latin typeface="微软雅黑" panose="020B0503020204020204" pitchFamily="34" charset="-122"/>
                <a:ea typeface="微软雅黑" panose="020B0503020204020204" pitchFamily="34" charset="-122"/>
              </a:rPr>
              <a:t> </a:t>
            </a:r>
            <a:r>
              <a:rPr lang="en-US" altLang="zh-CN" sz="2800" b="1" dirty="0">
                <a:latin typeface="微软雅黑" panose="020B0503020204020204" pitchFamily="34" charset="-122"/>
                <a:ea typeface="微软雅黑" panose="020B0503020204020204" pitchFamily="34" charset="-122"/>
              </a:rPr>
              <a:t>)</a:t>
            </a:r>
            <a:r>
              <a:rPr lang="zh-CN" altLang="zh-CN" sz="2800" b="1" dirty="0">
                <a:latin typeface="微软雅黑" panose="020B0503020204020204" pitchFamily="34" charset="-122"/>
                <a:ea typeface="微软雅黑" panose="020B0503020204020204" pitchFamily="34" charset="-122"/>
              </a:rPr>
              <a:t> </a:t>
            </a:r>
            <a:endParaRPr lang="en-US" altLang="zh-CN" sz="2800" b="1" dirty="0">
              <a:latin typeface="微软雅黑" panose="020B0503020204020204" pitchFamily="34" charset="-122"/>
              <a:ea typeface="微软雅黑" panose="020B0503020204020204" pitchFamily="34" charset="-122"/>
            </a:endParaRPr>
          </a:p>
        </p:txBody>
      </p:sp>
      <p:sp>
        <p:nvSpPr>
          <p:cNvPr id="6" name="矩形 5"/>
          <p:cNvSpPr/>
          <p:nvPr/>
        </p:nvSpPr>
        <p:spPr>
          <a:xfrm>
            <a:off x="590563" y="3236974"/>
            <a:ext cx="11017224" cy="1754326"/>
          </a:xfrm>
          <a:prstGeom prst="rect">
            <a:avLst/>
          </a:prstGeom>
        </p:spPr>
        <p:txBody>
          <a:bodyPr wrap="square">
            <a:spAutoFit/>
          </a:bodyPr>
          <a:lstStyle/>
          <a:p>
            <a:pPr algn="just">
              <a:lnSpc>
                <a:spcPct val="150000"/>
              </a:lnSpc>
            </a:pPr>
            <a:r>
              <a:rPr lang="en-US" altLang="zh-CN" dirty="0" err="1">
                <a:latin typeface="微软雅黑" panose="020B0503020204020204" pitchFamily="34" charset="-122"/>
                <a:ea typeface="微软雅黑" panose="020B0503020204020204" pitchFamily="34" charset="-122"/>
              </a:rPr>
              <a:t>dict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方法是一个动态参数的方法，意思是它不会去限制传入的类型和个数，然后会以变量名去充当键值对中的键，以变量的值去充当键值对中的值。这种方法创建</a:t>
            </a:r>
            <a:r>
              <a:rPr lang="en-US" altLang="zh-CN" dirty="0">
                <a:latin typeface="微软雅黑" panose="020B0503020204020204" pitchFamily="34" charset="-122"/>
                <a:ea typeface="微软雅黑" panose="020B0503020204020204" pitchFamily="34" charset="-122"/>
              </a:rPr>
              <a:t>Dictionary</a:t>
            </a:r>
            <a:r>
              <a:rPr lang="zh-CN" altLang="en-US" dirty="0">
                <a:latin typeface="微软雅黑" panose="020B0503020204020204" pitchFamily="34" charset="-122"/>
                <a:ea typeface="微软雅黑" panose="020B0503020204020204" pitchFamily="34" charset="-122"/>
              </a:rPr>
              <a:t>语法简单而且简洁明了、不易出错。</a:t>
            </a:r>
          </a:p>
        </p:txBody>
      </p:sp>
      <p:sp>
        <p:nvSpPr>
          <p:cNvPr id="9" name="矩形 8"/>
          <p:cNvSpPr/>
          <p:nvPr/>
        </p:nvSpPr>
        <p:spPr>
          <a:xfrm>
            <a:off x="590563" y="5446018"/>
            <a:ext cx="11440393" cy="523220"/>
          </a:xfrm>
          <a:prstGeom prst="rect">
            <a:avLst/>
          </a:prstGeom>
        </p:spPr>
        <p:txBody>
          <a:bodyPr wrap="square">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注意：使用这个方法的时候，键必须都是字符串才行，否则系统抛异常</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9"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9980930" y="78105"/>
            <a:ext cx="2119630" cy="678180"/>
          </a:xfrm>
        </p:spPr>
        <p:txBody>
          <a:bodyPr vert="horz" wrap="square" lIns="91456" tIns="45728" rIns="91456" bIns="45728" numCol="1" anchor="b" anchorCtr="0" compatLnSpc="1"/>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标题 1"/>
          <p:cNvSpPr txBox="1"/>
          <p:nvPr/>
        </p:nvSpPr>
        <p:spPr>
          <a:xfrm>
            <a:off x="3938935" y="770724"/>
            <a:ext cx="3851018" cy="68834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其他创建字典方法</a:t>
            </a:r>
          </a:p>
        </p:txBody>
      </p:sp>
      <p:sp>
        <p:nvSpPr>
          <p:cNvPr id="3" name="矩形 2"/>
          <p:cNvSpPr/>
          <p:nvPr/>
        </p:nvSpPr>
        <p:spPr>
          <a:xfrm>
            <a:off x="194519" y="1585169"/>
            <a:ext cx="3651962" cy="523220"/>
          </a:xfrm>
          <a:prstGeom prst="rect">
            <a:avLst/>
          </a:prstGeom>
        </p:spPr>
        <p:txBody>
          <a:bodyPr wrap="none">
            <a:spAutoFit/>
          </a:bodyPr>
          <a:lstStyle/>
          <a:p>
            <a:pPr marL="342900" indent="-342900">
              <a:buFont typeface="Wingdings" panose="05000000000000000000" pitchFamily="2" charset="2"/>
              <a:buChar char="u"/>
            </a:pPr>
            <a:r>
              <a:rPr lang="zh-CN" altLang="en-US" sz="2800" b="1" dirty="0">
                <a:solidFill>
                  <a:srgbClr val="2F2F2F"/>
                </a:solidFill>
                <a:latin typeface="微软雅黑" panose="020B0503020204020204" pitchFamily="34" charset="-122"/>
                <a:ea typeface="微软雅黑" panose="020B0503020204020204" pitchFamily="34" charset="-122"/>
              </a:rPr>
              <a:t>通过系统</a:t>
            </a:r>
            <a:r>
              <a:rPr lang="en-US" altLang="zh-CN" sz="2800" b="1" dirty="0" err="1">
                <a:solidFill>
                  <a:srgbClr val="2F2F2F"/>
                </a:solidFill>
                <a:latin typeface="微软雅黑" panose="020B0503020204020204" pitchFamily="34" charset="-122"/>
                <a:ea typeface="微软雅黑" panose="020B0503020204020204" pitchFamily="34" charset="-122"/>
              </a:rPr>
              <a:t>dict</a:t>
            </a:r>
            <a:r>
              <a:rPr lang="en-US" altLang="zh-CN" sz="2800" b="1" dirty="0">
                <a:solidFill>
                  <a:srgbClr val="2F2F2F"/>
                </a:solidFill>
                <a:latin typeface="微软雅黑" panose="020B0503020204020204" pitchFamily="34" charset="-122"/>
                <a:ea typeface="微软雅黑" panose="020B0503020204020204" pitchFamily="34" charset="-122"/>
              </a:rPr>
              <a:t>()</a:t>
            </a:r>
            <a:r>
              <a:rPr lang="zh-CN" altLang="en-US" sz="2800" b="1" dirty="0">
                <a:solidFill>
                  <a:srgbClr val="2F2F2F"/>
                </a:solidFill>
                <a:latin typeface="微软雅黑" panose="020B0503020204020204" pitchFamily="34" charset="-122"/>
                <a:ea typeface="微软雅黑" panose="020B0503020204020204" pitchFamily="34" charset="-122"/>
              </a:rPr>
              <a:t>方法</a:t>
            </a:r>
            <a:endParaRPr lang="en-US" altLang="zh-CN" sz="2800" b="1" i="0" dirty="0">
              <a:solidFill>
                <a:srgbClr val="2F2F2F"/>
              </a:solidFill>
              <a:effectLst/>
              <a:latin typeface="微软雅黑" panose="020B0503020204020204" pitchFamily="34" charset="-122"/>
              <a:ea typeface="微软雅黑" panose="020B0503020204020204" pitchFamily="34" charset="-122"/>
            </a:endParaRPr>
          </a:p>
        </p:txBody>
      </p:sp>
      <p:sp>
        <p:nvSpPr>
          <p:cNvPr id="6" name="矩形 5"/>
          <p:cNvSpPr/>
          <p:nvPr/>
        </p:nvSpPr>
        <p:spPr>
          <a:xfrm>
            <a:off x="817776" y="3926410"/>
            <a:ext cx="11017224" cy="1754326"/>
          </a:xfrm>
          <a:prstGeom prst="rect">
            <a:avLst/>
          </a:prstGeom>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往</a:t>
            </a:r>
            <a:r>
              <a:rPr lang="en-US" altLang="zh-CN" dirty="0" err="1">
                <a:latin typeface="微软雅黑" panose="020B0503020204020204" pitchFamily="34" charset="-122"/>
                <a:ea typeface="微软雅黑" panose="020B0503020204020204" pitchFamily="34" charset="-122"/>
              </a:rPr>
              <a:t>dict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方法中，传入一个</a:t>
            </a:r>
            <a:r>
              <a:rPr lang="en-US" altLang="zh-CN" dirty="0">
                <a:latin typeface="微软雅黑" panose="020B0503020204020204" pitchFamily="34" charset="-122"/>
                <a:ea typeface="微软雅黑" panose="020B0503020204020204" pitchFamily="34" charset="-122"/>
              </a:rPr>
              <a:t>List</a:t>
            </a:r>
            <a:r>
              <a:rPr lang="zh-CN" altLang="en-US" dirty="0">
                <a:latin typeface="微软雅黑" panose="020B0503020204020204" pitchFamily="34" charset="-122"/>
                <a:ea typeface="微软雅黑" panose="020B0503020204020204" pitchFamily="34" charset="-122"/>
              </a:rPr>
              <a:t>类型数据，</a:t>
            </a:r>
            <a:r>
              <a:rPr lang="en-US" altLang="zh-CN" dirty="0">
                <a:latin typeface="微软雅黑" panose="020B0503020204020204" pitchFamily="34" charset="-122"/>
                <a:ea typeface="微软雅黑" panose="020B0503020204020204" pitchFamily="34" charset="-122"/>
              </a:rPr>
              <a:t>List</a:t>
            </a:r>
            <a:r>
              <a:rPr lang="zh-CN" altLang="en-US" dirty="0">
                <a:latin typeface="微软雅黑" panose="020B0503020204020204" pitchFamily="34" charset="-122"/>
                <a:ea typeface="微软雅黑" panose="020B0503020204020204" pitchFamily="34" charset="-122"/>
              </a:rPr>
              <a:t>类型数据的元素都是由包含两个元素的元组来组成。系统会取</a:t>
            </a:r>
            <a:r>
              <a:rPr lang="en-US" altLang="zh-CN" dirty="0">
                <a:latin typeface="微软雅黑" panose="020B0503020204020204" pitchFamily="34" charset="-122"/>
                <a:ea typeface="微软雅黑" panose="020B0503020204020204" pitchFamily="34" charset="-122"/>
              </a:rPr>
              <a:t>List</a:t>
            </a:r>
            <a:r>
              <a:rPr lang="zh-CN" altLang="en-US" dirty="0">
                <a:latin typeface="微软雅黑" panose="020B0503020204020204" pitchFamily="34" charset="-122"/>
                <a:ea typeface="微软雅黑" panose="020B0503020204020204" pitchFamily="34" charset="-122"/>
              </a:rPr>
              <a:t>中每个元组来生成一个键值对，以元组的第一个元素来充当</a:t>
            </a:r>
            <a:r>
              <a:rPr lang="en-US" altLang="zh-CN" dirty="0">
                <a:latin typeface="微软雅黑" panose="020B0503020204020204" pitchFamily="34" charset="-122"/>
                <a:ea typeface="微软雅黑" panose="020B0503020204020204" pitchFamily="34" charset="-122"/>
              </a:rPr>
              <a:t>Dictionary</a:t>
            </a:r>
            <a:r>
              <a:rPr lang="zh-CN" altLang="en-US" dirty="0">
                <a:latin typeface="微软雅黑" panose="020B0503020204020204" pitchFamily="34" charset="-122"/>
                <a:ea typeface="微软雅黑" panose="020B0503020204020204" pitchFamily="34" charset="-122"/>
              </a:rPr>
              <a:t>的键，第二个元素来充当</a:t>
            </a:r>
            <a:r>
              <a:rPr lang="en-US" altLang="zh-CN" dirty="0">
                <a:latin typeface="微软雅黑" panose="020B0503020204020204" pitchFamily="34" charset="-122"/>
                <a:ea typeface="微软雅黑" panose="020B0503020204020204" pitchFamily="34" charset="-122"/>
              </a:rPr>
              <a:t>Dictionary</a:t>
            </a:r>
            <a:r>
              <a:rPr lang="zh-CN" altLang="en-US" dirty="0">
                <a:latin typeface="微软雅黑" panose="020B0503020204020204" pitchFamily="34" charset="-122"/>
                <a:ea typeface="微软雅黑" panose="020B0503020204020204" pitchFamily="34" charset="-122"/>
              </a:rPr>
              <a:t>的值。</a:t>
            </a:r>
          </a:p>
        </p:txBody>
      </p:sp>
      <p:sp>
        <p:nvSpPr>
          <p:cNvPr id="7" name="矩形 6"/>
          <p:cNvSpPr/>
          <p:nvPr/>
        </p:nvSpPr>
        <p:spPr>
          <a:xfrm>
            <a:off x="698575" y="3317569"/>
            <a:ext cx="11136425" cy="611969"/>
          </a:xfrm>
          <a:prstGeom prst="rect">
            <a:avLst/>
          </a:prstGeom>
          <a:noFill/>
          <a:ln>
            <a:noFill/>
          </a:ln>
          <a:effectLst/>
        </p:spPr>
        <p:txBody>
          <a:bodyPr vert="horz" wrap="square" lIns="0" tIns="0" rIns="0" bIns="179331" numCol="1" anchor="ctr" anchorCtr="0" compatLnSpc="1">
            <a:spAutoFit/>
          </a:bodyPr>
          <a:lstStyle/>
          <a:p>
            <a:pPr defTabSz="914400" eaLnBrk="0" fontAlgn="ctr" hangingPunct="0">
              <a:spcBef>
                <a:spcPct val="0"/>
              </a:spcBef>
              <a:spcAft>
                <a:spcPct val="0"/>
              </a:spcAft>
            </a:pPr>
            <a:r>
              <a:rPr lang="zh-CN" altLang="en-US" sz="2800" b="1" dirty="0">
                <a:latin typeface="微软雅黑" panose="020B0503020204020204" pitchFamily="34" charset="-122"/>
                <a:ea typeface="微软雅黑" panose="020B0503020204020204" pitchFamily="34" charset="-122"/>
              </a:rPr>
              <a:t>my_dict = dict([('name', '李杰'), ('age', 28), ('location', '厦门')])</a:t>
            </a:r>
          </a:p>
        </p:txBody>
      </p:sp>
      <p:sp>
        <p:nvSpPr>
          <p:cNvPr id="8" name="矩形 7"/>
          <p:cNvSpPr/>
          <p:nvPr/>
        </p:nvSpPr>
        <p:spPr>
          <a:xfrm>
            <a:off x="845338" y="2363505"/>
            <a:ext cx="2709396" cy="523220"/>
          </a:xfrm>
          <a:prstGeom prst="rect">
            <a:avLst/>
          </a:prstGeom>
        </p:spPr>
        <p:txBody>
          <a:bodyPr wrap="none">
            <a:spAutoFit/>
          </a:bodyPr>
          <a:lstStyle/>
          <a:p>
            <a:r>
              <a:rPr lang="zh-CN" altLang="en-US" sz="2800" b="1" dirty="0">
                <a:solidFill>
                  <a:srgbClr val="2F2F2F"/>
                </a:solidFill>
                <a:latin typeface="-apple-system"/>
              </a:rPr>
              <a:t>通过键值元素表</a:t>
            </a:r>
            <a:endParaRPr lang="zh-CN" altLang="en-US" sz="2800" b="1" i="0" dirty="0">
              <a:solidFill>
                <a:srgbClr val="2F2F2F"/>
              </a:solidFill>
              <a:effectLst/>
              <a:latin typeface="-apple-system"/>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9980930" y="78105"/>
            <a:ext cx="2119630" cy="678180"/>
          </a:xfrm>
        </p:spPr>
        <p:txBody>
          <a:bodyPr vert="horz" wrap="square" lIns="91456" tIns="45728" rIns="91456" bIns="45728" numCol="1" anchor="b" anchorCtr="0" compatLnSpc="1"/>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标题 1"/>
          <p:cNvSpPr txBox="1"/>
          <p:nvPr/>
        </p:nvSpPr>
        <p:spPr>
          <a:xfrm>
            <a:off x="3938935" y="770724"/>
            <a:ext cx="3851018" cy="68834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其他创建字典方法</a:t>
            </a:r>
          </a:p>
        </p:txBody>
      </p:sp>
      <p:sp>
        <p:nvSpPr>
          <p:cNvPr id="3" name="矩形 2"/>
          <p:cNvSpPr/>
          <p:nvPr/>
        </p:nvSpPr>
        <p:spPr>
          <a:xfrm>
            <a:off x="194519" y="1585169"/>
            <a:ext cx="5216525" cy="521970"/>
          </a:xfrm>
          <a:prstGeom prst="rect">
            <a:avLst/>
          </a:prstGeom>
        </p:spPr>
        <p:txBody>
          <a:bodyPr wrap="none">
            <a:spAutoFit/>
          </a:bodyPr>
          <a:lstStyle/>
          <a:p>
            <a:pPr marL="342900" indent="-342900">
              <a:buFont typeface="Wingdings" panose="05000000000000000000" pitchFamily="2" charset="2"/>
              <a:buChar char="u"/>
            </a:pPr>
            <a:r>
              <a:rPr lang="zh-CN" altLang="en-US" sz="2800" b="1" dirty="0">
                <a:solidFill>
                  <a:srgbClr val="2F2F2F"/>
                </a:solidFill>
                <a:latin typeface="微软雅黑" panose="020B0503020204020204" pitchFamily="34" charset="-122"/>
                <a:ea typeface="微软雅黑" panose="020B0503020204020204" pitchFamily="34" charset="-122"/>
              </a:rPr>
              <a:t>通过</a:t>
            </a:r>
            <a:r>
              <a:rPr lang="en-US" altLang="zh-CN" sz="2800" b="1" dirty="0">
                <a:solidFill>
                  <a:srgbClr val="2F2F2F"/>
                </a:solidFill>
                <a:latin typeface="微软雅黑" panose="020B0503020204020204" pitchFamily="34" charset="-122"/>
                <a:ea typeface="微软雅黑" panose="020B0503020204020204" pitchFamily="34" charset="-122"/>
              </a:rPr>
              <a:t>zip</a:t>
            </a:r>
            <a:r>
              <a:rPr lang="zh-CN" altLang="en-US" sz="2800" b="1" dirty="0">
                <a:solidFill>
                  <a:srgbClr val="2F2F2F"/>
                </a:solidFill>
                <a:latin typeface="微软雅黑" panose="020B0503020204020204" pitchFamily="34" charset="-122"/>
                <a:ea typeface="微软雅黑" panose="020B0503020204020204" pitchFamily="34" charset="-122"/>
              </a:rPr>
              <a:t>方法和</a:t>
            </a:r>
            <a:r>
              <a:rPr lang="en-US" altLang="zh-CN" sz="2800" b="1" dirty="0">
                <a:solidFill>
                  <a:srgbClr val="2F2F2F"/>
                </a:solidFill>
                <a:latin typeface="微软雅黑" panose="020B0503020204020204" pitchFamily="34" charset="-122"/>
                <a:ea typeface="微软雅黑" panose="020B0503020204020204" pitchFamily="34" charset="-122"/>
              </a:rPr>
              <a:t>fromkeys</a:t>
            </a:r>
            <a:r>
              <a:rPr lang="zh-CN" altLang="en-US" sz="2800" b="1" dirty="0">
                <a:solidFill>
                  <a:srgbClr val="2F2F2F"/>
                </a:solidFill>
                <a:latin typeface="微软雅黑" panose="020B0503020204020204" pitchFamily="34" charset="-122"/>
                <a:ea typeface="微软雅黑" panose="020B0503020204020204" pitchFamily="34" charset="-122"/>
              </a:rPr>
              <a:t>方法</a:t>
            </a:r>
          </a:p>
        </p:txBody>
      </p:sp>
      <p:sp>
        <p:nvSpPr>
          <p:cNvPr id="6" name="矩形 5"/>
          <p:cNvSpPr/>
          <p:nvPr/>
        </p:nvSpPr>
        <p:spPr>
          <a:xfrm>
            <a:off x="737870" y="2778246"/>
            <a:ext cx="11017224" cy="1198880"/>
          </a:xfrm>
          <a:prstGeom prst="rect">
            <a:avLst/>
          </a:prstGeom>
        </p:spPr>
        <p:txBody>
          <a:bodyPr wrap="square">
            <a:spAutoFit/>
          </a:bodyPr>
          <a:lstStyle/>
          <a:p>
            <a:pPr marL="0" indent="0" fontAlgn="auto">
              <a:lnSpc>
                <a:spcPct val="100000"/>
              </a:lnSpc>
              <a:spcBef>
                <a:spcPts val="0"/>
              </a:spcBef>
              <a:buNone/>
            </a:pPr>
            <a:r>
              <a:rPr lang="zh-CN" altLang="en-US" dirty="0">
                <a:latin typeface="Consolas" panose="020B0609020204030204" pitchFamily="49" charset="0"/>
                <a:sym typeface="+mn-ea"/>
              </a:rPr>
              <a:t>&gt;&gt;&gt; keys = ['a', 'b', 'c', 'd']</a:t>
            </a:r>
            <a:endParaRPr lang="zh-CN" altLang="en-US" dirty="0">
              <a:latin typeface="Consolas" panose="020B0609020204030204" pitchFamily="49" charset="0"/>
            </a:endParaRPr>
          </a:p>
          <a:p>
            <a:pPr marL="0" indent="0" fontAlgn="auto">
              <a:lnSpc>
                <a:spcPct val="100000"/>
              </a:lnSpc>
              <a:spcBef>
                <a:spcPts val="0"/>
              </a:spcBef>
              <a:buNone/>
            </a:pPr>
            <a:r>
              <a:rPr lang="zh-CN" altLang="en-US" dirty="0">
                <a:latin typeface="Consolas" panose="020B0609020204030204" pitchFamily="49" charset="0"/>
                <a:sym typeface="+mn-ea"/>
              </a:rPr>
              <a:t>&gt;&gt;&gt; values = [1, 2, 3, 4]</a:t>
            </a:r>
            <a:endParaRPr lang="zh-CN" altLang="en-US" dirty="0">
              <a:latin typeface="Consolas" panose="020B0609020204030204" pitchFamily="49" charset="0"/>
            </a:endParaRPr>
          </a:p>
          <a:p>
            <a:pPr marL="0" indent="0" fontAlgn="auto">
              <a:lnSpc>
                <a:spcPct val="100000"/>
              </a:lnSpc>
              <a:spcBef>
                <a:spcPts val="0"/>
              </a:spcBef>
              <a:buNone/>
            </a:pPr>
            <a:r>
              <a:rPr lang="zh-CN" altLang="en-US" dirty="0">
                <a:latin typeface="Consolas" panose="020B0609020204030204" pitchFamily="49" charset="0"/>
                <a:sym typeface="+mn-ea"/>
              </a:rPr>
              <a:t>&gt;&gt;&gt; dictionary = dict(</a:t>
            </a:r>
            <a:r>
              <a:rPr lang="zh-CN" altLang="en-US" b="1" dirty="0">
                <a:solidFill>
                  <a:srgbClr val="FF0000"/>
                </a:solidFill>
                <a:latin typeface="Consolas" panose="020B0609020204030204" pitchFamily="49" charset="0"/>
                <a:sym typeface="+mn-ea"/>
              </a:rPr>
              <a:t>zip</a:t>
            </a:r>
            <a:r>
              <a:rPr lang="zh-CN" altLang="en-US" dirty="0">
                <a:latin typeface="Consolas" panose="020B0609020204030204" pitchFamily="49" charset="0"/>
                <a:sym typeface="+mn-ea"/>
              </a:rPr>
              <a:t>(keys, values))     #根据已有数据创建字典</a:t>
            </a:r>
            <a:endParaRPr lang="zh-CN" altLang="en-US" dirty="0">
              <a:latin typeface="微软雅黑" panose="020B0503020204020204" pitchFamily="34" charset="-122"/>
              <a:ea typeface="微软雅黑" panose="020B0503020204020204" pitchFamily="34" charset="-122"/>
            </a:endParaRPr>
          </a:p>
        </p:txBody>
      </p:sp>
      <p:sp>
        <p:nvSpPr>
          <p:cNvPr id="4" name="文本框 3"/>
          <p:cNvSpPr txBox="1"/>
          <p:nvPr/>
        </p:nvSpPr>
        <p:spPr>
          <a:xfrm>
            <a:off x="737870" y="4237355"/>
            <a:ext cx="11560810" cy="1568450"/>
          </a:xfrm>
          <a:prstGeom prst="rect">
            <a:avLst/>
          </a:prstGeom>
          <a:noFill/>
        </p:spPr>
        <p:txBody>
          <a:bodyPr wrap="square" rtlCol="0" anchor="t">
            <a:spAutoFit/>
          </a:bodyPr>
          <a:lstStyle/>
          <a:p>
            <a:pPr marL="0" indent="0" fontAlgn="auto">
              <a:lnSpc>
                <a:spcPct val="100000"/>
              </a:lnSpc>
              <a:spcBef>
                <a:spcPts val="0"/>
              </a:spcBef>
              <a:buNone/>
            </a:pPr>
            <a:r>
              <a:rPr lang="zh-CN" altLang="en-US">
                <a:latin typeface="Consolas" panose="020B0609020204030204" pitchFamily="49" charset="0"/>
                <a:sym typeface="+mn-ea"/>
              </a:rPr>
              <a:t>&gt;&gt;&gt; aDict = dict.fromkeys(['name', 'age', 'sex'])</a:t>
            </a:r>
            <a:endParaRPr lang="zh-CN" altLang="en-US">
              <a:latin typeface="Consolas" panose="020B0609020204030204" pitchFamily="49" charset="0"/>
            </a:endParaRPr>
          </a:p>
          <a:p>
            <a:pPr marL="0" indent="0" fontAlgn="auto">
              <a:lnSpc>
                <a:spcPct val="100000"/>
              </a:lnSpc>
              <a:spcBef>
                <a:spcPts val="0"/>
              </a:spcBef>
              <a:buNone/>
            </a:pPr>
            <a:r>
              <a:rPr lang="zh-CN" altLang="en-US">
                <a:latin typeface="Consolas" panose="020B0609020204030204" pitchFamily="49" charset="0"/>
                <a:sym typeface="+mn-ea"/>
              </a:rPr>
              <a:t>                             #以给定内容为“键”，创建“值”为空的字典</a:t>
            </a:r>
            <a:endParaRPr lang="zh-CN" altLang="en-US">
              <a:latin typeface="Consolas" panose="020B0609020204030204" pitchFamily="49" charset="0"/>
            </a:endParaRPr>
          </a:p>
          <a:p>
            <a:pPr marL="0" indent="0" fontAlgn="auto">
              <a:lnSpc>
                <a:spcPct val="100000"/>
              </a:lnSpc>
              <a:spcBef>
                <a:spcPts val="0"/>
              </a:spcBef>
              <a:buNone/>
            </a:pPr>
            <a:r>
              <a:rPr lang="zh-CN" altLang="en-US">
                <a:latin typeface="Consolas" panose="020B0609020204030204" pitchFamily="49" charset="0"/>
                <a:sym typeface="+mn-ea"/>
              </a:rPr>
              <a:t>&gt;&gt;&gt; aDict</a:t>
            </a:r>
            <a:endParaRPr lang="zh-CN" altLang="en-US">
              <a:latin typeface="Consolas" panose="020B0609020204030204" pitchFamily="49" charset="0"/>
            </a:endParaRPr>
          </a:p>
          <a:p>
            <a:pPr marL="0" indent="0" fontAlgn="auto">
              <a:lnSpc>
                <a:spcPct val="100000"/>
              </a:lnSpc>
              <a:spcBef>
                <a:spcPts val="0"/>
              </a:spcBef>
              <a:buNone/>
            </a:pPr>
            <a:r>
              <a:rPr lang="zh-CN" altLang="en-US">
                <a:solidFill>
                  <a:srgbClr val="00B0F0"/>
                </a:solidFill>
                <a:latin typeface="Consolas" panose="020B0609020204030204" pitchFamily="49" charset="0"/>
                <a:sym typeface="+mn-ea"/>
              </a:rPr>
              <a:t>{'age': None, 'name': None, 'sex': None}</a:t>
            </a:r>
            <a:endParaRPr lang="zh-CN" alt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4902" y="0"/>
            <a:ext cx="7249359" cy="2778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7170"/>
                                        </p:tgtEl>
                                        <p:attrNameLst>
                                          <p:attrName>style.visibility</p:attrName>
                                        </p:attrNameLst>
                                      </p:cBhvr>
                                      <p:to>
                                        <p:strVal val="visible"/>
                                      </p:to>
                                    </p:set>
                                    <p:anim calcmode="lin" valueType="num">
                                      <p:cBhvr>
                                        <p:cTn id="12" dur="500" fill="hold"/>
                                        <p:tgtEl>
                                          <p:spTgt spid="7170"/>
                                        </p:tgtEl>
                                        <p:attrNameLst>
                                          <p:attrName>ppt_w</p:attrName>
                                        </p:attrNameLst>
                                      </p:cBhvr>
                                      <p:tavLst>
                                        <p:tav tm="0">
                                          <p:val>
                                            <p:fltVal val="0"/>
                                          </p:val>
                                        </p:tav>
                                        <p:tav tm="100000">
                                          <p:val>
                                            <p:strVal val="#ppt_w"/>
                                          </p:val>
                                        </p:tav>
                                      </p:tavLst>
                                    </p:anim>
                                    <p:anim calcmode="lin" valueType="num">
                                      <p:cBhvr>
                                        <p:cTn id="13" dur="500" fill="hold"/>
                                        <p:tgtEl>
                                          <p:spTgt spid="7170"/>
                                        </p:tgtEl>
                                        <p:attrNameLst>
                                          <p:attrName>ppt_h</p:attrName>
                                        </p:attrNameLst>
                                      </p:cBhvr>
                                      <p:tavLst>
                                        <p:tav tm="0">
                                          <p:val>
                                            <p:fltVal val="0"/>
                                          </p:val>
                                        </p:tav>
                                        <p:tav tm="100000">
                                          <p:val>
                                            <p:strVal val="#ppt_h"/>
                                          </p:val>
                                        </p:tav>
                                      </p:tavLst>
                                    </p:anim>
                                    <p:animEffect transition="in" filter="fade">
                                      <p:cBhvr>
                                        <p:cTn id="14" dur="500"/>
                                        <p:tgtEl>
                                          <p:spTgt spid="717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up)">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P spid="4" grpId="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980930" y="78105"/>
            <a:ext cx="2119630" cy="678180"/>
          </a:xfrm>
        </p:spPr>
        <p:txBody>
          <a:bodyPr vert="horz" wrap="square" lIns="91456" tIns="45728" rIns="91456" bIns="45728" numCol="1" anchor="b" anchorCtr="0" compatLnSpc="1"/>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3" name="内容占位符 2"/>
          <p:cNvSpPr>
            <a:spLocks noGrp="1"/>
          </p:cNvSpPr>
          <p:nvPr/>
        </p:nvSpPr>
        <p:spPr>
          <a:xfrm>
            <a:off x="2183130" y="1561465"/>
            <a:ext cx="9300210" cy="50387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r>
              <a:rPr lang="zh-CN" altLang="en-US" sz="2700" dirty="0">
                <a:latin typeface="Tahoma" panose="020B0604030504040204" pitchFamily="34" charset="0"/>
                <a:cs typeface="Tahoma" panose="020B0604030504040204" pitchFamily="34" charset="0"/>
              </a:rPr>
              <a:t>字典是什么</a:t>
            </a:r>
            <a:endParaRPr lang="en-US" altLang="zh-CN" sz="2700" dirty="0">
              <a:latin typeface="Tahoma" panose="020B0604030504040204" pitchFamily="34" charset="0"/>
              <a:cs typeface="Tahoma" panose="020B0604030504040204" pitchFamily="34" charset="0"/>
            </a:endParaRPr>
          </a:p>
          <a:p>
            <a:pPr lvl="1"/>
            <a:r>
              <a:rPr lang="zh-CN" altLang="en-US" sz="2700" dirty="0">
                <a:latin typeface="Tahoma" panose="020B0604030504040204" pitchFamily="34" charset="0"/>
              </a:rPr>
              <a:t>键值对的集合 </a:t>
            </a:r>
            <a:r>
              <a:rPr lang="en-US" altLang="zh-CN" sz="2700" dirty="0">
                <a:latin typeface="Tahoma" panose="020B0604030504040204" pitchFamily="34" charset="0"/>
              </a:rPr>
              <a:t>+ </a:t>
            </a:r>
            <a:r>
              <a:rPr lang="zh-CN" altLang="en-US" sz="2700" dirty="0">
                <a:latin typeface="Tahoma" panose="020B0604030504040204" pitchFamily="34" charset="0"/>
                <a:cs typeface="Tahoma" panose="020B0604030504040204" pitchFamily="34" charset="0"/>
              </a:rPr>
              <a:t>一系列操作</a:t>
            </a:r>
            <a:endParaRPr lang="en-US" altLang="zh-CN" sz="2700" dirty="0">
              <a:latin typeface="Tahoma" panose="020B0604030504040204" pitchFamily="34" charset="0"/>
              <a:cs typeface="Tahoma" panose="020B0604030504040204" pitchFamily="34" charset="0"/>
            </a:endParaRPr>
          </a:p>
          <a:p>
            <a:r>
              <a:rPr lang="zh-CN" altLang="en-US" sz="2700" dirty="0">
                <a:latin typeface="Tahoma" panose="020B0604030504040204" pitchFamily="34" charset="0"/>
                <a:cs typeface="Tahoma" panose="020B0604030504040204" pitchFamily="34" charset="0"/>
              </a:rPr>
              <a:t>什么时候用字典？</a:t>
            </a:r>
            <a:endParaRPr lang="en-US" altLang="zh-CN" sz="2700" dirty="0">
              <a:latin typeface="Tahoma" panose="020B0604030504040204" pitchFamily="34" charset="0"/>
              <a:cs typeface="Tahoma" panose="020B0604030504040204" pitchFamily="34" charset="0"/>
            </a:endParaRPr>
          </a:p>
          <a:p>
            <a:pPr lvl="1"/>
            <a:r>
              <a:rPr lang="zh-CN" altLang="en-US" sz="2700" dirty="0">
                <a:latin typeface="Tahoma" panose="020B0604030504040204" pitchFamily="34" charset="0"/>
              </a:rPr>
              <a:t>存储一组键</a:t>
            </a:r>
            <a:r>
              <a:rPr lang="en-US" altLang="zh-CN" sz="2700" dirty="0">
                <a:latin typeface="Tahoma" panose="020B0604030504040204" pitchFamily="34" charset="0"/>
              </a:rPr>
              <a:t>-</a:t>
            </a:r>
            <a:r>
              <a:rPr lang="zh-CN" altLang="en-US" sz="2700" dirty="0">
                <a:latin typeface="Tahoma" panose="020B0604030504040204" pitchFamily="34" charset="0"/>
              </a:rPr>
              <a:t>值对。</a:t>
            </a:r>
            <a:endParaRPr lang="en-US" altLang="zh-CN" sz="2700" dirty="0">
              <a:latin typeface="Tahoma" panose="020B0604030504040204" pitchFamily="34" charset="0"/>
            </a:endParaRPr>
          </a:p>
          <a:p>
            <a:pPr lvl="1"/>
            <a:r>
              <a:rPr lang="zh-CN" altLang="en-US" sz="2700" dirty="0">
                <a:latin typeface="Tahoma" panose="020B0604030504040204" pitchFamily="34" charset="0"/>
              </a:rPr>
              <a:t>频繁地用键查值。</a:t>
            </a:r>
            <a:endParaRPr lang="en-US" altLang="zh-CN" sz="2700" dirty="0">
              <a:latin typeface="Tahoma" panose="020B0604030504040204" pitchFamily="34" charset="0"/>
            </a:endParaRPr>
          </a:p>
          <a:p>
            <a:r>
              <a:rPr lang="zh-CN" altLang="en-US" sz="2700" dirty="0">
                <a:latin typeface="Tahoma" panose="020B0604030504040204" pitchFamily="34" charset="0"/>
                <a:cs typeface="Tahoma" panose="020B0604030504040204" pitchFamily="34" charset="0"/>
              </a:rPr>
              <a:t>字典的用法</a:t>
            </a:r>
            <a:endParaRPr lang="en-US" altLang="zh-CN" sz="2700" dirty="0">
              <a:latin typeface="Tahoma" panose="020B0604030504040204" pitchFamily="34" charset="0"/>
              <a:cs typeface="Tahoma" panose="020B0604030504040204" pitchFamily="34" charset="0"/>
            </a:endParaRPr>
          </a:p>
          <a:p>
            <a:pPr lvl="1"/>
            <a:r>
              <a:rPr lang="zh-CN" altLang="en-US" sz="2700" dirty="0">
                <a:latin typeface="Tahoma" panose="020B0604030504040204" pitchFamily="34" charset="0"/>
              </a:rPr>
              <a:t>定义字典  </a:t>
            </a:r>
            <a:r>
              <a:rPr lang="en-US" altLang="zh-CN" sz="2700" dirty="0" err="1">
                <a:latin typeface="Tahoma" panose="020B0604030504040204" pitchFamily="34" charset="0"/>
              </a:rPr>
              <a:t>dict</a:t>
            </a:r>
            <a:r>
              <a:rPr lang="en-US" altLang="zh-CN" sz="2700" dirty="0">
                <a:latin typeface="Tahoma" panose="020B0604030504040204" pitchFamily="34" charset="0"/>
              </a:rPr>
              <a:t> = {</a:t>
            </a:r>
            <a:r>
              <a:rPr lang="zh-CN" altLang="en-US" sz="2700" dirty="0">
                <a:latin typeface="Tahoma" panose="020B0604030504040204" pitchFamily="34" charset="0"/>
              </a:rPr>
              <a:t>键</a:t>
            </a:r>
            <a:r>
              <a:rPr lang="en-US" altLang="zh-CN" sz="2700" dirty="0">
                <a:latin typeface="Tahoma" panose="020B0604030504040204" pitchFamily="34" charset="0"/>
              </a:rPr>
              <a:t>:</a:t>
            </a:r>
            <a:r>
              <a:rPr lang="zh-CN" altLang="en-US" sz="2700" dirty="0">
                <a:latin typeface="Tahoma" panose="020B0604030504040204" pitchFamily="34" charset="0"/>
              </a:rPr>
              <a:t>值</a:t>
            </a:r>
            <a:r>
              <a:rPr lang="en-US" altLang="zh-CN" sz="2700" dirty="0">
                <a:latin typeface="Tahoma" panose="020B0604030504040204" pitchFamily="34" charset="0"/>
              </a:rPr>
              <a:t>, …}</a:t>
            </a:r>
            <a:endParaRPr lang="en-US" altLang="zh-CN" sz="2200" dirty="0" err="1">
              <a:latin typeface="Tahoma" panose="020B0604030504040204" pitchFamily="34" charset="0"/>
              <a:cs typeface="Tahoma" panose="020B0604030504040204" pitchFamily="34" charset="0"/>
            </a:endParaRPr>
          </a:p>
        </p:txBody>
      </p:sp>
      <p:sp>
        <p:nvSpPr>
          <p:cNvPr id="4" name="标题 1"/>
          <p:cNvSpPr>
            <a:spLocks noGrp="1"/>
          </p:cNvSpPr>
          <p:nvPr/>
        </p:nvSpPr>
        <p:spPr>
          <a:xfrm>
            <a:off x="731520" y="908050"/>
            <a:ext cx="1837055" cy="653415"/>
          </a:xfrm>
          <a:prstGeom prst="rect">
            <a:avLst/>
          </a:prstGeom>
          <a:ln>
            <a:no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solidFill>
                  <a:srgbClr val="FF0000"/>
                </a:solidFill>
                <a:latin typeface="方正大黑简体" panose="03000509000000000000" pitchFamily="2" charset="-122"/>
                <a:ea typeface="方正大黑简体" panose="03000509000000000000" pitchFamily="2" charset="-122"/>
              </a:rPr>
              <a:t>小结</a:t>
            </a:r>
          </a:p>
        </p:txBody>
      </p:sp>
    </p:spTree>
  </p:cSld>
  <p:clrMapOvr>
    <a:masterClrMapping/>
  </p:clrMapOvr>
  <p:transition spd="slow" advTm="0"/>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5300" y="874395"/>
            <a:ext cx="8245475" cy="668020"/>
          </a:xfrm>
        </p:spPr>
        <p:txBody>
          <a:bodyPr vert="horz" wrap="square" lIns="91456" tIns="45728" rIns="91456" bIns="45728" numCol="1" rtlCol="0" anchor="b" anchorCtr="0" compatLnSpc="1">
            <a:normAutofit/>
          </a:bodyPr>
          <a:lstStyle/>
          <a:p>
            <a:pPr lvl="0" algn="l" defTabSz="914400" eaLnBrk="0" fontAlgn="base" hangingPunct="0">
              <a:lnSpc>
                <a:spcPct val="90000"/>
              </a:lnSpc>
              <a:buClrTx/>
              <a:buSzTx/>
              <a:buFontTx/>
              <a:defRPr/>
            </a:pPr>
            <a:r>
              <a:rPr lang="en-US" altLang="zh-CN" sz="3200" b="1" kern="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2、字典的访问</a:t>
            </a:r>
          </a:p>
        </p:txBody>
      </p:sp>
      <p:sp>
        <p:nvSpPr>
          <p:cNvPr id="3" name="内容占位符 2"/>
          <p:cNvSpPr>
            <a:spLocks noGrp="1"/>
          </p:cNvSpPr>
          <p:nvPr>
            <p:ph idx="1"/>
          </p:nvPr>
        </p:nvSpPr>
        <p:spPr>
          <a:xfrm>
            <a:off x="761365" y="1767205"/>
            <a:ext cx="11114405" cy="4572635"/>
          </a:xfrm>
        </p:spPr>
        <p:txBody>
          <a:bodyPr vert="horz" wrap="square" lIns="91456" tIns="45728" rIns="91456" bIns="45728"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字典的访问与元组、列表有所不同，元组和列表是通过数字索引获取对应的值，而字典是通过</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key</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值获取相应的</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value</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值。</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格式：</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800" b="1" i="0" u="none" strike="noStrike" kern="0" cap="none" spc="0" normalizeH="0" baseline="0" noProof="0" dirty="0">
                <a:ln>
                  <a:noFill/>
                </a:ln>
                <a:solidFill>
                  <a:schemeClr val="tx1"/>
                </a:solidFill>
                <a:effectLst/>
                <a:uLnTx/>
                <a:uFillTx/>
                <a:latin typeface="+mn-lt"/>
                <a:ea typeface="+mn-ea"/>
                <a:cs typeface="+mn-cs"/>
              </a:rPr>
              <a:t>   value=</a:t>
            </a:r>
            <a:r>
              <a:rPr kumimoji="0" lang="en-US" altLang="zh-CN" sz="2800" b="1" i="0" u="none" strike="noStrike" kern="0" cap="none" spc="0" normalizeH="0" baseline="0" noProof="0" dirty="0" err="1">
                <a:ln>
                  <a:noFill/>
                </a:ln>
                <a:solidFill>
                  <a:schemeClr val="tx1"/>
                </a:solidFill>
                <a:effectLst/>
                <a:uLnTx/>
                <a:uFillTx/>
                <a:latin typeface="+mn-lt"/>
                <a:ea typeface="+mn-ea"/>
                <a:cs typeface="+mn-cs"/>
              </a:rPr>
              <a:t>dict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[key]</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说明：</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mn-ea"/>
              </a:rPr>
              <a:t>字典的添加、删除和修改只需执行一条赋值语句即可，例如：</a:t>
            </a:r>
            <a:r>
              <a:rPr kumimoji="0" lang="en-US" altLang="zh-CN" sz="2400" b="1" i="0" u="none" strike="noStrike" kern="0" cap="none" spc="0" normalizeH="0" baseline="0" noProof="0" dirty="0" err="1">
                <a:ln>
                  <a:noFill/>
                </a:ln>
                <a:solidFill>
                  <a:schemeClr val="tx1"/>
                </a:solidFill>
                <a:effectLst/>
                <a:uLnTx/>
                <a:uFillTx/>
                <a:latin typeface="+mn-lt"/>
                <a:ea typeface="+mn-ea"/>
              </a:rPr>
              <a:t>d</a:t>
            </a:r>
            <a:r>
              <a:rPr kumimoji="0" lang="en-US" altLang="zh-CN" sz="2800" b="1" i="0" u="none" strike="noStrike" kern="0" cap="none" spc="0" normalizeH="0" baseline="0" noProof="0" dirty="0" err="1">
                <a:ln>
                  <a:noFill/>
                </a:ln>
                <a:solidFill>
                  <a:schemeClr val="tx1"/>
                </a:solidFill>
                <a:effectLst/>
                <a:uLnTx/>
                <a:uFillTx/>
                <a:latin typeface="+mn-lt"/>
                <a:ea typeface="+mn-ea"/>
              </a:rPr>
              <a:t>ict</a:t>
            </a:r>
            <a:r>
              <a:rPr kumimoji="0" lang="en-US" altLang="zh-CN" sz="2800" b="1" i="0" u="none" strike="noStrike" kern="0" cap="none" spc="0" normalizeH="0" baseline="0" noProof="0" dirty="0">
                <a:ln>
                  <a:noFill/>
                </a:ln>
                <a:solidFill>
                  <a:schemeClr val="tx1"/>
                </a:solidFill>
                <a:effectLst/>
                <a:uLnTx/>
                <a:uFillTx/>
                <a:latin typeface="+mn-lt"/>
                <a:ea typeface="+mn-ea"/>
              </a:rPr>
              <a:t>[’x’]=’value’</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mn-lt"/>
                <a:ea typeface="+mn-ea"/>
              </a:rPr>
              <a:t>字典没有</a:t>
            </a:r>
            <a:r>
              <a:rPr kumimoji="0" lang="en-US" altLang="zh-CN" sz="2400" b="1" i="0" u="none" strike="noStrike" kern="0" cap="none" spc="0" normalizeH="0" baseline="0" noProof="0" dirty="0">
                <a:ln>
                  <a:noFill/>
                </a:ln>
                <a:solidFill>
                  <a:schemeClr val="tx1"/>
                </a:solidFill>
                <a:effectLst/>
                <a:uLnTx/>
                <a:uFillTx/>
                <a:latin typeface="+mn-lt"/>
                <a:ea typeface="+mn-ea"/>
              </a:rPr>
              <a:t>remove</a:t>
            </a:r>
            <a:r>
              <a:rPr kumimoji="0" lang="zh-CN" altLang="en-US" sz="2400" b="1" i="0" u="none" strike="noStrike" kern="0" cap="none" spc="0" normalizeH="0" baseline="0" noProof="0" dirty="0">
                <a:ln>
                  <a:noFill/>
                </a:ln>
                <a:solidFill>
                  <a:schemeClr val="tx1"/>
                </a:solidFill>
                <a:effectLst/>
                <a:uLnTx/>
                <a:uFillTx/>
                <a:latin typeface="+mn-lt"/>
                <a:ea typeface="+mn-ea"/>
              </a:rPr>
              <a:t>操作。删除字典元素可调用内置函数</a:t>
            </a:r>
            <a:r>
              <a:rPr kumimoji="0" lang="en-US" altLang="zh-CN" sz="2400" b="1" i="0" u="none" strike="noStrike" kern="0" cap="none" spc="0" normalizeH="0" baseline="0" noProof="0" dirty="0">
                <a:ln>
                  <a:noFill/>
                </a:ln>
                <a:solidFill>
                  <a:schemeClr val="tx1"/>
                </a:solidFill>
                <a:effectLst/>
                <a:uLnTx/>
                <a:uFillTx/>
                <a:latin typeface="+mn-lt"/>
                <a:ea typeface="+mn-ea"/>
              </a:rPr>
              <a:t>del()</a:t>
            </a:r>
            <a:r>
              <a:rPr kumimoji="0" lang="zh-CN" altLang="en-US" sz="2400" b="1" i="0" u="none" strike="noStrike" kern="0" cap="none" spc="0" normalizeH="0" baseline="0" noProof="0" dirty="0">
                <a:ln>
                  <a:noFill/>
                </a:ln>
                <a:solidFill>
                  <a:schemeClr val="tx1"/>
                </a:solidFill>
                <a:effectLst/>
                <a:uLnTx/>
                <a:uFillTx/>
                <a:latin typeface="+mn-lt"/>
                <a:ea typeface="+mn-ea"/>
              </a:rPr>
              <a:t>完成。</a:t>
            </a:r>
            <a:endParaRPr kumimoji="0" lang="en-US" altLang="zh-CN" sz="2400" b="1" i="0" u="none" strike="noStrike" kern="0" cap="none" spc="0" normalizeH="0" baseline="0" noProof="0" dirty="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0" i="0" u="none" strike="noStrike" kern="0" cap="none" spc="0" normalizeH="0" baseline="0" noProof="0" dirty="0">
              <a:ln>
                <a:noFill/>
              </a:ln>
              <a:solidFill>
                <a:schemeClr val="tx1"/>
              </a:solidFill>
              <a:effectLst/>
              <a:uLnTx/>
              <a:uFillTx/>
              <a:latin typeface="+mn-lt"/>
              <a:ea typeface="+mn-ea"/>
              <a:cs typeface="+mn-cs"/>
            </a:endParaRP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Tree>
  </p:cSld>
  <p:clrMapOvr>
    <a:masterClrMapping/>
  </p:clrMapOvr>
  <p:transition spd="slow" advTm="0"/>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2600" y="991870"/>
            <a:ext cx="8245475" cy="61404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例：字典的创建、添加、</a:t>
            </a:r>
            <a:r>
              <a:rPr lang="zh-CN" altLang="en-US" sz="3200" b="1" kern="0" dirty="0">
                <a:solidFill>
                  <a:schemeClr val="tx2"/>
                </a:solidFill>
                <a:effectLst>
                  <a:outerShdw blurRad="38100" dist="38100" dir="2700000" algn="tl">
                    <a:srgbClr val="C0C0C0"/>
                  </a:outerShdw>
                </a:effectLst>
              </a:rPr>
              <a:t>修改和删除</a:t>
            </a:r>
            <a:endPar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矩形 4"/>
          <p:cNvSpPr/>
          <p:nvPr/>
        </p:nvSpPr>
        <p:spPr>
          <a:xfrm>
            <a:off x="2241374" y="1923697"/>
            <a:ext cx="9865096" cy="460375"/>
          </a:xfrm>
          <a:prstGeom prst="rect">
            <a:avLst/>
          </a:prstGeom>
        </p:spPr>
        <p:txBody>
          <a:bodyPr wrap="square">
            <a:spAutoFit/>
          </a:bodyPr>
          <a:lstStyle/>
          <a:p>
            <a:r>
              <a:rPr lang="en-US" altLang="zh-CN" b="1" dirty="0" err="1">
                <a:solidFill>
                  <a:srgbClr val="0055AA"/>
                </a:solidFill>
                <a:latin typeface="Arial Black" panose="020B0A04020102020204" pitchFamily="34" charset="0"/>
                <a:ea typeface="微软雅黑" panose="020B0503020204020204" pitchFamily="34" charset="-122"/>
                <a:cs typeface="Arial Black" panose="020B0A04020102020204" pitchFamily="34" charset="0"/>
              </a:rPr>
              <a:t>dict</a:t>
            </a:r>
            <a:r>
              <a:rPr lang="en-US" altLang="zh-CN" b="1" dirty="0">
                <a:solidFill>
                  <a:srgbClr val="808080"/>
                </a:solidFill>
                <a:latin typeface="Arial Black" panose="020B0A04020102020204" pitchFamily="34" charset="0"/>
                <a:ea typeface="微软雅黑" panose="020B0503020204020204" pitchFamily="34" charset="-122"/>
                <a:cs typeface="Arial Black" panose="020B0A04020102020204" pitchFamily="34" charset="0"/>
              </a:rPr>
              <a:t> = {</a:t>
            </a:r>
            <a:r>
              <a:rPr lang="en-US" altLang="zh-CN" b="1" dirty="0">
                <a:solidFill>
                  <a:srgbClr val="8B000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AA1111"/>
                </a:solidFill>
                <a:latin typeface="Arial Black" panose="020B0A04020102020204" pitchFamily="34" charset="0"/>
                <a:ea typeface="微软雅黑" panose="020B0503020204020204" pitchFamily="34" charset="-122"/>
                <a:cs typeface="Arial Black" panose="020B0A04020102020204" pitchFamily="34" charset="0"/>
              </a:rPr>
              <a:t>Name</a:t>
            </a:r>
            <a:r>
              <a:rPr lang="en-US" altLang="zh-CN" b="1" dirty="0">
                <a:solidFill>
                  <a:srgbClr val="8B000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80808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8B0000"/>
                </a:solidFill>
                <a:latin typeface="Arial Black" panose="020B0A04020102020204" pitchFamily="34" charset="0"/>
                <a:ea typeface="微软雅黑" panose="020B0503020204020204" pitchFamily="34" charset="-122"/>
                <a:cs typeface="Arial Black" panose="020B0A04020102020204" pitchFamily="34" charset="0"/>
              </a:rPr>
              <a:t>‘</a:t>
            </a:r>
            <a:r>
              <a:rPr lang="zh-CN" altLang="en-US" b="1" dirty="0">
                <a:solidFill>
                  <a:srgbClr val="AA1111"/>
                </a:solidFill>
                <a:latin typeface="Arial Black" panose="020B0A04020102020204" pitchFamily="34" charset="0"/>
                <a:ea typeface="微软雅黑" panose="020B0503020204020204" pitchFamily="34" charset="-122"/>
                <a:cs typeface="Arial Black" panose="020B0A04020102020204" pitchFamily="34" charset="0"/>
              </a:rPr>
              <a:t>李小龙</a:t>
            </a:r>
            <a:r>
              <a:rPr lang="en-US" altLang="zh-CN" b="1" dirty="0">
                <a:solidFill>
                  <a:srgbClr val="8B000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808080"/>
                </a:solidFill>
                <a:latin typeface="Arial Black" panose="020B0A04020102020204" pitchFamily="34" charset="0"/>
                <a:ea typeface="微软雅黑" panose="020B0503020204020204" pitchFamily="34" charset="-122"/>
                <a:cs typeface="Arial Black" panose="020B0A04020102020204" pitchFamily="34" charset="0"/>
              </a:rPr>
              <a:t> </a:t>
            </a:r>
            <a:r>
              <a:rPr lang="en-US" altLang="zh-CN" b="1" dirty="0">
                <a:solidFill>
                  <a:srgbClr val="8B000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AA1111"/>
                </a:solidFill>
                <a:latin typeface="Arial Black" panose="020B0A04020102020204" pitchFamily="34" charset="0"/>
                <a:ea typeface="微软雅黑" panose="020B0503020204020204" pitchFamily="34" charset="-122"/>
                <a:cs typeface="Arial Black" panose="020B0A04020102020204" pitchFamily="34" charset="0"/>
              </a:rPr>
              <a:t>Age</a:t>
            </a:r>
            <a:r>
              <a:rPr lang="en-US" altLang="zh-CN" b="1" dirty="0">
                <a:solidFill>
                  <a:srgbClr val="8B000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80808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800000"/>
                </a:solidFill>
                <a:latin typeface="Arial Black" panose="020B0A04020102020204" pitchFamily="34" charset="0"/>
                <a:ea typeface="微软雅黑" panose="020B0503020204020204" pitchFamily="34" charset="-122"/>
                <a:cs typeface="Arial Black" panose="020B0A04020102020204" pitchFamily="34" charset="0"/>
              </a:rPr>
              <a:t>20</a:t>
            </a:r>
            <a:r>
              <a:rPr lang="en-US" altLang="zh-CN" b="1" dirty="0">
                <a:solidFill>
                  <a:srgbClr val="808080"/>
                </a:solidFill>
                <a:latin typeface="Arial Black" panose="020B0A04020102020204" pitchFamily="34" charset="0"/>
                <a:ea typeface="微软雅黑" panose="020B0503020204020204" pitchFamily="34" charset="-122"/>
                <a:cs typeface="Arial Black" panose="020B0A04020102020204" pitchFamily="34" charset="0"/>
              </a:rPr>
              <a:t>, </a:t>
            </a:r>
            <a:r>
              <a:rPr lang="en-US" altLang="zh-CN" b="1" dirty="0">
                <a:solidFill>
                  <a:srgbClr val="8B000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AA1111"/>
                </a:solidFill>
                <a:latin typeface="Arial Black" panose="020B0A04020102020204" pitchFamily="34" charset="0"/>
                <a:ea typeface="微软雅黑" panose="020B0503020204020204" pitchFamily="34" charset="-122"/>
                <a:cs typeface="Arial Black" panose="020B0A04020102020204" pitchFamily="34" charset="0"/>
              </a:rPr>
              <a:t>Class</a:t>
            </a:r>
            <a:r>
              <a:rPr lang="en-US" altLang="zh-CN" b="1" dirty="0">
                <a:solidFill>
                  <a:srgbClr val="8B000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80808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8B000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AA1111"/>
                </a:solidFill>
                <a:latin typeface="Arial Black" panose="020B0A04020102020204" pitchFamily="34" charset="0"/>
                <a:ea typeface="微软雅黑" panose="020B0503020204020204" pitchFamily="34" charset="-122"/>
                <a:cs typeface="Arial Black" panose="020B0A04020102020204" pitchFamily="34" charset="0"/>
              </a:rPr>
              <a:t>1</a:t>
            </a:r>
            <a:r>
              <a:rPr lang="zh-CN" altLang="en-US" b="1" dirty="0">
                <a:solidFill>
                  <a:srgbClr val="AA1111"/>
                </a:solidFill>
                <a:latin typeface="Arial Black" panose="020B0A04020102020204" pitchFamily="34" charset="0"/>
                <a:ea typeface="微软雅黑" panose="020B0503020204020204" pitchFamily="34" charset="-122"/>
                <a:cs typeface="Arial Black" panose="020B0A04020102020204" pitchFamily="34" charset="0"/>
              </a:rPr>
              <a:t>班</a:t>
            </a:r>
            <a:r>
              <a:rPr lang="en-US" altLang="zh-CN" b="1" dirty="0">
                <a:solidFill>
                  <a:srgbClr val="8B0000"/>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808080"/>
                </a:solidFill>
                <a:latin typeface="Arial Black" panose="020B0A04020102020204" pitchFamily="34" charset="0"/>
                <a:ea typeface="微软雅黑" panose="020B0503020204020204" pitchFamily="34" charset="-122"/>
                <a:cs typeface="Arial Black" panose="020B0A04020102020204" pitchFamily="34" charset="0"/>
              </a:rPr>
              <a:t>}</a:t>
            </a:r>
            <a:endParaRPr lang="zh-CN" altLang="en-US" b="1" dirty="0">
              <a:latin typeface="Arial Black" panose="020B0A04020102020204" pitchFamily="34" charset="0"/>
              <a:ea typeface="微软雅黑" panose="020B0503020204020204" pitchFamily="34" charset="-122"/>
              <a:cs typeface="Arial Black" panose="020B0A04020102020204" pitchFamily="34" charset="0"/>
            </a:endParaRPr>
          </a:p>
        </p:txBody>
      </p:sp>
      <p:sp>
        <p:nvSpPr>
          <p:cNvPr id="6" name="Rectangle 1"/>
          <p:cNvSpPr>
            <a:spLocks noChangeArrowheads="1"/>
          </p:cNvSpPr>
          <p:nvPr/>
        </p:nvSpPr>
        <p:spPr bwMode="auto">
          <a:xfrm>
            <a:off x="2221000" y="2846276"/>
            <a:ext cx="7722478" cy="461665"/>
          </a:xfrm>
          <a:prstGeom prst="rect">
            <a:avLst/>
          </a:prstGeom>
        </p:spPr>
        <p:txBody>
          <a:bodyPr wrap="square">
            <a:spAutoFit/>
          </a:bodyPr>
          <a:lstStyle/>
          <a:p>
            <a:r>
              <a:rPr lang="zh-CN" altLang="zh-CN" b="1" dirty="0">
                <a:solidFill>
                  <a:srgbClr val="0055AA"/>
                </a:solidFill>
                <a:latin typeface="Arial Black" panose="020B0A04020102020204" pitchFamily="34" charset="0"/>
                <a:ea typeface="微软雅黑" panose="020B0503020204020204" pitchFamily="34" charset="-122"/>
                <a:cs typeface="Arial Black" panose="020B0A04020102020204" pitchFamily="34" charset="0"/>
              </a:rPr>
              <a:t>dict['</a:t>
            </a:r>
            <a:r>
              <a:rPr lang="zh-CN" altLang="zh-CN" b="1" dirty="0">
                <a:solidFill>
                  <a:srgbClr val="C00000"/>
                </a:solidFill>
                <a:latin typeface="Arial Black" panose="020B0A04020102020204" pitchFamily="34" charset="0"/>
                <a:ea typeface="微软雅黑" panose="020B0503020204020204" pitchFamily="34" charset="-122"/>
                <a:cs typeface="Arial Black" panose="020B0A04020102020204" pitchFamily="34" charset="0"/>
              </a:rPr>
              <a:t>School</a:t>
            </a:r>
            <a:r>
              <a:rPr lang="zh-CN" altLang="zh-CN" b="1" dirty="0">
                <a:solidFill>
                  <a:srgbClr val="0055AA"/>
                </a:solidFill>
                <a:latin typeface="Arial Black" panose="020B0A04020102020204" pitchFamily="34" charset="0"/>
                <a:ea typeface="微软雅黑" panose="020B0503020204020204" pitchFamily="34" charset="-122"/>
                <a:cs typeface="Arial Black" panose="020B0A04020102020204" pitchFamily="34" charset="0"/>
              </a:rPr>
              <a:t>'] = </a:t>
            </a:r>
            <a:r>
              <a:rPr lang="zh-CN" altLang="zh-CN" b="1" dirty="0">
                <a:solidFill>
                  <a:srgbClr val="AA1111"/>
                </a:solidFill>
                <a:latin typeface="Arial Black" panose="020B0A04020102020204" pitchFamily="34" charset="0"/>
                <a:ea typeface="微软雅黑" panose="020B0503020204020204" pitchFamily="34" charset="-122"/>
                <a:cs typeface="Arial Black" panose="020B0A04020102020204" pitchFamily="34" charset="0"/>
              </a:rPr>
              <a:t>"</a:t>
            </a:r>
            <a:r>
              <a:rPr lang="en-US" altLang="zh-CN" b="1" dirty="0">
                <a:solidFill>
                  <a:srgbClr val="AA1111"/>
                </a:solidFill>
                <a:latin typeface="Arial Black" panose="020B0A04020102020204" pitchFamily="34" charset="0"/>
                <a:ea typeface="微软雅黑" panose="020B0503020204020204" pitchFamily="34" charset="-122"/>
                <a:cs typeface="Arial Black" panose="020B0A04020102020204" pitchFamily="34" charset="0"/>
              </a:rPr>
              <a:t>AHU</a:t>
            </a:r>
            <a:r>
              <a:rPr lang="zh-CN" altLang="zh-CN" b="1" dirty="0">
                <a:solidFill>
                  <a:srgbClr val="AA1111"/>
                </a:solidFill>
                <a:latin typeface="Arial Black" panose="020B0A04020102020204" pitchFamily="34" charset="0"/>
                <a:ea typeface="微软雅黑" panose="020B0503020204020204" pitchFamily="34" charset="-122"/>
                <a:cs typeface="Arial Black" panose="020B0A04020102020204" pitchFamily="34" charset="0"/>
              </a:rPr>
              <a:t>" </a:t>
            </a:r>
          </a:p>
        </p:txBody>
      </p:sp>
      <p:sp>
        <p:nvSpPr>
          <p:cNvPr id="11" name="标题 1"/>
          <p:cNvSpPr>
            <a:spLocks noGrp="1"/>
          </p:cNvSpPr>
          <p:nvPr/>
        </p:nvSpPr>
        <p:spPr>
          <a:xfrm>
            <a:off x="404319" y="1823578"/>
            <a:ext cx="1837055" cy="653415"/>
          </a:xfrm>
          <a:prstGeom prst="rect">
            <a:avLst/>
          </a:prstGeom>
          <a:ln>
            <a:no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solidFill>
                  <a:srgbClr val="FF0000"/>
                </a:solidFill>
                <a:latin typeface="方正大黑简体" panose="03000509000000000000" pitchFamily="2" charset="-122"/>
                <a:ea typeface="方正大黑简体" panose="03000509000000000000" pitchFamily="2" charset="-122"/>
              </a:rPr>
              <a:t>创建</a:t>
            </a:r>
          </a:p>
        </p:txBody>
      </p:sp>
      <p:sp>
        <p:nvSpPr>
          <p:cNvPr id="12" name="标题 1"/>
          <p:cNvSpPr>
            <a:spLocks noGrp="1"/>
          </p:cNvSpPr>
          <p:nvPr/>
        </p:nvSpPr>
        <p:spPr>
          <a:xfrm>
            <a:off x="404319" y="2773327"/>
            <a:ext cx="1837055" cy="653415"/>
          </a:xfrm>
          <a:prstGeom prst="rect">
            <a:avLst/>
          </a:prstGeom>
          <a:ln>
            <a:no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solidFill>
                  <a:srgbClr val="FF0000"/>
                </a:solidFill>
                <a:latin typeface="方正大黑简体" panose="03000509000000000000" pitchFamily="2" charset="-122"/>
                <a:ea typeface="方正大黑简体" panose="03000509000000000000" pitchFamily="2" charset="-122"/>
              </a:rPr>
              <a:t>添加</a:t>
            </a:r>
          </a:p>
        </p:txBody>
      </p:sp>
      <p:sp>
        <p:nvSpPr>
          <p:cNvPr id="13" name="标题 1"/>
          <p:cNvSpPr>
            <a:spLocks noGrp="1"/>
          </p:cNvSpPr>
          <p:nvPr/>
        </p:nvSpPr>
        <p:spPr>
          <a:xfrm>
            <a:off x="404318" y="3831549"/>
            <a:ext cx="1837055" cy="653415"/>
          </a:xfrm>
          <a:prstGeom prst="rect">
            <a:avLst/>
          </a:prstGeom>
          <a:ln>
            <a:no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solidFill>
                  <a:srgbClr val="FF0000"/>
                </a:solidFill>
                <a:latin typeface="方正大黑简体" panose="03000509000000000000" pitchFamily="2" charset="-122"/>
                <a:ea typeface="方正大黑简体" panose="03000509000000000000" pitchFamily="2" charset="-122"/>
              </a:rPr>
              <a:t>修改</a:t>
            </a:r>
          </a:p>
        </p:txBody>
      </p:sp>
      <p:sp>
        <p:nvSpPr>
          <p:cNvPr id="14" name="Rectangle 1"/>
          <p:cNvSpPr>
            <a:spLocks noChangeArrowheads="1"/>
          </p:cNvSpPr>
          <p:nvPr/>
        </p:nvSpPr>
        <p:spPr bwMode="auto">
          <a:xfrm>
            <a:off x="2221000" y="3833479"/>
            <a:ext cx="7722478" cy="461665"/>
          </a:xfrm>
          <a:prstGeom prst="rect">
            <a:avLst/>
          </a:prstGeom>
        </p:spPr>
        <p:txBody>
          <a:bodyPr wrap="square">
            <a:spAutoFit/>
          </a:bodyPr>
          <a:lstStyle/>
          <a:p>
            <a:r>
              <a:rPr lang="zh-CN" altLang="zh-CN" b="1" dirty="0">
                <a:solidFill>
                  <a:srgbClr val="0055AA"/>
                </a:solidFill>
                <a:latin typeface="Arial Black" panose="020B0A04020102020204" pitchFamily="34" charset="0"/>
                <a:ea typeface="微软雅黑" panose="020B0503020204020204" pitchFamily="34" charset="-122"/>
                <a:cs typeface="Arial Black" panose="020B0A04020102020204" pitchFamily="34" charset="0"/>
              </a:rPr>
              <a:t>dict['</a:t>
            </a:r>
            <a:r>
              <a:rPr lang="en-US" altLang="zh-CN" b="1" dirty="0">
                <a:solidFill>
                  <a:srgbClr val="C00000"/>
                </a:solidFill>
                <a:latin typeface="Arial Black" panose="020B0A04020102020204" pitchFamily="34" charset="0"/>
                <a:ea typeface="微软雅黑" panose="020B0503020204020204" pitchFamily="34" charset="-122"/>
                <a:cs typeface="Arial Black" panose="020B0A04020102020204" pitchFamily="34" charset="0"/>
              </a:rPr>
              <a:t>Age</a:t>
            </a:r>
            <a:r>
              <a:rPr lang="zh-CN" altLang="zh-CN" b="1" dirty="0">
                <a:solidFill>
                  <a:srgbClr val="0055AA"/>
                </a:solidFill>
                <a:latin typeface="Arial Black" panose="020B0A04020102020204" pitchFamily="34" charset="0"/>
                <a:ea typeface="微软雅黑" panose="020B0503020204020204" pitchFamily="34" charset="-122"/>
                <a:cs typeface="Arial Black" panose="020B0A04020102020204" pitchFamily="34" charset="0"/>
              </a:rPr>
              <a:t>'] = </a:t>
            </a:r>
            <a:r>
              <a:rPr lang="en-US" altLang="zh-CN" b="1" dirty="0">
                <a:solidFill>
                  <a:srgbClr val="AA1111"/>
                </a:solidFill>
                <a:latin typeface="Arial Black" panose="020B0A04020102020204" pitchFamily="34" charset="0"/>
                <a:ea typeface="微软雅黑" panose="020B0503020204020204" pitchFamily="34" charset="-122"/>
                <a:cs typeface="Arial Black" panose="020B0A04020102020204" pitchFamily="34" charset="0"/>
              </a:rPr>
              <a:t>18</a:t>
            </a:r>
            <a:endParaRPr lang="zh-CN" altLang="zh-CN" b="1" dirty="0">
              <a:solidFill>
                <a:srgbClr val="AA1111"/>
              </a:solidFill>
              <a:latin typeface="Arial Black" panose="020B0A04020102020204" pitchFamily="34" charset="0"/>
              <a:ea typeface="微软雅黑" panose="020B0503020204020204" pitchFamily="34" charset="-122"/>
              <a:cs typeface="Arial Black" panose="020B0A04020102020204" pitchFamily="34" charset="0"/>
            </a:endParaRPr>
          </a:p>
        </p:txBody>
      </p:sp>
      <p:sp>
        <p:nvSpPr>
          <p:cNvPr id="16" name="标题 1"/>
          <p:cNvSpPr>
            <a:spLocks noGrp="1"/>
          </p:cNvSpPr>
          <p:nvPr/>
        </p:nvSpPr>
        <p:spPr>
          <a:xfrm>
            <a:off x="404318" y="4996231"/>
            <a:ext cx="1837055" cy="653415"/>
          </a:xfrm>
          <a:prstGeom prst="rect">
            <a:avLst/>
          </a:prstGeom>
          <a:ln>
            <a:no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solidFill>
                  <a:srgbClr val="FF0000"/>
                </a:solidFill>
                <a:latin typeface="方正大黑简体" panose="03000509000000000000" pitchFamily="2" charset="-122"/>
                <a:ea typeface="方正大黑简体" panose="03000509000000000000" pitchFamily="2" charset="-122"/>
              </a:rPr>
              <a:t>删除</a:t>
            </a:r>
          </a:p>
        </p:txBody>
      </p:sp>
      <p:sp>
        <p:nvSpPr>
          <p:cNvPr id="17" name="Rectangle 1"/>
          <p:cNvSpPr>
            <a:spLocks noChangeArrowheads="1"/>
          </p:cNvSpPr>
          <p:nvPr/>
        </p:nvSpPr>
        <p:spPr bwMode="auto">
          <a:xfrm>
            <a:off x="2354759" y="4995347"/>
            <a:ext cx="7722478" cy="1568450"/>
          </a:xfrm>
          <a:prstGeom prst="rect">
            <a:avLst/>
          </a:prstGeom>
        </p:spPr>
        <p:txBody>
          <a:bodyPr wrap="square">
            <a:spAutoFit/>
          </a:bodyPr>
          <a:lstStyle/>
          <a:p>
            <a:r>
              <a:rPr lang="en-US" altLang="zh-CN" b="1" dirty="0">
                <a:solidFill>
                  <a:srgbClr val="0055AA"/>
                </a:solidFill>
                <a:latin typeface="Arial Black" panose="020B0A04020102020204" pitchFamily="34" charset="0"/>
                <a:cs typeface="Arial Black" panose="020B0A04020102020204" pitchFamily="34" charset="0"/>
              </a:rPr>
              <a:t>del </a:t>
            </a:r>
            <a:r>
              <a:rPr lang="en-US" altLang="zh-CN" b="1" dirty="0" err="1">
                <a:solidFill>
                  <a:srgbClr val="0055AA"/>
                </a:solidFill>
                <a:latin typeface="Arial Black" panose="020B0A04020102020204" pitchFamily="34" charset="0"/>
                <a:cs typeface="Arial Black" panose="020B0A04020102020204" pitchFamily="34" charset="0"/>
              </a:rPr>
              <a:t>dict</a:t>
            </a:r>
            <a:r>
              <a:rPr lang="en-US" altLang="zh-CN" b="1" dirty="0">
                <a:solidFill>
                  <a:srgbClr val="0055AA"/>
                </a:solidFill>
                <a:latin typeface="Arial Black" panose="020B0A04020102020204" pitchFamily="34" charset="0"/>
                <a:cs typeface="Arial Black" panose="020B0A04020102020204" pitchFamily="34" charset="0"/>
              </a:rPr>
              <a:t>[‘</a:t>
            </a:r>
            <a:r>
              <a:rPr lang="en-US" altLang="zh-CN" b="1" dirty="0">
                <a:solidFill>
                  <a:srgbClr val="C00000"/>
                </a:solidFill>
                <a:latin typeface="Arial Black" panose="020B0A04020102020204" pitchFamily="34" charset="0"/>
                <a:cs typeface="Arial Black" panose="020B0A04020102020204" pitchFamily="34" charset="0"/>
              </a:rPr>
              <a:t>Name</a:t>
            </a:r>
            <a:r>
              <a:rPr lang="en-US" altLang="zh-CN" b="1" dirty="0">
                <a:solidFill>
                  <a:srgbClr val="0055AA"/>
                </a:solidFill>
                <a:latin typeface="Arial Black" panose="020B0A04020102020204" pitchFamily="34" charset="0"/>
                <a:cs typeface="Arial Black" panose="020B0A04020102020204" pitchFamily="34" charset="0"/>
              </a:rPr>
              <a:t>’]</a:t>
            </a:r>
          </a:p>
          <a:p>
            <a:r>
              <a:rPr lang="en-US" altLang="zh-CN" b="1" dirty="0" err="1">
                <a:solidFill>
                  <a:srgbClr val="0055AA"/>
                </a:solidFill>
                <a:latin typeface="Arial Black" panose="020B0A04020102020204" pitchFamily="34" charset="0"/>
                <a:cs typeface="Arial Black" panose="020B0A04020102020204" pitchFamily="34" charset="0"/>
              </a:rPr>
              <a:t>dict.clear</a:t>
            </a:r>
            <a:r>
              <a:rPr lang="en-US" altLang="zh-CN" b="1" dirty="0">
                <a:solidFill>
                  <a:srgbClr val="0055AA"/>
                </a:solidFill>
                <a:latin typeface="Arial Black" panose="020B0A04020102020204" pitchFamily="34" charset="0"/>
                <a:cs typeface="Arial Black" panose="020B0A04020102020204" pitchFamily="34" charset="0"/>
              </a:rPr>
              <a:t>()</a:t>
            </a:r>
          </a:p>
          <a:p>
            <a:r>
              <a:rPr lang="en-US" altLang="zh-CN" b="1" dirty="0">
                <a:solidFill>
                  <a:srgbClr val="0055AA"/>
                </a:solidFill>
                <a:latin typeface="Arial Black" panose="020B0A04020102020204" pitchFamily="34" charset="0"/>
                <a:cs typeface="Arial Black" panose="020B0A04020102020204" pitchFamily="34" charset="0"/>
              </a:rPr>
              <a:t>del </a:t>
            </a:r>
            <a:r>
              <a:rPr lang="en-US" altLang="zh-CN" b="1" dirty="0" err="1">
                <a:solidFill>
                  <a:srgbClr val="0055AA"/>
                </a:solidFill>
                <a:latin typeface="Arial Black" panose="020B0A04020102020204" pitchFamily="34" charset="0"/>
                <a:cs typeface="Arial Black" panose="020B0A04020102020204" pitchFamily="34" charset="0"/>
              </a:rPr>
              <a:t>dict</a:t>
            </a:r>
            <a:endParaRPr lang="en-US" altLang="zh-CN" b="1" dirty="0">
              <a:solidFill>
                <a:srgbClr val="0055AA"/>
              </a:solidFill>
              <a:latin typeface="Arial Black" panose="020B0A04020102020204" pitchFamily="34" charset="0"/>
              <a:cs typeface="Arial Black" panose="020B0A04020102020204" pitchFamily="34" charset="0"/>
            </a:endParaRPr>
          </a:p>
          <a:p>
            <a:endParaRPr lang="zh-CN" altLang="zh-CN" b="1" dirty="0">
              <a:solidFill>
                <a:srgbClr val="AA1111"/>
              </a:solidFill>
              <a:latin typeface="Arial Black" panose="020B0A04020102020204" pitchFamily="34" charset="0"/>
              <a:cs typeface="Arial Black" panose="020B0A04020102020204" pitchFamily="34" charset="0"/>
            </a:endParaRPr>
          </a:p>
        </p:txBody>
      </p:sp>
      <p:sp>
        <p:nvSpPr>
          <p:cNvPr id="3" name="文本框 2"/>
          <p:cNvSpPr txBox="1"/>
          <p:nvPr/>
        </p:nvSpPr>
        <p:spPr>
          <a:xfrm>
            <a:off x="5557520" y="3833495"/>
            <a:ext cx="6363970" cy="2306955"/>
          </a:xfrm>
          <a:prstGeom prst="rect">
            <a:avLst/>
          </a:prstGeom>
        </p:spPr>
        <p:style>
          <a:lnRef idx="1">
            <a:schemeClr val="accent1"/>
          </a:lnRef>
          <a:fillRef idx="3">
            <a:schemeClr val="accent1"/>
          </a:fillRef>
          <a:effectRef idx="2">
            <a:schemeClr val="accent1"/>
          </a:effectRef>
          <a:fontRef idx="minor">
            <a:schemeClr val="lt1"/>
          </a:fontRef>
        </p:style>
        <p:txBody>
          <a:bodyPr wrap="square" rtlCol="0" anchor="t">
            <a:spAutoFit/>
          </a:bodyPr>
          <a:lstStyle/>
          <a:p>
            <a:pPr algn="just">
              <a:buFont typeface="Arial" panose="020B0604020202020204" pitchFamily="34" charset="0"/>
              <a:buChar char="•"/>
            </a:pPr>
            <a:r>
              <a:rPr lang="zh-CN" altLang="en-US" b="1">
                <a:latin typeface="楷体" panose="02010609060101010101" pitchFamily="49" charset="-122"/>
                <a:ea typeface="楷体" panose="02010609060101010101" pitchFamily="49" charset="-122"/>
                <a:cs typeface="楷体" panose="02010609060101010101" pitchFamily="49" charset="-122"/>
                <a:sym typeface="+mn-ea"/>
              </a:rPr>
              <a:t>当以指定“键”为下标为字典元素赋值时，有两种含义：</a:t>
            </a:r>
            <a:endParaRPr lang="zh-CN" altLang="en-US" b="1">
              <a:latin typeface="楷体" panose="02010609060101010101" pitchFamily="49" charset="-122"/>
              <a:ea typeface="楷体" panose="02010609060101010101" pitchFamily="49" charset="-122"/>
              <a:cs typeface="楷体" panose="02010609060101010101" pitchFamily="49" charset="-122"/>
            </a:endParaRPr>
          </a:p>
          <a:p>
            <a:pPr marL="0" indent="0" algn="just">
              <a:buFont typeface="Arial" panose="020B0604020202020204" pitchFamily="34" charset="0"/>
              <a:buNone/>
            </a:pPr>
            <a:r>
              <a:rPr lang="zh-CN" altLang="en-US" b="1">
                <a:latin typeface="楷体" panose="02010609060101010101" pitchFamily="49" charset="-122"/>
                <a:ea typeface="楷体" panose="02010609060101010101" pitchFamily="49" charset="-122"/>
                <a:cs typeface="楷体" panose="02010609060101010101" pitchFamily="49" charset="-122"/>
                <a:sym typeface="+mn-ea"/>
              </a:rPr>
              <a:t>1）若该“键”存在，则表示修改该“键”对应的值；</a:t>
            </a:r>
            <a:endParaRPr lang="zh-CN" altLang="en-US" b="1">
              <a:latin typeface="楷体" panose="02010609060101010101" pitchFamily="49" charset="-122"/>
              <a:ea typeface="楷体" panose="02010609060101010101" pitchFamily="49" charset="-122"/>
              <a:cs typeface="楷体" panose="02010609060101010101" pitchFamily="49" charset="-122"/>
            </a:endParaRPr>
          </a:p>
          <a:p>
            <a:pPr marL="0" indent="0" algn="just">
              <a:buFont typeface="Arial" panose="020B0604020202020204" pitchFamily="34" charset="0"/>
              <a:buNone/>
            </a:pPr>
            <a:r>
              <a:rPr lang="zh-CN" altLang="en-US" b="1">
                <a:latin typeface="楷体" panose="02010609060101010101" pitchFamily="49" charset="-122"/>
                <a:ea typeface="楷体" panose="02010609060101010101" pitchFamily="49" charset="-122"/>
                <a:cs typeface="楷体" panose="02010609060101010101" pitchFamily="49" charset="-122"/>
                <a:sym typeface="+mn-ea"/>
              </a:rPr>
              <a:t>2）若不存在，则表示添加一个新的“键:值”对，也就是添加一个新元素。</a:t>
            </a:r>
            <a:endParaRPr lang="zh-CN" altLang="en-US" b="1">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left)">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up)">
                                      <p:cBhvr>
                                        <p:cTn id="4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animBg="1"/>
      <p:bldP spid="12" grpId="0" animBg="1"/>
      <p:bldP spid="13" grpId="0" animBg="1"/>
      <p:bldP spid="14" grpId="0"/>
      <p:bldP spid="16" grpId="0" animBg="1"/>
      <p:bldP spid="17" grpId="0"/>
      <p:bldP spid="3" grpId="0" animBg="1"/>
      <p:bldP spid="3" grpId="1"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2600" y="991870"/>
            <a:ext cx="8245475" cy="61404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例：字典的创建、添加、</a:t>
            </a:r>
            <a:r>
              <a:rPr lang="zh-CN" altLang="en-US" sz="3200" b="1" kern="0" dirty="0">
                <a:solidFill>
                  <a:schemeClr val="tx2"/>
                </a:solidFill>
                <a:effectLst>
                  <a:outerShdw blurRad="38100" dist="38100" dir="2700000" algn="tl">
                    <a:srgbClr val="C0C0C0"/>
                  </a:outerShdw>
                </a:effectLst>
              </a:rPr>
              <a:t>修改和删除</a:t>
            </a:r>
            <a:endPar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7" name="内容占位符 2"/>
          <p:cNvSpPr>
            <a:spLocks noGrp="1"/>
          </p:cNvSpPr>
          <p:nvPr/>
        </p:nvSpPr>
        <p:spPr>
          <a:xfrm>
            <a:off x="570230" y="1700530"/>
            <a:ext cx="11057255" cy="4639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50000"/>
              </a:lnSpc>
              <a:buFont typeface="Arial" panose="020B0604020202020204" pitchFamily="34" charset="0"/>
              <a:buChar char="•"/>
            </a:pPr>
            <a:r>
              <a:rPr lang="zh-CN" altLang="en-US" sz="2400"/>
              <a:t>使用字典对象的update()方法可以将另一个字典的“键:值”一次性全部添加到当前字典对象，如果两个字典中存在相同的“键”，则以另一个字典中的“值”为准对当前字典进行更新。</a:t>
            </a:r>
          </a:p>
          <a:p>
            <a:pPr marL="0" indent="0">
              <a:buNone/>
            </a:pPr>
            <a:endParaRPr lang="zh-CN" altLang="en-US" sz="2000">
              <a:latin typeface="Consolas" panose="020B0609020204030204" pitchFamily="49" charset="0"/>
            </a:endParaRPr>
          </a:p>
          <a:p>
            <a:pPr marL="0" indent="0">
              <a:buNone/>
            </a:pPr>
            <a:r>
              <a:rPr lang="zh-CN" altLang="en-US" sz="2000">
                <a:latin typeface="Consolas" panose="020B0609020204030204" pitchFamily="49" charset="0"/>
              </a:rPr>
              <a:t>&gt;&gt;&gt; aDict = {'age': 37, 'score': [98, 97], 'name': 'Dong', 'sex': 'male'}</a:t>
            </a:r>
          </a:p>
          <a:p>
            <a:pPr marL="0" indent="0">
              <a:buNone/>
            </a:pPr>
            <a:r>
              <a:rPr lang="zh-CN" altLang="en-US" sz="2000">
                <a:latin typeface="Consolas" panose="020B0609020204030204" pitchFamily="49" charset="0"/>
              </a:rPr>
              <a:t>&gt;&gt;&gt; aDict.update({'a':97, 'age':39})  #修改’age’键的值，同时添加新元素’a’:97</a:t>
            </a:r>
          </a:p>
          <a:p>
            <a:pPr marL="0" indent="0">
              <a:buNone/>
            </a:pPr>
            <a:r>
              <a:rPr lang="zh-CN" altLang="en-US" sz="2000">
                <a:latin typeface="Consolas" panose="020B0609020204030204" pitchFamily="49" charset="0"/>
              </a:rPr>
              <a:t>&gt;&gt;&gt; aDict</a:t>
            </a:r>
          </a:p>
          <a:p>
            <a:pPr marL="0" indent="0">
              <a:buNone/>
            </a:pPr>
            <a:r>
              <a:rPr lang="zh-CN" altLang="en-US" sz="2000">
                <a:solidFill>
                  <a:srgbClr val="00B0F0"/>
                </a:solidFill>
                <a:latin typeface="Consolas" panose="020B0609020204030204" pitchFamily="49" charset="0"/>
              </a:rPr>
              <a:t>{'score': [98, 97], 'sex': 'male', 'a': 97, 'age': 39, 'name': 'Dong'}</a:t>
            </a:r>
          </a:p>
        </p:txBody>
      </p:sp>
    </p:spTree>
  </p:cSld>
  <p:clrMapOvr>
    <a:masterClrMapping/>
  </p:clrMapOvr>
  <p:transition spd="slow" advTm="0"/>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082951" y="981522"/>
            <a:ext cx="3240311" cy="61404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3200" b="1" kern="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关于字典的说明</a:t>
            </a:r>
            <a:endPar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endParaRP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3" name="矩形 2"/>
          <p:cNvSpPr/>
          <p:nvPr/>
        </p:nvSpPr>
        <p:spPr>
          <a:xfrm>
            <a:off x="626567" y="1773610"/>
            <a:ext cx="11161240" cy="830997"/>
          </a:xfrm>
          <a:prstGeom prst="rect">
            <a:avLst/>
          </a:prstGeom>
        </p:spPr>
        <p:txBody>
          <a:bodyPr wrap="square">
            <a:spAutoFit/>
          </a:bodyPr>
          <a:lstStyle/>
          <a:p>
            <a:r>
              <a:rPr lang="en-US" altLang="zh-CN" dirty="0">
                <a:solidFill>
                  <a:srgbClr val="333333"/>
                </a:solidFill>
                <a:latin typeface="微软雅黑" panose="020B0503020204020204" pitchFamily="34" charset="-122"/>
                <a:ea typeface="微软雅黑" panose="020B0503020204020204" pitchFamily="34" charset="-122"/>
              </a:rPr>
              <a:t>1</a:t>
            </a:r>
            <a:r>
              <a:rPr lang="zh-CN" altLang="en-US" dirty="0">
                <a:solidFill>
                  <a:srgbClr val="333333"/>
                </a:solidFill>
                <a:latin typeface="微软雅黑" panose="020B0503020204020204" pitchFamily="34" charset="-122"/>
                <a:ea typeface="微软雅黑" panose="020B0503020204020204" pitchFamily="34" charset="-122"/>
              </a:rPr>
              <a:t>）不允许同一个键出现两次。创建时如果同一个键被赋值两次，后一个值会被记住，如下实例：</a:t>
            </a:r>
            <a:endParaRPr lang="zh-CN" altLang="en-US" dirty="0">
              <a:latin typeface="微软雅黑" panose="020B0503020204020204" pitchFamily="34" charset="-122"/>
              <a:ea typeface="微软雅黑" panose="020B0503020204020204" pitchFamily="34" charset="-122"/>
            </a:endParaRPr>
          </a:p>
        </p:txBody>
      </p:sp>
      <p:sp>
        <p:nvSpPr>
          <p:cNvPr id="7" name="矩形 6"/>
          <p:cNvSpPr/>
          <p:nvPr/>
        </p:nvSpPr>
        <p:spPr>
          <a:xfrm>
            <a:off x="1648994" y="2623705"/>
            <a:ext cx="9793088" cy="829945"/>
          </a:xfrm>
          <a:prstGeom prst="rect">
            <a:avLst/>
          </a:prstGeom>
        </p:spPr>
        <p:txBody>
          <a:bodyPr wrap="square">
            <a:spAutoFit/>
          </a:bodyPr>
          <a:lstStyle/>
          <a:p>
            <a:r>
              <a:rPr lang="en-US" altLang="zh-CN" b="1" dirty="0" err="1">
                <a:solidFill>
                  <a:srgbClr val="0055AA"/>
                </a:solidFill>
                <a:latin typeface="Arial Black" panose="020B0A04020102020204" pitchFamily="34" charset="0"/>
                <a:cs typeface="Arial Black" panose="020B0A04020102020204" pitchFamily="34" charset="0"/>
              </a:rPr>
              <a:t>dict</a:t>
            </a:r>
            <a:r>
              <a:rPr lang="en-US" altLang="zh-CN" b="1" dirty="0">
                <a:solidFill>
                  <a:srgbClr val="808080"/>
                </a:solidFill>
                <a:latin typeface="Arial Black" panose="020B0A04020102020204" pitchFamily="34" charset="0"/>
                <a:cs typeface="Arial Black" panose="020B0A04020102020204" pitchFamily="34" charset="0"/>
              </a:rPr>
              <a:t> = {</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AA1111"/>
                </a:solidFill>
                <a:latin typeface="Arial Black" panose="020B0A04020102020204" pitchFamily="34" charset="0"/>
                <a:cs typeface="Arial Black" panose="020B0A04020102020204" pitchFamily="34" charset="0"/>
              </a:rPr>
              <a:t>Name</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AA1111"/>
                </a:solidFill>
                <a:latin typeface="Arial Black" panose="020B0A04020102020204" pitchFamily="34" charset="0"/>
                <a:cs typeface="Arial Black" panose="020B0A04020102020204" pitchFamily="34" charset="0"/>
              </a:rPr>
              <a:t>Jack</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AA1111"/>
                </a:solidFill>
                <a:latin typeface="Arial Black" panose="020B0A04020102020204" pitchFamily="34" charset="0"/>
                <a:cs typeface="Arial Black" panose="020B0A04020102020204" pitchFamily="34" charset="0"/>
              </a:rPr>
              <a:t>Age</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a:solidFill>
                  <a:srgbClr val="800000"/>
                </a:solidFill>
                <a:latin typeface="Arial Black" panose="020B0A04020102020204" pitchFamily="34" charset="0"/>
                <a:cs typeface="Arial Black" panose="020B0A04020102020204" pitchFamily="34" charset="0"/>
              </a:rPr>
              <a:t>7</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AA1111"/>
                </a:solidFill>
                <a:latin typeface="Arial Black" panose="020B0A04020102020204" pitchFamily="34" charset="0"/>
                <a:cs typeface="Arial Black" panose="020B0A04020102020204" pitchFamily="34" charset="0"/>
              </a:rPr>
              <a:t>Name</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a:solidFill>
                  <a:srgbClr val="8B0000"/>
                </a:solidFill>
                <a:latin typeface="Arial Black" panose="020B0A04020102020204" pitchFamily="34" charset="0"/>
                <a:cs typeface="Arial Black" panose="020B0A04020102020204" pitchFamily="34" charset="0"/>
              </a:rPr>
              <a:t>‘Tom'</a:t>
            </a:r>
            <a:r>
              <a:rPr lang="en-US" altLang="zh-CN" b="1" dirty="0">
                <a:solidFill>
                  <a:srgbClr val="808080"/>
                </a:solidFill>
                <a:latin typeface="Arial Black" panose="020B0A04020102020204" pitchFamily="34" charset="0"/>
                <a:cs typeface="Arial Black" panose="020B0A04020102020204" pitchFamily="34" charset="0"/>
              </a:rPr>
              <a:t>}</a:t>
            </a:r>
          </a:p>
          <a:p>
            <a:r>
              <a:rPr lang="en-US" altLang="zh-CN" b="1" dirty="0">
                <a:solidFill>
                  <a:srgbClr val="0055AA"/>
                </a:solidFill>
                <a:latin typeface="Arial Black" panose="020B0A04020102020204" pitchFamily="34" charset="0"/>
                <a:cs typeface="Arial Black" panose="020B0A04020102020204" pitchFamily="34" charset="0"/>
              </a:rPr>
              <a:t>print</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a:solidFill>
                  <a:srgbClr val="808000"/>
                </a:solidFill>
                <a:latin typeface="Arial Black" panose="020B0A04020102020204" pitchFamily="34" charset="0"/>
                <a:cs typeface="Arial Black" panose="020B0A04020102020204" pitchFamily="34" charset="0"/>
              </a:rPr>
              <a:t>(</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err="1">
                <a:solidFill>
                  <a:srgbClr val="AA1111"/>
                </a:solidFill>
                <a:latin typeface="Arial Black" panose="020B0A04020102020204" pitchFamily="34" charset="0"/>
                <a:cs typeface="Arial Black" panose="020B0A04020102020204" pitchFamily="34" charset="0"/>
              </a:rPr>
              <a:t>dict</a:t>
            </a:r>
            <a:r>
              <a:rPr lang="en-US" altLang="zh-CN" b="1" dirty="0">
                <a:solidFill>
                  <a:srgbClr val="AA1111"/>
                </a:solidFill>
                <a:latin typeface="Arial Black" panose="020B0A04020102020204" pitchFamily="34" charset="0"/>
                <a:cs typeface="Arial Black" panose="020B0A04020102020204" pitchFamily="34" charset="0"/>
              </a:rPr>
              <a:t>['Name']: </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err="1">
                <a:solidFill>
                  <a:srgbClr val="0055AA"/>
                </a:solidFill>
                <a:latin typeface="Arial Black" panose="020B0A04020102020204" pitchFamily="34" charset="0"/>
                <a:cs typeface="Arial Black" panose="020B0A04020102020204" pitchFamily="34" charset="0"/>
              </a:rPr>
              <a:t>dict</a:t>
            </a:r>
            <a:r>
              <a:rPr lang="en-US" altLang="zh-CN" b="1" dirty="0">
                <a:solidFill>
                  <a:srgbClr val="808000"/>
                </a:solidFill>
                <a:latin typeface="Arial Black" panose="020B0A04020102020204" pitchFamily="34" charset="0"/>
                <a:cs typeface="Arial Black" panose="020B0A04020102020204" pitchFamily="34" charset="0"/>
              </a:rPr>
              <a:t>[</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AA1111"/>
                </a:solidFill>
                <a:latin typeface="Arial Black" panose="020B0A04020102020204" pitchFamily="34" charset="0"/>
                <a:cs typeface="Arial Black" panose="020B0A04020102020204" pitchFamily="34" charset="0"/>
              </a:rPr>
              <a:t>Name</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808000"/>
                </a:solidFill>
                <a:latin typeface="Arial Black" panose="020B0A04020102020204" pitchFamily="34" charset="0"/>
                <a:cs typeface="Arial Black" panose="020B0A04020102020204" pitchFamily="34" charset="0"/>
              </a:rPr>
              <a:t>])</a:t>
            </a:r>
            <a:endParaRPr lang="zh-CN" altLang="en-US" b="1" dirty="0">
              <a:latin typeface="Arial Black" panose="020B0A04020102020204" pitchFamily="34" charset="0"/>
              <a:cs typeface="Arial Black" panose="020B0A04020102020204" pitchFamily="34" charset="0"/>
            </a:endParaRPr>
          </a:p>
        </p:txBody>
      </p:sp>
      <p:sp>
        <p:nvSpPr>
          <p:cNvPr id="9" name="矩形 8"/>
          <p:cNvSpPr/>
          <p:nvPr/>
        </p:nvSpPr>
        <p:spPr>
          <a:xfrm>
            <a:off x="1620237" y="3596033"/>
            <a:ext cx="3068320" cy="460375"/>
          </a:xfrm>
          <a:prstGeom prst="rect">
            <a:avLst/>
          </a:prstGeom>
        </p:spPr>
        <p:txBody>
          <a:bodyPr wrap="none">
            <a:spAutoFit/>
          </a:bodyPr>
          <a:lstStyle/>
          <a:p>
            <a:r>
              <a:rPr lang="en-US" altLang="zh-CN" b="1" dirty="0" err="1">
                <a:solidFill>
                  <a:srgbClr val="0071C1"/>
                </a:solidFill>
                <a:latin typeface="Arial Black" panose="020B0A04020102020204" pitchFamily="34" charset="0"/>
                <a:cs typeface="Arial Black" panose="020B0A04020102020204" pitchFamily="34" charset="0"/>
              </a:rPr>
              <a:t>dict</a:t>
            </a:r>
            <a:r>
              <a:rPr lang="en-US" altLang="zh-CN" b="1" dirty="0">
                <a:solidFill>
                  <a:srgbClr val="AA1111"/>
                </a:solidFill>
                <a:latin typeface="Arial Black" panose="020B0A04020102020204" pitchFamily="34" charset="0"/>
                <a:cs typeface="Arial Black" panose="020B0A04020102020204" pitchFamily="34" charset="0"/>
              </a:rPr>
              <a:t>['name']: Tom</a:t>
            </a:r>
            <a:endParaRPr lang="zh-CN" altLang="en-US" dirty="0">
              <a:latin typeface="Arial Black" panose="020B0A04020102020204" pitchFamily="34" charset="0"/>
              <a:cs typeface="Arial Black" panose="020B0A04020102020204" pitchFamily="34" charset="0"/>
            </a:endParaRPr>
          </a:p>
        </p:txBody>
      </p:sp>
      <p:sp>
        <p:nvSpPr>
          <p:cNvPr id="10" name="矩形 9"/>
          <p:cNvSpPr/>
          <p:nvPr/>
        </p:nvSpPr>
        <p:spPr>
          <a:xfrm>
            <a:off x="626567" y="4215295"/>
            <a:ext cx="11161240" cy="461665"/>
          </a:xfrm>
          <a:prstGeom prst="rect">
            <a:avLst/>
          </a:prstGeom>
        </p:spPr>
        <p:txBody>
          <a:bodyPr wrap="square">
            <a:spAutoFit/>
          </a:bodyPr>
          <a:lstStyle/>
          <a:p>
            <a:r>
              <a:rPr lang="en-US" altLang="zh-CN" dirty="0">
                <a:solidFill>
                  <a:srgbClr val="333333"/>
                </a:solidFill>
                <a:latin typeface="微软雅黑" panose="020B0503020204020204" pitchFamily="34" charset="-122"/>
                <a:ea typeface="微软雅黑" panose="020B0503020204020204" pitchFamily="34" charset="-122"/>
              </a:rPr>
              <a:t>2</a:t>
            </a:r>
            <a:r>
              <a:rPr lang="zh-CN" altLang="en-US" dirty="0">
                <a:solidFill>
                  <a:srgbClr val="333333"/>
                </a:solidFill>
                <a:latin typeface="微软雅黑" panose="020B0503020204020204" pitchFamily="34" charset="-122"/>
                <a:ea typeface="微软雅黑" panose="020B0503020204020204" pitchFamily="34" charset="-122"/>
              </a:rPr>
              <a:t>）键必须不可变，所以可以用数字，字符串或元组充当，而用列表就不行：</a:t>
            </a:r>
          </a:p>
        </p:txBody>
      </p:sp>
      <p:sp>
        <p:nvSpPr>
          <p:cNvPr id="15" name="矩形 14"/>
          <p:cNvSpPr/>
          <p:nvPr/>
        </p:nvSpPr>
        <p:spPr>
          <a:xfrm>
            <a:off x="1648994" y="4818291"/>
            <a:ext cx="6099175" cy="829945"/>
          </a:xfrm>
          <a:prstGeom prst="rect">
            <a:avLst/>
          </a:prstGeom>
        </p:spPr>
        <p:txBody>
          <a:bodyPr>
            <a:spAutoFit/>
          </a:bodyPr>
          <a:lstStyle/>
          <a:p>
            <a:r>
              <a:rPr lang="en-US" altLang="zh-CN" b="1" dirty="0" err="1">
                <a:solidFill>
                  <a:srgbClr val="0055AA"/>
                </a:solidFill>
                <a:latin typeface="Arial Black" panose="020B0A04020102020204" pitchFamily="34" charset="0"/>
                <a:cs typeface="Arial Black" panose="020B0A04020102020204" pitchFamily="34" charset="0"/>
              </a:rPr>
              <a:t>dict</a:t>
            </a:r>
            <a:r>
              <a:rPr lang="en-US" altLang="zh-CN" b="1" dirty="0">
                <a:solidFill>
                  <a:srgbClr val="808080"/>
                </a:solidFill>
                <a:latin typeface="Arial Black" panose="020B0A04020102020204" pitchFamily="34" charset="0"/>
                <a:cs typeface="Arial Black" panose="020B0A04020102020204" pitchFamily="34" charset="0"/>
              </a:rPr>
              <a:t> = {</a:t>
            </a:r>
            <a:r>
              <a:rPr lang="en-US" altLang="zh-CN" b="1" dirty="0">
                <a:solidFill>
                  <a:srgbClr val="808000"/>
                </a:solidFill>
                <a:latin typeface="Arial Black" panose="020B0A04020102020204" pitchFamily="34" charset="0"/>
                <a:cs typeface="Arial Black" panose="020B0A04020102020204" pitchFamily="34" charset="0"/>
              </a:rPr>
              <a:t>[</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AA1111"/>
                </a:solidFill>
                <a:latin typeface="Arial Black" panose="020B0A04020102020204" pitchFamily="34" charset="0"/>
                <a:cs typeface="Arial Black" panose="020B0A04020102020204" pitchFamily="34" charset="0"/>
              </a:rPr>
              <a:t>Name</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808000"/>
                </a:solidFill>
                <a:latin typeface="Arial Black" panose="020B0A04020102020204" pitchFamily="34" charset="0"/>
                <a:cs typeface="Arial Black" panose="020B0A04020102020204" pitchFamily="34" charset="0"/>
              </a:rPr>
              <a:t>]</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AA1111"/>
                </a:solidFill>
                <a:latin typeface="Arial Black" panose="020B0A04020102020204" pitchFamily="34" charset="0"/>
                <a:cs typeface="Arial Black" panose="020B0A04020102020204" pitchFamily="34" charset="0"/>
              </a:rPr>
              <a:t>Jack</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AA1111"/>
                </a:solidFill>
                <a:latin typeface="Arial Black" panose="020B0A04020102020204" pitchFamily="34" charset="0"/>
                <a:cs typeface="Arial Black" panose="020B0A04020102020204" pitchFamily="34" charset="0"/>
              </a:rPr>
              <a:t>Age</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a:solidFill>
                  <a:srgbClr val="800000"/>
                </a:solidFill>
                <a:latin typeface="Arial Black" panose="020B0A04020102020204" pitchFamily="34" charset="0"/>
                <a:cs typeface="Arial Black" panose="020B0A04020102020204" pitchFamily="34" charset="0"/>
              </a:rPr>
              <a:t>7</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a:solidFill>
                  <a:srgbClr val="0055AA"/>
                </a:solidFill>
                <a:latin typeface="Arial Black" panose="020B0A04020102020204" pitchFamily="34" charset="0"/>
                <a:cs typeface="Arial Black" panose="020B0A04020102020204" pitchFamily="34" charset="0"/>
              </a:rPr>
              <a:t>print</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a:solidFill>
                  <a:srgbClr val="808000"/>
                </a:solidFill>
                <a:latin typeface="Arial Black" panose="020B0A04020102020204" pitchFamily="34" charset="0"/>
                <a:cs typeface="Arial Black" panose="020B0A04020102020204" pitchFamily="34" charset="0"/>
              </a:rPr>
              <a:t>(</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err="1">
                <a:solidFill>
                  <a:srgbClr val="AA1111"/>
                </a:solidFill>
                <a:latin typeface="Arial Black" panose="020B0A04020102020204" pitchFamily="34" charset="0"/>
                <a:cs typeface="Arial Black" panose="020B0A04020102020204" pitchFamily="34" charset="0"/>
              </a:rPr>
              <a:t>dict</a:t>
            </a:r>
            <a:r>
              <a:rPr lang="en-US" altLang="zh-CN" b="1" dirty="0">
                <a:solidFill>
                  <a:srgbClr val="AA1111"/>
                </a:solidFill>
                <a:latin typeface="Arial Black" panose="020B0A04020102020204" pitchFamily="34" charset="0"/>
                <a:cs typeface="Arial Black" panose="020B0A04020102020204" pitchFamily="34" charset="0"/>
              </a:rPr>
              <a:t>['Name']: </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808080"/>
                </a:solidFill>
                <a:latin typeface="Arial Black" panose="020B0A04020102020204" pitchFamily="34" charset="0"/>
                <a:cs typeface="Arial Black" panose="020B0A04020102020204" pitchFamily="34" charset="0"/>
              </a:rPr>
              <a:t>, </a:t>
            </a:r>
            <a:r>
              <a:rPr lang="en-US" altLang="zh-CN" b="1" dirty="0" err="1">
                <a:solidFill>
                  <a:srgbClr val="0055AA"/>
                </a:solidFill>
                <a:latin typeface="Arial Black" panose="020B0A04020102020204" pitchFamily="34" charset="0"/>
                <a:cs typeface="Arial Black" panose="020B0A04020102020204" pitchFamily="34" charset="0"/>
              </a:rPr>
              <a:t>dict</a:t>
            </a:r>
            <a:r>
              <a:rPr lang="en-US" altLang="zh-CN" b="1" dirty="0">
                <a:solidFill>
                  <a:srgbClr val="808000"/>
                </a:solidFill>
                <a:latin typeface="Arial Black" panose="020B0A04020102020204" pitchFamily="34" charset="0"/>
                <a:cs typeface="Arial Black" panose="020B0A04020102020204" pitchFamily="34" charset="0"/>
              </a:rPr>
              <a:t>[</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AA1111"/>
                </a:solidFill>
                <a:latin typeface="Arial Black" panose="020B0A04020102020204" pitchFamily="34" charset="0"/>
                <a:cs typeface="Arial Black" panose="020B0A04020102020204" pitchFamily="34" charset="0"/>
              </a:rPr>
              <a:t>Name</a:t>
            </a:r>
            <a:r>
              <a:rPr lang="en-US" altLang="zh-CN" b="1" dirty="0">
                <a:solidFill>
                  <a:srgbClr val="8B0000"/>
                </a:solidFill>
                <a:latin typeface="Arial Black" panose="020B0A04020102020204" pitchFamily="34" charset="0"/>
                <a:cs typeface="Arial Black" panose="020B0A04020102020204" pitchFamily="34" charset="0"/>
              </a:rPr>
              <a:t>'</a:t>
            </a:r>
            <a:r>
              <a:rPr lang="en-US" altLang="zh-CN" b="1" dirty="0">
                <a:solidFill>
                  <a:srgbClr val="808000"/>
                </a:solidFill>
                <a:latin typeface="Arial Black" panose="020B0A04020102020204" pitchFamily="34" charset="0"/>
                <a:cs typeface="Arial Black" panose="020B0A04020102020204" pitchFamily="34" charset="0"/>
              </a:rPr>
              <a:t>])</a:t>
            </a:r>
            <a:endParaRPr lang="zh-CN" altLang="en-US" b="1" dirty="0">
              <a:latin typeface="Arial Black" panose="020B0A04020102020204" pitchFamily="34" charset="0"/>
              <a:cs typeface="Arial Black" panose="020B0A04020102020204" pitchFamily="34" charset="0"/>
            </a:endParaRPr>
          </a:p>
        </p:txBody>
      </p:sp>
      <p:sp>
        <p:nvSpPr>
          <p:cNvPr id="20" name="矩形 19"/>
          <p:cNvSpPr/>
          <p:nvPr/>
        </p:nvSpPr>
        <p:spPr>
          <a:xfrm>
            <a:off x="1620237" y="5825983"/>
            <a:ext cx="803425" cy="461665"/>
          </a:xfrm>
          <a:prstGeom prst="rect">
            <a:avLst/>
          </a:prstGeom>
        </p:spPr>
        <p:txBody>
          <a:bodyPr wrap="none">
            <a:spAutoFit/>
          </a:bodyPr>
          <a:lstStyle/>
          <a:p>
            <a:r>
              <a:rPr lang="zh-CN" altLang="en-US" b="1" dirty="0">
                <a:solidFill>
                  <a:srgbClr val="FF0000"/>
                </a:solidFill>
                <a:latin typeface="Menlo"/>
              </a:rPr>
              <a:t>报错</a:t>
            </a:r>
            <a:endParaRPr lang="zh-CN" altLang="en-US" dirty="0">
              <a:solidFill>
                <a:srgbClr val="FF0000"/>
              </a:solidFill>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P spid="10" grpId="0"/>
      <p:bldP spid="15" grpId="0"/>
      <p:bldP spid="20"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6745" y="641350"/>
            <a:ext cx="8245475" cy="771525"/>
          </a:xfrm>
        </p:spPr>
        <p:txBody>
          <a:bodyPr vert="horz" wrap="square" lIns="91456" tIns="45728" rIns="91456" bIns="45728" numCol="1" rtlCol="0" anchor="b" anchorCtr="0" compatLnSpc="1">
            <a:normAutofit/>
          </a:bodyPr>
          <a:lstStyle/>
          <a:p>
            <a:pPr lvl="0" algn="l" defTabSz="914400" eaLnBrk="0" fontAlgn="base" hangingPunct="0">
              <a:lnSpc>
                <a:spcPct val="90000"/>
              </a:lnSpc>
              <a:buClrTx/>
              <a:buSzTx/>
              <a:buFontTx/>
              <a:defRPr/>
            </a:pPr>
            <a:r>
              <a:rPr lang="en-US" altLang="zh-CN" sz="3200" b="1" kern="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3、字典</a:t>
            </a:r>
            <a:r>
              <a:rPr lang="zh-CN" altLang="en-US" sz="3200" b="1" kern="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操作方法</a:t>
            </a:r>
            <a:endParaRPr lang="en-US" altLang="zh-CN" sz="3200" b="1" kern="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6" name="内容占位符 5"/>
          <p:cNvGraphicFramePr>
            <a:graphicFrameLocks noGrp="1"/>
          </p:cNvGraphicFramePr>
          <p:nvPr>
            <p:ph idx="1"/>
            <p:custDataLst>
              <p:tags r:id="rId1"/>
            </p:custDataLst>
            <p:extLst>
              <p:ext uri="{D42A27DB-BD31-4B8C-83A1-F6EECF244321}">
                <p14:modId xmlns:p14="http://schemas.microsoft.com/office/powerpoint/2010/main" val="3310129090"/>
              </p:ext>
            </p:extLst>
          </p:nvPr>
        </p:nvGraphicFramePr>
        <p:xfrm>
          <a:off x="3026450" y="1351915"/>
          <a:ext cx="8230870" cy="5075216"/>
        </p:xfrm>
        <a:graphic>
          <a:graphicData uri="http://schemas.openxmlformats.org/drawingml/2006/table">
            <a:tbl>
              <a:tblPr firstRow="1" bandRow="1">
                <a:tableStyleId>{073A0DAA-6AF3-43AB-8588-CEC1D06C72B9}</a:tableStyleId>
              </a:tblPr>
              <a:tblGrid>
                <a:gridCol w="2675255">
                  <a:extLst>
                    <a:ext uri="{9D8B030D-6E8A-4147-A177-3AD203B41FA5}">
                      <a16:colId xmlns:a16="http://schemas.microsoft.com/office/drawing/2014/main" val="20000"/>
                    </a:ext>
                  </a:extLst>
                </a:gridCol>
                <a:gridCol w="5555615">
                  <a:extLst>
                    <a:ext uri="{9D8B030D-6E8A-4147-A177-3AD203B41FA5}">
                      <a16:colId xmlns:a16="http://schemas.microsoft.com/office/drawing/2014/main" val="20001"/>
                    </a:ext>
                  </a:extLst>
                </a:gridCol>
              </a:tblGrid>
              <a:tr h="370840">
                <a:tc>
                  <a:txBody>
                    <a:bodyPr/>
                    <a:lstStyle/>
                    <a:p>
                      <a:pPr algn="ctr"/>
                      <a:r>
                        <a:rPr lang="zh-CN" altLang="en-US" sz="1600" b="1" dirty="0"/>
                        <a:t>函数名</a:t>
                      </a:r>
                    </a:p>
                  </a:txBody>
                  <a:tcPr marL="91456" marR="91456" marT="45731" marB="45731"/>
                </a:tc>
                <a:tc>
                  <a:txBody>
                    <a:bodyPr/>
                    <a:lstStyle/>
                    <a:p>
                      <a:pPr algn="ctr"/>
                      <a:r>
                        <a:rPr lang="zh-CN" altLang="en-US" sz="1600" b="1" dirty="0"/>
                        <a:t>返回的值</a:t>
                      </a:r>
                    </a:p>
                  </a:txBody>
                  <a:tcPr marL="91456" marR="91456" marT="45731" marB="45731"/>
                </a:tc>
                <a:extLst>
                  <a:ext uri="{0D108BD9-81ED-4DB2-BD59-A6C34878D82A}">
                    <a16:rowId xmlns:a16="http://schemas.microsoft.com/office/drawing/2014/main" val="10000"/>
                  </a:ext>
                </a:extLst>
              </a:tr>
              <a:tr h="579126">
                <a:tc>
                  <a:txBody>
                    <a:bodyPr/>
                    <a:lstStyle/>
                    <a:p>
                      <a:r>
                        <a:rPr lang="en-US" altLang="zh-CN" sz="1600" b="1" dirty="0" err="1"/>
                        <a:t>d.items</a:t>
                      </a:r>
                      <a:r>
                        <a:rPr lang="en-US" altLang="zh-CN" sz="1600" b="1" dirty="0"/>
                        <a:t>()</a:t>
                      </a:r>
                      <a:endParaRPr lang="zh-CN" altLang="en-US" sz="1600" b="1" dirty="0"/>
                    </a:p>
                  </a:txBody>
                  <a:tcPr marL="91456" marR="91456" marT="45731" marB="45731"/>
                </a:tc>
                <a:tc>
                  <a:txBody>
                    <a:bodyPr/>
                    <a:lstStyle/>
                    <a:p>
                      <a:r>
                        <a:rPr lang="zh-CN" altLang="en-US" sz="1600" b="1" dirty="0"/>
                        <a:t>返回一个由字典</a:t>
                      </a:r>
                      <a:r>
                        <a:rPr lang="en-US" altLang="zh-CN" sz="1600" b="1" dirty="0"/>
                        <a:t>d</a:t>
                      </a:r>
                      <a:r>
                        <a:rPr lang="zh-CN" altLang="en-US" sz="1600" b="1" dirty="0"/>
                        <a:t>的键</a:t>
                      </a:r>
                      <a:r>
                        <a:rPr lang="en-US" altLang="zh-CN" sz="1600" b="1" dirty="0"/>
                        <a:t>—</a:t>
                      </a:r>
                      <a:r>
                        <a:rPr lang="zh-CN" altLang="en-US" sz="1600" b="1" dirty="0"/>
                        <a:t>值对</a:t>
                      </a:r>
                      <a:r>
                        <a:rPr lang="en-US" altLang="zh-CN" sz="1600" b="1" dirty="0"/>
                        <a:t>(</a:t>
                      </a:r>
                      <a:r>
                        <a:rPr lang="en-US" altLang="zh-CN" sz="1600" b="1" dirty="0" err="1"/>
                        <a:t>key,value</a:t>
                      </a:r>
                      <a:r>
                        <a:rPr lang="en-US" altLang="zh-CN" sz="1600" b="1" dirty="0"/>
                        <a:t>)</a:t>
                      </a:r>
                      <a:r>
                        <a:rPr lang="zh-CN" altLang="en-US" sz="1600" b="1" dirty="0"/>
                        <a:t>组成的列表视图</a:t>
                      </a:r>
                      <a:r>
                        <a:rPr lang="en-US" altLang="zh-CN" sz="1600" b="1" dirty="0"/>
                        <a:t>(view)</a:t>
                      </a:r>
                      <a:endParaRPr lang="zh-CN" altLang="en-US" sz="1600" b="1" dirty="0"/>
                    </a:p>
                  </a:txBody>
                  <a:tcPr marL="91456" marR="91456" marT="45731" marB="45731"/>
                </a:tc>
                <a:extLst>
                  <a:ext uri="{0D108BD9-81ED-4DB2-BD59-A6C34878D82A}">
                    <a16:rowId xmlns:a16="http://schemas.microsoft.com/office/drawing/2014/main" val="10001"/>
                  </a:ext>
                </a:extLst>
              </a:tr>
              <a:tr h="370866">
                <a:tc>
                  <a:txBody>
                    <a:bodyPr/>
                    <a:lstStyle/>
                    <a:p>
                      <a:r>
                        <a:rPr lang="en-US" altLang="zh-CN" sz="1600" b="1" dirty="0" err="1"/>
                        <a:t>d.keys</a:t>
                      </a:r>
                      <a:r>
                        <a:rPr lang="en-US" altLang="zh-CN" sz="1600" b="1" dirty="0"/>
                        <a:t>()</a:t>
                      </a:r>
                      <a:endParaRPr lang="zh-CN" altLang="en-US" sz="1600" b="1" dirty="0"/>
                    </a:p>
                  </a:txBody>
                  <a:tcPr marL="91456" marR="91456" marT="45731" marB="45731"/>
                </a:tc>
                <a:tc>
                  <a:txBody>
                    <a:bodyPr/>
                    <a:lstStyle/>
                    <a:p>
                      <a:r>
                        <a:rPr lang="zh-CN" altLang="en-US" sz="1600" b="1" dirty="0"/>
                        <a:t>返回一个由字典</a:t>
                      </a:r>
                      <a:r>
                        <a:rPr lang="en-US" altLang="zh-CN" sz="1600" b="1" dirty="0"/>
                        <a:t>d</a:t>
                      </a:r>
                      <a:r>
                        <a:rPr lang="zh-CN" altLang="en-US" sz="1600" b="1" dirty="0"/>
                        <a:t>的键组成的视图</a:t>
                      </a:r>
                    </a:p>
                  </a:txBody>
                  <a:tcPr marL="91456" marR="91456" marT="45731" marB="45731"/>
                </a:tc>
                <a:extLst>
                  <a:ext uri="{0D108BD9-81ED-4DB2-BD59-A6C34878D82A}">
                    <a16:rowId xmlns:a16="http://schemas.microsoft.com/office/drawing/2014/main" val="10002"/>
                  </a:ext>
                </a:extLst>
              </a:tr>
              <a:tr h="370866">
                <a:tc>
                  <a:txBody>
                    <a:bodyPr/>
                    <a:lstStyle/>
                    <a:p>
                      <a:r>
                        <a:rPr lang="en-US" altLang="zh-CN" sz="1600" b="1" dirty="0" err="1"/>
                        <a:t>d.values</a:t>
                      </a:r>
                      <a:r>
                        <a:rPr lang="en-US" altLang="zh-CN" sz="1600" b="1" dirty="0"/>
                        <a:t>()</a:t>
                      </a:r>
                      <a:endParaRPr lang="zh-CN" altLang="en-US" sz="1600" b="1" dirty="0"/>
                    </a:p>
                  </a:txBody>
                  <a:tcPr marL="91456" marR="91456" marT="45731" marB="45731"/>
                </a:tc>
                <a:tc>
                  <a:txBody>
                    <a:bodyPr/>
                    <a:lstStyle/>
                    <a:p>
                      <a:r>
                        <a:rPr lang="zh-CN" altLang="en-US" sz="1600" b="1" dirty="0"/>
                        <a:t>返回一个有字典</a:t>
                      </a:r>
                      <a:r>
                        <a:rPr lang="en-US" altLang="zh-CN" sz="1600" b="1" dirty="0"/>
                        <a:t>d</a:t>
                      </a:r>
                      <a:r>
                        <a:rPr lang="zh-CN" altLang="en-US" sz="1600" b="1" dirty="0"/>
                        <a:t>的值组成的视图</a:t>
                      </a:r>
                    </a:p>
                  </a:txBody>
                  <a:tcPr marL="91456" marR="91456" marT="45731" marB="45731"/>
                </a:tc>
                <a:extLst>
                  <a:ext uri="{0D108BD9-81ED-4DB2-BD59-A6C34878D82A}">
                    <a16:rowId xmlns:a16="http://schemas.microsoft.com/office/drawing/2014/main" val="10003"/>
                  </a:ext>
                </a:extLst>
              </a:tr>
              <a:tr h="370866">
                <a:tc>
                  <a:txBody>
                    <a:bodyPr/>
                    <a:lstStyle/>
                    <a:p>
                      <a:r>
                        <a:rPr lang="en-US" altLang="zh-CN" sz="1600" b="1" dirty="0" err="1"/>
                        <a:t>d.get</a:t>
                      </a:r>
                      <a:r>
                        <a:rPr lang="en-US" altLang="zh-CN" sz="1600" b="1" dirty="0"/>
                        <a:t>(key)</a:t>
                      </a:r>
                      <a:endParaRPr lang="zh-CN" altLang="en-US" sz="1600" b="1" dirty="0"/>
                    </a:p>
                  </a:txBody>
                  <a:tcPr marL="91456" marR="91456" marT="45731" marB="45731"/>
                </a:tc>
                <a:tc>
                  <a:txBody>
                    <a:bodyPr/>
                    <a:lstStyle/>
                    <a:p>
                      <a:r>
                        <a:rPr lang="zh-CN" altLang="en-US" sz="1600" b="1" dirty="0"/>
                        <a:t>返回与</a:t>
                      </a:r>
                      <a:r>
                        <a:rPr lang="en-US" altLang="zh-CN" sz="1600" b="1" dirty="0"/>
                        <a:t>key</a:t>
                      </a:r>
                      <a:r>
                        <a:rPr lang="zh-CN" altLang="en-US" sz="1600" b="1" dirty="0"/>
                        <a:t>相关联的值</a:t>
                      </a:r>
                    </a:p>
                  </a:txBody>
                  <a:tcPr marL="91456" marR="91456" marT="45731" marB="45731"/>
                </a:tc>
                <a:extLst>
                  <a:ext uri="{0D108BD9-81ED-4DB2-BD59-A6C34878D82A}">
                    <a16:rowId xmlns:a16="http://schemas.microsoft.com/office/drawing/2014/main" val="10004"/>
                  </a:ext>
                </a:extLst>
              </a:tr>
              <a:tr h="370866">
                <a:tc>
                  <a:txBody>
                    <a:bodyPr/>
                    <a:lstStyle/>
                    <a:p>
                      <a:r>
                        <a:rPr lang="en-US" altLang="zh-CN" sz="1600" b="1" dirty="0" err="1"/>
                        <a:t>d.pop</a:t>
                      </a:r>
                      <a:r>
                        <a:rPr lang="en-US" altLang="zh-CN" sz="1600" b="1" dirty="0"/>
                        <a:t>(key)</a:t>
                      </a:r>
                      <a:endParaRPr lang="zh-CN" altLang="en-US" sz="1600" b="1" dirty="0"/>
                    </a:p>
                  </a:txBody>
                  <a:tcPr marL="91456" marR="91456" marT="45731" marB="45731"/>
                </a:tc>
                <a:tc>
                  <a:txBody>
                    <a:bodyPr/>
                    <a:lstStyle/>
                    <a:p>
                      <a:r>
                        <a:rPr lang="zh-CN" altLang="en-US" sz="1600" b="1" dirty="0"/>
                        <a:t>删除键</a:t>
                      </a:r>
                      <a:r>
                        <a:rPr lang="en-US" altLang="zh-CN" sz="1600" b="1" dirty="0"/>
                        <a:t>key</a:t>
                      </a:r>
                      <a:r>
                        <a:rPr lang="zh-CN" altLang="en-US" sz="1600" b="1" dirty="0"/>
                        <a:t>并返回与之相关联的值</a:t>
                      </a:r>
                    </a:p>
                  </a:txBody>
                  <a:tcPr marL="91456" marR="91456" marT="45731" marB="45731"/>
                </a:tc>
                <a:extLst>
                  <a:ext uri="{0D108BD9-81ED-4DB2-BD59-A6C34878D82A}">
                    <a16:rowId xmlns:a16="http://schemas.microsoft.com/office/drawing/2014/main" val="10005"/>
                  </a:ext>
                </a:extLst>
              </a:tr>
              <a:tr h="370866">
                <a:tc>
                  <a:txBody>
                    <a:bodyPr/>
                    <a:lstStyle/>
                    <a:p>
                      <a:r>
                        <a:rPr lang="en-US" altLang="zh-CN" sz="1600" b="1" dirty="0" err="1"/>
                        <a:t>d.popitem</a:t>
                      </a:r>
                      <a:r>
                        <a:rPr lang="en-US" altLang="zh-CN" sz="1600" b="1" dirty="0"/>
                        <a:t>()</a:t>
                      </a:r>
                      <a:endParaRPr lang="zh-CN" altLang="en-US" sz="1600" b="1" dirty="0"/>
                    </a:p>
                  </a:txBody>
                  <a:tcPr marL="91456" marR="91456" marT="45731" marB="45731"/>
                </a:tc>
                <a:tc>
                  <a:txBody>
                    <a:bodyPr/>
                    <a:lstStyle/>
                    <a:p>
                      <a:r>
                        <a:rPr lang="zh-CN" altLang="en-US" sz="1600" b="1" dirty="0"/>
                        <a:t>删除字典</a:t>
                      </a:r>
                      <a:r>
                        <a:rPr lang="en-US" altLang="zh-CN" sz="1600" b="1" dirty="0"/>
                        <a:t>d</a:t>
                      </a:r>
                      <a:r>
                        <a:rPr lang="zh-CN" altLang="en-US" sz="1600" b="1" dirty="0"/>
                        <a:t>中某个键</a:t>
                      </a:r>
                      <a:r>
                        <a:rPr lang="en-US" altLang="zh-CN" sz="1600" b="1" dirty="0"/>
                        <a:t>—</a:t>
                      </a:r>
                      <a:r>
                        <a:rPr lang="zh-CN" altLang="en-US" sz="1600" b="1" dirty="0"/>
                        <a:t>值对并返回相应的键</a:t>
                      </a:r>
                      <a:r>
                        <a:rPr lang="en-US" altLang="zh-CN" sz="1600" b="1" dirty="0"/>
                        <a:t>—</a:t>
                      </a:r>
                      <a:r>
                        <a:rPr lang="zh-CN" altLang="en-US" sz="1600" b="1" dirty="0"/>
                        <a:t>值对</a:t>
                      </a:r>
                    </a:p>
                  </a:txBody>
                  <a:tcPr marL="91456" marR="91456" marT="45731" marB="45731"/>
                </a:tc>
                <a:extLst>
                  <a:ext uri="{0D108BD9-81ED-4DB2-BD59-A6C34878D82A}">
                    <a16:rowId xmlns:a16="http://schemas.microsoft.com/office/drawing/2014/main" val="10006"/>
                  </a:ext>
                </a:extLst>
              </a:tr>
              <a:tr h="370866">
                <a:tc>
                  <a:txBody>
                    <a:bodyPr/>
                    <a:lstStyle/>
                    <a:p>
                      <a:r>
                        <a:rPr lang="en-US" altLang="zh-CN" sz="1600" b="1" dirty="0" err="1"/>
                        <a:t>d.clear</a:t>
                      </a:r>
                      <a:r>
                        <a:rPr lang="en-US" altLang="zh-CN" sz="1600" b="1" dirty="0"/>
                        <a:t>()</a:t>
                      </a:r>
                      <a:endParaRPr lang="zh-CN" altLang="en-US" sz="1600" b="1" dirty="0"/>
                    </a:p>
                  </a:txBody>
                  <a:tcPr marL="91456" marR="91456" marT="45731" marB="45731"/>
                </a:tc>
                <a:tc>
                  <a:txBody>
                    <a:bodyPr/>
                    <a:lstStyle/>
                    <a:p>
                      <a:r>
                        <a:rPr lang="zh-CN" altLang="en-US" sz="1600" b="1" dirty="0"/>
                        <a:t>删除字典</a:t>
                      </a:r>
                      <a:r>
                        <a:rPr lang="en-US" altLang="zh-CN" sz="1600" b="1" dirty="0"/>
                        <a:t>d</a:t>
                      </a:r>
                      <a:r>
                        <a:rPr lang="zh-CN" altLang="en-US" sz="1600" b="1" dirty="0"/>
                        <a:t>的所有元素</a:t>
                      </a:r>
                    </a:p>
                  </a:txBody>
                  <a:tcPr marL="91456" marR="91456" marT="45731" marB="45731"/>
                </a:tc>
                <a:extLst>
                  <a:ext uri="{0D108BD9-81ED-4DB2-BD59-A6C34878D82A}">
                    <a16:rowId xmlns:a16="http://schemas.microsoft.com/office/drawing/2014/main" val="10007"/>
                  </a:ext>
                </a:extLst>
              </a:tr>
              <a:tr h="370866">
                <a:tc>
                  <a:txBody>
                    <a:bodyPr/>
                    <a:lstStyle/>
                    <a:p>
                      <a:r>
                        <a:rPr lang="en-US" altLang="zh-CN" sz="1600" b="1" dirty="0" err="1"/>
                        <a:t>d.copy</a:t>
                      </a:r>
                      <a:r>
                        <a:rPr lang="en-US" altLang="zh-CN" sz="1600" b="1" dirty="0"/>
                        <a:t>()</a:t>
                      </a:r>
                      <a:endParaRPr lang="zh-CN" altLang="en-US" sz="1600" b="1" dirty="0"/>
                    </a:p>
                  </a:txBody>
                  <a:tcPr marL="91456" marR="91456" marT="45731" marB="45731"/>
                </a:tc>
                <a:tc>
                  <a:txBody>
                    <a:bodyPr/>
                    <a:lstStyle/>
                    <a:p>
                      <a:r>
                        <a:rPr lang="zh-CN" altLang="en-US" sz="1600" b="1" dirty="0"/>
                        <a:t>复制字典</a:t>
                      </a:r>
                      <a:r>
                        <a:rPr lang="en-US" altLang="zh-CN" sz="1600" b="1" dirty="0"/>
                        <a:t>d</a:t>
                      </a:r>
                      <a:endParaRPr lang="zh-CN" altLang="en-US" sz="1600" b="1" dirty="0"/>
                    </a:p>
                  </a:txBody>
                  <a:tcPr marL="91456" marR="91456" marT="45731" marB="45731"/>
                </a:tc>
                <a:extLst>
                  <a:ext uri="{0D108BD9-81ED-4DB2-BD59-A6C34878D82A}">
                    <a16:rowId xmlns:a16="http://schemas.microsoft.com/office/drawing/2014/main" val="10008"/>
                  </a:ext>
                </a:extLst>
              </a:tr>
              <a:tr h="370866">
                <a:tc>
                  <a:txBody>
                    <a:bodyPr/>
                    <a:lstStyle/>
                    <a:p>
                      <a:r>
                        <a:rPr lang="en-US" altLang="zh-CN" sz="1600" b="1" dirty="0" err="1"/>
                        <a:t>d.fromkeys</a:t>
                      </a:r>
                      <a:r>
                        <a:rPr lang="en-US" altLang="zh-CN" sz="1600" b="1" dirty="0"/>
                        <a:t>(</a:t>
                      </a:r>
                      <a:r>
                        <a:rPr lang="en-US" altLang="zh-CN" sz="1600" b="1" dirty="0" err="1"/>
                        <a:t>s,t</a:t>
                      </a:r>
                      <a:r>
                        <a:rPr lang="en-US" altLang="zh-CN" sz="1600" b="1" dirty="0"/>
                        <a:t>)</a:t>
                      </a:r>
                      <a:endParaRPr lang="zh-CN" altLang="en-US" sz="1600" b="1" dirty="0"/>
                    </a:p>
                  </a:txBody>
                  <a:tcPr marL="91456" marR="91456" marT="45731" marB="45731"/>
                </a:tc>
                <a:tc>
                  <a:txBody>
                    <a:bodyPr/>
                    <a:lstStyle/>
                    <a:p>
                      <a:r>
                        <a:rPr lang="zh-CN" altLang="en-US" sz="1600" b="1" dirty="0"/>
                        <a:t>创建一个新字典，其中的键来自</a:t>
                      </a:r>
                      <a:r>
                        <a:rPr lang="en-US" altLang="zh-CN" sz="1600" b="1" dirty="0"/>
                        <a:t>s</a:t>
                      </a:r>
                      <a:r>
                        <a:rPr lang="zh-CN" altLang="en-US" sz="1600" b="1" dirty="0"/>
                        <a:t>，值来自</a:t>
                      </a:r>
                      <a:r>
                        <a:rPr lang="en-US" altLang="zh-CN" sz="1600" b="1" dirty="0"/>
                        <a:t>t</a:t>
                      </a:r>
                      <a:endParaRPr lang="zh-CN" altLang="en-US" sz="1600" b="1" dirty="0"/>
                    </a:p>
                  </a:txBody>
                  <a:tcPr marL="91456" marR="91456" marT="45731" marB="45731"/>
                </a:tc>
                <a:extLst>
                  <a:ext uri="{0D108BD9-81ED-4DB2-BD59-A6C34878D82A}">
                    <a16:rowId xmlns:a16="http://schemas.microsoft.com/office/drawing/2014/main" val="10009"/>
                  </a:ext>
                </a:extLst>
              </a:tr>
              <a:tr h="579161">
                <a:tc>
                  <a:txBody>
                    <a:bodyPr/>
                    <a:lstStyle/>
                    <a:p>
                      <a:r>
                        <a:rPr lang="en-US" altLang="zh-CN" sz="1600" b="1" dirty="0" err="1"/>
                        <a:t>d.setdefault</a:t>
                      </a:r>
                      <a:r>
                        <a:rPr lang="en-US" altLang="zh-CN" sz="1600" b="1" dirty="0"/>
                        <a:t>(</a:t>
                      </a:r>
                      <a:r>
                        <a:rPr lang="en-US" altLang="zh-CN" sz="1600" b="1" dirty="0" err="1"/>
                        <a:t>key,v</a:t>
                      </a:r>
                      <a:r>
                        <a:rPr lang="en-US" altLang="zh-CN" sz="1600" b="1" dirty="0"/>
                        <a:t>)</a:t>
                      </a:r>
                      <a:endParaRPr lang="zh-CN" altLang="en-US" sz="1600" b="1" dirty="0"/>
                    </a:p>
                  </a:txBody>
                  <a:tcPr marL="91456" marR="91456" marT="45731" marB="45731"/>
                </a:tc>
                <a:tc>
                  <a:txBody>
                    <a:bodyPr/>
                    <a:lstStyle/>
                    <a:p>
                      <a:r>
                        <a:rPr lang="zh-CN" altLang="en-US" sz="1600" b="1" dirty="0"/>
                        <a:t>如果键</a:t>
                      </a:r>
                      <a:r>
                        <a:rPr lang="en-US" altLang="zh-CN" sz="1600" b="1" dirty="0"/>
                        <a:t>key</a:t>
                      </a:r>
                      <a:r>
                        <a:rPr lang="zh-CN" altLang="en-US" sz="1600" b="1" dirty="0"/>
                        <a:t>包含在字典</a:t>
                      </a:r>
                      <a:r>
                        <a:rPr lang="en-US" altLang="zh-CN" sz="1600" b="1" dirty="0"/>
                        <a:t>d</a:t>
                      </a:r>
                      <a:r>
                        <a:rPr lang="zh-CN" altLang="en-US" sz="1600" b="1" dirty="0"/>
                        <a:t>中，则返回其值；否则返回</a:t>
                      </a:r>
                      <a:r>
                        <a:rPr lang="en-US" altLang="zh-CN" sz="1600" b="1" dirty="0"/>
                        <a:t>v</a:t>
                      </a:r>
                      <a:r>
                        <a:rPr lang="zh-CN" altLang="en-US" sz="1600" b="1" dirty="0"/>
                        <a:t>并将</a:t>
                      </a:r>
                      <a:r>
                        <a:rPr lang="en-US" altLang="zh-CN" sz="1600" b="1" dirty="0"/>
                        <a:t>(</a:t>
                      </a:r>
                      <a:r>
                        <a:rPr lang="en-US" altLang="zh-CN" sz="1600" b="1" dirty="0" err="1"/>
                        <a:t>key,v</a:t>
                      </a:r>
                      <a:r>
                        <a:rPr lang="en-US" altLang="zh-CN" sz="1600" b="1" dirty="0"/>
                        <a:t>)</a:t>
                      </a:r>
                      <a:r>
                        <a:rPr lang="zh-CN" altLang="en-US" sz="1600" b="1" dirty="0"/>
                        <a:t>添加到字典</a:t>
                      </a:r>
                      <a:r>
                        <a:rPr lang="en-US" altLang="zh-CN" sz="1600" b="1" dirty="0"/>
                        <a:t>d</a:t>
                      </a:r>
                      <a:r>
                        <a:rPr lang="zh-CN" altLang="en-US" sz="1600" b="1" baseline="0" dirty="0"/>
                        <a:t>中</a:t>
                      </a:r>
                      <a:endParaRPr lang="zh-CN" altLang="en-US" sz="1600" b="1" dirty="0"/>
                    </a:p>
                  </a:txBody>
                  <a:tcPr marL="91456" marR="91456" marT="45731" marB="45731"/>
                </a:tc>
                <a:extLst>
                  <a:ext uri="{0D108BD9-81ED-4DB2-BD59-A6C34878D82A}">
                    <a16:rowId xmlns:a16="http://schemas.microsoft.com/office/drawing/2014/main" val="10010"/>
                  </a:ext>
                </a:extLst>
              </a:tr>
              <a:tr h="579161">
                <a:tc>
                  <a:txBody>
                    <a:bodyPr/>
                    <a:lstStyle/>
                    <a:p>
                      <a:r>
                        <a:rPr lang="en-US" altLang="zh-CN" sz="1600" b="1" dirty="0" err="1"/>
                        <a:t>d.update</a:t>
                      </a:r>
                      <a:r>
                        <a:rPr lang="en-US" altLang="zh-CN" sz="1600" b="1" dirty="0"/>
                        <a:t>(e)</a:t>
                      </a:r>
                      <a:endParaRPr lang="zh-CN" altLang="en-US" sz="1600" b="1" dirty="0"/>
                    </a:p>
                  </a:txBody>
                  <a:tcPr marL="91456" marR="91456" marT="45731" marB="45731"/>
                </a:tc>
                <a:tc>
                  <a:txBody>
                    <a:bodyPr/>
                    <a:lstStyle/>
                    <a:p>
                      <a:r>
                        <a:rPr lang="zh-CN" altLang="en-US" sz="1600" b="1" dirty="0"/>
                        <a:t>将</a:t>
                      </a:r>
                      <a:r>
                        <a:rPr lang="en-US" altLang="zh-CN" sz="1600" b="1" dirty="0"/>
                        <a:t>e</a:t>
                      </a:r>
                      <a:r>
                        <a:rPr lang="zh-CN" altLang="en-US" sz="1600" b="1" dirty="0"/>
                        <a:t>中的键</a:t>
                      </a:r>
                      <a:r>
                        <a:rPr lang="en-US" altLang="zh-CN" sz="1600" b="1" dirty="0"/>
                        <a:t>—</a:t>
                      </a:r>
                      <a:r>
                        <a:rPr lang="zh-CN" altLang="en-US" sz="1600" b="1" dirty="0"/>
                        <a:t>值对添加到字典</a:t>
                      </a:r>
                      <a:r>
                        <a:rPr lang="en-US" altLang="zh-CN" sz="1600" b="1" dirty="0"/>
                        <a:t>d</a:t>
                      </a:r>
                      <a:r>
                        <a:rPr lang="zh-CN" altLang="en-US" sz="1600" b="1" dirty="0"/>
                        <a:t>中；</a:t>
                      </a:r>
                      <a:r>
                        <a:rPr lang="en-US" altLang="zh-CN" sz="1600" b="1" dirty="0"/>
                        <a:t>e</a:t>
                      </a:r>
                      <a:r>
                        <a:rPr lang="zh-CN" altLang="en-US" sz="1600" b="1" dirty="0"/>
                        <a:t>可能是字典，也可能是键</a:t>
                      </a:r>
                      <a:r>
                        <a:rPr lang="en-US" altLang="zh-CN" sz="1600" b="1" dirty="0"/>
                        <a:t>—</a:t>
                      </a:r>
                      <a:r>
                        <a:rPr lang="zh-CN" altLang="en-US" sz="1600" b="1" dirty="0"/>
                        <a:t>值对序列</a:t>
                      </a:r>
                    </a:p>
                  </a:txBody>
                  <a:tcPr marL="91456" marR="91456" marT="45731" marB="45731"/>
                </a:tc>
                <a:extLst>
                  <a:ext uri="{0D108BD9-81ED-4DB2-BD59-A6C34878D82A}">
                    <a16:rowId xmlns:a16="http://schemas.microsoft.com/office/drawing/2014/main" val="10011"/>
                  </a:ext>
                </a:extLst>
              </a:tr>
            </a:tbl>
          </a:graphicData>
        </a:graphic>
      </p:graphicFrame>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Tree>
  </p:cSld>
  <p:clrMapOvr>
    <a:masterClrMapping/>
  </p:clrMapOvr>
  <p:transition spd="slow" advTm="0"/>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0543" y="750570"/>
            <a:ext cx="8245475" cy="781050"/>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例：字典函数应用</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3" name="矩形 2"/>
          <p:cNvSpPr/>
          <p:nvPr/>
        </p:nvSpPr>
        <p:spPr>
          <a:xfrm>
            <a:off x="770583" y="1773610"/>
            <a:ext cx="4032448" cy="460375"/>
          </a:xfrm>
          <a:prstGeom prst="rect">
            <a:avLst/>
          </a:prstGeom>
        </p:spPr>
        <p:txBody>
          <a:bodyPr wrap="square">
            <a:spAutoFit/>
          </a:bodyPr>
          <a:lstStyle/>
          <a:p>
            <a:r>
              <a:rPr lang="zh-CN" altLang="en-US" dirty="0">
                <a:latin typeface="Arial Black" panose="020B0A04020102020204" pitchFamily="34" charset="0"/>
              </a:rPr>
              <a:t>dic = {'a':0,'b':1,'c':2}</a:t>
            </a:r>
          </a:p>
        </p:txBody>
      </p:sp>
      <p:sp>
        <p:nvSpPr>
          <p:cNvPr id="7" name="矩形 6"/>
          <p:cNvSpPr/>
          <p:nvPr/>
        </p:nvSpPr>
        <p:spPr>
          <a:xfrm>
            <a:off x="770583" y="2464629"/>
            <a:ext cx="1960880" cy="460375"/>
          </a:xfrm>
          <a:prstGeom prst="rect">
            <a:avLst/>
          </a:prstGeom>
        </p:spPr>
        <p:txBody>
          <a:bodyPr wrap="none">
            <a:spAutoFit/>
          </a:bodyPr>
          <a:lstStyle/>
          <a:p>
            <a:r>
              <a:rPr lang="zh-CN" altLang="en-US" dirty="0">
                <a:latin typeface="Arial Black" panose="020B0A04020102020204" pitchFamily="34" charset="0"/>
              </a:rPr>
              <a:t>dic.items()</a:t>
            </a:r>
          </a:p>
        </p:txBody>
      </p:sp>
      <p:sp>
        <p:nvSpPr>
          <p:cNvPr id="8" name="矩形 7"/>
          <p:cNvSpPr/>
          <p:nvPr/>
        </p:nvSpPr>
        <p:spPr>
          <a:xfrm>
            <a:off x="4370983" y="2426540"/>
            <a:ext cx="5998758" cy="461665"/>
          </a:xfrm>
          <a:prstGeom prst="rect">
            <a:avLst/>
          </a:prstGeom>
        </p:spPr>
        <p:txBody>
          <a:bodyPr wrap="none">
            <a:spAutoFit/>
          </a:bodyPr>
          <a:lstStyle/>
          <a:p>
            <a:r>
              <a:rPr lang="zh-CN" altLang="en-US" dirty="0">
                <a:solidFill>
                  <a:srgbClr val="FF0000"/>
                </a:solidFill>
                <a:latin typeface="Arial Black" panose="020B0A04020102020204" pitchFamily="34" charset="0"/>
              </a:rPr>
              <a:t> dict_items([('a', 0), ('b', 1), ('c', 2)])</a:t>
            </a:r>
          </a:p>
        </p:txBody>
      </p:sp>
      <p:sp>
        <p:nvSpPr>
          <p:cNvPr id="10" name="矩形 9"/>
          <p:cNvSpPr/>
          <p:nvPr/>
        </p:nvSpPr>
        <p:spPr>
          <a:xfrm>
            <a:off x="770583" y="3263563"/>
            <a:ext cx="1797685" cy="460375"/>
          </a:xfrm>
          <a:prstGeom prst="rect">
            <a:avLst/>
          </a:prstGeom>
        </p:spPr>
        <p:txBody>
          <a:bodyPr wrap="none">
            <a:spAutoFit/>
          </a:bodyPr>
          <a:lstStyle/>
          <a:p>
            <a:r>
              <a:rPr lang="zh-CN" altLang="en-US" dirty="0">
                <a:latin typeface="Arial Black" panose="020B0A04020102020204" pitchFamily="34" charset="0"/>
              </a:rPr>
              <a:t>dic.</a:t>
            </a:r>
            <a:r>
              <a:rPr lang="en-US" altLang="zh-CN" dirty="0">
                <a:latin typeface="Arial Black" panose="020B0A04020102020204" pitchFamily="34" charset="0"/>
              </a:rPr>
              <a:t>key</a:t>
            </a:r>
            <a:r>
              <a:rPr lang="zh-CN" altLang="en-US" dirty="0">
                <a:latin typeface="Arial Black" panose="020B0A04020102020204" pitchFamily="34" charset="0"/>
              </a:rPr>
              <a:t>s()</a:t>
            </a:r>
          </a:p>
        </p:txBody>
      </p:sp>
      <p:sp>
        <p:nvSpPr>
          <p:cNvPr id="9" name="矩形 8"/>
          <p:cNvSpPr/>
          <p:nvPr/>
        </p:nvSpPr>
        <p:spPr>
          <a:xfrm>
            <a:off x="4480111" y="3283074"/>
            <a:ext cx="3779304" cy="461665"/>
          </a:xfrm>
          <a:prstGeom prst="rect">
            <a:avLst/>
          </a:prstGeom>
        </p:spPr>
        <p:txBody>
          <a:bodyPr wrap="none">
            <a:spAutoFit/>
          </a:bodyPr>
          <a:lstStyle/>
          <a:p>
            <a:r>
              <a:rPr lang="zh-CN" altLang="en-US" dirty="0">
                <a:solidFill>
                  <a:srgbClr val="FF0000"/>
                </a:solidFill>
                <a:latin typeface="Arial Black" panose="020B0A04020102020204" pitchFamily="34" charset="0"/>
              </a:rPr>
              <a:t>dict_keys(['a', 'b', 'c'])</a:t>
            </a:r>
          </a:p>
        </p:txBody>
      </p:sp>
      <p:sp>
        <p:nvSpPr>
          <p:cNvPr id="12" name="矩形 11"/>
          <p:cNvSpPr/>
          <p:nvPr/>
        </p:nvSpPr>
        <p:spPr>
          <a:xfrm>
            <a:off x="806118" y="4048458"/>
            <a:ext cx="1943735" cy="460375"/>
          </a:xfrm>
          <a:prstGeom prst="rect">
            <a:avLst/>
          </a:prstGeom>
        </p:spPr>
        <p:txBody>
          <a:bodyPr wrap="none">
            <a:spAutoFit/>
          </a:bodyPr>
          <a:lstStyle/>
          <a:p>
            <a:r>
              <a:rPr lang="zh-CN" altLang="en-US" dirty="0">
                <a:latin typeface="Arial Black" panose="020B0A04020102020204" pitchFamily="34" charset="0"/>
              </a:rPr>
              <a:t>dic.</a:t>
            </a:r>
            <a:r>
              <a:rPr lang="en-US" altLang="zh-CN" dirty="0">
                <a:latin typeface="Arial Black" panose="020B0A04020102020204" pitchFamily="34" charset="0"/>
              </a:rPr>
              <a:t>get</a:t>
            </a:r>
            <a:r>
              <a:rPr lang="zh-CN" altLang="en-US" dirty="0">
                <a:latin typeface="Arial Black" panose="020B0A04020102020204" pitchFamily="34" charset="0"/>
              </a:rPr>
              <a:t>('b')</a:t>
            </a:r>
          </a:p>
        </p:txBody>
      </p:sp>
      <p:sp>
        <p:nvSpPr>
          <p:cNvPr id="13" name="矩形 12"/>
          <p:cNvSpPr/>
          <p:nvPr/>
        </p:nvSpPr>
        <p:spPr>
          <a:xfrm>
            <a:off x="4496237" y="4033767"/>
            <a:ext cx="389850" cy="461665"/>
          </a:xfrm>
          <a:prstGeom prst="rect">
            <a:avLst/>
          </a:prstGeom>
        </p:spPr>
        <p:txBody>
          <a:bodyPr wrap="none">
            <a:spAutoFit/>
          </a:bodyPr>
          <a:lstStyle/>
          <a:p>
            <a:r>
              <a:rPr lang="en-US" altLang="zh-CN" dirty="0">
                <a:solidFill>
                  <a:srgbClr val="FF0000"/>
                </a:solidFill>
                <a:latin typeface="Arial Black" panose="020B0A04020102020204" pitchFamily="34" charset="0"/>
              </a:rPr>
              <a:t>1</a:t>
            </a:r>
            <a:endParaRPr lang="zh-CN" altLang="en-US" dirty="0">
              <a:solidFill>
                <a:srgbClr val="FF0000"/>
              </a:solidFill>
              <a:latin typeface="Arial Black" panose="020B0A04020102020204" pitchFamily="34" charset="0"/>
            </a:endParaRPr>
          </a:p>
        </p:txBody>
      </p:sp>
      <p:sp>
        <p:nvSpPr>
          <p:cNvPr id="14" name="矩形 13"/>
          <p:cNvSpPr/>
          <p:nvPr/>
        </p:nvSpPr>
        <p:spPr>
          <a:xfrm>
            <a:off x="805842" y="4739477"/>
            <a:ext cx="2113280" cy="460375"/>
          </a:xfrm>
          <a:prstGeom prst="rect">
            <a:avLst/>
          </a:prstGeom>
        </p:spPr>
        <p:txBody>
          <a:bodyPr wrap="none">
            <a:spAutoFit/>
          </a:bodyPr>
          <a:lstStyle/>
          <a:p>
            <a:r>
              <a:rPr lang="zh-CN" altLang="en-US" dirty="0">
                <a:latin typeface="Arial Black" panose="020B0A04020102020204" pitchFamily="34" charset="0"/>
              </a:rPr>
              <a:t>dic.</a:t>
            </a:r>
            <a:r>
              <a:rPr lang="en-US" altLang="zh-CN" dirty="0">
                <a:latin typeface="Arial Black" panose="020B0A04020102020204" pitchFamily="34" charset="0"/>
              </a:rPr>
              <a:t>values</a:t>
            </a:r>
            <a:r>
              <a:rPr lang="zh-CN" altLang="en-US" dirty="0">
                <a:latin typeface="Arial Black" panose="020B0A04020102020204" pitchFamily="34" charset="0"/>
              </a:rPr>
              <a:t>()</a:t>
            </a:r>
          </a:p>
        </p:txBody>
      </p:sp>
      <p:sp>
        <p:nvSpPr>
          <p:cNvPr id="15" name="矩形 14"/>
          <p:cNvSpPr/>
          <p:nvPr/>
        </p:nvSpPr>
        <p:spPr>
          <a:xfrm>
            <a:off x="4480111" y="4739477"/>
            <a:ext cx="3587842" cy="461665"/>
          </a:xfrm>
          <a:prstGeom prst="rect">
            <a:avLst/>
          </a:prstGeom>
        </p:spPr>
        <p:txBody>
          <a:bodyPr wrap="none">
            <a:spAutoFit/>
          </a:bodyPr>
          <a:lstStyle/>
          <a:p>
            <a:r>
              <a:rPr lang="zh-CN" altLang="en-US" dirty="0">
                <a:solidFill>
                  <a:srgbClr val="FF0000"/>
                </a:solidFill>
                <a:latin typeface="Arial Black" panose="020B0A04020102020204" pitchFamily="34" charset="0"/>
              </a:rPr>
              <a:t>dict_</a:t>
            </a:r>
            <a:r>
              <a:rPr lang="en-US" altLang="zh-CN" dirty="0">
                <a:solidFill>
                  <a:srgbClr val="FF0000"/>
                </a:solidFill>
                <a:latin typeface="Arial Black" panose="020B0A04020102020204" pitchFamily="34" charset="0"/>
              </a:rPr>
              <a:t>value</a:t>
            </a:r>
            <a:r>
              <a:rPr lang="zh-CN" altLang="en-US" dirty="0">
                <a:solidFill>
                  <a:srgbClr val="FF0000"/>
                </a:solidFill>
                <a:latin typeface="Arial Black" panose="020B0A04020102020204" pitchFamily="34" charset="0"/>
              </a:rPr>
              <a:t>s([</a:t>
            </a:r>
            <a:r>
              <a:rPr lang="en-US" altLang="zh-CN" dirty="0">
                <a:solidFill>
                  <a:srgbClr val="FF0000"/>
                </a:solidFill>
                <a:latin typeface="Arial Black" panose="020B0A04020102020204" pitchFamily="34" charset="0"/>
              </a:rPr>
              <a:t>0</a:t>
            </a:r>
            <a:r>
              <a:rPr lang="zh-CN" altLang="en-US" dirty="0">
                <a:solidFill>
                  <a:srgbClr val="FF0000"/>
                </a:solidFill>
                <a:latin typeface="Arial Black" panose="020B0A04020102020204" pitchFamily="34" charset="0"/>
              </a:rPr>
              <a:t>, </a:t>
            </a:r>
            <a:r>
              <a:rPr lang="en-US" altLang="zh-CN" dirty="0">
                <a:solidFill>
                  <a:srgbClr val="FF0000"/>
                </a:solidFill>
                <a:latin typeface="Arial Black" panose="020B0A04020102020204" pitchFamily="34" charset="0"/>
              </a:rPr>
              <a:t>1</a:t>
            </a:r>
            <a:r>
              <a:rPr lang="zh-CN" altLang="en-US" dirty="0">
                <a:solidFill>
                  <a:srgbClr val="FF0000"/>
                </a:solidFill>
                <a:latin typeface="Arial Black" panose="020B0A04020102020204" pitchFamily="34" charset="0"/>
              </a:rPr>
              <a:t>, </a:t>
            </a:r>
            <a:r>
              <a:rPr lang="en-US" altLang="zh-CN" dirty="0">
                <a:solidFill>
                  <a:srgbClr val="FF0000"/>
                </a:solidFill>
                <a:latin typeface="Arial Black" panose="020B0A04020102020204" pitchFamily="34" charset="0"/>
              </a:rPr>
              <a:t>2</a:t>
            </a:r>
            <a:r>
              <a:rPr lang="zh-CN" altLang="en-US" dirty="0">
                <a:solidFill>
                  <a:srgbClr val="FF0000"/>
                </a:solidFill>
                <a:latin typeface="Arial Black" panose="020B0A04020102020204" pitchFamily="34" charset="0"/>
              </a:rPr>
              <a:t>])</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10" grpId="0"/>
      <p:bldP spid="9" grpId="0"/>
      <p:bldP spid="12" grpId="0"/>
      <p:bldP spid="13" grpId="0"/>
      <p:bldP spid="14" grpId="0"/>
      <p:bldP spid="15"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内容占位符 2"/>
          <p:cNvSpPr>
            <a:spLocks noGrp="1"/>
          </p:cNvSpPr>
          <p:nvPr/>
        </p:nvSpPr>
        <p:spPr>
          <a:xfrm>
            <a:off x="838200" y="1321435"/>
            <a:ext cx="10835005" cy="4639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00000"/>
              </a:lnSpc>
              <a:spcBef>
                <a:spcPts val="0"/>
              </a:spcBef>
              <a:buFont typeface="Arial" panose="020B0604020202020204" pitchFamily="34" charset="0"/>
              <a:buChar char="•"/>
            </a:pPr>
            <a:r>
              <a:rPr lang="zh-CN" altLang="en-US" sz="2400" b="1">
                <a:latin typeface="微软雅黑" panose="020B0503020204020204" pitchFamily="34" charset="-122"/>
                <a:ea typeface="微软雅黑" panose="020B0503020204020204" pitchFamily="34" charset="-122"/>
                <a:cs typeface="微软雅黑" panose="020B0503020204020204" pitchFamily="34" charset="-122"/>
              </a:rPr>
              <a:t>字典对象提供了一个get()方法用来返回指定“键”对应的“值”，并且允许指定该键不存在时返回特定的“值”。例如：</a:t>
            </a:r>
          </a:p>
          <a:p>
            <a:pPr marL="0" indent="0" fontAlgn="auto">
              <a:lnSpc>
                <a:spcPct val="100000"/>
              </a:lnSpc>
              <a:spcBef>
                <a:spcPts val="0"/>
              </a:spcBef>
              <a:buNone/>
            </a:pPr>
            <a:endParaRPr lang="zh-CN" altLang="en-US" sz="2400" b="1">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00000"/>
              </a:lnSpc>
              <a:spcBef>
                <a:spcPts val="0"/>
              </a:spcBef>
              <a:buNone/>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&gt;&gt;&gt; aDict.get('age')                    #如果字典中存在该“键”则返回对应的“值”</a:t>
            </a:r>
          </a:p>
          <a:p>
            <a:pPr marL="0" indent="0" fontAlgn="auto">
              <a:lnSpc>
                <a:spcPct val="100000"/>
              </a:lnSpc>
              <a:spcBef>
                <a:spcPts val="0"/>
              </a:spcBef>
              <a:buNone/>
            </a:pPr>
            <a:r>
              <a:rPr lang="zh-CN" altLang="en-US" sz="20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39</a:t>
            </a:r>
          </a:p>
          <a:p>
            <a:pPr marL="0" indent="0" fontAlgn="auto">
              <a:lnSpc>
                <a:spcPct val="100000"/>
              </a:lnSpc>
              <a:spcBef>
                <a:spcPts val="0"/>
              </a:spcBef>
              <a:buNone/>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&gt;&gt;&gt; aDict.get('address', 'Not Exists.') #指定的“键”不存在时返回指定的默认值</a:t>
            </a:r>
          </a:p>
          <a:p>
            <a:pPr marL="0" indent="0" fontAlgn="auto">
              <a:lnSpc>
                <a:spcPct val="100000"/>
              </a:lnSpc>
              <a:spcBef>
                <a:spcPts val="0"/>
              </a:spcBef>
              <a:buNone/>
            </a:pPr>
            <a:r>
              <a:rPr lang="zh-CN" altLang="en-US" sz="20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'Not Exists.'</a:t>
            </a:r>
          </a:p>
          <a:p>
            <a:pPr marL="0" indent="0" fontAlgn="auto">
              <a:lnSpc>
                <a:spcPct val="100000"/>
              </a:lnSpc>
              <a:spcBef>
                <a:spcPts val="0"/>
              </a:spcBef>
              <a:buNone/>
            </a:pPr>
            <a:endParaRPr lang="zh-CN" altLang="en-US" sz="20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0"/>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3565" y="882650"/>
            <a:ext cx="8245475" cy="823595"/>
          </a:xfrm>
        </p:spPr>
        <p:txBody>
          <a:bodyPr vert="horz" wrap="square" lIns="91456" tIns="45728" rIns="91456" bIns="45728" numCol="1" rtlCol="0" anchor="b" anchorCtr="0" compatLnSpc="1">
            <a:normAutofit/>
          </a:bodyPr>
          <a:lstStyle/>
          <a:p>
            <a:pPr lvl="0" algn="l" defTabSz="914400" eaLnBrk="0" fontAlgn="base" hangingPunct="0">
              <a:lnSpc>
                <a:spcPct val="90000"/>
              </a:lnSpc>
              <a:buClrTx/>
              <a:buSzTx/>
              <a:buFontTx/>
              <a:defRPr/>
            </a:pPr>
            <a:r>
              <a:rPr lang="en-US" altLang="zh-CN" sz="3200" b="1" kern="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说明：</a:t>
            </a:r>
          </a:p>
        </p:txBody>
      </p:sp>
      <p:sp>
        <p:nvSpPr>
          <p:cNvPr id="47107" name="内容占位符 2"/>
          <p:cNvSpPr>
            <a:spLocks noGrp="1"/>
          </p:cNvSpPr>
          <p:nvPr>
            <p:ph idx="1"/>
          </p:nvPr>
        </p:nvSpPr>
        <p:spPr>
          <a:xfrm>
            <a:off x="547370" y="2061845"/>
            <a:ext cx="11347450" cy="2321560"/>
          </a:xfrm>
        </p:spPr>
        <p:txBody>
          <a:bodyPr vert="horz" wrap="square" lIns="91456" tIns="45728" rIns="91456" bIns="45728" anchor="t"/>
          <a:lstStyle/>
          <a:p>
            <a:pPr fontAlgn="auto">
              <a:lnSpc>
                <a:spcPts val="3960"/>
              </a:lnSpc>
              <a:spcBef>
                <a:spcPts val="0"/>
              </a:spcBef>
            </a:pPr>
            <a:r>
              <a:rPr lang="en-US" altLang="zh-CN" sz="2800" b="1" dirty="0"/>
              <a:t>popitem()</a:t>
            </a:r>
            <a:r>
              <a:rPr lang="zh-CN" altLang="en-US" sz="2800" b="1" dirty="0"/>
              <a:t>返回并删除字典的某个键</a:t>
            </a:r>
            <a:r>
              <a:rPr lang="en-US" altLang="zh-CN" sz="2800" b="1" dirty="0"/>
              <a:t>—</a:t>
            </a:r>
            <a:r>
              <a:rPr lang="zh-CN" altLang="en-US" sz="2800" b="1" dirty="0"/>
              <a:t>值对，具体是哪个预先并不知道（一般是尾部），因此仅当不在乎字典元素的顺序是，此函数才适用。</a:t>
            </a:r>
            <a:endParaRPr lang="en-US" altLang="zh-CN" sz="2800" b="1" dirty="0"/>
          </a:p>
          <a:p>
            <a:pPr fontAlgn="auto">
              <a:lnSpc>
                <a:spcPts val="3960"/>
              </a:lnSpc>
              <a:spcBef>
                <a:spcPts val="0"/>
              </a:spcBef>
            </a:pPr>
            <a:r>
              <a:rPr lang="en-US" altLang="zh-CN" sz="2800" b="1" dirty="0"/>
              <a:t>items()</a:t>
            </a:r>
            <a:r>
              <a:rPr lang="zh-CN" altLang="en-US" sz="2800" b="1" dirty="0"/>
              <a:t>、</a:t>
            </a:r>
            <a:r>
              <a:rPr lang="en-US" altLang="zh-CN" sz="2800" b="1" dirty="0"/>
              <a:t>keys()</a:t>
            </a:r>
            <a:r>
              <a:rPr lang="zh-CN" altLang="en-US" sz="2800" b="1" dirty="0"/>
              <a:t>和</a:t>
            </a:r>
            <a:r>
              <a:rPr lang="en-US" altLang="zh-CN" sz="2800" b="1" dirty="0"/>
              <a:t>values()</a:t>
            </a:r>
            <a:r>
              <a:rPr lang="zh-CN" altLang="en-US" sz="2800" b="1" dirty="0"/>
              <a:t>都返回一个特殊对象</a:t>
            </a:r>
            <a:r>
              <a:rPr lang="en-US" altLang="zh-CN" sz="2800" b="1" dirty="0"/>
              <a:t>—</a:t>
            </a:r>
            <a:r>
              <a:rPr lang="zh-CN" altLang="en-US" sz="2800" b="1" dirty="0">
                <a:solidFill>
                  <a:srgbClr val="FF0000"/>
                </a:solidFill>
              </a:rPr>
              <a:t>视图</a:t>
            </a:r>
            <a:r>
              <a:rPr lang="zh-CN" altLang="en-US" sz="2800" b="1" dirty="0"/>
              <a:t>。视图被链接到原始字典，因此若字典发生变化，视图也将相应地变化。</a:t>
            </a:r>
            <a:endParaRPr lang="en-US" altLang="zh-CN" sz="2800" b="1" dirty="0"/>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0622" y="4653930"/>
            <a:ext cx="5431461"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advTm="0"/>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0543" y="750570"/>
            <a:ext cx="8245475" cy="781050"/>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在字典中遍历</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3" name="矩形 2"/>
          <p:cNvSpPr/>
          <p:nvPr/>
        </p:nvSpPr>
        <p:spPr>
          <a:xfrm>
            <a:off x="1130623" y="1773610"/>
            <a:ext cx="4032448" cy="523220"/>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）遍历</a:t>
            </a:r>
            <a:r>
              <a:rPr lang="en-US" altLang="zh-CN" sz="2800" b="1" dirty="0">
                <a:latin typeface="微软雅黑" panose="020B0503020204020204" pitchFamily="34" charset="-122"/>
                <a:ea typeface="微软雅黑" panose="020B0503020204020204" pitchFamily="34" charset="-122"/>
              </a:rPr>
              <a:t>key</a:t>
            </a:r>
            <a:r>
              <a:rPr lang="zh-CN" altLang="en-US" sz="2800" b="1" dirty="0">
                <a:latin typeface="微软雅黑" panose="020B0503020204020204" pitchFamily="34" charset="-122"/>
                <a:ea typeface="微软雅黑" panose="020B0503020204020204" pitchFamily="34" charset="-122"/>
              </a:rPr>
              <a:t>值</a:t>
            </a:r>
          </a:p>
        </p:txBody>
      </p:sp>
      <p:sp>
        <p:nvSpPr>
          <p:cNvPr id="5" name="矩形 4"/>
          <p:cNvSpPr/>
          <p:nvPr/>
        </p:nvSpPr>
        <p:spPr>
          <a:xfrm>
            <a:off x="1130623" y="2853730"/>
            <a:ext cx="3155479" cy="523220"/>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）遍历</a:t>
            </a:r>
            <a:r>
              <a:rPr lang="en-US" altLang="zh-CN" sz="2800" b="1" dirty="0">
                <a:latin typeface="微软雅黑" panose="020B0503020204020204" pitchFamily="34" charset="-122"/>
                <a:ea typeface="微软雅黑" panose="020B0503020204020204" pitchFamily="34" charset="-122"/>
              </a:rPr>
              <a:t>value</a:t>
            </a:r>
            <a:r>
              <a:rPr lang="zh-CN" altLang="en-US" sz="2800" b="1" dirty="0">
                <a:latin typeface="微软雅黑" panose="020B0503020204020204" pitchFamily="34" charset="-122"/>
                <a:ea typeface="微软雅黑" panose="020B0503020204020204" pitchFamily="34" charset="-122"/>
              </a:rPr>
              <a:t>值</a:t>
            </a:r>
          </a:p>
        </p:txBody>
      </p:sp>
      <p:sp>
        <p:nvSpPr>
          <p:cNvPr id="6" name="矩形 5"/>
          <p:cNvSpPr/>
          <p:nvPr/>
        </p:nvSpPr>
        <p:spPr>
          <a:xfrm>
            <a:off x="1130623" y="3923359"/>
            <a:ext cx="2919389" cy="523220"/>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rPr>
              <a:t>）遍历字典项</a:t>
            </a:r>
          </a:p>
        </p:txBody>
      </p:sp>
      <p:sp>
        <p:nvSpPr>
          <p:cNvPr id="8" name="矩形 7"/>
          <p:cNvSpPr/>
          <p:nvPr/>
        </p:nvSpPr>
        <p:spPr>
          <a:xfrm>
            <a:off x="1130622" y="4992988"/>
            <a:ext cx="3744417" cy="523220"/>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4</a:t>
            </a:r>
            <a:r>
              <a:rPr lang="zh-CN" altLang="en-US" sz="2800" b="1" dirty="0">
                <a:latin typeface="微软雅黑" panose="020B0503020204020204" pitchFamily="34" charset="-122"/>
                <a:ea typeface="微软雅黑" panose="020B0503020204020204" pitchFamily="34" charset="-122"/>
              </a:rPr>
              <a:t>）遍历字典健值</a:t>
            </a:r>
          </a:p>
        </p:txBody>
      </p:sp>
      <p:sp>
        <p:nvSpPr>
          <p:cNvPr id="7" name="文本框 6"/>
          <p:cNvSpPr txBox="1"/>
          <p:nvPr/>
        </p:nvSpPr>
        <p:spPr>
          <a:xfrm>
            <a:off x="4520565" y="2713990"/>
            <a:ext cx="7658735" cy="1660525"/>
          </a:xfrm>
          <a:prstGeom prst="rect">
            <a:avLst/>
          </a:prstGeom>
        </p:spPr>
        <p:style>
          <a:lnRef idx="1">
            <a:schemeClr val="accent1"/>
          </a:lnRef>
          <a:fillRef idx="3">
            <a:schemeClr val="accent1"/>
          </a:fillRef>
          <a:effectRef idx="2">
            <a:schemeClr val="accent1"/>
          </a:effectRef>
          <a:fontRef idx="minor">
            <a:schemeClr val="lt1"/>
          </a:fontRef>
        </p:style>
        <p:txBody>
          <a:bodyPr wrap="square" rtlCol="0" anchor="t">
            <a:spAutoFit/>
          </a:bodyPr>
          <a:lstStyle/>
          <a:p>
            <a:pPr defTabSz="914400">
              <a:spcBef>
                <a:spcPts val="1200"/>
              </a:spcBef>
              <a:spcAft>
                <a:spcPts val="600"/>
              </a:spcAft>
              <a:buSzPct val="90000"/>
              <a:buFont typeface="Wingdings" panose="05000000000000000000" charset="0"/>
              <a:buChar char="§"/>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使用字典对象的</a:t>
            </a:r>
            <a:r>
              <a:rPr lang="en-US" altLang="x-none" b="1" dirty="0">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items()</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方法可以返回字典的键、值对。</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defTabSz="914400">
              <a:spcBef>
                <a:spcPts val="1200"/>
              </a:spcBef>
              <a:spcAft>
                <a:spcPts val="600"/>
              </a:spcAft>
              <a:buSzPct val="90000"/>
              <a:buFont typeface="Wingdings" panose="05000000000000000000" charset="0"/>
              <a:buChar char="§"/>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使用字典对象的</a:t>
            </a:r>
            <a:r>
              <a:rPr lang="en-US" altLang="x-none" b="1" dirty="0">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keys()</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方法可以返回字典的键。</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defTabSz="914400">
              <a:spcBef>
                <a:spcPts val="1200"/>
              </a:spcBef>
              <a:spcAft>
                <a:spcPts val="600"/>
              </a:spcAft>
              <a:buSzPct val="90000"/>
              <a:buFont typeface="Wingdings" panose="05000000000000000000" charset="0"/>
              <a:buChar char="§"/>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使用字典对象的</a:t>
            </a:r>
            <a:r>
              <a:rPr lang="en-US" altLang="x-none" b="1" dirty="0">
                <a:solidFill>
                  <a:srgbClr val="FFFF00"/>
                </a:solidFill>
                <a:latin typeface="微软雅黑" panose="020B0503020204020204" pitchFamily="34" charset="-122"/>
                <a:ea typeface="微软雅黑" panose="020B0503020204020204" pitchFamily="34" charset="-122"/>
                <a:cs typeface="微软雅黑" panose="020B0503020204020204" pitchFamily="34" charset="-122"/>
                <a:sym typeface="+mn-ea"/>
              </a:rPr>
              <a:t>values()</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方法可以返回字典的值。</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0543" y="750570"/>
            <a:ext cx="8245475" cy="781050"/>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在字典中遍历</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3" name="矩形 2"/>
          <p:cNvSpPr/>
          <p:nvPr/>
        </p:nvSpPr>
        <p:spPr>
          <a:xfrm>
            <a:off x="1130623" y="1773610"/>
            <a:ext cx="4032448" cy="523220"/>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）遍历</a:t>
            </a:r>
            <a:r>
              <a:rPr lang="en-US" altLang="zh-CN" sz="2800" b="1" dirty="0">
                <a:latin typeface="微软雅黑" panose="020B0503020204020204" pitchFamily="34" charset="-122"/>
                <a:ea typeface="微软雅黑" panose="020B0503020204020204" pitchFamily="34" charset="-122"/>
              </a:rPr>
              <a:t>key</a:t>
            </a:r>
            <a:r>
              <a:rPr lang="zh-CN" altLang="en-US" sz="2800" b="1" dirty="0">
                <a:latin typeface="微软雅黑" panose="020B0503020204020204" pitchFamily="34" charset="-122"/>
                <a:ea typeface="微软雅黑" panose="020B0503020204020204" pitchFamily="34" charset="-122"/>
              </a:rPr>
              <a:t>值</a:t>
            </a:r>
          </a:p>
        </p:txBody>
      </p:sp>
      <p:sp>
        <p:nvSpPr>
          <p:cNvPr id="7" name="Rectangle 1"/>
          <p:cNvSpPr>
            <a:spLocks noChangeArrowheads="1"/>
          </p:cNvSpPr>
          <p:nvPr/>
        </p:nvSpPr>
        <p:spPr bwMode="auto">
          <a:xfrm>
            <a:off x="1157077" y="2538820"/>
            <a:ext cx="936104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dictA</a:t>
            </a:r>
            <a:r>
              <a:rPr kumimoji="0" lang="zh-CN" altLang="en-US"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'a'</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'1'</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'b'</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'2'</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'c'</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'3'</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chemeClr val="tx1"/>
                </a:solidFill>
                <a:effectLst/>
              </a:rPr>
              <a:t> </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9" name="Rectangle 2"/>
          <p:cNvSpPr>
            <a:spLocks noChangeArrowheads="1"/>
          </p:cNvSpPr>
          <p:nvPr/>
        </p:nvSpPr>
        <p:spPr bwMode="auto">
          <a:xfrm>
            <a:off x="1130622" y="3314195"/>
            <a:ext cx="7525395" cy="861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for </a:t>
            </a:r>
            <a:r>
              <a:rPr lang="en-US" altLang="zh-CN" sz="2800" b="1" dirty="0">
                <a:solidFill>
                  <a:srgbClr val="000000"/>
                </a:solidFill>
                <a:latin typeface="Courier New" panose="02070309020205020404" pitchFamily="49" charset="0"/>
                <a:cs typeface="Courier New" panose="02070309020205020404" pitchFamily="49" charset="0"/>
              </a:rPr>
              <a:t>k</a:t>
            </a:r>
            <a:r>
              <a:rPr lang="zh-CN" altLang="zh-CN" sz="2800" b="1" dirty="0">
                <a:solidFill>
                  <a:srgbClr val="000000"/>
                </a:solidFill>
                <a:latin typeface="Courier New" panose="02070309020205020404" pitchFamily="49" charset="0"/>
                <a:cs typeface="Courier New" panose="02070309020205020404" pitchFamily="49" charset="0"/>
              </a:rPr>
              <a:t> in </a:t>
            </a:r>
            <a:r>
              <a:rPr lang="en-US" altLang="zh-CN" sz="2800" b="1" dirty="0" err="1">
                <a:solidFill>
                  <a:srgbClr val="000000"/>
                </a:solidFill>
                <a:latin typeface="Courier New" panose="02070309020205020404" pitchFamily="49" charset="0"/>
                <a:cs typeface="Courier New" panose="02070309020205020404" pitchFamily="49" charset="0"/>
              </a:rPr>
              <a:t>dictA</a:t>
            </a:r>
            <a:r>
              <a:rPr lang="zh-CN" altLang="zh-CN" sz="2800" b="1" dirty="0">
                <a:solidFill>
                  <a:srgbClr val="000000"/>
                </a:solidFill>
                <a:latin typeface="Courier New" panose="02070309020205020404" pitchFamily="49" charset="0"/>
                <a:cs typeface="Courier New" panose="02070309020205020404" pitchFamily="49" charset="0"/>
              </a:rPr>
              <a:t>:</a:t>
            </a:r>
          </a:p>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 </a:t>
            </a:r>
            <a:r>
              <a:rPr lang="en-US" altLang="zh-CN" sz="2800" b="1" dirty="0">
                <a:solidFill>
                  <a:srgbClr val="000000"/>
                </a:solidFill>
                <a:latin typeface="Courier New" panose="02070309020205020404" pitchFamily="49" charset="0"/>
                <a:cs typeface="Courier New" panose="02070309020205020404" pitchFamily="49" charset="0"/>
              </a:rPr>
              <a:t>   	</a:t>
            </a:r>
            <a:r>
              <a:rPr lang="zh-CN" altLang="zh-CN" sz="2800" b="1" dirty="0">
                <a:solidFill>
                  <a:srgbClr val="000000"/>
                </a:solidFill>
                <a:latin typeface="Courier New" panose="02070309020205020404" pitchFamily="49" charset="0"/>
                <a:cs typeface="Courier New" panose="02070309020205020404" pitchFamily="49" charset="0"/>
              </a:rPr>
              <a:t>print(k+':'+</a:t>
            </a:r>
            <a:r>
              <a:rPr lang="en-US" altLang="zh-CN" sz="2800" b="1" dirty="0">
                <a:solidFill>
                  <a:srgbClr val="000000"/>
                </a:solidFill>
                <a:latin typeface="Courier New" panose="02070309020205020404" pitchFamily="49" charset="0"/>
                <a:cs typeface="Courier New" panose="02070309020205020404" pitchFamily="49" charset="0"/>
              </a:rPr>
              <a:t> </a:t>
            </a:r>
            <a:r>
              <a:rPr lang="en-US" altLang="zh-CN" sz="2800" b="1" dirty="0" err="1">
                <a:solidFill>
                  <a:srgbClr val="000000"/>
                </a:solidFill>
                <a:latin typeface="Courier New" panose="02070309020205020404" pitchFamily="49" charset="0"/>
                <a:cs typeface="Courier New" panose="02070309020205020404" pitchFamily="49" charset="0"/>
              </a:rPr>
              <a:t>dictA</a:t>
            </a:r>
            <a:r>
              <a:rPr lang="zh-CN" altLang="zh-CN" sz="2800" b="1" dirty="0">
                <a:solidFill>
                  <a:srgbClr val="000000"/>
                </a:solidFill>
                <a:latin typeface="Courier New" panose="02070309020205020404" pitchFamily="49" charset="0"/>
                <a:cs typeface="Courier New" panose="02070309020205020404" pitchFamily="49" charset="0"/>
              </a:rPr>
              <a:t>[k]) </a:t>
            </a:r>
          </a:p>
        </p:txBody>
      </p:sp>
      <p:sp>
        <p:nvSpPr>
          <p:cNvPr id="10" name="Rectangle 3"/>
          <p:cNvSpPr>
            <a:spLocks noChangeArrowheads="1"/>
          </p:cNvSpPr>
          <p:nvPr/>
        </p:nvSpPr>
        <p:spPr bwMode="auto">
          <a:xfrm>
            <a:off x="1157077" y="4546923"/>
            <a:ext cx="2232248"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a:1</a:t>
            </a:r>
            <a:endParaRPr lang="en-US" altLang="zh-CN" sz="2800" b="1" dirty="0">
              <a:solidFill>
                <a:srgbClr val="000000"/>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b:2</a:t>
            </a:r>
            <a:endParaRPr lang="en-US" altLang="zh-CN" sz="2800" b="1" dirty="0">
              <a:solidFill>
                <a:srgbClr val="000000"/>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c:3 </a:t>
            </a:r>
          </a:p>
        </p:txBody>
      </p:sp>
      <p:sp>
        <p:nvSpPr>
          <p:cNvPr id="12" name="Rectangle 1"/>
          <p:cNvSpPr>
            <a:spLocks noChangeArrowheads="1"/>
          </p:cNvSpPr>
          <p:nvPr/>
        </p:nvSpPr>
        <p:spPr bwMode="auto">
          <a:xfrm>
            <a:off x="4803031" y="3314333"/>
            <a:ext cx="7848872" cy="430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 </a:t>
            </a:r>
            <a:r>
              <a:rPr kumimoji="0" lang="zh-CN" altLang="en-US" sz="2800" b="1"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与</a:t>
            </a:r>
            <a:r>
              <a:rPr kumimoji="0" lang="en-US" altLang="zh-CN" sz="2800" b="1"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for k in </a:t>
            </a:r>
            <a:r>
              <a:rPr kumimoji="0" lang="en-US" altLang="zh-CN" sz="2800" b="1" i="0" u="none" strike="noStrike" cap="none" normalizeH="0" baseline="0" dirty="0" err="1">
                <a:ln>
                  <a:noFill/>
                </a:ln>
                <a:solidFill>
                  <a:srgbClr val="FF0000"/>
                </a:solidFill>
                <a:effectLst/>
                <a:latin typeface="Courier New" panose="02070309020205020404" pitchFamily="49" charset="0"/>
                <a:cs typeface="Courier New" panose="02070309020205020404" pitchFamily="49" charset="0"/>
              </a:rPr>
              <a:t>dictA.keys</a:t>
            </a:r>
            <a:r>
              <a:rPr kumimoji="0" lang="en-US" altLang="zh-CN" sz="2800" b="1"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a:t>
            </a:r>
            <a:r>
              <a:rPr kumimoji="0" lang="zh-CN" altLang="en-US" sz="2800" b="1"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完全等价</a:t>
            </a:r>
            <a:endParaRPr kumimoji="0" lang="zh-CN" altLang="zh-CN" sz="2800" b="1" i="0" u="none" strike="noStrike" cap="none" normalizeH="0" baseline="0" dirty="0">
              <a:ln>
                <a:noFill/>
              </a:ln>
              <a:solidFill>
                <a:srgbClr val="FF0000"/>
              </a:solidFill>
              <a:effectLst/>
              <a:latin typeface="Arial" panose="020B0604020202020204" pitchFamily="34" charset="0"/>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bldLvl="0" animBg="1"/>
      <p:bldP spid="10" grpId="0"/>
      <p:bldP spid="12" grpId="0" bldLvl="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0543" y="750570"/>
            <a:ext cx="8245475" cy="781050"/>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在字典中遍历</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矩形 4"/>
          <p:cNvSpPr/>
          <p:nvPr/>
        </p:nvSpPr>
        <p:spPr>
          <a:xfrm>
            <a:off x="1130622" y="1682458"/>
            <a:ext cx="3155479" cy="523220"/>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）遍历</a:t>
            </a:r>
            <a:r>
              <a:rPr lang="en-US" altLang="zh-CN" sz="2800" b="1" dirty="0">
                <a:latin typeface="微软雅黑" panose="020B0503020204020204" pitchFamily="34" charset="-122"/>
                <a:ea typeface="微软雅黑" panose="020B0503020204020204" pitchFamily="34" charset="-122"/>
              </a:rPr>
              <a:t>value</a:t>
            </a:r>
            <a:r>
              <a:rPr lang="zh-CN" altLang="en-US" sz="2800" b="1" dirty="0">
                <a:latin typeface="微软雅黑" panose="020B0503020204020204" pitchFamily="34" charset="-122"/>
                <a:ea typeface="微软雅黑" panose="020B0503020204020204" pitchFamily="34" charset="-122"/>
              </a:rPr>
              <a:t>值</a:t>
            </a:r>
          </a:p>
        </p:txBody>
      </p:sp>
      <p:sp>
        <p:nvSpPr>
          <p:cNvPr id="7" name="Rectangle 1"/>
          <p:cNvSpPr>
            <a:spLocks noChangeArrowheads="1"/>
          </p:cNvSpPr>
          <p:nvPr/>
        </p:nvSpPr>
        <p:spPr bwMode="auto">
          <a:xfrm>
            <a:off x="1261895" y="3394942"/>
            <a:ext cx="7213543" cy="861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for v in </a:t>
            </a:r>
            <a:r>
              <a:rPr lang="en-US" altLang="zh-CN" sz="2800" b="1" dirty="0" err="1">
                <a:solidFill>
                  <a:srgbClr val="000000"/>
                </a:solidFill>
                <a:latin typeface="Courier New" panose="02070309020205020404" pitchFamily="49" charset="0"/>
                <a:cs typeface="Courier New" panose="02070309020205020404" pitchFamily="49" charset="0"/>
              </a:rPr>
              <a:t>dictA</a:t>
            </a:r>
            <a:r>
              <a:rPr lang="zh-CN" altLang="zh-CN" sz="2800" b="1" dirty="0">
                <a:solidFill>
                  <a:srgbClr val="000000"/>
                </a:solidFill>
                <a:latin typeface="Courier New" panose="02070309020205020404" pitchFamily="49" charset="0"/>
                <a:cs typeface="Courier New" panose="02070309020205020404" pitchFamily="49" charset="0"/>
              </a:rPr>
              <a:t>.values():</a:t>
            </a:r>
          </a:p>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 </a:t>
            </a:r>
            <a:r>
              <a:rPr lang="en-US" altLang="zh-CN" sz="2800" b="1" dirty="0">
                <a:solidFill>
                  <a:srgbClr val="000000"/>
                </a:solidFill>
                <a:latin typeface="Courier New" panose="02070309020205020404" pitchFamily="49" charset="0"/>
                <a:cs typeface="Courier New" panose="02070309020205020404" pitchFamily="49" charset="0"/>
              </a:rPr>
              <a:t>	</a:t>
            </a:r>
            <a:r>
              <a:rPr lang="zh-CN" altLang="zh-CN" sz="2800" b="1" dirty="0">
                <a:solidFill>
                  <a:srgbClr val="000000"/>
                </a:solidFill>
                <a:latin typeface="Courier New" panose="02070309020205020404" pitchFamily="49" charset="0"/>
                <a:cs typeface="Courier New" panose="02070309020205020404" pitchFamily="49" charset="0"/>
              </a:rPr>
              <a:t>print(v) </a:t>
            </a:r>
          </a:p>
        </p:txBody>
      </p:sp>
      <p:sp>
        <p:nvSpPr>
          <p:cNvPr id="10" name="Rectangle 1"/>
          <p:cNvSpPr>
            <a:spLocks noChangeArrowheads="1"/>
          </p:cNvSpPr>
          <p:nvPr/>
        </p:nvSpPr>
        <p:spPr bwMode="auto">
          <a:xfrm>
            <a:off x="1286074" y="2409830"/>
            <a:ext cx="936104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dictA</a:t>
            </a:r>
            <a:r>
              <a:rPr kumimoji="0" lang="zh-CN" altLang="en-US"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'a'</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'1'</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'b'</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'2'</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'c'</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'3'</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chemeClr val="tx1"/>
                </a:solidFill>
                <a:effectLst/>
              </a:rPr>
              <a:t> </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11" name="Rectangle 3"/>
          <p:cNvSpPr>
            <a:spLocks noChangeArrowheads="1"/>
          </p:cNvSpPr>
          <p:nvPr/>
        </p:nvSpPr>
        <p:spPr bwMode="auto">
          <a:xfrm>
            <a:off x="1157077" y="4546923"/>
            <a:ext cx="2232248"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1</a:t>
            </a:r>
            <a:endParaRPr lang="en-US" altLang="zh-CN" sz="2800" b="1" dirty="0">
              <a:solidFill>
                <a:srgbClr val="000000"/>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2</a:t>
            </a:r>
            <a:endParaRPr lang="en-US" altLang="zh-CN" sz="2800" b="1" dirty="0">
              <a:solidFill>
                <a:srgbClr val="000000"/>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3 </a:t>
            </a:r>
          </a:p>
        </p:txBody>
      </p:sp>
      <p:sp>
        <p:nvSpPr>
          <p:cNvPr id="9" name="矩形标注 8"/>
          <p:cNvSpPr/>
          <p:nvPr/>
        </p:nvSpPr>
        <p:spPr>
          <a:xfrm>
            <a:off x="7179295" y="3645818"/>
            <a:ext cx="3467820" cy="1080120"/>
          </a:xfrm>
          <a:prstGeom prst="wedgeRectCallout">
            <a:avLst>
              <a:gd name="adj1" fmla="val -88090"/>
              <a:gd name="adj2" fmla="val -40114"/>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algn="just"/>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for v in </a:t>
            </a:r>
            <a:r>
              <a:rPr lang="en-US" altLang="zh-CN"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dictA</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a:p>
            <a:pPr algn="just"/>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思考结果？</a:t>
            </a:r>
          </a:p>
        </p:txBody>
      </p:sp>
      <p:sp>
        <p:nvSpPr>
          <p:cNvPr id="12" name="矩形标注 11"/>
          <p:cNvSpPr/>
          <p:nvPr/>
        </p:nvSpPr>
        <p:spPr>
          <a:xfrm>
            <a:off x="7179295" y="4820299"/>
            <a:ext cx="3467820" cy="1535159"/>
          </a:xfrm>
          <a:prstGeom prst="wedgeRectCallout">
            <a:avLst>
              <a:gd name="adj1" fmla="val -50309"/>
              <a:gd name="adj2" fmla="val -2368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algn="just"/>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输出为</a:t>
            </a:r>
            <a:endPar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a</a:t>
            </a:r>
          </a:p>
          <a:p>
            <a:pPr algn="just"/>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b</a:t>
            </a:r>
          </a:p>
          <a:p>
            <a:pPr algn="just"/>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c</a:t>
            </a:r>
            <a:endPar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up)">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0" grpId="0"/>
      <p:bldP spid="11" grpId="0"/>
      <p:bldP spid="9" grpId="0" animBg="1"/>
      <p:bldP spid="12"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0543" y="750570"/>
            <a:ext cx="8245475" cy="781050"/>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在字典中遍历</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6" name="矩形 5"/>
          <p:cNvSpPr/>
          <p:nvPr/>
        </p:nvSpPr>
        <p:spPr>
          <a:xfrm>
            <a:off x="1130623" y="1701602"/>
            <a:ext cx="2919389" cy="523220"/>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3</a:t>
            </a:r>
            <a:r>
              <a:rPr lang="zh-CN" altLang="en-US" sz="2800" b="1" dirty="0">
                <a:latin typeface="微软雅黑" panose="020B0503020204020204" pitchFamily="34" charset="-122"/>
                <a:ea typeface="微软雅黑" panose="020B0503020204020204" pitchFamily="34" charset="-122"/>
              </a:rPr>
              <a:t>）遍历字典项</a:t>
            </a:r>
          </a:p>
        </p:txBody>
      </p:sp>
      <p:sp>
        <p:nvSpPr>
          <p:cNvPr id="7" name="Rectangle 1"/>
          <p:cNvSpPr>
            <a:spLocks noChangeArrowheads="1"/>
          </p:cNvSpPr>
          <p:nvPr/>
        </p:nvSpPr>
        <p:spPr bwMode="auto">
          <a:xfrm>
            <a:off x="1251846" y="3211494"/>
            <a:ext cx="6763417"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for kv in </a:t>
            </a:r>
            <a:r>
              <a:rPr lang="en-US" altLang="zh-CN" sz="2800" b="1" dirty="0" err="1">
                <a:solidFill>
                  <a:srgbClr val="000000"/>
                </a:solidFill>
                <a:latin typeface="Courier New" panose="02070309020205020404" pitchFamily="49" charset="0"/>
                <a:cs typeface="Courier New" panose="02070309020205020404" pitchFamily="49" charset="0"/>
              </a:rPr>
              <a:t>dictA</a:t>
            </a:r>
            <a:r>
              <a:rPr lang="zh-CN" altLang="zh-CN" sz="2800" b="1" dirty="0">
                <a:solidFill>
                  <a:srgbClr val="000000"/>
                </a:solidFill>
                <a:latin typeface="Courier New" panose="02070309020205020404" pitchFamily="49" charset="0"/>
                <a:cs typeface="Courier New" panose="02070309020205020404" pitchFamily="49" charset="0"/>
              </a:rPr>
              <a:t>.items():</a:t>
            </a:r>
            <a:endParaRPr lang="en-US" altLang="zh-CN" sz="2800" b="1" dirty="0">
              <a:solidFill>
                <a:srgbClr val="000000"/>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en-US" altLang="zh-CN" sz="2800" b="1" dirty="0">
                <a:solidFill>
                  <a:srgbClr val="000000"/>
                </a:solidFill>
                <a:latin typeface="Courier New" panose="02070309020205020404" pitchFamily="49" charset="0"/>
                <a:cs typeface="Courier New" panose="02070309020205020404" pitchFamily="49" charset="0"/>
              </a:rPr>
              <a:t>	</a:t>
            </a:r>
            <a:r>
              <a:rPr lang="zh-CN" altLang="zh-CN" sz="2800" b="1" dirty="0">
                <a:solidFill>
                  <a:srgbClr val="000000"/>
                </a:solidFill>
                <a:latin typeface="Courier New" panose="02070309020205020404" pitchFamily="49" charset="0"/>
                <a:cs typeface="Courier New" panose="02070309020205020404" pitchFamily="49" charset="0"/>
              </a:rPr>
              <a:t>print(kv) </a:t>
            </a:r>
          </a:p>
        </p:txBody>
      </p:sp>
      <p:sp>
        <p:nvSpPr>
          <p:cNvPr id="10" name="Rectangle 1"/>
          <p:cNvSpPr>
            <a:spLocks noChangeArrowheads="1"/>
          </p:cNvSpPr>
          <p:nvPr/>
        </p:nvSpPr>
        <p:spPr bwMode="auto">
          <a:xfrm>
            <a:off x="1286074" y="2409830"/>
            <a:ext cx="936104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dictA</a:t>
            </a:r>
            <a:r>
              <a:rPr kumimoji="0" lang="zh-CN" altLang="en-US"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'a'</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'1'</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'b'</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'2'</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'c'</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'3'</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chemeClr val="tx1"/>
                </a:solidFill>
                <a:effectLst/>
              </a:rPr>
              <a:t> </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9" name="Rectangle 2"/>
          <p:cNvSpPr>
            <a:spLocks noChangeArrowheads="1"/>
          </p:cNvSpPr>
          <p:nvPr/>
        </p:nvSpPr>
        <p:spPr bwMode="auto">
          <a:xfrm>
            <a:off x="1060867" y="4523509"/>
            <a:ext cx="7088479"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('a', '1') </a:t>
            </a:r>
            <a:endParaRPr lang="en-US" altLang="zh-CN" sz="2800" b="1" dirty="0">
              <a:solidFill>
                <a:srgbClr val="000000"/>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('b', '2')</a:t>
            </a:r>
            <a:endParaRPr lang="en-US" altLang="zh-CN" sz="2800" b="1" dirty="0">
              <a:solidFill>
                <a:srgbClr val="000000"/>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('c', '3') </a:t>
            </a:r>
          </a:p>
        </p:txBody>
      </p:sp>
      <p:sp>
        <p:nvSpPr>
          <p:cNvPr id="8" name="矩形标注 7"/>
          <p:cNvSpPr/>
          <p:nvPr/>
        </p:nvSpPr>
        <p:spPr>
          <a:xfrm>
            <a:off x="4681526" y="4629780"/>
            <a:ext cx="3467820" cy="1080120"/>
          </a:xfrm>
          <a:prstGeom prst="wedgeRectCallout">
            <a:avLst>
              <a:gd name="adj1" fmla="val -88090"/>
              <a:gd name="adj2" fmla="val -40114"/>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algn="just"/>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输出的是元组</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9" grpId="0"/>
      <p:bldP spid="8"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0543" y="750570"/>
            <a:ext cx="8245475" cy="781050"/>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在字典中遍历</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8" name="矩形 7"/>
          <p:cNvSpPr/>
          <p:nvPr/>
        </p:nvSpPr>
        <p:spPr>
          <a:xfrm>
            <a:off x="1058615" y="1701602"/>
            <a:ext cx="3744417" cy="523220"/>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4</a:t>
            </a:r>
            <a:r>
              <a:rPr lang="zh-CN" altLang="en-US" sz="2800" b="1" dirty="0">
                <a:latin typeface="微软雅黑" panose="020B0503020204020204" pitchFamily="34" charset="-122"/>
                <a:ea typeface="微软雅黑" panose="020B0503020204020204" pitchFamily="34" charset="-122"/>
              </a:rPr>
              <a:t>）遍历字典健值</a:t>
            </a:r>
          </a:p>
        </p:txBody>
      </p:sp>
      <p:sp>
        <p:nvSpPr>
          <p:cNvPr id="9" name="Rectangle 1"/>
          <p:cNvSpPr>
            <a:spLocks noChangeArrowheads="1"/>
          </p:cNvSpPr>
          <p:nvPr/>
        </p:nvSpPr>
        <p:spPr bwMode="auto">
          <a:xfrm>
            <a:off x="1286074" y="2409830"/>
            <a:ext cx="936104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dictA</a:t>
            </a:r>
            <a:r>
              <a:rPr kumimoji="0" lang="zh-CN" altLang="en-US"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'a'</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'1'</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'b'</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'2'</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'c'</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zh-CN" altLang="zh-CN" sz="2800" b="1" i="0" u="none" strike="noStrike" cap="none" normalizeH="0" baseline="0" dirty="0">
                <a:ln>
                  <a:noFill/>
                </a:ln>
                <a:solidFill>
                  <a:srgbClr val="800000"/>
                </a:solidFill>
                <a:effectLst/>
                <a:latin typeface="Courier New" panose="02070309020205020404" pitchFamily="49" charset="0"/>
                <a:cs typeface="Courier New" panose="02070309020205020404" pitchFamily="49" charset="0"/>
              </a:rPr>
              <a:t>'3'</a:t>
            </a:r>
            <a:r>
              <a:rPr kumimoji="0" lang="zh-CN" altLang="zh-CN" sz="28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zh-CN" altLang="zh-CN" sz="2800" b="1" i="0" u="none" strike="noStrike" cap="none" normalizeH="0" baseline="0" dirty="0">
                <a:ln>
                  <a:noFill/>
                </a:ln>
                <a:solidFill>
                  <a:schemeClr val="tx1"/>
                </a:solidFill>
                <a:effectLst/>
              </a:rPr>
              <a:t> </a:t>
            </a:r>
            <a:endParaRPr kumimoji="0" lang="zh-CN" altLang="zh-CN" sz="2800" b="1"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1286074" y="3185205"/>
            <a:ext cx="10525317" cy="861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for k,v in </a:t>
            </a:r>
            <a:r>
              <a:rPr lang="en-US" altLang="zh-CN" sz="2800" b="1" dirty="0" err="1">
                <a:solidFill>
                  <a:srgbClr val="000000"/>
                </a:solidFill>
                <a:latin typeface="Courier New" panose="02070309020205020404" pitchFamily="49" charset="0"/>
                <a:cs typeface="Courier New" panose="02070309020205020404" pitchFamily="49" charset="0"/>
              </a:rPr>
              <a:t>dictA</a:t>
            </a:r>
            <a:r>
              <a:rPr lang="zh-CN" altLang="zh-CN" sz="2800" b="1" dirty="0">
                <a:solidFill>
                  <a:srgbClr val="000000"/>
                </a:solidFill>
                <a:latin typeface="Courier New" panose="02070309020205020404" pitchFamily="49" charset="0"/>
                <a:cs typeface="Courier New" panose="02070309020205020404" pitchFamily="49" charset="0"/>
              </a:rPr>
              <a:t>.items(): </a:t>
            </a:r>
            <a:endParaRPr lang="en-US" altLang="zh-CN" sz="2800" b="1" dirty="0">
              <a:solidFill>
                <a:srgbClr val="000000"/>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en-US" altLang="zh-CN" sz="2800" b="1" dirty="0">
                <a:solidFill>
                  <a:srgbClr val="000000"/>
                </a:solidFill>
                <a:latin typeface="Courier New" panose="02070309020205020404" pitchFamily="49" charset="0"/>
                <a:cs typeface="Courier New" panose="02070309020205020404" pitchFamily="49" charset="0"/>
              </a:rPr>
              <a:t>	</a:t>
            </a:r>
            <a:r>
              <a:rPr lang="zh-CN" altLang="zh-CN" sz="2800" b="1" dirty="0">
                <a:solidFill>
                  <a:srgbClr val="000000"/>
                </a:solidFill>
                <a:latin typeface="Courier New" panose="02070309020205020404" pitchFamily="49" charset="0"/>
                <a:cs typeface="Courier New" panose="02070309020205020404" pitchFamily="49" charset="0"/>
              </a:rPr>
              <a:t>print(</a:t>
            </a:r>
            <a:r>
              <a:rPr lang="en-US" altLang="zh-CN" sz="2800" b="1" dirty="0">
                <a:solidFill>
                  <a:srgbClr val="000000"/>
                </a:solidFill>
                <a:latin typeface="Courier New" panose="02070309020205020404" pitchFamily="49" charset="0"/>
                <a:cs typeface="Courier New" panose="02070309020205020404" pitchFamily="49" charset="0"/>
              </a:rPr>
              <a:t>k</a:t>
            </a:r>
            <a:r>
              <a:rPr lang="zh-CN" altLang="zh-CN" sz="2800" b="1" dirty="0">
                <a:solidFill>
                  <a:srgbClr val="000000"/>
                </a:solidFill>
                <a:latin typeface="Courier New" panose="02070309020205020404" pitchFamily="49" charset="0"/>
                <a:cs typeface="Courier New" panose="02070309020205020404" pitchFamily="49" charset="0"/>
              </a:rPr>
              <a:t>+':'+</a:t>
            </a:r>
            <a:r>
              <a:rPr lang="en-US" altLang="zh-CN" sz="2800" b="1" dirty="0">
                <a:solidFill>
                  <a:srgbClr val="000000"/>
                </a:solidFill>
                <a:latin typeface="Courier New" panose="02070309020205020404" pitchFamily="49" charset="0"/>
                <a:cs typeface="Courier New" panose="02070309020205020404" pitchFamily="49" charset="0"/>
              </a:rPr>
              <a:t>v</a:t>
            </a:r>
            <a:r>
              <a:rPr lang="zh-CN" altLang="zh-CN" sz="2800" b="1" dirty="0">
                <a:solidFill>
                  <a:srgbClr val="000000"/>
                </a:solidFill>
                <a:latin typeface="Courier New" panose="02070309020205020404" pitchFamily="49" charset="0"/>
                <a:cs typeface="Courier New" panose="02070309020205020404" pitchFamily="49" charset="0"/>
              </a:rPr>
              <a:t>) </a:t>
            </a:r>
          </a:p>
        </p:txBody>
      </p:sp>
      <p:sp>
        <p:nvSpPr>
          <p:cNvPr id="10" name="Rectangle 2"/>
          <p:cNvSpPr>
            <a:spLocks noChangeArrowheads="1"/>
          </p:cNvSpPr>
          <p:nvPr/>
        </p:nvSpPr>
        <p:spPr bwMode="auto">
          <a:xfrm>
            <a:off x="1371052" y="4539562"/>
            <a:ext cx="2577629"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a:1 </a:t>
            </a:r>
            <a:endParaRPr lang="en-US" altLang="zh-CN" sz="2800" b="1" dirty="0">
              <a:solidFill>
                <a:srgbClr val="000000"/>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b:2 </a:t>
            </a:r>
            <a:endParaRPr lang="en-US" altLang="zh-CN" sz="2800" b="1" dirty="0">
              <a:solidFill>
                <a:srgbClr val="000000"/>
              </a:solidFill>
              <a:latin typeface="Courier New" panose="02070309020205020404" pitchFamily="49" charset="0"/>
              <a:cs typeface="Courier New" panose="02070309020205020404" pitchFamily="49" charset="0"/>
            </a:endParaRPr>
          </a:p>
          <a:p>
            <a:pPr defTabSz="914400" eaLnBrk="0" fontAlgn="base" hangingPunct="0">
              <a:spcBef>
                <a:spcPct val="0"/>
              </a:spcBef>
              <a:spcAft>
                <a:spcPct val="0"/>
              </a:spcAft>
            </a:pPr>
            <a:r>
              <a:rPr lang="zh-CN" altLang="zh-CN" sz="2800" b="1" dirty="0">
                <a:solidFill>
                  <a:srgbClr val="000000"/>
                </a:solidFill>
                <a:latin typeface="Courier New" panose="02070309020205020404" pitchFamily="49" charset="0"/>
                <a:cs typeface="Courier New" panose="02070309020205020404" pitchFamily="49" charset="0"/>
              </a:rPr>
              <a:t>c:3 </a:t>
            </a:r>
          </a:p>
        </p:txBody>
      </p:sp>
      <p:sp>
        <p:nvSpPr>
          <p:cNvPr id="12" name="Rectangle 1"/>
          <p:cNvSpPr>
            <a:spLocks noChangeArrowheads="1"/>
          </p:cNvSpPr>
          <p:nvPr/>
        </p:nvSpPr>
        <p:spPr bwMode="auto">
          <a:xfrm>
            <a:off x="2570783" y="4524867"/>
            <a:ext cx="9128720" cy="430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 </a:t>
            </a:r>
            <a:r>
              <a:rPr kumimoji="0" lang="zh-CN" altLang="en-US" sz="2800" b="1"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与</a:t>
            </a:r>
            <a:r>
              <a:rPr kumimoji="0" lang="en-US" altLang="zh-CN" sz="2800" b="1"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for (</a:t>
            </a:r>
            <a:r>
              <a:rPr kumimoji="0" lang="en-US" altLang="zh-CN" sz="2800" b="1" i="0" u="none" strike="noStrike" cap="none" normalizeH="0" baseline="0" dirty="0" err="1">
                <a:ln>
                  <a:noFill/>
                </a:ln>
                <a:solidFill>
                  <a:srgbClr val="FF0000"/>
                </a:solidFill>
                <a:effectLst/>
                <a:latin typeface="Courier New" panose="02070309020205020404" pitchFamily="49" charset="0"/>
                <a:cs typeface="Courier New" panose="02070309020205020404" pitchFamily="49" charset="0"/>
              </a:rPr>
              <a:t>k,v</a:t>
            </a:r>
            <a:r>
              <a:rPr kumimoji="0" lang="en-US" altLang="zh-CN" sz="2800" b="1"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 in </a:t>
            </a:r>
            <a:r>
              <a:rPr kumimoji="0" lang="en-US" altLang="zh-CN" sz="2800" b="1" i="0" u="none" strike="noStrike" cap="none" normalizeH="0" baseline="0" dirty="0" err="1">
                <a:ln>
                  <a:noFill/>
                </a:ln>
                <a:solidFill>
                  <a:srgbClr val="FF0000"/>
                </a:solidFill>
                <a:effectLst/>
                <a:latin typeface="Courier New" panose="02070309020205020404" pitchFamily="49" charset="0"/>
                <a:cs typeface="Courier New" panose="02070309020205020404" pitchFamily="49" charset="0"/>
              </a:rPr>
              <a:t>dictA.items</a:t>
            </a:r>
            <a:r>
              <a:rPr kumimoji="0" lang="en-US" altLang="zh-CN" sz="2800" b="1"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a:t>
            </a:r>
            <a:r>
              <a:rPr kumimoji="0" lang="zh-CN" altLang="en-US" sz="2800" b="1" i="0" u="none" strike="noStrike" cap="none" normalizeH="0" baseline="0" dirty="0">
                <a:ln>
                  <a:noFill/>
                </a:ln>
                <a:solidFill>
                  <a:srgbClr val="FF0000"/>
                </a:solidFill>
                <a:effectLst/>
                <a:latin typeface="Courier New" panose="02070309020205020404" pitchFamily="49" charset="0"/>
                <a:cs typeface="Courier New" panose="02070309020205020404" pitchFamily="49" charset="0"/>
              </a:rPr>
              <a:t>完全等价</a:t>
            </a:r>
            <a:endParaRPr kumimoji="0" lang="zh-CN" altLang="zh-CN" sz="2800" b="1" i="0" u="none" strike="noStrike" cap="none" normalizeH="0" baseline="0" dirty="0">
              <a:ln>
                <a:noFill/>
              </a:ln>
              <a:solidFill>
                <a:srgbClr val="FF0000"/>
              </a:solidFill>
              <a:effectLst/>
              <a:latin typeface="Arial" panose="020B0604020202020204" pitchFamily="34" charset="0"/>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bldLvl="0" animBg="1"/>
      <p:bldP spid="10" grpId="0"/>
      <p:bldP spid="12" grpId="0" bldLvl="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6528" y="857370"/>
            <a:ext cx="2160240" cy="66161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练习：</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7" name="内容占位符 2"/>
          <p:cNvSpPr>
            <a:spLocks noGrp="1"/>
          </p:cNvSpPr>
          <p:nvPr/>
        </p:nvSpPr>
        <p:spPr>
          <a:xfrm>
            <a:off x="761533" y="1598360"/>
            <a:ext cx="10657184" cy="172893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r>
              <a:rPr lang="zh-CN" altLang="en-US" dirty="0"/>
              <a:t>“数字计数”程序怎么写？该程序的功能是：</a:t>
            </a:r>
            <a:endParaRPr lang="en-US" altLang="zh-CN" dirty="0"/>
          </a:p>
          <a:p>
            <a:pPr lvl="1"/>
            <a:r>
              <a:rPr lang="zh-CN" altLang="en-US" dirty="0"/>
              <a:t>输入一组整数，比如</a:t>
            </a:r>
            <a:r>
              <a:rPr lang="en-US" altLang="zh-CN" dirty="0"/>
              <a:t>3, 2, 55, 2, 3, 1, 9</a:t>
            </a:r>
            <a:r>
              <a:rPr lang="zh-CN" altLang="en-US" dirty="0"/>
              <a:t>，求各个数字出现的次数。</a:t>
            </a:r>
            <a:endParaRPr lang="en-US" altLang="zh-CN" dirty="0"/>
          </a:p>
          <a:p>
            <a:pPr lvl="1"/>
            <a:r>
              <a:rPr lang="zh-CN" altLang="en-US" dirty="0"/>
              <a:t>所给出的例子中，</a:t>
            </a:r>
            <a:r>
              <a:rPr lang="en-US" altLang="zh-CN" dirty="0"/>
              <a:t>3</a:t>
            </a:r>
            <a:r>
              <a:rPr lang="zh-CN" altLang="en-US" dirty="0"/>
              <a:t>出现</a:t>
            </a:r>
            <a:r>
              <a:rPr lang="en-US" altLang="zh-CN" dirty="0"/>
              <a:t>2</a:t>
            </a:r>
            <a:r>
              <a:rPr lang="zh-CN" altLang="en-US" dirty="0"/>
              <a:t>次，</a:t>
            </a:r>
            <a:r>
              <a:rPr lang="en-US" altLang="zh-CN" dirty="0"/>
              <a:t>2</a:t>
            </a:r>
            <a:r>
              <a:rPr lang="zh-CN" altLang="en-US" dirty="0"/>
              <a:t>出现</a:t>
            </a:r>
            <a:r>
              <a:rPr lang="en-US" altLang="zh-CN" dirty="0"/>
              <a:t>2</a:t>
            </a:r>
            <a:r>
              <a:rPr lang="zh-CN" altLang="en-US" dirty="0"/>
              <a:t>次，其余各</a:t>
            </a:r>
            <a:r>
              <a:rPr lang="en-US" altLang="zh-CN" dirty="0"/>
              <a:t>1</a:t>
            </a:r>
            <a:r>
              <a:rPr lang="zh-CN" altLang="en-US" dirty="0"/>
              <a:t>次。</a:t>
            </a:r>
          </a:p>
        </p:txBody>
      </p:sp>
      <p:sp>
        <p:nvSpPr>
          <p:cNvPr id="8" name="标题 1"/>
          <p:cNvSpPr txBox="1"/>
          <p:nvPr/>
        </p:nvSpPr>
        <p:spPr>
          <a:xfrm>
            <a:off x="266528" y="3327298"/>
            <a:ext cx="2880297" cy="66161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解题思路：</a:t>
            </a:r>
          </a:p>
        </p:txBody>
      </p:sp>
      <p:sp>
        <p:nvSpPr>
          <p:cNvPr id="3" name="矩形 2"/>
          <p:cNvSpPr/>
          <p:nvPr/>
        </p:nvSpPr>
        <p:spPr>
          <a:xfrm>
            <a:off x="761533" y="4271406"/>
            <a:ext cx="10306194" cy="1557349"/>
          </a:xfrm>
          <a:prstGeom prst="rect">
            <a:avLst/>
          </a:prstGeom>
        </p:spPr>
        <p:txBody>
          <a:bodyPr wrap="square">
            <a:spAutoFit/>
          </a:bodyPr>
          <a:lstStyle/>
          <a:p>
            <a:pPr marL="457200" lvl="1" defTabSz="914400">
              <a:spcBef>
                <a:spcPct val="20000"/>
              </a:spcBef>
            </a:pPr>
            <a:r>
              <a:rPr lang="en-US" altLang="zh-CN" sz="2800" b="1" dirty="0">
                <a:cs typeface="Tahoma" panose="020B0604030504040204" pitchFamily="34" charset="0"/>
              </a:rPr>
              <a:t>1</a:t>
            </a:r>
            <a:r>
              <a:rPr lang="zh-CN" altLang="en-US" sz="2800" b="1" dirty="0">
                <a:cs typeface="Tahoma" panose="020B0604030504040204" pitchFamily="34" charset="0"/>
              </a:rPr>
              <a:t>、输入一组整数</a:t>
            </a:r>
            <a:r>
              <a:rPr lang="en-US" altLang="zh-CN" sz="2800" b="1" dirty="0" err="1">
                <a:cs typeface="Tahoma" panose="020B0604030504040204" pitchFamily="34" charset="0"/>
              </a:rPr>
              <a:t>num_list</a:t>
            </a:r>
            <a:r>
              <a:rPr lang="zh-CN" altLang="en-US" sz="2800" b="1" dirty="0">
                <a:cs typeface="Tahoma" panose="020B0604030504040204" pitchFamily="34" charset="0"/>
              </a:rPr>
              <a:t>。</a:t>
            </a:r>
            <a:endParaRPr lang="en-US" altLang="zh-CN" sz="2800" b="1" dirty="0">
              <a:cs typeface="Tahoma" panose="020B0604030504040204" pitchFamily="34" charset="0"/>
            </a:endParaRPr>
          </a:p>
          <a:p>
            <a:pPr marL="457200" lvl="1" defTabSz="914400">
              <a:spcBef>
                <a:spcPct val="20000"/>
              </a:spcBef>
            </a:pPr>
            <a:r>
              <a:rPr lang="en-US" altLang="zh-CN" sz="2800" b="1" dirty="0">
                <a:cs typeface="Tahoma" panose="020B0604030504040204" pitchFamily="34" charset="0"/>
              </a:rPr>
              <a:t>2</a:t>
            </a:r>
            <a:r>
              <a:rPr lang="zh-CN" altLang="en-US" sz="2800" b="1" dirty="0">
                <a:cs typeface="Tahoma" panose="020B0604030504040204" pitchFamily="34" charset="0"/>
              </a:rPr>
              <a:t>、遍历</a:t>
            </a:r>
            <a:r>
              <a:rPr lang="en-US" altLang="zh-CN" sz="2800" b="1" dirty="0" err="1">
                <a:cs typeface="Tahoma" panose="020B0604030504040204" pitchFamily="34" charset="0"/>
              </a:rPr>
              <a:t>num_list</a:t>
            </a:r>
            <a:r>
              <a:rPr lang="zh-CN" altLang="en-US" sz="2800" b="1" dirty="0">
                <a:cs typeface="Tahoma" panose="020B0604030504040204" pitchFamily="34" charset="0"/>
              </a:rPr>
              <a:t>，统计每个整数的出现次数。</a:t>
            </a:r>
            <a:endParaRPr lang="en-US" altLang="zh-CN" sz="2800" b="1" dirty="0">
              <a:cs typeface="Tahoma" panose="020B0604030504040204" pitchFamily="34" charset="0"/>
            </a:endParaRPr>
          </a:p>
          <a:p>
            <a:pPr marL="457200" lvl="1" defTabSz="914400">
              <a:spcBef>
                <a:spcPct val="20000"/>
              </a:spcBef>
            </a:pPr>
            <a:r>
              <a:rPr lang="en-US" altLang="zh-CN" sz="2800" b="1" dirty="0">
                <a:cs typeface="Tahoma" panose="020B0604030504040204" pitchFamily="34" charset="0"/>
              </a:rPr>
              <a:t>3</a:t>
            </a:r>
            <a:r>
              <a:rPr lang="zh-CN" altLang="en-US" sz="2800" b="1" dirty="0">
                <a:cs typeface="Tahoma" panose="020B0604030504040204" pitchFamily="34" charset="0"/>
              </a:rPr>
              <a:t>、输出各个整数及其出现次数。</a:t>
            </a:r>
          </a:p>
        </p:txBody>
      </p:sp>
      <p:sp>
        <p:nvSpPr>
          <p:cNvPr id="5" name="线形标注 2 4"/>
          <p:cNvSpPr/>
          <p:nvPr/>
        </p:nvSpPr>
        <p:spPr>
          <a:xfrm>
            <a:off x="7827367" y="3406673"/>
            <a:ext cx="4032448" cy="1229810"/>
          </a:xfrm>
          <a:prstGeom prst="borderCallout2">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indent="-342900" algn="just">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用字典存储各个整数的出现次数。</a:t>
            </a:r>
            <a:endPar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整数是键，出现次数是值。</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5"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66527" y="857370"/>
            <a:ext cx="3024335" cy="66161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参考答案：</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9" name="内容占位符 2"/>
          <p:cNvSpPr txBox="1"/>
          <p:nvPr/>
        </p:nvSpPr>
        <p:spPr>
          <a:xfrm>
            <a:off x="626567" y="1845618"/>
            <a:ext cx="10217232" cy="3672408"/>
          </a:xfrm>
          <a:prstGeom prst="rect">
            <a:avLst/>
          </a:prstGeom>
          <a:solidFill>
            <a:schemeClr val="bg1">
              <a:lumMod val="95000"/>
            </a:schemeClr>
          </a:solidFill>
          <a:ln w="12700">
            <a:solidFill>
              <a:schemeClr val="tx1"/>
            </a:solid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800" i="1" dirty="0"/>
              <a:t>#</a:t>
            </a:r>
            <a:r>
              <a:rPr lang="zh-CN" altLang="en-US" sz="2800" i="1" dirty="0"/>
              <a:t>例</a:t>
            </a:r>
            <a:r>
              <a:rPr lang="en-US" altLang="zh-CN" sz="2800" i="1" dirty="0"/>
              <a:t>  </a:t>
            </a:r>
            <a:r>
              <a:rPr lang="zh-CN" altLang="en-US" sz="2800" i="1" dirty="0"/>
              <a:t>数字计数</a:t>
            </a:r>
            <a:endParaRPr lang="en-US" altLang="zh-CN" sz="2800" i="1" dirty="0"/>
          </a:p>
          <a:p>
            <a:pPr marL="0" indent="0">
              <a:buNone/>
            </a:pPr>
            <a:r>
              <a:rPr lang="en-US" altLang="zh-CN" sz="2800" i="1" dirty="0"/>
              <a:t>#</a:t>
            </a:r>
            <a:r>
              <a:rPr lang="zh-CN" altLang="en-US" sz="2800" i="1" dirty="0"/>
              <a:t>步骤</a:t>
            </a:r>
            <a:r>
              <a:rPr lang="en-US" altLang="zh-CN" sz="2800" i="1" dirty="0"/>
              <a:t>1. </a:t>
            </a:r>
            <a:r>
              <a:rPr lang="zh-CN" altLang="en-US" sz="2800" i="1" dirty="0"/>
              <a:t>输入一组整数</a:t>
            </a:r>
            <a:br>
              <a:rPr lang="zh-CN" altLang="en-US" sz="2800" i="1" dirty="0"/>
            </a:br>
            <a:r>
              <a:rPr lang="en-US" altLang="zh-CN" sz="2800" dirty="0" err="1"/>
              <a:t>num_line</a:t>
            </a:r>
            <a:r>
              <a:rPr lang="en-US" altLang="zh-CN" sz="2800" dirty="0"/>
              <a:t> = input(</a:t>
            </a:r>
            <a:r>
              <a:rPr lang="en-US" altLang="zh-CN" sz="2800" b="1" dirty="0"/>
              <a:t>"</a:t>
            </a:r>
            <a:r>
              <a:rPr lang="zh-CN" altLang="en-US" sz="2800" b="1" dirty="0"/>
              <a:t>在一行中输入一组整数（用空格隔开）：</a:t>
            </a:r>
            <a:r>
              <a:rPr lang="en-US" altLang="zh-CN" sz="2800" b="1" dirty="0"/>
              <a:t>"</a:t>
            </a:r>
            <a:r>
              <a:rPr lang="en-US" altLang="zh-CN" sz="2800" dirty="0"/>
              <a:t>)</a:t>
            </a:r>
            <a:br>
              <a:rPr lang="en-US" altLang="zh-CN" sz="2800" dirty="0"/>
            </a:br>
            <a:r>
              <a:rPr lang="en-US" altLang="zh-CN" sz="2800" b="1" dirty="0" err="1">
                <a:solidFill>
                  <a:srgbClr val="0070C0"/>
                </a:solidFill>
              </a:rPr>
              <a:t>num_strs</a:t>
            </a:r>
            <a:r>
              <a:rPr lang="en-US" altLang="zh-CN" sz="2800" b="1" dirty="0">
                <a:solidFill>
                  <a:srgbClr val="0070C0"/>
                </a:solidFill>
              </a:rPr>
              <a:t> = </a:t>
            </a:r>
            <a:r>
              <a:rPr lang="en-US" altLang="zh-CN" sz="2800" b="1" dirty="0" err="1">
                <a:solidFill>
                  <a:srgbClr val="0070C0"/>
                </a:solidFill>
              </a:rPr>
              <a:t>num_line.split</a:t>
            </a:r>
            <a:r>
              <a:rPr lang="en-US" altLang="zh-CN" sz="2800" b="1" dirty="0">
                <a:solidFill>
                  <a:srgbClr val="0070C0"/>
                </a:solidFill>
              </a:rPr>
              <a:t>()</a:t>
            </a:r>
            <a:r>
              <a:rPr lang="en-US" altLang="zh-CN" sz="2800" i="1" dirty="0"/>
              <a:t> #</a:t>
            </a:r>
            <a:r>
              <a:rPr lang="zh-CN" altLang="en-US" sz="2800" i="1" dirty="0"/>
              <a:t>转换成数字列表</a:t>
            </a:r>
            <a:br>
              <a:rPr lang="zh-CN" altLang="en-US" sz="2800" i="1" dirty="0"/>
            </a:br>
            <a:r>
              <a:rPr lang="en-US" altLang="zh-CN" sz="2800" dirty="0" err="1"/>
              <a:t>num_list</a:t>
            </a:r>
            <a:r>
              <a:rPr lang="en-US" altLang="zh-CN" sz="2800" dirty="0"/>
              <a:t> = [ ]</a:t>
            </a:r>
            <a:br>
              <a:rPr lang="en-US" altLang="zh-CN" sz="2800" dirty="0"/>
            </a:br>
            <a:r>
              <a:rPr lang="en-US" altLang="zh-CN" sz="2800" b="1" dirty="0"/>
              <a:t>for </a:t>
            </a:r>
            <a:r>
              <a:rPr lang="en-US" altLang="zh-CN" sz="2800" dirty="0"/>
              <a:t>s </a:t>
            </a:r>
            <a:r>
              <a:rPr lang="en-US" altLang="zh-CN" sz="2800" b="1" dirty="0"/>
              <a:t>in </a:t>
            </a:r>
            <a:r>
              <a:rPr lang="en-US" altLang="zh-CN" sz="2800" dirty="0" err="1"/>
              <a:t>num_strs</a:t>
            </a:r>
            <a:r>
              <a:rPr lang="en-US" altLang="zh-CN" sz="2800" dirty="0"/>
              <a:t>:</a:t>
            </a:r>
            <a:br>
              <a:rPr lang="en-US" altLang="zh-CN" sz="2800" dirty="0"/>
            </a:br>
            <a:r>
              <a:rPr lang="en-US" altLang="zh-CN" sz="2800" dirty="0"/>
              <a:t>    </a:t>
            </a:r>
            <a:r>
              <a:rPr lang="en-US" altLang="zh-CN" sz="2800" dirty="0" err="1"/>
              <a:t>num_list.append</a:t>
            </a:r>
            <a:r>
              <a:rPr lang="en-US" altLang="zh-CN" sz="2800" dirty="0"/>
              <a:t>(</a:t>
            </a:r>
            <a:r>
              <a:rPr lang="en-US" altLang="zh-CN" sz="2800" dirty="0" err="1"/>
              <a:t>int</a:t>
            </a:r>
            <a:r>
              <a:rPr lang="en-US" altLang="zh-CN" sz="2800" dirty="0"/>
              <a:t>(s))</a:t>
            </a:r>
            <a:endParaRPr lang="zh-CN" altLang="en-US" sz="2800" b="1" dirty="0">
              <a:solidFill>
                <a:srgbClr val="FF0000"/>
              </a:solidFill>
              <a:latin typeface="Microsoft YaHei UI" panose="020B0503020204020204" pitchFamily="34" charset="-122"/>
              <a:ea typeface="Microsoft YaHei UI" panose="020B0503020204020204" pitchFamily="34" charset="-122"/>
              <a:cs typeface="Tahoma" panose="020B0604030504040204" pitchFamily="34" charset="0"/>
            </a:endParaRPr>
          </a:p>
        </p:txBody>
      </p:sp>
      <p:sp>
        <p:nvSpPr>
          <p:cNvPr id="10" name="线形标注 2(无边框) 9"/>
          <p:cNvSpPr/>
          <p:nvPr/>
        </p:nvSpPr>
        <p:spPr>
          <a:xfrm>
            <a:off x="4843421" y="3981410"/>
            <a:ext cx="7257139" cy="1805551"/>
          </a:xfrm>
          <a:prstGeom prst="callout2">
            <a:avLst>
              <a:gd name="adj1" fmla="val -3284"/>
              <a:gd name="adj2" fmla="val 34242"/>
              <a:gd name="adj3" fmla="val -15641"/>
              <a:gd name="adj4" fmla="val 15625"/>
              <a:gd name="adj5" fmla="val -14185"/>
              <a:gd name="adj6" fmla="val 3629"/>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indent="-342900">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以空格为界，分割字符串，得到数字字符串的列表。例如输入：</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3</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4  8  9  3</a:t>
            </a:r>
          </a:p>
          <a:p>
            <a:pPr marL="342900" indent="-342900">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会分割得到：</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[‘3’, ‘4’, ‘8’, ‘9’, ‘3’]</a:t>
            </a:r>
            <a:endPar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a:spLocks noGrp="1"/>
          </p:cNvSpPr>
          <p:nvPr/>
        </p:nvSpPr>
        <p:spPr>
          <a:xfrm>
            <a:off x="3784647" y="1123768"/>
            <a:ext cx="4464496" cy="588315"/>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rPr>
              <a:t>步骤</a:t>
            </a:r>
            <a:r>
              <a:rPr lang="en-US" altLang="zh-CN" sz="2800" dirty="0">
                <a:latin typeface="微软雅黑" panose="020B0503020204020204" pitchFamily="34" charset="-122"/>
                <a:ea typeface="微软雅黑" panose="020B0503020204020204" pitchFamily="34" charset="-122"/>
              </a:rPr>
              <a:t>1. </a:t>
            </a:r>
            <a:r>
              <a:rPr lang="zh-CN" altLang="en-US" sz="2800" dirty="0">
                <a:latin typeface="微软雅黑" panose="020B0503020204020204" pitchFamily="34" charset="-122"/>
                <a:ea typeface="微软雅黑" panose="020B0503020204020204" pitchFamily="34" charset="-122"/>
              </a:rPr>
              <a:t>输入一组整数</a:t>
            </a:r>
          </a:p>
        </p:txBody>
      </p:sp>
      <p:sp>
        <p:nvSpPr>
          <p:cNvPr id="3" name="云形标注 2"/>
          <p:cNvSpPr/>
          <p:nvPr/>
        </p:nvSpPr>
        <p:spPr>
          <a:xfrm>
            <a:off x="7655756" y="955479"/>
            <a:ext cx="3816424" cy="1305357"/>
          </a:xfrm>
          <a:prstGeom prst="cloudCallou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800" b="1" dirty="0">
                <a:solidFill>
                  <a:srgbClr val="FFFF00"/>
                </a:solidFill>
                <a:latin typeface="微软雅黑" panose="020B0503020204020204" pitchFamily="34" charset="-122"/>
                <a:ea typeface="微软雅黑" panose="020B0503020204020204" pitchFamily="34" charset="-122"/>
              </a:rPr>
              <a:t>有无其他方法？</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3"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66527" y="857370"/>
            <a:ext cx="3024335" cy="66161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参考答案：</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9" name="内容占位符 2"/>
          <p:cNvSpPr txBox="1"/>
          <p:nvPr/>
        </p:nvSpPr>
        <p:spPr>
          <a:xfrm>
            <a:off x="692607" y="1845618"/>
            <a:ext cx="10217232" cy="4608512"/>
          </a:xfrm>
          <a:prstGeom prst="rect">
            <a:avLst/>
          </a:prstGeom>
          <a:solidFill>
            <a:schemeClr val="bg1">
              <a:lumMod val="95000"/>
            </a:schemeClr>
          </a:solidFill>
          <a:ln w="12700">
            <a:solidFill>
              <a:schemeClr val="tx1"/>
            </a:solid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800" dirty="0" err="1"/>
              <a:t>num_list</a:t>
            </a:r>
            <a:r>
              <a:rPr lang="en-US" altLang="zh-CN" sz="2800" dirty="0"/>
              <a:t> = [ ]</a:t>
            </a:r>
            <a:br>
              <a:rPr lang="en-US" altLang="zh-CN" sz="2800" dirty="0"/>
            </a:br>
            <a:r>
              <a:rPr lang="en-US" altLang="zh-CN" sz="2800" dirty="0"/>
              <a:t>b = True</a:t>
            </a:r>
          </a:p>
          <a:p>
            <a:pPr marL="0" indent="0">
              <a:buNone/>
            </a:pPr>
            <a:r>
              <a:rPr lang="en-US" altLang="zh-CN" sz="2800" dirty="0"/>
              <a:t>while b:</a:t>
            </a:r>
          </a:p>
          <a:p>
            <a:pPr marL="0" indent="0">
              <a:buNone/>
            </a:pPr>
            <a:r>
              <a:rPr lang="en-US" altLang="zh-CN" sz="2800" dirty="0"/>
              <a:t>    </a:t>
            </a:r>
            <a:r>
              <a:rPr lang="en-US" altLang="zh-CN" sz="2800" dirty="0" err="1"/>
              <a:t>i</a:t>
            </a:r>
            <a:r>
              <a:rPr lang="en-US" altLang="zh-CN" sz="2800" dirty="0"/>
              <a:t> = </a:t>
            </a:r>
            <a:r>
              <a:rPr lang="en-US" altLang="zh-CN" sz="2800" dirty="0" err="1"/>
              <a:t>int</a:t>
            </a:r>
            <a:r>
              <a:rPr lang="en-US" altLang="zh-CN" sz="2800" dirty="0"/>
              <a:t>(input(“</a:t>
            </a:r>
            <a:r>
              <a:rPr lang="zh-CN" altLang="en-US" sz="2800" dirty="0"/>
              <a:t>请输入一个整数（</a:t>
            </a:r>
            <a:r>
              <a:rPr lang="en-US" altLang="zh-CN" sz="2800" dirty="0"/>
              <a:t>-1</a:t>
            </a:r>
            <a:r>
              <a:rPr lang="zh-CN" altLang="en-US" sz="2800" dirty="0"/>
              <a:t>表示输入完毕）</a:t>
            </a:r>
            <a:r>
              <a:rPr lang="en-US" altLang="zh-CN" sz="2800" dirty="0"/>
              <a:t>:"))</a:t>
            </a:r>
          </a:p>
          <a:p>
            <a:pPr marL="0" indent="0">
              <a:buNone/>
            </a:pPr>
            <a:r>
              <a:rPr lang="en-US" altLang="zh-CN" sz="2800" dirty="0"/>
              <a:t>    if(</a:t>
            </a:r>
            <a:r>
              <a:rPr lang="en-US" altLang="zh-CN" sz="2800" dirty="0" err="1"/>
              <a:t>i</a:t>
            </a:r>
            <a:r>
              <a:rPr lang="en-US" altLang="zh-CN" sz="2800" dirty="0"/>
              <a:t>==-1):</a:t>
            </a:r>
          </a:p>
          <a:p>
            <a:pPr marL="0" indent="0">
              <a:buNone/>
            </a:pPr>
            <a:r>
              <a:rPr lang="en-US" altLang="zh-CN" sz="2800" dirty="0"/>
              <a:t>        b=False</a:t>
            </a:r>
          </a:p>
          <a:p>
            <a:pPr marL="0" indent="0">
              <a:buNone/>
            </a:pPr>
            <a:r>
              <a:rPr lang="en-US" altLang="zh-CN" sz="2800" dirty="0"/>
              <a:t>        break</a:t>
            </a:r>
          </a:p>
          <a:p>
            <a:pPr marL="0" indent="0">
              <a:buNone/>
            </a:pPr>
            <a:r>
              <a:rPr lang="en-US" altLang="zh-CN" sz="2800" dirty="0"/>
              <a:t>    else:</a:t>
            </a:r>
          </a:p>
          <a:p>
            <a:pPr marL="0" indent="0">
              <a:buNone/>
            </a:pPr>
            <a:r>
              <a:rPr lang="en-US" altLang="zh-CN" sz="2800" dirty="0"/>
              <a:t>        </a:t>
            </a:r>
            <a:r>
              <a:rPr lang="en-US" altLang="zh-CN" sz="2800" dirty="0" err="1"/>
              <a:t>num_list.append</a:t>
            </a:r>
            <a:r>
              <a:rPr lang="en-US" altLang="zh-CN" sz="2800" dirty="0"/>
              <a:t>(</a:t>
            </a:r>
            <a:r>
              <a:rPr lang="en-US" altLang="zh-CN" sz="2800" dirty="0" err="1"/>
              <a:t>i</a:t>
            </a:r>
            <a:r>
              <a:rPr lang="en-US" altLang="zh-CN" sz="2800" dirty="0"/>
              <a:t>)</a:t>
            </a:r>
            <a:endParaRPr lang="zh-CN" altLang="en-US" sz="2800" b="1" dirty="0">
              <a:solidFill>
                <a:srgbClr val="FF0000"/>
              </a:solidFill>
              <a:latin typeface="Microsoft YaHei UI" panose="020B0503020204020204" pitchFamily="34" charset="-122"/>
              <a:ea typeface="Microsoft YaHei UI" panose="020B0503020204020204" pitchFamily="34" charset="-122"/>
              <a:cs typeface="Tahoma" panose="020B0604030504040204" pitchFamily="34" charset="0"/>
            </a:endParaRPr>
          </a:p>
        </p:txBody>
      </p:sp>
      <p:sp>
        <p:nvSpPr>
          <p:cNvPr id="7" name="标题 1"/>
          <p:cNvSpPr>
            <a:spLocks noGrp="1"/>
          </p:cNvSpPr>
          <p:nvPr/>
        </p:nvSpPr>
        <p:spPr>
          <a:xfrm>
            <a:off x="3784647" y="1123768"/>
            <a:ext cx="7715128" cy="588315"/>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kumimoji="0" lang="zh-CN" sz="4400" b="1" kern="1200">
                <a:solidFill>
                  <a:schemeClr val="tx1"/>
                </a:solidFill>
                <a:latin typeface="+mj-lt"/>
                <a:ea typeface="+mj-ea"/>
                <a:cs typeface="+mj-cs"/>
              </a:defRPr>
            </a:lvl1pPr>
          </a:lstStyle>
          <a:p>
            <a:r>
              <a:rPr lang="zh-CN" altLang="en-US" sz="2800" dirty="0">
                <a:latin typeface="微软雅黑" panose="020B0503020204020204" pitchFamily="34" charset="-122"/>
                <a:ea typeface="微软雅黑" panose="020B0503020204020204" pitchFamily="34" charset="-122"/>
              </a:rPr>
              <a:t>步骤</a:t>
            </a:r>
            <a:r>
              <a:rPr lang="en-US" altLang="zh-CN" sz="2800" dirty="0">
                <a:latin typeface="微软雅黑" panose="020B0503020204020204" pitchFamily="34" charset="-122"/>
                <a:ea typeface="微软雅黑" panose="020B0503020204020204" pitchFamily="34" charset="-122"/>
              </a:rPr>
              <a:t>1. </a:t>
            </a:r>
            <a:r>
              <a:rPr lang="zh-CN" altLang="en-US" sz="2800" dirty="0">
                <a:latin typeface="微软雅黑" panose="020B0503020204020204" pitchFamily="34" charset="-122"/>
                <a:ea typeface="微软雅黑" panose="020B0503020204020204" pitchFamily="34" charset="-122"/>
              </a:rPr>
              <a:t>输入一组整数（</a:t>
            </a:r>
            <a:r>
              <a:rPr lang="zh-CN" altLang="en-US" sz="2800" dirty="0">
                <a:solidFill>
                  <a:srgbClr val="FF0000"/>
                </a:solidFill>
                <a:latin typeface="微软雅黑" panose="020B0503020204020204" pitchFamily="34" charset="-122"/>
                <a:ea typeface="微软雅黑" panose="020B0503020204020204" pitchFamily="34" charset="-122"/>
              </a:rPr>
              <a:t>另外一种方法</a:t>
            </a:r>
            <a:r>
              <a:rPr lang="zh-CN" altLang="en-US" sz="2800" dirty="0">
                <a:latin typeface="微软雅黑" panose="020B0503020204020204" pitchFamily="34" charset="-122"/>
                <a:ea typeface="微软雅黑" panose="020B0503020204020204" pitchFamily="34" charset="-122"/>
              </a:rPr>
              <a:t>）</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66527" y="857370"/>
            <a:ext cx="3024335" cy="66161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参考答案：</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11" name="标题 1"/>
          <p:cNvSpPr>
            <a:spLocks noGrp="1"/>
          </p:cNvSpPr>
          <p:nvPr/>
        </p:nvSpPr>
        <p:spPr>
          <a:xfrm>
            <a:off x="3215406" y="1151731"/>
            <a:ext cx="5256584" cy="857250"/>
          </a:xfrm>
          <a:prstGeom prst="rect">
            <a:avLst/>
          </a:prstGeom>
        </p:spPr>
        <p:txBody>
          <a:bodyPr vert="horz" lIns="91440" tIns="45720" rIns="91440" bIns="45720" rtlCol="0" anchor="ctr" anchorCtr="0">
            <a:normAutofit/>
          </a:bodyPr>
          <a:lstStyle/>
          <a:p>
            <a:pPr defTabSz="914400">
              <a:spcBef>
                <a:spcPct val="0"/>
              </a:spcBef>
            </a:pPr>
            <a:r>
              <a:rPr lang="zh-CN" altLang="en-US" sz="2800" b="1" dirty="0">
                <a:latin typeface="微软雅黑" panose="020B0503020204020204" pitchFamily="34" charset="-122"/>
                <a:ea typeface="微软雅黑" panose="020B0503020204020204" pitchFamily="34" charset="-122"/>
                <a:cs typeface="+mj-cs"/>
              </a:rPr>
              <a:t>步骤</a:t>
            </a:r>
            <a:r>
              <a:rPr lang="en-US" altLang="zh-CN" sz="2800" b="1" dirty="0">
                <a:latin typeface="微软雅黑" panose="020B0503020204020204" pitchFamily="34" charset="-122"/>
                <a:ea typeface="微软雅黑" panose="020B0503020204020204" pitchFamily="34" charset="-122"/>
                <a:cs typeface="+mj-cs"/>
              </a:rPr>
              <a:t>2. </a:t>
            </a:r>
            <a:r>
              <a:rPr lang="zh-CN" altLang="en-US" sz="2800" b="1" dirty="0">
                <a:latin typeface="微软雅黑" panose="020B0503020204020204" pitchFamily="34" charset="-122"/>
                <a:ea typeface="微软雅黑" panose="020B0503020204020204" pitchFamily="34" charset="-122"/>
                <a:cs typeface="+mj-cs"/>
              </a:rPr>
              <a:t>统计每个整数的出现次数</a:t>
            </a:r>
          </a:p>
        </p:txBody>
      </p:sp>
      <p:sp>
        <p:nvSpPr>
          <p:cNvPr id="12" name="内容占位符 2"/>
          <p:cNvSpPr txBox="1"/>
          <p:nvPr/>
        </p:nvSpPr>
        <p:spPr>
          <a:xfrm>
            <a:off x="914598" y="2224844"/>
            <a:ext cx="9066331" cy="3672408"/>
          </a:xfrm>
          <a:prstGeom prst="rect">
            <a:avLst/>
          </a:prstGeom>
          <a:solidFill>
            <a:schemeClr val="bg1">
              <a:lumMod val="95000"/>
            </a:schemeClr>
          </a:solidFill>
          <a:ln w="12700">
            <a:solidFill>
              <a:schemeClr val="tx1"/>
            </a:solid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800" i="1" dirty="0"/>
              <a:t>#</a:t>
            </a:r>
            <a:r>
              <a:rPr lang="zh-CN" altLang="en-US" sz="2800" i="1" dirty="0"/>
              <a:t>例</a:t>
            </a:r>
            <a:r>
              <a:rPr lang="en-US" altLang="zh-CN" sz="2800" i="1" dirty="0"/>
              <a:t>  </a:t>
            </a:r>
            <a:r>
              <a:rPr lang="zh-CN" altLang="en-US" sz="2800" i="1" dirty="0"/>
              <a:t>数字计数</a:t>
            </a:r>
            <a:endParaRPr lang="en-US" altLang="zh-CN" sz="2800" i="1" dirty="0"/>
          </a:p>
          <a:p>
            <a:pPr marL="0" indent="0">
              <a:buNone/>
            </a:pPr>
            <a:r>
              <a:rPr lang="en-US" altLang="zh-CN" sz="2800" i="1" dirty="0"/>
              <a:t>#</a:t>
            </a:r>
            <a:r>
              <a:rPr lang="zh-CN" altLang="en-US" sz="2800" i="1" dirty="0"/>
              <a:t>步骤</a:t>
            </a:r>
            <a:r>
              <a:rPr lang="en-US" altLang="zh-CN" sz="2800" i="1" dirty="0"/>
              <a:t>2. </a:t>
            </a:r>
            <a:r>
              <a:rPr lang="zh-CN" altLang="en-US" sz="2800" i="1" dirty="0"/>
              <a:t>统计每个整数的出现次数</a:t>
            </a:r>
            <a:br>
              <a:rPr lang="zh-CN" altLang="en-US" sz="2800" i="1" dirty="0"/>
            </a:br>
            <a:r>
              <a:rPr lang="en-US" altLang="zh-CN" sz="2800" b="1" dirty="0" err="1">
                <a:solidFill>
                  <a:srgbClr val="FF0000"/>
                </a:solidFill>
              </a:rPr>
              <a:t>num_dict</a:t>
            </a:r>
            <a:r>
              <a:rPr lang="en-US" altLang="zh-CN" sz="2800" b="1" dirty="0">
                <a:solidFill>
                  <a:srgbClr val="FF0000"/>
                </a:solidFill>
              </a:rPr>
              <a:t> = { }</a:t>
            </a:r>
            <a:br>
              <a:rPr lang="en-US" altLang="zh-CN" sz="2800" dirty="0"/>
            </a:br>
            <a:r>
              <a:rPr lang="en-US" altLang="zh-CN" sz="2800" b="1" dirty="0"/>
              <a:t>for </a:t>
            </a:r>
            <a:r>
              <a:rPr lang="en-US" altLang="zh-CN" sz="2800" dirty="0"/>
              <a:t>n </a:t>
            </a:r>
            <a:r>
              <a:rPr lang="en-US" altLang="zh-CN" sz="2800" b="1" dirty="0"/>
              <a:t>in </a:t>
            </a:r>
            <a:r>
              <a:rPr lang="en-US" altLang="zh-CN" sz="2800" dirty="0" err="1"/>
              <a:t>num_list</a:t>
            </a:r>
            <a:r>
              <a:rPr lang="en-US" altLang="zh-CN" sz="2800" dirty="0"/>
              <a:t>:</a:t>
            </a:r>
            <a:br>
              <a:rPr lang="en-US" altLang="zh-CN" sz="2800" dirty="0"/>
            </a:br>
            <a:r>
              <a:rPr lang="en-US" altLang="zh-CN" sz="2800" dirty="0"/>
              <a:t>    </a:t>
            </a:r>
            <a:r>
              <a:rPr lang="en-US" altLang="zh-CN" sz="2800" dirty="0">
                <a:solidFill>
                  <a:srgbClr val="0000CC"/>
                </a:solidFill>
              </a:rPr>
              <a:t>if n in </a:t>
            </a:r>
            <a:r>
              <a:rPr lang="en-US" altLang="zh-CN" sz="2800" dirty="0" err="1">
                <a:solidFill>
                  <a:srgbClr val="0000CC"/>
                </a:solidFill>
              </a:rPr>
              <a:t>num_dict</a:t>
            </a:r>
            <a:r>
              <a:rPr lang="en-US" altLang="zh-CN" sz="2800" dirty="0"/>
              <a:t>:</a:t>
            </a:r>
            <a:br>
              <a:rPr lang="en-US" altLang="zh-CN" sz="2800" dirty="0"/>
            </a:br>
            <a:r>
              <a:rPr lang="en-US" altLang="zh-CN" sz="2800" dirty="0"/>
              <a:t>        </a:t>
            </a:r>
            <a:r>
              <a:rPr lang="en-US" altLang="zh-CN" sz="2800" b="1" dirty="0" err="1">
                <a:solidFill>
                  <a:srgbClr val="FF0000"/>
                </a:solidFill>
              </a:rPr>
              <a:t>num_dict</a:t>
            </a:r>
            <a:r>
              <a:rPr lang="en-US" altLang="zh-CN" sz="2800" b="1" dirty="0">
                <a:solidFill>
                  <a:srgbClr val="FF0000"/>
                </a:solidFill>
              </a:rPr>
              <a:t>[n] = </a:t>
            </a:r>
            <a:r>
              <a:rPr lang="en-US" altLang="zh-CN" sz="2800" b="1" dirty="0" err="1">
                <a:solidFill>
                  <a:srgbClr val="FF0000"/>
                </a:solidFill>
              </a:rPr>
              <a:t>num_dict</a:t>
            </a:r>
            <a:r>
              <a:rPr lang="en-US" altLang="zh-CN" sz="2800" b="1" dirty="0">
                <a:solidFill>
                  <a:srgbClr val="FF0000"/>
                </a:solidFill>
              </a:rPr>
              <a:t>[n] + 1 </a:t>
            </a:r>
            <a:br>
              <a:rPr lang="en-US" altLang="zh-CN" sz="2800" dirty="0"/>
            </a:br>
            <a:r>
              <a:rPr lang="en-US" altLang="zh-CN" sz="2800" dirty="0"/>
              <a:t>    </a:t>
            </a:r>
            <a:r>
              <a:rPr lang="en-US" altLang="zh-CN" sz="2800" b="1" dirty="0"/>
              <a:t>else</a:t>
            </a:r>
            <a:r>
              <a:rPr lang="en-US" altLang="zh-CN" sz="2800" dirty="0"/>
              <a:t>:</a:t>
            </a:r>
            <a:br>
              <a:rPr lang="en-US" altLang="zh-CN" sz="2800" dirty="0"/>
            </a:br>
            <a:r>
              <a:rPr lang="en-US" altLang="zh-CN" sz="2800" dirty="0"/>
              <a:t>        </a:t>
            </a:r>
            <a:r>
              <a:rPr lang="en-US" altLang="zh-CN" sz="2800" b="1" dirty="0" err="1">
                <a:solidFill>
                  <a:srgbClr val="0000CC"/>
                </a:solidFill>
              </a:rPr>
              <a:t>num_dict</a:t>
            </a:r>
            <a:r>
              <a:rPr lang="en-US" altLang="zh-CN" sz="2800" b="1" dirty="0">
                <a:solidFill>
                  <a:srgbClr val="0000CC"/>
                </a:solidFill>
              </a:rPr>
              <a:t>[n] = 1</a:t>
            </a:r>
            <a:endParaRPr lang="zh-CN" altLang="en-US" sz="2800" b="1" dirty="0">
              <a:solidFill>
                <a:srgbClr val="0000CC"/>
              </a:solidFill>
              <a:latin typeface="Microsoft YaHei UI" panose="020B0503020204020204" pitchFamily="34" charset="-122"/>
              <a:ea typeface="Microsoft YaHei UI" panose="020B0503020204020204" pitchFamily="34" charset="-122"/>
              <a:cs typeface="Tahoma" panose="020B0604030504040204" pitchFamily="34" charset="0"/>
            </a:endParaRPr>
          </a:p>
        </p:txBody>
      </p:sp>
      <p:sp>
        <p:nvSpPr>
          <p:cNvPr id="13" name="线形标注 2(无边框) 12"/>
          <p:cNvSpPr/>
          <p:nvPr/>
        </p:nvSpPr>
        <p:spPr>
          <a:xfrm>
            <a:off x="4370983" y="2016634"/>
            <a:ext cx="4536504" cy="648072"/>
          </a:xfrm>
          <a:prstGeom prst="callout2">
            <a:avLst>
              <a:gd name="adj1" fmla="val 19347"/>
              <a:gd name="adj2" fmla="val -1481"/>
              <a:gd name="adj3" fmla="val 21861"/>
              <a:gd name="adj4" fmla="val -11600"/>
              <a:gd name="adj5" fmla="val 195501"/>
              <a:gd name="adj6" fmla="val -28043"/>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indent="-342900">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创建名为</a:t>
            </a:r>
            <a:r>
              <a:rPr lang="en-US" altLang="zh-CN"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num_dict</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的空字典</a:t>
            </a:r>
          </a:p>
        </p:txBody>
      </p:sp>
      <p:sp>
        <p:nvSpPr>
          <p:cNvPr id="14" name="线形标注 2(无边框) 13"/>
          <p:cNvSpPr/>
          <p:nvPr/>
        </p:nvSpPr>
        <p:spPr>
          <a:xfrm>
            <a:off x="4591241" y="3609399"/>
            <a:ext cx="5031508" cy="549902"/>
          </a:xfrm>
          <a:prstGeom prst="callout2">
            <a:avLst>
              <a:gd name="adj1" fmla="val 19347"/>
              <a:gd name="adj2" fmla="val -1481"/>
              <a:gd name="adj3" fmla="val 43235"/>
              <a:gd name="adj4" fmla="val -7369"/>
              <a:gd name="adj5" fmla="val 104399"/>
              <a:gd name="adj6" fmla="val -15647"/>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indent="-342900">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检查字典中是否有数字</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n</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这样的键</a:t>
            </a:r>
          </a:p>
        </p:txBody>
      </p:sp>
      <p:sp>
        <p:nvSpPr>
          <p:cNvPr id="15" name="线形标注 2(无边框) 14"/>
          <p:cNvSpPr/>
          <p:nvPr/>
        </p:nvSpPr>
        <p:spPr>
          <a:xfrm>
            <a:off x="7193532" y="4762303"/>
            <a:ext cx="4522267" cy="504056"/>
          </a:xfrm>
          <a:prstGeom prst="callout2">
            <a:avLst>
              <a:gd name="adj1" fmla="val 19347"/>
              <a:gd name="adj2" fmla="val -1481"/>
              <a:gd name="adj3" fmla="val -3285"/>
              <a:gd name="adj4" fmla="val -8577"/>
              <a:gd name="adj5" fmla="val -26298"/>
              <a:gd name="adj6" fmla="val -20292"/>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indent="-342900">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修改键</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n</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的值。</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字典中有键</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n)</a:t>
            </a:r>
            <a:endPar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线形标注 2(无边框) 15"/>
          <p:cNvSpPr/>
          <p:nvPr/>
        </p:nvSpPr>
        <p:spPr>
          <a:xfrm>
            <a:off x="5019055" y="5854174"/>
            <a:ext cx="6192688" cy="441890"/>
          </a:xfrm>
          <a:prstGeom prst="callout2">
            <a:avLst>
              <a:gd name="adj1" fmla="val 19347"/>
              <a:gd name="adj2" fmla="val -1481"/>
              <a:gd name="adj3" fmla="val -13343"/>
              <a:gd name="adj4" fmla="val -8207"/>
              <a:gd name="adj5" fmla="val -45157"/>
              <a:gd name="adj6" fmla="val -14745"/>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indent="-342900">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添加键值对（</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n: 1</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字典中没有键</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n)</a:t>
            </a:r>
            <a:endPar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66527" y="857370"/>
            <a:ext cx="3024335" cy="66161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参考答案：</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8" name="标题 1"/>
          <p:cNvSpPr>
            <a:spLocks noGrp="1"/>
          </p:cNvSpPr>
          <p:nvPr/>
        </p:nvSpPr>
        <p:spPr>
          <a:xfrm>
            <a:off x="2963545" y="846486"/>
            <a:ext cx="8077200" cy="857250"/>
          </a:xfrm>
          <a:prstGeom prst="rect">
            <a:avLst/>
          </a:prstGeom>
        </p:spPr>
        <p:txBody>
          <a:bodyPr vert="horz" lIns="91440" tIns="45720" rIns="91440" bIns="45720" rtlCol="0" anchor="ctr" anchorCtr="0">
            <a:normAutofit/>
          </a:bodyPr>
          <a:lstStyle/>
          <a:p>
            <a:pPr defTabSz="914400">
              <a:spcBef>
                <a:spcPct val="0"/>
              </a:spcBef>
            </a:pPr>
            <a:r>
              <a:rPr lang="zh-CN" altLang="en-US" sz="2800" b="1" dirty="0">
                <a:latin typeface="微软雅黑" panose="020B0503020204020204" pitchFamily="34" charset="-122"/>
                <a:ea typeface="微软雅黑" panose="020B0503020204020204" pitchFamily="34" charset="-122"/>
                <a:cs typeface="+mj-cs"/>
              </a:rPr>
              <a:t>步骤</a:t>
            </a:r>
            <a:r>
              <a:rPr lang="en-US" altLang="zh-CN" sz="2800" b="1" dirty="0">
                <a:latin typeface="微软雅黑" panose="020B0503020204020204" pitchFamily="34" charset="-122"/>
                <a:ea typeface="微软雅黑" panose="020B0503020204020204" pitchFamily="34" charset="-122"/>
                <a:cs typeface="+mj-cs"/>
              </a:rPr>
              <a:t>3. </a:t>
            </a:r>
            <a:r>
              <a:rPr lang="zh-CN" altLang="en-US" sz="2800" b="1" dirty="0">
                <a:latin typeface="微软雅黑" panose="020B0503020204020204" pitchFamily="34" charset="-122"/>
                <a:ea typeface="微软雅黑" panose="020B0503020204020204" pitchFamily="34" charset="-122"/>
                <a:cs typeface="+mj-cs"/>
              </a:rPr>
              <a:t>输出各数字出现次数</a:t>
            </a:r>
          </a:p>
        </p:txBody>
      </p:sp>
      <p:sp>
        <p:nvSpPr>
          <p:cNvPr id="11" name="内容占位符 2"/>
          <p:cNvSpPr txBox="1"/>
          <p:nvPr/>
        </p:nvSpPr>
        <p:spPr>
          <a:xfrm>
            <a:off x="1077208" y="1947558"/>
            <a:ext cx="9982130" cy="3672408"/>
          </a:xfrm>
          <a:prstGeom prst="rect">
            <a:avLst/>
          </a:prstGeom>
          <a:solidFill>
            <a:schemeClr val="bg1">
              <a:lumMod val="95000"/>
            </a:schemeClr>
          </a:solidFill>
          <a:ln w="12700">
            <a:solidFill>
              <a:schemeClr val="tx1"/>
            </a:solidFill>
          </a:ln>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800" i="1" dirty="0"/>
              <a:t>#</a:t>
            </a:r>
            <a:r>
              <a:rPr lang="zh-CN" altLang="en-US" sz="2800" i="1" dirty="0"/>
              <a:t>例</a:t>
            </a:r>
            <a:r>
              <a:rPr lang="en-US" altLang="zh-CN" sz="2800" i="1" dirty="0"/>
              <a:t>  </a:t>
            </a:r>
            <a:r>
              <a:rPr lang="zh-CN" altLang="en-US" sz="2800" i="1" dirty="0"/>
              <a:t>数字计数</a:t>
            </a:r>
            <a:endParaRPr lang="en-US" altLang="zh-CN" sz="2800" i="1" dirty="0"/>
          </a:p>
          <a:p>
            <a:pPr marL="0" indent="0">
              <a:buNone/>
            </a:pPr>
            <a:r>
              <a:rPr lang="en-US" altLang="zh-CN" sz="2800" i="1" dirty="0"/>
              <a:t>#</a:t>
            </a:r>
            <a:r>
              <a:rPr lang="zh-CN" altLang="en-US" sz="2800" i="1" dirty="0"/>
              <a:t>步骤</a:t>
            </a:r>
            <a:r>
              <a:rPr lang="en-US" altLang="zh-CN" sz="2800" i="1" dirty="0"/>
              <a:t>3. </a:t>
            </a:r>
            <a:r>
              <a:rPr lang="zh-CN" altLang="en-US" sz="2800" i="1" dirty="0"/>
              <a:t>输出各数字出现次数</a:t>
            </a:r>
            <a:br>
              <a:rPr lang="zh-CN" altLang="en-US" sz="2800" i="1" dirty="0"/>
            </a:br>
            <a:r>
              <a:rPr lang="en-US" altLang="zh-CN" sz="2800" dirty="0"/>
              <a:t>print(</a:t>
            </a:r>
            <a:r>
              <a:rPr lang="en-US" altLang="zh-CN" sz="2800" b="1" dirty="0"/>
              <a:t>"</a:t>
            </a:r>
            <a:r>
              <a:rPr lang="zh-CN" altLang="en-US" sz="2800" b="1" dirty="0"/>
              <a:t>各数字出现次数：</a:t>
            </a:r>
            <a:r>
              <a:rPr lang="en-US" altLang="zh-CN" sz="2800" b="1" dirty="0"/>
              <a:t>"</a:t>
            </a:r>
            <a:r>
              <a:rPr lang="en-US" altLang="zh-CN" sz="2800" dirty="0"/>
              <a:t>)</a:t>
            </a:r>
            <a:br>
              <a:rPr lang="en-US" altLang="zh-CN" sz="2800" dirty="0"/>
            </a:br>
            <a:r>
              <a:rPr lang="en-US" altLang="zh-CN" sz="2800" b="1" dirty="0">
                <a:solidFill>
                  <a:srgbClr val="FF0000"/>
                </a:solidFill>
              </a:rPr>
              <a:t>for k, v in </a:t>
            </a:r>
            <a:r>
              <a:rPr lang="en-US" altLang="zh-CN" sz="2800" b="1" dirty="0" err="1">
                <a:solidFill>
                  <a:srgbClr val="FF0000"/>
                </a:solidFill>
              </a:rPr>
              <a:t>num_dict.items</a:t>
            </a:r>
            <a:r>
              <a:rPr lang="en-US" altLang="zh-CN" sz="2800" b="1" dirty="0">
                <a:solidFill>
                  <a:srgbClr val="FF0000"/>
                </a:solidFill>
              </a:rPr>
              <a:t>():</a:t>
            </a:r>
            <a:br>
              <a:rPr lang="en-US" altLang="zh-CN" sz="2800" dirty="0"/>
            </a:br>
            <a:r>
              <a:rPr lang="en-US" altLang="zh-CN" sz="2800" dirty="0"/>
              <a:t>      print(k, </a:t>
            </a:r>
            <a:r>
              <a:rPr lang="en-US" altLang="zh-CN" sz="2800" b="1" dirty="0"/>
              <a:t>':'</a:t>
            </a:r>
            <a:r>
              <a:rPr lang="en-US" altLang="zh-CN" sz="2800" dirty="0"/>
              <a:t>, v, </a:t>
            </a:r>
            <a:r>
              <a:rPr lang="en-US" altLang="zh-CN" sz="2800" b="1" dirty="0"/>
              <a:t>'</a:t>
            </a:r>
            <a:r>
              <a:rPr lang="zh-CN" altLang="en-US" sz="2800" b="1" dirty="0"/>
              <a:t>次</a:t>
            </a:r>
            <a:r>
              <a:rPr lang="en-US" altLang="zh-CN" sz="2800" b="1" dirty="0"/>
              <a:t>'</a:t>
            </a:r>
            <a:r>
              <a:rPr lang="en-US" altLang="zh-CN" sz="2800" dirty="0"/>
              <a:t>)</a:t>
            </a:r>
            <a:endParaRPr lang="zh-CN" altLang="en-US" sz="2800" b="1" dirty="0">
              <a:solidFill>
                <a:srgbClr val="C00000"/>
              </a:solidFill>
              <a:latin typeface="Microsoft YaHei UI" panose="020B0503020204020204" pitchFamily="34" charset="-122"/>
              <a:ea typeface="Microsoft YaHei UI" panose="020B0503020204020204" pitchFamily="34" charset="-122"/>
              <a:cs typeface="Tahoma" panose="020B0604030504040204" pitchFamily="34" charset="0"/>
            </a:endParaRPr>
          </a:p>
        </p:txBody>
      </p:sp>
      <p:sp>
        <p:nvSpPr>
          <p:cNvPr id="12" name="线形标注 2(无边框) 11"/>
          <p:cNvSpPr/>
          <p:nvPr/>
        </p:nvSpPr>
        <p:spPr>
          <a:xfrm>
            <a:off x="3650903" y="4422821"/>
            <a:ext cx="7128792" cy="1625718"/>
          </a:xfrm>
          <a:prstGeom prst="callout2">
            <a:avLst>
              <a:gd name="adj1" fmla="val -2"/>
              <a:gd name="adj2" fmla="val 45991"/>
              <a:gd name="adj3" fmla="val -27592"/>
              <a:gd name="adj4" fmla="val 42121"/>
              <a:gd name="adj5" fmla="val -42713"/>
              <a:gd name="adj6" fmla="val 36739"/>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scene3d>
              <a:camera prst="orthographicFront"/>
              <a:lightRig rig="threePt" dir="t"/>
            </a:scene3d>
          </a:bodyPr>
          <a:lstStyle/>
          <a:p>
            <a:pPr marL="342900" indent="-342900">
              <a:buFont typeface="Wingdings" panose="05000000000000000000" charset="0"/>
              <a:buChar char="n"/>
            </a:pPr>
            <a:r>
              <a:rPr lang="en-US" altLang="zh-CN"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num_dict.items</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方法返回键值对列表。</a:t>
            </a:r>
            <a:endPar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Wingdings" panose="05000000000000000000" charset="0"/>
              <a:buChar char="n"/>
            </a:pP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列表元素（键值对）包含键和值。</a:t>
            </a:r>
            <a:endPar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Wingdings" panose="05000000000000000000" charset="0"/>
              <a:buChar char="n"/>
            </a:pP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 for…in…</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遍历列表，依次处理每个元素：把键赋值给</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k</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，把值赋值给</a:t>
            </a:r>
            <a:r>
              <a:rPr lang="en-US" altLang="zh-CN"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v</a:t>
            </a:r>
            <a:r>
              <a:rPr lang="zh-CN" alt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微软雅黑" panose="020B0503020204020204" pitchFamily="34" charset="-122"/>
              </a:rPr>
              <a:t>，执行语句块。</a:t>
            </a:r>
          </a:p>
        </p:txBody>
      </p:sp>
    </p:spTree>
  </p:cSld>
  <p:clrMapOvr>
    <a:masterClrMapping/>
  </p:clrMapOvr>
  <p:transition spd="slow" advTm="0"/>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26567" y="720078"/>
            <a:ext cx="1418655" cy="724034"/>
          </a:xfrm>
        </p:spPr>
        <p:txBody>
          <a:bodyPr vert="horz" wrap="square" lIns="91456" tIns="45728" rIns="91456" bIns="45728" numCol="1" rtlCol="0" anchor="b" anchorCtr="0" compatLnSpc="1">
            <a:normAutofit/>
          </a:bodyPr>
          <a:lstStyle/>
          <a:p>
            <a:pPr algn="l" defTabSz="914400" eaLnBrk="0" fontAlgn="base" hangingPunct="0">
              <a:lnSpc>
                <a:spcPct val="90000"/>
              </a:lnSpc>
            </a:pPr>
            <a:r>
              <a:rPr lang="zh-CN" altLang="en-US" sz="32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提示</a:t>
            </a:r>
          </a:p>
        </p:txBody>
      </p:sp>
      <p:sp>
        <p:nvSpPr>
          <p:cNvPr id="4" name="内容占位符 2"/>
          <p:cNvSpPr>
            <a:spLocks noGrp="1"/>
          </p:cNvSpPr>
          <p:nvPr/>
        </p:nvSpPr>
        <p:spPr>
          <a:xfrm>
            <a:off x="6061612" y="1917626"/>
            <a:ext cx="6038948" cy="322302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r>
              <a:rPr lang="zh-CN" altLang="en-US" sz="2400" dirty="0">
                <a:latin typeface="Tahoma" panose="020B0604030504040204" pitchFamily="34" charset="0"/>
                <a:cs typeface="Tahoma" panose="020B0604030504040204" pitchFamily="34" charset="0"/>
              </a:rPr>
              <a:t>遍历键值对  </a:t>
            </a:r>
            <a:endParaRPr lang="en-US" altLang="zh-CN" sz="2400" dirty="0">
              <a:latin typeface="Tahoma" panose="020B0604030504040204" pitchFamily="34" charset="0"/>
              <a:cs typeface="Tahoma" panose="020B0604030504040204" pitchFamily="34" charset="0"/>
            </a:endParaRPr>
          </a:p>
          <a:p>
            <a:pPr lvl="1"/>
            <a:r>
              <a:rPr lang="en-US" altLang="zh-CN" sz="2400" dirty="0">
                <a:latin typeface="Tahoma" panose="020B0604030504040204" pitchFamily="34" charset="0"/>
              </a:rPr>
              <a:t> for key, value in </a:t>
            </a:r>
            <a:r>
              <a:rPr lang="en-US" altLang="zh-CN" sz="2400" dirty="0" err="1">
                <a:latin typeface="Tahoma" panose="020B0604030504040204" pitchFamily="34" charset="0"/>
              </a:rPr>
              <a:t>d.items</a:t>
            </a:r>
            <a:r>
              <a:rPr lang="en-US" altLang="zh-CN" sz="2400" dirty="0">
                <a:latin typeface="Tahoma" panose="020B0604030504040204" pitchFamily="34" charset="0"/>
              </a:rPr>
              <a:t>():</a:t>
            </a:r>
          </a:p>
          <a:p>
            <a:r>
              <a:rPr lang="zh-CN" altLang="en-US" sz="2400" dirty="0">
                <a:latin typeface="Tahoma" panose="020B0604030504040204" pitchFamily="34" charset="0"/>
                <a:cs typeface="Tahoma" panose="020B0604030504040204" pitchFamily="34" charset="0"/>
              </a:rPr>
              <a:t>遍历键</a:t>
            </a:r>
            <a:endParaRPr lang="en-US" altLang="zh-CN" sz="2400" dirty="0">
              <a:latin typeface="Tahoma" panose="020B0604030504040204" pitchFamily="34" charset="0"/>
              <a:cs typeface="Tahoma" panose="020B0604030504040204" pitchFamily="34" charset="0"/>
            </a:endParaRPr>
          </a:p>
          <a:p>
            <a:pPr lvl="1"/>
            <a:r>
              <a:rPr lang="en-US" altLang="zh-CN" sz="2400" dirty="0">
                <a:latin typeface="Tahoma" panose="020B0604030504040204" pitchFamily="34" charset="0"/>
              </a:rPr>
              <a:t> for key in </a:t>
            </a:r>
            <a:r>
              <a:rPr lang="en-US" altLang="zh-CN" sz="2400" dirty="0" err="1">
                <a:latin typeface="Tahoma" panose="020B0604030504040204" pitchFamily="34" charset="0"/>
              </a:rPr>
              <a:t>d.keys</a:t>
            </a:r>
            <a:r>
              <a:rPr lang="en-US" altLang="zh-CN" sz="2400" dirty="0">
                <a:latin typeface="Tahoma" panose="020B0604030504040204" pitchFamily="34" charset="0"/>
              </a:rPr>
              <a:t>():</a:t>
            </a:r>
          </a:p>
          <a:p>
            <a:r>
              <a:rPr lang="zh-CN" altLang="en-US" sz="2400" dirty="0">
                <a:latin typeface="Tahoma" panose="020B0604030504040204" pitchFamily="34" charset="0"/>
                <a:cs typeface="Tahoma" panose="020B0604030504040204" pitchFamily="34" charset="0"/>
              </a:rPr>
              <a:t>遍历值</a:t>
            </a:r>
            <a:endParaRPr lang="en-US" altLang="zh-CN" sz="2400" dirty="0">
              <a:latin typeface="Tahoma" panose="020B0604030504040204" pitchFamily="34" charset="0"/>
              <a:cs typeface="Tahoma" panose="020B0604030504040204" pitchFamily="34" charset="0"/>
            </a:endParaRPr>
          </a:p>
          <a:p>
            <a:pPr lvl="1"/>
            <a:r>
              <a:rPr lang="en-US" altLang="zh-CN" sz="2400" dirty="0">
                <a:latin typeface="Tahoma" panose="020B0604030504040204" pitchFamily="34" charset="0"/>
              </a:rPr>
              <a:t> for value in </a:t>
            </a:r>
            <a:r>
              <a:rPr lang="en-US" altLang="zh-CN" sz="2400" dirty="0" err="1">
                <a:latin typeface="Tahoma" panose="020B0604030504040204" pitchFamily="34" charset="0"/>
              </a:rPr>
              <a:t>d.values</a:t>
            </a:r>
            <a:r>
              <a:rPr lang="en-US" altLang="zh-CN" sz="2400" dirty="0">
                <a:latin typeface="Tahoma" panose="020B0604030504040204" pitchFamily="34" charset="0"/>
              </a:rPr>
              <a:t>():</a:t>
            </a:r>
            <a:endParaRPr lang="zh-CN" altLang="en-US" sz="2400" dirty="0">
              <a:latin typeface="Tahoma" panose="020B0604030504040204" pitchFamily="34" charset="0"/>
            </a:endParaRPr>
          </a:p>
        </p:txBody>
      </p:sp>
      <p:sp>
        <p:nvSpPr>
          <p:cNvPr id="5"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6" name="内容占位符 2"/>
          <p:cNvSpPr>
            <a:spLocks noGrp="1"/>
          </p:cNvSpPr>
          <p:nvPr/>
        </p:nvSpPr>
        <p:spPr>
          <a:xfrm>
            <a:off x="338535" y="1951034"/>
            <a:ext cx="5544616" cy="23762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kumimoji="0" lang="zh-CN" sz="3200" b="1" kern="1200">
                <a:solidFill>
                  <a:schemeClr val="tx1"/>
                </a:solidFill>
                <a:latin typeface="Verdana" panose="020B0604030504040204" pitchFamily="34" charset="0"/>
                <a:ea typeface="黑体" panose="02010609060101010101" charset="-122"/>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kumimoji="0" lang="zh-CN" sz="2800" b="1" kern="1200">
                <a:solidFill>
                  <a:schemeClr val="tx1"/>
                </a:solidFill>
                <a:latin typeface="+mn-lt"/>
                <a:ea typeface="+mn-ea"/>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楷体" panose="02010609060101010101" pitchFamily="49" charset="-122"/>
                <a:ea typeface="楷体" panose="02010609060101010101" pitchFamily="49" charset="-122"/>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kumimoji="0" lang="zh-CN" sz="2400" b="1" kern="1200">
                <a:solidFill>
                  <a:schemeClr val="tx1"/>
                </a:solidFill>
                <a:latin typeface="+mn-lt"/>
                <a:ea typeface="+mn-ea"/>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0" lang="zh-CN" sz="2000" kern="1200">
                <a:solidFill>
                  <a:schemeClr val="tx1"/>
                </a:solidFill>
                <a:latin typeface="+mn-lt"/>
                <a:ea typeface="+mn-ea"/>
                <a:cs typeface="+mn-cs"/>
              </a:defRPr>
            </a:lvl9pPr>
          </a:lstStyle>
          <a:p>
            <a:r>
              <a:rPr lang="zh-CN" altLang="en-US" sz="2400" dirty="0">
                <a:latin typeface="Tahoma" panose="020B0604030504040204" pitchFamily="34" charset="0"/>
                <a:cs typeface="Tahoma" panose="020B0604030504040204" pitchFamily="34" charset="0"/>
              </a:rPr>
              <a:t>添加键值对   </a:t>
            </a:r>
            <a:r>
              <a:rPr lang="en-US" altLang="zh-CN" sz="2400" dirty="0">
                <a:latin typeface="Tahoma" panose="020B0604030504040204" pitchFamily="34" charset="0"/>
                <a:cs typeface="Tahoma" panose="020B0604030504040204" pitchFamily="34" charset="0"/>
              </a:rPr>
              <a:t>d[‘home’] = ‘</a:t>
            </a:r>
            <a:r>
              <a:rPr lang="zh-CN" altLang="en-US" sz="2400" dirty="0">
                <a:latin typeface="Tahoma" panose="020B0604030504040204" pitchFamily="34" charset="0"/>
                <a:cs typeface="Tahoma" panose="020B0604030504040204" pitchFamily="34" charset="0"/>
              </a:rPr>
              <a:t>家</a:t>
            </a:r>
            <a:r>
              <a:rPr lang="en-US" altLang="zh-CN" sz="2400" dirty="0">
                <a:latin typeface="Tahoma" panose="020B0604030504040204" pitchFamily="34" charset="0"/>
                <a:cs typeface="Tahoma" panose="020B0604030504040204" pitchFamily="34" charset="0"/>
              </a:rPr>
              <a:t>’</a:t>
            </a:r>
          </a:p>
          <a:p>
            <a:r>
              <a:rPr lang="zh-CN" altLang="en-US" sz="2400" dirty="0">
                <a:latin typeface="Tahoma" panose="020B0604030504040204" pitchFamily="34" charset="0"/>
                <a:cs typeface="Tahoma" panose="020B0604030504040204" pitchFamily="34" charset="0"/>
              </a:rPr>
              <a:t>删除键值对  </a:t>
            </a:r>
            <a:r>
              <a:rPr lang="en-US" altLang="zh-CN" sz="2400" dirty="0">
                <a:latin typeface="Tahoma" panose="020B0604030504040204" pitchFamily="34" charset="0"/>
                <a:cs typeface="Tahoma" panose="020B0604030504040204" pitchFamily="34" charset="0"/>
              </a:rPr>
              <a:t> del  d[key]</a:t>
            </a:r>
          </a:p>
          <a:p>
            <a:r>
              <a:rPr lang="zh-CN" altLang="en-US" sz="2400" dirty="0">
                <a:latin typeface="Tahoma" panose="020B0604030504040204" pitchFamily="34" charset="0"/>
                <a:cs typeface="Tahoma" panose="020B0604030504040204" pitchFamily="34" charset="0"/>
              </a:rPr>
              <a:t>检查有没有键</a:t>
            </a:r>
            <a:r>
              <a:rPr lang="en-US" altLang="zh-CN" sz="2400" dirty="0">
                <a:latin typeface="Tahoma" panose="020B0604030504040204" pitchFamily="34" charset="0"/>
                <a:cs typeface="Tahoma" panose="020B0604030504040204" pitchFamily="34" charset="0"/>
              </a:rPr>
              <a:t>key</a:t>
            </a:r>
            <a:r>
              <a:rPr lang="zh-CN" altLang="en-US" sz="2400" dirty="0">
                <a:latin typeface="Tahoma" panose="020B0604030504040204" pitchFamily="34" charset="0"/>
                <a:cs typeface="Tahoma" panose="020B0604030504040204" pitchFamily="34" charset="0"/>
              </a:rPr>
              <a:t>     </a:t>
            </a:r>
            <a:r>
              <a:rPr lang="en-US" altLang="zh-CN" sz="2400" dirty="0">
                <a:latin typeface="Tahoma" panose="020B0604030504040204" pitchFamily="34" charset="0"/>
                <a:cs typeface="Tahoma" panose="020B0604030504040204" pitchFamily="34" charset="0"/>
              </a:rPr>
              <a:t>key in d</a:t>
            </a:r>
          </a:p>
          <a:p>
            <a:r>
              <a:rPr lang="zh-CN" altLang="en-US" sz="2400" dirty="0">
                <a:latin typeface="Tahoma" panose="020B0604030504040204" pitchFamily="34" charset="0"/>
                <a:cs typeface="Tahoma" panose="020B0604030504040204" pitchFamily="34" charset="0"/>
              </a:rPr>
              <a:t>得到</a:t>
            </a:r>
            <a:r>
              <a:rPr lang="en-US" altLang="zh-CN" sz="2400" dirty="0">
                <a:latin typeface="Tahoma" panose="020B0604030504040204" pitchFamily="34" charset="0"/>
                <a:cs typeface="Tahoma" panose="020B0604030504040204" pitchFamily="34" charset="0"/>
              </a:rPr>
              <a:t>key</a:t>
            </a:r>
            <a:r>
              <a:rPr lang="zh-CN" altLang="en-US" sz="2400" dirty="0">
                <a:latin typeface="Tahoma" panose="020B0604030504040204" pitchFamily="34" charset="0"/>
                <a:cs typeface="Tahoma" panose="020B0604030504040204" pitchFamily="34" charset="0"/>
              </a:rPr>
              <a:t>对应的值    </a:t>
            </a:r>
            <a:r>
              <a:rPr lang="en-US" altLang="zh-CN" sz="2400" dirty="0">
                <a:latin typeface="Tahoma" panose="020B0604030504040204" pitchFamily="34" charset="0"/>
                <a:cs typeface="Tahoma" panose="020B0604030504040204" pitchFamily="34" charset="0"/>
              </a:rPr>
              <a:t>d[key]</a:t>
            </a:r>
          </a:p>
          <a:p>
            <a:pPr lvl="1"/>
            <a:r>
              <a:rPr lang="en-US" altLang="zh-CN" sz="2400" dirty="0">
                <a:latin typeface="Tahoma" panose="020B0604030504040204" pitchFamily="34" charset="0"/>
              </a:rPr>
              <a:t> key</a:t>
            </a:r>
            <a:r>
              <a:rPr lang="zh-CN" altLang="en-US" sz="2400" dirty="0">
                <a:latin typeface="Tahoma" panose="020B0604030504040204" pitchFamily="34" charset="0"/>
              </a:rPr>
              <a:t>不在字典中的话，会报错。</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684340"/>
            <a:ext cx="8245415" cy="724034"/>
          </a:xfrm>
        </p:spPr>
        <p:txBody>
          <a:bodyPr vert="horz" wrap="square" lIns="91456" tIns="45728" rIns="91456" bIns="45728" numCol="1" rtlCol="0" anchor="b" anchorCtr="0" compatLnSpc="1">
            <a:normAutofit/>
          </a:bodyPr>
          <a:lstStyle/>
          <a:p>
            <a:pPr algn="l" defTabSz="914400" eaLnBrk="0" fontAlgn="base" hangingPunct="0">
              <a:lnSpc>
                <a:spcPct val="90000"/>
              </a:lnSpc>
            </a:pPr>
            <a:r>
              <a:rPr lang="en-US" altLang="zh-CN" sz="32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32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、字典的排序和复制</a:t>
            </a:r>
          </a:p>
        </p:txBody>
      </p:sp>
      <p:sp>
        <p:nvSpPr>
          <p:cNvPr id="51203" name="内容占位符 2"/>
          <p:cNvSpPr>
            <a:spLocks noGrp="1"/>
          </p:cNvSpPr>
          <p:nvPr>
            <p:ph idx="1"/>
          </p:nvPr>
        </p:nvSpPr>
        <p:spPr>
          <a:xfrm>
            <a:off x="770583" y="1989634"/>
            <a:ext cx="10873208" cy="2880320"/>
          </a:xfrm>
        </p:spPr>
        <p:txBody>
          <a:bodyPr vert="horz" wrap="square" lIns="91456" tIns="45728" rIns="91456" bIns="45728" anchor="t"/>
          <a:lstStyle/>
          <a:p>
            <a:r>
              <a:rPr lang="zh-CN" altLang="en-US" sz="2800" b="1" dirty="0"/>
              <a:t>字典的排序可以使用内置函数</a:t>
            </a:r>
            <a:r>
              <a:rPr lang="en-US" altLang="zh-CN" sz="2800" b="1" dirty="0"/>
              <a:t>sorted()</a:t>
            </a:r>
            <a:r>
              <a:rPr lang="zh-CN" altLang="en-US" sz="2800" b="1" dirty="0"/>
              <a:t>实现。</a:t>
            </a:r>
            <a:endParaRPr lang="en-US" altLang="zh-CN" sz="2800" b="1" dirty="0"/>
          </a:p>
          <a:p>
            <a:r>
              <a:rPr lang="en-US" altLang="zh-CN" sz="2800" b="1" dirty="0"/>
              <a:t>sorted(</a:t>
            </a:r>
            <a:r>
              <a:rPr lang="en-US" altLang="zh-CN" sz="2800" b="1" dirty="0" err="1"/>
              <a:t>iterable,key,reverse</a:t>
            </a:r>
            <a:r>
              <a:rPr lang="en-US" altLang="zh-CN" sz="2800" b="1" dirty="0"/>
              <a:t>)</a:t>
            </a:r>
            <a:r>
              <a:rPr lang="zh-CN" altLang="en-US" sz="2800" b="1" dirty="0"/>
              <a:t>，</a:t>
            </a:r>
            <a:r>
              <a:rPr lang="en-US" altLang="zh-CN" sz="2800" b="1" dirty="0"/>
              <a:t>sorted</a:t>
            </a:r>
            <a:r>
              <a:rPr lang="zh-CN" altLang="en-US" sz="2800" b="1" dirty="0"/>
              <a:t>一共有</a:t>
            </a:r>
            <a:r>
              <a:rPr lang="en-US" altLang="zh-CN" sz="2800" b="1" dirty="0" err="1"/>
              <a:t>iterable,key,reverse</a:t>
            </a:r>
            <a:r>
              <a:rPr lang="zh-CN" altLang="en-US" sz="2800" b="1" dirty="0"/>
              <a:t>三个参数</a:t>
            </a:r>
            <a:endParaRPr lang="en-US" altLang="zh-CN" sz="2800" b="1" dirty="0"/>
          </a:p>
          <a:p>
            <a:r>
              <a:rPr lang="en-US" altLang="zh-CN" sz="2800" b="1" dirty="0"/>
              <a:t>key</a:t>
            </a:r>
            <a:r>
              <a:rPr lang="zh-CN" altLang="en-US" sz="2800" b="1" dirty="0"/>
              <a:t>可以是一个函数，要对字典的</a:t>
            </a:r>
            <a:r>
              <a:rPr lang="en-US" altLang="zh-CN" sz="2800" b="1" dirty="0"/>
              <a:t>value</a:t>
            </a:r>
            <a:r>
              <a:rPr lang="zh-CN" altLang="en-US" sz="2800" b="1" dirty="0"/>
              <a:t>排序则需要用到</a:t>
            </a:r>
            <a:r>
              <a:rPr lang="en-US" altLang="zh-CN" sz="2800" b="1" dirty="0"/>
              <a:t>key</a:t>
            </a:r>
            <a:r>
              <a:rPr lang="zh-CN" altLang="en-US" sz="2800" b="1" dirty="0"/>
              <a:t>参数，一般使用</a:t>
            </a:r>
            <a:r>
              <a:rPr lang="en-US" altLang="zh-CN" sz="2800" b="1" dirty="0"/>
              <a:t>lambda</a:t>
            </a:r>
            <a:r>
              <a:rPr lang="zh-CN" altLang="en-US" sz="2800" b="1" dirty="0"/>
              <a:t>表达式的方法</a:t>
            </a:r>
            <a:endParaRPr lang="en-US" altLang="zh-CN" sz="2800" b="1" dirty="0"/>
          </a:p>
          <a:p>
            <a:pPr marL="0" indent="0">
              <a:buNone/>
            </a:pPr>
            <a:r>
              <a:rPr lang="en-US" altLang="zh-CN" sz="2800" b="1" dirty="0">
                <a:solidFill>
                  <a:srgbClr val="FF0000"/>
                </a:solidFill>
                <a:latin typeface="Arial Black" panose="020B0A04020102020204" pitchFamily="34" charset="0"/>
              </a:rPr>
              <a:t>           sorted(</a:t>
            </a:r>
            <a:r>
              <a:rPr lang="en-US" altLang="zh-CN" sz="2800" b="1" dirty="0" err="1">
                <a:solidFill>
                  <a:srgbClr val="FF0000"/>
                </a:solidFill>
                <a:latin typeface="Arial Black" panose="020B0A04020102020204" pitchFamily="34" charset="0"/>
              </a:rPr>
              <a:t>dict.items</a:t>
            </a:r>
            <a:r>
              <a:rPr lang="en-US" altLang="zh-CN" sz="2800" b="1" dirty="0">
                <a:solidFill>
                  <a:srgbClr val="FF0000"/>
                </a:solidFill>
                <a:latin typeface="Arial Black" panose="020B0A04020102020204" pitchFamily="34" charset="0"/>
              </a:rPr>
              <a:t>(),key=lambda d:d[0])</a:t>
            </a:r>
          </a:p>
          <a:p>
            <a:pPr marL="0" indent="0">
              <a:buNone/>
            </a:pPr>
            <a:r>
              <a:rPr lang="en-US" altLang="zh-CN" sz="2400" dirty="0">
                <a:solidFill>
                  <a:srgbClr val="0000FF"/>
                </a:solidFill>
              </a:rPr>
              <a:t>lambda </a:t>
            </a:r>
            <a:r>
              <a:rPr lang="zh-CN" altLang="en-US" sz="2400" dirty="0">
                <a:solidFill>
                  <a:srgbClr val="0000FF"/>
                </a:solidFill>
              </a:rPr>
              <a:t>表达式，又称匿名函数，常用来表示内部仅包含 </a:t>
            </a:r>
            <a:r>
              <a:rPr lang="en-US" altLang="zh-CN" sz="2400" dirty="0">
                <a:solidFill>
                  <a:srgbClr val="0000FF"/>
                </a:solidFill>
              </a:rPr>
              <a:t>1 </a:t>
            </a:r>
            <a:r>
              <a:rPr lang="zh-CN" altLang="en-US" sz="2400" dirty="0">
                <a:solidFill>
                  <a:srgbClr val="0000FF"/>
                </a:solidFill>
              </a:rPr>
              <a:t>行表达式的函数。如果一个函数的函数体仅有 </a:t>
            </a:r>
            <a:r>
              <a:rPr lang="en-US" altLang="zh-CN" sz="2400" dirty="0">
                <a:solidFill>
                  <a:srgbClr val="0000FF"/>
                </a:solidFill>
              </a:rPr>
              <a:t>1 </a:t>
            </a:r>
            <a:r>
              <a:rPr lang="zh-CN" altLang="en-US" sz="2400" dirty="0">
                <a:solidFill>
                  <a:srgbClr val="0000FF"/>
                </a:solidFill>
              </a:rPr>
              <a:t>行表达式，则该函数就可以用 </a:t>
            </a:r>
            <a:r>
              <a:rPr lang="en-US" altLang="zh-CN" sz="2400" dirty="0">
                <a:solidFill>
                  <a:srgbClr val="0000FF"/>
                </a:solidFill>
              </a:rPr>
              <a:t>lambda </a:t>
            </a:r>
            <a:r>
              <a:rPr lang="zh-CN" altLang="en-US" sz="2400" dirty="0">
                <a:solidFill>
                  <a:srgbClr val="0000FF"/>
                </a:solidFill>
              </a:rPr>
              <a:t>表达式来代替。</a:t>
            </a:r>
            <a:endParaRPr lang="zh-CN" altLang="en-US" sz="2400" b="1" dirty="0">
              <a:solidFill>
                <a:srgbClr val="0000FF"/>
              </a:solidFill>
              <a:latin typeface="Arial Black" panose="020B0A04020102020204" pitchFamily="34" charset="0"/>
            </a:endParaRPr>
          </a:p>
        </p:txBody>
      </p:sp>
      <p:sp>
        <p:nvSpPr>
          <p:cNvPr id="9"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684340"/>
            <a:ext cx="8245415" cy="724034"/>
          </a:xfrm>
        </p:spPr>
        <p:txBody>
          <a:bodyPr vert="horz" wrap="square" lIns="91456" tIns="45728" rIns="91456" bIns="45728" numCol="1" rtlCol="0" anchor="b" anchorCtr="0" compatLnSpc="1">
            <a:normAutofit/>
          </a:bodyPr>
          <a:lstStyle/>
          <a:p>
            <a:pPr algn="l" defTabSz="914400" eaLnBrk="0" fontAlgn="base" hangingPunct="0">
              <a:lnSpc>
                <a:spcPct val="90000"/>
              </a:lnSpc>
            </a:pPr>
            <a:r>
              <a:rPr lang="en-US" altLang="zh-CN" sz="32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3200" b="1" kern="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微软雅黑" panose="020B0503020204020204" pitchFamily="34" charset="-122"/>
              </a:rPr>
              <a:t>、字典的排序和复制</a:t>
            </a:r>
          </a:p>
        </p:txBody>
      </p:sp>
      <p:sp>
        <p:nvSpPr>
          <p:cNvPr id="51203" name="内容占位符 2"/>
          <p:cNvSpPr>
            <a:spLocks noGrp="1"/>
          </p:cNvSpPr>
          <p:nvPr>
            <p:ph idx="4294967295"/>
          </p:nvPr>
        </p:nvSpPr>
        <p:spPr>
          <a:xfrm>
            <a:off x="919137" y="1529083"/>
            <a:ext cx="10749016" cy="1986445"/>
          </a:xfrm>
        </p:spPr>
        <p:txBody>
          <a:bodyPr vert="horz" wrap="square" lIns="91456" tIns="45728" rIns="91456" bIns="45728" anchor="t"/>
          <a:lstStyle/>
          <a:p>
            <a:r>
              <a:rPr lang="zh-CN" altLang="en-US" sz="2800" b="1" dirty="0"/>
              <a:t>例：字典排序</a:t>
            </a:r>
            <a:endParaRPr lang="en-US" altLang="zh-CN" sz="2800" b="1" dirty="0"/>
          </a:p>
        </p:txBody>
      </p:sp>
      <p:sp>
        <p:nvSpPr>
          <p:cNvPr id="9"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矩形 4"/>
          <p:cNvSpPr/>
          <p:nvPr/>
        </p:nvSpPr>
        <p:spPr>
          <a:xfrm>
            <a:off x="266700" y="2205658"/>
            <a:ext cx="11834495" cy="2676525"/>
          </a:xfrm>
          <a:prstGeom prst="rect">
            <a:avLst/>
          </a:prstGeom>
        </p:spPr>
        <p:txBody>
          <a:bodyPr wrap="square">
            <a:spAutoFit/>
          </a:bodyPr>
          <a:lstStyle/>
          <a:p>
            <a:r>
              <a:rPr lang="en-US" altLang="zh-CN" sz="2800" b="1" dirty="0" err="1">
                <a:latin typeface="Arial Black" panose="020B0A04020102020204" pitchFamily="34" charset="0"/>
              </a:rPr>
              <a:t>dict</a:t>
            </a:r>
            <a:r>
              <a:rPr lang="en-US" altLang="zh-CN" sz="2800" b="1" dirty="0">
                <a:latin typeface="Arial Black" panose="020B0A04020102020204" pitchFamily="34" charset="0"/>
              </a:rPr>
              <a:t>={'</a:t>
            </a:r>
            <a:r>
              <a:rPr lang="en-US" altLang="zh-CN" sz="2800" b="1" dirty="0" err="1">
                <a:latin typeface="Arial Black" panose="020B0A04020102020204" pitchFamily="34" charset="0"/>
              </a:rPr>
              <a:t>a':'apple','b':'grape','c':'orange','d':'banana</a:t>
            </a:r>
            <a:r>
              <a:rPr lang="en-US" altLang="zh-CN" sz="2800" b="1" dirty="0">
                <a:latin typeface="Arial Black" panose="020B0A04020102020204" pitchFamily="34" charset="0"/>
              </a:rPr>
              <a:t>'}</a:t>
            </a:r>
          </a:p>
          <a:p>
            <a:endParaRPr lang="en-US" altLang="zh-CN" sz="2800" b="1" dirty="0">
              <a:latin typeface="Arial Black" panose="020B0A04020102020204" pitchFamily="34" charset="0"/>
            </a:endParaRPr>
          </a:p>
          <a:p>
            <a:r>
              <a:rPr lang="en-US" altLang="zh-CN" sz="2800" b="1" dirty="0">
                <a:latin typeface="Arial Black" panose="020B0A04020102020204" pitchFamily="34" charset="0"/>
              </a:rPr>
              <a:t>print (</a:t>
            </a:r>
            <a:r>
              <a:rPr lang="en-US" altLang="zh-CN" sz="2800" b="1" dirty="0" err="1">
                <a:latin typeface="Arial Black" panose="020B0A04020102020204" pitchFamily="34" charset="0"/>
              </a:rPr>
              <a:t>dict</a:t>
            </a:r>
            <a:r>
              <a:rPr lang="en-US" altLang="zh-CN" sz="2800" b="1" dirty="0">
                <a:latin typeface="Arial Black" panose="020B0A04020102020204" pitchFamily="34" charset="0"/>
              </a:rPr>
              <a:t>)</a:t>
            </a:r>
          </a:p>
          <a:p>
            <a:r>
              <a:rPr lang="en-US" altLang="zh-CN" sz="2800" b="1" dirty="0">
                <a:latin typeface="Arial Black" panose="020B0A04020102020204" pitchFamily="34" charset="0"/>
              </a:rPr>
              <a:t>print (sorted(</a:t>
            </a:r>
            <a:r>
              <a:rPr lang="en-US" altLang="zh-CN" sz="2800" b="1" dirty="0" err="1">
                <a:latin typeface="Arial Black" panose="020B0A04020102020204" pitchFamily="34" charset="0"/>
              </a:rPr>
              <a:t>dict.items</a:t>
            </a:r>
            <a:r>
              <a:rPr lang="en-US" altLang="zh-CN" sz="2800" b="1" dirty="0">
                <a:latin typeface="Arial Black" panose="020B0A04020102020204" pitchFamily="34" charset="0"/>
              </a:rPr>
              <a:t>(),key=lambda d:d[0]))#</a:t>
            </a:r>
            <a:r>
              <a:rPr lang="zh-CN" altLang="en-US" sz="2800" b="1" dirty="0">
                <a:latin typeface="Arial Black" panose="020B0A04020102020204" pitchFamily="34" charset="0"/>
              </a:rPr>
              <a:t>按照</a:t>
            </a:r>
            <a:r>
              <a:rPr lang="en-US" altLang="zh-CN" sz="2800" b="1" dirty="0">
                <a:latin typeface="Arial Black" panose="020B0A04020102020204" pitchFamily="34" charset="0"/>
              </a:rPr>
              <a:t>key</a:t>
            </a:r>
            <a:r>
              <a:rPr lang="zh-CN" altLang="en-US" sz="2800" b="1" dirty="0">
                <a:latin typeface="Arial Black" panose="020B0A04020102020204" pitchFamily="34" charset="0"/>
              </a:rPr>
              <a:t>排序</a:t>
            </a:r>
            <a:endParaRPr lang="en-US" altLang="zh-CN" sz="2800" b="1" dirty="0">
              <a:latin typeface="Arial Black" panose="020B0A04020102020204" pitchFamily="34" charset="0"/>
            </a:endParaRPr>
          </a:p>
          <a:p>
            <a:r>
              <a:rPr lang="en-US" altLang="zh-CN" sz="2800" b="1" dirty="0">
                <a:latin typeface="Arial Black" panose="020B0A04020102020204" pitchFamily="34" charset="0"/>
              </a:rPr>
              <a:t>print (sorted(</a:t>
            </a:r>
            <a:r>
              <a:rPr lang="en-US" altLang="zh-CN" sz="2800" b="1" dirty="0" err="1">
                <a:latin typeface="Arial Black" panose="020B0A04020102020204" pitchFamily="34" charset="0"/>
              </a:rPr>
              <a:t>dict.items</a:t>
            </a:r>
            <a:r>
              <a:rPr lang="en-US" altLang="zh-CN" sz="2800" b="1" dirty="0">
                <a:latin typeface="Arial Black" panose="020B0A04020102020204" pitchFamily="34" charset="0"/>
              </a:rPr>
              <a:t>(),key=lambda d:d[1]))#</a:t>
            </a:r>
            <a:r>
              <a:rPr lang="zh-CN" altLang="en-US" sz="2800" b="1" dirty="0">
                <a:latin typeface="Arial Black" panose="020B0A04020102020204" pitchFamily="34" charset="0"/>
              </a:rPr>
              <a:t>按照</a:t>
            </a:r>
            <a:r>
              <a:rPr lang="en-US" altLang="zh-CN" sz="2800" b="1" dirty="0">
                <a:latin typeface="Arial Black" panose="020B0A04020102020204" pitchFamily="34" charset="0"/>
              </a:rPr>
              <a:t>value</a:t>
            </a:r>
            <a:r>
              <a:rPr lang="zh-CN" altLang="en-US" sz="2800" b="1" dirty="0">
                <a:latin typeface="Arial Black" panose="020B0A04020102020204" pitchFamily="34" charset="0"/>
              </a:rPr>
              <a:t>排序</a:t>
            </a:r>
            <a:endParaRPr lang="en-US" altLang="zh-CN" sz="2800" b="1" dirty="0">
              <a:latin typeface="Arial Black" panose="020B0A04020102020204" pitchFamily="34" charset="0"/>
            </a:endParaRPr>
          </a:p>
          <a:p>
            <a:endParaRPr lang="zh-CN" altLang="en-US" sz="2800" b="1" dirty="0">
              <a:latin typeface="Arial Black" panose="020B0A04020102020204" pitchFamily="34" charset="0"/>
            </a:endParaRPr>
          </a:p>
        </p:txBody>
      </p:sp>
    </p:spTree>
  </p:cSld>
  <p:clrMapOvr>
    <a:masterClrMapping/>
  </p:clrMapOvr>
  <p:transition spd="slow" advTm="0"/>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47047" y="621482"/>
            <a:ext cx="2448272" cy="724034"/>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关于复制：</a:t>
            </a:r>
          </a:p>
        </p:txBody>
      </p:sp>
      <p:sp>
        <p:nvSpPr>
          <p:cNvPr id="52227" name="内容占位符 2"/>
          <p:cNvSpPr>
            <a:spLocks noGrp="1"/>
          </p:cNvSpPr>
          <p:nvPr>
            <p:ph idx="1"/>
          </p:nvPr>
        </p:nvSpPr>
        <p:spPr>
          <a:xfrm>
            <a:off x="410845" y="1388745"/>
            <a:ext cx="11377295" cy="5093335"/>
          </a:xfrm>
        </p:spPr>
        <p:txBody>
          <a:bodyPr vert="horz" wrap="square" lIns="91456" tIns="45728" rIns="91456" bIns="45728" anchor="t"/>
          <a:lstStyle/>
          <a:p>
            <a:pPr algn="just">
              <a:lnSpc>
                <a:spcPts val="3800"/>
              </a:lnSpc>
            </a:pP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复制分</a:t>
            </a:r>
            <a:r>
              <a:rPr lang="zh-CN" altLang="en-US" sz="22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深拷贝</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和</a:t>
            </a:r>
            <a:r>
              <a:rPr lang="zh-CN" altLang="en-US" sz="22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浅拷贝</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，不只限于字典，适用于</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任何对象。可使用</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copy</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模块来实现对象的深拷贝和浅拷贝，</a:t>
            </a:r>
            <a:r>
              <a:rPr lang="en-US" altLang="zh-CN" sz="2200" b="1" dirty="0" err="1">
                <a:latin typeface="微软雅黑" panose="020B0503020204020204" pitchFamily="34" charset="-122"/>
                <a:ea typeface="微软雅黑" panose="020B0503020204020204" pitchFamily="34" charset="-122"/>
                <a:cs typeface="微软雅黑" panose="020B0503020204020204" pitchFamily="34" charset="-122"/>
              </a:rPr>
              <a:t>copy.deepcopy</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用于深拷贝，</a:t>
            </a:r>
            <a:r>
              <a:rPr lang="en-US" altLang="zh-CN" sz="2200" b="1" dirty="0" err="1">
                <a:latin typeface="微软雅黑" panose="020B0503020204020204" pitchFamily="34" charset="-122"/>
                <a:ea typeface="微软雅黑" panose="020B0503020204020204" pitchFamily="34" charset="-122"/>
                <a:cs typeface="微软雅黑" panose="020B0503020204020204" pitchFamily="34" charset="-122"/>
              </a:rPr>
              <a:t>copy.copy</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用于浅拷贝。</a:t>
            </a:r>
            <a:endParaRPr lang="en-US" altLang="zh-CN" sz="2200" b="1"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3800"/>
              </a:lnSpc>
            </a:pP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深拷贝能够拷贝对象内部所有数据和引用，引用相当于</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语言中指针的概念，</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并不存在指针，但是变量的内存结构中通过引用来维护变量。</a:t>
            </a:r>
            <a:endParaRPr lang="en-US" altLang="zh-CN" sz="2200" b="1"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3800"/>
              </a:lnSpc>
            </a:pP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浅拷贝只复制数据，并没有复制数据的引用，新的数据和旧的数据使用同一块内存空间。</a:t>
            </a:r>
            <a:endParaRPr lang="en-US" altLang="zh-CN" sz="2200" b="1"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3800"/>
              </a:lnSpc>
            </a:pP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例如：字典</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浅拷贝字典</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的数据，如果字典</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的数据发生添加、删除或修改操作，字典</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的数据也将发生变化；相反，如果字典</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深拷贝字典</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的数据，字典</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的数据即使发生变化，也不会影响的字典</a:t>
            </a:r>
            <a:r>
              <a:rPr lang="en-US" altLang="zh-CN" sz="2200" b="1" dirty="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4"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Tree>
  </p:cSld>
  <p:clrMapOvr>
    <a:masterClrMapping/>
  </p:clrMapOvr>
  <p:transition spd="slow" advTm="0"/>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7859" y="904751"/>
            <a:ext cx="8245415" cy="508386"/>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Arial Black" panose="020B0A04020102020204" pitchFamily="34" charset="0"/>
              </a:rPr>
              <a:t>例：字典的拷贝</a:t>
            </a:r>
          </a:p>
        </p:txBody>
      </p:sp>
      <p:sp>
        <p:nvSpPr>
          <p:cNvPr id="9"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11" name="TextBox 7"/>
          <p:cNvSpPr txBox="1"/>
          <p:nvPr/>
        </p:nvSpPr>
        <p:spPr>
          <a:xfrm>
            <a:off x="6984510" y="2730829"/>
            <a:ext cx="1714500" cy="461963"/>
          </a:xfrm>
          <a:prstGeom prst="rect">
            <a:avLst/>
          </a:prstGeom>
        </p:spPr>
        <p:style>
          <a:lnRef idx="1">
            <a:schemeClr val="dk1"/>
          </a:lnRef>
          <a:fillRef idx="2">
            <a:schemeClr val="dk1"/>
          </a:fillRef>
          <a:effectRef idx="1">
            <a:schemeClr val="dk1"/>
          </a:effectRef>
          <a:fontRef idx="minor">
            <a:schemeClr val="dk1"/>
          </a:fontRef>
        </p:style>
        <p:txBody>
          <a:bodyPr>
            <a:spAutoFit/>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dk1"/>
                </a:solidFill>
                <a:effectLst/>
                <a:uLnTx/>
                <a:uFillTx/>
                <a:latin typeface="+mn-lt"/>
                <a:ea typeface="+mn-ea"/>
                <a:cs typeface="+mn-cs"/>
              </a:rPr>
              <a:t>执行结果：</a:t>
            </a:r>
          </a:p>
        </p:txBody>
      </p:sp>
      <p:sp>
        <p:nvSpPr>
          <p:cNvPr id="3" name="矩形 2"/>
          <p:cNvSpPr/>
          <p:nvPr/>
        </p:nvSpPr>
        <p:spPr>
          <a:xfrm>
            <a:off x="247352" y="1715925"/>
            <a:ext cx="6703060" cy="3969385"/>
          </a:xfrm>
          <a:prstGeom prst="rect">
            <a:avLst/>
          </a:prstGeom>
        </p:spPr>
        <p:txBody>
          <a:bodyPr wrap="none">
            <a:spAutoFit/>
          </a:bodyPr>
          <a:lstStyle/>
          <a:p>
            <a:r>
              <a:rPr lang="zh-CN" altLang="en-US" sz="2800" b="1" dirty="0"/>
              <a:t>import copy</a:t>
            </a:r>
            <a:endParaRPr lang="en-US" altLang="zh-CN" sz="2800" b="1" dirty="0"/>
          </a:p>
          <a:p>
            <a:r>
              <a:rPr lang="en-US" altLang="zh-CN" sz="2800" b="1" dirty="0" err="1"/>
              <a:t>dict</a:t>
            </a:r>
            <a:r>
              <a:rPr lang="en-US" altLang="zh-CN" sz="2800" b="1" dirty="0"/>
              <a:t> = {'</a:t>
            </a:r>
            <a:r>
              <a:rPr lang="en-US" altLang="zh-CN" sz="2800" b="1" dirty="0" err="1"/>
              <a:t>a':'apple','b</a:t>
            </a:r>
            <a:r>
              <a:rPr lang="en-US" altLang="zh-CN" sz="2800" b="1" dirty="0"/>
              <a:t>':{'</a:t>
            </a:r>
            <a:r>
              <a:rPr lang="en-US" altLang="zh-CN" sz="2800" b="1" dirty="0" err="1"/>
              <a:t>g':'grape','o':'orange</a:t>
            </a:r>
            <a:r>
              <a:rPr lang="en-US" altLang="zh-CN" sz="2800" b="1" dirty="0"/>
              <a:t>'}}</a:t>
            </a:r>
          </a:p>
          <a:p>
            <a:r>
              <a:rPr lang="en-US" altLang="zh-CN" sz="2800" b="1" i="1" u="sng" dirty="0"/>
              <a:t>print (</a:t>
            </a:r>
            <a:r>
              <a:rPr lang="en-US" altLang="zh-CN" sz="2800" b="1" i="1" u="sng" dirty="0" err="1"/>
              <a:t>dict</a:t>
            </a:r>
            <a:r>
              <a:rPr lang="en-US" altLang="zh-CN" sz="2800" b="1" i="1" u="sng" dirty="0"/>
              <a:t>)</a:t>
            </a:r>
          </a:p>
          <a:p>
            <a:r>
              <a:rPr lang="en-US" altLang="zh-CN" sz="2800" b="1" dirty="0">
                <a:solidFill>
                  <a:srgbClr val="FF0000"/>
                </a:solidFill>
              </a:rPr>
              <a:t>dict1 = </a:t>
            </a:r>
            <a:r>
              <a:rPr lang="en-US" altLang="zh-CN" sz="2800" b="1" dirty="0" err="1">
                <a:solidFill>
                  <a:srgbClr val="FF0000"/>
                </a:solidFill>
              </a:rPr>
              <a:t>copy.deepcopy</a:t>
            </a:r>
            <a:r>
              <a:rPr lang="en-US" altLang="zh-CN" sz="2800" b="1" dirty="0">
                <a:solidFill>
                  <a:srgbClr val="FF0000"/>
                </a:solidFill>
              </a:rPr>
              <a:t>(</a:t>
            </a:r>
            <a:r>
              <a:rPr lang="en-US" altLang="zh-CN" sz="2800" b="1" dirty="0" err="1">
                <a:solidFill>
                  <a:srgbClr val="FF0000"/>
                </a:solidFill>
              </a:rPr>
              <a:t>dict</a:t>
            </a:r>
            <a:r>
              <a:rPr lang="en-US" altLang="zh-CN" sz="2800" b="1" dirty="0">
                <a:solidFill>
                  <a:srgbClr val="FF0000"/>
                </a:solidFill>
              </a:rPr>
              <a:t>)#</a:t>
            </a:r>
            <a:r>
              <a:rPr lang="zh-CN" altLang="en-US" sz="2800" b="1" dirty="0">
                <a:solidFill>
                  <a:srgbClr val="FF0000"/>
                </a:solidFill>
              </a:rPr>
              <a:t>深复制</a:t>
            </a:r>
            <a:endParaRPr lang="en-US" altLang="zh-CN" sz="2800" b="1" dirty="0">
              <a:solidFill>
                <a:srgbClr val="FF0000"/>
              </a:solidFill>
            </a:endParaRPr>
          </a:p>
          <a:p>
            <a:r>
              <a:rPr lang="en-US" altLang="zh-CN" sz="2800" b="1" dirty="0">
                <a:solidFill>
                  <a:srgbClr val="FF0000"/>
                </a:solidFill>
              </a:rPr>
              <a:t>dict2 = </a:t>
            </a:r>
            <a:r>
              <a:rPr lang="en-US" altLang="zh-CN" sz="2800" b="1" dirty="0" err="1">
                <a:solidFill>
                  <a:srgbClr val="FF0000"/>
                </a:solidFill>
              </a:rPr>
              <a:t>copy.copy</a:t>
            </a:r>
            <a:r>
              <a:rPr lang="en-US" altLang="zh-CN" sz="2800" b="1" dirty="0">
                <a:solidFill>
                  <a:srgbClr val="FF0000"/>
                </a:solidFill>
              </a:rPr>
              <a:t>(</a:t>
            </a:r>
            <a:r>
              <a:rPr lang="en-US" altLang="zh-CN" sz="2800" b="1" dirty="0" err="1">
                <a:solidFill>
                  <a:srgbClr val="FF0000"/>
                </a:solidFill>
              </a:rPr>
              <a:t>dict</a:t>
            </a:r>
            <a:r>
              <a:rPr lang="en-US" altLang="zh-CN" sz="2800" b="1" dirty="0">
                <a:solidFill>
                  <a:srgbClr val="FF0000"/>
                </a:solidFill>
              </a:rPr>
              <a:t>)         #</a:t>
            </a:r>
            <a:r>
              <a:rPr lang="zh-CN" altLang="en-US" sz="2800" b="1" dirty="0">
                <a:solidFill>
                  <a:srgbClr val="FF0000"/>
                </a:solidFill>
              </a:rPr>
              <a:t>浅复制</a:t>
            </a:r>
            <a:endParaRPr lang="en-US" altLang="zh-CN" sz="2800" b="1" dirty="0">
              <a:solidFill>
                <a:srgbClr val="FF0000"/>
              </a:solidFill>
            </a:endParaRPr>
          </a:p>
          <a:p>
            <a:r>
              <a:rPr lang="en-US" altLang="zh-CN" sz="2800" b="1" dirty="0"/>
              <a:t>dict1['b']['g']='orange'</a:t>
            </a:r>
          </a:p>
          <a:p>
            <a:r>
              <a:rPr lang="en-US" altLang="zh-CN" sz="2800" b="1" i="1" u="sng" dirty="0"/>
              <a:t>print (</a:t>
            </a:r>
            <a:r>
              <a:rPr lang="en-US" altLang="zh-CN" sz="2800" b="1" i="1" u="sng" dirty="0" err="1"/>
              <a:t>dict</a:t>
            </a:r>
            <a:r>
              <a:rPr lang="en-US" altLang="zh-CN" sz="2800" b="1" i="1" u="sng" dirty="0"/>
              <a:t>)</a:t>
            </a:r>
          </a:p>
          <a:p>
            <a:r>
              <a:rPr lang="en-US" altLang="zh-CN" sz="2800" b="1" dirty="0"/>
              <a:t>dict2['b']['g']='orange‘</a:t>
            </a:r>
          </a:p>
          <a:p>
            <a:r>
              <a:rPr lang="en-US" altLang="zh-CN" sz="2800" b="1" i="1" u="sng" dirty="0"/>
              <a:t>print (</a:t>
            </a:r>
            <a:r>
              <a:rPr lang="en-US" altLang="zh-CN" sz="2800" b="1" i="1" u="sng" dirty="0" err="1"/>
              <a:t>dict</a:t>
            </a:r>
            <a:r>
              <a:rPr lang="en-US" altLang="zh-CN" sz="2800" b="1" i="1" u="sng" dirty="0"/>
              <a:t>)</a:t>
            </a:r>
            <a:endParaRPr lang="zh-CN" altLang="en-US" sz="2800" b="1" i="1" u="sng" dirty="0"/>
          </a:p>
        </p:txBody>
      </p:sp>
      <p:sp>
        <p:nvSpPr>
          <p:cNvPr id="4" name="矩形 3"/>
          <p:cNvSpPr/>
          <p:nvPr/>
        </p:nvSpPr>
        <p:spPr>
          <a:xfrm>
            <a:off x="6393523" y="3515900"/>
            <a:ext cx="5638788" cy="1569660"/>
          </a:xfrm>
          <a:prstGeom prst="rect">
            <a:avLst/>
          </a:prstGeom>
        </p:spPr>
        <p:txBody>
          <a:bodyPr wrap="none">
            <a:spAutoFit/>
          </a:bodyPr>
          <a:lstStyle/>
          <a:p>
            <a:r>
              <a:rPr lang="zh-CN" altLang="en-US" b="1" dirty="0"/>
              <a:t>{'a': 'apple', 'b': {'g': 'grape', 'o': 'orange'}}</a:t>
            </a:r>
            <a:endParaRPr lang="en-US" altLang="zh-CN" b="1" dirty="0"/>
          </a:p>
          <a:p>
            <a:r>
              <a:rPr lang="en-US" altLang="zh-CN" b="1" dirty="0"/>
              <a:t>{'a': 'apple', 'b': {'g': 'grape', 'o': 'orange'}}</a:t>
            </a:r>
          </a:p>
          <a:p>
            <a:r>
              <a:rPr lang="en-US" altLang="zh-CN" b="1" dirty="0"/>
              <a:t>{'a': 'apple', 'b': {'g': 'orange', 'o': 'orange'}}</a:t>
            </a:r>
          </a:p>
          <a:p>
            <a:endParaRPr lang="zh-CN" altLang="en-US" b="1" dirty="0"/>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4"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002831" y="904751"/>
            <a:ext cx="8245415" cy="508386"/>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关于深拷贝、浅拷贝和复制的再探讨</a:t>
            </a:r>
          </a:p>
        </p:txBody>
      </p:sp>
      <p:sp>
        <p:nvSpPr>
          <p:cNvPr id="9"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矩形 4"/>
          <p:cNvSpPr/>
          <p:nvPr/>
        </p:nvSpPr>
        <p:spPr>
          <a:xfrm>
            <a:off x="620723" y="1413523"/>
            <a:ext cx="10756174" cy="2676525"/>
          </a:xfrm>
          <a:prstGeom prst="rect">
            <a:avLst/>
          </a:prstGeom>
        </p:spPr>
        <p:txBody>
          <a:bodyPr wrap="square">
            <a:spAutoFit/>
          </a:bodyPr>
          <a:lstStyle/>
          <a:p>
            <a:pPr>
              <a:lnSpc>
                <a:spcPct val="150000"/>
              </a:lnSpc>
            </a:pPr>
            <a:r>
              <a:rPr lang="zh-CN" altLang="en-US" sz="2800" b="1" dirty="0">
                <a:solidFill>
                  <a:srgbClr val="4F4F4F"/>
                </a:solidFill>
                <a:latin typeface="微软雅黑" panose="020B0503020204020204" pitchFamily="34" charset="-122"/>
                <a:ea typeface="微软雅黑" panose="020B0503020204020204" pitchFamily="34" charset="-122"/>
              </a:rPr>
              <a:t>       深拷贝就是把要</a:t>
            </a:r>
            <a:r>
              <a:rPr lang="zh-CN" altLang="en-US" sz="2800" b="1" dirty="0">
                <a:solidFill>
                  <a:srgbClr val="FF0000"/>
                </a:solidFill>
                <a:latin typeface="微软雅黑" panose="020B0503020204020204" pitchFamily="34" charset="-122"/>
                <a:ea typeface="微软雅黑" panose="020B0503020204020204" pitchFamily="34" charset="-122"/>
              </a:rPr>
              <a:t>拷贝的对象整体复制一份，存在新开辟的空间里</a:t>
            </a:r>
            <a:r>
              <a:rPr lang="zh-CN" altLang="en-US" sz="2800" b="1" dirty="0">
                <a:solidFill>
                  <a:srgbClr val="4F4F4F"/>
                </a:solidFill>
                <a:latin typeface="微软雅黑" panose="020B0503020204020204" pitchFamily="34" charset="-122"/>
                <a:ea typeface="微软雅黑" panose="020B0503020204020204" pitchFamily="34" charset="-122"/>
              </a:rPr>
              <a:t>；而浅拷贝指的是，对于要拷贝的对象要复制一份，但是</a:t>
            </a:r>
            <a:r>
              <a:rPr lang="zh-CN" altLang="en-US" sz="2800" b="1" dirty="0">
                <a:solidFill>
                  <a:srgbClr val="FF0000"/>
                </a:solidFill>
                <a:latin typeface="微软雅黑" panose="020B0503020204020204" pitchFamily="34" charset="-122"/>
                <a:ea typeface="微软雅黑" panose="020B0503020204020204" pitchFamily="34" charset="-122"/>
              </a:rPr>
              <a:t>对于其内部的子对象就不复制了，而是直接引用（但修改值时，要注意区分可变与不可变对象）</a:t>
            </a:r>
            <a:r>
              <a:rPr lang="zh-CN" altLang="en-US" sz="2800" b="1" dirty="0">
                <a:solidFill>
                  <a:srgbClr val="4F4F4F"/>
                </a:solidFill>
                <a:latin typeface="微软雅黑" panose="020B0503020204020204" pitchFamily="34" charset="-122"/>
                <a:ea typeface="微软雅黑" panose="020B0503020204020204" pitchFamily="34" charset="-122"/>
              </a:rPr>
              <a:t>，也就是类似于添加了一个链接而已。</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spd="slow" advTm="0"/>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002831" y="904751"/>
            <a:ext cx="8245415" cy="508386"/>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关于深拷贝、浅拷贝和复制的再探讨</a:t>
            </a:r>
          </a:p>
        </p:txBody>
      </p:sp>
      <p:sp>
        <p:nvSpPr>
          <p:cNvPr id="9"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矩形 4"/>
          <p:cNvSpPr/>
          <p:nvPr/>
        </p:nvSpPr>
        <p:spPr>
          <a:xfrm>
            <a:off x="-237529" y="1454674"/>
            <a:ext cx="3654364" cy="738664"/>
          </a:xfrm>
          <a:prstGeom prst="rect">
            <a:avLst/>
          </a:prstGeom>
        </p:spPr>
        <p:txBody>
          <a:bodyPr wrap="square">
            <a:spAutoFit/>
          </a:bodyPr>
          <a:lstStyle/>
          <a:p>
            <a:pPr>
              <a:lnSpc>
                <a:spcPct val="150000"/>
              </a:lnSpc>
            </a:pPr>
            <a:r>
              <a:rPr lang="zh-CN" altLang="en-US" sz="2800" b="1">
                <a:solidFill>
                  <a:srgbClr val="4F4F4F"/>
                </a:solidFill>
                <a:latin typeface="微软雅黑" panose="020B0503020204020204" pitchFamily="34" charset="-122"/>
                <a:ea typeface="微软雅黑" panose="020B0503020204020204" pitchFamily="34" charset="-122"/>
              </a:rPr>
              <a:t>       </a:t>
            </a:r>
            <a:r>
              <a:rPr lang="en-US" altLang="zh-CN" sz="2800" b="1">
                <a:solidFill>
                  <a:srgbClr val="4F4F4F"/>
                </a:solidFill>
                <a:latin typeface="微软雅黑" panose="020B0503020204020204" pitchFamily="34" charset="-122"/>
                <a:ea typeface="微软雅黑" panose="020B0503020204020204" pitchFamily="34" charset="-122"/>
              </a:rPr>
              <a:t>1</a:t>
            </a:r>
            <a:r>
              <a:rPr lang="zh-CN" altLang="en-US" sz="2800" b="1">
                <a:solidFill>
                  <a:srgbClr val="4F4F4F"/>
                </a:solidFill>
                <a:latin typeface="微软雅黑" panose="020B0503020204020204" pitchFamily="34" charset="-122"/>
                <a:ea typeface="微软雅黑" panose="020B0503020204020204" pitchFamily="34" charset="-122"/>
              </a:rPr>
              <a:t>、浅拷贝</a:t>
            </a:r>
            <a:endParaRPr lang="zh-CN" altLang="en-US" sz="2800" b="1" dirty="0">
              <a:latin typeface="微软雅黑" panose="020B0503020204020204" pitchFamily="34" charset="-122"/>
              <a:ea typeface="微软雅黑" panose="020B0503020204020204" pitchFamily="34" charset="-122"/>
            </a:endParaRPr>
          </a:p>
        </p:txBody>
      </p:sp>
      <p:sp>
        <p:nvSpPr>
          <p:cNvPr id="3" name="矩形 2"/>
          <p:cNvSpPr/>
          <p:nvPr/>
        </p:nvSpPr>
        <p:spPr>
          <a:xfrm>
            <a:off x="554559" y="2076006"/>
            <a:ext cx="4273734" cy="1318053"/>
          </a:xfrm>
          <a:prstGeom prst="rect">
            <a:avLst/>
          </a:prstGeom>
        </p:spPr>
        <p:txBody>
          <a:bodyPr wrap="square">
            <a:spAutoFit/>
          </a:bodyPr>
          <a:lstStyle/>
          <a:p>
            <a:pPr>
              <a:lnSpc>
                <a:spcPct val="150000"/>
              </a:lnSpc>
            </a:pPr>
            <a:r>
              <a:rPr lang="en-US" altLang="zh-CN" sz="2800" b="1" dirty="0">
                <a:solidFill>
                  <a:srgbClr val="000000"/>
                </a:solidFill>
                <a:latin typeface="Arial Black" panose="020B0A04020102020204" pitchFamily="34" charset="0"/>
              </a:rPr>
              <a:t>a=</a:t>
            </a:r>
            <a:r>
              <a:rPr lang="en-US" altLang="zh-CN" sz="2800" b="1" dirty="0">
                <a:latin typeface="Arial Black" panose="020B0A04020102020204" pitchFamily="34" charset="0"/>
              </a:rPr>
              <a:t>[888, 2, 3, [4, 5]]</a:t>
            </a:r>
          </a:p>
          <a:p>
            <a:pPr>
              <a:lnSpc>
                <a:spcPct val="150000"/>
              </a:lnSpc>
            </a:pPr>
            <a:r>
              <a:rPr lang="en-US" altLang="zh-CN" sz="2800" b="1" dirty="0">
                <a:solidFill>
                  <a:srgbClr val="000000"/>
                </a:solidFill>
                <a:latin typeface="Arial Black" panose="020B0A04020102020204" pitchFamily="34" charset="0"/>
              </a:rPr>
              <a:t>b = </a:t>
            </a:r>
            <a:r>
              <a:rPr lang="en-US" altLang="zh-CN" sz="2800" b="1" dirty="0" err="1">
                <a:solidFill>
                  <a:srgbClr val="000000"/>
                </a:solidFill>
                <a:latin typeface="Arial Black" panose="020B0A04020102020204" pitchFamily="34" charset="0"/>
              </a:rPr>
              <a:t>copy.copy</a:t>
            </a:r>
            <a:r>
              <a:rPr lang="en-US" altLang="zh-CN" sz="2800" b="1" dirty="0">
                <a:solidFill>
                  <a:srgbClr val="000000"/>
                </a:solidFill>
                <a:latin typeface="Arial Black" panose="020B0A04020102020204" pitchFamily="34" charset="0"/>
              </a:rPr>
              <a:t>(a)</a:t>
            </a:r>
            <a:endParaRPr lang="zh-CN" altLang="en-US" sz="2800" b="1" dirty="0">
              <a:solidFill>
                <a:srgbClr val="000000"/>
              </a:solidFill>
              <a:latin typeface="Arial Black" panose="020B0A04020102020204" pitchFamily="34" charset="0"/>
            </a:endParaRPr>
          </a:p>
        </p:txBody>
      </p:sp>
      <p:sp>
        <p:nvSpPr>
          <p:cNvPr id="4" name="矩形 3"/>
          <p:cNvSpPr/>
          <p:nvPr/>
        </p:nvSpPr>
        <p:spPr>
          <a:xfrm>
            <a:off x="3938935" y="2879955"/>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的值为</a:t>
            </a:r>
            <a:r>
              <a:rPr lang="en-US" altLang="zh-CN" dirty="0">
                <a:solidFill>
                  <a:srgbClr val="000000"/>
                </a:solidFill>
                <a:latin typeface="微软雅黑" panose="020B0503020204020204" pitchFamily="34" charset="-122"/>
                <a:ea typeface="微软雅黑" panose="020B0503020204020204" pitchFamily="34" charset="-122"/>
              </a:rPr>
              <a:t>[888, 2, 3, [4, 5]]</a:t>
            </a:r>
            <a:endParaRPr lang="zh-CN" altLang="en-US" dirty="0">
              <a:latin typeface="微软雅黑" panose="020B0503020204020204" pitchFamily="34" charset="-122"/>
              <a:ea typeface="微软雅黑" panose="020B0503020204020204" pitchFamily="34" charset="-122"/>
            </a:endParaRPr>
          </a:p>
        </p:txBody>
      </p:sp>
      <p:sp>
        <p:nvSpPr>
          <p:cNvPr id="8" name="矩形 7"/>
          <p:cNvSpPr/>
          <p:nvPr/>
        </p:nvSpPr>
        <p:spPr>
          <a:xfrm>
            <a:off x="554559" y="3514389"/>
            <a:ext cx="4273734" cy="738664"/>
          </a:xfrm>
          <a:prstGeom prst="rect">
            <a:avLst/>
          </a:prstGeom>
        </p:spPr>
        <p:txBody>
          <a:bodyPr wrap="square">
            <a:spAutoFit/>
          </a:bodyPr>
          <a:lstStyle/>
          <a:p>
            <a:pPr>
              <a:lnSpc>
                <a:spcPct val="150000"/>
              </a:lnSpc>
            </a:pPr>
            <a:r>
              <a:rPr lang="en-US" altLang="zh-CN" sz="2800" b="1" dirty="0">
                <a:latin typeface="Arial Black" panose="020B0A04020102020204" pitchFamily="34" charset="0"/>
              </a:rPr>
              <a:t>b[0] = 233</a:t>
            </a:r>
            <a:endParaRPr lang="zh-CN" altLang="en-US" sz="2800" b="1" dirty="0">
              <a:latin typeface="Arial Black" panose="020B0A04020102020204" pitchFamily="34" charset="0"/>
            </a:endParaRPr>
          </a:p>
        </p:txBody>
      </p:sp>
      <p:sp>
        <p:nvSpPr>
          <p:cNvPr id="10" name="矩形 9"/>
          <p:cNvSpPr/>
          <p:nvPr/>
        </p:nvSpPr>
        <p:spPr>
          <a:xfrm>
            <a:off x="3960868" y="3632326"/>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的值为</a:t>
            </a:r>
            <a:r>
              <a:rPr lang="en-US" altLang="zh-CN" dirty="0">
                <a:solidFill>
                  <a:srgbClr val="000000"/>
                </a:solidFill>
                <a:latin typeface="微软雅黑" panose="020B0503020204020204" pitchFamily="34" charset="-122"/>
                <a:ea typeface="微软雅黑" panose="020B0503020204020204" pitchFamily="34" charset="-122"/>
              </a:rPr>
              <a:t>[233, 2, 3, [4, 5]]</a:t>
            </a: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549285" y="4275986"/>
            <a:ext cx="4273734" cy="671722"/>
          </a:xfrm>
          <a:prstGeom prst="rect">
            <a:avLst/>
          </a:prstGeom>
        </p:spPr>
        <p:txBody>
          <a:bodyPr wrap="square">
            <a:spAutoFit/>
          </a:bodyPr>
          <a:lstStyle/>
          <a:p>
            <a:pPr>
              <a:lnSpc>
                <a:spcPct val="150000"/>
              </a:lnSpc>
            </a:pPr>
            <a:r>
              <a:rPr lang="en-US" altLang="zh-CN" sz="2800" b="1" dirty="0">
                <a:latin typeface="Arial Black" panose="020B0A04020102020204" pitchFamily="34" charset="0"/>
              </a:rPr>
              <a:t>print (a)</a:t>
            </a:r>
            <a:endParaRPr lang="zh-CN" altLang="en-US" sz="2800" b="1" dirty="0">
              <a:latin typeface="Arial Black" panose="020B0A04020102020204" pitchFamily="34" charset="0"/>
            </a:endParaRPr>
          </a:p>
        </p:txBody>
      </p:sp>
      <p:sp>
        <p:nvSpPr>
          <p:cNvPr id="12" name="矩形 11"/>
          <p:cNvSpPr/>
          <p:nvPr/>
        </p:nvSpPr>
        <p:spPr>
          <a:xfrm>
            <a:off x="3960867" y="4372800"/>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的值为</a:t>
            </a:r>
            <a:r>
              <a:rPr lang="en-US" altLang="zh-CN" dirty="0">
                <a:latin typeface="微软雅黑" panose="020B0503020204020204" pitchFamily="34" charset="-122"/>
                <a:ea typeface="微软雅黑" panose="020B0503020204020204" pitchFamily="34" charset="-122"/>
              </a:rPr>
              <a:t>[888, 2, 3, [4, 5]]</a:t>
            </a:r>
            <a:endParaRPr lang="zh-CN" altLang="en-US" dirty="0">
              <a:latin typeface="微软雅黑" panose="020B0503020204020204" pitchFamily="34" charset="-122"/>
              <a:ea typeface="微软雅黑" panose="020B0503020204020204" pitchFamily="34" charset="-122"/>
            </a:endParaRPr>
          </a:p>
        </p:txBody>
      </p:sp>
      <p:sp>
        <p:nvSpPr>
          <p:cNvPr id="6" name="矩形 5"/>
          <p:cNvSpPr/>
          <p:nvPr/>
        </p:nvSpPr>
        <p:spPr>
          <a:xfrm>
            <a:off x="567138" y="5107638"/>
            <a:ext cx="2653290" cy="523220"/>
          </a:xfrm>
          <a:prstGeom prst="rect">
            <a:avLst/>
          </a:prstGeom>
        </p:spPr>
        <p:txBody>
          <a:bodyPr wrap="none">
            <a:spAutoFit/>
          </a:bodyPr>
          <a:lstStyle/>
          <a:p>
            <a:r>
              <a:rPr lang="en-US" altLang="zh-CN" sz="2800" dirty="0">
                <a:solidFill>
                  <a:srgbClr val="000000"/>
                </a:solidFill>
                <a:latin typeface="Arial Black" panose="020B0A04020102020204" pitchFamily="34" charset="0"/>
              </a:rPr>
              <a:t>b[3][1] = 666</a:t>
            </a:r>
            <a:endParaRPr lang="zh-CN" altLang="en-US" sz="2800" dirty="0">
              <a:latin typeface="Arial Black" panose="020B0A04020102020204" pitchFamily="34" charset="0"/>
            </a:endParaRPr>
          </a:p>
        </p:txBody>
      </p:sp>
      <p:sp>
        <p:nvSpPr>
          <p:cNvPr id="7" name="矩形 6"/>
          <p:cNvSpPr/>
          <p:nvPr/>
        </p:nvSpPr>
        <p:spPr>
          <a:xfrm>
            <a:off x="3953529" y="5107105"/>
            <a:ext cx="4203395" cy="461665"/>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的值为</a:t>
            </a:r>
            <a:r>
              <a:rPr lang="en-US" altLang="zh-CN" dirty="0">
                <a:solidFill>
                  <a:srgbClr val="000000"/>
                </a:solidFill>
                <a:latin typeface="微软雅黑" panose="020B0503020204020204" pitchFamily="34" charset="-122"/>
                <a:ea typeface="微软雅黑" panose="020B0503020204020204" pitchFamily="34" charset="-122"/>
              </a:rPr>
              <a:t>[233, 2, 3, [4, 666]]</a:t>
            </a:r>
            <a:endParaRPr lang="zh-CN" altLang="en-US" dirty="0">
              <a:latin typeface="微软雅黑" panose="020B0503020204020204" pitchFamily="34" charset="-122"/>
              <a:ea typeface="微软雅黑" panose="020B0503020204020204" pitchFamily="34" charset="-122"/>
            </a:endParaRPr>
          </a:p>
        </p:txBody>
      </p:sp>
      <p:sp>
        <p:nvSpPr>
          <p:cNvPr id="14" name="矩形 13"/>
          <p:cNvSpPr/>
          <p:nvPr/>
        </p:nvSpPr>
        <p:spPr>
          <a:xfrm>
            <a:off x="549285" y="5663979"/>
            <a:ext cx="4273734" cy="671722"/>
          </a:xfrm>
          <a:prstGeom prst="rect">
            <a:avLst/>
          </a:prstGeom>
        </p:spPr>
        <p:txBody>
          <a:bodyPr wrap="square">
            <a:spAutoFit/>
          </a:bodyPr>
          <a:lstStyle/>
          <a:p>
            <a:pPr>
              <a:lnSpc>
                <a:spcPct val="150000"/>
              </a:lnSpc>
            </a:pPr>
            <a:r>
              <a:rPr lang="en-US" altLang="zh-CN" sz="2800" b="1" dirty="0">
                <a:latin typeface="Arial Black" panose="020B0A04020102020204" pitchFamily="34" charset="0"/>
              </a:rPr>
              <a:t>print (a)</a:t>
            </a:r>
            <a:endParaRPr lang="zh-CN" altLang="en-US" sz="2800" b="1" dirty="0">
              <a:latin typeface="Arial Black" panose="020B0A04020102020204" pitchFamily="34" charset="0"/>
            </a:endParaRPr>
          </a:p>
        </p:txBody>
      </p:sp>
      <p:sp>
        <p:nvSpPr>
          <p:cNvPr id="15" name="矩形 14"/>
          <p:cNvSpPr/>
          <p:nvPr/>
        </p:nvSpPr>
        <p:spPr>
          <a:xfrm>
            <a:off x="3938935" y="5823376"/>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的值为</a:t>
            </a:r>
            <a:r>
              <a:rPr lang="en-US" altLang="zh-CN" dirty="0">
                <a:latin typeface="微软雅黑" panose="020B0503020204020204" pitchFamily="34" charset="-122"/>
                <a:ea typeface="微软雅黑" panose="020B0503020204020204" pitchFamily="34" charset="-122"/>
              </a:rPr>
              <a:t>[888, 2, 3, [4, 666]]</a:t>
            </a:r>
            <a:endParaRPr lang="zh-CN" altLang="en-US" dirty="0">
              <a:latin typeface="微软雅黑" panose="020B0503020204020204" pitchFamily="34" charset="-122"/>
              <a:ea typeface="微软雅黑" panose="020B0503020204020204" pitchFamily="34" charset="-122"/>
            </a:endParaRPr>
          </a:p>
        </p:txBody>
      </p:sp>
      <p:sp>
        <p:nvSpPr>
          <p:cNvPr id="13" name="矩形 12"/>
          <p:cNvSpPr/>
          <p:nvPr/>
        </p:nvSpPr>
        <p:spPr>
          <a:xfrm>
            <a:off x="8275294" y="1867740"/>
            <a:ext cx="3635027" cy="445250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just">
              <a:lnSpc>
                <a:spcPts val="3400"/>
              </a:lnSpc>
            </a:pP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对</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做一个浅拷贝，目的是</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b</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，然后对</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b</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进行操作，如果对</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list</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中的整数赋值，也就是对象中的元素赋值，那么就只改变</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b</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中的这个位置的元素值，而</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的不变；但是如果对</a:t>
            </a:r>
            <a:r>
              <a:rPr lang="en-US" altLang="zh-CN"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list</a:t>
            </a:r>
            <a:r>
              <a:rPr lang="zh-CN" altLang="en-US"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中的</a:t>
            </a:r>
            <a:r>
              <a:rPr lang="en-US" altLang="zh-CN"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list</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，也就是子对象进行赋值，可以发现，这个操作同样影响了</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中的结果。</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up)">
                                      <p:cBhvr>
                                        <p:cTn id="5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P spid="10" grpId="0"/>
      <p:bldP spid="11" grpId="0"/>
      <p:bldP spid="12" grpId="0"/>
      <p:bldP spid="6" grpId="0"/>
      <p:bldP spid="7" grpId="0"/>
      <p:bldP spid="14" grpId="0"/>
      <p:bldP spid="15" grpId="0"/>
      <p:bldP spid="13"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002831" y="904751"/>
            <a:ext cx="8245415" cy="508386"/>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关于深拷贝、浅拷贝和复制的再探讨</a:t>
            </a:r>
          </a:p>
        </p:txBody>
      </p:sp>
      <p:sp>
        <p:nvSpPr>
          <p:cNvPr id="9"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矩形 4"/>
          <p:cNvSpPr/>
          <p:nvPr/>
        </p:nvSpPr>
        <p:spPr>
          <a:xfrm>
            <a:off x="-237529" y="1454674"/>
            <a:ext cx="3654364" cy="662554"/>
          </a:xfrm>
          <a:prstGeom prst="rect">
            <a:avLst/>
          </a:prstGeom>
        </p:spPr>
        <p:txBody>
          <a:bodyPr wrap="square">
            <a:spAutoFit/>
          </a:bodyPr>
          <a:lstStyle/>
          <a:p>
            <a:pPr>
              <a:lnSpc>
                <a:spcPct val="150000"/>
              </a:lnSpc>
            </a:pPr>
            <a:r>
              <a:rPr lang="zh-CN" altLang="en-US" sz="2800" b="1" dirty="0">
                <a:solidFill>
                  <a:srgbClr val="4F4F4F"/>
                </a:solidFill>
                <a:latin typeface="微软雅黑" panose="020B0503020204020204" pitchFamily="34" charset="-122"/>
                <a:ea typeface="微软雅黑" panose="020B0503020204020204" pitchFamily="34" charset="-122"/>
              </a:rPr>
              <a:t>       </a:t>
            </a:r>
            <a:r>
              <a:rPr lang="en-US" altLang="zh-CN" sz="2800" b="1" dirty="0">
                <a:solidFill>
                  <a:srgbClr val="4F4F4F"/>
                </a:solidFill>
                <a:latin typeface="微软雅黑" panose="020B0503020204020204" pitchFamily="34" charset="-122"/>
                <a:ea typeface="微软雅黑" panose="020B0503020204020204" pitchFamily="34" charset="-122"/>
              </a:rPr>
              <a:t>2</a:t>
            </a:r>
            <a:r>
              <a:rPr lang="zh-CN" altLang="en-US" sz="2800" b="1" dirty="0">
                <a:solidFill>
                  <a:srgbClr val="4F4F4F"/>
                </a:solidFill>
                <a:latin typeface="微软雅黑" panose="020B0503020204020204" pitchFamily="34" charset="-122"/>
                <a:ea typeface="微软雅黑" panose="020B0503020204020204" pitchFamily="34" charset="-122"/>
              </a:rPr>
              <a:t>、深拷贝</a:t>
            </a:r>
            <a:endParaRPr lang="zh-CN" altLang="en-US" sz="2800" b="1" dirty="0">
              <a:latin typeface="微软雅黑" panose="020B0503020204020204" pitchFamily="34" charset="-122"/>
              <a:ea typeface="微软雅黑" panose="020B0503020204020204" pitchFamily="34" charset="-122"/>
            </a:endParaRPr>
          </a:p>
        </p:txBody>
      </p:sp>
      <p:sp>
        <p:nvSpPr>
          <p:cNvPr id="3" name="矩形 2"/>
          <p:cNvSpPr/>
          <p:nvPr/>
        </p:nvSpPr>
        <p:spPr>
          <a:xfrm>
            <a:off x="554559" y="2076006"/>
            <a:ext cx="4273734" cy="1384995"/>
          </a:xfrm>
          <a:prstGeom prst="rect">
            <a:avLst/>
          </a:prstGeom>
        </p:spPr>
        <p:txBody>
          <a:bodyPr wrap="square">
            <a:spAutoFit/>
          </a:bodyPr>
          <a:lstStyle/>
          <a:p>
            <a:pPr>
              <a:lnSpc>
                <a:spcPct val="150000"/>
              </a:lnSpc>
            </a:pPr>
            <a:r>
              <a:rPr lang="en-US" altLang="zh-CN" sz="2800" b="1" dirty="0">
                <a:solidFill>
                  <a:srgbClr val="000000"/>
                </a:solidFill>
                <a:latin typeface="Arial Black" panose="020B0A04020102020204" pitchFamily="34" charset="0"/>
              </a:rPr>
              <a:t>a=</a:t>
            </a:r>
            <a:r>
              <a:rPr lang="en-US" altLang="zh-CN" sz="2800" b="1" dirty="0">
                <a:latin typeface="Arial Black" panose="020B0A04020102020204" pitchFamily="34" charset="0"/>
              </a:rPr>
              <a:t>[888, 2, 3, [4, 666]]</a:t>
            </a:r>
          </a:p>
          <a:p>
            <a:pPr>
              <a:lnSpc>
                <a:spcPct val="150000"/>
              </a:lnSpc>
            </a:pPr>
            <a:r>
              <a:rPr lang="en-US" altLang="zh-CN" sz="2800" b="1" dirty="0">
                <a:solidFill>
                  <a:srgbClr val="000000"/>
                </a:solidFill>
                <a:latin typeface="Arial Black" panose="020B0A04020102020204" pitchFamily="34" charset="0"/>
              </a:rPr>
              <a:t>b = </a:t>
            </a:r>
            <a:r>
              <a:rPr lang="en-US" altLang="zh-CN" sz="2800" b="1" dirty="0" err="1">
                <a:solidFill>
                  <a:srgbClr val="000000"/>
                </a:solidFill>
                <a:latin typeface="Arial Black" panose="020B0A04020102020204" pitchFamily="34" charset="0"/>
              </a:rPr>
              <a:t>copy.deepcopy</a:t>
            </a:r>
            <a:r>
              <a:rPr lang="en-US" altLang="zh-CN" sz="2800" b="1" dirty="0">
                <a:solidFill>
                  <a:srgbClr val="000000"/>
                </a:solidFill>
                <a:latin typeface="Arial Black" panose="020B0A04020102020204" pitchFamily="34" charset="0"/>
              </a:rPr>
              <a:t>(a)</a:t>
            </a:r>
            <a:endParaRPr lang="zh-CN" altLang="en-US" sz="2800" b="1" dirty="0">
              <a:solidFill>
                <a:srgbClr val="000000"/>
              </a:solidFill>
              <a:latin typeface="Arial Black" panose="020B0A04020102020204" pitchFamily="34" charset="0"/>
            </a:endParaRPr>
          </a:p>
        </p:txBody>
      </p:sp>
      <p:sp>
        <p:nvSpPr>
          <p:cNvPr id="4" name="矩形 3"/>
          <p:cNvSpPr/>
          <p:nvPr/>
        </p:nvSpPr>
        <p:spPr>
          <a:xfrm>
            <a:off x="4968153" y="2879955"/>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的值为</a:t>
            </a:r>
            <a:r>
              <a:rPr lang="en-US" altLang="zh-CN" dirty="0">
                <a:solidFill>
                  <a:srgbClr val="000000"/>
                </a:solidFill>
                <a:latin typeface="微软雅黑" panose="020B0503020204020204" pitchFamily="34" charset="-122"/>
                <a:ea typeface="微软雅黑" panose="020B0503020204020204" pitchFamily="34" charset="-122"/>
              </a:rPr>
              <a:t>[888, 2, 3, [4, 666]]</a:t>
            </a:r>
            <a:endParaRPr lang="zh-CN" altLang="en-US" dirty="0">
              <a:latin typeface="微软雅黑" panose="020B0503020204020204" pitchFamily="34" charset="-122"/>
              <a:ea typeface="微软雅黑" panose="020B0503020204020204" pitchFamily="34" charset="-122"/>
            </a:endParaRPr>
          </a:p>
        </p:txBody>
      </p:sp>
      <p:sp>
        <p:nvSpPr>
          <p:cNvPr id="8" name="矩形 7"/>
          <p:cNvSpPr/>
          <p:nvPr/>
        </p:nvSpPr>
        <p:spPr>
          <a:xfrm>
            <a:off x="554559" y="3514389"/>
            <a:ext cx="4273734" cy="738664"/>
          </a:xfrm>
          <a:prstGeom prst="rect">
            <a:avLst/>
          </a:prstGeom>
        </p:spPr>
        <p:txBody>
          <a:bodyPr wrap="square">
            <a:spAutoFit/>
          </a:bodyPr>
          <a:lstStyle/>
          <a:p>
            <a:pPr>
              <a:lnSpc>
                <a:spcPct val="150000"/>
              </a:lnSpc>
            </a:pPr>
            <a:r>
              <a:rPr lang="en-US" altLang="zh-CN" sz="2800" b="1" dirty="0">
                <a:latin typeface="Arial Black" panose="020B0A04020102020204" pitchFamily="34" charset="0"/>
              </a:rPr>
              <a:t>b[0] = 1</a:t>
            </a:r>
            <a:endParaRPr lang="zh-CN" altLang="en-US" sz="2800" b="1" dirty="0">
              <a:latin typeface="Arial Black" panose="020B0A04020102020204" pitchFamily="34" charset="0"/>
            </a:endParaRPr>
          </a:p>
        </p:txBody>
      </p:sp>
      <p:sp>
        <p:nvSpPr>
          <p:cNvPr id="10" name="矩形 9"/>
          <p:cNvSpPr/>
          <p:nvPr/>
        </p:nvSpPr>
        <p:spPr>
          <a:xfrm>
            <a:off x="4990086" y="3632326"/>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的值为</a:t>
            </a:r>
            <a:r>
              <a:rPr lang="en-US" altLang="zh-CN" dirty="0">
                <a:solidFill>
                  <a:srgbClr val="000000"/>
                </a:solidFill>
                <a:latin typeface="微软雅黑" panose="020B0503020204020204" pitchFamily="34" charset="-122"/>
                <a:ea typeface="微软雅黑" panose="020B0503020204020204" pitchFamily="34" charset="-122"/>
              </a:rPr>
              <a:t>[1, 2, 3, [4, 666]]</a:t>
            </a: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549285" y="4275986"/>
            <a:ext cx="4273734" cy="671722"/>
          </a:xfrm>
          <a:prstGeom prst="rect">
            <a:avLst/>
          </a:prstGeom>
        </p:spPr>
        <p:txBody>
          <a:bodyPr wrap="square">
            <a:spAutoFit/>
          </a:bodyPr>
          <a:lstStyle/>
          <a:p>
            <a:pPr>
              <a:lnSpc>
                <a:spcPct val="150000"/>
              </a:lnSpc>
            </a:pPr>
            <a:r>
              <a:rPr lang="en-US" altLang="zh-CN" sz="2800" b="1" dirty="0">
                <a:latin typeface="Arial Black" panose="020B0A04020102020204" pitchFamily="34" charset="0"/>
              </a:rPr>
              <a:t>print (a)</a:t>
            </a:r>
            <a:endParaRPr lang="zh-CN" altLang="en-US" sz="2800" b="1" dirty="0">
              <a:latin typeface="Arial Black" panose="020B0A04020102020204" pitchFamily="34" charset="0"/>
            </a:endParaRPr>
          </a:p>
        </p:txBody>
      </p:sp>
      <p:sp>
        <p:nvSpPr>
          <p:cNvPr id="12" name="矩形 11"/>
          <p:cNvSpPr/>
          <p:nvPr/>
        </p:nvSpPr>
        <p:spPr>
          <a:xfrm>
            <a:off x="4990085" y="4372800"/>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的值为</a:t>
            </a:r>
            <a:r>
              <a:rPr lang="en-US" altLang="zh-CN" dirty="0">
                <a:latin typeface="微软雅黑" panose="020B0503020204020204" pitchFamily="34" charset="-122"/>
                <a:ea typeface="微软雅黑" panose="020B0503020204020204" pitchFamily="34" charset="-122"/>
              </a:rPr>
              <a:t>[888, 2, 3, [4, 666]]</a:t>
            </a:r>
            <a:endParaRPr lang="zh-CN" altLang="en-US" dirty="0">
              <a:latin typeface="微软雅黑" panose="020B0503020204020204" pitchFamily="34" charset="-122"/>
              <a:ea typeface="微软雅黑" panose="020B0503020204020204" pitchFamily="34" charset="-122"/>
            </a:endParaRPr>
          </a:p>
        </p:txBody>
      </p:sp>
      <p:sp>
        <p:nvSpPr>
          <p:cNvPr id="6" name="矩形 5"/>
          <p:cNvSpPr/>
          <p:nvPr/>
        </p:nvSpPr>
        <p:spPr>
          <a:xfrm>
            <a:off x="567138" y="5107638"/>
            <a:ext cx="2653290" cy="523220"/>
          </a:xfrm>
          <a:prstGeom prst="rect">
            <a:avLst/>
          </a:prstGeom>
        </p:spPr>
        <p:txBody>
          <a:bodyPr wrap="none">
            <a:spAutoFit/>
          </a:bodyPr>
          <a:lstStyle/>
          <a:p>
            <a:r>
              <a:rPr lang="en-US" altLang="zh-CN" sz="2800" dirty="0">
                <a:solidFill>
                  <a:srgbClr val="000000"/>
                </a:solidFill>
                <a:latin typeface="Arial Black" panose="020B0A04020102020204" pitchFamily="34" charset="0"/>
              </a:rPr>
              <a:t>b[3][0] = 233</a:t>
            </a:r>
            <a:endParaRPr lang="zh-CN" altLang="en-US" sz="2800" dirty="0">
              <a:latin typeface="Arial Black" panose="020B0A04020102020204" pitchFamily="34" charset="0"/>
            </a:endParaRPr>
          </a:p>
        </p:txBody>
      </p:sp>
      <p:sp>
        <p:nvSpPr>
          <p:cNvPr id="7" name="矩形 6"/>
          <p:cNvSpPr/>
          <p:nvPr/>
        </p:nvSpPr>
        <p:spPr>
          <a:xfrm>
            <a:off x="4982747" y="5107105"/>
            <a:ext cx="4203395" cy="461665"/>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的值为</a:t>
            </a:r>
            <a:r>
              <a:rPr lang="en-US" altLang="zh-CN" dirty="0">
                <a:solidFill>
                  <a:srgbClr val="000000"/>
                </a:solidFill>
                <a:latin typeface="微软雅黑" panose="020B0503020204020204" pitchFamily="34" charset="-122"/>
                <a:ea typeface="微软雅黑" panose="020B0503020204020204" pitchFamily="34" charset="-122"/>
              </a:rPr>
              <a:t>[1, 2, 3, [233, 666]]</a:t>
            </a:r>
            <a:endParaRPr lang="zh-CN" altLang="en-US" dirty="0">
              <a:latin typeface="微软雅黑" panose="020B0503020204020204" pitchFamily="34" charset="-122"/>
              <a:ea typeface="微软雅黑" panose="020B0503020204020204" pitchFamily="34" charset="-122"/>
            </a:endParaRPr>
          </a:p>
        </p:txBody>
      </p:sp>
      <p:sp>
        <p:nvSpPr>
          <p:cNvPr id="14" name="矩形 13"/>
          <p:cNvSpPr/>
          <p:nvPr/>
        </p:nvSpPr>
        <p:spPr>
          <a:xfrm>
            <a:off x="549285" y="5663979"/>
            <a:ext cx="4273734" cy="671722"/>
          </a:xfrm>
          <a:prstGeom prst="rect">
            <a:avLst/>
          </a:prstGeom>
        </p:spPr>
        <p:txBody>
          <a:bodyPr wrap="square">
            <a:spAutoFit/>
          </a:bodyPr>
          <a:lstStyle/>
          <a:p>
            <a:pPr>
              <a:lnSpc>
                <a:spcPct val="150000"/>
              </a:lnSpc>
            </a:pPr>
            <a:r>
              <a:rPr lang="en-US" altLang="zh-CN" sz="2800" b="1" dirty="0">
                <a:latin typeface="Arial Black" panose="020B0A04020102020204" pitchFamily="34" charset="0"/>
              </a:rPr>
              <a:t>print (a)</a:t>
            </a:r>
            <a:endParaRPr lang="zh-CN" altLang="en-US" sz="2800" b="1" dirty="0">
              <a:latin typeface="Arial Black" panose="020B0A04020102020204" pitchFamily="34" charset="0"/>
            </a:endParaRPr>
          </a:p>
        </p:txBody>
      </p:sp>
      <p:sp>
        <p:nvSpPr>
          <p:cNvPr id="15" name="矩形 14"/>
          <p:cNvSpPr/>
          <p:nvPr/>
        </p:nvSpPr>
        <p:spPr>
          <a:xfrm>
            <a:off x="4968153" y="5823376"/>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的值为</a:t>
            </a:r>
            <a:r>
              <a:rPr lang="en-US" altLang="zh-CN" dirty="0">
                <a:latin typeface="微软雅黑" panose="020B0503020204020204" pitchFamily="34" charset="-122"/>
                <a:ea typeface="微软雅黑" panose="020B0503020204020204" pitchFamily="34" charset="-122"/>
              </a:rPr>
              <a:t>[888, 2, 3, [4, 666]]</a:t>
            </a:r>
            <a:endParaRPr lang="zh-CN" altLang="en-US" dirty="0">
              <a:latin typeface="微软雅黑" panose="020B0503020204020204" pitchFamily="34" charset="-122"/>
              <a:ea typeface="微软雅黑" panose="020B0503020204020204" pitchFamily="34" charset="-122"/>
            </a:endParaRPr>
          </a:p>
        </p:txBody>
      </p:sp>
      <p:sp>
        <p:nvSpPr>
          <p:cNvPr id="17" name="矩形 16"/>
          <p:cNvSpPr/>
          <p:nvPr/>
        </p:nvSpPr>
        <p:spPr>
          <a:xfrm>
            <a:off x="9535162" y="4488602"/>
            <a:ext cx="2375159" cy="964367"/>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just">
              <a:lnSpc>
                <a:spcPts val="3400"/>
              </a:lnSpc>
            </a:pP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和</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b</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和谐，互不干扰。</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up)">
                                      <p:cBhvr>
                                        <p:cTn id="5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P spid="10" grpId="0"/>
      <p:bldP spid="11" grpId="0"/>
      <p:bldP spid="12" grpId="0"/>
      <p:bldP spid="6" grpId="0"/>
      <p:bldP spid="7" grpId="0"/>
      <p:bldP spid="14" grpId="0"/>
      <p:bldP spid="15" grpId="0"/>
      <p:bldP spid="17"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002831" y="904751"/>
            <a:ext cx="8245415" cy="508386"/>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关于深拷贝、浅拷贝和复制的再探讨</a:t>
            </a:r>
          </a:p>
        </p:txBody>
      </p:sp>
      <p:sp>
        <p:nvSpPr>
          <p:cNvPr id="9"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3.4 字典</a:t>
            </a:r>
          </a:p>
        </p:txBody>
      </p:sp>
      <p:sp>
        <p:nvSpPr>
          <p:cNvPr id="5" name="矩形 4"/>
          <p:cNvSpPr/>
          <p:nvPr/>
        </p:nvSpPr>
        <p:spPr>
          <a:xfrm>
            <a:off x="-237529" y="1454674"/>
            <a:ext cx="5227614" cy="738664"/>
          </a:xfrm>
          <a:prstGeom prst="rect">
            <a:avLst/>
          </a:prstGeom>
        </p:spPr>
        <p:txBody>
          <a:bodyPr wrap="square">
            <a:spAutoFit/>
          </a:bodyPr>
          <a:lstStyle/>
          <a:p>
            <a:pPr>
              <a:lnSpc>
                <a:spcPct val="150000"/>
              </a:lnSpc>
            </a:pPr>
            <a:r>
              <a:rPr lang="zh-CN" altLang="en-US" sz="2800" b="1" dirty="0">
                <a:solidFill>
                  <a:srgbClr val="4F4F4F"/>
                </a:solidFill>
                <a:latin typeface="微软雅黑" panose="020B0503020204020204" pitchFamily="34" charset="-122"/>
                <a:ea typeface="微软雅黑" panose="020B0503020204020204" pitchFamily="34" charset="-122"/>
              </a:rPr>
              <a:t>      </a:t>
            </a:r>
            <a:r>
              <a:rPr lang="en-US" altLang="zh-CN" sz="2800" b="1" dirty="0">
                <a:solidFill>
                  <a:srgbClr val="4F4F4F"/>
                </a:solidFill>
                <a:latin typeface="微软雅黑" panose="020B0503020204020204" pitchFamily="34" charset="-122"/>
                <a:ea typeface="微软雅黑" panose="020B0503020204020204" pitchFamily="34" charset="-122"/>
              </a:rPr>
              <a:t>3</a:t>
            </a:r>
            <a:r>
              <a:rPr lang="zh-CN" altLang="en-US" sz="2800" b="1" dirty="0">
                <a:solidFill>
                  <a:srgbClr val="4F4F4F"/>
                </a:solidFill>
                <a:latin typeface="微软雅黑" panose="020B0503020204020204" pitchFamily="34" charset="-122"/>
                <a:ea typeface="微软雅黑" panose="020B0503020204020204" pitchFamily="34" charset="-122"/>
              </a:rPr>
              <a:t>、直接赋值（复制）</a:t>
            </a:r>
            <a:endParaRPr lang="zh-CN" altLang="en-US" sz="2800" b="1" dirty="0">
              <a:latin typeface="微软雅黑" panose="020B0503020204020204" pitchFamily="34" charset="-122"/>
              <a:ea typeface="微软雅黑" panose="020B0503020204020204" pitchFamily="34" charset="-122"/>
            </a:endParaRPr>
          </a:p>
        </p:txBody>
      </p:sp>
      <p:sp>
        <p:nvSpPr>
          <p:cNvPr id="3" name="矩形 2"/>
          <p:cNvSpPr/>
          <p:nvPr/>
        </p:nvSpPr>
        <p:spPr>
          <a:xfrm>
            <a:off x="554559" y="2076006"/>
            <a:ext cx="4273734" cy="1384995"/>
          </a:xfrm>
          <a:prstGeom prst="rect">
            <a:avLst/>
          </a:prstGeom>
        </p:spPr>
        <p:txBody>
          <a:bodyPr wrap="square">
            <a:spAutoFit/>
          </a:bodyPr>
          <a:lstStyle/>
          <a:p>
            <a:pPr>
              <a:lnSpc>
                <a:spcPct val="150000"/>
              </a:lnSpc>
            </a:pPr>
            <a:r>
              <a:rPr lang="en-US" altLang="zh-CN" sz="2800" b="1" dirty="0">
                <a:solidFill>
                  <a:srgbClr val="000000"/>
                </a:solidFill>
                <a:latin typeface="Arial Black" panose="020B0A04020102020204" pitchFamily="34" charset="0"/>
              </a:rPr>
              <a:t>a=</a:t>
            </a:r>
            <a:r>
              <a:rPr lang="en-US" altLang="zh-CN" sz="2800" b="1" dirty="0">
                <a:latin typeface="Arial Black" panose="020B0A04020102020204" pitchFamily="34" charset="0"/>
              </a:rPr>
              <a:t>[888, 2, 3, [4, 666]]</a:t>
            </a:r>
          </a:p>
          <a:p>
            <a:pPr>
              <a:lnSpc>
                <a:spcPct val="150000"/>
              </a:lnSpc>
            </a:pPr>
            <a:r>
              <a:rPr lang="en-US" altLang="zh-CN" sz="2800" b="1" dirty="0">
                <a:solidFill>
                  <a:srgbClr val="000000"/>
                </a:solidFill>
                <a:latin typeface="Arial Black" panose="020B0A04020102020204" pitchFamily="34" charset="0"/>
              </a:rPr>
              <a:t>b = a</a:t>
            </a:r>
            <a:endParaRPr lang="zh-CN" altLang="en-US" sz="2800" b="1" dirty="0">
              <a:solidFill>
                <a:srgbClr val="000000"/>
              </a:solidFill>
              <a:latin typeface="Arial Black" panose="020B0A04020102020204" pitchFamily="34" charset="0"/>
            </a:endParaRPr>
          </a:p>
        </p:txBody>
      </p:sp>
      <p:sp>
        <p:nvSpPr>
          <p:cNvPr id="4" name="矩形 3"/>
          <p:cNvSpPr/>
          <p:nvPr/>
        </p:nvSpPr>
        <p:spPr>
          <a:xfrm>
            <a:off x="3506887" y="2879955"/>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的值为</a:t>
            </a:r>
            <a:r>
              <a:rPr lang="en-US" altLang="zh-CN" dirty="0">
                <a:solidFill>
                  <a:srgbClr val="000000"/>
                </a:solidFill>
                <a:latin typeface="微软雅黑" panose="020B0503020204020204" pitchFamily="34" charset="-122"/>
                <a:ea typeface="微软雅黑" panose="020B0503020204020204" pitchFamily="34" charset="-122"/>
              </a:rPr>
              <a:t>[888, 2, 3, [4, 666]]</a:t>
            </a:r>
            <a:endParaRPr lang="zh-CN" altLang="en-US" dirty="0">
              <a:latin typeface="微软雅黑" panose="020B0503020204020204" pitchFamily="34" charset="-122"/>
              <a:ea typeface="微软雅黑" panose="020B0503020204020204" pitchFamily="34" charset="-122"/>
            </a:endParaRPr>
          </a:p>
        </p:txBody>
      </p:sp>
      <p:sp>
        <p:nvSpPr>
          <p:cNvPr id="8" name="矩形 7"/>
          <p:cNvSpPr/>
          <p:nvPr/>
        </p:nvSpPr>
        <p:spPr>
          <a:xfrm>
            <a:off x="554559" y="3514389"/>
            <a:ext cx="4273734" cy="738664"/>
          </a:xfrm>
          <a:prstGeom prst="rect">
            <a:avLst/>
          </a:prstGeom>
        </p:spPr>
        <p:txBody>
          <a:bodyPr wrap="square">
            <a:spAutoFit/>
          </a:bodyPr>
          <a:lstStyle/>
          <a:p>
            <a:pPr>
              <a:lnSpc>
                <a:spcPct val="150000"/>
              </a:lnSpc>
            </a:pPr>
            <a:r>
              <a:rPr lang="en-US" altLang="zh-CN" sz="2800" b="1" dirty="0">
                <a:latin typeface="Arial Black" panose="020B0A04020102020204" pitchFamily="34" charset="0"/>
              </a:rPr>
              <a:t>b[0] = 1</a:t>
            </a:r>
            <a:endParaRPr lang="zh-CN" altLang="en-US" sz="2800" b="1" dirty="0">
              <a:latin typeface="Arial Black" panose="020B0A04020102020204" pitchFamily="34" charset="0"/>
            </a:endParaRPr>
          </a:p>
        </p:txBody>
      </p:sp>
      <p:sp>
        <p:nvSpPr>
          <p:cNvPr id="10" name="矩形 9"/>
          <p:cNvSpPr/>
          <p:nvPr/>
        </p:nvSpPr>
        <p:spPr>
          <a:xfrm>
            <a:off x="3528820" y="3632326"/>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的值为</a:t>
            </a:r>
            <a:r>
              <a:rPr lang="en-US" altLang="zh-CN" dirty="0">
                <a:solidFill>
                  <a:srgbClr val="000000"/>
                </a:solidFill>
                <a:latin typeface="微软雅黑" panose="020B0503020204020204" pitchFamily="34" charset="-122"/>
                <a:ea typeface="微软雅黑" panose="020B0503020204020204" pitchFamily="34" charset="-122"/>
              </a:rPr>
              <a:t>[1, 2, 3, [4, 666]]</a:t>
            </a: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549285" y="4275986"/>
            <a:ext cx="4273734" cy="671722"/>
          </a:xfrm>
          <a:prstGeom prst="rect">
            <a:avLst/>
          </a:prstGeom>
        </p:spPr>
        <p:txBody>
          <a:bodyPr wrap="square">
            <a:spAutoFit/>
          </a:bodyPr>
          <a:lstStyle/>
          <a:p>
            <a:pPr>
              <a:lnSpc>
                <a:spcPct val="150000"/>
              </a:lnSpc>
            </a:pPr>
            <a:r>
              <a:rPr lang="en-US" altLang="zh-CN" sz="2800" b="1" dirty="0">
                <a:latin typeface="Arial Black" panose="020B0A04020102020204" pitchFamily="34" charset="0"/>
              </a:rPr>
              <a:t>print (a)</a:t>
            </a:r>
            <a:endParaRPr lang="zh-CN" altLang="en-US" sz="2800" b="1" dirty="0">
              <a:latin typeface="Arial Black" panose="020B0A04020102020204" pitchFamily="34" charset="0"/>
            </a:endParaRPr>
          </a:p>
        </p:txBody>
      </p:sp>
      <p:sp>
        <p:nvSpPr>
          <p:cNvPr id="12" name="矩形 11"/>
          <p:cNvSpPr/>
          <p:nvPr/>
        </p:nvSpPr>
        <p:spPr>
          <a:xfrm>
            <a:off x="3528819" y="4372800"/>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的值为</a:t>
            </a:r>
            <a:r>
              <a:rPr lang="en-US" altLang="zh-CN" dirty="0">
                <a:latin typeface="微软雅黑" panose="020B0503020204020204" pitchFamily="34" charset="-122"/>
                <a:ea typeface="微软雅黑" panose="020B0503020204020204" pitchFamily="34" charset="-122"/>
              </a:rPr>
              <a:t>[1, 2, 3, [4, 666]]</a:t>
            </a:r>
            <a:endParaRPr lang="zh-CN" altLang="en-US" dirty="0">
              <a:latin typeface="微软雅黑" panose="020B0503020204020204" pitchFamily="34" charset="-122"/>
              <a:ea typeface="微软雅黑" panose="020B0503020204020204" pitchFamily="34" charset="-122"/>
            </a:endParaRPr>
          </a:p>
        </p:txBody>
      </p:sp>
      <p:sp>
        <p:nvSpPr>
          <p:cNvPr id="6" name="矩形 5"/>
          <p:cNvSpPr/>
          <p:nvPr/>
        </p:nvSpPr>
        <p:spPr>
          <a:xfrm>
            <a:off x="567138" y="5107638"/>
            <a:ext cx="2175596" cy="523220"/>
          </a:xfrm>
          <a:prstGeom prst="rect">
            <a:avLst/>
          </a:prstGeom>
        </p:spPr>
        <p:txBody>
          <a:bodyPr wrap="none">
            <a:spAutoFit/>
          </a:bodyPr>
          <a:lstStyle/>
          <a:p>
            <a:r>
              <a:rPr lang="en-US" altLang="zh-CN" sz="2800" dirty="0">
                <a:solidFill>
                  <a:srgbClr val="000000"/>
                </a:solidFill>
                <a:latin typeface="Arial Black" panose="020B0A04020102020204" pitchFamily="34" charset="0"/>
              </a:rPr>
              <a:t>b[3][0] = 1</a:t>
            </a:r>
            <a:endParaRPr lang="zh-CN" altLang="en-US" sz="2800" dirty="0">
              <a:latin typeface="Arial Black" panose="020B0A04020102020204" pitchFamily="34" charset="0"/>
            </a:endParaRPr>
          </a:p>
        </p:txBody>
      </p:sp>
      <p:sp>
        <p:nvSpPr>
          <p:cNvPr id="7" name="矩形 6"/>
          <p:cNvSpPr/>
          <p:nvPr/>
        </p:nvSpPr>
        <p:spPr>
          <a:xfrm>
            <a:off x="3521481" y="5107105"/>
            <a:ext cx="3841116" cy="461665"/>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的值为</a:t>
            </a:r>
            <a:r>
              <a:rPr lang="en-US" altLang="zh-CN" dirty="0">
                <a:solidFill>
                  <a:srgbClr val="000000"/>
                </a:solidFill>
                <a:latin typeface="微软雅黑" panose="020B0503020204020204" pitchFamily="34" charset="-122"/>
                <a:ea typeface="微软雅黑" panose="020B0503020204020204" pitchFamily="34" charset="-122"/>
              </a:rPr>
              <a:t>[1, 2, 3, [1, 666]]</a:t>
            </a:r>
            <a:endParaRPr lang="zh-CN" altLang="en-US" dirty="0">
              <a:latin typeface="微软雅黑" panose="020B0503020204020204" pitchFamily="34" charset="-122"/>
              <a:ea typeface="微软雅黑" panose="020B0503020204020204" pitchFamily="34" charset="-122"/>
            </a:endParaRPr>
          </a:p>
        </p:txBody>
      </p:sp>
      <p:sp>
        <p:nvSpPr>
          <p:cNvPr id="14" name="矩形 13"/>
          <p:cNvSpPr/>
          <p:nvPr/>
        </p:nvSpPr>
        <p:spPr>
          <a:xfrm>
            <a:off x="549285" y="5663979"/>
            <a:ext cx="4273734" cy="671722"/>
          </a:xfrm>
          <a:prstGeom prst="rect">
            <a:avLst/>
          </a:prstGeom>
        </p:spPr>
        <p:txBody>
          <a:bodyPr wrap="square">
            <a:spAutoFit/>
          </a:bodyPr>
          <a:lstStyle/>
          <a:p>
            <a:pPr>
              <a:lnSpc>
                <a:spcPct val="150000"/>
              </a:lnSpc>
            </a:pPr>
            <a:r>
              <a:rPr lang="en-US" altLang="zh-CN" sz="2800" b="1" dirty="0">
                <a:latin typeface="Arial Black" panose="020B0A04020102020204" pitchFamily="34" charset="0"/>
              </a:rPr>
              <a:t>print (a)</a:t>
            </a:r>
            <a:endParaRPr lang="zh-CN" altLang="en-US" sz="2800" b="1" dirty="0">
              <a:latin typeface="Arial Black" panose="020B0A04020102020204" pitchFamily="34" charset="0"/>
            </a:endParaRPr>
          </a:p>
        </p:txBody>
      </p:sp>
      <p:sp>
        <p:nvSpPr>
          <p:cNvPr id="15" name="矩形 14"/>
          <p:cNvSpPr/>
          <p:nvPr/>
        </p:nvSpPr>
        <p:spPr>
          <a:xfrm>
            <a:off x="3506887" y="5823376"/>
            <a:ext cx="4781497" cy="4616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的值为</a:t>
            </a:r>
            <a:r>
              <a:rPr lang="en-US" altLang="zh-CN" dirty="0">
                <a:latin typeface="微软雅黑" panose="020B0503020204020204" pitchFamily="34" charset="-122"/>
                <a:ea typeface="微软雅黑" panose="020B0503020204020204" pitchFamily="34" charset="-122"/>
              </a:rPr>
              <a:t>[1, 2, 3, [1, 666]]</a:t>
            </a:r>
            <a:endParaRPr lang="zh-CN" altLang="en-US" dirty="0">
              <a:latin typeface="微软雅黑" panose="020B0503020204020204" pitchFamily="34" charset="-122"/>
              <a:ea typeface="微软雅黑" panose="020B0503020204020204" pitchFamily="34" charset="-122"/>
            </a:endParaRPr>
          </a:p>
        </p:txBody>
      </p:sp>
      <p:sp>
        <p:nvSpPr>
          <p:cNvPr id="17" name="矩形 16"/>
          <p:cNvSpPr/>
          <p:nvPr/>
        </p:nvSpPr>
        <p:spPr>
          <a:xfrm>
            <a:off x="8310316" y="3031406"/>
            <a:ext cx="3600005" cy="314445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just">
              <a:lnSpc>
                <a:spcPts val="3400"/>
              </a:lnSpc>
            </a:pP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直接赋值的结果是比浅拷贝还浅拷贝的！！！因为</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和</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b</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根本上就是指向的同一个对象！也就是说，</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和</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b</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是这个对象的两个引用（</a:t>
            </a:r>
            <a:r>
              <a:rPr lang="en-US" altLang="zh-CN"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reference</a:t>
            </a:r>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），修改一个就会改变另一个。</a:t>
            </a: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up)">
                                      <p:cBhvr>
                                        <p:cTn id="5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P spid="10" grpId="0"/>
      <p:bldP spid="11" grpId="0"/>
      <p:bldP spid="12" grpId="0"/>
      <p:bldP spid="6" grpId="0"/>
      <p:bldP spid="7" grpId="0"/>
      <p:bldP spid="14" grpId="0"/>
      <p:bldP spid="15" grpId="0"/>
      <p:bldP spid="17"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0" y="3810736"/>
            <a:ext cx="12198448" cy="3048588"/>
          </a:xfrm>
          <a:prstGeom prst="rect">
            <a:avLst/>
          </a:prstGeom>
          <a:pattFill prst="dkHorz">
            <a:fgClr>
              <a:srgbClr val="F2F2F2"/>
            </a:fgClr>
            <a:bgClr>
              <a:srgbClr val="FFFFFF"/>
            </a:bgClr>
          </a:patt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矩形 5"/>
          <p:cNvSpPr/>
          <p:nvPr>
            <p:custDataLst>
              <p:tags r:id="rId3"/>
            </p:custDataLst>
          </p:nvPr>
        </p:nvSpPr>
        <p:spPr>
          <a:xfrm>
            <a:off x="1677254" y="914251"/>
            <a:ext cx="8843875" cy="853503"/>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32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1"/>
          <p:cNvSpPr/>
          <p:nvPr>
            <p:custDataLst>
              <p:tags r:id="rId4"/>
            </p:custDataLst>
          </p:nvPr>
        </p:nvSpPr>
        <p:spPr>
          <a:xfrm>
            <a:off x="1677241" y="2194436"/>
            <a:ext cx="8843875" cy="3777441"/>
          </a:xfrm>
          <a:prstGeom prst="rect">
            <a:avLst/>
          </a:prstGeom>
          <a:solidFill>
            <a:srgbClr val="FFFFFF"/>
          </a:solidFill>
          <a:ln w="25400">
            <a:noFill/>
          </a:ln>
          <a:effectLst>
            <a:outerShdw blurRad="50800" dist="76200" dir="5400000" sx="101000" sy="101000" algn="t" rotWithShape="0">
              <a:srgbClr val="000000">
                <a:alpha val="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kumimoji="1" lang="zh-CN" altLang="en-US" sz="180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custDataLst>
              <p:tags r:id="rId5"/>
            </p:custDataLst>
          </p:nvPr>
        </p:nvSpPr>
        <p:spPr>
          <a:xfrm>
            <a:off x="1982200" y="1066680"/>
            <a:ext cx="8233950" cy="548639"/>
          </a:xfrm>
          <a:prstGeom prst="rect">
            <a:avLst/>
          </a:prstGeom>
          <a:noFill/>
        </p:spPr>
        <p:txBody>
          <a:bodyPr wrap="square" rtlCol="0" anchor="ctr">
            <a:noAutofit/>
          </a:bodyPr>
          <a:lstStyle/>
          <a:p>
            <a:pPr marL="0" indent="0" algn="ctr">
              <a:lnSpc>
                <a:spcPct val="100000"/>
              </a:lnSpc>
              <a:spcBef>
                <a:spcPts val="0"/>
              </a:spcBef>
              <a:spcAft>
                <a:spcPts val="0"/>
              </a:spcAft>
              <a:buSzPct val="100000"/>
              <a:buNone/>
            </a:pPr>
            <a:r>
              <a:rPr lang="zh-CN" altLang="en-US" sz="3600" b="1" spc="300" dirty="0">
                <a:solidFill>
                  <a:srgbClr val="0070C0"/>
                </a:solidFill>
                <a:latin typeface="微软雅黑" panose="020B0503020204020204" pitchFamily="34" charset="-122"/>
                <a:ea typeface="微软雅黑" panose="020B0503020204020204" pitchFamily="34" charset="-122"/>
              </a:rPr>
              <a:t>主要内容</a:t>
            </a:r>
          </a:p>
        </p:txBody>
      </p:sp>
      <p:sp>
        <p:nvSpPr>
          <p:cNvPr id="12" name="弧形 11"/>
          <p:cNvSpPr/>
          <p:nvPr>
            <p:custDataLst>
              <p:tags r:id="rId6"/>
            </p:custDataLst>
          </p:nvPr>
        </p:nvSpPr>
        <p:spPr>
          <a:xfrm>
            <a:off x="2322195"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13" name="文本框 80"/>
          <p:cNvSpPr txBox="1"/>
          <p:nvPr>
            <p:custDataLst>
              <p:tags r:id="rId7"/>
            </p:custDataLst>
          </p:nvPr>
        </p:nvSpPr>
        <p:spPr>
          <a:xfrm>
            <a:off x="204406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概述</a:t>
            </a:r>
          </a:p>
        </p:txBody>
      </p:sp>
      <p:sp>
        <p:nvSpPr>
          <p:cNvPr id="14" name="标题 5"/>
          <p:cNvSpPr>
            <a:spLocks noGrp="1"/>
          </p:cNvSpPr>
          <p:nvPr>
            <p:custDataLst>
              <p:tags r:id="rId8"/>
            </p:custDataLst>
          </p:nvPr>
        </p:nvSpPr>
        <p:spPr>
          <a:xfrm>
            <a:off x="243268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3.1</a:t>
            </a:r>
          </a:p>
        </p:txBody>
      </p:sp>
      <p:sp>
        <p:nvSpPr>
          <p:cNvPr id="15" name="菱形 14"/>
          <p:cNvSpPr/>
          <p:nvPr>
            <p:custDataLst>
              <p:tags r:id="rId9"/>
            </p:custDataLst>
          </p:nvPr>
        </p:nvSpPr>
        <p:spPr>
          <a:xfrm>
            <a:off x="2143760"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16" name="弧形 15"/>
          <p:cNvSpPr/>
          <p:nvPr>
            <p:custDataLst>
              <p:tags r:id="rId10"/>
            </p:custDataLst>
          </p:nvPr>
        </p:nvSpPr>
        <p:spPr>
          <a:xfrm>
            <a:off x="4001135"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1" name="文本框 80"/>
          <p:cNvSpPr txBox="1"/>
          <p:nvPr>
            <p:custDataLst>
              <p:tags r:id="rId11"/>
            </p:custDataLst>
          </p:nvPr>
        </p:nvSpPr>
        <p:spPr>
          <a:xfrm>
            <a:off x="3723640"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列表</a:t>
            </a:r>
          </a:p>
        </p:txBody>
      </p:sp>
      <p:sp>
        <p:nvSpPr>
          <p:cNvPr id="22" name="标题 5"/>
          <p:cNvSpPr>
            <a:spLocks noGrp="1"/>
          </p:cNvSpPr>
          <p:nvPr>
            <p:custDataLst>
              <p:tags r:id="rId12"/>
            </p:custDataLst>
          </p:nvPr>
        </p:nvSpPr>
        <p:spPr>
          <a:xfrm>
            <a:off x="411226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3.2</a:t>
            </a:r>
          </a:p>
        </p:txBody>
      </p:sp>
      <p:sp>
        <p:nvSpPr>
          <p:cNvPr id="23" name="菱形 22"/>
          <p:cNvSpPr/>
          <p:nvPr>
            <p:custDataLst>
              <p:tags r:id="rId13"/>
            </p:custDataLst>
          </p:nvPr>
        </p:nvSpPr>
        <p:spPr>
          <a:xfrm>
            <a:off x="3822700"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24" name="弧形 23"/>
          <p:cNvSpPr/>
          <p:nvPr>
            <p:custDataLst>
              <p:tags r:id="rId14"/>
            </p:custDataLst>
          </p:nvPr>
        </p:nvSpPr>
        <p:spPr>
          <a:xfrm>
            <a:off x="5680710"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5" name="文本框 80"/>
          <p:cNvSpPr txBox="1"/>
          <p:nvPr>
            <p:custDataLst>
              <p:tags r:id="rId15"/>
            </p:custDataLst>
          </p:nvPr>
        </p:nvSpPr>
        <p:spPr>
          <a:xfrm>
            <a:off x="5402580"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元组</a:t>
            </a:r>
          </a:p>
        </p:txBody>
      </p:sp>
      <p:sp>
        <p:nvSpPr>
          <p:cNvPr id="26" name="标题 5"/>
          <p:cNvSpPr>
            <a:spLocks noGrp="1"/>
          </p:cNvSpPr>
          <p:nvPr>
            <p:custDataLst>
              <p:tags r:id="rId16"/>
            </p:custDataLst>
          </p:nvPr>
        </p:nvSpPr>
        <p:spPr>
          <a:xfrm>
            <a:off x="5791200"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3.3</a:t>
            </a:r>
          </a:p>
        </p:txBody>
      </p:sp>
      <p:sp>
        <p:nvSpPr>
          <p:cNvPr id="27" name="菱形 26"/>
          <p:cNvSpPr/>
          <p:nvPr>
            <p:custDataLst>
              <p:tags r:id="rId17"/>
            </p:custDataLst>
          </p:nvPr>
        </p:nvSpPr>
        <p:spPr>
          <a:xfrm>
            <a:off x="5502275"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28" name="弧形 27"/>
          <p:cNvSpPr/>
          <p:nvPr>
            <p:custDataLst>
              <p:tags r:id="rId18"/>
            </p:custDataLst>
          </p:nvPr>
        </p:nvSpPr>
        <p:spPr>
          <a:xfrm>
            <a:off x="7359650" y="2520962"/>
            <a:ext cx="727075" cy="716915"/>
          </a:xfrm>
          <a:prstGeom prst="arc">
            <a:avLst>
              <a:gd name="adj1" fmla="val 11619054"/>
              <a:gd name="adj2" fmla="val 10295063"/>
            </a:avLst>
          </a:prstGeom>
          <a:ln w="19050">
            <a:solidFill>
              <a:srgbClr val="1D6DC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000000"/>
              </a:solidFill>
              <a:latin typeface="微软雅黑" panose="020B0503020204020204" pitchFamily="34" charset="-122"/>
              <a:ea typeface="微软雅黑" panose="020B0503020204020204" pitchFamily="34" charset="-122"/>
            </a:endParaRPr>
          </a:p>
        </p:txBody>
      </p:sp>
      <p:sp>
        <p:nvSpPr>
          <p:cNvPr id="29" name="文本框 80"/>
          <p:cNvSpPr txBox="1"/>
          <p:nvPr>
            <p:custDataLst>
              <p:tags r:id="rId19"/>
            </p:custDataLst>
          </p:nvPr>
        </p:nvSpPr>
        <p:spPr>
          <a:xfrm>
            <a:off x="7082155" y="335535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404040"/>
                </a:solidFill>
                <a:latin typeface="微软雅黑" panose="020B0503020204020204" pitchFamily="34" charset="-122"/>
                <a:ea typeface="微软雅黑" panose="020B0503020204020204" pitchFamily="34" charset="-122"/>
              </a:rPr>
              <a:t>字典</a:t>
            </a:r>
          </a:p>
        </p:txBody>
      </p:sp>
      <p:sp>
        <p:nvSpPr>
          <p:cNvPr id="30" name="标题 5"/>
          <p:cNvSpPr>
            <a:spLocks noGrp="1"/>
          </p:cNvSpPr>
          <p:nvPr>
            <p:custDataLst>
              <p:tags r:id="rId20"/>
            </p:custDataLst>
          </p:nvPr>
        </p:nvSpPr>
        <p:spPr>
          <a:xfrm>
            <a:off x="7470775" y="261621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1D518C"/>
                </a:solidFill>
                <a:latin typeface="微软雅黑" panose="020B0503020204020204" pitchFamily="34" charset="-122"/>
              </a:rPr>
              <a:t>3.4</a:t>
            </a:r>
          </a:p>
        </p:txBody>
      </p:sp>
      <p:sp>
        <p:nvSpPr>
          <p:cNvPr id="31" name="菱形 30"/>
          <p:cNvSpPr/>
          <p:nvPr>
            <p:custDataLst>
              <p:tags r:id="rId21"/>
            </p:custDataLst>
          </p:nvPr>
        </p:nvSpPr>
        <p:spPr>
          <a:xfrm>
            <a:off x="7181215" y="2712097"/>
            <a:ext cx="301625" cy="301625"/>
          </a:xfrm>
          <a:prstGeom prst="diamond">
            <a:avLst/>
          </a:prstGeom>
          <a:solidFill>
            <a:srgbClr val="69A7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4" name="弧形 3"/>
          <p:cNvSpPr/>
          <p:nvPr>
            <p:custDataLst>
              <p:tags r:id="rId22"/>
            </p:custDataLst>
          </p:nvPr>
        </p:nvSpPr>
        <p:spPr>
          <a:xfrm>
            <a:off x="8997950" y="2512072"/>
            <a:ext cx="727075" cy="716915"/>
          </a:xfrm>
          <a:prstGeom prst="arc">
            <a:avLst>
              <a:gd name="adj1" fmla="val 11619054"/>
              <a:gd name="adj2" fmla="val 10295063"/>
            </a:avLst>
          </a:prstGeom>
          <a:ln w="190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00">
              <a:solidFill>
                <a:srgbClr val="FF0000"/>
              </a:solidFill>
              <a:latin typeface="微软雅黑" panose="020B0503020204020204" pitchFamily="34" charset="-122"/>
              <a:ea typeface="微软雅黑" panose="020B0503020204020204" pitchFamily="34" charset="-122"/>
            </a:endParaRPr>
          </a:p>
        </p:txBody>
      </p:sp>
      <p:sp>
        <p:nvSpPr>
          <p:cNvPr id="5" name="文本框 80"/>
          <p:cNvSpPr txBox="1"/>
          <p:nvPr>
            <p:custDataLst>
              <p:tags r:id="rId23"/>
            </p:custDataLst>
          </p:nvPr>
        </p:nvSpPr>
        <p:spPr>
          <a:xfrm>
            <a:off x="8720455" y="3346462"/>
            <a:ext cx="1371600" cy="2036922"/>
          </a:xfrm>
          <a:prstGeom prst="rect">
            <a:avLst/>
          </a:prstGeom>
          <a:noFill/>
        </p:spPr>
        <p:txBody>
          <a:bodyPr vert="horz"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fontAlgn="auto">
              <a:lnSpc>
                <a:spcPct val="130000"/>
              </a:lnSpc>
              <a:spcBef>
                <a:spcPts val="0"/>
              </a:spcBef>
              <a:spcAft>
                <a:spcPts val="0"/>
              </a:spcAft>
              <a:buSzPct val="100000"/>
            </a:pPr>
            <a:r>
              <a:rPr lang="zh-CN" altLang="en-US" sz="2800" b="1" spc="150" dirty="0">
                <a:solidFill>
                  <a:srgbClr val="FF0000"/>
                </a:solidFill>
                <a:latin typeface="微软雅黑" panose="020B0503020204020204" pitchFamily="34" charset="-122"/>
                <a:ea typeface="微软雅黑" panose="020B0503020204020204" pitchFamily="34" charset="-122"/>
              </a:rPr>
              <a:t>集合</a:t>
            </a:r>
          </a:p>
        </p:txBody>
      </p:sp>
      <p:sp>
        <p:nvSpPr>
          <p:cNvPr id="7" name="标题 5"/>
          <p:cNvSpPr>
            <a:spLocks noGrp="1"/>
          </p:cNvSpPr>
          <p:nvPr>
            <p:custDataLst>
              <p:tags r:id="rId24"/>
            </p:custDataLst>
          </p:nvPr>
        </p:nvSpPr>
        <p:spPr>
          <a:xfrm>
            <a:off x="9109075" y="2607322"/>
            <a:ext cx="554355" cy="509270"/>
          </a:xfrm>
          <a:prstGeom prst="rect">
            <a:avLst/>
          </a:prstGeom>
        </p:spPr>
        <p:txBody>
          <a:bodyPr vert="horz" lIns="0" tIns="0" rIns="0" bIns="0" rtlCol="0" anchor="ctr" anchorCtr="0">
            <a:normAutofit fontScale="90000"/>
          </a:bodyPr>
          <a:lstStyle>
            <a:lvl1pPr marL="0" marR="0" lvl="0" algn="l" defTabSz="914400" rtl="0" eaLnBrk="1" fontAlgn="auto" latinLnBrk="0" hangingPunct="1">
              <a:lnSpc>
                <a:spcPct val="100000"/>
              </a:lnSpc>
              <a:spcBef>
                <a:spcPct val="0"/>
              </a:spcBef>
              <a:spcAft>
                <a:spcPts val="0"/>
              </a:spcAft>
              <a:buNone/>
              <a:defRPr kumimoji="0" lang="zh-CN" altLang="en-US" sz="24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indent="0" algn="ctr">
              <a:lnSpc>
                <a:spcPct val="150000"/>
              </a:lnSpc>
              <a:spcBef>
                <a:spcPts val="0"/>
              </a:spcBef>
              <a:buFont typeface="Arial" panose="020B0604020202020204" pitchFamily="34" charset="0"/>
            </a:pPr>
            <a:r>
              <a:rPr lang="en-US" altLang="zh-CN" sz="2700" b="1" dirty="0">
                <a:solidFill>
                  <a:srgbClr val="FF0000"/>
                </a:solidFill>
                <a:latin typeface="微软雅黑" panose="020B0503020204020204" pitchFamily="34" charset="-122"/>
              </a:rPr>
              <a:t>3.5</a:t>
            </a:r>
          </a:p>
        </p:txBody>
      </p:sp>
      <p:sp>
        <p:nvSpPr>
          <p:cNvPr id="8" name="菱形 7"/>
          <p:cNvSpPr/>
          <p:nvPr>
            <p:custDataLst>
              <p:tags r:id="rId25"/>
            </p:custDataLst>
          </p:nvPr>
        </p:nvSpPr>
        <p:spPr>
          <a:xfrm>
            <a:off x="8819515" y="2703207"/>
            <a:ext cx="301625" cy="301625"/>
          </a:xfrm>
          <a:prstGeom prst="diamond">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rgbClr val="FF0000"/>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ransition spd="slow" advTm="0"/>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内容占位符 2"/>
          <p:cNvSpPr>
            <a:spLocks noGrp="1"/>
          </p:cNvSpPr>
          <p:nvPr>
            <p:ph idx="1"/>
          </p:nvPr>
        </p:nvSpPr>
        <p:spPr>
          <a:xfrm>
            <a:off x="599585" y="1197546"/>
            <a:ext cx="10900190" cy="4753855"/>
          </a:xfrm>
        </p:spPr>
        <p:txBody>
          <a:bodyPr vert="horz" wrap="square" lIns="91456" tIns="45728" rIns="91456" bIns="45728" anchor="t"/>
          <a:lstStyle/>
          <a:p>
            <a:pPr algn="just">
              <a:lnSpc>
                <a:spcPts val="3800"/>
              </a:lnSpc>
            </a:pPr>
            <a:r>
              <a:rPr lang="zh-CN" altLang="en-US" sz="2400" b="1" dirty="0"/>
              <a:t>在</a:t>
            </a:r>
            <a:r>
              <a:rPr lang="en-US" altLang="zh-CN" sz="2400" b="1" dirty="0"/>
              <a:t>Python</a:t>
            </a:r>
            <a:r>
              <a:rPr lang="zh-CN" altLang="en-US" sz="2400" b="1" dirty="0"/>
              <a:t>中，集合是一系列不重复的元素。集合类似于字典，但只包含键，而没有相关联的值。</a:t>
            </a:r>
            <a:endParaRPr lang="en-US" altLang="zh-CN" sz="2400" b="1" dirty="0"/>
          </a:p>
          <a:p>
            <a:pPr algn="just">
              <a:lnSpc>
                <a:spcPts val="3800"/>
              </a:lnSpc>
            </a:pPr>
            <a:r>
              <a:rPr lang="zh-CN" altLang="en-US" sz="2400" b="1" dirty="0"/>
              <a:t>在</a:t>
            </a:r>
            <a:r>
              <a:rPr lang="en-US" altLang="zh-CN" sz="2400" b="1" dirty="0"/>
              <a:t>Python</a:t>
            </a:r>
            <a:r>
              <a:rPr lang="zh-CN" altLang="en-US" sz="2400" b="1" dirty="0"/>
              <a:t>中，集合是相对较新的功能，在其还不支持集合时，一般使用字典模拟集合。</a:t>
            </a:r>
            <a:endParaRPr lang="en-US" altLang="zh-CN" sz="2400" b="1" dirty="0"/>
          </a:p>
          <a:p>
            <a:pPr algn="just">
              <a:lnSpc>
                <a:spcPts val="3800"/>
              </a:lnSpc>
            </a:pPr>
            <a:r>
              <a:rPr lang="zh-CN" altLang="en-US" sz="2400" b="1" dirty="0"/>
              <a:t>集合分两类：可变集合（</a:t>
            </a:r>
            <a:r>
              <a:rPr lang="en-US" altLang="zh-CN" sz="2400" b="1" dirty="0"/>
              <a:t>set</a:t>
            </a:r>
            <a:r>
              <a:rPr lang="zh-CN" altLang="en-US" sz="2400" b="1" dirty="0"/>
              <a:t>）和不可变集合（</a:t>
            </a:r>
            <a:r>
              <a:rPr lang="en-US" altLang="zh-CN" sz="2400" b="1" dirty="0"/>
              <a:t>frozenset</a:t>
            </a:r>
            <a:r>
              <a:rPr lang="zh-CN" altLang="en-US" sz="2400" b="1" dirty="0"/>
              <a:t>）。对于可变集合，可添加和删除元素，而不可变集合一旦创建就不能更改。</a:t>
            </a:r>
            <a:endParaRPr lang="en-US" altLang="zh-CN" sz="2400" b="1" dirty="0"/>
          </a:p>
          <a:p>
            <a:pPr algn="just">
              <a:lnSpc>
                <a:spcPts val="3800"/>
              </a:lnSpc>
            </a:pPr>
            <a:r>
              <a:rPr lang="zh-CN" altLang="en-US" sz="2400" b="1" dirty="0"/>
              <a:t>与字典一样，集合的元素排列顺序也是不确定的。</a:t>
            </a:r>
            <a:endParaRPr lang="en-US" altLang="zh-CN" sz="2400" b="1" dirty="0"/>
          </a:p>
          <a:p>
            <a:pPr algn="just">
              <a:lnSpc>
                <a:spcPts val="3800"/>
              </a:lnSpc>
            </a:pPr>
            <a:r>
              <a:rPr lang="zh-CN" altLang="en-US" sz="2400" b="1" dirty="0"/>
              <a:t>集合没有列表和字典用得多，这里简要介绍，详细内容可参阅：</a:t>
            </a:r>
            <a:r>
              <a:rPr lang="en-US" altLang="zh-CN" sz="2400" b="1" dirty="0"/>
              <a:t>https://docs.python.org/3/library/stdtypes.html#set</a:t>
            </a:r>
            <a:endParaRPr lang="zh-CN" altLang="en-US" sz="2400" b="1" dirty="0"/>
          </a:p>
        </p:txBody>
      </p:sp>
      <p:sp>
        <p:nvSpPr>
          <p:cNvPr id="6"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3.5 集合</a:t>
            </a:r>
          </a:p>
        </p:txBody>
      </p:sp>
    </p:spTree>
  </p:cSld>
  <p:clrMapOvr>
    <a:masterClrMapping/>
  </p:clrMapOvr>
  <p:transition spd="slow" advTm="0"/>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70983" y="1053530"/>
            <a:ext cx="3804025" cy="580394"/>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集合基本功能：</a:t>
            </a:r>
          </a:p>
        </p:txBody>
      </p:sp>
      <p:sp>
        <p:nvSpPr>
          <p:cNvPr id="56323" name="内容占位符 2"/>
          <p:cNvSpPr>
            <a:spLocks noGrp="1"/>
          </p:cNvSpPr>
          <p:nvPr>
            <p:ph idx="1"/>
          </p:nvPr>
        </p:nvSpPr>
        <p:spPr>
          <a:xfrm>
            <a:off x="626567" y="1796468"/>
            <a:ext cx="10513168" cy="2857462"/>
          </a:xfrm>
        </p:spPr>
        <p:txBody>
          <a:bodyPr vert="horz" wrap="square" lIns="91456" tIns="45728" rIns="91456" bIns="45728" anchor="t"/>
          <a:lstStyle/>
          <a:p>
            <a:pPr algn="just">
              <a:lnSpc>
                <a:spcPts val="38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包括关系测试和消除重复元素。集合对象还支持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union</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（联合），</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intersection</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（交），</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difference</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（差）和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sysmmetric difference</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（对称差集，即异或）等数学运算。</a:t>
            </a:r>
          </a:p>
          <a:p>
            <a:pPr algn="just">
              <a:lnSpc>
                <a:spcPts val="38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大括号或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set()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函数可以用来创建集合。</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38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注意：想要创建空集合，必须使用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set()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而不是｛｝。</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3800"/>
              </a:lnSpc>
            </a:pP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3.5 集合</a:t>
            </a:r>
          </a:p>
        </p:txBody>
      </p:sp>
    </p:spTree>
  </p:cSld>
  <p:clrMapOvr>
    <a:masterClrMapping/>
  </p:clrMapOvr>
  <p:transition spd="slow" advTm="0"/>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3.5 集合</a:t>
            </a:r>
          </a:p>
        </p:txBody>
      </p:sp>
      <p:sp>
        <p:nvSpPr>
          <p:cNvPr id="16" name="标题 1"/>
          <p:cNvSpPr txBox="1"/>
          <p:nvPr/>
        </p:nvSpPr>
        <p:spPr>
          <a:xfrm>
            <a:off x="497064" y="1053529"/>
            <a:ext cx="2592288" cy="580394"/>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chemeClr val="tx2"/>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创建集合：</a:t>
            </a:r>
          </a:p>
        </p:txBody>
      </p:sp>
      <p:sp>
        <p:nvSpPr>
          <p:cNvPr id="3" name="矩形 2"/>
          <p:cNvSpPr/>
          <p:nvPr/>
        </p:nvSpPr>
        <p:spPr>
          <a:xfrm>
            <a:off x="3074839" y="974897"/>
            <a:ext cx="6552728" cy="1318053"/>
          </a:xfrm>
          <a:prstGeom prst="rect">
            <a:avLst/>
          </a:prstGeom>
        </p:spPr>
        <p:txBody>
          <a:bodyPr wrap="square">
            <a:spAutoFit/>
          </a:bodyPr>
          <a:lstStyle/>
          <a:p>
            <a:pPr>
              <a:lnSpc>
                <a:spcPct val="150000"/>
              </a:lnSpc>
            </a:pPr>
            <a:r>
              <a:rPr lang="en-US" altLang="zh-CN" sz="2800" dirty="0" err="1">
                <a:latin typeface="Arial Black" panose="020B0A04020102020204" pitchFamily="34" charset="0"/>
              </a:rPr>
              <a:t>parame</a:t>
            </a:r>
            <a:r>
              <a:rPr lang="en-US" altLang="zh-CN" sz="2800" dirty="0">
                <a:latin typeface="Arial Black" panose="020B0A04020102020204" pitchFamily="34" charset="0"/>
              </a:rPr>
              <a:t> = {value01,value02,...}</a:t>
            </a:r>
          </a:p>
          <a:p>
            <a:pPr>
              <a:lnSpc>
                <a:spcPct val="150000"/>
              </a:lnSpc>
            </a:pPr>
            <a:r>
              <a:rPr lang="en-US" altLang="zh-CN" sz="2800" dirty="0">
                <a:latin typeface="Arial Black" panose="020B0A04020102020204" pitchFamily="34" charset="0"/>
              </a:rPr>
              <a:t>set(value)</a:t>
            </a:r>
            <a:endParaRPr lang="zh-CN" altLang="en-US" sz="2800" dirty="0">
              <a:latin typeface="Arial Black" panose="020B0A04020102020204" pitchFamily="34" charset="0"/>
            </a:endParaRPr>
          </a:p>
        </p:txBody>
      </p:sp>
      <p:sp>
        <p:nvSpPr>
          <p:cNvPr id="4" name="矩形 3"/>
          <p:cNvSpPr/>
          <p:nvPr/>
        </p:nvSpPr>
        <p:spPr>
          <a:xfrm>
            <a:off x="1021666" y="3357786"/>
            <a:ext cx="10009112" cy="461665"/>
          </a:xfrm>
          <a:prstGeom prst="rect">
            <a:avLst/>
          </a:prstGeom>
        </p:spPr>
        <p:txBody>
          <a:bodyPr wrap="square">
            <a:spAutoFit/>
          </a:bodyPr>
          <a:lstStyle/>
          <a:p>
            <a:r>
              <a:rPr lang="en-US" altLang="zh-CN" dirty="0">
                <a:solidFill>
                  <a:srgbClr val="0055AA"/>
                </a:solidFill>
                <a:latin typeface="Arial Black" panose="020B0A04020102020204" pitchFamily="34" charset="0"/>
              </a:rPr>
              <a:t>basket</a:t>
            </a:r>
            <a:r>
              <a:rPr lang="en-US" altLang="zh-CN" dirty="0">
                <a:solidFill>
                  <a:srgbClr val="808080"/>
                </a:solidFill>
                <a:latin typeface="Arial Black" panose="020B0A04020102020204" pitchFamily="34" charset="0"/>
              </a:rPr>
              <a:t> =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apple</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orange</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apple</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pear</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orange</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banana</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a:t>
            </a:r>
            <a:endParaRPr lang="zh-CN" altLang="en-US" dirty="0">
              <a:latin typeface="Arial Black" panose="020B0A04020102020204" pitchFamily="34" charset="0"/>
            </a:endParaRPr>
          </a:p>
        </p:txBody>
      </p:sp>
      <p:sp>
        <p:nvSpPr>
          <p:cNvPr id="10" name="标题 1"/>
          <p:cNvSpPr txBox="1"/>
          <p:nvPr/>
        </p:nvSpPr>
        <p:spPr>
          <a:xfrm>
            <a:off x="484924" y="2535171"/>
            <a:ext cx="1725820" cy="580394"/>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algn="l" defTabSz="914400" eaLnBrk="0" fontAlgn="base" hangingPunct="0">
              <a:lnSpc>
                <a:spcPct val="90000"/>
              </a:lnSpc>
              <a:spcAft>
                <a:spcPct val="0"/>
              </a:spcAft>
              <a:defRPr/>
            </a:pPr>
            <a:r>
              <a:rPr lang="zh-CN" altLang="en-US" sz="3200" b="1" kern="0" dirty="0">
                <a:solidFill>
                  <a:schemeClr val="tx2"/>
                </a:solidFill>
                <a:effectLst>
                  <a:outerShdw blurRad="38100" dist="38100" dir="2700000" algn="tl">
                    <a:srgbClr val="C0C0C0"/>
                  </a:outerShdw>
                </a:effectLst>
              </a:rPr>
              <a:t>举例：</a:t>
            </a:r>
          </a:p>
        </p:txBody>
      </p:sp>
      <p:sp>
        <p:nvSpPr>
          <p:cNvPr id="5" name="矩形 4"/>
          <p:cNvSpPr/>
          <p:nvPr/>
        </p:nvSpPr>
        <p:spPr>
          <a:xfrm>
            <a:off x="1021666" y="4004591"/>
            <a:ext cx="2378280" cy="461665"/>
          </a:xfrm>
          <a:prstGeom prst="rect">
            <a:avLst/>
          </a:prstGeom>
        </p:spPr>
        <p:txBody>
          <a:bodyPr wrap="none">
            <a:spAutoFit/>
          </a:bodyPr>
          <a:lstStyle/>
          <a:p>
            <a:r>
              <a:rPr lang="en-US" altLang="zh-CN" dirty="0">
                <a:solidFill>
                  <a:srgbClr val="0055AA"/>
                </a:solidFill>
                <a:latin typeface="Arial Black" panose="020B0A04020102020204" pitchFamily="34" charset="0"/>
              </a:rPr>
              <a:t>print</a:t>
            </a:r>
            <a:r>
              <a:rPr lang="en-US" altLang="zh-CN" dirty="0">
                <a:solidFill>
                  <a:srgbClr val="808000"/>
                </a:solidFill>
                <a:latin typeface="Arial Black" panose="020B0A04020102020204" pitchFamily="34" charset="0"/>
              </a:rPr>
              <a:t>(</a:t>
            </a:r>
            <a:r>
              <a:rPr lang="en-US" altLang="zh-CN" dirty="0">
                <a:solidFill>
                  <a:srgbClr val="0055AA"/>
                </a:solidFill>
                <a:latin typeface="Arial Black" panose="020B0A04020102020204" pitchFamily="34" charset="0"/>
              </a:rPr>
              <a:t>basket</a:t>
            </a:r>
            <a:r>
              <a:rPr lang="en-US" altLang="zh-CN" dirty="0">
                <a:solidFill>
                  <a:srgbClr val="808000"/>
                </a:solidFill>
                <a:latin typeface="Menlo"/>
              </a:rPr>
              <a:t>)</a:t>
            </a:r>
            <a:endParaRPr lang="zh-CN" altLang="en-US" dirty="0"/>
          </a:p>
        </p:txBody>
      </p:sp>
      <p:sp>
        <p:nvSpPr>
          <p:cNvPr id="6" name="矩形 5"/>
          <p:cNvSpPr/>
          <p:nvPr/>
        </p:nvSpPr>
        <p:spPr>
          <a:xfrm>
            <a:off x="842591" y="4828824"/>
            <a:ext cx="5878532" cy="461665"/>
          </a:xfrm>
          <a:prstGeom prst="rect">
            <a:avLst/>
          </a:prstGeom>
        </p:spPr>
        <p:txBody>
          <a:bodyPr wrap="none">
            <a:spAutoFit/>
          </a:bodyPr>
          <a:lstStyle/>
          <a:p>
            <a:r>
              <a:rPr lang="en-US" altLang="zh-CN" dirty="0">
                <a:solidFill>
                  <a:srgbClr val="808080"/>
                </a:solidFill>
                <a:latin typeface="Arial Black" panose="020B0A04020102020204" pitchFamily="34" charset="0"/>
              </a:rPr>
              <a:t>{</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orange</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banana</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pear</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apple</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a:t>
            </a:r>
            <a:endParaRPr lang="zh-CN" altLang="en-US" dirty="0">
              <a:latin typeface="Arial Black" panose="020B0A04020102020204" pitchFamily="34" charset="0"/>
            </a:endParaRPr>
          </a:p>
        </p:txBody>
      </p:sp>
      <p:sp>
        <p:nvSpPr>
          <p:cNvPr id="7" name="矩形 6"/>
          <p:cNvSpPr/>
          <p:nvPr/>
        </p:nvSpPr>
        <p:spPr>
          <a:xfrm>
            <a:off x="6819255" y="4814925"/>
            <a:ext cx="3570208" cy="461665"/>
          </a:xfrm>
          <a:prstGeom prst="rect">
            <a:avLst/>
          </a:prstGeom>
        </p:spPr>
        <p:txBody>
          <a:bodyPr wrap="none">
            <a:spAutoFit/>
          </a:bodyPr>
          <a:lstStyle/>
          <a:p>
            <a:r>
              <a:rPr lang="en-US" altLang="zh-CN" dirty="0">
                <a:solidFill>
                  <a:srgbClr val="AA5500"/>
                </a:solidFill>
                <a:latin typeface="Menlo"/>
              </a:rPr>
              <a:t># </a:t>
            </a:r>
            <a:r>
              <a:rPr lang="zh-CN" altLang="en-US" dirty="0">
                <a:solidFill>
                  <a:srgbClr val="AA5500"/>
                </a:solidFill>
                <a:latin typeface="Menlo"/>
              </a:rPr>
              <a:t>这里演示的是去重功能</a:t>
            </a:r>
            <a:endParaRPr lang="zh-CN" altLang="en-US" dirty="0"/>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par>
                          <p:cTn id="32" fill="hold">
                            <p:stCondLst>
                              <p:cond delay="0"/>
                            </p:stCondLst>
                            <p:childTnLst>
                              <p:par>
                                <p:cTn id="33" presetID="22" presetClass="entr" presetSubtype="8"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 grpId="0"/>
      <p:bldP spid="4" grpId="0"/>
      <p:bldP spid="10" grpId="0"/>
      <p:bldP spid="5" grpId="0"/>
      <p:bldP spid="6" grpId="0"/>
      <p:bldP spid="7"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8575" y="957855"/>
            <a:ext cx="4561900" cy="661615"/>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集合运算</a:t>
            </a:r>
          </a:p>
        </p:txBody>
      </p:sp>
      <p:sp>
        <p:nvSpPr>
          <p:cNvPr id="9"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3.5 集合</a:t>
            </a:r>
          </a:p>
        </p:txBody>
      </p:sp>
      <p:sp>
        <p:nvSpPr>
          <p:cNvPr id="3" name="矩形 2"/>
          <p:cNvSpPr/>
          <p:nvPr/>
        </p:nvSpPr>
        <p:spPr>
          <a:xfrm>
            <a:off x="1001296" y="1652894"/>
            <a:ext cx="3873689" cy="1142877"/>
          </a:xfrm>
          <a:prstGeom prst="rect">
            <a:avLst/>
          </a:prstGeom>
        </p:spPr>
        <p:txBody>
          <a:bodyPr wrap="none">
            <a:spAutoFit/>
          </a:bodyPr>
          <a:lstStyle/>
          <a:p>
            <a:pPr>
              <a:lnSpc>
                <a:spcPct val="150000"/>
              </a:lnSpc>
            </a:pPr>
            <a:r>
              <a:rPr lang="en-US" altLang="zh-CN" dirty="0">
                <a:solidFill>
                  <a:srgbClr val="0055AA"/>
                </a:solidFill>
                <a:latin typeface="Arial Black" panose="020B0A04020102020204" pitchFamily="34" charset="0"/>
              </a:rPr>
              <a:t>a</a:t>
            </a:r>
            <a:r>
              <a:rPr lang="en-US" altLang="zh-CN" dirty="0">
                <a:solidFill>
                  <a:srgbClr val="808080"/>
                </a:solidFill>
                <a:latin typeface="Arial Black" panose="020B0A04020102020204" pitchFamily="34" charset="0"/>
              </a:rPr>
              <a:t> = </a:t>
            </a:r>
            <a:r>
              <a:rPr lang="en-US" altLang="zh-CN" dirty="0">
                <a:solidFill>
                  <a:srgbClr val="0055AA"/>
                </a:solidFill>
                <a:latin typeface="Arial Black" panose="020B0A04020102020204" pitchFamily="34" charset="0"/>
              </a:rPr>
              <a:t>set</a:t>
            </a:r>
            <a:r>
              <a:rPr lang="en-US" altLang="zh-CN" dirty="0">
                <a:solidFill>
                  <a:srgbClr val="808000"/>
                </a:solidFill>
                <a:latin typeface="Arial Black" panose="020B0A04020102020204" pitchFamily="34" charset="0"/>
              </a:rPr>
              <a:t>(</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abracadabra</a:t>
            </a:r>
            <a:r>
              <a:rPr lang="en-US" altLang="zh-CN" dirty="0">
                <a:solidFill>
                  <a:srgbClr val="8B0000"/>
                </a:solidFill>
                <a:latin typeface="Arial Black" panose="020B0A04020102020204" pitchFamily="34" charset="0"/>
              </a:rPr>
              <a:t>'</a:t>
            </a:r>
            <a:r>
              <a:rPr lang="en-US" altLang="zh-CN" dirty="0">
                <a:solidFill>
                  <a:srgbClr val="808000"/>
                </a:solidFill>
                <a:latin typeface="Arial Black" panose="020B0A04020102020204" pitchFamily="34" charset="0"/>
              </a:rPr>
              <a:t>)</a:t>
            </a:r>
          </a:p>
          <a:p>
            <a:pPr>
              <a:lnSpc>
                <a:spcPct val="150000"/>
              </a:lnSpc>
            </a:pPr>
            <a:r>
              <a:rPr lang="en-US" altLang="zh-CN" dirty="0">
                <a:solidFill>
                  <a:srgbClr val="0055AA"/>
                </a:solidFill>
                <a:latin typeface="Arial Black" panose="020B0A04020102020204" pitchFamily="34" charset="0"/>
              </a:rPr>
              <a:t>b = set</a:t>
            </a:r>
            <a:r>
              <a:rPr lang="en-US" altLang="zh-CN" dirty="0">
                <a:solidFill>
                  <a:srgbClr val="8B0000"/>
                </a:solidFill>
                <a:latin typeface="Arial Black" panose="020B0A04020102020204" pitchFamily="34" charset="0"/>
              </a:rPr>
              <a:t>('</a:t>
            </a:r>
            <a:r>
              <a:rPr lang="en-US" altLang="zh-CN" dirty="0" err="1">
                <a:solidFill>
                  <a:srgbClr val="8B0000"/>
                </a:solidFill>
                <a:latin typeface="Arial Black" panose="020B0A04020102020204" pitchFamily="34" charset="0"/>
              </a:rPr>
              <a:t>alacazam</a:t>
            </a:r>
            <a:r>
              <a:rPr lang="en-US" altLang="zh-CN" dirty="0">
                <a:solidFill>
                  <a:srgbClr val="8B0000"/>
                </a:solidFill>
                <a:latin typeface="Arial Black" panose="020B0A04020102020204" pitchFamily="34" charset="0"/>
              </a:rPr>
              <a:t>')</a:t>
            </a:r>
            <a:endParaRPr lang="zh-CN" altLang="en-US" dirty="0">
              <a:solidFill>
                <a:srgbClr val="8B0000"/>
              </a:solidFill>
              <a:latin typeface="Arial Black" panose="020B0A04020102020204" pitchFamily="34" charset="0"/>
            </a:endParaRPr>
          </a:p>
        </p:txBody>
      </p:sp>
      <p:sp>
        <p:nvSpPr>
          <p:cNvPr id="4" name="矩形 3"/>
          <p:cNvSpPr/>
          <p:nvPr/>
        </p:nvSpPr>
        <p:spPr>
          <a:xfrm>
            <a:off x="5260475" y="1793340"/>
            <a:ext cx="3461204" cy="461665"/>
          </a:xfrm>
          <a:prstGeom prst="rect">
            <a:avLst/>
          </a:prstGeom>
        </p:spPr>
        <p:txBody>
          <a:bodyPr wrap="none">
            <a:spAutoFit/>
          </a:bodyPr>
          <a:lstStyle/>
          <a:p>
            <a:r>
              <a:rPr lang="en-US" altLang="zh-CN" dirty="0">
                <a:latin typeface="Arial Black" panose="020B0A04020102020204" pitchFamily="34" charset="0"/>
              </a:rPr>
              <a:t>a=</a:t>
            </a:r>
            <a:r>
              <a:rPr lang="zh-CN" altLang="en-US" dirty="0">
                <a:latin typeface="Arial Black" panose="020B0A04020102020204" pitchFamily="34" charset="0"/>
              </a:rPr>
              <a:t>{'c', 'd', 'b', 'a', 'r'}</a:t>
            </a:r>
          </a:p>
        </p:txBody>
      </p:sp>
      <p:sp>
        <p:nvSpPr>
          <p:cNvPr id="5" name="矩形 4"/>
          <p:cNvSpPr/>
          <p:nvPr/>
        </p:nvSpPr>
        <p:spPr>
          <a:xfrm>
            <a:off x="5260475" y="2384025"/>
            <a:ext cx="3496470" cy="461665"/>
          </a:xfrm>
          <a:prstGeom prst="rect">
            <a:avLst/>
          </a:prstGeom>
        </p:spPr>
        <p:txBody>
          <a:bodyPr wrap="none">
            <a:spAutoFit/>
          </a:bodyPr>
          <a:lstStyle/>
          <a:p>
            <a:r>
              <a:rPr lang="en-US" altLang="zh-CN" dirty="0">
                <a:latin typeface="Arial Black" panose="020B0A04020102020204" pitchFamily="34" charset="0"/>
              </a:rPr>
              <a:t>b=</a:t>
            </a:r>
            <a:r>
              <a:rPr lang="zh-CN" altLang="en-US" dirty="0">
                <a:latin typeface="Arial Black" panose="020B0A04020102020204" pitchFamily="34" charset="0"/>
              </a:rPr>
              <a:t>{'c', 'm', 'z', 'a', 'l'}</a:t>
            </a:r>
          </a:p>
        </p:txBody>
      </p:sp>
      <p:sp>
        <p:nvSpPr>
          <p:cNvPr id="6" name="矩形 5"/>
          <p:cNvSpPr/>
          <p:nvPr/>
        </p:nvSpPr>
        <p:spPr>
          <a:xfrm>
            <a:off x="993026" y="3410171"/>
            <a:ext cx="5415265" cy="461665"/>
          </a:xfrm>
          <a:prstGeom prst="rect">
            <a:avLst/>
          </a:prstGeom>
        </p:spPr>
        <p:txBody>
          <a:bodyPr wrap="none">
            <a:spAutoFit/>
          </a:bodyPr>
          <a:lstStyle/>
          <a:p>
            <a:r>
              <a:rPr lang="pt-BR" altLang="zh-CN" dirty="0">
                <a:solidFill>
                  <a:srgbClr val="0055AA"/>
                </a:solidFill>
                <a:latin typeface="Arial Black" panose="020B0A04020102020204" pitchFamily="34" charset="0"/>
              </a:rPr>
              <a:t>a</a:t>
            </a:r>
            <a:r>
              <a:rPr lang="pt-BR" altLang="zh-CN" dirty="0">
                <a:solidFill>
                  <a:srgbClr val="808080"/>
                </a:solidFill>
                <a:latin typeface="Arial Black" panose="020B0A04020102020204" pitchFamily="34" charset="0"/>
              </a:rPr>
              <a:t> - </a:t>
            </a:r>
            <a:r>
              <a:rPr lang="pt-BR" altLang="zh-CN" dirty="0">
                <a:solidFill>
                  <a:srgbClr val="0055AA"/>
                </a:solidFill>
                <a:latin typeface="Arial Black" panose="020B0A04020102020204" pitchFamily="34" charset="0"/>
              </a:rPr>
              <a:t>b</a:t>
            </a:r>
            <a:r>
              <a:rPr lang="pt-BR" altLang="zh-CN" dirty="0">
                <a:solidFill>
                  <a:srgbClr val="808080"/>
                </a:solidFill>
                <a:latin typeface="Arial Black" panose="020B0A04020102020204" pitchFamily="34" charset="0"/>
              </a:rPr>
              <a:t> </a:t>
            </a:r>
            <a:r>
              <a:rPr lang="pt-BR" altLang="zh-CN" dirty="0">
                <a:solidFill>
                  <a:srgbClr val="AA5500"/>
                </a:solidFill>
                <a:latin typeface="Arial Black" panose="020B0A04020102020204" pitchFamily="34" charset="0"/>
              </a:rPr>
              <a:t># </a:t>
            </a:r>
            <a:r>
              <a:rPr lang="zh-CN" altLang="pt-BR" dirty="0">
                <a:solidFill>
                  <a:srgbClr val="AA5500"/>
                </a:solidFill>
                <a:latin typeface="Arial Black" panose="020B0A04020102020204" pitchFamily="34" charset="0"/>
              </a:rPr>
              <a:t>集合</a:t>
            </a:r>
            <a:r>
              <a:rPr lang="pt-BR" altLang="zh-CN" dirty="0">
                <a:solidFill>
                  <a:srgbClr val="AA5500"/>
                </a:solidFill>
                <a:latin typeface="Arial Black" panose="020B0A04020102020204" pitchFamily="34" charset="0"/>
              </a:rPr>
              <a:t>a</a:t>
            </a:r>
            <a:r>
              <a:rPr lang="zh-CN" altLang="pt-BR" dirty="0">
                <a:solidFill>
                  <a:srgbClr val="AA5500"/>
                </a:solidFill>
                <a:latin typeface="Arial Black" panose="020B0A04020102020204" pitchFamily="34" charset="0"/>
              </a:rPr>
              <a:t>包含</a:t>
            </a:r>
            <a:r>
              <a:rPr lang="zh-CN" altLang="en-US" dirty="0">
                <a:solidFill>
                  <a:srgbClr val="AA5500"/>
                </a:solidFill>
                <a:latin typeface="Arial Black" panose="020B0A04020102020204" pitchFamily="34" charset="0"/>
              </a:rPr>
              <a:t>集合</a:t>
            </a:r>
            <a:r>
              <a:rPr lang="en-US" altLang="zh-CN" dirty="0">
                <a:solidFill>
                  <a:srgbClr val="AA5500"/>
                </a:solidFill>
                <a:latin typeface="Arial Black" panose="020B0A04020102020204" pitchFamily="34" charset="0"/>
              </a:rPr>
              <a:t>b</a:t>
            </a:r>
            <a:r>
              <a:rPr lang="zh-CN" altLang="en-US" dirty="0">
                <a:solidFill>
                  <a:srgbClr val="AA5500"/>
                </a:solidFill>
                <a:latin typeface="Arial Black" panose="020B0A04020102020204" pitchFamily="34" charset="0"/>
              </a:rPr>
              <a:t>不包含的</a:t>
            </a:r>
            <a:r>
              <a:rPr lang="zh-CN" altLang="pt-BR" dirty="0">
                <a:solidFill>
                  <a:srgbClr val="AA5500"/>
                </a:solidFill>
                <a:latin typeface="Arial Black" panose="020B0A04020102020204" pitchFamily="34" charset="0"/>
              </a:rPr>
              <a:t>元素</a:t>
            </a:r>
            <a:endParaRPr lang="zh-CN" altLang="en-US" dirty="0">
              <a:latin typeface="Arial Black" panose="020B0A04020102020204" pitchFamily="34" charset="0"/>
            </a:endParaRPr>
          </a:p>
        </p:txBody>
      </p:sp>
      <p:sp>
        <p:nvSpPr>
          <p:cNvPr id="7" name="矩形 6"/>
          <p:cNvSpPr/>
          <p:nvPr/>
        </p:nvSpPr>
        <p:spPr>
          <a:xfrm>
            <a:off x="929337" y="4049884"/>
            <a:ext cx="1891865" cy="461665"/>
          </a:xfrm>
          <a:prstGeom prst="rect">
            <a:avLst/>
          </a:prstGeom>
        </p:spPr>
        <p:txBody>
          <a:bodyPr wrap="none">
            <a:spAutoFit/>
          </a:bodyPr>
          <a:lstStyle/>
          <a:p>
            <a:r>
              <a:rPr lang="en-US" altLang="zh-CN" dirty="0">
                <a:solidFill>
                  <a:srgbClr val="808080"/>
                </a:solidFill>
                <a:latin typeface="Arial Black" panose="020B0A04020102020204" pitchFamily="34" charset="0"/>
              </a:rPr>
              <a:t>{</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r</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d</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b</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a:t>
            </a:r>
            <a:endParaRPr lang="zh-CN" altLang="en-US" dirty="0">
              <a:latin typeface="Arial Black" panose="020B0A04020102020204" pitchFamily="34" charset="0"/>
            </a:endParaRPr>
          </a:p>
        </p:txBody>
      </p:sp>
      <p:sp>
        <p:nvSpPr>
          <p:cNvPr id="8" name="矩形 7"/>
          <p:cNvSpPr/>
          <p:nvPr/>
        </p:nvSpPr>
        <p:spPr>
          <a:xfrm>
            <a:off x="1028292" y="4650039"/>
            <a:ext cx="5262979" cy="830997"/>
          </a:xfrm>
          <a:prstGeom prst="rect">
            <a:avLst/>
          </a:prstGeom>
        </p:spPr>
        <p:txBody>
          <a:bodyPr wrap="none">
            <a:spAutoFit/>
          </a:bodyPr>
          <a:lstStyle/>
          <a:p>
            <a:r>
              <a:rPr lang="en-US" altLang="zh-CN" dirty="0">
                <a:solidFill>
                  <a:srgbClr val="0055AA"/>
                </a:solidFill>
                <a:latin typeface="Arial Black" panose="020B0A04020102020204" pitchFamily="34" charset="0"/>
              </a:rPr>
              <a:t>a</a:t>
            </a:r>
            <a:r>
              <a:rPr lang="en-US" altLang="zh-CN" dirty="0">
                <a:solidFill>
                  <a:srgbClr val="808080"/>
                </a:solidFill>
                <a:latin typeface="Arial Black" panose="020B0A04020102020204" pitchFamily="34" charset="0"/>
              </a:rPr>
              <a:t> | </a:t>
            </a:r>
            <a:r>
              <a:rPr lang="en-US" altLang="zh-CN" dirty="0">
                <a:solidFill>
                  <a:srgbClr val="0055AA"/>
                </a:solidFill>
                <a:latin typeface="Arial Black" panose="020B0A04020102020204" pitchFamily="34" charset="0"/>
              </a:rPr>
              <a:t>b  </a:t>
            </a:r>
            <a:r>
              <a:rPr lang="en-US" altLang="zh-CN" dirty="0">
                <a:solidFill>
                  <a:srgbClr val="AA5500"/>
                </a:solidFill>
                <a:latin typeface="Arial Black" panose="020B0A04020102020204" pitchFamily="34" charset="0"/>
              </a:rPr>
              <a:t># </a:t>
            </a:r>
            <a:r>
              <a:rPr lang="zh-CN" altLang="en-US" dirty="0">
                <a:solidFill>
                  <a:srgbClr val="AA5500"/>
                </a:solidFill>
                <a:latin typeface="Arial Black" panose="020B0A04020102020204" pitchFamily="34" charset="0"/>
              </a:rPr>
              <a:t>集合</a:t>
            </a:r>
            <a:r>
              <a:rPr lang="en-US" altLang="zh-CN" dirty="0">
                <a:solidFill>
                  <a:srgbClr val="AA5500"/>
                </a:solidFill>
                <a:latin typeface="Arial Black" panose="020B0A04020102020204" pitchFamily="34" charset="0"/>
              </a:rPr>
              <a:t>a</a:t>
            </a:r>
            <a:r>
              <a:rPr lang="zh-CN" altLang="en-US" dirty="0">
                <a:solidFill>
                  <a:srgbClr val="AA5500"/>
                </a:solidFill>
                <a:latin typeface="Arial Black" panose="020B0A04020102020204" pitchFamily="34" charset="0"/>
              </a:rPr>
              <a:t>或</a:t>
            </a:r>
            <a:r>
              <a:rPr lang="en-US" altLang="zh-CN" dirty="0">
                <a:solidFill>
                  <a:srgbClr val="AA5500"/>
                </a:solidFill>
                <a:latin typeface="Arial Black" panose="020B0A04020102020204" pitchFamily="34" charset="0"/>
              </a:rPr>
              <a:t>b</a:t>
            </a:r>
            <a:r>
              <a:rPr lang="zh-CN" altLang="en-US" dirty="0">
                <a:solidFill>
                  <a:srgbClr val="AA5500"/>
                </a:solidFill>
                <a:latin typeface="Arial Black" panose="020B0A04020102020204" pitchFamily="34" charset="0"/>
              </a:rPr>
              <a:t>中包含的所有元素</a:t>
            </a:r>
            <a:endParaRPr lang="zh-CN" altLang="en-US" dirty="0">
              <a:latin typeface="Arial Black" panose="020B0A04020102020204" pitchFamily="34" charset="0"/>
            </a:endParaRPr>
          </a:p>
          <a:p>
            <a:r>
              <a:rPr lang="en-US" altLang="zh-CN" dirty="0">
                <a:solidFill>
                  <a:srgbClr val="808080"/>
                </a:solidFill>
                <a:latin typeface="Arial Black" panose="020B0A04020102020204" pitchFamily="34" charset="0"/>
              </a:rPr>
              <a:t> </a:t>
            </a:r>
            <a:endParaRPr lang="zh-CN" altLang="en-US" dirty="0">
              <a:latin typeface="Arial Black" panose="020B0A04020102020204" pitchFamily="34" charset="0"/>
            </a:endParaRPr>
          </a:p>
        </p:txBody>
      </p:sp>
      <p:sp>
        <p:nvSpPr>
          <p:cNvPr id="13" name="矩形 12"/>
          <p:cNvSpPr/>
          <p:nvPr/>
        </p:nvSpPr>
        <p:spPr>
          <a:xfrm>
            <a:off x="868794" y="5285369"/>
            <a:ext cx="6408712" cy="461665"/>
          </a:xfrm>
          <a:prstGeom prst="rect">
            <a:avLst/>
          </a:prstGeom>
        </p:spPr>
        <p:txBody>
          <a:bodyPr wrap="square">
            <a:spAutoFit/>
          </a:bodyPr>
          <a:lstStyle/>
          <a:p>
            <a:r>
              <a:rPr lang="en-US" altLang="zh-CN" dirty="0">
                <a:solidFill>
                  <a:srgbClr val="808080"/>
                </a:solidFill>
                <a:latin typeface="Arial Black" panose="020B0A04020102020204" pitchFamily="34" charset="0"/>
              </a:rPr>
              <a:t>{</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a</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c</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r</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d</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b</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m</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z</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l</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a:t>
            </a:r>
            <a:endParaRPr lang="zh-CN" altLang="en-US" dirty="0">
              <a:latin typeface="Arial Black" panose="020B0A04020102020204" pitchFamily="34" charset="0"/>
            </a:endParaRPr>
          </a:p>
        </p:txBody>
      </p:sp>
      <p:sp>
        <p:nvSpPr>
          <p:cNvPr id="14" name="矩形 13"/>
          <p:cNvSpPr/>
          <p:nvPr/>
        </p:nvSpPr>
        <p:spPr>
          <a:xfrm>
            <a:off x="6603231" y="3286199"/>
            <a:ext cx="5279009" cy="461665"/>
          </a:xfrm>
          <a:prstGeom prst="rect">
            <a:avLst/>
          </a:prstGeom>
        </p:spPr>
        <p:txBody>
          <a:bodyPr wrap="none">
            <a:spAutoFit/>
          </a:bodyPr>
          <a:lstStyle/>
          <a:p>
            <a:r>
              <a:rPr lang="en-US" altLang="zh-CN" dirty="0">
                <a:solidFill>
                  <a:srgbClr val="0055AA"/>
                </a:solidFill>
                <a:latin typeface="Arial Black" panose="020B0A04020102020204" pitchFamily="34" charset="0"/>
              </a:rPr>
              <a:t>a</a:t>
            </a:r>
            <a:r>
              <a:rPr lang="en-US" altLang="zh-CN" dirty="0">
                <a:solidFill>
                  <a:srgbClr val="808080"/>
                </a:solidFill>
                <a:latin typeface="Arial Black" panose="020B0A04020102020204" pitchFamily="34" charset="0"/>
              </a:rPr>
              <a:t> &amp; </a:t>
            </a:r>
            <a:r>
              <a:rPr lang="en-US" altLang="zh-CN" dirty="0">
                <a:solidFill>
                  <a:srgbClr val="0055AA"/>
                </a:solidFill>
                <a:latin typeface="Arial Black" panose="020B0A04020102020204" pitchFamily="34" charset="0"/>
              </a:rPr>
              <a:t>b</a:t>
            </a:r>
            <a:r>
              <a:rPr lang="en-US" altLang="zh-CN" dirty="0">
                <a:solidFill>
                  <a:srgbClr val="808080"/>
                </a:solidFill>
                <a:latin typeface="Arial Black" panose="020B0A04020102020204" pitchFamily="34" charset="0"/>
              </a:rPr>
              <a:t> </a:t>
            </a:r>
            <a:r>
              <a:rPr lang="en-US" altLang="zh-CN" dirty="0">
                <a:solidFill>
                  <a:srgbClr val="AA5500"/>
                </a:solidFill>
                <a:latin typeface="Arial Black" panose="020B0A04020102020204" pitchFamily="34" charset="0"/>
              </a:rPr>
              <a:t># </a:t>
            </a:r>
            <a:r>
              <a:rPr lang="zh-CN" altLang="en-US" dirty="0">
                <a:solidFill>
                  <a:srgbClr val="AA5500"/>
                </a:solidFill>
                <a:latin typeface="Arial Black" panose="020B0A04020102020204" pitchFamily="34" charset="0"/>
              </a:rPr>
              <a:t>集合</a:t>
            </a:r>
            <a:r>
              <a:rPr lang="en-US" altLang="zh-CN" dirty="0">
                <a:solidFill>
                  <a:srgbClr val="AA5500"/>
                </a:solidFill>
                <a:latin typeface="Arial Black" panose="020B0A04020102020204" pitchFamily="34" charset="0"/>
              </a:rPr>
              <a:t>a</a:t>
            </a:r>
            <a:r>
              <a:rPr lang="zh-CN" altLang="en-US" dirty="0">
                <a:solidFill>
                  <a:srgbClr val="AA5500"/>
                </a:solidFill>
                <a:latin typeface="Arial Black" panose="020B0A04020102020204" pitchFamily="34" charset="0"/>
              </a:rPr>
              <a:t>和</a:t>
            </a:r>
            <a:r>
              <a:rPr lang="en-US" altLang="zh-CN" dirty="0">
                <a:solidFill>
                  <a:srgbClr val="AA5500"/>
                </a:solidFill>
                <a:latin typeface="Arial Black" panose="020B0A04020102020204" pitchFamily="34" charset="0"/>
              </a:rPr>
              <a:t>b</a:t>
            </a:r>
            <a:r>
              <a:rPr lang="zh-CN" altLang="en-US" dirty="0">
                <a:solidFill>
                  <a:srgbClr val="AA5500"/>
                </a:solidFill>
                <a:latin typeface="Arial Black" panose="020B0A04020102020204" pitchFamily="34" charset="0"/>
              </a:rPr>
              <a:t>中都包含了的元素</a:t>
            </a:r>
            <a:endParaRPr lang="zh-CN" altLang="en-US" dirty="0">
              <a:latin typeface="Arial Black" panose="020B0A04020102020204" pitchFamily="34" charset="0"/>
            </a:endParaRPr>
          </a:p>
        </p:txBody>
      </p:sp>
      <p:sp>
        <p:nvSpPr>
          <p:cNvPr id="15" name="矩形 14"/>
          <p:cNvSpPr/>
          <p:nvPr/>
        </p:nvSpPr>
        <p:spPr>
          <a:xfrm>
            <a:off x="6712760" y="3957540"/>
            <a:ext cx="1380506" cy="461665"/>
          </a:xfrm>
          <a:prstGeom prst="rect">
            <a:avLst/>
          </a:prstGeom>
        </p:spPr>
        <p:txBody>
          <a:bodyPr wrap="none">
            <a:spAutoFit/>
          </a:bodyPr>
          <a:lstStyle/>
          <a:p>
            <a:r>
              <a:rPr lang="en-US" altLang="zh-CN" dirty="0">
                <a:solidFill>
                  <a:srgbClr val="808080"/>
                </a:solidFill>
                <a:latin typeface="Arial Black" panose="020B0A04020102020204" pitchFamily="34" charset="0"/>
              </a:rPr>
              <a:t>{</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a</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c</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a:t>
            </a:r>
            <a:endParaRPr lang="zh-CN" altLang="en-US" dirty="0">
              <a:latin typeface="Arial Black" panose="020B0A04020102020204" pitchFamily="34" charset="0"/>
            </a:endParaRPr>
          </a:p>
        </p:txBody>
      </p:sp>
      <p:sp>
        <p:nvSpPr>
          <p:cNvPr id="16" name="矩形 15"/>
          <p:cNvSpPr/>
          <p:nvPr/>
        </p:nvSpPr>
        <p:spPr>
          <a:xfrm>
            <a:off x="6698461" y="4612167"/>
            <a:ext cx="4900701" cy="461665"/>
          </a:xfrm>
          <a:prstGeom prst="rect">
            <a:avLst/>
          </a:prstGeom>
        </p:spPr>
        <p:txBody>
          <a:bodyPr wrap="none">
            <a:spAutoFit/>
          </a:bodyPr>
          <a:lstStyle/>
          <a:p>
            <a:r>
              <a:rPr lang="en-US" altLang="zh-CN" dirty="0">
                <a:solidFill>
                  <a:srgbClr val="0055AA"/>
                </a:solidFill>
                <a:latin typeface="Arial Black" panose="020B0A04020102020204" pitchFamily="34" charset="0"/>
              </a:rPr>
              <a:t>a</a:t>
            </a:r>
            <a:r>
              <a:rPr lang="en-US" altLang="zh-CN" dirty="0">
                <a:solidFill>
                  <a:srgbClr val="808080"/>
                </a:solidFill>
                <a:latin typeface="Arial Black" panose="020B0A04020102020204" pitchFamily="34" charset="0"/>
              </a:rPr>
              <a:t> ^ </a:t>
            </a:r>
            <a:r>
              <a:rPr lang="en-US" altLang="zh-CN" dirty="0">
                <a:solidFill>
                  <a:srgbClr val="0055AA"/>
                </a:solidFill>
                <a:latin typeface="Arial Black" panose="020B0A04020102020204" pitchFamily="34" charset="0"/>
              </a:rPr>
              <a:t>b</a:t>
            </a:r>
            <a:r>
              <a:rPr lang="en-US" altLang="zh-CN" dirty="0">
                <a:solidFill>
                  <a:srgbClr val="808080"/>
                </a:solidFill>
                <a:latin typeface="Arial Black" panose="020B0A04020102020204" pitchFamily="34" charset="0"/>
              </a:rPr>
              <a:t> </a:t>
            </a:r>
            <a:r>
              <a:rPr lang="en-US" altLang="zh-CN" dirty="0">
                <a:solidFill>
                  <a:srgbClr val="AA5500"/>
                </a:solidFill>
                <a:latin typeface="Arial Black" panose="020B0A04020102020204" pitchFamily="34" charset="0"/>
              </a:rPr>
              <a:t># </a:t>
            </a:r>
            <a:r>
              <a:rPr lang="zh-CN" altLang="en-US" dirty="0">
                <a:solidFill>
                  <a:srgbClr val="AA5500"/>
                </a:solidFill>
                <a:latin typeface="Arial Black" panose="020B0A04020102020204" pitchFamily="34" charset="0"/>
              </a:rPr>
              <a:t>不同时包含于</a:t>
            </a:r>
            <a:r>
              <a:rPr lang="en-US" altLang="zh-CN" dirty="0">
                <a:solidFill>
                  <a:srgbClr val="AA5500"/>
                </a:solidFill>
                <a:latin typeface="Arial Black" panose="020B0A04020102020204" pitchFamily="34" charset="0"/>
              </a:rPr>
              <a:t>a</a:t>
            </a:r>
            <a:r>
              <a:rPr lang="zh-CN" altLang="en-US" dirty="0">
                <a:solidFill>
                  <a:srgbClr val="AA5500"/>
                </a:solidFill>
                <a:latin typeface="Arial Black" panose="020B0A04020102020204" pitchFamily="34" charset="0"/>
              </a:rPr>
              <a:t>和</a:t>
            </a:r>
            <a:r>
              <a:rPr lang="en-US" altLang="zh-CN" dirty="0">
                <a:solidFill>
                  <a:srgbClr val="AA5500"/>
                </a:solidFill>
                <a:latin typeface="Arial Black" panose="020B0A04020102020204" pitchFamily="34" charset="0"/>
              </a:rPr>
              <a:t>b</a:t>
            </a:r>
            <a:r>
              <a:rPr lang="zh-CN" altLang="en-US" dirty="0">
                <a:solidFill>
                  <a:srgbClr val="AA5500"/>
                </a:solidFill>
                <a:latin typeface="Arial Black" panose="020B0A04020102020204" pitchFamily="34" charset="0"/>
              </a:rPr>
              <a:t>的元素</a:t>
            </a:r>
            <a:endParaRPr lang="zh-CN" altLang="en-US" dirty="0">
              <a:latin typeface="Arial Black" panose="020B0A04020102020204" pitchFamily="34" charset="0"/>
            </a:endParaRPr>
          </a:p>
        </p:txBody>
      </p:sp>
      <p:sp>
        <p:nvSpPr>
          <p:cNvPr id="17" name="矩形 16"/>
          <p:cNvSpPr/>
          <p:nvPr/>
        </p:nvSpPr>
        <p:spPr>
          <a:xfrm>
            <a:off x="6618594" y="5372308"/>
            <a:ext cx="3599062" cy="461665"/>
          </a:xfrm>
          <a:prstGeom prst="rect">
            <a:avLst/>
          </a:prstGeom>
        </p:spPr>
        <p:txBody>
          <a:bodyPr wrap="none">
            <a:spAutoFit/>
          </a:bodyPr>
          <a:lstStyle/>
          <a:p>
            <a:r>
              <a:rPr lang="en-US" altLang="zh-CN" dirty="0">
                <a:solidFill>
                  <a:srgbClr val="808080"/>
                </a:solidFill>
                <a:latin typeface="Arial Black" panose="020B0A04020102020204" pitchFamily="34" charset="0"/>
              </a:rPr>
              <a:t>{</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r</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d</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b</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m</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z</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 </a:t>
            </a:r>
            <a:r>
              <a:rPr lang="en-US" altLang="zh-CN" dirty="0">
                <a:solidFill>
                  <a:srgbClr val="8B0000"/>
                </a:solidFill>
                <a:latin typeface="Arial Black" panose="020B0A04020102020204" pitchFamily="34" charset="0"/>
              </a:rPr>
              <a:t>'</a:t>
            </a:r>
            <a:r>
              <a:rPr lang="en-US" altLang="zh-CN" dirty="0">
                <a:solidFill>
                  <a:srgbClr val="AA1111"/>
                </a:solidFill>
                <a:latin typeface="Arial Black" panose="020B0A04020102020204" pitchFamily="34" charset="0"/>
              </a:rPr>
              <a:t>l</a:t>
            </a:r>
            <a:r>
              <a:rPr lang="en-US" altLang="zh-CN" dirty="0">
                <a:solidFill>
                  <a:srgbClr val="8B0000"/>
                </a:solidFill>
                <a:latin typeface="Arial Black" panose="020B0A04020102020204" pitchFamily="34" charset="0"/>
              </a:rPr>
              <a:t>'</a:t>
            </a:r>
            <a:r>
              <a:rPr lang="en-US" altLang="zh-CN" dirty="0">
                <a:solidFill>
                  <a:srgbClr val="808080"/>
                </a:solidFill>
                <a:latin typeface="Arial Black" panose="020B0A04020102020204" pitchFamily="34" charset="0"/>
              </a:rPr>
              <a:t>}</a:t>
            </a:r>
            <a:endParaRPr lang="zh-CN" altLang="en-US" dirty="0">
              <a:latin typeface="Arial Black" panose="020B0A04020102020204" pitchFamily="34" charset="0"/>
            </a:endParaRPr>
          </a:p>
        </p:txBody>
      </p:sp>
    </p:spTree>
  </p:cSld>
  <p:clrMapOvr>
    <a:masterClrMapping/>
  </p:clrMapOvr>
  <p:transition spd="slow" advTm="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3" grpId="0"/>
      <p:bldP spid="14" grpId="0"/>
      <p:bldP spid="15" grpId="0"/>
      <p:bldP spid="16" grpId="0"/>
      <p:bldP spid="17"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947047" y="621482"/>
            <a:ext cx="2448272" cy="724034"/>
          </a:xfrm>
        </p:spPr>
        <p:txBody>
          <a:bodyPr vert="horz" wrap="square" lIns="91456" tIns="45728" rIns="91456" bIns="45728" numCol="1" anchor="b"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lang="zh-CN" altLang="en-US" sz="3200" b="1" kern="0" dirty="0">
                <a:solidFill>
                  <a:schemeClr val="tx2"/>
                </a:solidFill>
                <a:effectLst>
                  <a:outerShdw blurRad="38100" dist="38100" dir="2700000" algn="tl">
                    <a:srgbClr val="C0C0C0"/>
                  </a:outerShdw>
                </a:effectLst>
              </a:rPr>
              <a:t>集合说明</a:t>
            </a:r>
            <a:r>
              <a:rPr kumimoji="0" lang="zh-CN" altLang="en-US" sz="32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a:t>
            </a:r>
          </a:p>
        </p:txBody>
      </p:sp>
      <p:sp>
        <p:nvSpPr>
          <p:cNvPr id="52227" name="内容占位符 2"/>
          <p:cNvSpPr>
            <a:spLocks noGrp="1"/>
          </p:cNvSpPr>
          <p:nvPr>
            <p:ph idx="4294967295"/>
          </p:nvPr>
        </p:nvSpPr>
        <p:spPr>
          <a:xfrm>
            <a:off x="410543" y="1629594"/>
            <a:ext cx="11305256" cy="3121209"/>
          </a:xfrm>
        </p:spPr>
        <p:txBody>
          <a:bodyPr vert="horz" wrap="square" lIns="91456" tIns="45728" rIns="91456" bIns="45728" anchor="t"/>
          <a:lstStyle/>
          <a:p>
            <a:pPr algn="just">
              <a:lnSpc>
                <a:spcPts val="3800"/>
              </a:lnSpc>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set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800" dirty="0" err="1">
                <a:latin typeface="微软雅黑" panose="020B0503020204020204" pitchFamily="34" charset="-122"/>
                <a:ea typeface="微软雅黑" panose="020B0503020204020204" pitchFamily="34" charset="-122"/>
                <a:cs typeface="微软雅黑" panose="020B0503020204020204" pitchFamily="34" charset="-122"/>
              </a:rPr>
              <a:t>dict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类似，也是一组</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key</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的集合，但不存储</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value</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。由于</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key</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不能重复，所以，在</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set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中，没有重复的</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key</a:t>
            </a:r>
          </a:p>
          <a:p>
            <a:pPr algn="just">
              <a:lnSpc>
                <a:spcPts val="38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可通过</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add(key)</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remove(key)</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操作</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ts val="3800"/>
              </a:lnSpc>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set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800" dirty="0" err="1">
                <a:latin typeface="微软雅黑" panose="020B0503020204020204" pitchFamily="34" charset="-122"/>
                <a:ea typeface="微软雅黑" panose="020B0503020204020204" pitchFamily="34" charset="-122"/>
                <a:cs typeface="微软雅黑" panose="020B0503020204020204" pitchFamily="34" charset="-122"/>
              </a:rPr>
              <a:t>dict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的唯一区别仅在于没有存储对应的</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value</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，但是，</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set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的原理和</a:t>
            </a:r>
            <a:r>
              <a:rPr lang="en-US" altLang="zh-CN" sz="2800" dirty="0" err="1">
                <a:latin typeface="微软雅黑" panose="020B0503020204020204" pitchFamily="34" charset="-122"/>
                <a:ea typeface="微软雅黑" panose="020B0503020204020204" pitchFamily="34" charset="-122"/>
                <a:cs typeface="微软雅黑" panose="020B0503020204020204" pitchFamily="34" charset="-122"/>
              </a:rPr>
              <a:t>dict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一样，所以，同样不可以放入可变对象，因为无法判断两个可变对象是否相等，也就无法保证</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set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内部“不会有重复元素”</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3.5 集合</a:t>
            </a:r>
          </a:p>
        </p:txBody>
      </p:sp>
    </p:spTree>
  </p:cSld>
  <p:clrMapOvr>
    <a:masterClrMapping/>
  </p:clrMapOvr>
  <p:transition spd="slow" advTm="0"/>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806950" y="2720975"/>
            <a:ext cx="2239010" cy="645160"/>
          </a:xfrm>
          <a:prstGeom prst="rect">
            <a:avLst/>
          </a:prstGeom>
          <a:noFill/>
        </p:spPr>
        <p:txBody>
          <a:bodyPr wrap="square" rtlCol="0">
            <a:spAutoFit/>
          </a:bodyPr>
          <a:lstStyle/>
          <a:p>
            <a:r>
              <a:rPr lang="zh-CN" altLang="en-US" sz="3600" b="1" dirty="0">
                <a:solidFill>
                  <a:srgbClr val="0071C1"/>
                </a:solidFill>
                <a:latin typeface="微软雅黑" panose="020B0503020204020204" pitchFamily="34" charset="-122"/>
                <a:ea typeface="微软雅黑" panose="020B0503020204020204" pitchFamily="34" charset="-122"/>
              </a:rPr>
              <a:t>补充知识</a:t>
            </a:r>
          </a:p>
        </p:txBody>
      </p:sp>
    </p:spTree>
  </p:cSld>
  <p:clrMapOvr>
    <a:masterClrMapping/>
  </p:clrMapOvr>
  <p:transition spd="slow" advTm="0"/>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2512" y="805988"/>
            <a:ext cx="6624736" cy="661615"/>
          </a:xfrm>
        </p:spPr>
        <p:txBody>
          <a:bodyPr vert="horz" wrap="square" lIns="91456" tIns="45728" rIns="91456" bIns="45728" numCol="1" anchor="b"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1</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Python</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中的可变对象和不可变对象</a:t>
            </a:r>
          </a:p>
        </p:txBody>
      </p:sp>
      <p:sp>
        <p:nvSpPr>
          <p:cNvPr id="6"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补充知识</a:t>
            </a:r>
          </a:p>
        </p:txBody>
      </p:sp>
      <p:sp>
        <p:nvSpPr>
          <p:cNvPr id="3" name="矩形 2"/>
          <p:cNvSpPr/>
          <p:nvPr/>
        </p:nvSpPr>
        <p:spPr>
          <a:xfrm>
            <a:off x="626567" y="1773610"/>
            <a:ext cx="11089232" cy="3970318"/>
          </a:xfrm>
          <a:prstGeom prst="rect">
            <a:avLst/>
          </a:prstGeom>
        </p:spPr>
        <p:txBody>
          <a:bodyPr wrap="square">
            <a:spAutoFit/>
          </a:bodyPr>
          <a:lstStyle/>
          <a:p>
            <a:pPr algn="just">
              <a:lnSpc>
                <a:spcPct val="150000"/>
              </a:lnSpc>
              <a:buFont typeface="Arial" panose="020B0604020202020204" pitchFamily="34" charset="0"/>
              <a:buChar char="•"/>
            </a:pPr>
            <a:r>
              <a:rPr lang="zh-CN" altLang="en-US" sz="2800" b="1" u="sng" dirty="0">
                <a:solidFill>
                  <a:srgbClr val="C00000"/>
                </a:solidFill>
                <a:latin typeface="微软雅黑" panose="020B0503020204020204" pitchFamily="34" charset="-122"/>
                <a:ea typeface="微软雅黑" panose="020B0503020204020204" pitchFamily="34" charset="-122"/>
              </a:rPr>
              <a:t>不可变对象，该对象所指向的内存中的值不能被改变</a:t>
            </a:r>
            <a:r>
              <a:rPr lang="zh-CN" altLang="en-US" sz="2800" b="1" dirty="0">
                <a:solidFill>
                  <a:srgbClr val="333333"/>
                </a:solidFill>
                <a:latin typeface="微软雅黑" panose="020B0503020204020204" pitchFamily="34" charset="-122"/>
                <a:ea typeface="微软雅黑" panose="020B0503020204020204" pitchFamily="34" charset="-122"/>
              </a:rPr>
              <a:t>。</a:t>
            </a:r>
            <a:r>
              <a:rPr lang="zh-CN" altLang="en-US" sz="2800" dirty="0">
                <a:solidFill>
                  <a:srgbClr val="333333"/>
                </a:solidFill>
                <a:latin typeface="微软雅黑" panose="020B0503020204020204" pitchFamily="34" charset="-122"/>
                <a:ea typeface="微软雅黑" panose="020B0503020204020204" pitchFamily="34" charset="-122"/>
              </a:rPr>
              <a:t>当改变某个变量时候，由于其所指的值不能被改变，相当于把原来的值复制一份后再改变，这会开辟一个新的地址，变量再指向这个新的地址。</a:t>
            </a:r>
          </a:p>
          <a:p>
            <a:pPr algn="just">
              <a:lnSpc>
                <a:spcPct val="150000"/>
              </a:lnSpc>
              <a:buFont typeface="Arial" panose="020B0604020202020204" pitchFamily="34" charset="0"/>
              <a:buChar char="•"/>
            </a:pPr>
            <a:r>
              <a:rPr lang="zh-CN" altLang="en-US" sz="2800" b="1" u="sng" dirty="0">
                <a:solidFill>
                  <a:srgbClr val="C00000"/>
                </a:solidFill>
                <a:latin typeface="微软雅黑" panose="020B0503020204020204" pitchFamily="34" charset="-122"/>
                <a:ea typeface="微软雅黑" panose="020B0503020204020204" pitchFamily="34" charset="-122"/>
              </a:rPr>
              <a:t>可变对象，该对象所指向的内存中的值可以被改变</a:t>
            </a:r>
            <a:r>
              <a:rPr lang="zh-CN" altLang="en-US" sz="2800" b="1" dirty="0">
                <a:solidFill>
                  <a:srgbClr val="333333"/>
                </a:solidFill>
                <a:latin typeface="微软雅黑" panose="020B0503020204020204" pitchFamily="34" charset="-122"/>
                <a:ea typeface="微软雅黑" panose="020B0503020204020204" pitchFamily="34" charset="-122"/>
              </a:rPr>
              <a:t>。</a:t>
            </a:r>
            <a:r>
              <a:rPr lang="zh-CN" altLang="en-US" sz="2800" dirty="0">
                <a:solidFill>
                  <a:srgbClr val="333333"/>
                </a:solidFill>
                <a:latin typeface="微软雅黑" panose="020B0503020204020204" pitchFamily="34" charset="-122"/>
                <a:ea typeface="微软雅黑" panose="020B0503020204020204" pitchFamily="34" charset="-122"/>
              </a:rPr>
              <a:t>变量（准确的说是引用）改变后，实际上是其所指的值直接发生改变，并没有发生复制行为，也没有开辟新的出地址，通俗点说就是</a:t>
            </a:r>
            <a:r>
              <a:rPr lang="zh-CN" altLang="en-US" sz="2800" b="1" dirty="0">
                <a:solidFill>
                  <a:srgbClr val="C00000"/>
                </a:solidFill>
                <a:latin typeface="微软雅黑" panose="020B0503020204020204" pitchFamily="34" charset="-122"/>
                <a:ea typeface="微软雅黑" panose="020B0503020204020204" pitchFamily="34" charset="-122"/>
              </a:rPr>
              <a:t>原地改变</a:t>
            </a:r>
            <a:r>
              <a:rPr lang="zh-CN" altLang="en-US" sz="2800" dirty="0">
                <a:solidFill>
                  <a:srgbClr val="333333"/>
                </a:solidFill>
                <a:latin typeface="微软雅黑" panose="020B0503020204020204" pitchFamily="34" charset="-122"/>
                <a:ea typeface="微软雅黑" panose="020B0503020204020204" pitchFamily="34" charset="-122"/>
              </a:rPr>
              <a:t>。</a:t>
            </a:r>
            <a:endParaRPr lang="zh-CN" altLang="en-US" sz="2800" b="0" i="0" dirty="0">
              <a:solidFill>
                <a:srgbClr val="333333"/>
              </a:solidFill>
              <a:effectLst/>
              <a:latin typeface="微软雅黑" panose="020B0503020204020204" pitchFamily="34" charset="-122"/>
              <a:ea typeface="微软雅黑" panose="020B0503020204020204" pitchFamily="34" charset="-122"/>
            </a:endParaRPr>
          </a:p>
        </p:txBody>
      </p:sp>
    </p:spTree>
  </p:cSld>
  <p:clrMapOvr>
    <a:masterClrMapping/>
  </p:clrMapOvr>
  <p:transition spd="slow" advTm="0"/>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22512" y="805988"/>
            <a:ext cx="6624736" cy="661615"/>
          </a:xfrm>
        </p:spPr>
        <p:txBody>
          <a:bodyPr vert="horz" wrap="square" lIns="91456" tIns="45728" rIns="91456" bIns="45728" numCol="1" anchor="b"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1</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Python</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中的可变对象和不可变对象</a:t>
            </a:r>
          </a:p>
        </p:txBody>
      </p:sp>
      <p:sp>
        <p:nvSpPr>
          <p:cNvPr id="6"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补充知识</a:t>
            </a:r>
          </a:p>
        </p:txBody>
      </p:sp>
      <p:grpSp>
        <p:nvGrpSpPr>
          <p:cNvPr id="25" name="组合 24"/>
          <p:cNvGrpSpPr/>
          <p:nvPr/>
        </p:nvGrpSpPr>
        <p:grpSpPr>
          <a:xfrm>
            <a:off x="3142105" y="2133650"/>
            <a:ext cx="2357061" cy="3652069"/>
            <a:chOff x="1071931" y="2034186"/>
            <a:chExt cx="3142879" cy="3323640"/>
          </a:xfrm>
          <a:effectLst>
            <a:glow rad="63500">
              <a:srgbClr val="4BACC6">
                <a:satMod val="175000"/>
                <a:alpha val="40000"/>
              </a:srgbClr>
            </a:glow>
            <a:outerShdw blurRad="76200" dir="18900000" sy="23000" kx="-1200000" algn="bl" rotWithShape="0">
              <a:prstClr val="black">
                <a:alpha val="20000"/>
              </a:prstClr>
            </a:outerShdw>
          </a:effectLst>
        </p:grpSpPr>
        <p:grpSp>
          <p:nvGrpSpPr>
            <p:cNvPr id="36" name="组合 35"/>
            <p:cNvGrpSpPr/>
            <p:nvPr/>
          </p:nvGrpSpPr>
          <p:grpSpPr>
            <a:xfrm>
              <a:off x="1071931" y="2357430"/>
              <a:ext cx="3142879" cy="3000396"/>
              <a:chOff x="1524306" y="3056044"/>
              <a:chExt cx="6286544" cy="1714512"/>
            </a:xfrm>
          </p:grpSpPr>
          <p:sp>
            <p:nvSpPr>
              <p:cNvPr id="42" name="圆角矩形 41"/>
              <p:cNvSpPr/>
              <p:nvPr/>
            </p:nvSpPr>
            <p:spPr>
              <a:xfrm>
                <a:off x="1524306" y="3056044"/>
                <a:ext cx="6286544" cy="1714512"/>
              </a:xfrm>
              <a:prstGeom prst="roundRect">
                <a:avLst/>
              </a:prstGeom>
              <a:solidFill>
                <a:sysClr val="window" lastClr="FFFFFF"/>
              </a:solidFill>
              <a:ln w="25400" cap="flat" cmpd="sng" algn="ctr">
                <a:solidFill>
                  <a:srgbClr val="0070C0"/>
                </a:solid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43" name="圆角矩形 42"/>
              <p:cNvSpPr/>
              <p:nvPr/>
            </p:nvSpPr>
            <p:spPr>
              <a:xfrm>
                <a:off x="1791527" y="3127482"/>
                <a:ext cx="5786741" cy="1605923"/>
              </a:xfrm>
              <a:prstGeom prst="roundRect">
                <a:avLst/>
              </a:prstGeom>
              <a:gradFill flip="none" rotWithShape="1">
                <a:gsLst>
                  <a:gs pos="0">
                    <a:sysClr val="window" lastClr="FFFFFF"/>
                  </a:gs>
                  <a:gs pos="100000">
                    <a:sysClr val="window" lastClr="FFFFFF">
                      <a:lumMod val="85000"/>
                    </a:sysClr>
                  </a:gs>
                </a:gsLst>
                <a:lin ang="2700000" scaled="1"/>
                <a:tileRect/>
              </a:gra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37" name="TextBox 39"/>
            <p:cNvSpPr txBox="1"/>
            <p:nvPr/>
          </p:nvSpPr>
          <p:spPr>
            <a:xfrm>
              <a:off x="1590187" y="3005005"/>
              <a:ext cx="1980745" cy="1652581"/>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sz="2800" dirty="0" err="1"/>
                <a:t>int</a:t>
              </a:r>
              <a:endParaRPr lang="en-US" altLang="zh-CN" sz="2800" dirty="0"/>
            </a:p>
            <a:p>
              <a:pPr lvl="0"/>
              <a:r>
                <a:rPr lang="en-US" altLang="zh-CN" sz="2800" dirty="0"/>
                <a:t>string</a:t>
              </a:r>
            </a:p>
            <a:p>
              <a:pPr lvl="0"/>
              <a:r>
                <a:rPr lang="en-US" altLang="zh-CN" sz="2800" dirty="0"/>
                <a:t>float</a:t>
              </a:r>
            </a:p>
            <a:p>
              <a:pPr lvl="0"/>
              <a:r>
                <a:rPr lang="en-US" altLang="zh-CN" sz="2800" dirty="0"/>
                <a:t>tuple</a:t>
              </a:r>
              <a:endParaRPr kumimoji="0" lang="zh-CN" altLang="en-US" sz="2800" b="1" i="0" u="none" strike="noStrike" kern="1200" cap="none" spc="300" normalizeH="0" baseline="0" noProof="0" dirty="0">
                <a:ln>
                  <a:noFill/>
                </a:ln>
                <a:solidFill>
                  <a:sysClr val="windowText" lastClr="000000"/>
                </a:solidFill>
                <a:effectLst/>
                <a:uLnTx/>
                <a:uFillTx/>
                <a:ea typeface="时尚中黑简体" panose="01010104010101010101" charset="-122"/>
              </a:endParaRPr>
            </a:p>
          </p:txBody>
        </p:sp>
        <p:grpSp>
          <p:nvGrpSpPr>
            <p:cNvPr id="38" name="组合 37"/>
            <p:cNvGrpSpPr/>
            <p:nvPr/>
          </p:nvGrpSpPr>
          <p:grpSpPr>
            <a:xfrm>
              <a:off x="1571604" y="2034186"/>
              <a:ext cx="2103993" cy="444854"/>
              <a:chOff x="4739016" y="1231661"/>
              <a:chExt cx="3700125" cy="800111"/>
            </a:xfrm>
            <a:effectLst>
              <a:reflection blurRad="6350" stA="52000" endA="300" endPos="35000" dir="5400000" sy="-100000" algn="bl" rotWithShape="0"/>
            </a:effectLst>
          </p:grpSpPr>
          <p:sp>
            <p:nvSpPr>
              <p:cNvPr id="39" name="圆角矩形 38"/>
              <p:cNvSpPr/>
              <p:nvPr/>
            </p:nvSpPr>
            <p:spPr>
              <a:xfrm>
                <a:off x="4739016" y="1245954"/>
                <a:ext cx="3643338" cy="785818"/>
              </a:xfrm>
              <a:prstGeom prst="roundRect">
                <a:avLst/>
              </a:prstGeom>
              <a:gradFill>
                <a:gsLst>
                  <a:gs pos="0">
                    <a:srgbClr val="10DCF8"/>
                  </a:gs>
                  <a:gs pos="100000">
                    <a:srgbClr val="005392"/>
                  </a:gs>
                </a:gsLst>
                <a:path path="rect">
                  <a:fillToRect r="100000" b="100000"/>
                </a:path>
              </a:gra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40" name="圆角矩形 39"/>
              <p:cNvSpPr/>
              <p:nvPr/>
            </p:nvSpPr>
            <p:spPr>
              <a:xfrm>
                <a:off x="4803062" y="1270094"/>
                <a:ext cx="3538800" cy="348816"/>
              </a:xfrm>
              <a:prstGeom prst="roundRect">
                <a:avLst/>
              </a:prstGeom>
              <a:gradFill flip="none" rotWithShape="1">
                <a:gsLst>
                  <a:gs pos="0">
                    <a:sysClr val="window" lastClr="FFFFFF">
                      <a:alpha val="37000"/>
                    </a:sysClr>
                  </a:gs>
                  <a:gs pos="100000">
                    <a:sysClr val="window" lastClr="FFFFFF">
                      <a:alpha val="0"/>
                    </a:sysClr>
                  </a:gs>
                </a:gsLst>
                <a:lin ang="5400000" scaled="1"/>
                <a:tileRect/>
              </a:gra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41" name="TextBox 25"/>
              <p:cNvSpPr txBox="1"/>
              <p:nvPr/>
            </p:nvSpPr>
            <p:spPr>
              <a:xfrm>
                <a:off x="4958839" y="1231661"/>
                <a:ext cx="3480302" cy="654919"/>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ysClr val="window" lastClr="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rPr>
                  <a:t>不可变对象</a:t>
                </a:r>
              </a:p>
            </p:txBody>
          </p:sp>
        </p:grpSp>
      </p:grpSp>
      <p:grpSp>
        <p:nvGrpSpPr>
          <p:cNvPr id="27" name="组合 26"/>
          <p:cNvGrpSpPr/>
          <p:nvPr/>
        </p:nvGrpSpPr>
        <p:grpSpPr>
          <a:xfrm>
            <a:off x="6027167" y="2142381"/>
            <a:ext cx="2357061" cy="3643338"/>
            <a:chOff x="1071931" y="2042132"/>
            <a:chExt cx="3142879" cy="3315694"/>
          </a:xfrm>
          <a:effectLst>
            <a:glow rad="63500">
              <a:srgbClr val="9BBB59">
                <a:satMod val="175000"/>
                <a:alpha val="40000"/>
              </a:srgbClr>
            </a:glow>
          </a:effectLst>
        </p:grpSpPr>
        <p:grpSp>
          <p:nvGrpSpPr>
            <p:cNvPr id="28" name="组合 27"/>
            <p:cNvGrpSpPr/>
            <p:nvPr/>
          </p:nvGrpSpPr>
          <p:grpSpPr>
            <a:xfrm>
              <a:off x="1071931" y="2357430"/>
              <a:ext cx="3142879" cy="3000396"/>
              <a:chOff x="1524306" y="3056044"/>
              <a:chExt cx="6286544" cy="1714512"/>
            </a:xfrm>
          </p:grpSpPr>
          <p:sp>
            <p:nvSpPr>
              <p:cNvPr id="34" name="圆角矩形 33"/>
              <p:cNvSpPr/>
              <p:nvPr/>
            </p:nvSpPr>
            <p:spPr>
              <a:xfrm>
                <a:off x="1524306" y="3056044"/>
                <a:ext cx="6286544" cy="1714512"/>
              </a:xfrm>
              <a:prstGeom prst="roundRect">
                <a:avLst/>
              </a:prstGeom>
              <a:solidFill>
                <a:sysClr val="window" lastClr="FFFFFF"/>
              </a:solidFill>
              <a:ln w="25400" cap="flat" cmpd="sng" algn="ctr">
                <a:solidFill>
                  <a:srgbClr val="027C19"/>
                </a:solid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5" name="圆角矩形 34"/>
              <p:cNvSpPr/>
              <p:nvPr/>
            </p:nvSpPr>
            <p:spPr>
              <a:xfrm>
                <a:off x="1791527" y="3127482"/>
                <a:ext cx="5786741" cy="1605923"/>
              </a:xfrm>
              <a:prstGeom prst="roundRect">
                <a:avLst/>
              </a:prstGeom>
              <a:gradFill flip="none" rotWithShape="1">
                <a:gsLst>
                  <a:gs pos="0">
                    <a:sysClr val="window" lastClr="FFFFFF"/>
                  </a:gs>
                  <a:gs pos="100000">
                    <a:sysClr val="window" lastClr="FFFFFF">
                      <a:lumMod val="85000"/>
                    </a:sysClr>
                  </a:gs>
                </a:gsLst>
                <a:lin ang="2700000" scaled="1"/>
                <a:tileRect/>
              </a:gra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29" name="TextBox 55"/>
            <p:cNvSpPr txBox="1"/>
            <p:nvPr/>
          </p:nvSpPr>
          <p:spPr>
            <a:xfrm>
              <a:off x="1785919" y="3214686"/>
              <a:ext cx="1714511" cy="1260443"/>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zh-CN"/>
              </a:defPPr>
              <a:lvl1pPr lvl="0" defTabSz="914400">
                <a:defRPr sz="28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ltLang="zh-CN" dirty="0"/>
                <a:t>list</a:t>
              </a:r>
            </a:p>
            <a:p>
              <a:r>
                <a:rPr lang="en-US" altLang="zh-CN" dirty="0" err="1"/>
                <a:t>dict</a:t>
              </a:r>
              <a:endParaRPr lang="en-US" altLang="zh-CN" dirty="0"/>
            </a:p>
            <a:p>
              <a:r>
                <a:rPr lang="en-US" altLang="zh-CN" dirty="0"/>
                <a:t>set</a:t>
              </a:r>
              <a:endParaRPr lang="zh-CN" altLang="en-US" dirty="0"/>
            </a:p>
          </p:txBody>
        </p:sp>
        <p:grpSp>
          <p:nvGrpSpPr>
            <p:cNvPr id="30" name="组合 29"/>
            <p:cNvGrpSpPr/>
            <p:nvPr/>
          </p:nvGrpSpPr>
          <p:grpSpPr>
            <a:xfrm>
              <a:off x="1571604" y="2042132"/>
              <a:ext cx="2108121" cy="436907"/>
              <a:chOff x="4739016" y="1245954"/>
              <a:chExt cx="3707385" cy="785818"/>
            </a:xfrm>
            <a:effectLst>
              <a:reflection blurRad="6350" stA="52000" endA="300" endPos="35000" dir="5400000" sy="-100000" algn="bl" rotWithShape="0"/>
            </a:effectLst>
          </p:grpSpPr>
          <p:sp>
            <p:nvSpPr>
              <p:cNvPr id="31" name="圆角矩形 30"/>
              <p:cNvSpPr/>
              <p:nvPr/>
            </p:nvSpPr>
            <p:spPr>
              <a:xfrm>
                <a:off x="4739016" y="1245954"/>
                <a:ext cx="3643338" cy="785818"/>
              </a:xfrm>
              <a:prstGeom prst="roundRect">
                <a:avLst/>
              </a:prstGeom>
              <a:gradFill>
                <a:gsLst>
                  <a:gs pos="0">
                    <a:srgbClr val="66FF33"/>
                  </a:gs>
                  <a:gs pos="100000">
                    <a:srgbClr val="027C19"/>
                  </a:gs>
                </a:gsLst>
                <a:path path="rect">
                  <a:fillToRect r="100000" b="100000"/>
                </a:path>
              </a:gra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2" name="圆角矩形 31"/>
              <p:cNvSpPr/>
              <p:nvPr/>
            </p:nvSpPr>
            <p:spPr>
              <a:xfrm>
                <a:off x="4803062" y="1270094"/>
                <a:ext cx="3538800" cy="348816"/>
              </a:xfrm>
              <a:prstGeom prst="roundRect">
                <a:avLst/>
              </a:prstGeom>
              <a:gradFill flip="none" rotWithShape="1">
                <a:gsLst>
                  <a:gs pos="0">
                    <a:sysClr val="window" lastClr="FFFFFF">
                      <a:alpha val="37000"/>
                    </a:sysClr>
                  </a:gs>
                  <a:gs pos="100000">
                    <a:sysClr val="window" lastClr="FFFFFF">
                      <a:alpha val="0"/>
                    </a:sysClr>
                  </a:gs>
                </a:gsLst>
                <a:lin ang="5400000" scaled="1"/>
                <a:tileRect/>
              </a:gradFill>
              <a:ln w="25400" cap="flat" cmpd="sng" algn="ctr">
                <a:noFill/>
                <a:prstDash val="solid"/>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3" name="TextBox 59"/>
              <p:cNvSpPr txBox="1"/>
              <p:nvPr/>
            </p:nvSpPr>
            <p:spPr>
              <a:xfrm>
                <a:off x="4859852" y="1276552"/>
                <a:ext cx="3586549" cy="654919"/>
              </a:xfrm>
              <a:prstGeom prst="rect">
                <a:avLst/>
              </a:prstGeom>
              <a:noFill/>
              <a:effectLst>
                <a:outerShdw blurRad="50800" dist="38100" dir="2700000" algn="tl" rotWithShape="0">
                  <a:prstClr val="black">
                    <a:alpha val="40000"/>
                  </a:prstClr>
                </a:outerShdw>
              </a:effectLst>
            </p:spPr>
            <p:txBody>
              <a:bodyPr wrap="square" rtlCol="0">
                <a:spAutoFit/>
              </a:bodyPr>
              <a:lstStyle>
                <a:defPPr>
                  <a:defRPr lang="zh-CN"/>
                </a:defPPr>
                <a:lvl1pPr marR="0" lvl="0" indent="0" algn="ctr" defTabSz="914400" fontAlgn="auto">
                  <a:lnSpc>
                    <a:spcPct val="100000"/>
                  </a:lnSpc>
                  <a:spcBef>
                    <a:spcPts val="0"/>
                  </a:spcBef>
                  <a:spcAft>
                    <a:spcPts val="0"/>
                  </a:spcAft>
                  <a:buClrTx/>
                  <a:buSzTx/>
                  <a:buFontTx/>
                  <a:buNone/>
                  <a:defRPr kumimoji="0" sz="2000" b="1" i="0" u="none" strike="noStrike" cap="none" spc="0" normalizeH="0" baseline="0">
                    <a:ln>
                      <a:noFill/>
                    </a:ln>
                    <a:solidFill>
                      <a:sysClr val="window" lastClr="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zh-CN" altLang="en-US" dirty="0"/>
                  <a:t>可变对象</a:t>
                </a:r>
              </a:p>
            </p:txBody>
          </p:sp>
        </p:grpSp>
      </p:grpSp>
    </p:spTree>
  </p:cSld>
  <p:clrMapOvr>
    <a:masterClrMapping/>
  </p:clrMapOvr>
  <p:transition spd="slow" advTm="0"/>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nvSpPr>
        <p:spPr>
          <a:xfrm>
            <a:off x="2786972" y="830753"/>
            <a:ext cx="6624736" cy="66161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不可变对象</a:t>
            </a:r>
          </a:p>
        </p:txBody>
      </p:sp>
      <p:sp>
        <p:nvSpPr>
          <p:cNvPr id="6"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补充知识</a:t>
            </a:r>
          </a:p>
        </p:txBody>
      </p:sp>
      <p:graphicFrame>
        <p:nvGraphicFramePr>
          <p:cNvPr id="2" name="对象 1"/>
          <p:cNvGraphicFramePr/>
          <p:nvPr/>
        </p:nvGraphicFramePr>
        <p:xfrm>
          <a:off x="1966595" y="1492250"/>
          <a:ext cx="7921625" cy="4498975"/>
        </p:xfrm>
        <a:graphic>
          <a:graphicData uri="http://schemas.openxmlformats.org/presentationml/2006/ole">
            <mc:AlternateContent xmlns:mc="http://schemas.openxmlformats.org/markup-compatibility/2006">
              <mc:Choice xmlns:v="urn:schemas-microsoft-com:vml" Requires="v">
                <p:oleObj r:id="rId2" imgW="7915275" imgH="4495800" progId="Paint.Picture">
                  <p:embed/>
                </p:oleObj>
              </mc:Choice>
              <mc:Fallback>
                <p:oleObj r:id="rId2" imgW="7915275" imgH="4495800" progId="Paint.Picture">
                  <p:embed/>
                  <p:pic>
                    <p:nvPicPr>
                      <p:cNvPr id="0" name="图片 6"/>
                      <p:cNvPicPr/>
                      <p:nvPr/>
                    </p:nvPicPr>
                    <p:blipFill>
                      <a:blip r:embed="rId3"/>
                      <a:stretch>
                        <a:fillRect/>
                      </a:stretch>
                    </p:blipFill>
                    <p:spPr>
                      <a:xfrm>
                        <a:off x="1966595" y="1492250"/>
                        <a:ext cx="7921625" cy="4498975"/>
                      </a:xfrm>
                      <a:prstGeom prst="rect">
                        <a:avLst/>
                      </a:prstGeom>
                    </p:spPr>
                  </p:pic>
                </p:oleObj>
              </mc:Fallback>
            </mc:AlternateContent>
          </a:graphicData>
        </a:graphic>
      </p:graphicFrame>
    </p:spTree>
  </p:cSld>
  <p:clrMapOvr>
    <a:masterClrMapping/>
  </p:clrMapOvr>
  <p:transition spd="slow" advTm="0"/>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nvSpPr>
        <p:spPr>
          <a:xfrm>
            <a:off x="2548212" y="842818"/>
            <a:ext cx="6624736" cy="66161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不可变对象</a:t>
            </a:r>
          </a:p>
        </p:txBody>
      </p:sp>
      <p:sp>
        <p:nvSpPr>
          <p:cNvPr id="6" name="文本框 5"/>
          <p:cNvSpPr txBox="1"/>
          <p:nvPr/>
        </p:nvSpPr>
        <p:spPr>
          <a:xfrm>
            <a:off x="2195830" y="5581650"/>
            <a:ext cx="8346440" cy="460375"/>
          </a:xfrm>
          <a:prstGeom prst="rect">
            <a:avLst/>
          </a:prstGeom>
          <a:noFill/>
        </p:spPr>
        <p:txBody>
          <a:bodyPr wrap="square" rtlCol="0" anchor="t">
            <a:spAutoFit/>
            <a:scene3d>
              <a:camera prst="orthographicFront"/>
              <a:lightRig rig="threePt" dir="t"/>
            </a:scene3d>
          </a:bodyPr>
          <a:lstStyle/>
          <a:p>
            <a:r>
              <a:rPr lang="zh-CN" altLang="en-US"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不可变，可以理解为x引用的地址处的值是不能被改变</a:t>
            </a:r>
          </a:p>
        </p:txBody>
      </p:sp>
      <p:sp>
        <p:nvSpPr>
          <p:cNvPr id="7"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补充知识</a:t>
            </a:r>
          </a:p>
        </p:txBody>
      </p:sp>
      <p:grpSp>
        <p:nvGrpSpPr>
          <p:cNvPr id="4" name="组合 3"/>
          <p:cNvGrpSpPr/>
          <p:nvPr/>
        </p:nvGrpSpPr>
        <p:grpSpPr>
          <a:xfrm>
            <a:off x="352425" y="1033780"/>
            <a:ext cx="11748135" cy="4334510"/>
            <a:chOff x="555" y="1643"/>
            <a:chExt cx="18501" cy="6826"/>
          </a:xfrm>
        </p:grpSpPr>
        <p:graphicFrame>
          <p:nvGraphicFramePr>
            <p:cNvPr id="3" name="对象 2"/>
            <p:cNvGraphicFramePr/>
            <p:nvPr>
              <p:extLst>
                <p:ext uri="{D42A27DB-BD31-4B8C-83A1-F6EECF244321}">
                  <p14:modId xmlns:p14="http://schemas.microsoft.com/office/powerpoint/2010/main" val="1629214079"/>
                </p:ext>
              </p:extLst>
            </p:nvPr>
          </p:nvGraphicFramePr>
          <p:xfrm>
            <a:off x="555" y="1643"/>
            <a:ext cx="18501" cy="6826"/>
          </p:xfrm>
          <a:graphic>
            <a:graphicData uri="http://schemas.openxmlformats.org/presentationml/2006/ole">
              <mc:AlternateContent xmlns:mc="http://schemas.openxmlformats.org/markup-compatibility/2006">
                <mc:Choice xmlns:v="urn:schemas-microsoft-com:vml" Requires="v">
                  <p:oleObj r:id="rId2" imgW="10648950" imgH="2981325" progId="Paint.Picture">
                    <p:embed/>
                  </p:oleObj>
                </mc:Choice>
                <mc:Fallback>
                  <p:oleObj r:id="rId2" imgW="10648950" imgH="2981325" progId="Paint.Picture">
                    <p:embed/>
                    <p:pic>
                      <p:nvPicPr>
                        <p:cNvPr id="0" name="图片 3"/>
                        <p:cNvPicPr/>
                        <p:nvPr/>
                      </p:nvPicPr>
                      <p:blipFill>
                        <a:blip r:embed="rId3"/>
                        <a:stretch>
                          <a:fillRect/>
                        </a:stretch>
                      </p:blipFill>
                      <p:spPr>
                        <a:xfrm>
                          <a:off x="555" y="1643"/>
                          <a:ext cx="18501" cy="6826"/>
                        </a:xfrm>
                        <a:prstGeom prst="rect">
                          <a:avLst/>
                        </a:prstGeom>
                      </p:spPr>
                    </p:pic>
                  </p:oleObj>
                </mc:Fallback>
              </mc:AlternateContent>
            </a:graphicData>
          </a:graphic>
        </p:graphicFrame>
        <p:sp>
          <p:nvSpPr>
            <p:cNvPr id="2" name="文本框 1"/>
            <p:cNvSpPr txBox="1"/>
            <p:nvPr/>
          </p:nvSpPr>
          <p:spPr>
            <a:xfrm>
              <a:off x="5904" y="6223"/>
              <a:ext cx="1200" cy="1888"/>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dirty="0"/>
                <a:t>x=2</a:t>
              </a:r>
            </a:p>
            <a:p>
              <a:r>
                <a:rPr lang="en-US" altLang="zh-CN" dirty="0"/>
                <a:t>y=2</a:t>
              </a:r>
            </a:p>
            <a:p>
              <a:r>
                <a:rPr lang="en-US" altLang="zh-CN" dirty="0"/>
                <a:t>z=y</a:t>
              </a:r>
            </a:p>
          </p:txBody>
        </p:sp>
      </p:grpSp>
      <p:sp>
        <p:nvSpPr>
          <p:cNvPr id="8" name="文本框 1"/>
          <p:cNvSpPr txBox="1"/>
          <p:nvPr/>
        </p:nvSpPr>
        <p:spPr>
          <a:xfrm>
            <a:off x="482551" y="1504433"/>
            <a:ext cx="762000" cy="83099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dirty="0"/>
              <a:t>x=1</a:t>
            </a:r>
          </a:p>
          <a:p>
            <a:r>
              <a:rPr lang="en-US" altLang="zh-CN" dirty="0"/>
              <a:t>y=1</a:t>
            </a:r>
          </a:p>
        </p:txBody>
      </p:sp>
    </p:spTree>
  </p:cSld>
  <p:clrMapOvr>
    <a:masterClrMapping/>
  </p:clrMapOvr>
  <p:transition spd="slow" advTm="0"/>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nvSpPr>
        <p:spPr>
          <a:xfrm>
            <a:off x="2786972" y="830753"/>
            <a:ext cx="6624736" cy="66161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可变对象</a:t>
            </a:r>
          </a:p>
        </p:txBody>
      </p:sp>
      <p:sp>
        <p:nvSpPr>
          <p:cNvPr id="6"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补充知识</a:t>
            </a:r>
          </a:p>
        </p:txBody>
      </p:sp>
      <p:graphicFrame>
        <p:nvGraphicFramePr>
          <p:cNvPr id="3" name="对象 2"/>
          <p:cNvGraphicFramePr/>
          <p:nvPr/>
        </p:nvGraphicFramePr>
        <p:xfrm>
          <a:off x="1400175" y="1786255"/>
          <a:ext cx="9347200" cy="4048760"/>
        </p:xfrm>
        <a:graphic>
          <a:graphicData uri="http://schemas.openxmlformats.org/presentationml/2006/ole">
            <mc:AlternateContent xmlns:mc="http://schemas.openxmlformats.org/markup-compatibility/2006">
              <mc:Choice xmlns:v="urn:schemas-microsoft-com:vml" Requires="v">
                <p:oleObj r:id="rId2" imgW="7896225" imgH="3019425" progId="Paint.Picture">
                  <p:embed/>
                </p:oleObj>
              </mc:Choice>
              <mc:Fallback>
                <p:oleObj r:id="rId2" imgW="7896225" imgH="3019425" progId="Paint.Picture">
                  <p:embed/>
                  <p:pic>
                    <p:nvPicPr>
                      <p:cNvPr id="0" name="图片 3"/>
                      <p:cNvPicPr/>
                      <p:nvPr/>
                    </p:nvPicPr>
                    <p:blipFill>
                      <a:blip r:embed="rId3"/>
                      <a:stretch>
                        <a:fillRect/>
                      </a:stretch>
                    </p:blipFill>
                    <p:spPr>
                      <a:xfrm>
                        <a:off x="1400175" y="1786255"/>
                        <a:ext cx="9347200" cy="4048760"/>
                      </a:xfrm>
                      <a:prstGeom prst="rect">
                        <a:avLst/>
                      </a:prstGeom>
                    </p:spPr>
                  </p:pic>
                </p:oleObj>
              </mc:Fallback>
            </mc:AlternateContent>
          </a:graphicData>
        </a:graphic>
      </p:graphicFrame>
    </p:spTree>
  </p:cSld>
  <p:clrMapOvr>
    <a:masterClrMapping/>
  </p:clrMapOvr>
  <p:transition spd="slow" advTm="0"/>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nvSpPr>
        <p:spPr>
          <a:xfrm>
            <a:off x="2786972" y="830753"/>
            <a:ext cx="6624736" cy="66161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可变对象</a:t>
            </a:r>
          </a:p>
        </p:txBody>
      </p:sp>
      <p:sp>
        <p:nvSpPr>
          <p:cNvPr id="6"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补充知识</a:t>
            </a:r>
          </a:p>
        </p:txBody>
      </p:sp>
      <p:graphicFrame>
        <p:nvGraphicFramePr>
          <p:cNvPr id="2" name="对象 1"/>
          <p:cNvGraphicFramePr/>
          <p:nvPr/>
        </p:nvGraphicFramePr>
        <p:xfrm>
          <a:off x="1074420" y="1492250"/>
          <a:ext cx="10048875" cy="4091940"/>
        </p:xfrm>
        <a:graphic>
          <a:graphicData uri="http://schemas.openxmlformats.org/presentationml/2006/ole">
            <mc:AlternateContent xmlns:mc="http://schemas.openxmlformats.org/markup-compatibility/2006">
              <mc:Choice xmlns:v="urn:schemas-microsoft-com:vml" Requires="v">
                <p:oleObj r:id="rId2" imgW="7924800" imgH="3324225" progId="Paint.Picture">
                  <p:embed/>
                </p:oleObj>
              </mc:Choice>
              <mc:Fallback>
                <p:oleObj r:id="rId2" imgW="7924800" imgH="3324225" progId="Paint.Picture">
                  <p:embed/>
                  <p:pic>
                    <p:nvPicPr>
                      <p:cNvPr id="0" name="图片 6"/>
                      <p:cNvPicPr/>
                      <p:nvPr/>
                    </p:nvPicPr>
                    <p:blipFill>
                      <a:blip r:embed="rId3"/>
                      <a:stretch>
                        <a:fillRect/>
                      </a:stretch>
                    </p:blipFill>
                    <p:spPr>
                      <a:xfrm>
                        <a:off x="1074420" y="1492250"/>
                        <a:ext cx="10048875" cy="4091940"/>
                      </a:xfrm>
                      <a:prstGeom prst="rect">
                        <a:avLst/>
                      </a:prstGeom>
                    </p:spPr>
                  </p:pic>
                </p:oleObj>
              </mc:Fallback>
            </mc:AlternateContent>
          </a:graphicData>
        </a:graphic>
      </p:graphicFrame>
      <p:sp>
        <p:nvSpPr>
          <p:cNvPr id="8" name="文本框 7"/>
          <p:cNvSpPr txBox="1"/>
          <p:nvPr/>
        </p:nvSpPr>
        <p:spPr>
          <a:xfrm>
            <a:off x="958215" y="5671185"/>
            <a:ext cx="10796270" cy="460375"/>
          </a:xfrm>
          <a:prstGeom prst="rect">
            <a:avLst/>
          </a:prstGeom>
          <a:noFill/>
        </p:spPr>
        <p:txBody>
          <a:bodyPr wrap="square" rtlCol="0" anchor="t">
            <a:spAutoFit/>
            <a:scene3d>
              <a:camera prst="orthographicFront"/>
              <a:lightRig rig="threePt" dir="t"/>
            </a:scene3d>
          </a:bodyPr>
          <a:lstStyle/>
          <a:p>
            <a:r>
              <a:rPr lang="zh-CN" altLang="en-US">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可变数据类型是允许同一对象的内容，即值可以变化，但是地址是不会变化的</a:t>
            </a:r>
          </a:p>
        </p:txBody>
      </p:sp>
    </p:spTree>
  </p:cSld>
  <p:clrMapOvr>
    <a:masterClrMapping/>
  </p:clrMapOvr>
  <p:transition spd="slow" advTm="0"/>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nvSpPr>
        <p:spPr>
          <a:xfrm>
            <a:off x="2566627" y="916478"/>
            <a:ext cx="6624736" cy="66161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总结</a:t>
            </a:r>
          </a:p>
        </p:txBody>
      </p:sp>
      <p:sp>
        <p:nvSpPr>
          <p:cNvPr id="6"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补充知识</a:t>
            </a:r>
          </a:p>
        </p:txBody>
      </p:sp>
      <p:sp>
        <p:nvSpPr>
          <p:cNvPr id="8" name="文本框 7"/>
          <p:cNvSpPr txBox="1"/>
          <p:nvPr/>
        </p:nvSpPr>
        <p:spPr>
          <a:xfrm>
            <a:off x="732155" y="2069465"/>
            <a:ext cx="10367010" cy="2183765"/>
          </a:xfrm>
          <a:prstGeom prst="rect">
            <a:avLst/>
          </a:prstGeom>
          <a:noFill/>
        </p:spPr>
        <p:txBody>
          <a:bodyPr wrap="square" rtlCol="0" anchor="t">
            <a:spAutoFit/>
            <a:scene3d>
              <a:camera prst="orthographicFront"/>
              <a:lightRig rig="threePt" dir="t"/>
            </a:scene3d>
          </a:bodyPr>
          <a:lstStyle/>
          <a:p>
            <a:pPr algn="just" fontAlgn="auto">
              <a:lnSpc>
                <a:spcPts val="4080"/>
              </a:lnSpc>
            </a:pPr>
            <a:r>
              <a:rPr lang="en-US" altLang="zh-CN" sz="2800" b="1" dirty="0">
                <a:solidFill>
                  <a:schemeClr val="tx1"/>
                </a:solidFill>
                <a:effectLst/>
                <a:latin typeface="楷体" panose="02010609060101010101" pitchFamily="49" charset="-122"/>
                <a:ea typeface="楷体" panose="02010609060101010101" pitchFamily="49" charset="-122"/>
                <a:cs typeface="楷体" panose="02010609060101010101" pitchFamily="49" charset="-122"/>
              </a:rPr>
              <a:t>  </a:t>
            </a:r>
            <a:r>
              <a:rPr lang="en-US" sz="2800" b="1" dirty="0">
                <a:solidFill>
                  <a:schemeClr val="tx1"/>
                </a:solidFill>
                <a:effectLst/>
                <a:latin typeface="楷体" panose="02010609060101010101" pitchFamily="49" charset="-122"/>
                <a:ea typeface="楷体" panose="02010609060101010101" pitchFamily="49" charset="-122"/>
                <a:cs typeface="楷体" panose="02010609060101010101" pitchFamily="49" charset="-122"/>
              </a:rPr>
              <a:t>1</a:t>
            </a:r>
            <a:r>
              <a:rPr lang="zh-CN" altLang="en-US" sz="2800" b="1" dirty="0">
                <a:solidFill>
                  <a:schemeClr val="tx1"/>
                </a:solidFill>
                <a:effectLst/>
                <a:latin typeface="楷体" panose="02010609060101010101" pitchFamily="49" charset="-122"/>
                <a:ea typeface="楷体" panose="02010609060101010101" pitchFamily="49" charset="-122"/>
                <a:cs typeface="楷体" panose="02010609060101010101" pitchFamily="49" charset="-122"/>
              </a:rPr>
              <a:t>、python中的不可变数据类型，</a:t>
            </a:r>
            <a:r>
              <a:rPr lang="zh-CN" altLang="en-US" sz="2800" b="1" dirty="0">
                <a:solidFill>
                  <a:srgbClr val="FF0000"/>
                </a:solidFill>
                <a:effectLst/>
                <a:latin typeface="楷体" panose="02010609060101010101" pitchFamily="49" charset="-122"/>
                <a:ea typeface="楷体" panose="02010609060101010101" pitchFamily="49" charset="-122"/>
                <a:cs typeface="楷体" panose="02010609060101010101" pitchFamily="49" charset="-122"/>
              </a:rPr>
              <a:t>不允许变量的值发生变化，如果改变了变量的值，相当于是新建了一个对象</a:t>
            </a:r>
            <a:r>
              <a:rPr lang="zh-CN" altLang="en-US" sz="2800" b="1" dirty="0">
                <a:solidFill>
                  <a:schemeClr val="tx1"/>
                </a:solidFill>
                <a:effectLst/>
                <a:latin typeface="楷体" panose="02010609060101010101" pitchFamily="49" charset="-122"/>
                <a:ea typeface="楷体" panose="02010609060101010101" pitchFamily="49" charset="-122"/>
                <a:cs typeface="楷体" panose="02010609060101010101" pitchFamily="49" charset="-122"/>
              </a:rPr>
              <a:t>，而对于相同的值的对象，在内存中则只有一个对象，内部会有一个引用计数来记录有多少个变量引用这个对象。</a:t>
            </a:r>
          </a:p>
        </p:txBody>
      </p:sp>
    </p:spTree>
  </p:cSld>
  <p:clrMapOvr>
    <a:masterClrMapping/>
  </p:clrMapOvr>
  <p:transition spd="slow" advTm="0"/>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nvSpPr>
        <p:spPr>
          <a:xfrm>
            <a:off x="2566627" y="916478"/>
            <a:ext cx="6624736" cy="661615"/>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ct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总结</a:t>
            </a:r>
          </a:p>
        </p:txBody>
      </p:sp>
      <p:sp>
        <p:nvSpPr>
          <p:cNvPr id="6" name="标题 1"/>
          <p:cNvSpPr>
            <a:spLocks noGrp="1"/>
          </p:cNvSpPr>
          <p:nvPr/>
        </p:nvSpPr>
        <p:spPr>
          <a:xfrm>
            <a:off x="9980930" y="78105"/>
            <a:ext cx="2119630" cy="678180"/>
          </a:xfrm>
        </p:spPr>
        <p:txBody>
          <a:bodyPr vert="horz" wrap="square" lIns="91456" tIns="45728" rIns="91456" bIns="45728" numCol="1" anchor="b" anchorCtr="0" compatLnSpc="1"/>
          <a:lstStyle>
            <a:lvl1pPr algn="ctr" defTabSz="1219200" rtl="0" eaLnBrk="1" latinLnBrk="0" hangingPunct="1">
              <a:spcBef>
                <a:spcPct val="0"/>
              </a:spcBef>
              <a:buNone/>
              <a:defRPr sz="5900" kern="1200">
                <a:solidFill>
                  <a:schemeClr val="tx1"/>
                </a:solidFill>
                <a:latin typeface="+mj-lt"/>
                <a:ea typeface="+mj-ea"/>
                <a:cs typeface="+mj-cs"/>
              </a:defRPr>
            </a:lvl1pPr>
          </a:lstStyle>
          <a:p>
            <a:pPr marL="0" marR="0" lvl="0" indent="0" algn="r" defTabSz="914400" rtl="0" eaLnBrk="0" fontAlgn="base" latinLnBrk="0" hangingPunct="0">
              <a:lnSpc>
                <a:spcPct val="90000"/>
              </a:lnSpc>
              <a:spcBef>
                <a:spcPct val="0"/>
              </a:spcBef>
              <a:spcAft>
                <a:spcPct val="0"/>
              </a:spcAft>
              <a:buClrTx/>
              <a:buSzTx/>
              <a:buFontTx/>
              <a:buNone/>
              <a:defRPr/>
            </a:pPr>
            <a:r>
              <a:rPr kumimoji="0" lang="zh-CN" altLang="en-US" sz="2800" b="1" i="0" u="none" strike="noStrike" kern="0" cap="none" spc="0" normalizeH="0" baseline="0" dirty="0">
                <a:solidFill>
                  <a:schemeClr val="bg1"/>
                </a:solidFill>
                <a:latin typeface="微软雅黑" panose="020B0503020204020204" pitchFamily="34" charset="-122"/>
                <a:ea typeface="微软雅黑" panose="020B0503020204020204" pitchFamily="34" charset="-122"/>
                <a:cs typeface="+mj-cs"/>
              </a:rPr>
              <a:t>补充知识</a:t>
            </a:r>
          </a:p>
        </p:txBody>
      </p:sp>
      <p:sp>
        <p:nvSpPr>
          <p:cNvPr id="8" name="文本框 7"/>
          <p:cNvSpPr txBox="1"/>
          <p:nvPr/>
        </p:nvSpPr>
        <p:spPr>
          <a:xfrm>
            <a:off x="673858" y="1783725"/>
            <a:ext cx="10367010" cy="3230245"/>
          </a:xfrm>
          <a:prstGeom prst="rect">
            <a:avLst/>
          </a:prstGeom>
          <a:noFill/>
        </p:spPr>
        <p:txBody>
          <a:bodyPr wrap="square" rtlCol="0" anchor="t">
            <a:spAutoFit/>
            <a:scene3d>
              <a:camera prst="orthographicFront"/>
              <a:lightRig rig="threePt" dir="t"/>
            </a:scene3d>
          </a:bodyPr>
          <a:lstStyle/>
          <a:p>
            <a:pPr algn="just" fontAlgn="auto">
              <a:lnSpc>
                <a:spcPts val="4080"/>
              </a:lnSpc>
            </a:pPr>
            <a:r>
              <a:rPr lang="en-US" altLang="zh-CN" sz="2800" b="1" dirty="0">
                <a:solidFill>
                  <a:schemeClr val="tx1"/>
                </a:solidFill>
                <a:effectLst/>
                <a:latin typeface="楷体" panose="02010609060101010101" pitchFamily="49" charset="-122"/>
                <a:ea typeface="楷体" panose="02010609060101010101" pitchFamily="49" charset="-122"/>
                <a:cs typeface="楷体" panose="02010609060101010101" pitchFamily="49" charset="-122"/>
              </a:rPr>
              <a:t>  </a:t>
            </a:r>
            <a:r>
              <a:rPr lang="en-US" sz="2800" b="1" dirty="0">
                <a:solidFill>
                  <a:schemeClr val="tx1"/>
                </a:solidFill>
                <a:effectLst/>
                <a:latin typeface="楷体" panose="02010609060101010101" pitchFamily="49" charset="-122"/>
                <a:ea typeface="楷体" panose="02010609060101010101" pitchFamily="49" charset="-122"/>
                <a:cs typeface="楷体" panose="02010609060101010101" pitchFamily="49" charset="-122"/>
              </a:rPr>
              <a:t>2</a:t>
            </a:r>
            <a:r>
              <a:rPr lang="zh-CN" altLang="en-US" sz="2800" b="1" dirty="0">
                <a:solidFill>
                  <a:schemeClr val="tx1"/>
                </a:solidFill>
                <a:effectLst/>
                <a:latin typeface="楷体" panose="02010609060101010101" pitchFamily="49" charset="-122"/>
                <a:ea typeface="楷体" panose="02010609060101010101" pitchFamily="49" charset="-122"/>
                <a:cs typeface="楷体" panose="02010609060101010101" pitchFamily="49" charset="-122"/>
              </a:rPr>
              <a:t>、可变数据类型，允许变量的值发生变化，即如果对变量进行append、+等这种操作后，只是改变了变量的值，而不会新建一个对象，变量引用的对象的地址也不会变化，不过</a:t>
            </a:r>
            <a:r>
              <a:rPr lang="zh-CN" altLang="en-US" sz="2800" b="1" dirty="0">
                <a:solidFill>
                  <a:srgbClr val="FF0000"/>
                </a:solidFill>
                <a:effectLst/>
                <a:latin typeface="楷体" panose="02010609060101010101" pitchFamily="49" charset="-122"/>
                <a:ea typeface="楷体" panose="02010609060101010101" pitchFamily="49" charset="-122"/>
                <a:cs typeface="楷体" panose="02010609060101010101" pitchFamily="49" charset="-122"/>
              </a:rPr>
              <a:t>对于相同的值的不同对象，在内存中则会存在不同的对象</a:t>
            </a:r>
            <a:r>
              <a:rPr lang="zh-CN" altLang="en-US" sz="2800" b="1" dirty="0">
                <a:solidFill>
                  <a:schemeClr val="tx1"/>
                </a:solidFill>
                <a:effectLst/>
                <a:latin typeface="楷体" panose="02010609060101010101" pitchFamily="49" charset="-122"/>
                <a:ea typeface="楷体" panose="02010609060101010101" pitchFamily="49" charset="-122"/>
                <a:cs typeface="楷体" panose="02010609060101010101" pitchFamily="49" charset="-122"/>
              </a:rPr>
              <a:t>，即每个对象都有自己的地址，相当于内存中对于同值的对象保存了多份，这里不存在引用计数，是实实在在的对象。</a:t>
            </a:r>
          </a:p>
        </p:txBody>
      </p:sp>
    </p:spTree>
  </p:cSld>
  <p:clrMapOvr>
    <a:masterClrMapping/>
  </p:clrMapOvr>
  <p:transition spd="slow" advTm="0"/>
</p:sld>
</file>

<file path=ppt/tags/tag1.xml><?xml version="1.0" encoding="utf-8"?>
<p:tagLst xmlns:a="http://schemas.openxmlformats.org/drawingml/2006/main" xmlns:r="http://schemas.openxmlformats.org/officeDocument/2006/relationships" xmlns:p="http://schemas.openxmlformats.org/presentationml/2006/main">
  <p:tag name="KSO_WM_SLIDE_ID" val="diagram20208726_1"/>
  <p:tag name="KSO_WM_TEMPLATE_SUBCATEGORY" val="21"/>
  <p:tag name="KSO_WM_SLIDE_TYPE" val="text"/>
  <p:tag name="KSO_WM_SLIDE_SUBTYPE" val="picTxt"/>
  <p:tag name="KSO_WM_SLIDE_ITEM_CNT" val="0"/>
  <p:tag name="KSO_WM_SLIDE_INDEX" val="1"/>
  <p:tag name="KSO_WM_SLIDE_SIZE" val="960*507"/>
  <p:tag name="KSO_WM_SLIDE_POSITION" val="0*33"/>
  <p:tag name="KSO_WM_TAG_VERSION" val="1.0"/>
  <p:tag name="KSO_WM_BEAUTIFY_FLAG" val="#wm#"/>
  <p:tag name="KSO_WM_TEMPLATE_CATEGORY" val="diagram"/>
  <p:tag name="KSO_WM_TEMPLATE_INDEX" val="20208726"/>
  <p:tag name="KSO_WM_SLIDE_LAYOUT" val="a_d"/>
  <p:tag name="KSO_WM_SLIDE_LAYOUT_CNT" val="1_1"/>
  <p:tag name="KSO_WM_TEMPLATE_MASTER_TYPE" val="0"/>
  <p:tag name="KSO_WM_TEMPLATE_COLOR_TYPE" val="1"/>
  <p:tag name="KSO_WM_SLIDE_LAYOUT_INFO" val="{&quot;backgroundInfo&quot;:[{&quot;bottom&quot;:0,&quot;bottomAbs&quot;:false,&quot;left&quot;:0,&quot;leftAbs&quot;:false,&quot;right&quot;:0,&quot;rightAbs&quot;:false,&quot;top&quot;:0,&quot;topAbs&quot;:false,&quot;type&quot;:&quot;general&quot;}],&quot;id&quot;:&quot;2020-06-26T09:50:13&quot;,&quot;maxSize&quot;:{&quot;size1&quot;:31.395491917928059},&quot;minSize&quot;:{&quot;size1&quot;:22.49549191792806},&quot;normalSize&quot;:{&quot;size1&quot;:25.769493307844115},&quot;subLayout&quot;:[{&quot;id&quot;:&quot;2020-06-26T09:50:13&quot;,&quot;margin&quot;:{&quot;bottom&quot;:0.42300000786781311,&quot;left&quot;:5.5029997825622559,&quot;right&quot;:5.5029997825622559,&quot;top&quot;:2.9630000591278076},&quot;type&quot;:0},{&quot;id&quot;:&quot;2020-06-26T09:50:13&quot;,&quot;margin&quot;:{&quot;bottom&quot;:2.5399999618530273,&quot;left&quot;:5.5029997825622559,&quot;right&quot;:5.5029997825622559,&quot;top&quot;:2.1170001029968262},&quot;type&quot;:0}],&quot;type&quot;:0}"/>
  <p:tag name="KSO_WM_SLIDE_BACKGROUND" val="[&quot;general&quot;]"/>
  <p:tag name="KSO_WM_SLIDE_RATIO" val="1.777778"/>
  <p:tag name="KSO_WM_CHIP_INFOS" val="{&quot;layout_type&quot;:&quot;topbottom&quot;,&quot;tags&quot;:{&quot;style&quot;:[&quot;商务&quot;,&quot;简约&quot;,&quot;文艺清新&quot;,&quot;中国风&quot;,&quot;卡通&quot;,&quot;欧美风&quot;,&quot;黑板风&quot;,&quot;渐变风&quot;,&quot;党政风&quot;]},&quot;slide_type&quot;:[&quot;text&quot;],&quot;aspect_ratio&quot;:&quot;16:9&quot;}"/>
  <p:tag name="KSO_WM_CHIP_FILLPROP" val="[[{&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lm&quot;,&quot;text_direction&quot;:&quot;horizontal&quot;,&quot;chip_types&quot;:[&quot;text&quot;]}],[{&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cm&quot;,&quot;text_direction&quot;:&quot;horizontal&quot;,&quot;chip_types&quot;:[&quot;diagram&quot;,&quot;pictext&quot;,&quot;picture&quot;,&quot;chart&quot;,&quot;table&quot;,&quot;video&quot;]}]]"/>
  <p:tag name="KSO_WM_CHIP_XID" val="5ef16cf55bb2a422ac9a2b3a"/>
  <p:tag name="KSO_WM_CHIP_GROUPID" val="5ef16cf55bb2a422ac9a2b39"/>
  <p:tag name="KSO_WM_SLIDE_BK_DARK_LIGHT" val="2"/>
  <p:tag name="KSO_WM_SLIDE_BACKGROUND_TYPE" val="general"/>
  <p:tag name="KSO_WM_SLIDE_SUPPORT_FEATURE_TYPE" val="0"/>
  <p:tag name="KSO_WM_TEMPLATE_ASSEMBLE_XID" val="5ef55454ea5a3ac527a189e3"/>
  <p:tag name="KSO_WM_TEMPLATE_ASSEMBLE_GROUPID" val="5ef55454ea5a3ac527a189e3"/>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8726_1*i*1"/>
  <p:tag name="KSO_WM_TEMPLATE_CATEGORY" val="diagram"/>
  <p:tag name="KSO_WM_TEMPLATE_INDEX" val="20208726"/>
  <p:tag name="KSO_WM_UNIT_LAYERLEVEL" val="1"/>
  <p:tag name="KSO_WM_TAG_VERSION" val="1.0"/>
  <p:tag name="KSO_WM_BEAUTIFY_FLAG" val="#wm#"/>
  <p:tag name="KSO_WM_UNIT_BLOCK" val="0"/>
  <p:tag name="KSO_WM_UNIT_SM_LIMIT_TYPE" val="1"/>
  <p:tag name="KSO_WM_UNIT_DEC_AREA_ID" val="869a47cc434a46408bb65052c05f2790"/>
  <p:tag name="KSO_WM_UNIT_DECORATE_INFO" val="{&quot;ReferentInfo&quot;:{&quot;X&quot;:{&quot;Pos&quot;:0},&quot;Y&quot;:{&quot;Pos&quot;:0}},&quot;DecorateInfoX&quot;:{&quot;Pos&quot;:0,&quot;IsAbs&quot;:false},&quot;DecorateInfoY&quot;:{&quot;Pos&quot;:0,&quot;IsAbs&quot;:false},&quot;DecorateInfoW&quot;:{&quot;IsAbs&quot;:true},&quot;DecorateInfoH&quot;:{&quot;IsAbs&quot;:true}}"/>
  <p:tag name="KSO_WM_CHIP_GROUPID" val="5ef16cf55bb2a422ac9a2b39"/>
  <p:tag name="KSO_WM_CHIP_XID" val="5ef16cf55bb2a422ac9a2b3a"/>
  <p:tag name="KSO_WM_UNIT_FILL_FORE_SCHEMECOLOR_INDEX_BRIGHTNESS" val="0"/>
  <p:tag name="KSO_WM_UNIT_FILL_FORE_SCHEMECOLOR_INDEX" val="15"/>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2"/>
  <p:tag name="KSO_WM_UNIT_TEXT_FILL_TYPE" val="1"/>
  <p:tag name="KSO_WM_UNIT_VALUE" val="477"/>
  <p:tag name="KSO_WM_TEMPLATE_ASSEMBLE_XID" val="5ef55454ea5a3ac527a189e3"/>
  <p:tag name="KSO_WM_TEMPLATE_ASSEMBLE_GROUPID" val="5ef55454ea5a3ac527a189e3"/>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8726_1*i*2"/>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c4ce87efa6da456eba5f87ab75ba3aa6"/>
  <p:tag name="KSO_WM_UNIT_DECORATE_INFO" val="{&quot;DecorateInfoH&quot;:{&quot;IsAbs&quot;:true},&quot;DecorateInfoW&quot;:{&quot;IsAbs&quot;:true},&quot;DecorateInfoX&quot;:{&quot;IsAbs&quot;:true,&quot;Pos&quot;:1},&quot;DecorateInfoY&quot;:{&quot;IsAbs&quot;:true,&quot;Pos&quot;:1},&quot;ReferentInfo&quot;:{&quot;Id&quot;:&quot;6618fb3c5f874e68a20589c3b602507e&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114"/>
  <p:tag name="KSO_WM_TEMPLATE_ASSEMBLE_XID" val="5ef55454ea5a3ac527a189e3"/>
  <p:tag name="KSO_WM_TEMPLATE_ASSEMBLE_GROUPID" val="5ef55454ea5a3ac527a189e3"/>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8726_1*i*7"/>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bcde86d968184e51b1cbdb20e2dfff00"/>
  <p:tag name="KSO_WM_UNIT_DECORATE_INFO" val="{&quot;DecorateInfoH&quot;:{&quot;IsAbs&quot;:true},&quot;DecorateInfoW&quot;:{&quot;IsAbs&quot;:true},&quot;DecorateInfoX&quot;:{&quot;IsAbs&quot;:true,&quot;Pos&quot;:1},&quot;DecorateInfoY&quot;:{&quot;IsAbs&quot;:true,&quot;Pos&quot;:1},&quot;ReferentInfo&quot;:{&quot;Id&quot;:&quot;2a0b84ff2b9a4700b2ebecd3d5d2b889&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380"/>
  <p:tag name="KSO_WM_TEMPLATE_ASSEMBLE_XID" val="5ef55454ea5a3ac527a189e3"/>
  <p:tag name="KSO_WM_TEMPLATE_ASSEMBLE_GROUPID" val="5ef55454ea5a3ac527a189e3"/>
</p:tagLst>
</file>

<file path=ppt/tags/tag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08726_1*a*1"/>
  <p:tag name="KSO_WM_TEMPLATE_CATEGORY" val="diagram"/>
  <p:tag name="KSO_WM_TEMPLATE_INDEX" val="20208726"/>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18fb3c5f874e68a20589c3b602507e"/>
  <p:tag name="KSO_WM_ASSEMBLE_CHIP_INDEX" val="cf455a0210784292bf56397ada7cc389"/>
  <p:tag name="KSO_WM_UNIT_TEXT_FILL_FORE_SCHEMECOLOR_INDEX_BRIGHTNESS" val="0"/>
  <p:tag name="KSO_WM_UNIT_TEXT_FILL_FORE_SCHEMECOLOR_INDEX" val="13"/>
  <p:tag name="KSO_WM_UNIT_TEXT_FILL_TYPE" val="1"/>
  <p:tag name="KSO_WM_TEMPLATE_ASSEMBLE_XID" val="5ef55454ea5a3ac527a189e3"/>
  <p:tag name="KSO_WM_TEMPLATE_ASSEMBLE_GROUPID" val="5ef55454ea5a3ac527a189e3"/>
  <p:tag name="KSO_WM_UNIT_SMARTLAYOUT_COMPRESS_INFO" val="{&#10;    &quot;id&quot;: &quot;2020-06-26T09:50:13&quot;,&#10;    &quot;max&quot;: 9.9359201546418774,&#10;    &quot;parentMax&quot;: {&#10;        &quot;max&quot;: 2.3390404752793827&#10;    },&#10;    &quot;topChanged&quot;: 9.889445190429683&#10;}&#10;"/>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10129_4*l_h_i*1_2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9da7e6ec43e4feb9298f18bea997348"/>
  <p:tag name="KSO_WM_UNIT_DECORATE_INFO" val="{&quot;DecorateInfoH&quot;:{&quot;IsAbs&quot;:true},&quot;DecorateInfoW&quot;:{&quot;IsAbs&quot;:true},&quot;DecorateInfoX&quot;:{&quot;IsAbs&quot;:true,&quot;Pos&quot;:1},&quot;DecorateInfoY&quot;:{&quot;IsAbs&quot;:true,&quot;Pos&quot;:1},&quot;ReferentInfo&quot;:{&quot;Id&quot;:&quot;b59d62ad1efa49a7814a432af9fe78d0&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2_1"/>
  <p:tag name="KSO_WM_UNIT_ID" val="diagram20210129_4*l_h_f*1_2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34b132e5c4a443288f0a499a2a868f21"/>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59d62ad1efa49a7814a432af9fe78d0"/>
  <p:tag name="KSO_WM_UNIT_DECORATE_INFO" val="{&quot;DecorateInfoH&quot;:{&quot;IsAbs&quot;:true},&quot;DecorateInfoW&quot;:{&quot;IsAbs&quot;:true},&quot;DecorateInfoX&quot;:{&quot;IsAbs&quot;:true,&quot;Pos&quot;:1},&quot;DecorateInfoY&quot;:{&quot;IsAbs&quot;:true,&quot;Pos&quot;:2},&quot;ReferentInfo&quot;:{&quot;Id&quot;:&quot;34b132e5c4a443288f0a499a2a868f21&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0d7a2d2c86d4c9db8b4a0d9151012cf"/>
  <p:tag name="KSO_WM_UNIT_DECORATE_INFO" val="{&quot;DecorateInfoH&quot;:{&quot;IsAbs&quot;:true},&quot;DecorateInfoW&quot;:{&quot;IsAbs&quot;:true},&quot;DecorateInfoX&quot;:{&quot;IsAbs&quot;:true,&quot;Pos&quot;:2},&quot;DecorateInfoY&quot;:{&quot;IsAbs&quot;:true,&quot;Pos&quot;:1},&quot;ReferentInfo&quot;:{&quot;Id&quot;:&quot;b59d62ad1efa49a7814a432af9fe78d0&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20210129_4*l_h_i*1_3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6081f06af7546549cd304a627ac5bf6"/>
  <p:tag name="KSO_WM_UNIT_DECORATE_INFO" val="{&quot;DecorateInfoH&quot;:{&quot;IsAbs&quot;:true},&quot;DecorateInfoW&quot;:{&quot;IsAbs&quot;:true},&quot;DecorateInfoX&quot;:{&quot;IsAbs&quot;:true,&quot;Pos&quot;:1},&quot;DecorateInfoY&quot;:{&quot;IsAbs&quot;:true,&quot;Pos&quot;:1},&quot;ReferentInfo&quot;:{&quot;Id&quot;:&quot;7c5b9ba033db4be7921036f8d9ac71fa&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3_1"/>
  <p:tag name="KSO_WM_UNIT_ID" val="diagram20210129_4*l_h_f*1_3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9139da38a7254bbdae206e7c3badbfdc"/>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c5b9ba033db4be7921036f8d9ac71fa"/>
  <p:tag name="KSO_WM_UNIT_DECORATE_INFO" val="{&quot;DecorateInfoH&quot;:{&quot;IsAbs&quot;:true},&quot;DecorateInfoW&quot;:{&quot;IsAbs&quot;:true},&quot;DecorateInfoX&quot;:{&quot;IsAbs&quot;:true,&quot;Pos&quot;:1},&quot;DecorateInfoY&quot;:{&quot;IsAbs&quot;:true,&quot;Pos&quot;:2},&quot;ReferentInfo&quot;:{&quot;Id&quot;:&quot;9139da38a7254bbdae206e7c3badbfdc&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ec820f4b29364f0d9126a1b5fe20d73d"/>
  <p:tag name="KSO_WM_UNIT_DECORATE_INFO" val="{&quot;DecorateInfoH&quot;:{&quot;IsAbs&quot;:true},&quot;DecorateInfoW&quot;:{&quot;IsAbs&quot;:true},&quot;DecorateInfoX&quot;:{&quot;IsAbs&quot;:true,&quot;Pos&quot;:2},&quot;DecorateInfoY&quot;:{&quot;IsAbs&quot;:true,&quot;Pos&quot;:1},&quot;ReferentInfo&quot;:{&quot;Id&quot;:&quot;7c5b9ba033db4be7921036f8d9ac71fa&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1"/>
  <p:tag name="KSO_WM_UNIT_ID" val="diagram20210129_4*l_h_i*1_4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39c131c2df22469293f4eda4cafa0add"/>
  <p:tag name="KSO_WM_UNIT_DECORATE_INFO" val="{&quot;DecorateInfoH&quot;:{&quot;IsAbs&quot;:true},&quot;DecorateInfoW&quot;:{&quot;IsAbs&quot;:true},&quot;DecorateInfoX&quot;:{&quot;IsAbs&quot;:true,&quot;Pos&quot;:1},&quot;DecorateInfoY&quot;:{&quot;IsAbs&quot;:true,&quot;Pos&quot;:1},&quot;ReferentInfo&quot;:{&quot;Id&quot;:&quot;7727769e63484bff8316e642df87776f&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4_1"/>
  <p:tag name="KSO_WM_UNIT_ID" val="diagram20210129_4*l_h_f*1_4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74d740d563994c26aa1d5848c3fc10f8"/>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727769e63484bff8316e642df87776f"/>
  <p:tag name="KSO_WM_UNIT_DECORATE_INFO" val="{&quot;DecorateInfoH&quot;:{&quot;IsAbs&quot;:true},&quot;DecorateInfoW&quot;:{&quot;IsAbs&quot;:true},&quot;DecorateInfoX&quot;:{&quot;IsAbs&quot;:true,&quot;Pos&quot;:1},&quot;DecorateInfoY&quot;:{&quot;IsAbs&quot;:true,&quot;Pos&quot;:2},&quot;ReferentInfo&quot;:{&quot;Id&quot;:&quot;74d740d563994c26aa1d5848c3fc10f8&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268b2bc951b4a15b816214d5589381a"/>
  <p:tag name="KSO_WM_UNIT_DECORATE_INFO" val="{&quot;DecorateInfoH&quot;:{&quot;IsAbs&quot;:true},&quot;DecorateInfoW&quot;:{&quot;IsAbs&quot;:true},&quot;DecorateInfoX&quot;:{&quot;IsAbs&quot;:true,&quot;Pos&quot;:2},&quot;DecorateInfoY&quot;:{&quot;IsAbs&quot;:true,&quot;Pos&quot;:1},&quot;ReferentInfo&quot;:{&quot;Id&quot;:&quot;7727769e63484bff8316e642df87776f&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SLIDE_ID" val="diagram20208726_1"/>
  <p:tag name="KSO_WM_TEMPLATE_SUBCATEGORY" val="21"/>
  <p:tag name="KSO_WM_SLIDE_TYPE" val="text"/>
  <p:tag name="KSO_WM_SLIDE_SUBTYPE" val="picTxt"/>
  <p:tag name="KSO_WM_SLIDE_ITEM_CNT" val="0"/>
  <p:tag name="KSO_WM_SLIDE_INDEX" val="1"/>
  <p:tag name="KSO_WM_SLIDE_SIZE" val="960*507"/>
  <p:tag name="KSO_WM_SLIDE_POSITION" val="0*33"/>
  <p:tag name="KSO_WM_TAG_VERSION" val="1.0"/>
  <p:tag name="KSO_WM_BEAUTIFY_FLAG" val="#wm#"/>
  <p:tag name="KSO_WM_TEMPLATE_CATEGORY" val="diagram"/>
  <p:tag name="KSO_WM_TEMPLATE_INDEX" val="20208726"/>
  <p:tag name="KSO_WM_SLIDE_LAYOUT" val="a_d"/>
  <p:tag name="KSO_WM_SLIDE_LAYOUT_CNT" val="1_1"/>
  <p:tag name="KSO_WM_TEMPLATE_MASTER_TYPE" val="0"/>
  <p:tag name="KSO_WM_TEMPLATE_COLOR_TYPE" val="1"/>
  <p:tag name="KSO_WM_SLIDE_LAYOUT_INFO" val="{&quot;backgroundInfo&quot;:[{&quot;bottom&quot;:0,&quot;bottomAbs&quot;:false,&quot;left&quot;:0,&quot;leftAbs&quot;:false,&quot;right&quot;:0,&quot;rightAbs&quot;:false,&quot;top&quot;:0,&quot;topAbs&quot;:false,&quot;type&quot;:&quot;general&quot;}],&quot;id&quot;:&quot;2020-06-26T09:50:13&quot;,&quot;maxSize&quot;:{&quot;size1&quot;:31.395491917928059},&quot;minSize&quot;:{&quot;size1&quot;:22.49549191792806},&quot;normalSize&quot;:{&quot;size1&quot;:25.769493307844115},&quot;subLayout&quot;:[{&quot;id&quot;:&quot;2020-06-26T09:50:13&quot;,&quot;margin&quot;:{&quot;bottom&quot;:0.42300000786781311,&quot;left&quot;:5.5029997825622559,&quot;right&quot;:5.5029997825622559,&quot;top&quot;:2.9630000591278076},&quot;type&quot;:0},{&quot;id&quot;:&quot;2020-06-26T09:50:13&quot;,&quot;margin&quot;:{&quot;bottom&quot;:2.5399999618530273,&quot;left&quot;:5.5029997825622559,&quot;right&quot;:5.5029997825622559,&quot;top&quot;:2.1170001029968262},&quot;type&quot;:0}],&quot;type&quot;:0}"/>
  <p:tag name="KSO_WM_SLIDE_BACKGROUND" val="[&quot;general&quot;]"/>
  <p:tag name="KSO_WM_SLIDE_RATIO" val="1.777778"/>
  <p:tag name="KSO_WM_CHIP_INFOS" val="{&quot;layout_type&quot;:&quot;topbottom&quot;,&quot;tags&quot;:{&quot;style&quot;:[&quot;商务&quot;,&quot;简约&quot;,&quot;文艺清新&quot;,&quot;中国风&quot;,&quot;卡通&quot;,&quot;欧美风&quot;,&quot;黑板风&quot;,&quot;渐变风&quot;,&quot;党政风&quot;]},&quot;slide_type&quot;:[&quot;text&quot;],&quot;aspect_ratio&quot;:&quot;16:9&quot;}"/>
  <p:tag name="KSO_WM_CHIP_FILLPROP" val="[[{&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lm&quot;,&quot;text_direction&quot;:&quot;horizontal&quot;,&quot;chip_types&quot;:[&quot;text&quot;]}],[{&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cm&quot;,&quot;text_direction&quot;:&quot;horizontal&quot;,&quot;chip_types&quot;:[&quot;diagram&quot;,&quot;pictext&quot;,&quot;picture&quot;,&quot;chart&quot;,&quot;table&quot;,&quot;video&quot;]}]]"/>
  <p:tag name="KSO_WM_CHIP_XID" val="5ef16cf55bb2a422ac9a2b3a"/>
  <p:tag name="KSO_WM_CHIP_GROUPID" val="5ef16cf55bb2a422ac9a2b39"/>
  <p:tag name="KSO_WM_SLIDE_BK_DARK_LIGHT" val="2"/>
  <p:tag name="KSO_WM_SLIDE_BACKGROUND_TYPE" val="general"/>
  <p:tag name="KSO_WM_SLIDE_SUPPORT_FEATURE_TYPE" val="0"/>
  <p:tag name="KSO_WM_TEMPLATE_ASSEMBLE_XID" val="5ef55454ea5a3ac527a189e3"/>
  <p:tag name="KSO_WM_TEMPLATE_ASSEMBLE_GROUPID" val="5ef55454ea5a3ac527a189e3"/>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8726_1*i*1"/>
  <p:tag name="KSO_WM_TEMPLATE_CATEGORY" val="diagram"/>
  <p:tag name="KSO_WM_TEMPLATE_INDEX" val="20208726"/>
  <p:tag name="KSO_WM_UNIT_LAYERLEVEL" val="1"/>
  <p:tag name="KSO_WM_TAG_VERSION" val="1.0"/>
  <p:tag name="KSO_WM_BEAUTIFY_FLAG" val="#wm#"/>
  <p:tag name="KSO_WM_UNIT_BLOCK" val="0"/>
  <p:tag name="KSO_WM_UNIT_SM_LIMIT_TYPE" val="1"/>
  <p:tag name="KSO_WM_UNIT_DEC_AREA_ID" val="869a47cc434a46408bb65052c05f2790"/>
  <p:tag name="KSO_WM_UNIT_DECORATE_INFO" val="{&quot;ReferentInfo&quot;:{&quot;X&quot;:{&quot;Pos&quot;:0},&quot;Y&quot;:{&quot;Pos&quot;:0}},&quot;DecorateInfoX&quot;:{&quot;Pos&quot;:0,&quot;IsAbs&quot;:false},&quot;DecorateInfoY&quot;:{&quot;Pos&quot;:0,&quot;IsAbs&quot;:false},&quot;DecorateInfoW&quot;:{&quot;IsAbs&quot;:true},&quot;DecorateInfoH&quot;:{&quot;IsAbs&quot;:true}}"/>
  <p:tag name="KSO_WM_CHIP_GROUPID" val="5ef16cf55bb2a422ac9a2b39"/>
  <p:tag name="KSO_WM_CHIP_XID" val="5ef16cf55bb2a422ac9a2b3a"/>
  <p:tag name="KSO_WM_UNIT_FILL_FORE_SCHEMECOLOR_INDEX_BRIGHTNESS" val="0"/>
  <p:tag name="KSO_WM_UNIT_FILL_FORE_SCHEMECOLOR_INDEX" val="15"/>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2"/>
  <p:tag name="KSO_WM_UNIT_TEXT_FILL_TYPE" val="1"/>
  <p:tag name="KSO_WM_UNIT_VALUE" val="477"/>
  <p:tag name="KSO_WM_TEMPLATE_ASSEMBLE_XID" val="5ef55454ea5a3ac527a189e3"/>
  <p:tag name="KSO_WM_TEMPLATE_ASSEMBLE_GROUPID" val="5ef55454ea5a3ac527a189e3"/>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8726_1*i*2"/>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c4ce87efa6da456eba5f87ab75ba3aa6"/>
  <p:tag name="KSO_WM_UNIT_DECORATE_INFO" val="{&quot;DecorateInfoH&quot;:{&quot;IsAbs&quot;:true},&quot;DecorateInfoW&quot;:{&quot;IsAbs&quot;:true},&quot;DecorateInfoX&quot;:{&quot;IsAbs&quot;:true,&quot;Pos&quot;:1},&quot;DecorateInfoY&quot;:{&quot;IsAbs&quot;:true,&quot;Pos&quot;:1},&quot;ReferentInfo&quot;:{&quot;Id&quot;:&quot;6618fb3c5f874e68a20589c3b602507e&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114"/>
  <p:tag name="KSO_WM_TEMPLATE_ASSEMBLE_XID" val="5ef55454ea5a3ac527a189e3"/>
  <p:tag name="KSO_WM_TEMPLATE_ASSEMBLE_GROUPID" val="5ef55454ea5a3ac527a189e3"/>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8726_1*i*7"/>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bcde86d968184e51b1cbdb20e2dfff00"/>
  <p:tag name="KSO_WM_UNIT_DECORATE_INFO" val="{&quot;DecorateInfoH&quot;:{&quot;IsAbs&quot;:true},&quot;DecorateInfoW&quot;:{&quot;IsAbs&quot;:true},&quot;DecorateInfoX&quot;:{&quot;IsAbs&quot;:true,&quot;Pos&quot;:1},&quot;DecorateInfoY&quot;:{&quot;IsAbs&quot;:true,&quot;Pos&quot;:1},&quot;ReferentInfo&quot;:{&quot;Id&quot;:&quot;2a0b84ff2b9a4700b2ebecd3d5d2b889&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380"/>
  <p:tag name="KSO_WM_TEMPLATE_ASSEMBLE_XID" val="5ef55454ea5a3ac527a189e3"/>
  <p:tag name="KSO_WM_TEMPLATE_ASSEMBLE_GROUPID" val="5ef55454ea5a3ac527a189e3"/>
</p:tagLst>
</file>

<file path=ppt/tags/tag3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08726_1*a*1"/>
  <p:tag name="KSO_WM_TEMPLATE_CATEGORY" val="diagram"/>
  <p:tag name="KSO_WM_TEMPLATE_INDEX" val="20208726"/>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18fb3c5f874e68a20589c3b602507e"/>
  <p:tag name="KSO_WM_ASSEMBLE_CHIP_INDEX" val="cf455a0210784292bf56397ada7cc389"/>
  <p:tag name="KSO_WM_UNIT_TEXT_FILL_FORE_SCHEMECOLOR_INDEX_BRIGHTNESS" val="0"/>
  <p:tag name="KSO_WM_UNIT_TEXT_FILL_FORE_SCHEMECOLOR_INDEX" val="13"/>
  <p:tag name="KSO_WM_UNIT_TEXT_FILL_TYPE" val="1"/>
  <p:tag name="KSO_WM_TEMPLATE_ASSEMBLE_XID" val="5ef55454ea5a3ac527a189e3"/>
  <p:tag name="KSO_WM_TEMPLATE_ASSEMBLE_GROUPID" val="5ef55454ea5a3ac527a189e3"/>
  <p:tag name="KSO_WM_UNIT_SMARTLAYOUT_COMPRESS_INFO" val="{&#10;    &quot;id&quot;: &quot;2020-06-26T09:50:13&quot;,&#10;    &quot;max&quot;: 9.9359201546418774,&#10;    &quot;parentMax&quot;: {&#10;        &quot;max&quot;: 2.3390404752793827&#10;    },&#10;    &quot;topChanged&quot;: 9.889445190429683&#10;}&#10;"/>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10129_4*l_h_i*1_2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9da7e6ec43e4feb9298f18bea997348"/>
  <p:tag name="KSO_WM_UNIT_DECORATE_INFO" val="{&quot;DecorateInfoH&quot;:{&quot;IsAbs&quot;:true},&quot;DecorateInfoW&quot;:{&quot;IsAbs&quot;:true},&quot;DecorateInfoX&quot;:{&quot;IsAbs&quot;:true,&quot;Pos&quot;:1},&quot;DecorateInfoY&quot;:{&quot;IsAbs&quot;:true,&quot;Pos&quot;:1},&quot;ReferentInfo&quot;:{&quot;Id&quot;:&quot;b59d62ad1efa49a7814a432af9fe78d0&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2_1"/>
  <p:tag name="KSO_WM_UNIT_ID" val="diagram20210129_4*l_h_f*1_2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34b132e5c4a443288f0a499a2a868f21"/>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59d62ad1efa49a7814a432af9fe78d0"/>
  <p:tag name="KSO_WM_UNIT_DECORATE_INFO" val="{&quot;DecorateInfoH&quot;:{&quot;IsAbs&quot;:true},&quot;DecorateInfoW&quot;:{&quot;IsAbs&quot;:true},&quot;DecorateInfoX&quot;:{&quot;IsAbs&quot;:true,&quot;Pos&quot;:1},&quot;DecorateInfoY&quot;:{&quot;IsAbs&quot;:true,&quot;Pos&quot;:2},&quot;ReferentInfo&quot;:{&quot;Id&quot;:&quot;34b132e5c4a443288f0a499a2a868f21&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0d7a2d2c86d4c9db8b4a0d9151012cf"/>
  <p:tag name="KSO_WM_UNIT_DECORATE_INFO" val="{&quot;DecorateInfoH&quot;:{&quot;IsAbs&quot;:true},&quot;DecorateInfoW&quot;:{&quot;IsAbs&quot;:true},&quot;DecorateInfoX&quot;:{&quot;IsAbs&quot;:true,&quot;Pos&quot;:2},&quot;DecorateInfoY&quot;:{&quot;IsAbs&quot;:true,&quot;Pos&quot;:1},&quot;ReferentInfo&quot;:{&quot;Id&quot;:&quot;b59d62ad1efa49a7814a432af9fe78d0&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20210129_4*l_h_i*1_3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6081f06af7546549cd304a627ac5bf6"/>
  <p:tag name="KSO_WM_UNIT_DECORATE_INFO" val="{&quot;DecorateInfoH&quot;:{&quot;IsAbs&quot;:true},&quot;DecorateInfoW&quot;:{&quot;IsAbs&quot;:true},&quot;DecorateInfoX&quot;:{&quot;IsAbs&quot;:true,&quot;Pos&quot;:1},&quot;DecorateInfoY&quot;:{&quot;IsAbs&quot;:true,&quot;Pos&quot;:1},&quot;ReferentInfo&quot;:{&quot;Id&quot;:&quot;7c5b9ba033db4be7921036f8d9ac71fa&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3_1"/>
  <p:tag name="KSO_WM_UNIT_ID" val="diagram20210129_4*l_h_f*1_3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9139da38a7254bbdae206e7c3badbfdc"/>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c5b9ba033db4be7921036f8d9ac71fa"/>
  <p:tag name="KSO_WM_UNIT_DECORATE_INFO" val="{&quot;DecorateInfoH&quot;:{&quot;IsAbs&quot;:true},&quot;DecorateInfoW&quot;:{&quot;IsAbs&quot;:true},&quot;DecorateInfoX&quot;:{&quot;IsAbs&quot;:true,&quot;Pos&quot;:1},&quot;DecorateInfoY&quot;:{&quot;IsAbs&quot;:true,&quot;Pos&quot;:2},&quot;ReferentInfo&quot;:{&quot;Id&quot;:&quot;9139da38a7254bbdae206e7c3badbfdc&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ec820f4b29364f0d9126a1b5fe20d73d"/>
  <p:tag name="KSO_WM_UNIT_DECORATE_INFO" val="{&quot;DecorateInfoH&quot;:{&quot;IsAbs&quot;:true},&quot;DecorateInfoW&quot;:{&quot;IsAbs&quot;:true},&quot;DecorateInfoX&quot;:{&quot;IsAbs&quot;:true,&quot;Pos&quot;:2},&quot;DecorateInfoY&quot;:{&quot;IsAbs&quot;:true,&quot;Pos&quot;:1},&quot;ReferentInfo&quot;:{&quot;Id&quot;:&quot;7c5b9ba033db4be7921036f8d9ac71fa&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1"/>
  <p:tag name="KSO_WM_UNIT_ID" val="diagram20210129_4*l_h_i*1_4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39c131c2df22469293f4eda4cafa0add"/>
  <p:tag name="KSO_WM_UNIT_DECORATE_INFO" val="{&quot;DecorateInfoH&quot;:{&quot;IsAbs&quot;:true},&quot;DecorateInfoW&quot;:{&quot;IsAbs&quot;:true},&quot;DecorateInfoX&quot;:{&quot;IsAbs&quot;:true,&quot;Pos&quot;:1},&quot;DecorateInfoY&quot;:{&quot;IsAbs&quot;:true,&quot;Pos&quot;:1},&quot;ReferentInfo&quot;:{&quot;Id&quot;:&quot;7727769e63484bff8316e642df87776f&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4_1"/>
  <p:tag name="KSO_WM_UNIT_ID" val="diagram20210129_4*l_h_f*1_4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74d740d563994c26aa1d5848c3fc10f8"/>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727769e63484bff8316e642df87776f"/>
  <p:tag name="KSO_WM_UNIT_DECORATE_INFO" val="{&quot;DecorateInfoH&quot;:{&quot;IsAbs&quot;:true},&quot;DecorateInfoW&quot;:{&quot;IsAbs&quot;:true},&quot;DecorateInfoX&quot;:{&quot;IsAbs&quot;:true,&quot;Pos&quot;:1},&quot;DecorateInfoY&quot;:{&quot;IsAbs&quot;:true,&quot;Pos&quot;:2},&quot;ReferentInfo&quot;:{&quot;Id&quot;:&quot;74d740d563994c26aa1d5848c3fc10f8&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268b2bc951b4a15b816214d5589381a"/>
  <p:tag name="KSO_WM_UNIT_DECORATE_INFO" val="{&quot;DecorateInfoH&quot;:{&quot;IsAbs&quot;:true},&quot;DecorateInfoW&quot;:{&quot;IsAbs&quot;:true},&quot;DecorateInfoX&quot;:{&quot;IsAbs&quot;:true,&quot;Pos&quot;:2},&quot;DecorateInfoY&quot;:{&quot;IsAbs&quot;:true,&quot;Pos&quot;:1},&quot;ReferentInfo&quot;:{&quot;Id&quot;:&quot;7727769e63484bff8316e642df87776f&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51.xml><?xml version="1.0" encoding="utf-8"?>
<p:tagLst xmlns:a="http://schemas.openxmlformats.org/drawingml/2006/main" xmlns:r="http://schemas.openxmlformats.org/officeDocument/2006/relationships" xmlns:p="http://schemas.openxmlformats.org/presentationml/2006/main">
  <p:tag name="KSO_WM_SLIDE_ITEM_CNT" val="5"/>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UNIT_CLEAR" val="1"/>
  <p:tag name="KSO_WM_TAG_VERSION" val="1.0"/>
  <p:tag name="KSO_WM_BEAUTIFY_FLAG" val="#wm#"/>
  <p:tag name="KSO_WM_UNIT_TYPE" val="n_h_i"/>
  <p:tag name="KSO_WM_UNIT_INDEX" val="1_2_1"/>
  <p:tag name="KSO_WM_UNIT_ID" val="diagram20171553_4*n_h_i*1_2_1"/>
  <p:tag name="KSO_WM_UNIT_LAYERLEVEL" val="1_1_1"/>
  <p:tag name="KSO_WM_DIAGRAM_GROUP_CODE" val="n1-1"/>
  <p:tag name="KSO_WM_UNIT_FILL_FORE_SCHEMECOLOR_INDEX" val="5"/>
  <p:tag name="KSO_WM_UNIT_FILL_TYPE" val="1"/>
  <p:tag name="KSO_WM_UNIT_LINE_FORE_SCHEMECOLOR_INDEX" val="14"/>
  <p:tag name="KSO_WM_UNIT_LINE_FILL_TYPE" val="2"/>
  <p:tag name="KSO_WM_UNIT_TEXT_FILL_FORE_SCHEMECOLOR_INDEX" val="14"/>
  <p:tag name="KSO_WM_UNIT_TEXT_FILL_TYPE" val="1"/>
  <p:tag name="KSO_WM_UNIT_USESOURCEFORMAT_APPLY" val="0"/>
</p:tagLst>
</file>

<file path=ppt/tags/tag5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TAG_VERSION" val="1.0"/>
  <p:tag name="KSO_WM_BEAUTIFY_FLAG" val="#wm#"/>
  <p:tag name="KSO_WM_UNIT_TYPE" val="n_h_a"/>
  <p:tag name="KSO_WM_UNIT_INDEX" val="1_1_1"/>
  <p:tag name="KSO_WM_UNIT_CLEAR" val="1"/>
  <p:tag name="KSO_WM_UNIT_LAYERLEVEL" val="1_1_1"/>
  <p:tag name="KSO_WM_UNIT_VALUE" val="30"/>
  <p:tag name="KSO_WM_UNIT_HIGHLIGHT" val="0"/>
  <p:tag name="KSO_WM_UNIT_COMPATIBLE" val="0"/>
  <p:tag name="KSO_WM_UNIT_PRESET_TEXT_INDEX" val="3"/>
  <p:tag name="KSO_WM_UNIT_PRESET_TEXT_LEN" val="17"/>
  <p:tag name="KSO_WM_DIAGRAM_GROUP_CODE" val="n1-1"/>
  <p:tag name="KSO_WM_UNIT_ID" val="diagram20171553_4*n_h_a*1_1_1"/>
  <p:tag name="KSO_WM_UNIT_FILL_FORE_SCHEMECOLOR_INDEX" val="8"/>
  <p:tag name="KSO_WM_UNIT_FILL_TYPE" val="1"/>
  <p:tag name="KSO_WM_UNIT_LINE_FORE_SCHEMECOLOR_INDEX" val="8"/>
  <p:tag name="KSO_WM_UNIT_LINE_FILL_TYPE" val="2"/>
  <p:tag name="KSO_WM_UNIT_TEXT_FILL_FORE_SCHEMECOLOR_INDEX" val="14"/>
  <p:tag name="KSO_WM_UNIT_TEXT_FILL_TYPE" val="1"/>
  <p:tag name="KSO_WM_UNIT_USESOURCEFORMAT_APPLY" val="0"/>
</p:tagLst>
</file>

<file path=ppt/tags/tag5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UNIT_CLEAR" val="1"/>
  <p:tag name="KSO_WM_TAG_VERSION" val="1.0"/>
  <p:tag name="KSO_WM_BEAUTIFY_FLAG" val="#wm#"/>
  <p:tag name="KSO_WM_UNIT_TYPE" val="n_h_i"/>
  <p:tag name="KSO_WM_UNIT_INDEX" val="1_2_2"/>
  <p:tag name="KSO_WM_UNIT_ID" val="diagram20171553_4*n_h_i*1_2_2"/>
  <p:tag name="KSO_WM_UNIT_LAYERLEVEL" val="1_1_1"/>
  <p:tag name="KSO_WM_DIAGRAM_GROUP_CODE" val="n1-1"/>
  <p:tag name="KSO_WM_UNIT_FILL_FORE_SCHEMECOLOR_INDEX" val="6"/>
  <p:tag name="KSO_WM_UNIT_FILL_TYPE" val="1"/>
  <p:tag name="KSO_WM_UNIT_LINE_FORE_SCHEMECOLOR_INDEX" val="14"/>
  <p:tag name="KSO_WM_UNIT_LINE_FILL_TYPE" val="2"/>
  <p:tag name="KSO_WM_UNIT_TEXT_FILL_FORE_SCHEMECOLOR_INDEX" val="14"/>
  <p:tag name="KSO_WM_UNIT_TEXT_FILL_TYPE" val="1"/>
  <p:tag name="KSO_WM_UNIT_USESOURCEFORMAT_APPLY" val="0"/>
</p:tagLst>
</file>

<file path=ppt/tags/tag5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TAG_VERSION" val="1.0"/>
  <p:tag name="KSO_WM_BEAUTIFY_FLAG" val="#wm#"/>
  <p:tag name="KSO_WM_UNIT_TYPE" val="n_h_f"/>
  <p:tag name="KSO_WM_UNIT_INDEX" val="1_2_4"/>
  <p:tag name="KSO_WM_UNIT_CLEAR" val="1"/>
  <p:tag name="KSO_WM_UNIT_LAYERLEVEL" val="1_1_1"/>
  <p:tag name="KSO_WM_UNIT_VALUE" val="20"/>
  <p:tag name="KSO_WM_UNIT_HIGHLIGHT" val="0"/>
  <p:tag name="KSO_WM_UNIT_COMPATIBLE" val="0"/>
  <p:tag name="KSO_WM_UNIT_PRESET_TEXT_INDEX" val="3"/>
  <p:tag name="KSO_WM_UNIT_PRESET_TEXT_LEN" val="17"/>
  <p:tag name="KSO_WM_DIAGRAM_GROUP_CODE" val="n1-1"/>
  <p:tag name="KSO_WM_UNIT_ID" val="diagram20171553_4*n_h_f*1_2_4"/>
  <p:tag name="KSO_WM_UNIT_TEXT_FILL_FORE_SCHEMECOLOR_INDEX" val="13"/>
  <p:tag name="KSO_WM_UNIT_TEXT_FILL_TYPE" val="1"/>
  <p:tag name="KSO_WM_UNIT_USESOURCEFORMAT_APPLY" val="0"/>
</p:tagLst>
</file>

<file path=ppt/tags/tag5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UNIT_CLEAR" val="1"/>
  <p:tag name="KSO_WM_TAG_VERSION" val="1.0"/>
  <p:tag name="KSO_WM_BEAUTIFY_FLAG" val="#wm#"/>
  <p:tag name="KSO_WM_UNIT_TYPE" val="n_h_i"/>
  <p:tag name="KSO_WM_UNIT_INDEX" val="1_2_3"/>
  <p:tag name="KSO_WM_UNIT_ID" val="diagram20171553_4*n_h_i*1_2_3"/>
  <p:tag name="KSO_WM_UNIT_LAYERLEVEL" val="1_1_1"/>
  <p:tag name="KSO_WM_DIAGRAM_GROUP_CODE" val="n1-1"/>
  <p:tag name="KSO_WM_UNIT_LINE_FORE_SCHEMECOLOR_INDEX" val="14"/>
  <p:tag name="KSO_WM_UNIT_LINE_FILL_TYPE" val="2"/>
  <p:tag name="KSO_WM_UNIT_USESOURCEFORMAT_APPLY" val="0"/>
</p:tagLst>
</file>

<file path=ppt/tags/tag5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UNIT_CLEAR" val="1"/>
  <p:tag name="KSO_WM_TAG_VERSION" val="1.0"/>
  <p:tag name="KSO_WM_BEAUTIFY_FLAG" val="#wm#"/>
  <p:tag name="KSO_WM_UNIT_TYPE" val="n_h_i"/>
  <p:tag name="KSO_WM_UNIT_INDEX" val="1_2_4"/>
  <p:tag name="KSO_WM_UNIT_ID" val="diagram20171553_4*n_h_i*1_2_4"/>
  <p:tag name="KSO_WM_UNIT_LAYERLEVEL" val="1_1_1"/>
  <p:tag name="KSO_WM_DIAGRAM_GROUP_CODE" val="n1-1"/>
  <p:tag name="KSO_WM_UNIT_LINE_FORE_SCHEMECOLOR_INDEX" val="14"/>
  <p:tag name="KSO_WM_UNIT_LINE_FILL_TYPE" val="2"/>
  <p:tag name="KSO_WM_UNIT_USESOURCEFORMAT_APPLY" val="0"/>
</p:tagLst>
</file>

<file path=ppt/tags/tag5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UNIT_CLEAR" val="1"/>
  <p:tag name="KSO_WM_TAG_VERSION" val="1.0"/>
  <p:tag name="KSO_WM_BEAUTIFY_FLAG" val="#wm#"/>
  <p:tag name="KSO_WM_UNIT_TYPE" val="n_h_i"/>
  <p:tag name="KSO_WM_UNIT_INDEX" val="1_2_5"/>
  <p:tag name="KSO_WM_UNIT_ID" val="diagram20171553_4*n_h_i*1_2_5"/>
  <p:tag name="KSO_WM_UNIT_LAYERLEVEL" val="1_1_1"/>
  <p:tag name="KSO_WM_DIAGRAM_GROUP_CODE" val="n1-1"/>
  <p:tag name="KSO_WM_UNIT_FILL_FORE_SCHEMECOLOR_INDEX" val="5"/>
  <p:tag name="KSO_WM_UNIT_FILL_TYPE" val="1"/>
  <p:tag name="KSO_WM_UNIT_LINE_FORE_SCHEMECOLOR_INDEX" val="14"/>
  <p:tag name="KSO_WM_UNIT_LINE_FILL_TYPE" val="2"/>
  <p:tag name="KSO_WM_UNIT_TEXT_FILL_FORE_SCHEMECOLOR_INDEX" val="14"/>
  <p:tag name="KSO_WM_UNIT_TEXT_FILL_TYPE" val="1"/>
  <p:tag name="KSO_WM_UNIT_USESOURCEFORMAT_APPLY" val="0"/>
</p:tagLst>
</file>

<file path=ppt/tags/tag5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UNIT_CLEAR" val="1"/>
  <p:tag name="KSO_WM_TAG_VERSION" val="1.0"/>
  <p:tag name="KSO_WM_BEAUTIFY_FLAG" val="#wm#"/>
  <p:tag name="KSO_WM_UNIT_TYPE" val="n_h_i"/>
  <p:tag name="KSO_WM_UNIT_INDEX" val="1_2_6"/>
  <p:tag name="KSO_WM_UNIT_ID" val="diagram20171553_4*n_h_i*1_2_6"/>
  <p:tag name="KSO_WM_UNIT_LAYERLEVEL" val="1_1_1"/>
  <p:tag name="KSO_WM_DIAGRAM_GROUP_CODE" val="n1-1"/>
  <p:tag name="KSO_WM_UNIT_LINE_FORE_SCHEMECOLOR_INDEX" val="14"/>
  <p:tag name="KSO_WM_UNIT_LINE_FILL_TYPE" val="2"/>
  <p:tag name="KSO_WM_UNIT_USESOURCEFORMAT_APPLY" val="0"/>
</p:tagLst>
</file>

<file path=ppt/tags/tag6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UNIT_CLEAR" val="1"/>
  <p:tag name="KSO_WM_TAG_VERSION" val="1.0"/>
  <p:tag name="KSO_WM_BEAUTIFY_FLAG" val="#wm#"/>
  <p:tag name="KSO_WM_UNIT_TYPE" val="n_h_i"/>
  <p:tag name="KSO_WM_UNIT_INDEX" val="1_2_7"/>
  <p:tag name="KSO_WM_UNIT_ID" val="diagram20171553_4*n_h_i*1_2_7"/>
  <p:tag name="KSO_WM_UNIT_LAYERLEVEL" val="1_1_1"/>
  <p:tag name="KSO_WM_DIAGRAM_GROUP_CODE" val="n1-1"/>
  <p:tag name="KSO_WM_UNIT_FILL_FORE_SCHEMECOLOR_INDEX" val="6"/>
  <p:tag name="KSO_WM_UNIT_FILL_TYPE" val="1"/>
  <p:tag name="KSO_WM_UNIT_LINE_FORE_SCHEMECOLOR_INDEX" val="14"/>
  <p:tag name="KSO_WM_UNIT_LINE_FILL_TYPE" val="2"/>
  <p:tag name="KSO_WM_UNIT_TEXT_FILL_FORE_SCHEMECOLOR_INDEX" val="14"/>
  <p:tag name="KSO_WM_UNIT_TEXT_FILL_TYPE" val="1"/>
  <p:tag name="KSO_WM_UNIT_USESOURCEFORMAT_APPLY" val="0"/>
</p:tagLst>
</file>

<file path=ppt/tags/tag6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UNIT_CLEAR" val="1"/>
  <p:tag name="KSO_WM_TAG_VERSION" val="1.0"/>
  <p:tag name="KSO_WM_BEAUTIFY_FLAG" val="#wm#"/>
  <p:tag name="KSO_WM_UNIT_TYPE" val="n_h_i"/>
  <p:tag name="KSO_WM_UNIT_INDEX" val="1_2_8"/>
  <p:tag name="KSO_WM_UNIT_ID" val="diagram20171553_4*n_h_i*1_2_8"/>
  <p:tag name="KSO_WM_UNIT_LAYERLEVEL" val="1_1_1"/>
  <p:tag name="KSO_WM_DIAGRAM_GROUP_CODE" val="n1-1"/>
  <p:tag name="KSO_WM_UNIT_FILL_FORE_SCHEMECOLOR_INDEX" val="7"/>
  <p:tag name="KSO_WM_UNIT_FILL_TYPE" val="1"/>
  <p:tag name="KSO_WM_UNIT_LINE_FORE_SCHEMECOLOR_INDEX" val="14"/>
  <p:tag name="KSO_WM_UNIT_LINE_FILL_TYPE" val="2"/>
  <p:tag name="KSO_WM_UNIT_TEXT_FILL_FORE_SCHEMECOLOR_INDEX" val="14"/>
  <p:tag name="KSO_WM_UNIT_TEXT_FILL_TYPE" val="1"/>
  <p:tag name="KSO_WM_UNIT_USESOURCEFORMAT_APPLY" val="0"/>
</p:tagLst>
</file>

<file path=ppt/tags/tag6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UNIT_CLEAR" val="1"/>
  <p:tag name="KSO_WM_TAG_VERSION" val="1.0"/>
  <p:tag name="KSO_WM_BEAUTIFY_FLAG" val="#wm#"/>
  <p:tag name="KSO_WM_UNIT_TYPE" val="n_h_i"/>
  <p:tag name="KSO_WM_UNIT_INDEX" val="1_2_9"/>
  <p:tag name="KSO_WM_UNIT_ID" val="diagram20171553_4*n_h_i*1_2_9"/>
  <p:tag name="KSO_WM_UNIT_LAYERLEVEL" val="1_1_1"/>
  <p:tag name="KSO_WM_DIAGRAM_GROUP_CODE" val="n1-1"/>
  <p:tag name="KSO_WM_UNIT_LINE_FORE_SCHEMECOLOR_INDEX" val="14"/>
  <p:tag name="KSO_WM_UNIT_LINE_FILL_TYPE" val="2"/>
  <p:tag name="KSO_WM_UNIT_USESOURCEFORMAT_APPLY" val="0"/>
</p:tagLst>
</file>

<file path=ppt/tags/tag6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UNIT_CLEAR" val="1"/>
  <p:tag name="KSO_WM_TAG_VERSION" val="1.0"/>
  <p:tag name="KSO_WM_BEAUTIFY_FLAG" val="#wm#"/>
  <p:tag name="KSO_WM_UNIT_TYPE" val="n_h_i"/>
  <p:tag name="KSO_WM_UNIT_INDEX" val="1_2_10"/>
  <p:tag name="KSO_WM_UNIT_ID" val="diagram20171553_4*n_h_i*1_2_10"/>
  <p:tag name="KSO_WM_UNIT_LAYERLEVEL" val="1_1_1"/>
  <p:tag name="KSO_WM_DIAGRAM_GROUP_CODE" val="n1-1"/>
  <p:tag name="KSO_WM_UNIT_LINE_FORE_SCHEMECOLOR_INDEX" val="14"/>
  <p:tag name="KSO_WM_UNIT_LINE_FILL_TYPE" val="2"/>
  <p:tag name="KSO_WM_UNIT_USESOURCEFORMAT_APPLY" val="0"/>
</p:tagLst>
</file>

<file path=ppt/tags/tag6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TAG_VERSION" val="1.0"/>
  <p:tag name="KSO_WM_BEAUTIFY_FLAG" val="#wm#"/>
  <p:tag name="KSO_WM_UNIT_TYPE" val="n_h_f"/>
  <p:tag name="KSO_WM_UNIT_INDEX" val="1_2_5"/>
  <p:tag name="KSO_WM_UNIT_CLEAR" val="1"/>
  <p:tag name="KSO_WM_UNIT_LAYERLEVEL" val="1_1_1"/>
  <p:tag name="KSO_WM_UNIT_VALUE" val="20"/>
  <p:tag name="KSO_WM_UNIT_HIGHLIGHT" val="0"/>
  <p:tag name="KSO_WM_UNIT_COMPATIBLE" val="0"/>
  <p:tag name="KSO_WM_UNIT_PRESET_TEXT_INDEX" val="3"/>
  <p:tag name="KSO_WM_UNIT_PRESET_TEXT_LEN" val="17"/>
  <p:tag name="KSO_WM_DIAGRAM_GROUP_CODE" val="n1-1"/>
  <p:tag name="KSO_WM_UNIT_ID" val="diagram20171553_4*n_h_f*1_2_5"/>
  <p:tag name="KSO_WM_UNIT_TEXT_FILL_FORE_SCHEMECOLOR_INDEX" val="13"/>
  <p:tag name="KSO_WM_UNIT_TEXT_FILL_TYPE" val="1"/>
  <p:tag name="KSO_WM_UNIT_USESOURCEFORMAT_APPLY" val="0"/>
</p:tagLst>
</file>

<file path=ppt/tags/tag6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TAG_VERSION" val="1.0"/>
  <p:tag name="KSO_WM_BEAUTIFY_FLAG" val="#wm#"/>
  <p:tag name="KSO_WM_UNIT_TYPE" val="n_h_f"/>
  <p:tag name="KSO_WM_UNIT_INDEX" val="1_2_1"/>
  <p:tag name="KSO_WM_UNIT_CLEAR" val="1"/>
  <p:tag name="KSO_WM_UNIT_LAYERLEVEL" val="1_1_1"/>
  <p:tag name="KSO_WM_UNIT_VALUE" val="18"/>
  <p:tag name="KSO_WM_UNIT_HIGHLIGHT" val="0"/>
  <p:tag name="KSO_WM_UNIT_COMPATIBLE" val="0"/>
  <p:tag name="KSO_WM_UNIT_PRESET_TEXT_INDEX" val="3"/>
  <p:tag name="KSO_WM_UNIT_PRESET_TEXT_LEN" val="17"/>
  <p:tag name="KSO_WM_DIAGRAM_GROUP_CODE" val="n1-1"/>
  <p:tag name="KSO_WM_UNIT_ID" val="diagram20171553_4*n_h_f*1_2_1"/>
  <p:tag name="KSO_WM_UNIT_TEXT_FILL_FORE_SCHEMECOLOR_INDEX" val="13"/>
  <p:tag name="KSO_WM_UNIT_TEXT_FILL_TYPE" val="1"/>
  <p:tag name="KSO_WM_UNIT_USESOURCEFORMAT_APPLY" val="0"/>
</p:tagLst>
</file>

<file path=ppt/tags/tag6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TAG_VERSION" val="1.0"/>
  <p:tag name="KSO_WM_BEAUTIFY_FLAG" val="#wm#"/>
  <p:tag name="KSO_WM_UNIT_TYPE" val="n_h_f"/>
  <p:tag name="KSO_WM_UNIT_INDEX" val="1_2_2"/>
  <p:tag name="KSO_WM_UNIT_CLEAR" val="1"/>
  <p:tag name="KSO_WM_UNIT_LAYERLEVEL" val="1_1_1"/>
  <p:tag name="KSO_WM_UNIT_VALUE" val="18"/>
  <p:tag name="KSO_WM_UNIT_HIGHLIGHT" val="0"/>
  <p:tag name="KSO_WM_UNIT_COMPATIBLE" val="0"/>
  <p:tag name="KSO_WM_UNIT_PRESET_TEXT_INDEX" val="3"/>
  <p:tag name="KSO_WM_UNIT_PRESET_TEXT_LEN" val="17"/>
  <p:tag name="KSO_WM_DIAGRAM_GROUP_CODE" val="n1-1"/>
  <p:tag name="KSO_WM_UNIT_ID" val="diagram20171553_4*n_h_f*1_2_2"/>
  <p:tag name="KSO_WM_UNIT_TEXT_FILL_FORE_SCHEMECOLOR_INDEX" val="13"/>
  <p:tag name="KSO_WM_UNIT_TEXT_FILL_TYPE" val="1"/>
  <p:tag name="KSO_WM_UNIT_USESOURCEFORMAT_APPLY" val="0"/>
</p:tagLst>
</file>

<file path=ppt/tags/tag6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71553"/>
  <p:tag name="KSO_WM_TAG_VERSION" val="1.0"/>
  <p:tag name="KSO_WM_BEAUTIFY_FLAG" val="#wm#"/>
  <p:tag name="KSO_WM_UNIT_TYPE" val="n_h_f"/>
  <p:tag name="KSO_WM_UNIT_INDEX" val="1_2_3"/>
  <p:tag name="KSO_WM_UNIT_CLEAR" val="1"/>
  <p:tag name="KSO_WM_UNIT_LAYERLEVEL" val="1_1_1"/>
  <p:tag name="KSO_WM_UNIT_VALUE" val="18"/>
  <p:tag name="KSO_WM_UNIT_HIGHLIGHT" val="0"/>
  <p:tag name="KSO_WM_UNIT_COMPATIBLE" val="0"/>
  <p:tag name="KSO_WM_UNIT_PRESET_TEXT_INDEX" val="3"/>
  <p:tag name="KSO_WM_UNIT_PRESET_TEXT_LEN" val="17"/>
  <p:tag name="KSO_WM_DIAGRAM_GROUP_CODE" val="n1-1"/>
  <p:tag name="KSO_WM_UNIT_ID" val="diagram20171553_4*n_h_f*1_2_3"/>
  <p:tag name="KSO_WM_UNIT_TEXT_FILL_FORE_SCHEMECOLOR_INDEX" val="13"/>
  <p:tag name="KSO_WM_UNIT_TEXT_FILL_TYPE" val="1"/>
  <p:tag name="KSO_WM_UNIT_USESOURCEFORMAT_APPLY" val="0"/>
</p:tagLst>
</file>

<file path=ppt/tags/tag68.xml><?xml version="1.0" encoding="utf-8"?>
<p:tagLst xmlns:a="http://schemas.openxmlformats.org/drawingml/2006/main" xmlns:r="http://schemas.openxmlformats.org/officeDocument/2006/relationships" xmlns:p="http://schemas.openxmlformats.org/presentationml/2006/main">
  <p:tag name="KSO_WM_SLIDE_ITEM_CNT" val="5"/>
</p:tagLst>
</file>

<file path=ppt/tags/tag69.xml><?xml version="1.0" encoding="utf-8"?>
<p:tagLst xmlns:a="http://schemas.openxmlformats.org/drawingml/2006/main" xmlns:r="http://schemas.openxmlformats.org/officeDocument/2006/relationships" xmlns:p="http://schemas.openxmlformats.org/presentationml/2006/main">
  <p:tag name="KSO_WM_SLIDE_ID" val="diagram20208726_1"/>
  <p:tag name="KSO_WM_TEMPLATE_SUBCATEGORY" val="21"/>
  <p:tag name="KSO_WM_SLIDE_TYPE" val="text"/>
  <p:tag name="KSO_WM_SLIDE_SUBTYPE" val="picTxt"/>
  <p:tag name="KSO_WM_SLIDE_ITEM_CNT" val="0"/>
  <p:tag name="KSO_WM_SLIDE_INDEX" val="1"/>
  <p:tag name="KSO_WM_SLIDE_SIZE" val="960*507"/>
  <p:tag name="KSO_WM_SLIDE_POSITION" val="0*33"/>
  <p:tag name="KSO_WM_TAG_VERSION" val="1.0"/>
  <p:tag name="KSO_WM_BEAUTIFY_FLAG" val="#wm#"/>
  <p:tag name="KSO_WM_TEMPLATE_CATEGORY" val="diagram"/>
  <p:tag name="KSO_WM_TEMPLATE_INDEX" val="20208726"/>
  <p:tag name="KSO_WM_SLIDE_LAYOUT" val="a_d"/>
  <p:tag name="KSO_WM_SLIDE_LAYOUT_CNT" val="1_1"/>
  <p:tag name="KSO_WM_TEMPLATE_MASTER_TYPE" val="0"/>
  <p:tag name="KSO_WM_TEMPLATE_COLOR_TYPE" val="1"/>
  <p:tag name="KSO_WM_SLIDE_LAYOUT_INFO" val="{&quot;backgroundInfo&quot;:[{&quot;bottom&quot;:0,&quot;bottomAbs&quot;:false,&quot;left&quot;:0,&quot;leftAbs&quot;:false,&quot;right&quot;:0,&quot;rightAbs&quot;:false,&quot;top&quot;:0,&quot;topAbs&quot;:false,&quot;type&quot;:&quot;general&quot;}],&quot;id&quot;:&quot;2020-06-26T09:50:13&quot;,&quot;maxSize&quot;:{&quot;size1&quot;:31.395491917928059},&quot;minSize&quot;:{&quot;size1&quot;:22.49549191792806},&quot;normalSize&quot;:{&quot;size1&quot;:25.769493307844115},&quot;subLayout&quot;:[{&quot;id&quot;:&quot;2020-06-26T09:50:13&quot;,&quot;margin&quot;:{&quot;bottom&quot;:0.42300000786781311,&quot;left&quot;:5.5029997825622559,&quot;right&quot;:5.5029997825622559,&quot;top&quot;:2.9630000591278076},&quot;type&quot;:0},{&quot;id&quot;:&quot;2020-06-26T09:50:13&quot;,&quot;margin&quot;:{&quot;bottom&quot;:2.5399999618530273,&quot;left&quot;:5.5029997825622559,&quot;right&quot;:5.5029997825622559,&quot;top&quot;:2.1170001029968262},&quot;type&quot;:0}],&quot;type&quot;:0}"/>
  <p:tag name="KSO_WM_SLIDE_BACKGROUND" val="[&quot;general&quot;]"/>
  <p:tag name="KSO_WM_SLIDE_RATIO" val="1.777778"/>
  <p:tag name="KSO_WM_CHIP_INFOS" val="{&quot;layout_type&quot;:&quot;topbottom&quot;,&quot;tags&quot;:{&quot;style&quot;:[&quot;商务&quot;,&quot;简约&quot;,&quot;文艺清新&quot;,&quot;中国风&quot;,&quot;卡通&quot;,&quot;欧美风&quot;,&quot;黑板风&quot;,&quot;渐变风&quot;,&quot;党政风&quot;]},&quot;slide_type&quot;:[&quot;text&quot;],&quot;aspect_ratio&quot;:&quot;16:9&quot;}"/>
  <p:tag name="KSO_WM_CHIP_FILLPROP" val="[[{&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lm&quot;,&quot;text_direction&quot;:&quot;horizontal&quot;,&quot;chip_types&quot;:[&quot;text&quot;]}],[{&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cm&quot;,&quot;text_direction&quot;:&quot;horizontal&quot;,&quot;chip_types&quot;:[&quot;diagram&quot;,&quot;pictext&quot;,&quot;picture&quot;,&quot;chart&quot;,&quot;table&quot;,&quot;video&quot;]}]]"/>
  <p:tag name="KSO_WM_CHIP_XID" val="5ef16cf55bb2a422ac9a2b3a"/>
  <p:tag name="KSO_WM_CHIP_GROUPID" val="5ef16cf55bb2a422ac9a2b39"/>
  <p:tag name="KSO_WM_SLIDE_BK_DARK_LIGHT" val="2"/>
  <p:tag name="KSO_WM_SLIDE_BACKGROUND_TYPE" val="general"/>
  <p:tag name="KSO_WM_SLIDE_SUPPORT_FEATURE_TYPE" val="0"/>
  <p:tag name="KSO_WM_TEMPLATE_ASSEMBLE_XID" val="5ef55454ea5a3ac527a189e3"/>
  <p:tag name="KSO_WM_TEMPLATE_ASSEMBLE_GROUPID" val="5ef55454ea5a3ac527a189e3"/>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8726_1*i*1"/>
  <p:tag name="KSO_WM_TEMPLATE_CATEGORY" val="diagram"/>
  <p:tag name="KSO_WM_TEMPLATE_INDEX" val="20208726"/>
  <p:tag name="KSO_WM_UNIT_LAYERLEVEL" val="1"/>
  <p:tag name="KSO_WM_TAG_VERSION" val="1.0"/>
  <p:tag name="KSO_WM_BEAUTIFY_FLAG" val="#wm#"/>
  <p:tag name="KSO_WM_UNIT_BLOCK" val="0"/>
  <p:tag name="KSO_WM_UNIT_SM_LIMIT_TYPE" val="1"/>
  <p:tag name="KSO_WM_UNIT_DEC_AREA_ID" val="869a47cc434a46408bb65052c05f2790"/>
  <p:tag name="KSO_WM_UNIT_DECORATE_INFO" val="{&quot;ReferentInfo&quot;:{&quot;X&quot;:{&quot;Pos&quot;:0},&quot;Y&quot;:{&quot;Pos&quot;:0}},&quot;DecorateInfoX&quot;:{&quot;Pos&quot;:0,&quot;IsAbs&quot;:false},&quot;DecorateInfoY&quot;:{&quot;Pos&quot;:0,&quot;IsAbs&quot;:false},&quot;DecorateInfoW&quot;:{&quot;IsAbs&quot;:true},&quot;DecorateInfoH&quot;:{&quot;IsAbs&quot;:true}}"/>
  <p:tag name="KSO_WM_CHIP_GROUPID" val="5ef16cf55bb2a422ac9a2b39"/>
  <p:tag name="KSO_WM_CHIP_XID" val="5ef16cf55bb2a422ac9a2b3a"/>
  <p:tag name="KSO_WM_UNIT_FILL_FORE_SCHEMECOLOR_INDEX_BRIGHTNESS" val="0"/>
  <p:tag name="KSO_WM_UNIT_FILL_FORE_SCHEMECOLOR_INDEX" val="15"/>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2"/>
  <p:tag name="KSO_WM_UNIT_TEXT_FILL_TYPE" val="1"/>
  <p:tag name="KSO_WM_UNIT_VALUE" val="477"/>
  <p:tag name="KSO_WM_TEMPLATE_ASSEMBLE_XID" val="5ef55454ea5a3ac527a189e3"/>
  <p:tag name="KSO_WM_TEMPLATE_ASSEMBLE_GROUPID" val="5ef55454ea5a3ac527a189e3"/>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8726_1*i*2"/>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c4ce87efa6da456eba5f87ab75ba3aa6"/>
  <p:tag name="KSO_WM_UNIT_DECORATE_INFO" val="{&quot;DecorateInfoH&quot;:{&quot;IsAbs&quot;:true},&quot;DecorateInfoW&quot;:{&quot;IsAbs&quot;:true},&quot;DecorateInfoX&quot;:{&quot;IsAbs&quot;:true,&quot;Pos&quot;:1},&quot;DecorateInfoY&quot;:{&quot;IsAbs&quot;:true,&quot;Pos&quot;:1},&quot;ReferentInfo&quot;:{&quot;Id&quot;:&quot;6618fb3c5f874e68a20589c3b602507e&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114"/>
  <p:tag name="KSO_WM_TEMPLATE_ASSEMBLE_XID" val="5ef55454ea5a3ac527a189e3"/>
  <p:tag name="KSO_WM_TEMPLATE_ASSEMBLE_GROUPID" val="5ef55454ea5a3ac527a189e3"/>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8726_1*i*7"/>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bcde86d968184e51b1cbdb20e2dfff00"/>
  <p:tag name="KSO_WM_UNIT_DECORATE_INFO" val="{&quot;DecorateInfoH&quot;:{&quot;IsAbs&quot;:true},&quot;DecorateInfoW&quot;:{&quot;IsAbs&quot;:true},&quot;DecorateInfoX&quot;:{&quot;IsAbs&quot;:true,&quot;Pos&quot;:1},&quot;DecorateInfoY&quot;:{&quot;IsAbs&quot;:true,&quot;Pos&quot;:1},&quot;ReferentInfo&quot;:{&quot;Id&quot;:&quot;2a0b84ff2b9a4700b2ebecd3d5d2b889&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380"/>
  <p:tag name="KSO_WM_TEMPLATE_ASSEMBLE_XID" val="5ef55454ea5a3ac527a189e3"/>
  <p:tag name="KSO_WM_TEMPLATE_ASSEMBLE_GROUPID" val="5ef55454ea5a3ac527a189e3"/>
</p:tagLst>
</file>

<file path=ppt/tags/tag7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08726_1*a*1"/>
  <p:tag name="KSO_WM_TEMPLATE_CATEGORY" val="diagram"/>
  <p:tag name="KSO_WM_TEMPLATE_INDEX" val="20208726"/>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18fb3c5f874e68a20589c3b602507e"/>
  <p:tag name="KSO_WM_ASSEMBLE_CHIP_INDEX" val="cf455a0210784292bf56397ada7cc389"/>
  <p:tag name="KSO_WM_UNIT_TEXT_FILL_FORE_SCHEMECOLOR_INDEX_BRIGHTNESS" val="0"/>
  <p:tag name="KSO_WM_UNIT_TEXT_FILL_FORE_SCHEMECOLOR_INDEX" val="13"/>
  <p:tag name="KSO_WM_UNIT_TEXT_FILL_TYPE" val="1"/>
  <p:tag name="KSO_WM_TEMPLATE_ASSEMBLE_XID" val="5ef55454ea5a3ac527a189e3"/>
  <p:tag name="KSO_WM_TEMPLATE_ASSEMBLE_GROUPID" val="5ef55454ea5a3ac527a189e3"/>
  <p:tag name="KSO_WM_UNIT_SMARTLAYOUT_COMPRESS_INFO" val="{&#10;    &quot;id&quot;: &quot;2020-06-26T09:50:13&quot;,&#10;    &quot;max&quot;: 9.9359201546418774,&#10;    &quot;parentMax&quot;: {&#10;        &quot;max&quot;: 2.3390404752793827&#10;    },&#10;    &quot;topChanged&quot;: 9.889445190429683&#10;}&#10;"/>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10129_4*l_h_i*1_2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9da7e6ec43e4feb9298f18bea997348"/>
  <p:tag name="KSO_WM_UNIT_DECORATE_INFO" val="{&quot;DecorateInfoH&quot;:{&quot;IsAbs&quot;:true},&quot;DecorateInfoW&quot;:{&quot;IsAbs&quot;:true},&quot;DecorateInfoX&quot;:{&quot;IsAbs&quot;:true,&quot;Pos&quot;:1},&quot;DecorateInfoY&quot;:{&quot;IsAbs&quot;:true,&quot;Pos&quot;:1},&quot;ReferentInfo&quot;:{&quot;Id&quot;:&quot;b59d62ad1efa49a7814a432af9fe78d0&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2_1"/>
  <p:tag name="KSO_WM_UNIT_ID" val="diagram20210129_4*l_h_f*1_2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34b132e5c4a443288f0a499a2a868f21"/>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59d62ad1efa49a7814a432af9fe78d0"/>
  <p:tag name="KSO_WM_UNIT_DECORATE_INFO" val="{&quot;DecorateInfoH&quot;:{&quot;IsAbs&quot;:true},&quot;DecorateInfoW&quot;:{&quot;IsAbs&quot;:true},&quot;DecorateInfoX&quot;:{&quot;IsAbs&quot;:true,&quot;Pos&quot;:1},&quot;DecorateInfoY&quot;:{&quot;IsAbs&quot;:true,&quot;Pos&quot;:2},&quot;ReferentInfo&quot;:{&quot;Id&quot;:&quot;34b132e5c4a443288f0a499a2a868f21&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0d7a2d2c86d4c9db8b4a0d9151012cf"/>
  <p:tag name="KSO_WM_UNIT_DECORATE_INFO" val="{&quot;DecorateInfoH&quot;:{&quot;IsAbs&quot;:true},&quot;DecorateInfoW&quot;:{&quot;IsAbs&quot;:true},&quot;DecorateInfoX&quot;:{&quot;IsAbs&quot;:true,&quot;Pos&quot;:2},&quot;DecorateInfoY&quot;:{&quot;IsAbs&quot;:true,&quot;Pos&quot;:1},&quot;ReferentInfo&quot;:{&quot;Id&quot;:&quot;b59d62ad1efa49a7814a432af9fe78d0&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20210129_4*l_h_i*1_3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6081f06af7546549cd304a627ac5bf6"/>
  <p:tag name="KSO_WM_UNIT_DECORATE_INFO" val="{&quot;DecorateInfoH&quot;:{&quot;IsAbs&quot;:true},&quot;DecorateInfoW&quot;:{&quot;IsAbs&quot;:true},&quot;DecorateInfoX&quot;:{&quot;IsAbs&quot;:true,&quot;Pos&quot;:1},&quot;DecorateInfoY&quot;:{&quot;IsAbs&quot;:true,&quot;Pos&quot;:1},&quot;ReferentInfo&quot;:{&quot;Id&quot;:&quot;7c5b9ba033db4be7921036f8d9ac71fa&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3_1"/>
  <p:tag name="KSO_WM_UNIT_ID" val="diagram20210129_4*l_h_f*1_3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9139da38a7254bbdae206e7c3badbfdc"/>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c5b9ba033db4be7921036f8d9ac71fa"/>
  <p:tag name="KSO_WM_UNIT_DECORATE_INFO" val="{&quot;DecorateInfoH&quot;:{&quot;IsAbs&quot;:true},&quot;DecorateInfoW&quot;:{&quot;IsAbs&quot;:true},&quot;DecorateInfoX&quot;:{&quot;IsAbs&quot;:true,&quot;Pos&quot;:1},&quot;DecorateInfoY&quot;:{&quot;IsAbs&quot;:true,&quot;Pos&quot;:2},&quot;ReferentInfo&quot;:{&quot;Id&quot;:&quot;9139da38a7254bbdae206e7c3badbfdc&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ec820f4b29364f0d9126a1b5fe20d73d"/>
  <p:tag name="KSO_WM_UNIT_DECORATE_INFO" val="{&quot;DecorateInfoH&quot;:{&quot;IsAbs&quot;:true},&quot;DecorateInfoW&quot;:{&quot;IsAbs&quot;:true},&quot;DecorateInfoX&quot;:{&quot;IsAbs&quot;:true,&quot;Pos&quot;:2},&quot;DecorateInfoY&quot;:{&quot;IsAbs&quot;:true,&quot;Pos&quot;:1},&quot;ReferentInfo&quot;:{&quot;Id&quot;:&quot;7c5b9ba033db4be7921036f8d9ac71fa&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1"/>
  <p:tag name="KSO_WM_UNIT_ID" val="diagram20210129_4*l_h_i*1_4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39c131c2df22469293f4eda4cafa0add"/>
  <p:tag name="KSO_WM_UNIT_DECORATE_INFO" val="{&quot;DecorateInfoH&quot;:{&quot;IsAbs&quot;:true},&quot;DecorateInfoW&quot;:{&quot;IsAbs&quot;:true},&quot;DecorateInfoX&quot;:{&quot;IsAbs&quot;:true,&quot;Pos&quot;:1},&quot;DecorateInfoY&quot;:{&quot;IsAbs&quot;:true,&quot;Pos&quot;:1},&quot;ReferentInfo&quot;:{&quot;Id&quot;:&quot;7727769e63484bff8316e642df87776f&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4_1"/>
  <p:tag name="KSO_WM_UNIT_ID" val="diagram20210129_4*l_h_f*1_4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74d740d563994c26aa1d5848c3fc10f8"/>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727769e63484bff8316e642df87776f"/>
  <p:tag name="KSO_WM_UNIT_DECORATE_INFO" val="{&quot;DecorateInfoH&quot;:{&quot;IsAbs&quot;:true},&quot;DecorateInfoW&quot;:{&quot;IsAbs&quot;:true},&quot;DecorateInfoX&quot;:{&quot;IsAbs&quot;:true,&quot;Pos&quot;:1},&quot;DecorateInfoY&quot;:{&quot;IsAbs&quot;:true,&quot;Pos&quot;:2},&quot;ReferentInfo&quot;:{&quot;Id&quot;:&quot;74d740d563994c26aa1d5848c3fc10f8&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268b2bc951b4a15b816214d5589381a"/>
  <p:tag name="KSO_WM_UNIT_DECORATE_INFO" val="{&quot;DecorateInfoH&quot;:{&quot;IsAbs&quot;:true},&quot;DecorateInfoW&quot;:{&quot;IsAbs&quot;:true},&quot;DecorateInfoX&quot;:{&quot;IsAbs&quot;:true,&quot;Pos&quot;:2},&quot;DecorateInfoY&quot;:{&quot;IsAbs&quot;:true,&quot;Pos&quot;:1},&quot;ReferentInfo&quot;:{&quot;Id&quot;:&quot;7727769e63484bff8316e642df87776f&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8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9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94.xml><?xml version="1.0" encoding="utf-8"?>
<p:tagLst xmlns:a="http://schemas.openxmlformats.org/drawingml/2006/main" xmlns:r="http://schemas.openxmlformats.org/officeDocument/2006/relationships" xmlns:p="http://schemas.openxmlformats.org/presentationml/2006/main">
  <p:tag name="KSO_WM_UNIT_TABLE_BEAUTIFY" val="smartTable{1a3ba46a-ca4b-4142-bdc5-27ab158026f6}"/>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i*1_5"/>
  <p:tag name="KSO_WM_TEMPLATE_CATEGORY" val="diagram"/>
  <p:tag name="KSO_WM_TEMPLATE_INDEX" val="20188036"/>
  <p:tag name="KSO_WM_UNIT_LAYERLEVEL" val="1_1"/>
  <p:tag name="KSO_WM_TAG_VERSION" val="1.0"/>
  <p:tag name="KSO_WM_BEAUTIFY_FLAG" val="#wm#"/>
  <p:tag name="KSO_WM_UNIT_TYPE" val="n_i"/>
  <p:tag name="KSO_WM_UNIT_INDEX" val="1_5"/>
  <p:tag name="KSO_WM_UNIT_COLOR_SCHEME_SHAPE_ID" val="42"/>
  <p:tag name="KSO_WM_UNIT_COLOR_SCHEME_PARENT_PAGE" val="0_5"/>
  <p:tag name="KSO_WM_UNIT_DECOLORIZATION" val="1"/>
  <p:tag name="KSO_WM_UNIT_LINE_FORE_SCHEMECOLOR_INDEX" val="13"/>
  <p:tag name="KSO_WM_UNIT_LINE_FILL_TYPE" val="2"/>
</p:tagLst>
</file>

<file path=ppt/tags/tag96.xml><?xml version="1.0" encoding="utf-8"?>
<p:tagLst xmlns:a="http://schemas.openxmlformats.org/drawingml/2006/main" xmlns:r="http://schemas.openxmlformats.org/officeDocument/2006/relationships" xmlns:p="http://schemas.openxmlformats.org/presentationml/2006/main">
  <p:tag name="KSO_WM_UNIT_ISCONTENTSTITLE" val="0"/>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188036_2*n_h_i*1_1_1"/>
  <p:tag name="KSO_WM_TEMPLATE_CATEGORY" val="diagram"/>
  <p:tag name="KSO_WM_TEMPLATE_INDEX" val="20188036"/>
  <p:tag name="KSO_WM_UNIT_LAYERLEVEL" val="1_1_1"/>
  <p:tag name="KSO_WM_TAG_VERSION" val="1.0"/>
  <p:tag name="KSO_WM_BEAUTIFY_FLAG" val="#wm#"/>
  <p:tag name="KSO_WM_UNIT_COLOR_SCHEME_SHAPE_ID" val="5"/>
  <p:tag name="KSO_WM_UNIT_COLOR_SCHEME_PARENT_PAGE" val="0_5"/>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Lst>
</file>

<file path=ppt/tags/tag9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VALUE" val="6"/>
  <p:tag name="KSO_WM_UNIT_HIGHLIGHT" val="0"/>
  <p:tag name="KSO_WM_UNIT_COMPATIBLE" val="0"/>
  <p:tag name="KSO_WM_UNIT_DIAGRAM_ISNUMVISUAL" val="0"/>
  <p:tag name="KSO_WM_UNIT_DIAGRAM_ISREFERUNIT" val="0"/>
  <p:tag name="KSO_WM_DIAGRAM_GROUP_CODE" val="n1-1"/>
  <p:tag name="KSO_WM_UNIT_TYPE" val="n_h_f"/>
  <p:tag name="KSO_WM_UNIT_INDEX" val="1_1_1"/>
  <p:tag name="KSO_WM_UNIT_ID" val="diagram20188036_2*n_h_f*1_1_1"/>
  <p:tag name="KSO_WM_TEMPLATE_CATEGORY" val="diagram"/>
  <p:tag name="KSO_WM_TEMPLATE_INDEX" val="20188036"/>
  <p:tag name="KSO_WM_UNIT_LAYERLEVEL" val="1_1_1"/>
  <p:tag name="KSO_WM_TAG_VERSION" val="1.0"/>
  <p:tag name="KSO_WM_BEAUTIFY_FLAG" val="#wm#"/>
  <p:tag name="KSO_WM_UNIT_NOCLEAR" val="0"/>
  <p:tag name="KSO_WM_UNIT_COLOR_SCHEME_SHAPE_ID" val="8"/>
  <p:tag name="KSO_WM_UNIT_COLOR_SCHEME_PARENT_PAGE" val="0_5"/>
  <p:tag name="KSO_WM_UNIT_TEXT_FILL_FORE_SCHEMECOLOR_INDEX" val="13"/>
  <p:tag name="KSO_WM_UNIT_TEXT_FILL_TYPE" val="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i*1_2"/>
  <p:tag name="KSO_WM_TEMPLATE_CATEGORY" val="diagram"/>
  <p:tag name="KSO_WM_TEMPLATE_INDEX" val="20188036"/>
  <p:tag name="KSO_WM_UNIT_LAYERLEVEL" val="1_1"/>
  <p:tag name="KSO_WM_TAG_VERSION" val="1.0"/>
  <p:tag name="KSO_WM_BEAUTIFY_FLAG" val="#wm#"/>
  <p:tag name="KSO_WM_UNIT_TYPE" val="n_i"/>
  <p:tag name="KSO_WM_UNIT_INDEX" val="1_2"/>
  <p:tag name="KSO_WM_UNIT_COLOR_SCHEME_SHAPE_ID" val="63"/>
  <p:tag name="KSO_WM_UNIT_COLOR_SCHEME_PARENT_PAGE" val="0_5"/>
  <p:tag name="KSO_WM_UNIT_DECOLORIZATION" val="1"/>
  <p:tag name="KSO_WM_UNIT_LINE_FORE_SCHEMECOLOR_INDEX" val="13"/>
  <p:tag name="KSO_WM_UNIT_LINE_FILL_TYPE"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i*1_3"/>
  <p:tag name="KSO_WM_TEMPLATE_CATEGORY" val="diagram"/>
  <p:tag name="KSO_WM_TEMPLATE_INDEX" val="20188036"/>
  <p:tag name="KSO_WM_UNIT_LAYERLEVEL" val="1_1"/>
  <p:tag name="KSO_WM_TAG_VERSION" val="1.0"/>
  <p:tag name="KSO_WM_BEAUTIFY_FLAG" val="#wm#"/>
  <p:tag name="KSO_WM_UNIT_TYPE" val="n_i"/>
  <p:tag name="KSO_WM_UNIT_INDEX" val="1_3"/>
  <p:tag name="KSO_WM_UNIT_COLOR_SCHEME_SHAPE_ID" val="62"/>
  <p:tag name="KSO_WM_UNIT_COLOR_SCHEME_PARENT_PAGE" val="0_5"/>
  <p:tag name="KSO_WM_UNIT_DECOLORIZATION" val="1"/>
  <p:tag name="KSO_WM_UNIT_LINE_FORE_SCHEMECOLOR_INDEX" val="13"/>
  <p:tag name="KSO_WM_UNIT_LINE_FILL_TYPE"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i*1_4"/>
  <p:tag name="KSO_WM_TEMPLATE_CATEGORY" val="diagram"/>
  <p:tag name="KSO_WM_TEMPLATE_INDEX" val="20188036"/>
  <p:tag name="KSO_WM_UNIT_LAYERLEVEL" val="1_1"/>
  <p:tag name="KSO_WM_TAG_VERSION" val="1.0"/>
  <p:tag name="KSO_WM_BEAUTIFY_FLAG" val="#wm#"/>
  <p:tag name="KSO_WM_UNIT_TYPE" val="n_i"/>
  <p:tag name="KSO_WM_UNIT_INDEX" val="1_4"/>
  <p:tag name="KSO_WM_UNIT_COLOR_SCHEME_SHAPE_ID" val="61"/>
  <p:tag name="KSO_WM_UNIT_COLOR_SCHEME_PARENT_PAGE" val="0_5"/>
  <p:tag name="KSO_WM_UNIT_DECOLORIZATION" val="1"/>
  <p:tag name="KSO_WM_UNIT_LINE_FORE_SCHEMECOLOR_INDEX" val="13"/>
  <p:tag name="KSO_WM_UNIT_LINE_FILL_TYPE"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188036_2*n_h_h_i*1_2_1_2"/>
  <p:tag name="KSO_WM_TEMPLATE_CATEGORY" val="diagram"/>
  <p:tag name="KSO_WM_TEMPLATE_INDEX" val="20188036"/>
  <p:tag name="KSO_WM_UNIT_LAYERLEVEL" val="1_1_1_1"/>
  <p:tag name="KSO_WM_TAG_VERSION" val="1.0"/>
  <p:tag name="KSO_WM_BEAUTIFY_FLAG" val="#wm#"/>
  <p:tag name="KSO_WM_UNIT_COLOR_SCHEME_SHAPE_ID" val="18"/>
  <p:tag name="KSO_WM_UNIT_COLOR_SCHEME_PARENT_PAGE" val="0_5"/>
  <p:tag name="KSO_WM_UNIT_FILL_FORE_SCHEMECOLOR_INDEX" val="5"/>
  <p:tag name="KSO_WM_UNIT_FILL_TYPE" val="1"/>
  <p:tag name="KSO_WM_UNIT_LINE_FORE_SCHEMECOLOR_INDEX" val="14"/>
  <p:tag name="KSO_WM_UNIT_LINE_FILL_TYPE" val="2"/>
  <p:tag name="KSO_WM_UNIT_TEXT_FILL_FORE_SCHEMECOLOR_INDEX" val="2"/>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VALUE" val="3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188036_2*n_h_h_f*1_2_1_1"/>
  <p:tag name="KSO_WM_TEMPLATE_CATEGORY" val="diagram"/>
  <p:tag name="KSO_WM_TEMPLATE_INDEX" val="20188036"/>
  <p:tag name="KSO_WM_UNIT_LAYERLEVEL" val="1_1_1_1"/>
  <p:tag name="KSO_WM_TAG_VERSION" val="1.0"/>
  <p:tag name="KSO_WM_BEAUTIFY_FLAG" val="#wm#"/>
  <p:tag name="KSO_WM_UNIT_NOCLEAR" val="0"/>
  <p:tag name="KSO_WM_UNIT_COLOR_SCHEME_SHAPE_ID" val="26"/>
  <p:tag name="KSO_WM_UNIT_COLOR_SCHEME_PARENT_PAGE" val="0_5"/>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a*1_2_1_1"/>
  <p:tag name="KSO_WM_TEMPLATE_CATEGORY" val="diagram"/>
  <p:tag name="KSO_WM_TEMPLATE_INDEX" val="20188036"/>
  <p:tag name="KSO_WM_UNIT_LAYERLEVEL" val="1_1_1_1"/>
  <p:tag name="KSO_WM_TAG_VERSION" val="1.0"/>
  <p:tag name="KSO_WM_BEAUTIFY_FLAG" val="#wm#"/>
  <p:tag name="KSO_WM_UNIT_ISCONTENTSTITLE" val="0"/>
  <p:tag name="KSO_WM_UNIT_PRESET_TEXT" val="添加标题"/>
  <p:tag name="KSO_WM_UNIT_VALUE" val="10"/>
  <p:tag name="KSO_WM_UNIT_TYPE" val="n_h_h_a"/>
  <p:tag name="KSO_WM_UNIT_INDEX" val="1_2_1_1"/>
  <p:tag name="KSO_WM_UNIT_NOCLEAR" val="0"/>
  <p:tag name="KSO_WM_UNIT_COLOR_SCHEME_SHAPE_ID" val="7"/>
  <p:tag name="KSO_WM_UNIT_COLOR_SCHEME_PARENT_PAGE" val="0_5"/>
  <p:tag name="KSO_WM_UNIT_TEXT_FILL_FORE_SCHEMECOLOR_INDEX" val="5"/>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i*1_2_1_1"/>
  <p:tag name="KSO_WM_TEMPLATE_CATEGORY" val="diagram"/>
  <p:tag name="KSO_WM_TEMPLATE_INDEX" val="20188036"/>
  <p:tag name="KSO_WM_UNIT_LAYERLEVEL" val="1_1_1_1"/>
  <p:tag name="KSO_WM_TAG_VERSION" val="1.0"/>
  <p:tag name="KSO_WM_BEAUTIFY_FLAG" val="#wm#"/>
  <p:tag name="KSO_WM_UNIT_TYPE" val="n_h_h_i"/>
  <p:tag name="KSO_WM_UNIT_INDEX" val="1_2_1_1"/>
  <p:tag name="KSO_WM_UNIT_COLOR_SCHEME_SHAPE_ID" val="33"/>
  <p:tag name="KSO_WM_UNIT_COLOR_SCHEME_PARENT_PAGE" val="0_5"/>
  <p:tag name="KSO_WM_UNIT_DECOLORIZATION" val="1"/>
  <p:tag name="KSO_WM_UNIT_LINE_FORE_SCHEMECOLOR_INDEX" val="13"/>
  <p:tag name="KSO_WM_UNIT_LINE_FILL_TYPE"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188036_2*n_h_h_i*1_2_2_1"/>
  <p:tag name="KSO_WM_TEMPLATE_CATEGORY" val="diagram"/>
  <p:tag name="KSO_WM_TEMPLATE_INDEX" val="20188036"/>
  <p:tag name="KSO_WM_UNIT_LAYERLEVEL" val="1_1_1_1"/>
  <p:tag name="KSO_WM_TAG_VERSION" val="1.0"/>
  <p:tag name="KSO_WM_BEAUTIFY_FLAG" val="#wm#"/>
  <p:tag name="KSO_WM_UNIT_COLOR_SCHEME_SHAPE_ID" val="41"/>
  <p:tag name="KSO_WM_UNIT_COLOR_SCHEME_PARENT_PAGE" val="0_5"/>
  <p:tag name="KSO_WM_UNIT_FILL_FORE_SCHEMECOLOR_INDEX" val="6"/>
  <p:tag name="KSO_WM_UNIT_FILL_TYPE" val="1"/>
  <p:tag name="KSO_WM_UNIT_LINE_FORE_SCHEMECOLOR_INDEX" val="14"/>
  <p:tag name="KSO_WM_UNIT_LINE_FILL_TYPE" val="2"/>
  <p:tag name="KSO_WM_UNIT_TEXT_FILL_FORE_SCHEMECOLOR_INDEX" val="2"/>
  <p:tag name="KSO_WM_UNIT_TEXT_FILL_TYPE" val="1"/>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i*1_2_2_2"/>
  <p:tag name="KSO_WM_TEMPLATE_CATEGORY" val="diagram"/>
  <p:tag name="KSO_WM_TEMPLATE_INDEX" val="20188036"/>
  <p:tag name="KSO_WM_UNIT_LAYERLEVEL" val="1_1_1_1"/>
  <p:tag name="KSO_WM_TAG_VERSION" val="1.0"/>
  <p:tag name="KSO_WM_BEAUTIFY_FLAG" val="#wm#"/>
  <p:tag name="KSO_WM_UNIT_TYPE" val="n_h_h_i"/>
  <p:tag name="KSO_WM_UNIT_INDEX" val="1_2_2_2"/>
  <p:tag name="KSO_WM_UNIT_COLOR_SCHEME_SHAPE_ID" val="43"/>
  <p:tag name="KSO_WM_UNIT_COLOR_SCHEME_PARENT_PAGE" val="0_5"/>
  <p:tag name="KSO_WM_UNIT_DECOLORIZATION" val="1"/>
  <p:tag name="KSO_WM_UNIT_LINE_FORE_SCHEMECOLOR_INDEX" val="13"/>
  <p:tag name="KSO_WM_UNIT_LINE_FILL_TYPE" val="2"/>
</p:tagLst>
</file>

<file path=ppt/tags/tag107.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VALUE" val="3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3_1"/>
  <p:tag name="KSO_WM_UNIT_ID" val="diagram20188036_2*n_h_h_f*1_2_3_1"/>
  <p:tag name="KSO_WM_TEMPLATE_CATEGORY" val="diagram"/>
  <p:tag name="KSO_WM_TEMPLATE_INDEX" val="20188036"/>
  <p:tag name="KSO_WM_UNIT_LAYERLEVEL" val="1_1_1_1"/>
  <p:tag name="KSO_WM_TAG_VERSION" val="1.0"/>
  <p:tag name="KSO_WM_BEAUTIFY_FLAG" val="#wm#"/>
  <p:tag name="KSO_WM_UNIT_NOCLEAR" val="0"/>
  <p:tag name="KSO_WM_UNIT_COLOR_SCHEME_SHAPE_ID" val="44"/>
  <p:tag name="KSO_WM_UNIT_COLOR_SCHEME_PARENT_PAGE" val="0_5"/>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a*1_2_3_1"/>
  <p:tag name="KSO_WM_TEMPLATE_CATEGORY" val="diagram"/>
  <p:tag name="KSO_WM_TEMPLATE_INDEX" val="20188036"/>
  <p:tag name="KSO_WM_UNIT_LAYERLEVEL" val="1_1_1_1"/>
  <p:tag name="KSO_WM_TAG_VERSION" val="1.0"/>
  <p:tag name="KSO_WM_BEAUTIFY_FLAG" val="#wm#"/>
  <p:tag name="KSO_WM_UNIT_ISCONTENTSTITLE" val="0"/>
  <p:tag name="KSO_WM_UNIT_PRESET_TEXT" val="添加标题"/>
  <p:tag name="KSO_WM_UNIT_VALUE" val="10"/>
  <p:tag name="KSO_WM_UNIT_TYPE" val="n_h_h_a"/>
  <p:tag name="KSO_WM_UNIT_INDEX" val="1_2_3_1"/>
  <p:tag name="KSO_WM_UNIT_NOCLEAR" val="0"/>
  <p:tag name="KSO_WM_UNIT_COLOR_SCHEME_SHAPE_ID" val="45"/>
  <p:tag name="KSO_WM_UNIT_COLOR_SCHEME_PARENT_PAGE" val="0_5"/>
  <p:tag name="KSO_WM_UNIT_TEXT_FILL_FORE_SCHEMECOLOR_INDEX" val="7"/>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3"/>
  <p:tag name="KSO_WM_UNIT_ID" val="diagram20188036_2*n_h_h_i*1_2_3_3"/>
  <p:tag name="KSO_WM_TEMPLATE_CATEGORY" val="diagram"/>
  <p:tag name="KSO_WM_TEMPLATE_INDEX" val="20188036"/>
  <p:tag name="KSO_WM_UNIT_LAYERLEVEL" val="1_1_1_1"/>
  <p:tag name="KSO_WM_TAG_VERSION" val="1.0"/>
  <p:tag name="KSO_WM_BEAUTIFY_FLAG" val="#wm#"/>
  <p:tag name="KSO_WM_UNIT_COLOR_SCHEME_SHAPE_ID" val="48"/>
  <p:tag name="KSO_WM_UNIT_COLOR_SCHEME_PARENT_PAGE" val="0_5"/>
  <p:tag name="KSO_WM_UNIT_FILL_FORE_SCHEMECOLOR_INDEX" val="7"/>
  <p:tag name="KSO_WM_UNIT_FILL_TYPE" val="1"/>
  <p:tag name="KSO_WM_UNIT_LINE_FORE_SCHEMECOLOR_INDEX" val="14"/>
  <p:tag name="KSO_WM_UNIT_LINE_FILL_TYPE" val="2"/>
  <p:tag name="KSO_WM_UNIT_TEXT_FILL_FORE_SCHEMECOLOR_INDEX" val="2"/>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i*1_2_3_1"/>
  <p:tag name="KSO_WM_TEMPLATE_CATEGORY" val="diagram"/>
  <p:tag name="KSO_WM_TEMPLATE_INDEX" val="20188036"/>
  <p:tag name="KSO_WM_UNIT_LAYERLEVEL" val="1_1_1_1"/>
  <p:tag name="KSO_WM_TAG_VERSION" val="1.0"/>
  <p:tag name="KSO_WM_BEAUTIFY_FLAG" val="#wm#"/>
  <p:tag name="KSO_WM_UNIT_TYPE" val="n_h_h_i"/>
  <p:tag name="KSO_WM_UNIT_INDEX" val="1_2_3_1"/>
  <p:tag name="KSO_WM_UNIT_COLOR_SCHEME_SHAPE_ID" val="50"/>
  <p:tag name="KSO_WM_UNIT_COLOR_SCHEME_PARENT_PAGE" val="0_5"/>
  <p:tag name="KSO_WM_UNIT_DECOLORIZATION" val="1"/>
  <p:tag name="KSO_WM_UNIT_LINE_FORE_SCHEMECOLOR_INDEX" val="13"/>
  <p:tag name="KSO_WM_UNIT_LINE_FILL_TYPE" val="2"/>
</p:tagLst>
</file>

<file path=ppt/tags/tag111.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VALUE" val="3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188036_2*n_h_h_f*1_2_2_1"/>
  <p:tag name="KSO_WM_TEMPLATE_CATEGORY" val="diagram"/>
  <p:tag name="KSO_WM_TEMPLATE_INDEX" val="20188036"/>
  <p:tag name="KSO_WM_UNIT_LAYERLEVEL" val="1_1_1_1"/>
  <p:tag name="KSO_WM_TAG_VERSION" val="1.0"/>
  <p:tag name="KSO_WM_BEAUTIFY_FLAG" val="#wm#"/>
  <p:tag name="KSO_WM_UNIT_NOCLEAR" val="0"/>
  <p:tag name="KSO_WM_UNIT_COLOR_SCHEME_SHAPE_ID" val="54"/>
  <p:tag name="KSO_WM_UNIT_COLOR_SCHEME_PARENT_PAGE" val="0_5"/>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a*1_2_2_1"/>
  <p:tag name="KSO_WM_TEMPLATE_CATEGORY" val="diagram"/>
  <p:tag name="KSO_WM_TEMPLATE_INDEX" val="20188036"/>
  <p:tag name="KSO_WM_UNIT_LAYERLEVEL" val="1_1_1_1"/>
  <p:tag name="KSO_WM_TAG_VERSION" val="1.0"/>
  <p:tag name="KSO_WM_BEAUTIFY_FLAG" val="#wm#"/>
  <p:tag name="KSO_WM_UNIT_ISCONTENTSTITLE" val="0"/>
  <p:tag name="KSO_WM_UNIT_PRESET_TEXT" val="添加标题"/>
  <p:tag name="KSO_WM_UNIT_VALUE" val="10"/>
  <p:tag name="KSO_WM_UNIT_TYPE" val="n_h_h_a"/>
  <p:tag name="KSO_WM_UNIT_INDEX" val="1_2_2_1"/>
  <p:tag name="KSO_WM_UNIT_NOCLEAR" val="0"/>
  <p:tag name="KSO_WM_UNIT_COLOR_SCHEME_SHAPE_ID" val="55"/>
  <p:tag name="KSO_WM_UNIT_COLOR_SCHEME_PARENT_PAGE" val="0_5"/>
  <p:tag name="KSO_WM_UNIT_TEXT_FILL_FORE_SCHEMECOLOR_INDEX" val="6"/>
  <p:tag name="KSO_WM_UNIT_TEXT_FILL_TYPE" val="1"/>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i"/>
  <p:tag name="KSO_WM_UNIT_INDEX" val="1_1"/>
  <p:tag name="KSO_WM_UNIT_ID" val="diagram20188036_2*n_i*1_1"/>
  <p:tag name="KSO_WM_TEMPLATE_CATEGORY" val="diagram"/>
  <p:tag name="KSO_WM_TEMPLATE_INDEX" val="20188036"/>
  <p:tag name="KSO_WM_UNIT_LAYERLEVEL" val="1_1"/>
  <p:tag name="KSO_WM_TAG_VERSION" val="1.0"/>
  <p:tag name="KSO_WM_BEAUTIFY_FLAG" val="#wm#"/>
  <p:tag name="KSO_WM_UNIT_COLOR_SCHEME_SHAPE_ID" val="12"/>
  <p:tag name="KSO_WM_UNIT_COLOR_SCHEME_PARENT_PAGE" val="0_5"/>
  <p:tag name="KSO_WM_UNIT_DECOLORIZATION" val="1"/>
  <p:tag name="KSO_WM_UNIT_LINE_FORE_SCHEMECOLOR_INDEX" val="14"/>
  <p:tag name="KSO_WM_UNIT_LINE_FILL_TYPE" val="2"/>
</p:tagLst>
</file>

<file path=ppt/tags/tag11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3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i*1_5"/>
  <p:tag name="KSO_WM_TEMPLATE_CATEGORY" val="diagram"/>
  <p:tag name="KSO_WM_TEMPLATE_INDEX" val="20188036"/>
  <p:tag name="KSO_WM_UNIT_LAYERLEVEL" val="1_1"/>
  <p:tag name="KSO_WM_TAG_VERSION" val="1.0"/>
  <p:tag name="KSO_WM_BEAUTIFY_FLAG" val="#wm#"/>
  <p:tag name="KSO_WM_UNIT_TYPE" val="n_i"/>
  <p:tag name="KSO_WM_UNIT_INDEX" val="1_5"/>
  <p:tag name="KSO_WM_UNIT_COLOR_SCHEME_SHAPE_ID" val="42"/>
  <p:tag name="KSO_WM_UNIT_COLOR_SCHEME_PARENT_PAGE" val="0_5"/>
  <p:tag name="KSO_WM_UNIT_DECOLORIZATION" val="1"/>
  <p:tag name="KSO_WM_UNIT_LINE_FORE_SCHEMECOLOR_INDEX" val="13"/>
  <p:tag name="KSO_WM_UNIT_LINE_FILL_TYPE" val="2"/>
</p:tagLst>
</file>

<file path=ppt/tags/tag145.xml><?xml version="1.0" encoding="utf-8"?>
<p:tagLst xmlns:a="http://schemas.openxmlformats.org/drawingml/2006/main" xmlns:r="http://schemas.openxmlformats.org/officeDocument/2006/relationships" xmlns:p="http://schemas.openxmlformats.org/presentationml/2006/main">
  <p:tag name="KSO_WM_UNIT_ISCONTENTSTITLE" val="0"/>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188036_2*n_h_i*1_1_1"/>
  <p:tag name="KSO_WM_TEMPLATE_CATEGORY" val="diagram"/>
  <p:tag name="KSO_WM_TEMPLATE_INDEX" val="20188036"/>
  <p:tag name="KSO_WM_UNIT_LAYERLEVEL" val="1_1_1"/>
  <p:tag name="KSO_WM_TAG_VERSION" val="1.0"/>
  <p:tag name="KSO_WM_BEAUTIFY_FLAG" val="#wm#"/>
  <p:tag name="KSO_WM_UNIT_COLOR_SCHEME_SHAPE_ID" val="5"/>
  <p:tag name="KSO_WM_UNIT_COLOR_SCHEME_PARENT_PAGE" val="0_5"/>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VALUE" val="6"/>
  <p:tag name="KSO_WM_UNIT_HIGHLIGHT" val="0"/>
  <p:tag name="KSO_WM_UNIT_COMPATIBLE" val="0"/>
  <p:tag name="KSO_WM_UNIT_DIAGRAM_ISNUMVISUAL" val="0"/>
  <p:tag name="KSO_WM_UNIT_DIAGRAM_ISREFERUNIT" val="0"/>
  <p:tag name="KSO_WM_DIAGRAM_GROUP_CODE" val="n1-1"/>
  <p:tag name="KSO_WM_UNIT_TYPE" val="n_h_f"/>
  <p:tag name="KSO_WM_UNIT_INDEX" val="1_1_1"/>
  <p:tag name="KSO_WM_UNIT_ID" val="diagram20188036_2*n_h_f*1_1_1"/>
  <p:tag name="KSO_WM_TEMPLATE_CATEGORY" val="diagram"/>
  <p:tag name="KSO_WM_TEMPLATE_INDEX" val="20188036"/>
  <p:tag name="KSO_WM_UNIT_LAYERLEVEL" val="1_1_1"/>
  <p:tag name="KSO_WM_TAG_VERSION" val="1.0"/>
  <p:tag name="KSO_WM_BEAUTIFY_FLAG" val="#wm#"/>
  <p:tag name="KSO_WM_UNIT_NOCLEAR" val="0"/>
  <p:tag name="KSO_WM_UNIT_COLOR_SCHEME_SHAPE_ID" val="8"/>
  <p:tag name="KSO_WM_UNIT_COLOR_SCHEME_PARENT_PAGE" val="0_5"/>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i*1_2"/>
  <p:tag name="KSO_WM_TEMPLATE_CATEGORY" val="diagram"/>
  <p:tag name="KSO_WM_TEMPLATE_INDEX" val="20188036"/>
  <p:tag name="KSO_WM_UNIT_LAYERLEVEL" val="1_1"/>
  <p:tag name="KSO_WM_TAG_VERSION" val="1.0"/>
  <p:tag name="KSO_WM_BEAUTIFY_FLAG" val="#wm#"/>
  <p:tag name="KSO_WM_UNIT_TYPE" val="n_i"/>
  <p:tag name="KSO_WM_UNIT_INDEX" val="1_2"/>
  <p:tag name="KSO_WM_UNIT_COLOR_SCHEME_SHAPE_ID" val="63"/>
  <p:tag name="KSO_WM_UNIT_COLOR_SCHEME_PARENT_PAGE" val="0_5"/>
  <p:tag name="KSO_WM_UNIT_DECOLORIZATION" val="1"/>
  <p:tag name="KSO_WM_UNIT_LINE_FORE_SCHEMECOLOR_INDEX" val="13"/>
  <p:tag name="KSO_WM_UNIT_LINE_FILL_TYPE" val="2"/>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i*1_3"/>
  <p:tag name="KSO_WM_TEMPLATE_CATEGORY" val="diagram"/>
  <p:tag name="KSO_WM_TEMPLATE_INDEX" val="20188036"/>
  <p:tag name="KSO_WM_UNIT_LAYERLEVEL" val="1_1"/>
  <p:tag name="KSO_WM_TAG_VERSION" val="1.0"/>
  <p:tag name="KSO_WM_BEAUTIFY_FLAG" val="#wm#"/>
  <p:tag name="KSO_WM_UNIT_TYPE" val="n_i"/>
  <p:tag name="KSO_WM_UNIT_INDEX" val="1_3"/>
  <p:tag name="KSO_WM_UNIT_COLOR_SCHEME_SHAPE_ID" val="62"/>
  <p:tag name="KSO_WM_UNIT_COLOR_SCHEME_PARENT_PAGE" val="0_5"/>
  <p:tag name="KSO_WM_UNIT_DECOLORIZATION" val="1"/>
  <p:tag name="KSO_WM_UNIT_LINE_FORE_SCHEMECOLOR_INDEX" val="13"/>
  <p:tag name="KSO_WM_UNIT_LINE_FILL_TYPE" val="2"/>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i*1_4"/>
  <p:tag name="KSO_WM_TEMPLATE_CATEGORY" val="diagram"/>
  <p:tag name="KSO_WM_TEMPLATE_INDEX" val="20188036"/>
  <p:tag name="KSO_WM_UNIT_LAYERLEVEL" val="1_1"/>
  <p:tag name="KSO_WM_TAG_VERSION" val="1.0"/>
  <p:tag name="KSO_WM_BEAUTIFY_FLAG" val="#wm#"/>
  <p:tag name="KSO_WM_UNIT_TYPE" val="n_i"/>
  <p:tag name="KSO_WM_UNIT_INDEX" val="1_4"/>
  <p:tag name="KSO_WM_UNIT_COLOR_SCHEME_SHAPE_ID" val="61"/>
  <p:tag name="KSO_WM_UNIT_COLOR_SCHEME_PARENT_PAGE" val="0_5"/>
  <p:tag name="KSO_WM_UNIT_DECOLORIZATION" val="1"/>
  <p:tag name="KSO_WM_UNIT_LINE_FORE_SCHEMECOLOR_INDEX" val="13"/>
  <p:tag name="KSO_WM_UNIT_LINE_FILL_TYPE" val="2"/>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188036_2*n_h_h_i*1_2_1_2"/>
  <p:tag name="KSO_WM_TEMPLATE_CATEGORY" val="diagram"/>
  <p:tag name="KSO_WM_TEMPLATE_INDEX" val="20188036"/>
  <p:tag name="KSO_WM_UNIT_LAYERLEVEL" val="1_1_1_1"/>
  <p:tag name="KSO_WM_TAG_VERSION" val="1.0"/>
  <p:tag name="KSO_WM_BEAUTIFY_FLAG" val="#wm#"/>
  <p:tag name="KSO_WM_UNIT_COLOR_SCHEME_SHAPE_ID" val="18"/>
  <p:tag name="KSO_WM_UNIT_COLOR_SCHEME_PARENT_PAGE" val="0_5"/>
  <p:tag name="KSO_WM_UNIT_FILL_FORE_SCHEMECOLOR_INDEX" val="5"/>
  <p:tag name="KSO_WM_UNIT_FILL_TYPE" val="1"/>
  <p:tag name="KSO_WM_UNIT_LINE_FORE_SCHEMECOLOR_INDEX" val="14"/>
  <p:tag name="KSO_WM_UNIT_LINE_FILL_TYPE" val="2"/>
  <p:tag name="KSO_WM_UNIT_TEXT_FILL_FORE_SCHEMECOLOR_INDEX" val="2"/>
  <p:tag name="KSO_WM_UNIT_TEXT_FILL_TYPE" val="1"/>
</p:tagLst>
</file>

<file path=ppt/tags/tag151.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VALUE" val="3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188036_2*n_h_h_f*1_2_1_1"/>
  <p:tag name="KSO_WM_TEMPLATE_CATEGORY" val="diagram"/>
  <p:tag name="KSO_WM_TEMPLATE_INDEX" val="20188036"/>
  <p:tag name="KSO_WM_UNIT_LAYERLEVEL" val="1_1_1_1"/>
  <p:tag name="KSO_WM_TAG_VERSION" val="1.0"/>
  <p:tag name="KSO_WM_BEAUTIFY_FLAG" val="#wm#"/>
  <p:tag name="KSO_WM_UNIT_NOCLEAR" val="0"/>
  <p:tag name="KSO_WM_UNIT_COLOR_SCHEME_SHAPE_ID" val="26"/>
  <p:tag name="KSO_WM_UNIT_COLOR_SCHEME_PARENT_PAGE" val="0_5"/>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a*1_2_1_1"/>
  <p:tag name="KSO_WM_TEMPLATE_CATEGORY" val="diagram"/>
  <p:tag name="KSO_WM_TEMPLATE_INDEX" val="20188036"/>
  <p:tag name="KSO_WM_UNIT_LAYERLEVEL" val="1_1_1_1"/>
  <p:tag name="KSO_WM_TAG_VERSION" val="1.0"/>
  <p:tag name="KSO_WM_BEAUTIFY_FLAG" val="#wm#"/>
  <p:tag name="KSO_WM_UNIT_ISCONTENTSTITLE" val="0"/>
  <p:tag name="KSO_WM_UNIT_PRESET_TEXT" val="添加标题"/>
  <p:tag name="KSO_WM_UNIT_VALUE" val="10"/>
  <p:tag name="KSO_WM_UNIT_TYPE" val="n_h_h_a"/>
  <p:tag name="KSO_WM_UNIT_INDEX" val="1_2_1_1"/>
  <p:tag name="KSO_WM_UNIT_NOCLEAR" val="0"/>
  <p:tag name="KSO_WM_UNIT_COLOR_SCHEME_SHAPE_ID" val="7"/>
  <p:tag name="KSO_WM_UNIT_COLOR_SCHEME_PARENT_PAGE" val="0_5"/>
  <p:tag name="KSO_WM_UNIT_TEXT_FILL_FORE_SCHEMECOLOR_INDEX" val="5"/>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i*1_2_1_1"/>
  <p:tag name="KSO_WM_TEMPLATE_CATEGORY" val="diagram"/>
  <p:tag name="KSO_WM_TEMPLATE_INDEX" val="20188036"/>
  <p:tag name="KSO_WM_UNIT_LAYERLEVEL" val="1_1_1_1"/>
  <p:tag name="KSO_WM_TAG_VERSION" val="1.0"/>
  <p:tag name="KSO_WM_BEAUTIFY_FLAG" val="#wm#"/>
  <p:tag name="KSO_WM_UNIT_TYPE" val="n_h_h_i"/>
  <p:tag name="KSO_WM_UNIT_INDEX" val="1_2_1_1"/>
  <p:tag name="KSO_WM_UNIT_COLOR_SCHEME_SHAPE_ID" val="33"/>
  <p:tag name="KSO_WM_UNIT_COLOR_SCHEME_PARENT_PAGE" val="0_5"/>
  <p:tag name="KSO_WM_UNIT_DECOLORIZATION" val="1"/>
  <p:tag name="KSO_WM_UNIT_LINE_FORE_SCHEMECOLOR_INDEX" val="13"/>
  <p:tag name="KSO_WM_UNIT_LINE_FILL_TYPE" val="2"/>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188036_2*n_h_h_i*1_2_2_1"/>
  <p:tag name="KSO_WM_TEMPLATE_CATEGORY" val="diagram"/>
  <p:tag name="KSO_WM_TEMPLATE_INDEX" val="20188036"/>
  <p:tag name="KSO_WM_UNIT_LAYERLEVEL" val="1_1_1_1"/>
  <p:tag name="KSO_WM_TAG_VERSION" val="1.0"/>
  <p:tag name="KSO_WM_BEAUTIFY_FLAG" val="#wm#"/>
  <p:tag name="KSO_WM_UNIT_COLOR_SCHEME_SHAPE_ID" val="41"/>
  <p:tag name="KSO_WM_UNIT_COLOR_SCHEME_PARENT_PAGE" val="0_5"/>
  <p:tag name="KSO_WM_UNIT_FILL_FORE_SCHEMECOLOR_INDEX" val="6"/>
  <p:tag name="KSO_WM_UNIT_FILL_TYPE" val="1"/>
  <p:tag name="KSO_WM_UNIT_LINE_FORE_SCHEMECOLOR_INDEX" val="14"/>
  <p:tag name="KSO_WM_UNIT_LINE_FILL_TYPE" val="2"/>
  <p:tag name="KSO_WM_UNIT_TEXT_FILL_FORE_SCHEMECOLOR_INDEX" val="2"/>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i*1_2_2_2"/>
  <p:tag name="KSO_WM_TEMPLATE_CATEGORY" val="diagram"/>
  <p:tag name="KSO_WM_TEMPLATE_INDEX" val="20188036"/>
  <p:tag name="KSO_WM_UNIT_LAYERLEVEL" val="1_1_1_1"/>
  <p:tag name="KSO_WM_TAG_VERSION" val="1.0"/>
  <p:tag name="KSO_WM_BEAUTIFY_FLAG" val="#wm#"/>
  <p:tag name="KSO_WM_UNIT_TYPE" val="n_h_h_i"/>
  <p:tag name="KSO_WM_UNIT_INDEX" val="1_2_2_2"/>
  <p:tag name="KSO_WM_UNIT_COLOR_SCHEME_SHAPE_ID" val="43"/>
  <p:tag name="KSO_WM_UNIT_COLOR_SCHEME_PARENT_PAGE" val="0_5"/>
  <p:tag name="KSO_WM_UNIT_DECOLORIZATION" val="1"/>
  <p:tag name="KSO_WM_UNIT_LINE_FORE_SCHEMECOLOR_INDEX" val="13"/>
  <p:tag name="KSO_WM_UNIT_LINE_FILL_TYPE" val="2"/>
</p:tagLst>
</file>

<file path=ppt/tags/tag156.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VALUE" val="3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3_1"/>
  <p:tag name="KSO_WM_UNIT_ID" val="diagram20188036_2*n_h_h_f*1_2_3_1"/>
  <p:tag name="KSO_WM_TEMPLATE_CATEGORY" val="diagram"/>
  <p:tag name="KSO_WM_TEMPLATE_INDEX" val="20188036"/>
  <p:tag name="KSO_WM_UNIT_LAYERLEVEL" val="1_1_1_1"/>
  <p:tag name="KSO_WM_TAG_VERSION" val="1.0"/>
  <p:tag name="KSO_WM_BEAUTIFY_FLAG" val="#wm#"/>
  <p:tag name="KSO_WM_UNIT_NOCLEAR" val="0"/>
  <p:tag name="KSO_WM_UNIT_COLOR_SCHEME_SHAPE_ID" val="44"/>
  <p:tag name="KSO_WM_UNIT_COLOR_SCHEME_PARENT_PAGE" val="0_5"/>
  <p:tag name="KSO_WM_UNIT_TEXT_FILL_FORE_SCHEMECOLOR_INDEX" val="13"/>
  <p:tag name="KSO_WM_UNIT_TEXT_FILL_TYPE" val="1"/>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a*1_2_3_1"/>
  <p:tag name="KSO_WM_TEMPLATE_CATEGORY" val="diagram"/>
  <p:tag name="KSO_WM_TEMPLATE_INDEX" val="20188036"/>
  <p:tag name="KSO_WM_UNIT_LAYERLEVEL" val="1_1_1_1"/>
  <p:tag name="KSO_WM_TAG_VERSION" val="1.0"/>
  <p:tag name="KSO_WM_BEAUTIFY_FLAG" val="#wm#"/>
  <p:tag name="KSO_WM_UNIT_ISCONTENTSTITLE" val="0"/>
  <p:tag name="KSO_WM_UNIT_PRESET_TEXT" val="添加标题"/>
  <p:tag name="KSO_WM_UNIT_VALUE" val="10"/>
  <p:tag name="KSO_WM_UNIT_TYPE" val="n_h_h_a"/>
  <p:tag name="KSO_WM_UNIT_INDEX" val="1_2_3_1"/>
  <p:tag name="KSO_WM_UNIT_NOCLEAR" val="0"/>
  <p:tag name="KSO_WM_UNIT_COLOR_SCHEME_SHAPE_ID" val="45"/>
  <p:tag name="KSO_WM_UNIT_COLOR_SCHEME_PARENT_PAGE" val="0_5"/>
  <p:tag name="KSO_WM_UNIT_TEXT_FILL_FORE_SCHEMECOLOR_INDEX" val="7"/>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3"/>
  <p:tag name="KSO_WM_UNIT_ID" val="diagram20188036_2*n_h_h_i*1_2_3_3"/>
  <p:tag name="KSO_WM_TEMPLATE_CATEGORY" val="diagram"/>
  <p:tag name="KSO_WM_TEMPLATE_INDEX" val="20188036"/>
  <p:tag name="KSO_WM_UNIT_LAYERLEVEL" val="1_1_1_1"/>
  <p:tag name="KSO_WM_TAG_VERSION" val="1.0"/>
  <p:tag name="KSO_WM_BEAUTIFY_FLAG" val="#wm#"/>
  <p:tag name="KSO_WM_UNIT_COLOR_SCHEME_SHAPE_ID" val="48"/>
  <p:tag name="KSO_WM_UNIT_COLOR_SCHEME_PARENT_PAGE" val="0_5"/>
  <p:tag name="KSO_WM_UNIT_FILL_FORE_SCHEMECOLOR_INDEX" val="7"/>
  <p:tag name="KSO_WM_UNIT_FILL_TYPE" val="1"/>
  <p:tag name="KSO_WM_UNIT_LINE_FORE_SCHEMECOLOR_INDEX" val="14"/>
  <p:tag name="KSO_WM_UNIT_LINE_FILL_TYPE" val="2"/>
  <p:tag name="KSO_WM_UNIT_TEXT_FILL_FORE_SCHEMECOLOR_INDEX" val="2"/>
  <p:tag name="KSO_WM_UNIT_TEXT_FILL_TYPE" val="1"/>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i*1_2_3_1"/>
  <p:tag name="KSO_WM_TEMPLATE_CATEGORY" val="diagram"/>
  <p:tag name="KSO_WM_TEMPLATE_INDEX" val="20188036"/>
  <p:tag name="KSO_WM_UNIT_LAYERLEVEL" val="1_1_1_1"/>
  <p:tag name="KSO_WM_TAG_VERSION" val="1.0"/>
  <p:tag name="KSO_WM_BEAUTIFY_FLAG" val="#wm#"/>
  <p:tag name="KSO_WM_UNIT_TYPE" val="n_h_h_i"/>
  <p:tag name="KSO_WM_UNIT_INDEX" val="1_2_3_1"/>
  <p:tag name="KSO_WM_UNIT_COLOR_SCHEME_SHAPE_ID" val="50"/>
  <p:tag name="KSO_WM_UNIT_COLOR_SCHEME_PARENT_PAGE" val="0_5"/>
  <p:tag name="KSO_WM_UNIT_DECOLORIZATION" val="1"/>
  <p:tag name="KSO_WM_UNIT_LINE_FORE_SCHEMECOLOR_INDEX" val="13"/>
  <p:tag name="KSO_WM_UNIT_LINE_FILL_TYPE" val="2"/>
</p:tagLst>
</file>

<file path=ppt/tags/tag160.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
  <p:tag name="KSO_WM_UNIT_VALUE" val="3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188036_2*n_h_h_f*1_2_2_1"/>
  <p:tag name="KSO_WM_TEMPLATE_CATEGORY" val="diagram"/>
  <p:tag name="KSO_WM_TEMPLATE_INDEX" val="20188036"/>
  <p:tag name="KSO_WM_UNIT_LAYERLEVEL" val="1_1_1_1"/>
  <p:tag name="KSO_WM_TAG_VERSION" val="1.0"/>
  <p:tag name="KSO_WM_BEAUTIFY_FLAG" val="#wm#"/>
  <p:tag name="KSO_WM_UNIT_NOCLEAR" val="0"/>
  <p:tag name="KSO_WM_UNIT_COLOR_SCHEME_SHAPE_ID" val="54"/>
  <p:tag name="KSO_WM_UNIT_COLOR_SCHEME_PARENT_PAGE" val="0_5"/>
  <p:tag name="KSO_WM_UNIT_TEXT_FILL_FORE_SCHEMECOLOR_INDEX" val="13"/>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88036_2*n_h_h_a*1_2_2_1"/>
  <p:tag name="KSO_WM_TEMPLATE_CATEGORY" val="diagram"/>
  <p:tag name="KSO_WM_TEMPLATE_INDEX" val="20188036"/>
  <p:tag name="KSO_WM_UNIT_LAYERLEVEL" val="1_1_1_1"/>
  <p:tag name="KSO_WM_TAG_VERSION" val="1.0"/>
  <p:tag name="KSO_WM_BEAUTIFY_FLAG" val="#wm#"/>
  <p:tag name="KSO_WM_UNIT_ISCONTENTSTITLE" val="0"/>
  <p:tag name="KSO_WM_UNIT_PRESET_TEXT" val="添加标题"/>
  <p:tag name="KSO_WM_UNIT_VALUE" val="10"/>
  <p:tag name="KSO_WM_UNIT_TYPE" val="n_h_h_a"/>
  <p:tag name="KSO_WM_UNIT_INDEX" val="1_2_2_1"/>
  <p:tag name="KSO_WM_UNIT_NOCLEAR" val="0"/>
  <p:tag name="KSO_WM_UNIT_COLOR_SCHEME_SHAPE_ID" val="55"/>
  <p:tag name="KSO_WM_UNIT_COLOR_SCHEME_PARENT_PAGE" val="0_5"/>
  <p:tag name="KSO_WM_UNIT_TEXT_FILL_FORE_SCHEMECOLOR_INDEX" val="6"/>
  <p:tag name="KSO_WM_UNIT_TEXT_FILL_TYPE" val="1"/>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i"/>
  <p:tag name="KSO_WM_UNIT_INDEX" val="1_1"/>
  <p:tag name="KSO_WM_UNIT_ID" val="diagram20188036_2*n_i*1_1"/>
  <p:tag name="KSO_WM_TEMPLATE_CATEGORY" val="diagram"/>
  <p:tag name="KSO_WM_TEMPLATE_INDEX" val="20188036"/>
  <p:tag name="KSO_WM_UNIT_LAYERLEVEL" val="1_1"/>
  <p:tag name="KSO_WM_TAG_VERSION" val="1.0"/>
  <p:tag name="KSO_WM_BEAUTIFY_FLAG" val="#wm#"/>
  <p:tag name="KSO_WM_UNIT_COLOR_SCHEME_SHAPE_ID" val="12"/>
  <p:tag name="KSO_WM_UNIT_COLOR_SCHEME_PARENT_PAGE" val="0_5"/>
  <p:tag name="KSO_WM_UNIT_DECOLORIZATION" val="1"/>
  <p:tag name="KSO_WM_UNIT_LINE_FORE_SCHEMECOLOR_INDEX" val="14"/>
  <p:tag name="KSO_WM_UNIT_LINE_FILL_TYPE" val="2"/>
</p:tagLst>
</file>

<file path=ppt/tags/tag163.xml><?xml version="1.0" encoding="utf-8"?>
<p:tagLst xmlns:a="http://schemas.openxmlformats.org/drawingml/2006/main" xmlns:r="http://schemas.openxmlformats.org/officeDocument/2006/relationships" xmlns:p="http://schemas.openxmlformats.org/presentationml/2006/main">
  <p:tag name="KSO_WM_SLIDE_ID" val="diagram20208726_1"/>
  <p:tag name="KSO_WM_TEMPLATE_SUBCATEGORY" val="21"/>
  <p:tag name="KSO_WM_SLIDE_TYPE" val="text"/>
  <p:tag name="KSO_WM_SLIDE_SUBTYPE" val="picTxt"/>
  <p:tag name="KSO_WM_SLIDE_ITEM_CNT" val="0"/>
  <p:tag name="KSO_WM_SLIDE_INDEX" val="1"/>
  <p:tag name="KSO_WM_SLIDE_SIZE" val="960*507"/>
  <p:tag name="KSO_WM_SLIDE_POSITION" val="0*33"/>
  <p:tag name="KSO_WM_TAG_VERSION" val="1.0"/>
  <p:tag name="KSO_WM_BEAUTIFY_FLAG" val="#wm#"/>
  <p:tag name="KSO_WM_TEMPLATE_CATEGORY" val="diagram"/>
  <p:tag name="KSO_WM_TEMPLATE_INDEX" val="20208726"/>
  <p:tag name="KSO_WM_SLIDE_LAYOUT" val="a_d"/>
  <p:tag name="KSO_WM_SLIDE_LAYOUT_CNT" val="1_1"/>
  <p:tag name="KSO_WM_TEMPLATE_MASTER_TYPE" val="0"/>
  <p:tag name="KSO_WM_TEMPLATE_COLOR_TYPE" val="1"/>
  <p:tag name="KSO_WM_SLIDE_LAYOUT_INFO" val="{&quot;backgroundInfo&quot;:[{&quot;bottom&quot;:0,&quot;bottomAbs&quot;:false,&quot;left&quot;:0,&quot;leftAbs&quot;:false,&quot;right&quot;:0,&quot;rightAbs&quot;:false,&quot;top&quot;:0,&quot;topAbs&quot;:false,&quot;type&quot;:&quot;general&quot;}],&quot;id&quot;:&quot;2020-06-26T09:50:13&quot;,&quot;maxSize&quot;:{&quot;size1&quot;:31.395491917928059},&quot;minSize&quot;:{&quot;size1&quot;:22.49549191792806},&quot;normalSize&quot;:{&quot;size1&quot;:25.769493307844115},&quot;subLayout&quot;:[{&quot;id&quot;:&quot;2020-06-26T09:50:13&quot;,&quot;margin&quot;:{&quot;bottom&quot;:0.42300000786781311,&quot;left&quot;:5.5029997825622559,&quot;right&quot;:5.5029997825622559,&quot;top&quot;:2.9630000591278076},&quot;type&quot;:0},{&quot;id&quot;:&quot;2020-06-26T09:50:13&quot;,&quot;margin&quot;:{&quot;bottom&quot;:2.5399999618530273,&quot;left&quot;:5.5029997825622559,&quot;right&quot;:5.5029997825622559,&quot;top&quot;:2.1170001029968262},&quot;type&quot;:0}],&quot;type&quot;:0}"/>
  <p:tag name="KSO_WM_SLIDE_BACKGROUND" val="[&quot;general&quot;]"/>
  <p:tag name="KSO_WM_SLIDE_RATIO" val="1.777778"/>
  <p:tag name="KSO_WM_CHIP_INFOS" val="{&quot;layout_type&quot;:&quot;topbottom&quot;,&quot;tags&quot;:{&quot;style&quot;:[&quot;商务&quot;,&quot;简约&quot;,&quot;文艺清新&quot;,&quot;中国风&quot;,&quot;卡通&quot;,&quot;欧美风&quot;,&quot;黑板风&quot;,&quot;渐变风&quot;,&quot;党政风&quot;]},&quot;slide_type&quot;:[&quot;text&quot;],&quot;aspect_ratio&quot;:&quot;16:9&quot;}"/>
  <p:tag name="KSO_WM_CHIP_FILLPROP" val="[[{&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lm&quot;,&quot;text_direction&quot;:&quot;horizontal&quot;,&quot;chip_types&quot;:[&quot;text&quot;]}],[{&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cm&quot;,&quot;text_direction&quot;:&quot;horizontal&quot;,&quot;chip_types&quot;:[&quot;diagram&quot;,&quot;pictext&quot;,&quot;picture&quot;,&quot;chart&quot;,&quot;table&quot;,&quot;video&quot;]}]]"/>
  <p:tag name="KSO_WM_CHIP_XID" val="5ef16cf55bb2a422ac9a2b3a"/>
  <p:tag name="KSO_WM_CHIP_GROUPID" val="5ef16cf55bb2a422ac9a2b39"/>
  <p:tag name="KSO_WM_SLIDE_BK_DARK_LIGHT" val="2"/>
  <p:tag name="KSO_WM_SLIDE_BACKGROUND_TYPE" val="general"/>
  <p:tag name="KSO_WM_SLIDE_SUPPORT_FEATURE_TYPE" val="0"/>
  <p:tag name="KSO_WM_TEMPLATE_ASSEMBLE_XID" val="5ef55454ea5a3ac527a189e3"/>
  <p:tag name="KSO_WM_TEMPLATE_ASSEMBLE_GROUPID" val="5ef55454ea5a3ac527a189e3"/>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8726_1*i*1"/>
  <p:tag name="KSO_WM_TEMPLATE_CATEGORY" val="diagram"/>
  <p:tag name="KSO_WM_TEMPLATE_INDEX" val="20208726"/>
  <p:tag name="KSO_WM_UNIT_LAYERLEVEL" val="1"/>
  <p:tag name="KSO_WM_TAG_VERSION" val="1.0"/>
  <p:tag name="KSO_WM_BEAUTIFY_FLAG" val="#wm#"/>
  <p:tag name="KSO_WM_UNIT_BLOCK" val="0"/>
  <p:tag name="KSO_WM_UNIT_SM_LIMIT_TYPE" val="1"/>
  <p:tag name="KSO_WM_UNIT_DEC_AREA_ID" val="869a47cc434a46408bb65052c05f2790"/>
  <p:tag name="KSO_WM_UNIT_DECORATE_INFO" val="{&quot;ReferentInfo&quot;:{&quot;X&quot;:{&quot;Pos&quot;:0},&quot;Y&quot;:{&quot;Pos&quot;:0}},&quot;DecorateInfoX&quot;:{&quot;Pos&quot;:0,&quot;IsAbs&quot;:false},&quot;DecorateInfoY&quot;:{&quot;Pos&quot;:0,&quot;IsAbs&quot;:false},&quot;DecorateInfoW&quot;:{&quot;IsAbs&quot;:true},&quot;DecorateInfoH&quot;:{&quot;IsAbs&quot;:true}}"/>
  <p:tag name="KSO_WM_CHIP_GROUPID" val="5ef16cf55bb2a422ac9a2b39"/>
  <p:tag name="KSO_WM_CHIP_XID" val="5ef16cf55bb2a422ac9a2b3a"/>
  <p:tag name="KSO_WM_UNIT_FILL_FORE_SCHEMECOLOR_INDEX_BRIGHTNESS" val="0"/>
  <p:tag name="KSO_WM_UNIT_FILL_FORE_SCHEMECOLOR_INDEX" val="15"/>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2"/>
  <p:tag name="KSO_WM_UNIT_TEXT_FILL_TYPE" val="1"/>
  <p:tag name="KSO_WM_UNIT_VALUE" val="477"/>
  <p:tag name="KSO_WM_TEMPLATE_ASSEMBLE_XID" val="5ef55454ea5a3ac527a189e3"/>
  <p:tag name="KSO_WM_TEMPLATE_ASSEMBLE_GROUPID" val="5ef55454ea5a3ac527a189e3"/>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8726_1*i*2"/>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c4ce87efa6da456eba5f87ab75ba3aa6"/>
  <p:tag name="KSO_WM_UNIT_DECORATE_INFO" val="{&quot;DecorateInfoH&quot;:{&quot;IsAbs&quot;:true},&quot;DecorateInfoW&quot;:{&quot;IsAbs&quot;:true},&quot;DecorateInfoX&quot;:{&quot;IsAbs&quot;:true,&quot;Pos&quot;:1},&quot;DecorateInfoY&quot;:{&quot;IsAbs&quot;:true,&quot;Pos&quot;:1},&quot;ReferentInfo&quot;:{&quot;Id&quot;:&quot;6618fb3c5f874e68a20589c3b602507e&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114"/>
  <p:tag name="KSO_WM_TEMPLATE_ASSEMBLE_XID" val="5ef55454ea5a3ac527a189e3"/>
  <p:tag name="KSO_WM_TEMPLATE_ASSEMBLE_GROUPID" val="5ef55454ea5a3ac527a189e3"/>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8726_1*i*7"/>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bcde86d968184e51b1cbdb20e2dfff00"/>
  <p:tag name="KSO_WM_UNIT_DECORATE_INFO" val="{&quot;DecorateInfoH&quot;:{&quot;IsAbs&quot;:true},&quot;DecorateInfoW&quot;:{&quot;IsAbs&quot;:true},&quot;DecorateInfoX&quot;:{&quot;IsAbs&quot;:true,&quot;Pos&quot;:1},&quot;DecorateInfoY&quot;:{&quot;IsAbs&quot;:true,&quot;Pos&quot;:1},&quot;ReferentInfo&quot;:{&quot;Id&quot;:&quot;2a0b84ff2b9a4700b2ebecd3d5d2b889&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380"/>
  <p:tag name="KSO_WM_TEMPLATE_ASSEMBLE_XID" val="5ef55454ea5a3ac527a189e3"/>
  <p:tag name="KSO_WM_TEMPLATE_ASSEMBLE_GROUPID" val="5ef55454ea5a3ac527a189e3"/>
</p:tagLst>
</file>

<file path=ppt/tags/tag16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08726_1*a*1"/>
  <p:tag name="KSO_WM_TEMPLATE_CATEGORY" val="diagram"/>
  <p:tag name="KSO_WM_TEMPLATE_INDEX" val="20208726"/>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18fb3c5f874e68a20589c3b602507e"/>
  <p:tag name="KSO_WM_ASSEMBLE_CHIP_INDEX" val="cf455a0210784292bf56397ada7cc389"/>
  <p:tag name="KSO_WM_UNIT_TEXT_FILL_FORE_SCHEMECOLOR_INDEX_BRIGHTNESS" val="0"/>
  <p:tag name="KSO_WM_UNIT_TEXT_FILL_FORE_SCHEMECOLOR_INDEX" val="13"/>
  <p:tag name="KSO_WM_UNIT_TEXT_FILL_TYPE" val="1"/>
  <p:tag name="KSO_WM_TEMPLATE_ASSEMBLE_XID" val="5ef55454ea5a3ac527a189e3"/>
  <p:tag name="KSO_WM_TEMPLATE_ASSEMBLE_GROUPID" val="5ef55454ea5a3ac527a189e3"/>
  <p:tag name="KSO_WM_UNIT_SMARTLAYOUT_COMPRESS_INFO" val="{&#10;    &quot;id&quot;: &quot;2020-06-26T09:50:13&quot;,&#10;    &quot;max&quot;: 9.9359201546418774,&#10;    &quot;parentMax&quot;: {&#10;        &quot;max&quot;: 2.3390404752793827&#10;    },&#10;    &quot;topChanged&quot;: 9.889445190429683&#10;}&#10;"/>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10129_4*l_h_i*1_2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9da7e6ec43e4feb9298f18bea997348"/>
  <p:tag name="KSO_WM_UNIT_DECORATE_INFO" val="{&quot;DecorateInfoH&quot;:{&quot;IsAbs&quot;:true},&quot;DecorateInfoW&quot;:{&quot;IsAbs&quot;:true},&quot;DecorateInfoX&quot;:{&quot;IsAbs&quot;:true,&quot;Pos&quot;:1},&quot;DecorateInfoY&quot;:{&quot;IsAbs&quot;:true,&quot;Pos&quot;:1},&quot;ReferentInfo&quot;:{&quot;Id&quot;:&quot;b59d62ad1efa49a7814a432af9fe78d0&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16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2_1"/>
  <p:tag name="KSO_WM_UNIT_ID" val="diagram20210129_4*l_h_f*1_2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34b132e5c4a443288f0a499a2a868f21"/>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59d62ad1efa49a7814a432af9fe78d0"/>
  <p:tag name="KSO_WM_UNIT_DECORATE_INFO" val="{&quot;DecorateInfoH&quot;:{&quot;IsAbs&quot;:true},&quot;DecorateInfoW&quot;:{&quot;IsAbs&quot;:true},&quot;DecorateInfoX&quot;:{&quot;IsAbs&quot;:true,&quot;Pos&quot;:1},&quot;DecorateInfoY&quot;:{&quot;IsAbs&quot;:true,&quot;Pos&quot;:2},&quot;ReferentInfo&quot;:{&quot;Id&quot;:&quot;34b132e5c4a443288f0a499a2a868f21&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0d7a2d2c86d4c9db8b4a0d9151012cf"/>
  <p:tag name="KSO_WM_UNIT_DECORATE_INFO" val="{&quot;DecorateInfoH&quot;:{&quot;IsAbs&quot;:true},&quot;DecorateInfoW&quot;:{&quot;IsAbs&quot;:true},&quot;DecorateInfoX&quot;:{&quot;IsAbs&quot;:true,&quot;Pos&quot;:2},&quot;DecorateInfoY&quot;:{&quot;IsAbs&quot;:true,&quot;Pos&quot;:1},&quot;ReferentInfo&quot;:{&quot;Id&quot;:&quot;b59d62ad1efa49a7814a432af9fe78d0&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20210129_4*l_h_i*1_3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6081f06af7546549cd304a627ac5bf6"/>
  <p:tag name="KSO_WM_UNIT_DECORATE_INFO" val="{&quot;DecorateInfoH&quot;:{&quot;IsAbs&quot;:true},&quot;DecorateInfoW&quot;:{&quot;IsAbs&quot;:true},&quot;DecorateInfoX&quot;:{&quot;IsAbs&quot;:true,&quot;Pos&quot;:1},&quot;DecorateInfoY&quot;:{&quot;IsAbs&quot;:true,&quot;Pos&quot;:1},&quot;ReferentInfo&quot;:{&quot;Id&quot;:&quot;7c5b9ba033db4be7921036f8d9ac71fa&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17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3_1"/>
  <p:tag name="KSO_WM_UNIT_ID" val="diagram20210129_4*l_h_f*1_3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9139da38a7254bbdae206e7c3badbfdc"/>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c5b9ba033db4be7921036f8d9ac71fa"/>
  <p:tag name="KSO_WM_UNIT_DECORATE_INFO" val="{&quot;DecorateInfoH&quot;:{&quot;IsAbs&quot;:true},&quot;DecorateInfoW&quot;:{&quot;IsAbs&quot;:true},&quot;DecorateInfoX&quot;:{&quot;IsAbs&quot;:true,&quot;Pos&quot;:1},&quot;DecorateInfoY&quot;:{&quot;IsAbs&quot;:true,&quot;Pos&quot;:2},&quot;ReferentInfo&quot;:{&quot;Id&quot;:&quot;9139da38a7254bbdae206e7c3badbfdc&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ec820f4b29364f0d9126a1b5fe20d73d"/>
  <p:tag name="KSO_WM_UNIT_DECORATE_INFO" val="{&quot;DecorateInfoH&quot;:{&quot;IsAbs&quot;:true},&quot;DecorateInfoW&quot;:{&quot;IsAbs&quot;:true},&quot;DecorateInfoX&quot;:{&quot;IsAbs&quot;:true,&quot;Pos&quot;:2},&quot;DecorateInfoY&quot;:{&quot;IsAbs&quot;:true,&quot;Pos&quot;:1},&quot;ReferentInfo&quot;:{&quot;Id&quot;:&quot;7c5b9ba033db4be7921036f8d9ac71fa&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1"/>
  <p:tag name="KSO_WM_UNIT_ID" val="diagram20210129_4*l_h_i*1_4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39c131c2df22469293f4eda4cafa0add"/>
  <p:tag name="KSO_WM_UNIT_DECORATE_INFO" val="{&quot;DecorateInfoH&quot;:{&quot;IsAbs&quot;:true},&quot;DecorateInfoW&quot;:{&quot;IsAbs&quot;:true},&quot;DecorateInfoX&quot;:{&quot;IsAbs&quot;:true,&quot;Pos&quot;:1},&quot;DecorateInfoY&quot;:{&quot;IsAbs&quot;:true,&quot;Pos&quot;:1},&quot;ReferentInfo&quot;:{&quot;Id&quot;:&quot;7727769e63484bff8316e642df87776f&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4_1"/>
  <p:tag name="KSO_WM_UNIT_ID" val="diagram20210129_4*l_h_f*1_4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74d740d563994c26aa1d5848c3fc10f8"/>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727769e63484bff8316e642df87776f"/>
  <p:tag name="KSO_WM_UNIT_DECORATE_INFO" val="{&quot;DecorateInfoH&quot;:{&quot;IsAbs&quot;:true},&quot;DecorateInfoW&quot;:{&quot;IsAbs&quot;:true},&quot;DecorateInfoX&quot;:{&quot;IsAbs&quot;:true,&quot;Pos&quot;:1},&quot;DecorateInfoY&quot;:{&quot;IsAbs&quot;:true,&quot;Pos&quot;:2},&quot;ReferentInfo&quot;:{&quot;Id&quot;:&quot;74d740d563994c26aa1d5848c3fc10f8&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268b2bc951b4a15b816214d5589381a"/>
  <p:tag name="KSO_WM_UNIT_DECORATE_INFO" val="{&quot;DecorateInfoH&quot;:{&quot;IsAbs&quot;:true},&quot;DecorateInfoW&quot;:{&quot;IsAbs&quot;:true},&quot;DecorateInfoX&quot;:{&quot;IsAbs&quot;:true,&quot;Pos&quot;:2},&quot;DecorateInfoY&quot;:{&quot;IsAbs&quot;:true,&quot;Pos&quot;:1},&quot;ReferentInfo&quot;:{&quot;Id&quot;:&quot;7727769e63484bff8316e642df87776f&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185.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188.xml><?xml version="1.0" encoding="utf-8"?>
<p:tagLst xmlns:a="http://schemas.openxmlformats.org/drawingml/2006/main" xmlns:r="http://schemas.openxmlformats.org/officeDocument/2006/relationships" xmlns:p="http://schemas.openxmlformats.org/presentationml/2006/main">
  <p:tag name="KSO_WM_SLIDE_ID" val="diagram20208726_1"/>
  <p:tag name="KSO_WM_TEMPLATE_SUBCATEGORY" val="21"/>
  <p:tag name="KSO_WM_SLIDE_TYPE" val="text"/>
  <p:tag name="KSO_WM_SLIDE_SUBTYPE" val="picTxt"/>
  <p:tag name="KSO_WM_SLIDE_ITEM_CNT" val="0"/>
  <p:tag name="KSO_WM_SLIDE_INDEX" val="1"/>
  <p:tag name="KSO_WM_SLIDE_SIZE" val="960*507"/>
  <p:tag name="KSO_WM_SLIDE_POSITION" val="0*33"/>
  <p:tag name="KSO_WM_TAG_VERSION" val="1.0"/>
  <p:tag name="KSO_WM_BEAUTIFY_FLAG" val="#wm#"/>
  <p:tag name="KSO_WM_TEMPLATE_CATEGORY" val="diagram"/>
  <p:tag name="KSO_WM_TEMPLATE_INDEX" val="20208726"/>
  <p:tag name="KSO_WM_SLIDE_LAYOUT" val="a_d"/>
  <p:tag name="KSO_WM_SLIDE_LAYOUT_CNT" val="1_1"/>
  <p:tag name="KSO_WM_TEMPLATE_MASTER_TYPE" val="0"/>
  <p:tag name="KSO_WM_TEMPLATE_COLOR_TYPE" val="1"/>
  <p:tag name="KSO_WM_SLIDE_LAYOUT_INFO" val="{&quot;backgroundInfo&quot;:[{&quot;bottom&quot;:0,&quot;bottomAbs&quot;:false,&quot;left&quot;:0,&quot;leftAbs&quot;:false,&quot;right&quot;:0,&quot;rightAbs&quot;:false,&quot;top&quot;:0,&quot;topAbs&quot;:false,&quot;type&quot;:&quot;general&quot;}],&quot;id&quot;:&quot;2020-06-26T09:50:13&quot;,&quot;maxSize&quot;:{&quot;size1&quot;:31.395491917928059},&quot;minSize&quot;:{&quot;size1&quot;:22.49549191792806},&quot;normalSize&quot;:{&quot;size1&quot;:25.769493307844115},&quot;subLayout&quot;:[{&quot;id&quot;:&quot;2020-06-26T09:50:13&quot;,&quot;margin&quot;:{&quot;bottom&quot;:0.42300000786781311,&quot;left&quot;:5.5029997825622559,&quot;right&quot;:5.5029997825622559,&quot;top&quot;:2.9630000591278076},&quot;type&quot;:0},{&quot;id&quot;:&quot;2020-06-26T09:50:13&quot;,&quot;margin&quot;:{&quot;bottom&quot;:2.5399999618530273,&quot;left&quot;:5.5029997825622559,&quot;right&quot;:5.5029997825622559,&quot;top&quot;:2.1170001029968262},&quot;type&quot;:0}],&quot;type&quot;:0}"/>
  <p:tag name="KSO_WM_SLIDE_BACKGROUND" val="[&quot;general&quot;]"/>
  <p:tag name="KSO_WM_SLIDE_RATIO" val="1.777778"/>
  <p:tag name="KSO_WM_CHIP_INFOS" val="{&quot;layout_type&quot;:&quot;topbottom&quot;,&quot;tags&quot;:{&quot;style&quot;:[&quot;商务&quot;,&quot;简约&quot;,&quot;文艺清新&quot;,&quot;中国风&quot;,&quot;卡通&quot;,&quot;欧美风&quot;,&quot;黑板风&quot;,&quot;渐变风&quot;,&quot;党政风&quot;]},&quot;slide_type&quot;:[&quot;text&quot;],&quot;aspect_ratio&quot;:&quot;16:9&quot;}"/>
  <p:tag name="KSO_WM_CHIP_FILLPROP" val="[[{&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lm&quot;,&quot;text_direction&quot;:&quot;horizontal&quot;,&quot;chip_types&quot;:[&quot;text&quot;]}],[{&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cm&quot;,&quot;text_direction&quot;:&quot;horizontal&quot;,&quot;chip_types&quot;:[&quot;diagram&quot;,&quot;pictext&quot;,&quot;picture&quot;,&quot;chart&quot;,&quot;table&quot;,&quot;video&quot;]}]]"/>
  <p:tag name="KSO_WM_CHIP_XID" val="5ef16cf55bb2a422ac9a2b3a"/>
  <p:tag name="KSO_WM_CHIP_GROUPID" val="5ef16cf55bb2a422ac9a2b39"/>
  <p:tag name="KSO_WM_SLIDE_BK_DARK_LIGHT" val="2"/>
  <p:tag name="KSO_WM_SLIDE_BACKGROUND_TYPE" val="general"/>
  <p:tag name="KSO_WM_SLIDE_SUPPORT_FEATURE_TYPE" val="0"/>
  <p:tag name="KSO_WM_TEMPLATE_ASSEMBLE_XID" val="5ef55454ea5a3ac527a189e3"/>
  <p:tag name="KSO_WM_TEMPLATE_ASSEMBLE_GROUPID" val="5ef55454ea5a3ac527a189e3"/>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8726_1*i*1"/>
  <p:tag name="KSO_WM_TEMPLATE_CATEGORY" val="diagram"/>
  <p:tag name="KSO_WM_TEMPLATE_INDEX" val="20208726"/>
  <p:tag name="KSO_WM_UNIT_LAYERLEVEL" val="1"/>
  <p:tag name="KSO_WM_TAG_VERSION" val="1.0"/>
  <p:tag name="KSO_WM_BEAUTIFY_FLAG" val="#wm#"/>
  <p:tag name="KSO_WM_UNIT_BLOCK" val="0"/>
  <p:tag name="KSO_WM_UNIT_SM_LIMIT_TYPE" val="1"/>
  <p:tag name="KSO_WM_UNIT_DEC_AREA_ID" val="869a47cc434a46408bb65052c05f2790"/>
  <p:tag name="KSO_WM_UNIT_DECORATE_INFO" val="{&quot;ReferentInfo&quot;:{&quot;X&quot;:{&quot;Pos&quot;:0},&quot;Y&quot;:{&quot;Pos&quot;:0}},&quot;DecorateInfoX&quot;:{&quot;Pos&quot;:0,&quot;IsAbs&quot;:false},&quot;DecorateInfoY&quot;:{&quot;Pos&quot;:0,&quot;IsAbs&quot;:false},&quot;DecorateInfoW&quot;:{&quot;IsAbs&quot;:true},&quot;DecorateInfoH&quot;:{&quot;IsAbs&quot;:true}}"/>
  <p:tag name="KSO_WM_CHIP_GROUPID" val="5ef16cf55bb2a422ac9a2b39"/>
  <p:tag name="KSO_WM_CHIP_XID" val="5ef16cf55bb2a422ac9a2b3a"/>
  <p:tag name="KSO_WM_UNIT_FILL_FORE_SCHEMECOLOR_INDEX_BRIGHTNESS" val="0"/>
  <p:tag name="KSO_WM_UNIT_FILL_FORE_SCHEMECOLOR_INDEX" val="15"/>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2"/>
  <p:tag name="KSO_WM_UNIT_TEXT_FILL_TYPE" val="1"/>
  <p:tag name="KSO_WM_UNIT_VALUE" val="477"/>
  <p:tag name="KSO_WM_TEMPLATE_ASSEMBLE_XID" val="5ef55454ea5a3ac527a189e3"/>
  <p:tag name="KSO_WM_TEMPLATE_ASSEMBLE_GROUPID" val="5ef55454ea5a3ac527a189e3"/>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8726_1*i*2"/>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c4ce87efa6da456eba5f87ab75ba3aa6"/>
  <p:tag name="KSO_WM_UNIT_DECORATE_INFO" val="{&quot;DecorateInfoH&quot;:{&quot;IsAbs&quot;:true},&quot;DecorateInfoW&quot;:{&quot;IsAbs&quot;:true},&quot;DecorateInfoX&quot;:{&quot;IsAbs&quot;:true,&quot;Pos&quot;:1},&quot;DecorateInfoY&quot;:{&quot;IsAbs&quot;:true,&quot;Pos&quot;:1},&quot;ReferentInfo&quot;:{&quot;Id&quot;:&quot;6618fb3c5f874e68a20589c3b602507e&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114"/>
  <p:tag name="KSO_WM_TEMPLATE_ASSEMBLE_XID" val="5ef55454ea5a3ac527a189e3"/>
  <p:tag name="KSO_WM_TEMPLATE_ASSEMBLE_GROUPID" val="5ef55454ea5a3ac527a189e3"/>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8726_1*i*7"/>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bcde86d968184e51b1cbdb20e2dfff00"/>
  <p:tag name="KSO_WM_UNIT_DECORATE_INFO" val="{&quot;DecorateInfoH&quot;:{&quot;IsAbs&quot;:true},&quot;DecorateInfoW&quot;:{&quot;IsAbs&quot;:true},&quot;DecorateInfoX&quot;:{&quot;IsAbs&quot;:true,&quot;Pos&quot;:1},&quot;DecorateInfoY&quot;:{&quot;IsAbs&quot;:true,&quot;Pos&quot;:1},&quot;ReferentInfo&quot;:{&quot;Id&quot;:&quot;2a0b84ff2b9a4700b2ebecd3d5d2b889&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380"/>
  <p:tag name="KSO_WM_TEMPLATE_ASSEMBLE_XID" val="5ef55454ea5a3ac527a189e3"/>
  <p:tag name="KSO_WM_TEMPLATE_ASSEMBLE_GROUPID" val="5ef55454ea5a3ac527a189e3"/>
</p:tagLst>
</file>

<file path=ppt/tags/tag19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08726_1*a*1"/>
  <p:tag name="KSO_WM_TEMPLATE_CATEGORY" val="diagram"/>
  <p:tag name="KSO_WM_TEMPLATE_INDEX" val="20208726"/>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18fb3c5f874e68a20589c3b602507e"/>
  <p:tag name="KSO_WM_ASSEMBLE_CHIP_INDEX" val="cf455a0210784292bf56397ada7cc389"/>
  <p:tag name="KSO_WM_UNIT_TEXT_FILL_FORE_SCHEMECOLOR_INDEX_BRIGHTNESS" val="0"/>
  <p:tag name="KSO_WM_UNIT_TEXT_FILL_FORE_SCHEMECOLOR_INDEX" val="13"/>
  <p:tag name="KSO_WM_UNIT_TEXT_FILL_TYPE" val="1"/>
  <p:tag name="KSO_WM_TEMPLATE_ASSEMBLE_XID" val="5ef55454ea5a3ac527a189e3"/>
  <p:tag name="KSO_WM_TEMPLATE_ASSEMBLE_GROUPID" val="5ef55454ea5a3ac527a189e3"/>
  <p:tag name="KSO_WM_UNIT_SMARTLAYOUT_COMPRESS_INFO" val="{&#10;    &quot;id&quot;: &quot;2020-06-26T09:50:13&quot;,&#10;    &quot;max&quot;: 9.9359201546418774,&#10;    &quot;parentMax&quot;: {&#10;        &quot;max&quot;: 2.3390404752793827&#10;    },&#10;    &quot;topChanged&quot;: 9.889445190429683&#10;}&#10;"/>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10129_4*l_h_i*1_2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9da7e6ec43e4feb9298f18bea997348"/>
  <p:tag name="KSO_WM_UNIT_DECORATE_INFO" val="{&quot;DecorateInfoH&quot;:{&quot;IsAbs&quot;:true},&quot;DecorateInfoW&quot;:{&quot;IsAbs&quot;:true},&quot;DecorateInfoX&quot;:{&quot;IsAbs&quot;:true,&quot;Pos&quot;:1},&quot;DecorateInfoY&quot;:{&quot;IsAbs&quot;:true,&quot;Pos&quot;:1},&quot;ReferentInfo&quot;:{&quot;Id&quot;:&quot;b59d62ad1efa49a7814a432af9fe78d0&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19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2_1"/>
  <p:tag name="KSO_WM_UNIT_ID" val="diagram20210129_4*l_h_f*1_2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34b132e5c4a443288f0a499a2a868f21"/>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59d62ad1efa49a7814a432af9fe78d0"/>
  <p:tag name="KSO_WM_UNIT_DECORATE_INFO" val="{&quot;DecorateInfoH&quot;:{&quot;IsAbs&quot;:true},&quot;DecorateInfoW&quot;:{&quot;IsAbs&quot;:true},&quot;DecorateInfoX&quot;:{&quot;IsAbs&quot;:true,&quot;Pos&quot;:1},&quot;DecorateInfoY&quot;:{&quot;IsAbs&quot;:true,&quot;Pos&quot;:2},&quot;ReferentInfo&quot;:{&quot;Id&quot;:&quot;34b132e5c4a443288f0a499a2a868f21&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0d7a2d2c86d4c9db8b4a0d9151012cf"/>
  <p:tag name="KSO_WM_UNIT_DECORATE_INFO" val="{&quot;DecorateInfoH&quot;:{&quot;IsAbs&quot;:true},&quot;DecorateInfoW&quot;:{&quot;IsAbs&quot;:true},&quot;DecorateInfoX&quot;:{&quot;IsAbs&quot;:true,&quot;Pos&quot;:2},&quot;DecorateInfoY&quot;:{&quot;IsAbs&quot;:true,&quot;Pos&quot;:1},&quot;ReferentInfo&quot;:{&quot;Id&quot;:&quot;b59d62ad1efa49a7814a432af9fe78d0&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20210129_4*l_h_i*1_3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6081f06af7546549cd304a627ac5bf6"/>
  <p:tag name="KSO_WM_UNIT_DECORATE_INFO" val="{&quot;DecorateInfoH&quot;:{&quot;IsAbs&quot;:true},&quot;DecorateInfoW&quot;:{&quot;IsAbs&quot;:true},&quot;DecorateInfoX&quot;:{&quot;IsAbs&quot;:true,&quot;Pos&quot;:1},&quot;DecorateInfoY&quot;:{&quot;IsAbs&quot;:true,&quot;Pos&quot;:1},&quot;ReferentInfo&quot;:{&quot;Id&quot;:&quot;7c5b9ba033db4be7921036f8d9ac71fa&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19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3_1"/>
  <p:tag name="KSO_WM_UNIT_ID" val="diagram20210129_4*l_h_f*1_3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9139da38a7254bbdae206e7c3badbfdc"/>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c5b9ba033db4be7921036f8d9ac71fa"/>
  <p:tag name="KSO_WM_UNIT_DECORATE_INFO" val="{&quot;DecorateInfoH&quot;:{&quot;IsAbs&quot;:true},&quot;DecorateInfoW&quot;:{&quot;IsAbs&quot;:true},&quot;DecorateInfoX&quot;:{&quot;IsAbs&quot;:true,&quot;Pos&quot;:1},&quot;DecorateInfoY&quot;:{&quot;IsAbs&quot;:true,&quot;Pos&quot;:2},&quot;ReferentInfo&quot;:{&quot;Id&quot;:&quot;9139da38a7254bbdae206e7c3badbfdc&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ec820f4b29364f0d9126a1b5fe20d73d"/>
  <p:tag name="KSO_WM_UNIT_DECORATE_INFO" val="{&quot;DecorateInfoH&quot;:{&quot;IsAbs&quot;:true},&quot;DecorateInfoW&quot;:{&quot;IsAbs&quot;:true},&quot;DecorateInfoX&quot;:{&quot;IsAbs&quot;:true,&quot;Pos&quot;:2},&quot;DecorateInfoY&quot;:{&quot;IsAbs&quot;:true,&quot;Pos&quot;:1},&quot;ReferentInfo&quot;:{&quot;Id&quot;:&quot;7c5b9ba033db4be7921036f8d9ac71fa&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1"/>
  <p:tag name="KSO_WM_UNIT_ID" val="diagram20210129_4*l_h_i*1_4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39c131c2df22469293f4eda4cafa0add"/>
  <p:tag name="KSO_WM_UNIT_DECORATE_INFO" val="{&quot;DecorateInfoH&quot;:{&quot;IsAbs&quot;:true},&quot;DecorateInfoW&quot;:{&quot;IsAbs&quot;:true},&quot;DecorateInfoX&quot;:{&quot;IsAbs&quot;:true,&quot;Pos&quot;:1},&quot;DecorateInfoY&quot;:{&quot;IsAbs&quot;:true,&quot;Pos&quot;:1},&quot;ReferentInfo&quot;:{&quot;Id&quot;:&quot;7727769e63484bff8316e642df87776f&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20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4_1"/>
  <p:tag name="KSO_WM_UNIT_ID" val="diagram20210129_4*l_h_f*1_4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74d740d563994c26aa1d5848c3fc10f8"/>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727769e63484bff8316e642df87776f"/>
  <p:tag name="KSO_WM_UNIT_DECORATE_INFO" val="{&quot;DecorateInfoH&quot;:{&quot;IsAbs&quot;:true},&quot;DecorateInfoW&quot;:{&quot;IsAbs&quot;:true},&quot;DecorateInfoX&quot;:{&quot;IsAbs&quot;:true,&quot;Pos&quot;:1},&quot;DecorateInfoY&quot;:{&quot;IsAbs&quot;:true,&quot;Pos&quot;:2},&quot;ReferentInfo&quot;:{&quot;Id&quot;:&quot;74d740d563994c26aa1d5848c3fc10f8&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268b2bc951b4a15b816214d5589381a"/>
  <p:tag name="KSO_WM_UNIT_DECORATE_INFO" val="{&quot;DecorateInfoH&quot;:{&quot;IsAbs&quot;:true},&quot;DecorateInfoW&quot;:{&quot;IsAbs&quot;:true},&quot;DecorateInfoX&quot;:{&quot;IsAbs&quot;:true,&quot;Pos&quot;:2},&quot;DecorateInfoY&quot;:{&quot;IsAbs&quot;:true,&quot;Pos&quot;:1},&quot;ReferentInfo&quot;:{&quot;Id&quot;:&quot;7727769e63484bff8316e642df87776f&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20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21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213.xml><?xml version="1.0" encoding="utf-8"?>
<p:tagLst xmlns:a="http://schemas.openxmlformats.org/drawingml/2006/main" xmlns:r="http://schemas.openxmlformats.org/officeDocument/2006/relationships" xmlns:p="http://schemas.openxmlformats.org/presentationml/2006/main">
  <p:tag name="KSO_WM_UNIT_TABLE_BEAUTIFY" val="smartTable{1ea03113-fbbf-42b1-a66e-b6c1e5e80e7e}"/>
</p:tagLst>
</file>

<file path=ppt/tags/tag214.xml><?xml version="1.0" encoding="utf-8"?>
<p:tagLst xmlns:a="http://schemas.openxmlformats.org/drawingml/2006/main" xmlns:r="http://schemas.openxmlformats.org/officeDocument/2006/relationships" xmlns:p="http://schemas.openxmlformats.org/presentationml/2006/main">
  <p:tag name="KSO_WM_UNIT_TABLE_BEAUTIFY" val="smartTable{dcfe958e-0a4c-4b0b-9c38-309d71874177}"/>
</p:tagLst>
</file>

<file path=ppt/tags/tag215.xml><?xml version="1.0" encoding="utf-8"?>
<p:tagLst xmlns:a="http://schemas.openxmlformats.org/drawingml/2006/main" xmlns:r="http://schemas.openxmlformats.org/officeDocument/2006/relationships" xmlns:p="http://schemas.openxmlformats.org/presentationml/2006/main">
  <p:tag name="KSO_WM_SLIDE_ID" val="diagram20208726_1"/>
  <p:tag name="KSO_WM_TEMPLATE_SUBCATEGORY" val="21"/>
  <p:tag name="KSO_WM_SLIDE_TYPE" val="text"/>
  <p:tag name="KSO_WM_SLIDE_SUBTYPE" val="picTxt"/>
  <p:tag name="KSO_WM_SLIDE_ITEM_CNT" val="0"/>
  <p:tag name="KSO_WM_SLIDE_INDEX" val="1"/>
  <p:tag name="KSO_WM_SLIDE_SIZE" val="960*507"/>
  <p:tag name="KSO_WM_SLIDE_POSITION" val="0*33"/>
  <p:tag name="KSO_WM_TAG_VERSION" val="1.0"/>
  <p:tag name="KSO_WM_BEAUTIFY_FLAG" val="#wm#"/>
  <p:tag name="KSO_WM_TEMPLATE_CATEGORY" val="diagram"/>
  <p:tag name="KSO_WM_TEMPLATE_INDEX" val="20208726"/>
  <p:tag name="KSO_WM_SLIDE_LAYOUT" val="a_d"/>
  <p:tag name="KSO_WM_SLIDE_LAYOUT_CNT" val="1_1"/>
  <p:tag name="KSO_WM_TEMPLATE_MASTER_TYPE" val="0"/>
  <p:tag name="KSO_WM_TEMPLATE_COLOR_TYPE" val="1"/>
  <p:tag name="KSO_WM_SLIDE_LAYOUT_INFO" val="{&quot;backgroundInfo&quot;:[{&quot;bottom&quot;:0,&quot;bottomAbs&quot;:false,&quot;left&quot;:0,&quot;leftAbs&quot;:false,&quot;right&quot;:0,&quot;rightAbs&quot;:false,&quot;top&quot;:0,&quot;topAbs&quot;:false,&quot;type&quot;:&quot;general&quot;}],&quot;id&quot;:&quot;2020-06-26T09:50:13&quot;,&quot;maxSize&quot;:{&quot;size1&quot;:31.395491917928059},&quot;minSize&quot;:{&quot;size1&quot;:22.49549191792806},&quot;normalSize&quot;:{&quot;size1&quot;:25.769493307844115},&quot;subLayout&quot;:[{&quot;id&quot;:&quot;2020-06-26T09:50:13&quot;,&quot;margin&quot;:{&quot;bottom&quot;:0.42300000786781311,&quot;left&quot;:5.5029997825622559,&quot;right&quot;:5.5029997825622559,&quot;top&quot;:2.9630000591278076},&quot;type&quot;:0},{&quot;id&quot;:&quot;2020-06-26T09:50:13&quot;,&quot;margin&quot;:{&quot;bottom&quot;:2.5399999618530273,&quot;left&quot;:5.5029997825622559,&quot;right&quot;:5.5029997825622559,&quot;top&quot;:2.1170001029968262},&quot;type&quot;:0}],&quot;type&quot;:0}"/>
  <p:tag name="KSO_WM_SLIDE_BACKGROUND" val="[&quot;general&quot;]"/>
  <p:tag name="KSO_WM_SLIDE_RATIO" val="1.777778"/>
  <p:tag name="KSO_WM_CHIP_INFOS" val="{&quot;layout_type&quot;:&quot;topbottom&quot;,&quot;tags&quot;:{&quot;style&quot;:[&quot;商务&quot;,&quot;简约&quot;,&quot;文艺清新&quot;,&quot;中国风&quot;,&quot;卡通&quot;,&quot;欧美风&quot;,&quot;黑板风&quot;,&quot;渐变风&quot;,&quot;党政风&quot;]},&quot;slide_type&quot;:[&quot;text&quot;],&quot;aspect_ratio&quot;:&quot;16:9&quot;}"/>
  <p:tag name="KSO_WM_CHIP_FILLPROP" val="[[{&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lm&quot;,&quot;text_direction&quot;:&quot;horizontal&quot;,&quot;chip_types&quot;:[&quot;text&quot;]}],[{&quot;fill_id&quot;:&quot;ae62fc3b35c9411d905b7bc231385e5c&quot;,&quot;fill_align&quot;:&quot;cm&quot;,&quot;text_align&quot;:&quot;cm&quot;,&quot;text_direction&quot;:&quot;horizontal&quot;,&quot;chip_types&quot;:[&quot;header&quot;]},{&quot;fill_id&quot;:&quot;fd2aa0c658d24d49b39a205f095b05d5&quot;,&quot;fill_align&quot;:&quot;cm&quot;,&quot;text_align&quot;:&quot;cm&quot;,&quot;text_direction&quot;:&quot;horizontal&quot;,&quot;chip_types&quot;:[&quot;diagram&quot;,&quot;pictext&quot;,&quot;picture&quot;,&quot;chart&quot;,&quot;table&quot;,&quot;video&quot;]}]]"/>
  <p:tag name="KSO_WM_CHIP_XID" val="5ef16cf55bb2a422ac9a2b3a"/>
  <p:tag name="KSO_WM_CHIP_GROUPID" val="5ef16cf55bb2a422ac9a2b39"/>
  <p:tag name="KSO_WM_SLIDE_BK_DARK_LIGHT" val="2"/>
  <p:tag name="KSO_WM_SLIDE_BACKGROUND_TYPE" val="general"/>
  <p:tag name="KSO_WM_SLIDE_SUPPORT_FEATURE_TYPE" val="0"/>
  <p:tag name="KSO_WM_TEMPLATE_ASSEMBLE_XID" val="5ef55454ea5a3ac527a189e3"/>
  <p:tag name="KSO_WM_TEMPLATE_ASSEMBLE_GROUPID" val="5ef55454ea5a3ac527a189e3"/>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8726_1*i*1"/>
  <p:tag name="KSO_WM_TEMPLATE_CATEGORY" val="diagram"/>
  <p:tag name="KSO_WM_TEMPLATE_INDEX" val="20208726"/>
  <p:tag name="KSO_WM_UNIT_LAYERLEVEL" val="1"/>
  <p:tag name="KSO_WM_TAG_VERSION" val="1.0"/>
  <p:tag name="KSO_WM_BEAUTIFY_FLAG" val="#wm#"/>
  <p:tag name="KSO_WM_UNIT_BLOCK" val="0"/>
  <p:tag name="KSO_WM_UNIT_SM_LIMIT_TYPE" val="1"/>
  <p:tag name="KSO_WM_UNIT_DEC_AREA_ID" val="869a47cc434a46408bb65052c05f2790"/>
  <p:tag name="KSO_WM_UNIT_DECORATE_INFO" val="{&quot;ReferentInfo&quot;:{&quot;X&quot;:{&quot;Pos&quot;:0},&quot;Y&quot;:{&quot;Pos&quot;:0}},&quot;DecorateInfoX&quot;:{&quot;Pos&quot;:0,&quot;IsAbs&quot;:false},&quot;DecorateInfoY&quot;:{&quot;Pos&quot;:0,&quot;IsAbs&quot;:false},&quot;DecorateInfoW&quot;:{&quot;IsAbs&quot;:true},&quot;DecorateInfoH&quot;:{&quot;IsAbs&quot;:true}}"/>
  <p:tag name="KSO_WM_CHIP_GROUPID" val="5ef16cf55bb2a422ac9a2b39"/>
  <p:tag name="KSO_WM_CHIP_XID" val="5ef16cf55bb2a422ac9a2b3a"/>
  <p:tag name="KSO_WM_UNIT_FILL_FORE_SCHEMECOLOR_INDEX_BRIGHTNESS" val="0"/>
  <p:tag name="KSO_WM_UNIT_FILL_FORE_SCHEMECOLOR_INDEX" val="15"/>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2"/>
  <p:tag name="KSO_WM_UNIT_TEXT_FILL_TYPE" val="1"/>
  <p:tag name="KSO_WM_UNIT_VALUE" val="477"/>
  <p:tag name="KSO_WM_TEMPLATE_ASSEMBLE_XID" val="5ef55454ea5a3ac527a189e3"/>
  <p:tag name="KSO_WM_TEMPLATE_ASSEMBLE_GROUPID" val="5ef55454ea5a3ac527a189e3"/>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8726_1*i*2"/>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c4ce87efa6da456eba5f87ab75ba3aa6"/>
  <p:tag name="KSO_WM_UNIT_DECORATE_INFO" val="{&quot;DecorateInfoH&quot;:{&quot;IsAbs&quot;:true},&quot;DecorateInfoW&quot;:{&quot;IsAbs&quot;:true},&quot;DecorateInfoX&quot;:{&quot;IsAbs&quot;:true,&quot;Pos&quot;:1},&quot;DecorateInfoY&quot;:{&quot;IsAbs&quot;:true,&quot;Pos&quot;:1},&quot;ReferentInfo&quot;:{&quot;Id&quot;:&quot;6618fb3c5f874e68a20589c3b602507e&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114"/>
  <p:tag name="KSO_WM_TEMPLATE_ASSEMBLE_XID" val="5ef55454ea5a3ac527a189e3"/>
  <p:tag name="KSO_WM_TEMPLATE_ASSEMBLE_GROUPID" val="5ef55454ea5a3ac527a189e3"/>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8726_1*i*7"/>
  <p:tag name="KSO_WM_TEMPLATE_CATEGORY" val="diagram"/>
  <p:tag name="KSO_WM_TEMPLATE_INDEX" val="20208726"/>
  <p:tag name="KSO_WM_UNIT_LAYERLEVEL" val="1"/>
  <p:tag name="KSO_WM_TAG_VERSION" val="1.0"/>
  <p:tag name="KSO_WM_BEAUTIFY_FLAG" val="#wm#"/>
  <p:tag name="KSO_WM_UNIT_BLOCK" val="0"/>
  <p:tag name="KSO_WM_UNIT_SM_LIMIT_TYPE" val="2"/>
  <p:tag name="KSO_WM_UNIT_DEC_AREA_ID" val="bcde86d968184e51b1cbdb20e2dfff00"/>
  <p:tag name="KSO_WM_UNIT_DECORATE_INFO" val="{&quot;DecorateInfoH&quot;:{&quot;IsAbs&quot;:true},&quot;DecorateInfoW&quot;:{&quot;IsAbs&quot;:true},&quot;DecorateInfoX&quot;:{&quot;IsAbs&quot;:true,&quot;Pos&quot;:1},&quot;DecorateInfoY&quot;:{&quot;IsAbs&quot;:true,&quot;Pos&quot;:1},&quot;ReferentInfo&quot;:{&quot;Id&quot;:&quot;2a0b84ff2b9a4700b2ebecd3d5d2b889&quot;,&quot;X&quot;:{&quot;Pos&quot;:1},&quot;Y&quot;:{&quot;Pos&quot;:1}}}"/>
  <p:tag name="KSO_WM_CHIP_GROUPID" val="5ef16cf55bb2a422ac9a2b39"/>
  <p:tag name="KSO_WM_CHIP_XID" val="5ef16cf55bb2a422ac9a2b3a"/>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 name="KSO_WM_UNIT_VALUE" val="380"/>
  <p:tag name="KSO_WM_TEMPLATE_ASSEMBLE_XID" val="5ef55454ea5a3ac527a189e3"/>
  <p:tag name="KSO_WM_TEMPLATE_ASSEMBLE_GROUPID" val="5ef55454ea5a3ac527a189e3"/>
</p:tagLst>
</file>

<file path=ppt/tags/tag2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08726_1*a*1"/>
  <p:tag name="KSO_WM_TEMPLATE_CATEGORY" val="diagram"/>
  <p:tag name="KSO_WM_TEMPLATE_INDEX" val="20208726"/>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6618fb3c5f874e68a20589c3b602507e"/>
  <p:tag name="KSO_WM_ASSEMBLE_CHIP_INDEX" val="cf455a0210784292bf56397ada7cc389"/>
  <p:tag name="KSO_WM_UNIT_TEXT_FILL_FORE_SCHEMECOLOR_INDEX_BRIGHTNESS" val="0"/>
  <p:tag name="KSO_WM_UNIT_TEXT_FILL_FORE_SCHEMECOLOR_INDEX" val="13"/>
  <p:tag name="KSO_WM_UNIT_TEXT_FILL_TYPE" val="1"/>
  <p:tag name="KSO_WM_TEMPLATE_ASSEMBLE_XID" val="5ef55454ea5a3ac527a189e3"/>
  <p:tag name="KSO_WM_TEMPLATE_ASSEMBLE_GROUPID" val="5ef55454ea5a3ac527a189e3"/>
  <p:tag name="KSO_WM_UNIT_SMARTLAYOUT_COMPRESS_INFO" val="{&#10;    &quot;id&quot;: &quot;2020-06-26T09:50:13&quot;,&#10;    &quot;max&quot;: 9.9359201546418774,&#10;    &quot;parentMax&quot;: {&#10;        &quot;max&quot;: 2.3390404752793827&#10;    },&#10;    &quot;topChanged&quot;: 9.889445190429683&#10;}&#10;"/>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10129_4*l_h_i*1_2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9da7e6ec43e4feb9298f18bea997348"/>
  <p:tag name="KSO_WM_UNIT_DECORATE_INFO" val="{&quot;DecorateInfoH&quot;:{&quot;IsAbs&quot;:true},&quot;DecorateInfoW&quot;:{&quot;IsAbs&quot;:true},&quot;DecorateInfoX&quot;:{&quot;IsAbs&quot;:true,&quot;Pos&quot;:1},&quot;DecorateInfoY&quot;:{&quot;IsAbs&quot;:true,&quot;Pos&quot;:1},&quot;ReferentInfo&quot;:{&quot;Id&quot;:&quot;b59d62ad1efa49a7814a432af9fe78d0&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22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2_1"/>
  <p:tag name="KSO_WM_UNIT_ID" val="diagram20210129_4*l_h_f*1_2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34b132e5c4a443288f0a499a2a868f21"/>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59d62ad1efa49a7814a432af9fe78d0"/>
  <p:tag name="KSO_WM_UNIT_DECORATE_INFO" val="{&quot;DecorateInfoH&quot;:{&quot;IsAbs&quot;:true},&quot;DecorateInfoW&quot;:{&quot;IsAbs&quot;:true},&quot;DecorateInfoX&quot;:{&quot;IsAbs&quot;:true,&quot;Pos&quot;:1},&quot;DecorateInfoY&quot;:{&quot;IsAbs&quot;:true,&quot;Pos&quot;:2},&quot;ReferentInfo&quot;:{&quot;Id&quot;:&quot;34b132e5c4a443288f0a499a2a868f21&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210129_4*l_h_i*1_2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0d7a2d2c86d4c9db8b4a0d9151012cf"/>
  <p:tag name="KSO_WM_UNIT_DECORATE_INFO" val="{&quot;DecorateInfoH&quot;:{&quot;IsAbs&quot;:true},&quot;DecorateInfoW&quot;:{&quot;IsAbs&quot;:true},&quot;DecorateInfoX&quot;:{&quot;IsAbs&quot;:true,&quot;Pos&quot;:2},&quot;DecorateInfoY&quot;:{&quot;IsAbs&quot;:true,&quot;Pos&quot;:1},&quot;ReferentInfo&quot;:{&quot;Id&quot;:&quot;b59d62ad1efa49a7814a432af9fe78d0&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20210129_4*l_h_i*1_3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b6081f06af7546549cd304a627ac5bf6"/>
  <p:tag name="KSO_WM_UNIT_DECORATE_INFO" val="{&quot;DecorateInfoH&quot;:{&quot;IsAbs&quot;:true},&quot;DecorateInfoW&quot;:{&quot;IsAbs&quot;:true},&quot;DecorateInfoX&quot;:{&quot;IsAbs&quot;:true,&quot;Pos&quot;:1},&quot;DecorateInfoY&quot;:{&quot;IsAbs&quot;:true,&quot;Pos&quot;:1},&quot;ReferentInfo&quot;:{&quot;Id&quot;:&quot;7c5b9ba033db4be7921036f8d9ac71fa&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225.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3_1"/>
  <p:tag name="KSO_WM_UNIT_ID" val="diagram20210129_4*l_h_f*1_3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9139da38a7254bbdae206e7c3badbfdc"/>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c5b9ba033db4be7921036f8d9ac71fa"/>
  <p:tag name="KSO_WM_UNIT_DECORATE_INFO" val="{&quot;DecorateInfoH&quot;:{&quot;IsAbs&quot;:true},&quot;DecorateInfoW&quot;:{&quot;IsAbs&quot;:true},&quot;DecorateInfoX&quot;:{&quot;IsAbs&quot;:true,&quot;Pos&quot;:1},&quot;DecorateInfoY&quot;:{&quot;IsAbs&quot;:true,&quot;Pos&quot;:2},&quot;ReferentInfo&quot;:{&quot;Id&quot;:&quot;9139da38a7254bbdae206e7c3badbfdc&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2"/>
  <p:tag name="KSO_WM_UNIT_ID" val="diagram20210129_4*l_h_i*1_3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ec820f4b29364f0d9126a1b5fe20d73d"/>
  <p:tag name="KSO_WM_UNIT_DECORATE_INFO" val="{&quot;DecorateInfoH&quot;:{&quot;IsAbs&quot;:true},&quot;DecorateInfoW&quot;:{&quot;IsAbs&quot;:true},&quot;DecorateInfoX&quot;:{&quot;IsAbs&quot;:true,&quot;Pos&quot;:2},&quot;DecorateInfoY&quot;:{&quot;IsAbs&quot;:true,&quot;Pos&quot;:1},&quot;ReferentInfo&quot;:{&quot;Id&quot;:&quot;7c5b9ba033db4be7921036f8d9ac71fa&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1"/>
  <p:tag name="KSO_WM_UNIT_ID" val="diagram20210129_4*l_h_i*1_4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39c131c2df22469293f4eda4cafa0add"/>
  <p:tag name="KSO_WM_UNIT_DECORATE_INFO" val="{&quot;DecorateInfoH&quot;:{&quot;IsAbs&quot;:true},&quot;DecorateInfoW&quot;:{&quot;IsAbs&quot;:true},&quot;DecorateInfoX&quot;:{&quot;IsAbs&quot;:true,&quot;Pos&quot;:1},&quot;DecorateInfoY&quot;:{&quot;IsAbs&quot;:true,&quot;Pos&quot;:1},&quot;ReferentInfo&quot;:{&quot;Id&quot;:&quot;7727769e63484bff8316e642df87776f&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22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4_1"/>
  <p:tag name="KSO_WM_UNIT_ID" val="diagram20210129_4*l_h_f*1_4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74d740d563994c26aa1d5848c3fc10f8"/>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727769e63484bff8316e642df87776f"/>
  <p:tag name="KSO_WM_UNIT_DECORATE_INFO" val="{&quot;DecorateInfoH&quot;:{&quot;IsAbs&quot;:true},&quot;DecorateInfoW&quot;:{&quot;IsAbs&quot;:true},&quot;DecorateInfoX&quot;:{&quot;IsAbs&quot;:true,&quot;Pos&quot;:1},&quot;DecorateInfoY&quot;:{&quot;IsAbs&quot;:true,&quot;Pos&quot;:2},&quot;ReferentInfo&quot;:{&quot;Id&quot;:&quot;74d740d563994c26aa1d5848c3fc10f8&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4_2"/>
  <p:tag name="KSO_WM_UNIT_ID" val="diagram20210129_4*l_h_i*1_4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7268b2bc951b4a15b816214d5589381a"/>
  <p:tag name="KSO_WM_UNIT_DECORATE_INFO" val="{&quot;DecorateInfoH&quot;:{&quot;IsAbs&quot;:true},&quot;DecorateInfoW&quot;:{&quot;IsAbs&quot;:true},&quot;DecorateInfoX&quot;:{&quot;IsAbs&quot;:true,&quot;Pos&quot;:2},&quot;DecorateInfoY&quot;:{&quot;IsAbs&quot;:true,&quot;Pos&quot;:1},&quot;ReferentInfo&quot;:{&quot;Id&quot;:&quot;7727769e63484bff8316e642df87776f&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2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1"/>
  <p:tag name="KSO_WM_UNIT_ID" val="diagram20210129_4*l_h_i*1_5_1"/>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2fccc7cfe0a94a03964fef3a6bcbba88"/>
  <p:tag name="KSO_WM_UNIT_DECORATE_INFO" val="{&quot;DecorateInfoH&quot;:{&quot;IsAbs&quot;:true},&quot;DecorateInfoW&quot;:{&quot;IsAbs&quot;:true},&quot;DecorateInfoX&quot;:{&quot;IsAbs&quot;:true,&quot;Pos&quot;:1},&quot;DecorateInfoY&quot;:{&quot;IsAbs&quot;:true,&quot;Pos&quot;:1},&quot;ReferentInfo&quot;:{&quot;Id&quot;:&quot;53c010be7e1347ceaad05fcf213bdb85&quot;,&quot;X&quot;:{&quot;Pos&quot;:1},&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 name="KSO_WM_UNIT_VALUE" val="6"/>
  <p:tag name="KSO_WM_UNIT_USESOURCEFORMAT_APPLY" val="1"/>
</p:tagLst>
</file>

<file path=ppt/tags/tag23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请尽量言简意赅的阐述观点。"/>
  <p:tag name="KSO_WM_UNIT_NOCLEAR" val="0"/>
  <p:tag name="KSO_WM_UNIT_VALUE" val="49"/>
  <p:tag name="KSO_WM_UNIT_HIGHLIGHT" val="0"/>
  <p:tag name="KSO_WM_UNIT_COMPATIBLE" val="0"/>
  <p:tag name="KSO_WM_UNIT_DIAGRAM_ISNUMVISUAL" val="0"/>
  <p:tag name="KSO_WM_UNIT_DIAGRAM_ISREFERUNIT" val="0"/>
  <p:tag name="KSO_WM_UNIT_TYPE" val="l_h_f"/>
  <p:tag name="KSO_WM_UNIT_INDEX" val="1_5_1"/>
  <p:tag name="KSO_WM_UNIT_ID" val="diagram20210129_4*l_h_f*1_5_1"/>
  <p:tag name="KSO_WM_TEMPLATE_CATEGORY" val="diagram"/>
  <p:tag name="KSO_WM_TEMPLATE_INDEX" val="20210129"/>
  <p:tag name="KSO_WM_UNIT_LAYERLEVEL" val="1_1_1"/>
  <p:tag name="KSO_WM_TAG_VERSION" val="1.0"/>
  <p:tag name="KSO_WM_BEAUTIFY_FLAG" val="#wm#"/>
  <p:tag name="KSO_WM_UNIT_DEFAULT_FONT" val="14;20;2"/>
  <p:tag name="KSO_WM_UNIT_BLOCK" val="0"/>
  <p:tag name="KSO_WM_UNIT_DEC_AREA_ID" val="84bac5f5da5744a784b90ba5919c6c07"/>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13"/>
  <p:tag name="KSO_WM_UNIT_TEXT_FILL_TYPE" val="1"/>
  <p:tag name="KSO_WM_UNIT_USESOURCEFORMAT_APPLY" val="1"/>
</p:tagLst>
</file>

<file path=ppt/tags/tag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53c010be7e1347ceaad05fcf213bdb85"/>
  <p:tag name="KSO_WM_UNIT_DECORATE_INFO" val="{&quot;DecorateInfoH&quot;:{&quot;IsAbs&quot;:true},&quot;DecorateInfoW&quot;:{&quot;IsAbs&quot;:true},&quot;DecorateInfoX&quot;:{&quot;IsAbs&quot;:true,&quot;Pos&quot;:1},&quot;DecorateInfoY&quot;:{&quot;IsAbs&quot;:true,&quot;Pos&quot;:2},&quot;ReferentInfo&quot;:{&quot;Id&quot;:&quot;84bac5f5da5744a784b90ba5919c6c07&quot;,&quot;X&quot;:{&quot;Pos&quot;:1},&quot;Y&quot;:{&quot;Pos&quot;:0}},&quot;whChangeMode&quot;:0}"/>
  <p:tag name="KSO_WM_UNIT_DEFAULT_FONT" val="18;36;2"/>
  <p:tag name="KSO_WM_CHIP_GROUPID" val="5f2cc8e81f3c142e57c6dbf6"/>
  <p:tag name="KSO_WM_CHIP_XID" val="5f2cc8e81f3c142e57c6dbf7"/>
  <p:tag name="KSO_WM_DIAGRAM_GROUP_CODE" val="l1-1"/>
  <p:tag name="KSO_WM_ASSEMBLE_CHIP_INDEX" val="09cea909bf474a70b2e482e42b3933ef"/>
  <p:tag name="KSO_WM_UNIT_TEXT_FILL_FORE_SCHEMECOLOR_INDEX_BRIGHTNESS" val="-0.25"/>
  <p:tag name="KSO_WM_UNIT_TEXT_FILL_FORE_SCHEMECOLOR_INDEX" val="5"/>
  <p:tag name="KSO_WM_UNIT_TEXT_FILL_TYPE" val="1"/>
  <p:tag name="KSO_WM_UNIT_VALUE" val="1"/>
  <p:tag name="KSO_WM_UNIT_USESOURCEFORMAT_APPLY" val="1"/>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5_2"/>
  <p:tag name="KSO_WM_UNIT_ID" val="diagram20210129_4*l_h_i*1_5_2"/>
  <p:tag name="KSO_WM_TEMPLATE_CATEGORY" val="diagram"/>
  <p:tag name="KSO_WM_TEMPLATE_INDEX" val="20210129"/>
  <p:tag name="KSO_WM_UNIT_LAYERLEVEL" val="1_1_1"/>
  <p:tag name="KSO_WM_TAG_VERSION" val="1.0"/>
  <p:tag name="KSO_WM_BEAUTIFY_FLAG" val="#wm#"/>
  <p:tag name="KSO_WM_UNIT_BLOCK" val="0"/>
  <p:tag name="KSO_WM_UNIT_SM_LIMIT_TYPE" val="0"/>
  <p:tag name="KSO_WM_UNIT_DEC_AREA_ID" val="0b803d1f78ef49d09ddb1edf22e1f8f1"/>
  <p:tag name="KSO_WM_UNIT_DECORATE_INFO" val="{&quot;DecorateInfoH&quot;:{&quot;IsAbs&quot;:true},&quot;DecorateInfoW&quot;:{&quot;IsAbs&quot;:true},&quot;DecorateInfoX&quot;:{&quot;IsAbs&quot;:true,&quot;Pos&quot;:2},&quot;DecorateInfoY&quot;:{&quot;IsAbs&quot;:true,&quot;Pos&quot;:1},&quot;ReferentInfo&quot;:{&quot;Id&quot;:&quot;53c010be7e1347ceaad05fcf213bdb85&quot;,&quot;X&quot;:{&quot;Pos&quot;:0},&quot;Y&quot;:{&quot;Pos&quot;:1}},&quot;whChangeMode&quot;:0}"/>
  <p:tag name="KSO_WM_CHIP_GROUPID" val="5f2cc8e81f3c142e57c6dbf6"/>
  <p:tag name="KSO_WM_CHIP_XID" val="5f2cc8e81f3c142e57c6dbf7"/>
  <p:tag name="KSO_WM_DIAGRAM_GROUP_CODE" val="l1-1"/>
  <p:tag name="KSO_WM_ASSEMBLE_CHIP_INDEX" val="09cea909bf474a70b2e482e42b3933ef"/>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
  <p:tag name="KSO_WM_UNIT_USESOURCEFORMAT_APPLY" val="1"/>
</p:tagLst>
</file>

<file path=ppt/theme/theme1.xml><?xml version="1.0" encoding="utf-8"?>
<a:theme xmlns:a="http://schemas.openxmlformats.org/drawingml/2006/main" name="Office 主题​​">
  <a:themeElements>
    <a:clrScheme name="自定义 107">
      <a:dk1>
        <a:sysClr val="windowText" lastClr="000000"/>
      </a:dk1>
      <a:lt1>
        <a:sysClr val="window" lastClr="FFFFFF"/>
      </a:lt1>
      <a:dk2>
        <a:srgbClr val="1F497D"/>
      </a:dk2>
      <a:lt2>
        <a:srgbClr val="EEECE1"/>
      </a:lt2>
      <a:accent1>
        <a:srgbClr val="0070C0"/>
      </a:accent1>
      <a:accent2>
        <a:srgbClr val="FFC000"/>
      </a:accent2>
      <a:accent3>
        <a:srgbClr val="BFBFBF"/>
      </a:accent3>
      <a:accent4>
        <a:srgbClr val="BFBFBF"/>
      </a:accent4>
      <a:accent5>
        <a:srgbClr val="BFBFB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07">
      <a:dk1>
        <a:sysClr val="windowText" lastClr="000000"/>
      </a:dk1>
      <a:lt1>
        <a:sysClr val="window" lastClr="FFFFFF"/>
      </a:lt1>
      <a:dk2>
        <a:srgbClr val="1F497D"/>
      </a:dk2>
      <a:lt2>
        <a:srgbClr val="EEECE1"/>
      </a:lt2>
      <a:accent1>
        <a:srgbClr val="0070C0"/>
      </a:accent1>
      <a:accent2>
        <a:srgbClr val="FFC000"/>
      </a:accent2>
      <a:accent3>
        <a:srgbClr val="BFBFBF"/>
      </a:accent3>
      <a:accent4>
        <a:srgbClr val="BFBFBF"/>
      </a:accent4>
      <a:accent5>
        <a:srgbClr val="BFBFB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3007</TotalTime>
  <Words>14320</Words>
  <Application>Microsoft Macintosh PowerPoint</Application>
  <PresentationFormat>自定义</PresentationFormat>
  <Paragraphs>1636</Paragraphs>
  <Slides>159</Slides>
  <Notes>43</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1</vt:i4>
      </vt:variant>
      <vt:variant>
        <vt:lpstr>幻灯片标题</vt:lpstr>
      </vt:variant>
      <vt:variant>
        <vt:i4>159</vt:i4>
      </vt:variant>
    </vt:vector>
  </HeadingPairs>
  <TitlesOfParts>
    <vt:vector size="180" baseType="lpstr">
      <vt:lpstr>-apple-system</vt:lpstr>
      <vt:lpstr>方正大黑简体</vt:lpstr>
      <vt:lpstr>黑体</vt:lpstr>
      <vt:lpstr>华文仿宋</vt:lpstr>
      <vt:lpstr>楷体</vt:lpstr>
      <vt:lpstr>时尚中黑简体</vt:lpstr>
      <vt:lpstr>微软雅黑</vt:lpstr>
      <vt:lpstr>Arial Unicode MS</vt:lpstr>
      <vt:lpstr>Microsoft YaHei UI</vt:lpstr>
      <vt:lpstr>Arial</vt:lpstr>
      <vt:lpstr>Arial Black</vt:lpstr>
      <vt:lpstr>Calibri</vt:lpstr>
      <vt:lpstr>Consolas</vt:lpstr>
      <vt:lpstr>Courier New</vt:lpstr>
      <vt:lpstr>Impact</vt:lpstr>
      <vt:lpstr>Menlo</vt:lpstr>
      <vt:lpstr>Tahoma</vt:lpstr>
      <vt:lpstr>Wingdings</vt:lpstr>
      <vt:lpstr>Office 主题​​</vt:lpstr>
      <vt:lpstr>1_Office 主题​​</vt:lpstr>
      <vt:lpstr>Paint.Picture</vt:lpstr>
      <vt:lpstr>PowerPoint 演示文稿</vt:lpstr>
      <vt:lpstr>PowerPoint 演示文稿</vt:lpstr>
      <vt:lpstr>PowerPoint 演示文稿</vt:lpstr>
      <vt:lpstr>PowerPoint 演示文稿</vt:lpstr>
      <vt:lpstr>PowerPoint 演示文稿</vt:lpstr>
      <vt:lpstr>3.1 概述</vt:lpstr>
      <vt:lpstr>PowerPoint 演示文稿</vt:lpstr>
      <vt:lpstr>PowerPoint 演示文稿</vt:lpstr>
      <vt:lpstr>PowerPoint 演示文稿</vt:lpstr>
      <vt:lpstr>序列的主要特征：</vt:lpstr>
      <vt:lpstr>序列的特征：</vt:lpstr>
      <vt:lpstr>PowerPoint 演示文稿</vt:lpstr>
      <vt:lpstr>3.2 列表</vt:lpstr>
      <vt:lpstr>3.2 列表</vt:lpstr>
      <vt:lpstr>1、列表的创建</vt:lpstr>
      <vt:lpstr>1、列表的创建</vt:lpstr>
      <vt:lpstr>PowerPoint 演示文稿</vt:lpstr>
      <vt:lpstr>PowerPoint 演示文稿</vt:lpstr>
      <vt:lpstr>例：创建列表</vt:lpstr>
      <vt:lpstr>扩展：列表在内存中的存储方式</vt:lpstr>
      <vt:lpstr>2、列表的使用</vt:lpstr>
      <vt:lpstr>2、列表的使用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扩展：内存预分配与扩展机制</vt:lpstr>
      <vt:lpstr>扩展：列表扩容机制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常用列表方法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 元组</vt:lpstr>
      <vt:lpstr>1、元组的创建</vt:lpstr>
      <vt:lpstr>例：创建元组</vt:lpstr>
      <vt:lpstr>注意：</vt:lpstr>
      <vt:lpstr>2、元组的访问</vt:lpstr>
      <vt:lpstr>PowerPoint 演示文稿</vt:lpstr>
      <vt:lpstr>PowerPoint 演示文稿</vt:lpstr>
      <vt:lpstr>PowerPoint 演示文稿</vt:lpstr>
      <vt:lpstr>PowerPoint 演示文稿</vt:lpstr>
      <vt:lpstr>PowerPoint 演示文稿</vt:lpstr>
      <vt:lpstr>PowerPoint 演示文稿</vt:lpstr>
      <vt:lpstr>3、元组删除</vt:lpstr>
      <vt:lpstr>4、元组的运算符</vt:lpstr>
      <vt:lpstr>常用元组操作方法</vt:lpstr>
      <vt:lpstr>元组和列表的异同</vt:lpstr>
      <vt:lpstr>元组和列表的异同</vt:lpstr>
      <vt:lpstr>元组和列表的异同</vt:lpstr>
      <vt:lpstr>PowerPoint 演示文稿</vt:lpstr>
      <vt:lpstr>PowerPoint 演示文稿</vt:lpstr>
      <vt:lpstr>PowerPoint 演示文稿</vt:lpstr>
      <vt:lpstr>PowerPoint 演示文稿</vt:lpstr>
      <vt:lpstr>3.4 字典</vt:lpstr>
      <vt:lpstr>3.4 字典</vt:lpstr>
      <vt:lpstr>3.4 字典</vt:lpstr>
      <vt:lpstr>1、创建字典</vt:lpstr>
      <vt:lpstr>用字典存储电话簿？</vt:lpstr>
      <vt:lpstr>3.4 字典</vt:lpstr>
      <vt:lpstr>3.4 字典</vt:lpstr>
      <vt:lpstr>3.4 字典</vt:lpstr>
      <vt:lpstr>3.4 字典</vt:lpstr>
      <vt:lpstr>3.4 字典</vt:lpstr>
      <vt:lpstr>3.4 字典</vt:lpstr>
      <vt:lpstr>3.4 字典</vt:lpstr>
      <vt:lpstr>2、字典的访问</vt:lpstr>
      <vt:lpstr>例：字典的创建、添加、修改和删除</vt:lpstr>
      <vt:lpstr>例：字典的创建、添加、修改和删除</vt:lpstr>
      <vt:lpstr>关于字典的说明</vt:lpstr>
      <vt:lpstr>3、字典操作方法</vt:lpstr>
      <vt:lpstr>例：字典函数应用</vt:lpstr>
      <vt:lpstr>PowerPoint 演示文稿</vt:lpstr>
      <vt:lpstr>说明：</vt:lpstr>
      <vt:lpstr>在字典中遍历</vt:lpstr>
      <vt:lpstr>在字典中遍历</vt:lpstr>
      <vt:lpstr>在字典中遍历</vt:lpstr>
      <vt:lpstr>在字典中遍历</vt:lpstr>
      <vt:lpstr>在字典中遍历</vt:lpstr>
      <vt:lpstr>练习：</vt:lpstr>
      <vt:lpstr>参考答案：</vt:lpstr>
      <vt:lpstr>参考答案：</vt:lpstr>
      <vt:lpstr>参考答案：</vt:lpstr>
      <vt:lpstr>参考答案：</vt:lpstr>
      <vt:lpstr>提示</vt:lpstr>
      <vt:lpstr>4、字典的排序和复制</vt:lpstr>
      <vt:lpstr>4、字典的排序和复制</vt:lpstr>
      <vt:lpstr>关于复制：</vt:lpstr>
      <vt:lpstr>例：字典的拷贝</vt:lpstr>
      <vt:lpstr>关于深拷贝、浅拷贝和复制的再探讨</vt:lpstr>
      <vt:lpstr>关于深拷贝、浅拷贝和复制的再探讨</vt:lpstr>
      <vt:lpstr>关于深拷贝、浅拷贝和复制的再探讨</vt:lpstr>
      <vt:lpstr>关于深拷贝、浅拷贝和复制的再探讨</vt:lpstr>
      <vt:lpstr>PowerPoint 演示文稿</vt:lpstr>
      <vt:lpstr>PowerPoint 演示文稿</vt:lpstr>
      <vt:lpstr>集合基本功能：</vt:lpstr>
      <vt:lpstr>PowerPoint 演示文稿</vt:lpstr>
      <vt:lpstr>集合运算</vt:lpstr>
      <vt:lpstr>集合说明：</vt:lpstr>
      <vt:lpstr>PowerPoint 演示文稿</vt:lpstr>
      <vt:lpstr>1、Python中的可变对象和不可变对象</vt:lpstr>
      <vt:lpstr>1、Python中的可变对象和不可变对象</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Kun Jing</cp:lastModifiedBy>
  <cp:revision>448</cp:revision>
  <dcterms:created xsi:type="dcterms:W3CDTF">2014-08-23T07:50:00Z</dcterms:created>
  <dcterms:modified xsi:type="dcterms:W3CDTF">2025-09-29T03:00:04Z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2</vt:lpwstr>
  </property>
  <property fmtid="{D5CDD505-2E9C-101B-9397-08002B2CF9AE}" pid="3" name="KSOProductBuildVer">
    <vt:lpwstr>2052-11.1.0.10700</vt:lpwstr>
  </property>
  <property fmtid="{D5CDD505-2E9C-101B-9397-08002B2CF9AE}" pid="4" name="KSOSaveFontToCloudKey">
    <vt:lpwstr>0_btnclosed</vt:lpwstr>
  </property>
  <property fmtid="{D5CDD505-2E9C-101B-9397-08002B2CF9AE}" pid="5" name="ICV">
    <vt:lpwstr>669FF91846CF4C7B9DD30187B95F6205</vt:lpwstr>
  </property>
</Properties>
</file>