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1.xml" ContentType="application/vnd.openxmlformats-officedocument.presentationml.tags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85"/>
  </p:notesMasterIdLst>
  <p:handoutMasterIdLst>
    <p:handoutMasterId r:id="rId86"/>
  </p:handoutMasterIdLst>
  <p:sldIdLst>
    <p:sldId id="1282" r:id="rId3"/>
    <p:sldId id="347" r:id="rId4"/>
    <p:sldId id="1333" r:id="rId5"/>
    <p:sldId id="534" r:id="rId6"/>
    <p:sldId id="1336" r:id="rId7"/>
    <p:sldId id="1232" r:id="rId8"/>
    <p:sldId id="1233" r:id="rId9"/>
    <p:sldId id="1234" r:id="rId10"/>
    <p:sldId id="1236" r:id="rId11"/>
    <p:sldId id="1237" r:id="rId12"/>
    <p:sldId id="1231" r:id="rId13"/>
    <p:sldId id="1238" r:id="rId14"/>
    <p:sldId id="1239" r:id="rId15"/>
    <p:sldId id="1240" r:id="rId16"/>
    <p:sldId id="1241" r:id="rId17"/>
    <p:sldId id="1242" r:id="rId18"/>
    <p:sldId id="1243" r:id="rId19"/>
    <p:sldId id="1244" r:id="rId20"/>
    <p:sldId id="1246" r:id="rId21"/>
    <p:sldId id="1245" r:id="rId22"/>
    <p:sldId id="1247" r:id="rId23"/>
    <p:sldId id="1248" r:id="rId24"/>
    <p:sldId id="1251" r:id="rId25"/>
    <p:sldId id="1252" r:id="rId26"/>
    <p:sldId id="1253" r:id="rId27"/>
    <p:sldId id="1254" r:id="rId28"/>
    <p:sldId id="1335" r:id="rId29"/>
    <p:sldId id="1258" r:id="rId30"/>
    <p:sldId id="1260" r:id="rId31"/>
    <p:sldId id="1261" r:id="rId32"/>
    <p:sldId id="1262" r:id="rId33"/>
    <p:sldId id="1263" r:id="rId34"/>
    <p:sldId id="1255" r:id="rId35"/>
    <p:sldId id="1256" r:id="rId36"/>
    <p:sldId id="1265" r:id="rId37"/>
    <p:sldId id="1266" r:id="rId38"/>
    <p:sldId id="1267" r:id="rId39"/>
    <p:sldId id="1276" r:id="rId40"/>
    <p:sldId id="1403" r:id="rId41"/>
    <p:sldId id="1277" r:id="rId42"/>
    <p:sldId id="1278" r:id="rId43"/>
    <p:sldId id="1399" r:id="rId44"/>
    <p:sldId id="1404" r:id="rId45"/>
    <p:sldId id="1405" r:id="rId46"/>
    <p:sldId id="1406" r:id="rId47"/>
    <p:sldId id="1407" r:id="rId48"/>
    <p:sldId id="1408" r:id="rId49"/>
    <p:sldId id="1409" r:id="rId50"/>
    <p:sldId id="1410" r:id="rId51"/>
    <p:sldId id="1411" r:id="rId52"/>
    <p:sldId id="1412" r:id="rId53"/>
    <p:sldId id="1413" r:id="rId54"/>
    <p:sldId id="1337" r:id="rId55"/>
    <p:sldId id="1338" r:id="rId56"/>
    <p:sldId id="1339" r:id="rId57"/>
    <p:sldId id="1340" r:id="rId58"/>
    <p:sldId id="1377" r:id="rId59"/>
    <p:sldId id="1378" r:id="rId60"/>
    <p:sldId id="1380" r:id="rId61"/>
    <p:sldId id="1398" r:id="rId62"/>
    <p:sldId id="1414" r:id="rId63"/>
    <p:sldId id="1415" r:id="rId64"/>
    <p:sldId id="1382" r:id="rId65"/>
    <p:sldId id="1381" r:id="rId66"/>
    <p:sldId id="1383" r:id="rId67"/>
    <p:sldId id="1384" r:id="rId68"/>
    <p:sldId id="1385" r:id="rId69"/>
    <p:sldId id="1386" r:id="rId70"/>
    <p:sldId id="1402" r:id="rId71"/>
    <p:sldId id="1387" r:id="rId72"/>
    <p:sldId id="1416" r:id="rId73"/>
    <p:sldId id="1388" r:id="rId74"/>
    <p:sldId id="1389" r:id="rId75"/>
    <p:sldId id="1390" r:id="rId76"/>
    <p:sldId id="1391" r:id="rId77"/>
    <p:sldId id="1392" r:id="rId78"/>
    <p:sldId id="1393" r:id="rId79"/>
    <p:sldId id="1394" r:id="rId80"/>
    <p:sldId id="1280" r:id="rId81"/>
    <p:sldId id="1395" r:id="rId82"/>
    <p:sldId id="1396" r:id="rId83"/>
    <p:sldId id="1417" r:id="rId84"/>
  </p:sldIdLst>
  <p:sldSz cx="12198350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3938">
          <p15:clr>
            <a:srgbClr val="A4A3A4"/>
          </p15:clr>
        </p15:guide>
        <p15:guide id="3" pos="287">
          <p15:clr>
            <a:srgbClr val="A4A3A4"/>
          </p15:clr>
        </p15:guide>
        <p15:guide id="4" pos="1891">
          <p15:clr>
            <a:srgbClr val="A4A3A4"/>
          </p15:clr>
        </p15:guide>
        <p15:guide id="5" pos="122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ta_hsong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0033"/>
    <a:srgbClr val="0071C1"/>
    <a:srgbClr val="EA5F00"/>
    <a:srgbClr val="FAFAFA"/>
    <a:srgbClr val="005DA2"/>
    <a:srgbClr val="FFC400"/>
    <a:srgbClr val="FFD347"/>
    <a:srgbClr val="FFC91D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20" autoAdjust="0"/>
    <p:restoredTop sz="94789"/>
  </p:normalViewPr>
  <p:slideViewPr>
    <p:cSldViewPr>
      <p:cViewPr varScale="1">
        <p:scale>
          <a:sx n="115" d="100"/>
          <a:sy n="115" d="100"/>
        </p:scale>
        <p:origin x="224" y="232"/>
      </p:cViewPr>
      <p:guideLst>
        <p:guide orient="horz" pos="2112"/>
        <p:guide pos="3938"/>
        <p:guide pos="287"/>
        <p:guide pos="1891"/>
        <p:guide pos="12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7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heme" Target="theme/theme1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commentAuthors" Target="commentAuthor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D6D92A-FE85-43CA-9E22-F93C793B02B6}" type="doc">
      <dgm:prSet loTypeId="urn:microsoft.com/office/officeart/2005/8/layout/chevron1" loCatId="process" qsTypeId="urn:microsoft.com/office/officeart/2005/8/quickstyle/3d2#1" qsCatId="3D" csTypeId="urn:microsoft.com/office/officeart/2005/8/colors/accent1_2#1" csCatId="accent1" phldr="1"/>
      <dgm:spPr/>
    </dgm:pt>
    <dgm:pt modelId="{BD9D8002-E795-4BA2-9FB4-FED3486242A3}">
      <dgm:prSet phldrT="[文本]" custT="1"/>
      <dgm:spPr/>
      <dgm:t>
        <a:bodyPr/>
        <a:lstStyle/>
        <a:p>
          <a:r>
            <a: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打开文件</a:t>
          </a:r>
        </a:p>
      </dgm:t>
    </dgm:pt>
    <dgm:pt modelId="{3229D10F-A4DD-4659-BC60-83849F0533CF}" type="parTrans" cxnId="{53378FBA-7D9A-4725-981E-44E74F46D6AB}">
      <dgm:prSet/>
      <dgm:spPr/>
      <dgm:t>
        <a:bodyPr/>
        <a:lstStyle/>
        <a:p>
          <a:endParaRPr lang="zh-CN" altLang="en-US"/>
        </a:p>
      </dgm:t>
    </dgm:pt>
    <dgm:pt modelId="{E8E32BC8-5A5D-41E6-B041-6506C6E769CC}" type="sibTrans" cxnId="{53378FBA-7D9A-4725-981E-44E74F46D6AB}">
      <dgm:prSet/>
      <dgm:spPr/>
      <dgm:t>
        <a:bodyPr/>
        <a:lstStyle/>
        <a:p>
          <a:endParaRPr lang="zh-CN" altLang="en-US"/>
        </a:p>
      </dgm:t>
    </dgm:pt>
    <dgm:pt modelId="{3305CB41-9F8A-4559-8628-C56898DF7953}">
      <dgm:prSet phldrT="[文本]" custT="1"/>
      <dgm:spPr/>
      <dgm:t>
        <a:bodyPr/>
        <a:lstStyle/>
        <a:p>
          <a:r>
            <a: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操作文件</a:t>
          </a:r>
        </a:p>
      </dgm:t>
    </dgm:pt>
    <dgm:pt modelId="{FFF4B489-ED3E-44D4-AC8E-8CCD0CB80D9E}" type="parTrans" cxnId="{8F97FF12-005F-4044-9E17-A0106B141DA2}">
      <dgm:prSet/>
      <dgm:spPr/>
      <dgm:t>
        <a:bodyPr/>
        <a:lstStyle/>
        <a:p>
          <a:endParaRPr lang="zh-CN" altLang="en-US"/>
        </a:p>
      </dgm:t>
    </dgm:pt>
    <dgm:pt modelId="{C5276DAD-DFF5-43E3-8E79-FC913AF944A8}" type="sibTrans" cxnId="{8F97FF12-005F-4044-9E17-A0106B141DA2}">
      <dgm:prSet/>
      <dgm:spPr/>
      <dgm:t>
        <a:bodyPr/>
        <a:lstStyle/>
        <a:p>
          <a:endParaRPr lang="zh-CN" altLang="en-US"/>
        </a:p>
      </dgm:t>
    </dgm:pt>
    <dgm:pt modelId="{09446EB6-752B-458D-B430-F4B5EF324A8C}">
      <dgm:prSet phldrT="[文本]" custT="1"/>
      <dgm:spPr/>
      <dgm:t>
        <a:bodyPr/>
        <a:lstStyle/>
        <a:p>
          <a:r>
            <a: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关闭文件</a:t>
          </a:r>
        </a:p>
      </dgm:t>
    </dgm:pt>
    <dgm:pt modelId="{F234A69C-5873-4C07-AE8C-0B42EBC04C6B}" type="parTrans" cxnId="{29EF4128-9750-4BD2-9D92-06CC747C2A01}">
      <dgm:prSet/>
      <dgm:spPr/>
      <dgm:t>
        <a:bodyPr/>
        <a:lstStyle/>
        <a:p>
          <a:endParaRPr lang="zh-CN" altLang="en-US"/>
        </a:p>
      </dgm:t>
    </dgm:pt>
    <dgm:pt modelId="{8C3EBBF1-FCD0-4769-AC0E-A6196314ED59}" type="sibTrans" cxnId="{29EF4128-9750-4BD2-9D92-06CC747C2A01}">
      <dgm:prSet/>
      <dgm:spPr/>
      <dgm:t>
        <a:bodyPr/>
        <a:lstStyle/>
        <a:p>
          <a:endParaRPr lang="zh-CN" altLang="en-US"/>
        </a:p>
      </dgm:t>
    </dgm:pt>
    <dgm:pt modelId="{C55BD095-BB54-4F0B-BBF1-AE15F80CA04D}" type="pres">
      <dgm:prSet presAssocID="{1FD6D92A-FE85-43CA-9E22-F93C793B02B6}" presName="Name0" presStyleCnt="0">
        <dgm:presLayoutVars>
          <dgm:dir/>
          <dgm:animLvl val="lvl"/>
          <dgm:resizeHandles val="exact"/>
        </dgm:presLayoutVars>
      </dgm:prSet>
      <dgm:spPr/>
    </dgm:pt>
    <dgm:pt modelId="{D5777570-024B-4038-9A96-6C1FFD781F44}" type="pres">
      <dgm:prSet presAssocID="{BD9D8002-E795-4BA2-9FB4-FED3486242A3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536703B-D65D-4507-ADB2-20299E1D9603}" type="pres">
      <dgm:prSet presAssocID="{E8E32BC8-5A5D-41E6-B041-6506C6E769CC}" presName="parTxOnlySpace" presStyleCnt="0"/>
      <dgm:spPr/>
    </dgm:pt>
    <dgm:pt modelId="{CA8AAA83-F3FC-4C71-8A59-6F10FE5C0DAE}" type="pres">
      <dgm:prSet presAssocID="{3305CB41-9F8A-4559-8628-C56898DF7953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07C3645-D58A-4D13-855D-B5F835482910}" type="pres">
      <dgm:prSet presAssocID="{C5276DAD-DFF5-43E3-8E79-FC913AF944A8}" presName="parTxOnlySpace" presStyleCnt="0"/>
      <dgm:spPr/>
    </dgm:pt>
    <dgm:pt modelId="{20287553-2D82-44EE-B372-C759C14201C9}" type="pres">
      <dgm:prSet presAssocID="{09446EB6-752B-458D-B430-F4B5EF324A8C}" presName="parTxOnly" presStyleLbl="node1" presStyleIdx="2" presStyleCnt="3" custLinFactNeighborX="25207" custLinFactNeighborY="2586">
        <dgm:presLayoutVars>
          <dgm:chMax val="0"/>
          <dgm:chPref val="0"/>
          <dgm:bulletEnabled val="1"/>
        </dgm:presLayoutVars>
      </dgm:prSet>
      <dgm:spPr/>
    </dgm:pt>
  </dgm:ptLst>
  <dgm:cxnLst>
    <dgm:cxn modelId="{8F97FF12-005F-4044-9E17-A0106B141DA2}" srcId="{1FD6D92A-FE85-43CA-9E22-F93C793B02B6}" destId="{3305CB41-9F8A-4559-8628-C56898DF7953}" srcOrd="1" destOrd="0" parTransId="{FFF4B489-ED3E-44D4-AC8E-8CCD0CB80D9E}" sibTransId="{C5276DAD-DFF5-43E3-8E79-FC913AF944A8}"/>
    <dgm:cxn modelId="{D2B8E214-10E9-47B9-8E28-A2980968188D}" type="presOf" srcId="{3305CB41-9F8A-4559-8628-C56898DF7953}" destId="{CA8AAA83-F3FC-4C71-8A59-6F10FE5C0DAE}" srcOrd="0" destOrd="0" presId="urn:microsoft.com/office/officeart/2005/8/layout/chevron1"/>
    <dgm:cxn modelId="{29EF4128-9750-4BD2-9D92-06CC747C2A01}" srcId="{1FD6D92A-FE85-43CA-9E22-F93C793B02B6}" destId="{09446EB6-752B-458D-B430-F4B5EF324A8C}" srcOrd="2" destOrd="0" parTransId="{F234A69C-5873-4C07-AE8C-0B42EBC04C6B}" sibTransId="{8C3EBBF1-FCD0-4769-AC0E-A6196314ED59}"/>
    <dgm:cxn modelId="{CE508276-4DCD-4072-AA7D-DFBA1BC786B5}" type="presOf" srcId="{09446EB6-752B-458D-B430-F4B5EF324A8C}" destId="{20287553-2D82-44EE-B372-C759C14201C9}" srcOrd="0" destOrd="0" presId="urn:microsoft.com/office/officeart/2005/8/layout/chevron1"/>
    <dgm:cxn modelId="{672C0978-E4C2-42BD-BDD8-41423A287DF6}" type="presOf" srcId="{1FD6D92A-FE85-43CA-9E22-F93C793B02B6}" destId="{C55BD095-BB54-4F0B-BBF1-AE15F80CA04D}" srcOrd="0" destOrd="0" presId="urn:microsoft.com/office/officeart/2005/8/layout/chevron1"/>
    <dgm:cxn modelId="{816F769A-2EF3-493E-8057-61C6C3FB30A2}" type="presOf" srcId="{BD9D8002-E795-4BA2-9FB4-FED3486242A3}" destId="{D5777570-024B-4038-9A96-6C1FFD781F44}" srcOrd="0" destOrd="0" presId="urn:microsoft.com/office/officeart/2005/8/layout/chevron1"/>
    <dgm:cxn modelId="{53378FBA-7D9A-4725-981E-44E74F46D6AB}" srcId="{1FD6D92A-FE85-43CA-9E22-F93C793B02B6}" destId="{BD9D8002-E795-4BA2-9FB4-FED3486242A3}" srcOrd="0" destOrd="0" parTransId="{3229D10F-A4DD-4659-BC60-83849F0533CF}" sibTransId="{E8E32BC8-5A5D-41E6-B041-6506C6E769CC}"/>
    <dgm:cxn modelId="{DE354655-1072-4467-9C87-E602D9A96229}" type="presParOf" srcId="{C55BD095-BB54-4F0B-BBF1-AE15F80CA04D}" destId="{D5777570-024B-4038-9A96-6C1FFD781F44}" srcOrd="0" destOrd="0" presId="urn:microsoft.com/office/officeart/2005/8/layout/chevron1"/>
    <dgm:cxn modelId="{8D599552-5D6A-4768-AEBB-FA6907F0470F}" type="presParOf" srcId="{C55BD095-BB54-4F0B-BBF1-AE15F80CA04D}" destId="{2536703B-D65D-4507-ADB2-20299E1D9603}" srcOrd="1" destOrd="0" presId="urn:microsoft.com/office/officeart/2005/8/layout/chevron1"/>
    <dgm:cxn modelId="{F0913C2E-25A3-442D-AD17-EE370D8CD78E}" type="presParOf" srcId="{C55BD095-BB54-4F0B-BBF1-AE15F80CA04D}" destId="{CA8AAA83-F3FC-4C71-8A59-6F10FE5C0DAE}" srcOrd="2" destOrd="0" presId="urn:microsoft.com/office/officeart/2005/8/layout/chevron1"/>
    <dgm:cxn modelId="{18DD9A65-748D-412F-9B1C-08F8A5B75928}" type="presParOf" srcId="{C55BD095-BB54-4F0B-BBF1-AE15F80CA04D}" destId="{B07C3645-D58A-4D13-855D-B5F835482910}" srcOrd="3" destOrd="0" presId="urn:microsoft.com/office/officeart/2005/8/layout/chevron1"/>
    <dgm:cxn modelId="{6B44D180-F902-43DD-9777-6D381E466255}" type="presParOf" srcId="{C55BD095-BB54-4F0B-BBF1-AE15F80CA04D}" destId="{20287553-2D82-44EE-B372-C759C14201C9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777570-024B-4038-9A96-6C1FFD781F44}">
      <dsp:nvSpPr>
        <dsp:cNvPr id="0" name=""/>
        <dsp:cNvSpPr/>
      </dsp:nvSpPr>
      <dsp:spPr>
        <a:xfrm>
          <a:off x="2382" y="801846"/>
          <a:ext cx="2902742" cy="1161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打开文件</a:t>
          </a:r>
        </a:p>
      </dsp:txBody>
      <dsp:txXfrm>
        <a:off x="582931" y="801846"/>
        <a:ext cx="1741645" cy="1161097"/>
      </dsp:txXfrm>
    </dsp:sp>
    <dsp:sp modelId="{CA8AAA83-F3FC-4C71-8A59-6F10FE5C0DAE}">
      <dsp:nvSpPr>
        <dsp:cNvPr id="0" name=""/>
        <dsp:cNvSpPr/>
      </dsp:nvSpPr>
      <dsp:spPr>
        <a:xfrm>
          <a:off x="2614851" y="801846"/>
          <a:ext cx="2902742" cy="1161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操作文件</a:t>
          </a:r>
        </a:p>
      </dsp:txBody>
      <dsp:txXfrm>
        <a:off x="3195400" y="801846"/>
        <a:ext cx="1741645" cy="1161097"/>
      </dsp:txXfrm>
    </dsp:sp>
    <dsp:sp modelId="{20287553-2D82-44EE-B372-C759C14201C9}">
      <dsp:nvSpPr>
        <dsp:cNvPr id="0" name=""/>
        <dsp:cNvSpPr/>
      </dsp:nvSpPr>
      <dsp:spPr>
        <a:xfrm>
          <a:off x="5229702" y="831872"/>
          <a:ext cx="2902742" cy="1161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关闭文件</a:t>
          </a:r>
        </a:p>
      </dsp:txBody>
      <dsp:txXfrm>
        <a:off x="5810251" y="831872"/>
        <a:ext cx="1741645" cy="11610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6995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01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741D-4F8E-7C66-2BAC-86911893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0856C-41AE-B7E4-8CC3-29BCC1805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AFA8C9-B4AF-FB00-42B8-7ABA97045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FB62E4-8192-AB48-0693-6302D04B2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3154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3C06-478A-34C7-FA5F-FCE992E5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D5DAFD-4A6F-ECEB-63B8-8B48D2B5D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AF976E-F31D-5C77-43A5-68EE80427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A6BD5-749C-0F42-18DB-43A4B4060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9693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04DD7-6C1D-3153-CB14-BC81A6789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C59415-F2B8-0BA2-49EA-50D6754C7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48F850-D0BC-640A-6A0F-574D92352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E6CF55-3B9D-EB36-ABDB-0120F8C64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9827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DC38-C0AE-8401-6B72-07C732C47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02BA65-B352-8EA4-9AC9-F5A0AFEDF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0039E3-4B31-9900-923A-99938E7F0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3F28C8-FDF7-4517-36AB-87BA3F064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5112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8D66E-20E0-7BAE-403E-6D284AFE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85A70A-F2D8-33E1-D6EC-6BE20C969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C393DB-5FF7-EEAB-1A15-C3F03808A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AEFCC9-16E4-E380-28E4-25ED40F83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7503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9E36-1586-D372-3321-DF10A5C9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10CBE1-2D46-30B1-A33E-F272980A2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6BD2C8-90D3-0AAB-644D-B62EEF969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507DAC-5C3D-25D1-7055-5B00A1D43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464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458F-2805-ED89-DC6E-C61765F0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BD002D-A592-EC08-8DD3-A69E353C1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952AAB-F30B-8114-6802-DF8281ECA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85F7E8-EF2C-7125-DEB1-C458E55B2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18920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A2CC4-7AB9-83B2-E52C-81016046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E77804-E9B7-5F8C-AACE-F15FF5AC3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47346D-455A-196C-075E-FD98C22BC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ECB01D-34CF-648A-26F7-2DE4C5796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2962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353DB-3E16-6E1D-0386-E068C7F0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9353F2-D2B8-4FF5-CF3B-97807FD5F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5BA790-16CB-1984-2C1C-5A1DEDCFB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65BD80-EB75-5CB1-CE6A-640BA359C2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0864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D01E2-006F-0F5F-647D-93D27CDB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8FBBDC-8B5C-A27C-3805-7E766B094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6E9567-5474-2076-685C-1116A859F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1F276-5270-763D-74FB-7175C3D04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3365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3C25-AF32-0DB1-1C3C-F53BE931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FBB110-13A5-496C-FA1A-BF31A59FC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B2FE3A-2654-1702-AB32-A17757799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B2E92-F950-65BE-AA0E-FA2F96DAC5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27480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75734-0326-57A9-EBB1-7823BB9C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C6B7B5-CB2A-94E0-37D2-9BBCAAAB6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FB60A4-44A7-6D80-A9F3-B35C7E51C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C69690-3B68-547C-0D49-35C5AB601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968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D04BB-FF65-5943-001C-F48AEF8F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6051FF-55FF-8D32-542C-85AFCCCA0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97DB7F-750F-A8D8-C57F-E21DCA787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F57DBA-E085-8175-2BFE-CAC27EC41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451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2093-4BC2-1933-9211-4302682C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ACB7B0-B737-9C8F-6DF9-03105E69F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4C116B-9D81-1FF6-398A-9A46D24F9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2AEE26-EF24-86E5-1E52-C0420D0070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76265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7C224-067D-BA55-1651-ECB47409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471B4F-AD0F-A806-3A17-8F07C6890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5D4DF3-A64F-D089-67E6-A49218BA8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35813D-1EC0-D681-6BAA-C54F1B309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718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914599" y="335723"/>
            <a:ext cx="3456384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第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6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章 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Python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高级特性</a:t>
            </a:r>
          </a:p>
        </p:txBody>
      </p:sp>
    </p:spTree>
  </p:cSld>
  <p:clrMapOvr>
    <a:masterClrMapping/>
  </p:clrMapOvr>
  <p:transition spd="slow" advTm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1"/>
            <a:ext cx="10978515" cy="11432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918" y="1535469"/>
            <a:ext cx="5389723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918" y="2175379"/>
            <a:ext cx="5389723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593" y="1535469"/>
            <a:ext cx="5391840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593" y="2175379"/>
            <a:ext cx="5391840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xfrm>
            <a:off x="609917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6995A-94BE-41D3-9DC8-217D2F6F4485}" type="datetime1">
              <a:rPr lang="zh-CN" altLang="en-US"/>
              <a:t>2025/11/17</a:t>
            </a:fld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7770" y="6249847"/>
            <a:ext cx="3862811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42151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33C983-41ED-4461-AC69-AA7BCDD3E0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636" y="6521769"/>
            <a:ext cx="2744629" cy="36521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zh-CN" altLang="en-US" sz="1800" kern="120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BC18AD7-D9E8-48DE-B5E0-53D11EE22353}" type="datetime1">
              <a:rPr lang="en-US" altLang="zh-CN" smtClean="0"/>
              <a:t>11/17/25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440416" y="6521769"/>
            <a:ext cx="4116943" cy="365210"/>
          </a:xfrm>
          <a:prstGeom prst="rect">
            <a:avLst/>
          </a:prstGeom>
        </p:spPr>
        <p:txBody>
          <a:bodyPr/>
          <a:lstStyle>
            <a:lvl1pPr>
              <a:defRPr lang="zh-CN" altLang="en-US" sz="1800" kern="1200" dirty="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外经贸</a:t>
            </a:r>
            <a:r>
              <a:rPr lang="en-US" altLang="zh-CN" dirty="0"/>
              <a:t>-</a:t>
            </a:r>
            <a:r>
              <a:rPr lang="zh-CN" altLang="en-US" dirty="0"/>
              <a:t>信息学院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234222" y="6521769"/>
            <a:ext cx="2744629" cy="365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370D8578-DDD4-487D-A316-C8E65CC577E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Tm="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914599" y="335723"/>
            <a:ext cx="3456384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第六章 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Python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高级特性</a:t>
            </a:r>
          </a:p>
        </p:txBody>
      </p:sp>
    </p:spTree>
  </p:cSld>
  <p:clrMapOvr>
    <a:masterClrMapping/>
  </p:clrMapOvr>
  <p:transition spd="slow" advTm="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矩形 3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1"/>
            <a:ext cx="10978515" cy="11432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918" y="1535469"/>
            <a:ext cx="5389723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918" y="2175379"/>
            <a:ext cx="5389723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593" y="1535469"/>
            <a:ext cx="5391840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593" y="2175379"/>
            <a:ext cx="5391840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xfrm>
            <a:off x="609917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6995A-94BE-41D3-9DC8-217D2F6F4485}" type="datetime1">
              <a:rPr lang="zh-CN" altLang="en-US"/>
              <a:t>2025/11/17</a:t>
            </a:fld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7770" y="6249847"/>
            <a:ext cx="3862811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42151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33C983-41ED-4461-AC69-AA7BCDD3E0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 advTm="0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636" y="6521769"/>
            <a:ext cx="2744629" cy="36521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zh-CN" altLang="en-US" sz="1800" kern="120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BC18AD7-D9E8-48DE-B5E0-53D11EE22353}" type="datetime1">
              <a:rPr lang="en-US" altLang="zh-CN" smtClean="0"/>
              <a:t>11/17/25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440416" y="6521769"/>
            <a:ext cx="4116943" cy="365210"/>
          </a:xfrm>
          <a:prstGeom prst="rect">
            <a:avLst/>
          </a:prstGeom>
        </p:spPr>
        <p:txBody>
          <a:bodyPr/>
          <a:lstStyle>
            <a:lvl1pPr>
              <a:defRPr lang="zh-CN" altLang="en-US" sz="1800" kern="1200" dirty="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外经贸</a:t>
            </a:r>
            <a:r>
              <a:rPr lang="en-US" altLang="zh-CN" dirty="0"/>
              <a:t>-</a:t>
            </a:r>
            <a:r>
              <a:rPr lang="zh-CN" altLang="en-US" dirty="0"/>
              <a:t>信息学院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234222" y="6521769"/>
            <a:ext cx="2744629" cy="365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370D8578-DDD4-487D-A316-C8E65CC577E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</p:sldLayoutIdLst>
  <p:transition spd="slow" advTm="0">
    <p:wipe/>
  </p:transition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ransition spd="slow" advTm="0">
    <p:wipe/>
  </p:transition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3" Type="http://schemas.openxmlformats.org/officeDocument/2006/relationships/tags" Target="../tags/tag2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byhh/p/15530528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m0_72557783/article/details/128506957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3" Type="http://schemas.openxmlformats.org/officeDocument/2006/relationships/tags" Target="../tags/tag4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0" Type="http://schemas.openxmlformats.org/officeDocument/2006/relationships/tags" Target="../tags/tag60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notesSlide" Target="../notesSlides/notesSlide5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3" Type="http://schemas.openxmlformats.org/officeDocument/2006/relationships/tags" Target="../tags/tag6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0" Type="http://schemas.openxmlformats.org/officeDocument/2006/relationships/tags" Target="../tags/tag80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notesSlide" Target="../notesSlides/notesSlide6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Jungle1219/p/12720960.html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3" Type="http://schemas.openxmlformats.org/officeDocument/2006/relationships/tags" Target="../tags/tag84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20" Type="http://schemas.openxmlformats.org/officeDocument/2006/relationships/tags" Target="../tags/tag101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10" Type="http://schemas.openxmlformats.org/officeDocument/2006/relationships/tags" Target="../tags/tag91.xml"/><Relationship Id="rId19" Type="http://schemas.openxmlformats.org/officeDocument/2006/relationships/tags" Target="../tags/tag100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Relationship Id="rId22" Type="http://schemas.openxmlformats.org/officeDocument/2006/relationships/notesSlide" Target="../notesSlides/notesSlide7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0" y="0"/>
            <a:ext cx="12192000" cy="6858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59839" y="2286064"/>
            <a:ext cx="5692140" cy="82994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lvl="0" algn="l" defTabSz="1219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1C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大数据分析语言基础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5274517" y="3256648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27933" y="4199919"/>
            <a:ext cx="4407611" cy="55399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安徽大学互联网</a:t>
            </a:r>
            <a:r>
              <a:rPr lang="zh-CN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学院  景琨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391230" y="2176595"/>
            <a:ext cx="132770" cy="1724700"/>
            <a:chOff x="995161" y="2391860"/>
            <a:chExt cx="135370" cy="175847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130530" y="2391860"/>
              <a:ext cx="0" cy="175847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等腰三角形 11"/>
            <p:cNvSpPr/>
            <p:nvPr/>
          </p:nvSpPr>
          <p:spPr>
            <a:xfrm rot="16200000">
              <a:off x="984331" y="3203412"/>
              <a:ext cx="157029" cy="135370"/>
            </a:xfrm>
            <a:prstGeom prst="triangl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5005486" y="3317895"/>
            <a:ext cx="643001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sz="2800" kern="100" dirty="0">
                <a:ln>
                  <a:solidFill>
                    <a:schemeClr val="bg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mpact" panose="020B0806030902050204" pitchFamily="34" charset="0"/>
                <a:ea typeface="方正综艺简体" panose="02010601030101010101" pitchFamily="2" charset="-122"/>
                <a:cs typeface="Impact" panose="020B0806030902050204" pitchFamily="34" charset="0"/>
              </a:rPr>
              <a:t>Language Preparation for Big Data Analysis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-3290" b="2859"/>
          <a:stretch>
            <a:fillRect/>
          </a:stretch>
        </p:blipFill>
        <p:spPr>
          <a:xfrm>
            <a:off x="10753934" y="179274"/>
            <a:ext cx="1347024" cy="126682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99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99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99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338535" y="2219568"/>
            <a:ext cx="2806485" cy="1351280"/>
          </a:xfrm>
          <a:prstGeom prst="rect">
            <a:avLst/>
          </a:prstGeom>
          <a:noFill/>
        </p:spPr>
        <p:txBody>
          <a:bodyPr wrap="square" lIns="121880" tIns="60938" rIns="121880" bIns="60938">
            <a:spAutoFit/>
          </a:bodyPr>
          <a:lstStyle/>
          <a:p>
            <a:pPr algn="r">
              <a:defRPr/>
            </a:pPr>
            <a:r>
              <a:rPr lang="zh-CN" altLang="en-US" sz="48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defRPr/>
            </a:pPr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75057" y="2629778"/>
            <a:ext cx="669674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</a:t>
            </a:r>
            <a:r>
              <a:rPr lang="en-US" altLang="zh-CN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高级特性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生成器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迭代器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38150" y="1764665"/>
            <a:ext cx="161290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教学目标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922711" y="1656318"/>
            <a:ext cx="10025424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掌握类的思想及编写方法；了解生成器和迭代器的原理；掌握基本的文件操作方法；了解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程序错误处理方法。</a:t>
            </a:r>
          </a:p>
        </p:txBody>
      </p:sp>
      <p:sp>
        <p:nvSpPr>
          <p:cNvPr id="30" name="矩形 29"/>
          <p:cNvSpPr/>
          <p:nvPr/>
        </p:nvSpPr>
        <p:spPr>
          <a:xfrm>
            <a:off x="437515" y="4304665"/>
            <a:ext cx="161290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教学学时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2199005" y="4125595"/>
            <a:ext cx="8013700" cy="637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学时（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理论讲解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+2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上机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实践）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6.1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生成器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迭代器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97485" y="870585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从面向对象说起：</a:t>
            </a:r>
            <a:endParaRPr lang="en-US" altLang="zh-CN" sz="2800" dirty="0">
              <a:solidFill>
                <a:srgbClr val="FF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557270" y="844550"/>
            <a:ext cx="618426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什么是对象？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40435" y="1584960"/>
            <a:ext cx="990536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对象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是人们要进行研究的任何事物，从最简单的整数到复杂的飞机均可看作对象，它不仅能表示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具体的事物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，还能表示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抽象的规则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计划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或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事件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940435" y="3644265"/>
            <a:ext cx="9754235" cy="2471420"/>
            <a:chOff x="1481" y="5739"/>
            <a:chExt cx="15361" cy="3892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" y="5739"/>
              <a:ext cx="3780" cy="378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0" y="6403"/>
              <a:ext cx="5006" cy="322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50" y="6698"/>
              <a:ext cx="4392" cy="264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5036820" y="3034665"/>
            <a:ext cx="171323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具体的事物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97485" y="870585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从面向对象说起：</a:t>
            </a:r>
            <a:endParaRPr lang="en-US" altLang="zh-CN" sz="2800" dirty="0">
              <a:solidFill>
                <a:srgbClr val="FF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557270" y="844550"/>
            <a:ext cx="618426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什么是对象？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40435" y="1584960"/>
            <a:ext cx="990536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对象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是人们要进行研究的任何事物，从最简单的整数到复杂的飞机均可看作对象，它不仅能表示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具体的事物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，还能表示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抽象的规则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计划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或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事件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86510" y="4135755"/>
            <a:ext cx="70231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一份保险合同、一次优惠政策、一个游戏规则等等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36820" y="3199765"/>
            <a:ext cx="140716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规则对象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97485" y="870585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从面向对象说起：</a:t>
            </a:r>
            <a:endParaRPr lang="en-US" altLang="zh-CN" sz="2800" dirty="0">
              <a:solidFill>
                <a:srgbClr val="FF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557270" y="844550"/>
            <a:ext cx="618426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什么是对象？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40435" y="1584960"/>
            <a:ext cx="990536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对象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是人们要进行研究的任何事物，从最简单的整数到复杂的飞机均可看作对象，它不仅能表示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具体的事物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，还能表示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抽象的规则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、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计划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或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事件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86510" y="4135755"/>
            <a:ext cx="8093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一次购买下单、一次飞机的飞行、一次银行取款等等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36820" y="3199765"/>
            <a:ext cx="140716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事件对象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97485" y="870585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从面向对象说起：</a:t>
            </a:r>
            <a:endParaRPr lang="en-US" altLang="zh-CN" sz="2800" dirty="0">
              <a:solidFill>
                <a:srgbClr val="FF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557270" y="844550"/>
            <a:ext cx="618426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哪些不是对象？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40435" y="1574800"/>
            <a:ext cx="99053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无法抽象出</a:t>
            </a: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具体事物的东西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，是没有状态和行为的</a:t>
            </a:r>
            <a:endParaRPr lang="zh-CN" altLang="en-US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0435" y="2443480"/>
            <a:ext cx="99053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如色彩、身高、年龄、美丽、重量等等，不能单独作为一个事物存在，但可以作为对象的属性</a:t>
            </a:r>
            <a:endParaRPr lang="zh-CN" altLang="en-US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97485" y="870585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什么是面向对象：</a:t>
            </a:r>
            <a:endParaRPr lang="en-US" altLang="zh-CN" sz="2800" dirty="0">
              <a:solidFill>
                <a:srgbClr val="FF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78205" y="1976120"/>
            <a:ext cx="99053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</a:t>
            </a:r>
            <a:r>
              <a:rPr 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按人们认识客观世界的系统思维方式，采用基于对象的概念建立客观世界的事物及其之间联系的模型，由此来分析、设计和实现软件的方法</a:t>
            </a:r>
            <a:endParaRPr lang="zh-CN" altLang="en-US" sz="28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97485" y="870585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一个例子：</a:t>
            </a:r>
            <a:endParaRPr lang="en-US" altLang="zh-CN" sz="2800" dirty="0">
              <a:solidFill>
                <a:srgbClr val="FF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777875" y="1789430"/>
            <a:ext cx="618426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把大象放冰箱总共分为几步？</a:t>
            </a:r>
            <a:endParaRPr lang="en-US" alt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95" y="2770505"/>
            <a:ext cx="3326130" cy="2882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b="10873"/>
          <a:stretch>
            <a:fillRect/>
          </a:stretch>
        </p:blipFill>
        <p:spPr>
          <a:xfrm>
            <a:off x="4189095" y="2770505"/>
            <a:ext cx="7723505" cy="2882265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/>
        </p:nvSpPr>
        <p:spPr>
          <a:xfrm>
            <a:off x="4909185" y="5817870"/>
            <a:ext cx="1665605" cy="57975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打开冰箱</a:t>
            </a:r>
            <a:endParaRPr lang="en-US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7548245" y="5725160"/>
            <a:ext cx="2117725" cy="765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00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把大象装进去</a:t>
            </a:r>
            <a:endParaRPr lang="en-US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10010140" y="5725160"/>
            <a:ext cx="2117725" cy="765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关上冰箱门</a:t>
            </a:r>
            <a:endParaRPr lang="en-US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7179310" y="1269365"/>
            <a:ext cx="3168015" cy="1296670"/>
          </a:xfrm>
          <a:prstGeom prst="wedgeRectCallout">
            <a:avLst>
              <a:gd name="adj1" fmla="val -61785"/>
              <a:gd name="adj2" fmla="val 6567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面向过程思想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/>
      <p:bldP spid="7" grpId="1"/>
      <p:bldP spid="8" grpId="0"/>
      <p:bldP spid="8" grpId="1"/>
      <p:bldP spid="9" grpId="0"/>
      <p:bldP spid="9" grpId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97485" y="870585"/>
            <a:ext cx="424878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一个例子：</a:t>
            </a:r>
            <a:endParaRPr lang="en-US" altLang="zh-CN" sz="2800" dirty="0">
              <a:solidFill>
                <a:srgbClr val="FF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777875" y="1789430"/>
            <a:ext cx="942657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把大象放冰箱总共分为几步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?</a:t>
            </a:r>
            <a:r>
              <a:rPr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每一步可以定义成一个函数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285875" y="2903855"/>
            <a:ext cx="2488565" cy="57975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openTheDoor()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1263015" y="3555365"/>
            <a:ext cx="4587240" cy="765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pushTheElephant()</a:t>
            </a: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1263015" y="4355465"/>
            <a:ext cx="3183255" cy="765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closeTheDoor()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2308225" y="772795"/>
            <a:ext cx="831405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用</a:t>
            </a:r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面向对象思想</a:t>
            </a:r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如何解决大象装冰箱的问题？</a:t>
            </a:r>
            <a:endParaRPr lang="en-US" altLang="en-US" sz="2800" dirty="0">
              <a:solidFill>
                <a:schemeClr val="tx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8205" y="1986915"/>
            <a:ext cx="990536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</a:t>
            </a:r>
            <a:r>
              <a:rPr 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首先要识别和分析出问题中涉及到的名词，抽象出对象</a:t>
            </a:r>
            <a:endParaRPr lang="zh-CN" altLang="en-US" sz="28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56302" b="8473"/>
          <a:stretch>
            <a:fillRect/>
          </a:stretch>
        </p:blipFill>
        <p:spPr>
          <a:xfrm>
            <a:off x="1466850" y="3016885"/>
            <a:ext cx="3375025" cy="2680335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/>
        </p:nvSpPr>
        <p:spPr>
          <a:xfrm>
            <a:off x="1858010" y="5807710"/>
            <a:ext cx="1665605" cy="57975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大象</a:t>
            </a:r>
            <a:endParaRPr lang="en-US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3601720" y="5807710"/>
            <a:ext cx="1665605" cy="57975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冰箱</a:t>
            </a:r>
            <a:endParaRPr lang="en-US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71745" y="3250565"/>
            <a:ext cx="695579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</a:t>
            </a:r>
            <a:r>
              <a:rPr 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从问题领域识别和分析出事物、规则、计划、事件等对象的过程即为</a:t>
            </a:r>
            <a:r>
              <a:rPr lang="zh-CN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面向对象分析</a:t>
            </a:r>
            <a:r>
              <a:rPr 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，简称</a:t>
            </a:r>
            <a:r>
              <a:rPr lang="en-US" altLang="zh-CN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OOA</a:t>
            </a:r>
            <a:r>
              <a:rPr lang="zh-CN" altLang="en-US"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（Object-Oriented Analysis）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0" grpId="1"/>
      <p:bldP spid="11" grpId="0"/>
      <p:bldP spid="11" grpId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2308225" y="772795"/>
            <a:ext cx="831405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用</a:t>
            </a:r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面向对象思想</a:t>
            </a:r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如何解决大象装冰箱的问题？</a:t>
            </a:r>
            <a:endParaRPr lang="en-US" altLang="en-US" sz="2800" dirty="0">
              <a:solidFill>
                <a:schemeClr val="tx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8205" y="1976120"/>
            <a:ext cx="990536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</a:t>
            </a:r>
            <a:r>
              <a:rPr 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其次，要对模型进行进一步细化，以使模型能够应对各种需求的变化。</a:t>
            </a:r>
            <a:endParaRPr lang="zh-CN" altLang="en-US" sz="28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56302" b="8473"/>
          <a:stretch>
            <a:fillRect/>
          </a:stretch>
        </p:blipFill>
        <p:spPr>
          <a:xfrm>
            <a:off x="603885" y="3514090"/>
            <a:ext cx="3375025" cy="268033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4204970" y="3514090"/>
            <a:ext cx="7751445" cy="1586865"/>
            <a:chOff x="6622" y="5534"/>
            <a:chExt cx="12207" cy="2499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87" y="5873"/>
              <a:ext cx="3000" cy="216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22" y="5534"/>
              <a:ext cx="4225" cy="2499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073" y="5534"/>
              <a:ext cx="3756" cy="2498"/>
            </a:xfrm>
            <a:prstGeom prst="rect">
              <a:avLst/>
            </a:prstGeom>
          </p:spPr>
        </p:pic>
      </p:grpSp>
      <p:sp>
        <p:nvSpPr>
          <p:cNvPr id="14" name="标题 1"/>
          <p:cNvSpPr>
            <a:spLocks noGrp="1"/>
          </p:cNvSpPr>
          <p:nvPr/>
        </p:nvSpPr>
        <p:spPr>
          <a:xfrm>
            <a:off x="4674235" y="5172710"/>
            <a:ext cx="7282180" cy="1196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问题可以延伸为：如何把一个动物关进冰箱，即对原始问题中的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大象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进行了抽象处理。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2308225" y="772795"/>
            <a:ext cx="831405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用</a:t>
            </a:r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面向对象思想</a:t>
            </a:r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如何解决大象装冰箱的问题？</a:t>
            </a:r>
            <a:endParaRPr lang="en-US" altLang="en-US" sz="2800" dirty="0">
              <a:solidFill>
                <a:schemeClr val="tx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8205" y="1976120"/>
            <a:ext cx="990536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</a:t>
            </a:r>
            <a:r>
              <a:rPr 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其次，要对模型进行进一步细化，以使模型能够应对各种需求的变化。</a:t>
            </a:r>
            <a:endParaRPr lang="zh-CN" altLang="en-US" sz="28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14" name="标题 1"/>
          <p:cNvSpPr>
            <a:spLocks noGrp="1"/>
          </p:cNvSpPr>
          <p:nvPr/>
        </p:nvSpPr>
        <p:spPr>
          <a:xfrm>
            <a:off x="4140200" y="2914015"/>
            <a:ext cx="9288780" cy="1196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模型有了三个对象：动物，大象，冰箱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r="56302" b="8473"/>
          <a:stretch>
            <a:fillRect/>
          </a:stretch>
        </p:blipFill>
        <p:spPr>
          <a:xfrm>
            <a:off x="367030" y="3439160"/>
            <a:ext cx="3375025" cy="2680335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/>
        </p:nvSpPr>
        <p:spPr>
          <a:xfrm>
            <a:off x="4140200" y="4181475"/>
            <a:ext cx="6890385" cy="1196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显然，大象是动物的一种，即大象和动物属于一种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</a:rPr>
              <a:t>继承</a:t>
            </a:r>
            <a:r>
              <a:rPr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关系。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/>
      <p:bldP spid="14" grpId="2"/>
      <p:bldP spid="9" grpId="1"/>
      <p:bldP spid="9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2308225" y="772795"/>
            <a:ext cx="831405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用</a:t>
            </a:r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面向对象思想</a:t>
            </a:r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如何解决大象装冰箱的问题？</a:t>
            </a:r>
            <a:endParaRPr lang="en-US" altLang="en-US" sz="2800" dirty="0">
              <a:solidFill>
                <a:schemeClr val="tx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8205" y="1976120"/>
            <a:ext cx="990536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接着</a:t>
            </a:r>
            <a:r>
              <a:rPr 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，基于该模型，思考如何通过对象之间的协作来完成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将大象装进冰箱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的过程。</a:t>
            </a:r>
            <a:endParaRPr lang="zh-CN" altLang="en-US" sz="28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14" name="标题 1"/>
          <p:cNvSpPr>
            <a:spLocks noGrp="1"/>
          </p:cNvSpPr>
          <p:nvPr/>
        </p:nvSpPr>
        <p:spPr>
          <a:xfrm>
            <a:off x="1741805" y="2985135"/>
            <a:ext cx="9288780" cy="1196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模型有了三个对象：动物，大象，冰箱</a:t>
            </a: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2308225" y="3804920"/>
            <a:ext cx="6890385" cy="1196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给冰箱定义两个行为：开门和关门</a:t>
            </a:r>
          </a:p>
          <a:p>
            <a:pPr>
              <a:lnSpc>
                <a:spcPct val="130000"/>
              </a:lnSpc>
            </a:pPr>
            <a:r>
              <a:rPr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给动物定义一个行为：走进冰箱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2082165" y="5545455"/>
            <a:ext cx="2124710" cy="57975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、冰箱开门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4821555" y="5380990"/>
            <a:ext cx="2809875" cy="90995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、大象走进冰箱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8001000" y="5466715"/>
            <a:ext cx="2117725" cy="765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75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、冰箱关门</a:t>
            </a:r>
            <a:endParaRPr lang="en-US" altLang="en-US" sz="2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/>
      <p:bldP spid="14" grpId="2"/>
      <p:bldP spid="9" grpId="1"/>
      <p:bldP spid="9" grpId="2"/>
      <p:bldP spid="7" grpId="0"/>
      <p:bldP spid="7" grpId="1"/>
      <p:bldP spid="8" grpId="0"/>
      <p:bldP spid="8" grpId="1"/>
      <p:bldP spid="4" grpId="0"/>
      <p:bldP spid="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3592195" y="976630"/>
            <a:ext cx="530161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面向对象</a:t>
            </a:r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和</a:t>
            </a:r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面向过程</a:t>
            </a:r>
            <a:r>
              <a:rPr altLang="en-US" sz="2800" dirty="0">
                <a:solidFill>
                  <a:schemeClr val="tx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的区别？</a:t>
            </a:r>
            <a:endParaRPr lang="en-US" altLang="en-US" sz="2800" dirty="0">
              <a:solidFill>
                <a:schemeClr val="tx1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8535" y="1629594"/>
            <a:ext cx="11595655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面向对象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：</a:t>
            </a:r>
            <a:r>
              <a:rPr 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每条语句是以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对象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”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名词开头，要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“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对象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”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去做某事，比如，要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“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冰箱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”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去开门，要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“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大象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”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走进冰箱。此时，如果想要把狮子也关进冰箱，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“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开门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”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、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“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走进冰箱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”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、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“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关门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”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这几个方法可以不做任何修改，只需在第二步中，命令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“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狮子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”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走进冰箱。而采用面向过程，还需重新定义将狮子装进去的函数。这就是面向对象和面向过程的区别，而上述将模型细化的过程称之为面向对象设计</a:t>
            </a:r>
            <a:r>
              <a:rPr lang="en-US" altLang="zh-CN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OOD</a:t>
            </a:r>
            <a:r>
              <a:rPr lang="zh-CN" altLang="en-US" sz="2800" b="1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  <a:sym typeface="+mn-ea"/>
              </a:rPr>
              <a:t>。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  <a:ea typeface="楷体" panose="02010609060101010101" pitchFamily="49" charset="-122"/>
              <a:cs typeface="Times New Roman" pitchFamily="18" charset="0"/>
              <a:sym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2082165" y="5545455"/>
            <a:ext cx="2124710" cy="57975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altLang="en-US" sz="24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冰箱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开门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8001000" y="5466715"/>
            <a:ext cx="2117725" cy="765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75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altLang="en-US" sz="24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冰箱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关门</a:t>
            </a:r>
            <a:endParaRPr lang="en-US" altLang="en-US" sz="24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4821555" y="5380990"/>
            <a:ext cx="2809875" cy="90995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altLang="en-US" sz="2400" dirty="0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大象</a:t>
            </a:r>
            <a:r>
              <a:rPr altLang="en-US" sz="24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走进冰箱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1495" y="1174750"/>
            <a:ext cx="5793740" cy="4708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class Animal    //</a:t>
            </a:r>
            <a:r>
              <a:rPr lang="zh-CN" altLang="en-US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定义动物类</a:t>
            </a:r>
            <a:endParaRPr lang="en-US" sz="2000" b="1" dirty="0"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{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</a:t>
            </a: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public: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</a:t>
            </a:r>
            <a:r>
              <a:rPr lang="en-US" altLang="zh-CN" sz="2000" b="1" dirty="0" err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CString</a:t>
            </a: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zh-CN" sz="2000" b="1" dirty="0" err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AnimalType</a:t>
            </a: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</a:t>
            </a:r>
            <a:r>
              <a:rPr lang="en-US" altLang="zh-CN" sz="2000" b="1" dirty="0" err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int</a:t>
            </a: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Color;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float weight;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public: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Animal();//</a:t>
            </a:r>
            <a:r>
              <a:rPr lang="zh-CN" alt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构造函数，主要用于初始化</a:t>
            </a:r>
            <a:endParaRPr lang="en-US" sz="2000" b="1" dirty="0">
              <a:solidFill>
                <a:schemeClr val="tx1"/>
              </a:solidFill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BOOL </a:t>
            </a:r>
            <a:r>
              <a:rPr lang="en-US" sz="2000" b="1" dirty="0" err="1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gointoFridge</a:t>
            </a: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(Fridge fridge);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56375" y="1174750"/>
            <a:ext cx="113823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class Elephant:public Animal</a:t>
            </a:r>
            <a:r>
              <a:rPr lang="zh-CN" altLang="en-US" sz="2000" b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（大象类）</a:t>
            </a:r>
            <a:endParaRPr lang="en-US" sz="2000" b="1"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{</a:t>
            </a:r>
          </a:p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......</a:t>
            </a:r>
          </a:p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56375" y="3112770"/>
            <a:ext cx="113823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class Lion:public Animal</a:t>
            </a:r>
            <a:r>
              <a:rPr lang="zh-CN" altLang="en-US" sz="2000" b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（狮子类）</a:t>
            </a:r>
            <a:endParaRPr lang="en-US" sz="2000" b="1"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{</a:t>
            </a:r>
          </a:p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......</a:t>
            </a:r>
          </a:p>
          <a:p>
            <a:pPr algn="just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}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4497705" y="667385"/>
            <a:ext cx="377761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VC++</a:t>
            </a:r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实现（简单版）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1495" y="1174750"/>
            <a:ext cx="5793740" cy="51706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class Fridge    //</a:t>
            </a:r>
            <a:r>
              <a:rPr lang="zh-CN" altLang="en-US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定义冰箱类</a:t>
            </a:r>
            <a:endParaRPr lang="en-US" sz="2000" b="1" dirty="0"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{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</a:t>
            </a: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public: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</a:t>
            </a:r>
            <a:r>
              <a:rPr lang="en-US" altLang="zh-CN" sz="2000" b="1" dirty="0" err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CString</a:t>
            </a: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zh-CN" sz="2000" b="1" dirty="0" err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FridgeType</a:t>
            </a: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</a:t>
            </a:r>
            <a:r>
              <a:rPr lang="en-US" altLang="zh-CN" sz="2000" b="1" dirty="0" err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CString</a:t>
            </a:r>
            <a:r>
              <a:rPr lang="en-US" altLang="zh-CN" sz="2000" b="1" dirty="0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zh-CN" sz="2000" b="1" dirty="0" err="1"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ChuChangDate</a:t>
            </a:r>
            <a:endParaRPr lang="en-US" altLang="zh-CN" sz="2000" b="1" dirty="0"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public: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Fridge()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BOOL </a:t>
            </a:r>
            <a:r>
              <a:rPr lang="en-US" sz="2000" b="1" dirty="0" err="1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OpenDoor</a:t>
            </a: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();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      BOOL </a:t>
            </a:r>
            <a:r>
              <a:rPr lang="en-US" sz="2000" b="1" dirty="0" err="1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CloseDoor</a:t>
            </a: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();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164313" y="1406128"/>
            <a:ext cx="6222014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sz="2000" b="1" dirty="0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调用时：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Elephant </a:t>
            </a:r>
            <a:r>
              <a:rPr lang="en-US" altLang="zh-CN" sz="2000" b="1" dirty="0" err="1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elephant</a:t>
            </a:r>
            <a:r>
              <a:rPr lang="en-US" altLang="zh-CN" sz="2000" b="1" dirty="0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= new Elephant();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Fridge </a:t>
            </a:r>
            <a:r>
              <a:rPr lang="en-US" altLang="zh-CN" sz="2000" b="1" dirty="0" err="1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fridge</a:t>
            </a:r>
            <a:r>
              <a:rPr lang="en-US" altLang="zh-CN" sz="2000" b="1" dirty="0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 = new Fridge();</a:t>
            </a:r>
          </a:p>
          <a:p>
            <a:pPr algn="just">
              <a:lnSpc>
                <a:spcPct val="150000"/>
              </a:lnSpc>
            </a:pPr>
            <a:endParaRPr lang="en-US" altLang="zh-CN" sz="2000" b="1" dirty="0">
              <a:solidFill>
                <a:srgbClr val="0000FF"/>
              </a:solidFill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fidge.OpenDoor</a:t>
            </a:r>
            <a:r>
              <a:rPr lang="en-US" altLang="zh-CN" sz="2000" b="1" dirty="0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();//</a:t>
            </a:r>
            <a:r>
              <a:rPr lang="zh-CN" altLang="en-US" sz="2000" b="1" dirty="0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冰箱打开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elephant.gointoFridge</a:t>
            </a:r>
            <a:r>
              <a:rPr lang="en-US" altLang="zh-CN" sz="2000" b="1" dirty="0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(fridge);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fridge.CloseDoor</a:t>
            </a:r>
            <a:r>
              <a:rPr lang="en-US" altLang="zh-CN" sz="2000" b="1" dirty="0">
                <a:solidFill>
                  <a:srgbClr val="0000FF"/>
                </a:solidFill>
                <a:latin typeface="Arial Black" panose="020B0A04020102020204" pitchFamily="34" charset="0"/>
                <a:ea typeface="楷体" panose="02010609060101010101" pitchFamily="49" charset="-122"/>
                <a:cs typeface="Arial Black" panose="020B0A04020102020204" pitchFamily="34" charset="0"/>
                <a:sym typeface="+mn-ea"/>
              </a:rPr>
              <a:t>()</a:t>
            </a:r>
          </a:p>
          <a:p>
            <a:pPr algn="just">
              <a:lnSpc>
                <a:spcPct val="150000"/>
              </a:lnSpc>
            </a:pPr>
            <a:endParaRPr lang="en-US" altLang="zh-CN" sz="2000" b="1" dirty="0">
              <a:solidFill>
                <a:schemeClr val="tx1"/>
              </a:solidFill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b="1" dirty="0">
              <a:solidFill>
                <a:schemeClr val="tx1"/>
              </a:solidFill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sz="2000" b="1" dirty="0">
              <a:solidFill>
                <a:schemeClr val="tx1"/>
              </a:solidFill>
              <a:latin typeface="Arial Black" panose="020B0A04020102020204" pitchFamily="34" charset="0"/>
              <a:ea typeface="楷体" panose="02010609060101010101" pitchFamily="49" charset="-122"/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4497705" y="667385"/>
            <a:ext cx="377761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VC++</a:t>
            </a:r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实现（简单版）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4704080" y="976630"/>
            <a:ext cx="2615565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en-US" sz="2800" dirty="0">
                <a:solidFill>
                  <a:srgbClr val="FF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面向对象思想</a:t>
            </a:r>
            <a:endParaRPr lang="en-US" altLang="zh-CN" sz="2800" dirty="0">
              <a:solidFill>
                <a:srgbClr val="FF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3886" y="1833879"/>
            <a:ext cx="10875951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</a:t>
            </a:r>
            <a:r>
              <a:rPr 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如何区分大象和狮子，走进冰箱的姿势不一样怎么办？这就是</a:t>
            </a:r>
            <a:r>
              <a:rPr 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  <a:sym typeface="+mn-ea"/>
              </a:rPr>
              <a:t>多态</a:t>
            </a:r>
            <a:r>
              <a:rPr 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问题，还有就是如果大象不想让外界访问它的重量，如何处理，这就是</a:t>
            </a:r>
            <a:r>
              <a:rPr 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  <a:sym typeface="+mn-ea"/>
              </a:rPr>
              <a:t>封装</a:t>
            </a:r>
            <a:r>
              <a:rPr 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942124"/>
                </a:solidFill>
                <a:cs typeface="+mn-cs"/>
              </a:rPr>
              <a:t>面向对象编程语言</a:t>
            </a:r>
          </a:p>
        </p:txBody>
      </p:sp>
      <p:sp>
        <p:nvSpPr>
          <p:cNvPr id="27650" name="文本占位符 20482"/>
          <p:cNvSpPr>
            <a:spLocks noGrp="1"/>
          </p:cNvSpPr>
          <p:nvPr/>
        </p:nvSpPr>
        <p:spPr>
          <a:xfrm>
            <a:off x="457200" y="1553845"/>
            <a:ext cx="1114234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ct val="90000"/>
              <a:buFont typeface="Wingdings" panose="05000000000000000000" charset="0"/>
              <a:buChar char="§"/>
            </a:pPr>
            <a:r>
              <a:rPr lang="en-US" altLang="zh-CN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Python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完全采用了面向对象程序设计</a:t>
            </a:r>
            <a:r>
              <a:rPr lang="en-US" altLang="zh-CN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(OOP)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的思想，是真正面向对象的高级动态编程语言，完全支持面向对象的基本功能，如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封装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继承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多态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以及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对基类方法的覆盖或重写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。</a:t>
            </a:r>
          </a:p>
          <a:p>
            <a:pPr defTabSz="9144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ct val="90000"/>
              <a:buFont typeface="Wingdings" panose="05000000000000000000" charset="0"/>
              <a:buChar char="§"/>
            </a:pPr>
            <a:r>
              <a:rPr lang="en-US" altLang="zh-CN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Python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中对象的概念很广泛，</a:t>
            </a:r>
            <a:r>
              <a:rPr lang="en-US" altLang="zh-CN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Python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中的一切内容都可以称为对象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，除了数字、字符串、列表、元组、字典、集合、</a:t>
            </a:r>
            <a:r>
              <a:rPr lang="en-US" altLang="zh-CN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range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对象、</a:t>
            </a:r>
            <a:r>
              <a:rPr lang="en-US" altLang="zh-CN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zip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对象等等，函数也是对象，类也是对象。</a:t>
            </a:r>
          </a:p>
          <a:p>
            <a:pPr defTabSz="9144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创建类时用变量形式表示的对象属性称为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数据成员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，用函数形式表示的对象行为称为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成员方法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，成员属性和成员方法统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称为类的成员</a:t>
            </a:r>
            <a:r>
              <a:rPr lang="zh-CN" altLang="en-US" sz="2400" b="1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942124"/>
                </a:solidFill>
                <a:cs typeface="+mn-cs"/>
              </a:rPr>
              <a:t>面向对象编程语言</a:t>
            </a: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711439" y="1648103"/>
            <a:ext cx="10775910" cy="9289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2400" b="1" dirty="0"/>
              <a:t>无论是变量还是函数，它们都是属于某一个特定的类（</a:t>
            </a:r>
            <a:r>
              <a:rPr kumimoji="1" lang="en-US" altLang="zh-CN" sz="2400" b="1" dirty="0"/>
              <a:t>class</a:t>
            </a:r>
            <a:r>
              <a:rPr kumimoji="1" lang="zh-CN" altLang="en-US" sz="2400" b="1" dirty="0"/>
              <a:t>）。类中的对象叫做该类的实例（</a:t>
            </a:r>
            <a:r>
              <a:rPr kumimoji="1" lang="en-US" altLang="zh-CN" sz="2400" b="1" dirty="0"/>
              <a:t>instance</a:t>
            </a:r>
            <a:r>
              <a:rPr kumimoji="1" lang="zh-CN" altLang="en-US" sz="2400" b="1" dirty="0"/>
              <a:t>）</a:t>
            </a:r>
          </a:p>
          <a:p>
            <a:pPr>
              <a:lnSpc>
                <a:spcPct val="150000"/>
              </a:lnSpc>
            </a:pPr>
            <a:r>
              <a:rPr kumimoji="1" lang="zh-CN" altLang="en-US" sz="2400" b="1" dirty="0"/>
              <a:t>特定类的所有对象都与方法（</a:t>
            </a:r>
            <a:r>
              <a:rPr kumimoji="1" lang="en-US" altLang="zh-CN" sz="2400" b="1" dirty="0"/>
              <a:t>method</a:t>
            </a:r>
            <a:r>
              <a:rPr kumimoji="1" lang="zh-CN" altLang="en-US" sz="2400" b="1" dirty="0"/>
              <a:t>）相关联，这些方法类似于一个函数，编写一次之后，可以重复的调用</a:t>
            </a:r>
            <a:endParaRPr kumimoji="1" lang="en-US" altLang="zh-CN" sz="2400" b="1" dirty="0"/>
          </a:p>
          <a:p>
            <a:pPr>
              <a:lnSpc>
                <a:spcPct val="150000"/>
              </a:lnSpc>
            </a:pPr>
            <a:r>
              <a:rPr kumimoji="1" lang="zh-CN" altLang="en-US" sz="2400" b="1" dirty="0"/>
              <a:t>一旦某个对象属于某个特定类之后，该对象就可以使用该类的所有方法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8"/>
          <p:cNvSpPr txBox="1"/>
          <p:nvPr/>
        </p:nvSpPr>
        <p:spPr>
          <a:xfrm>
            <a:off x="345440" y="837565"/>
            <a:ext cx="3392805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942124"/>
                </a:solidFill>
                <a:cs typeface="+mn-cs"/>
              </a:rPr>
              <a:t>对象（</a:t>
            </a:r>
            <a:r>
              <a:rPr lang="en-US" altLang="zh-CN" sz="3200" b="1" dirty="0">
                <a:solidFill>
                  <a:srgbClr val="942124"/>
                </a:solidFill>
                <a:cs typeface="+mn-cs"/>
              </a:rPr>
              <a:t>object</a:t>
            </a:r>
            <a:r>
              <a:rPr lang="zh-CN" altLang="en-US" sz="3200" b="1" dirty="0">
                <a:solidFill>
                  <a:srgbClr val="942124"/>
                </a:solidFill>
                <a:cs typeface="+mn-cs"/>
              </a:rPr>
              <a:t>）</a:t>
            </a:r>
          </a:p>
        </p:txBody>
      </p:sp>
      <p:pic>
        <p:nvPicPr>
          <p:cNvPr id="3074" name="Picture 2" descr="http://img5.duitang.com/uploads/item/201308/20/20130820224916_QGzLt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28" y="3580969"/>
            <a:ext cx="1755369" cy="244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717859" y="5473803"/>
            <a:ext cx="16425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学生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1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9540682" y="3582050"/>
            <a:ext cx="1739894" cy="2305337"/>
          </a:xfrm>
          <a:prstGeom prst="roundRect">
            <a:avLst/>
          </a:prstGeom>
          <a:solidFill>
            <a:srgbClr val="94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3031490" y="3754755"/>
            <a:ext cx="2066925" cy="2305050"/>
          </a:xfrm>
          <a:prstGeom prst="roundRect">
            <a:avLst/>
          </a:prstGeom>
          <a:solidFill>
            <a:srgbClr val="94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6" name="Picture 4" descr="http://img15.3lian.com/2015/h1/318/d/15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3" r="17913"/>
          <a:stretch>
            <a:fillRect/>
          </a:stretch>
        </p:blipFill>
        <p:spPr bwMode="auto">
          <a:xfrm>
            <a:off x="7841333" y="3571262"/>
            <a:ext cx="864096" cy="246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8375574" y="5598201"/>
            <a:ext cx="137614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学生</a:t>
            </a:r>
            <a:r>
              <a:rPr lang="en-US" altLang="zh-CN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2</a:t>
            </a:r>
            <a:endParaRPr lang="zh-CN" altLang="en-US" sz="2400" dirty="0"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71102" y="4000078"/>
            <a:ext cx="2088232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对象的属性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姓名：王耀华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年龄：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18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性别：男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成绩：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4.21</a:t>
            </a: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……</a:t>
            </a:r>
          </a:p>
          <a:p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9145" y="3836670"/>
            <a:ext cx="233616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对象的属性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姓名：刘红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年龄：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19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性别：女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成绩：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3.78</a:t>
            </a: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……</a:t>
            </a:r>
          </a:p>
          <a:p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41225" y="3740174"/>
            <a:ext cx="1817854" cy="23338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756910" y="4098290"/>
            <a:ext cx="18681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共有的方法：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  <a:cs typeface="微软雅黑 Light" panose="020B0502040204020203" pitchFamily="34" charset="-122"/>
            </a:endParaRPr>
          </a:p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改变姓名、录入成绩等等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081907" y="2090871"/>
            <a:ext cx="14124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rPr>
              <a:t>学生类</a:t>
            </a:r>
          </a:p>
        </p:txBody>
      </p:sp>
      <p:sp>
        <p:nvSpPr>
          <p:cNvPr id="22" name="右箭头 21"/>
          <p:cNvSpPr/>
          <p:nvPr/>
        </p:nvSpPr>
        <p:spPr>
          <a:xfrm rot="2236074">
            <a:off x="6344599" y="3131430"/>
            <a:ext cx="1470990" cy="581041"/>
          </a:xfrm>
          <a:prstGeom prst="rightArrow">
            <a:avLst>
              <a:gd name="adj1" fmla="val 27527"/>
              <a:gd name="adj2" fmla="val 79504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/>
        </p:nvSpPr>
        <p:spPr>
          <a:xfrm rot="8865739">
            <a:off x="2804647" y="2975550"/>
            <a:ext cx="1470990" cy="581041"/>
          </a:xfrm>
          <a:prstGeom prst="rightArrow">
            <a:avLst>
              <a:gd name="adj1" fmla="val 27527"/>
              <a:gd name="adj2" fmla="val 79504"/>
            </a:avLst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Picture 4" descr="http://img.51ztzj.com/upload/image/20140606/sj201406061002_279x419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345" y="908720"/>
            <a:ext cx="1673488" cy="251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735" y="1261110"/>
            <a:ext cx="6812280" cy="4825365"/>
          </a:xfrm>
          <a:prstGeom prst="rect">
            <a:avLst/>
          </a:prstGeom>
        </p:spPr>
      </p:pic>
      <p:grpSp>
        <p:nvGrpSpPr>
          <p:cNvPr id="45" name="组合 44"/>
          <p:cNvGrpSpPr/>
          <p:nvPr/>
        </p:nvGrpSpPr>
        <p:grpSpPr>
          <a:xfrm>
            <a:off x="3606165" y="733425"/>
            <a:ext cx="3834130" cy="896620"/>
            <a:chOff x="5711" y="1381"/>
            <a:chExt cx="6038" cy="1412"/>
          </a:xfrm>
        </p:grpSpPr>
        <p:sp>
          <p:nvSpPr>
            <p:cNvPr id="8" name="矩形 7"/>
            <p:cNvSpPr/>
            <p:nvPr/>
          </p:nvSpPr>
          <p:spPr>
            <a:xfrm>
              <a:off x="5711" y="2325"/>
              <a:ext cx="4309" cy="468"/>
            </a:xfrm>
            <a:prstGeom prst="rect">
              <a:avLst/>
            </a:prstGeom>
            <a:noFill/>
            <a:ln w="25400">
              <a:solidFill>
                <a:srgbClr val="9421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右箭头 8"/>
            <p:cNvSpPr/>
            <p:nvPr/>
          </p:nvSpPr>
          <p:spPr>
            <a:xfrm rot="20447132">
              <a:off x="9498" y="1913"/>
              <a:ext cx="1284" cy="207"/>
            </a:xfrm>
            <a:prstGeom prst="rightArrow">
              <a:avLst/>
            </a:prstGeom>
            <a:solidFill>
              <a:srgbClr val="942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731" y="1381"/>
              <a:ext cx="1018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类名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086610" y="1630680"/>
            <a:ext cx="2861310" cy="985520"/>
            <a:chOff x="1211" y="3245"/>
            <a:chExt cx="4506" cy="1552"/>
          </a:xfrm>
        </p:grpSpPr>
        <p:sp>
          <p:nvSpPr>
            <p:cNvPr id="11" name="矩形 10"/>
            <p:cNvSpPr/>
            <p:nvPr/>
          </p:nvSpPr>
          <p:spPr>
            <a:xfrm>
              <a:off x="4017" y="3245"/>
              <a:ext cx="1701" cy="489"/>
            </a:xfrm>
            <a:prstGeom prst="rect">
              <a:avLst/>
            </a:prstGeom>
            <a:noFill/>
            <a:ln w="25400">
              <a:solidFill>
                <a:srgbClr val="9421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右箭头 11"/>
            <p:cNvSpPr/>
            <p:nvPr/>
          </p:nvSpPr>
          <p:spPr>
            <a:xfrm rot="9242713">
              <a:off x="2753" y="3846"/>
              <a:ext cx="1284" cy="207"/>
            </a:xfrm>
            <a:prstGeom prst="rightArrow">
              <a:avLst/>
            </a:prstGeom>
            <a:solidFill>
              <a:srgbClr val="942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211" y="4215"/>
              <a:ext cx="2108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初始化方法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057140" y="1550035"/>
            <a:ext cx="3526790" cy="431165"/>
            <a:chOff x="7964" y="2602"/>
            <a:chExt cx="5554" cy="679"/>
          </a:xfrm>
        </p:grpSpPr>
        <p:sp>
          <p:nvSpPr>
            <p:cNvPr id="15" name="矩形 14"/>
            <p:cNvSpPr/>
            <p:nvPr/>
          </p:nvSpPr>
          <p:spPr>
            <a:xfrm>
              <a:off x="7964" y="2793"/>
              <a:ext cx="3190" cy="489"/>
            </a:xfrm>
            <a:prstGeom prst="rect">
              <a:avLst/>
            </a:prstGeom>
            <a:noFill/>
            <a:ln w="25400">
              <a:solidFill>
                <a:srgbClr val="9421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右箭头 25"/>
            <p:cNvSpPr/>
            <p:nvPr/>
          </p:nvSpPr>
          <p:spPr>
            <a:xfrm rot="21313218">
              <a:off x="11244" y="2888"/>
              <a:ext cx="1284" cy="207"/>
            </a:xfrm>
            <a:prstGeom prst="rightArrow">
              <a:avLst/>
            </a:prstGeom>
            <a:solidFill>
              <a:srgbClr val="942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500" y="2602"/>
              <a:ext cx="1018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参数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102350" y="2122805"/>
            <a:ext cx="3046095" cy="369570"/>
            <a:chOff x="7518" y="3796"/>
            <a:chExt cx="4797" cy="582"/>
          </a:xfrm>
        </p:grpSpPr>
        <p:sp>
          <p:nvSpPr>
            <p:cNvPr id="29" name="右箭头 28"/>
            <p:cNvSpPr/>
            <p:nvPr/>
          </p:nvSpPr>
          <p:spPr>
            <a:xfrm>
              <a:off x="7518" y="3986"/>
              <a:ext cx="2525" cy="229"/>
            </a:xfrm>
            <a:prstGeom prst="rightArrow">
              <a:avLst/>
            </a:prstGeom>
            <a:solidFill>
              <a:srgbClr val="942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0207" y="3796"/>
              <a:ext cx="2108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初始化变量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136015" y="2492375"/>
            <a:ext cx="4875530" cy="1380490"/>
            <a:chOff x="1789" y="3925"/>
            <a:chExt cx="7678" cy="2174"/>
          </a:xfrm>
        </p:grpSpPr>
        <p:sp>
          <p:nvSpPr>
            <p:cNvPr id="28" name="矩形 27"/>
            <p:cNvSpPr/>
            <p:nvPr/>
          </p:nvSpPr>
          <p:spPr>
            <a:xfrm>
              <a:off x="6033" y="3925"/>
              <a:ext cx="3435" cy="716"/>
            </a:xfrm>
            <a:prstGeom prst="rect">
              <a:avLst/>
            </a:prstGeom>
            <a:noFill/>
            <a:ln w="25400">
              <a:solidFill>
                <a:srgbClr val="9421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右箭头 32"/>
            <p:cNvSpPr/>
            <p:nvPr/>
          </p:nvSpPr>
          <p:spPr>
            <a:xfrm rot="9242713">
              <a:off x="4130" y="4633"/>
              <a:ext cx="1284" cy="207"/>
            </a:xfrm>
            <a:prstGeom prst="rightArrow">
              <a:avLst/>
            </a:prstGeom>
            <a:solidFill>
              <a:srgbClr val="942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789" y="5081"/>
              <a:ext cx="2472" cy="10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类中的方法：</a:t>
              </a:r>
              <a:endParaRPr kumimoji="1" lang="en-US" altLang="zh-CN" b="1" dirty="0">
                <a:solidFill>
                  <a:srgbClr val="94212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endParaRPr>
            </a:p>
            <a:p>
              <a:r>
                <a:rPr kumimoji="1" lang="zh-CN" altLang="en-US" b="1" dirty="0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方法名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826510" y="2917825"/>
            <a:ext cx="7741285" cy="1263650"/>
            <a:chOff x="6026" y="4595"/>
            <a:chExt cx="12191" cy="1990"/>
          </a:xfrm>
        </p:grpSpPr>
        <p:sp>
          <p:nvSpPr>
            <p:cNvPr id="32" name="矩形 31"/>
            <p:cNvSpPr/>
            <p:nvPr/>
          </p:nvSpPr>
          <p:spPr>
            <a:xfrm>
              <a:off x="6026" y="4595"/>
              <a:ext cx="8963" cy="1990"/>
            </a:xfrm>
            <a:prstGeom prst="rect">
              <a:avLst/>
            </a:prstGeom>
            <a:noFill/>
            <a:ln w="25400">
              <a:solidFill>
                <a:srgbClr val="9421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右箭头 34"/>
            <p:cNvSpPr/>
            <p:nvPr/>
          </p:nvSpPr>
          <p:spPr>
            <a:xfrm>
              <a:off x="14506" y="5399"/>
              <a:ext cx="2525" cy="229"/>
            </a:xfrm>
            <a:prstGeom prst="rightArrow">
              <a:avLst/>
            </a:prstGeom>
            <a:solidFill>
              <a:srgbClr val="942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6837" y="5110"/>
              <a:ext cx="1381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函数体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173855" y="4499610"/>
            <a:ext cx="7499350" cy="637540"/>
            <a:chOff x="6573" y="7086"/>
            <a:chExt cx="11810" cy="1004"/>
          </a:xfrm>
        </p:grpSpPr>
        <p:sp>
          <p:nvSpPr>
            <p:cNvPr id="39" name="矩形 38"/>
            <p:cNvSpPr/>
            <p:nvPr/>
          </p:nvSpPr>
          <p:spPr>
            <a:xfrm>
              <a:off x="6573" y="7086"/>
              <a:ext cx="6944" cy="1004"/>
            </a:xfrm>
            <a:prstGeom prst="rect">
              <a:avLst/>
            </a:prstGeom>
            <a:noFill/>
            <a:ln w="25400">
              <a:solidFill>
                <a:srgbClr val="9421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右箭头 39"/>
            <p:cNvSpPr/>
            <p:nvPr/>
          </p:nvSpPr>
          <p:spPr>
            <a:xfrm>
              <a:off x="13546" y="7536"/>
              <a:ext cx="2525" cy="229"/>
            </a:xfrm>
            <a:prstGeom prst="rightArrow">
              <a:avLst/>
            </a:prstGeom>
            <a:solidFill>
              <a:srgbClr val="942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911" y="7183"/>
              <a:ext cx="2472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对象的初始化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684145" y="5448935"/>
            <a:ext cx="7809865" cy="637540"/>
            <a:chOff x="4227" y="8581"/>
            <a:chExt cx="12299" cy="1004"/>
          </a:xfrm>
        </p:grpSpPr>
        <p:sp>
          <p:nvSpPr>
            <p:cNvPr id="42" name="矩形 41"/>
            <p:cNvSpPr/>
            <p:nvPr/>
          </p:nvSpPr>
          <p:spPr>
            <a:xfrm>
              <a:off x="4227" y="8581"/>
              <a:ext cx="6068" cy="1004"/>
            </a:xfrm>
            <a:prstGeom prst="rect">
              <a:avLst/>
            </a:prstGeom>
            <a:noFill/>
            <a:ln w="25400">
              <a:solidFill>
                <a:srgbClr val="9421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右箭头 42"/>
            <p:cNvSpPr/>
            <p:nvPr/>
          </p:nvSpPr>
          <p:spPr>
            <a:xfrm>
              <a:off x="10439" y="9065"/>
              <a:ext cx="2525" cy="229"/>
            </a:xfrm>
            <a:prstGeom prst="rightArrow">
              <a:avLst/>
            </a:prstGeom>
            <a:solidFill>
              <a:srgbClr val="942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964" y="8888"/>
              <a:ext cx="3562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对象调用类中的方法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85190" y="4499610"/>
            <a:ext cx="2983230" cy="637540"/>
            <a:chOff x="1394" y="7086"/>
            <a:chExt cx="4698" cy="1004"/>
          </a:xfrm>
        </p:grpSpPr>
        <p:sp>
          <p:nvSpPr>
            <p:cNvPr id="37" name="矩形 36"/>
            <p:cNvSpPr/>
            <p:nvPr/>
          </p:nvSpPr>
          <p:spPr>
            <a:xfrm>
              <a:off x="4322" y="7086"/>
              <a:ext cx="1770" cy="1004"/>
            </a:xfrm>
            <a:prstGeom prst="rect">
              <a:avLst/>
            </a:prstGeom>
            <a:noFill/>
            <a:ln w="25400">
              <a:solidFill>
                <a:srgbClr val="9421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394" y="7297"/>
              <a:ext cx="1381" cy="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>
                  <a:solidFill>
                    <a:srgbClr val="942124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 Light" panose="020B0502040204020203" pitchFamily="34" charset="-122"/>
                </a:rPr>
                <a:t>对象名</a:t>
              </a:r>
              <a:endParaRPr kumimoji="1" lang="zh-CN" altLang="en-US" b="1" dirty="0">
                <a:solidFill>
                  <a:srgbClr val="942124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endParaRPr>
            </a:p>
          </p:txBody>
        </p:sp>
        <p:sp>
          <p:nvSpPr>
            <p:cNvPr id="53" name="右箭头 52"/>
            <p:cNvSpPr/>
            <p:nvPr/>
          </p:nvSpPr>
          <p:spPr>
            <a:xfrm rot="10800000">
              <a:off x="3038" y="7558"/>
              <a:ext cx="1284" cy="207"/>
            </a:xfrm>
            <a:prstGeom prst="rightArrow">
              <a:avLst/>
            </a:prstGeom>
            <a:solidFill>
              <a:srgbClr val="942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类的定义方法</a:t>
            </a:r>
          </a:p>
        </p:txBody>
      </p:sp>
      <p:sp>
        <p:nvSpPr>
          <p:cNvPr id="21507" name="文本占位符 21506"/>
          <p:cNvSpPr>
            <a:spLocks noGrp="1"/>
          </p:cNvSpPr>
          <p:nvPr/>
        </p:nvSpPr>
        <p:spPr>
          <a:xfrm>
            <a:off x="466090" y="1630045"/>
            <a:ext cx="11266170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§"/>
            </a:pPr>
            <a:r>
              <a:rPr lang="en-US" altLang="zh-CN" sz="2400" b="1" strike="noStrike" noProof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sz="2400" b="1" strike="noStrike" noProof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使用</a:t>
            </a:r>
            <a:r>
              <a:rPr lang="en-US" altLang="zh-CN" sz="2400" b="1" strike="noStrike" noProof="1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class</a:t>
            </a:r>
            <a:r>
              <a:rPr lang="zh-CN" altLang="en-US" sz="2400" b="1" strike="noStrike" noProof="1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关键字</a:t>
            </a:r>
            <a:r>
              <a:rPr lang="zh-CN" altLang="en-US" sz="2400" b="1" strike="noStrike" noProof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来定义类，</a:t>
            </a:r>
            <a:r>
              <a:rPr lang="en-US" altLang="zh-CN" sz="2400" b="1" strike="noStrike" noProof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class</a:t>
            </a:r>
            <a:r>
              <a:rPr lang="zh-CN" altLang="en-US" sz="2400" b="1" strike="noStrike" noProof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关键字之后是一个空格，然后是类的名字，再然后是一个冒号，最后换行并定义类的内部实现。</a:t>
            </a:r>
          </a:p>
          <a:p>
            <a:pPr algn="just" fontAlgn="base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§"/>
            </a:pPr>
            <a:r>
              <a:rPr lang="zh-CN" altLang="en-US" sz="2400" b="1" strike="noStrike" noProof="1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类名的首字母一般要大写（最好是大驼峰方式）</a:t>
            </a:r>
            <a:r>
              <a:rPr lang="zh-CN" altLang="en-US" sz="2400" b="1" strike="noStrike" noProof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，当然也可以按照自己的习惯定义类名，但一般推荐参考惯例来命名，并在整个系统的设计和实现中保持风格一致，这一点对于团队合作尤其重要。</a:t>
            </a:r>
          </a:p>
          <a:p>
            <a:pPr marL="1905" indent="-344805" algn="just" fontAlgn="base">
              <a:lnSpc>
                <a:spcPct val="120000"/>
              </a:lnSpc>
              <a:buNone/>
            </a:pPr>
            <a:endParaRPr lang="zh-CN" altLang="en-US" sz="2400" strike="noStrike" noProof="1">
              <a:effectLst/>
            </a:endParaRPr>
          </a:p>
          <a:p>
            <a:pPr marL="1905" indent="-344805" algn="just" fontAlgn="base">
              <a:lnSpc>
                <a:spcPct val="120000"/>
              </a:lnSpc>
              <a:buNone/>
            </a:pPr>
            <a:r>
              <a:rPr lang="en-US" altLang="zh-CN" sz="2000" strike="noStrike" noProof="1">
                <a:effectLst/>
                <a:latin typeface="Consolas" panose="020B0609020204030204" pitchFamily="49" charset="0"/>
              </a:rPr>
              <a:t>class Car: </a:t>
            </a:r>
            <a:endParaRPr lang="zh-CN" altLang="en-US" sz="2000" strike="noStrike" noProof="1">
              <a:effectLst/>
              <a:latin typeface="Consolas" panose="020B0609020204030204" pitchFamily="49" charset="0"/>
            </a:endParaRPr>
          </a:p>
          <a:p>
            <a:pPr marL="1905" indent="-344805" algn="just" fontAlgn="base">
              <a:lnSpc>
                <a:spcPct val="120000"/>
              </a:lnSpc>
              <a:buNone/>
            </a:pPr>
            <a:r>
              <a:rPr lang="zh-CN" altLang="en-US" sz="2000" strike="noStrike" noProof="1">
                <a:effectLst/>
                <a:latin typeface="Consolas" panose="020B0609020204030204" pitchFamily="49" charset="0"/>
              </a:rPr>
              <a:t>	    </a:t>
            </a:r>
            <a:r>
              <a:rPr lang="en-US" altLang="zh-CN" sz="2000" strike="noStrike" noProof="1">
                <a:effectLst/>
                <a:latin typeface="Consolas" panose="020B0609020204030204" pitchFamily="49" charset="0"/>
              </a:rPr>
              <a:t>def info(self):</a:t>
            </a:r>
          </a:p>
          <a:p>
            <a:pPr marL="1905" indent="-344805" algn="just" fontAlgn="base">
              <a:lnSpc>
                <a:spcPct val="120000"/>
              </a:lnSpc>
              <a:buNone/>
            </a:pPr>
            <a:r>
              <a:rPr lang="en-US" altLang="zh-CN" sz="2000" strike="noStrike" noProof="1">
                <a:effectLst/>
                <a:latin typeface="Consolas" panose="020B0609020204030204" pitchFamily="49" charset="0"/>
              </a:rPr>
              <a:t>        print(" This is a car ")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47790" y="4509770"/>
            <a:ext cx="2540000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905" indent="-344805" algn="just" fontAlgn="base">
              <a:lnSpc>
                <a:spcPct val="80000"/>
              </a:lnSpc>
              <a:buNone/>
            </a:pPr>
            <a:r>
              <a:rPr lang="en-US" altLang="zh-CN">
                <a:effectLst/>
                <a:latin typeface="Consolas" panose="020B0609020204030204" pitchFamily="49" charset="0"/>
                <a:sym typeface="+mn-ea"/>
              </a:rPr>
              <a:t>&gt;&gt;&gt; car = Car()</a:t>
            </a:r>
            <a:endParaRPr lang="en-US" altLang="zh-CN" strike="noStrike" noProof="1">
              <a:effectLst/>
              <a:latin typeface="Consolas" panose="020B0609020204030204" pitchFamily="49" charset="0"/>
            </a:endParaRPr>
          </a:p>
          <a:p>
            <a:pPr marL="1905" indent="-344805" algn="just" fontAlgn="base">
              <a:lnSpc>
                <a:spcPct val="80000"/>
              </a:lnSpc>
              <a:buNone/>
            </a:pPr>
            <a:r>
              <a:rPr lang="en-US" altLang="zh-CN">
                <a:effectLst/>
                <a:latin typeface="Consolas" panose="020B0609020204030204" pitchFamily="49" charset="0"/>
                <a:sym typeface="+mn-ea"/>
              </a:rPr>
              <a:t>&gt;&gt;&gt; car.info()</a:t>
            </a:r>
            <a:endParaRPr lang="en-US" altLang="zh-CN" strike="noStrike" noProof="1">
              <a:effectLst/>
              <a:latin typeface="Consolas" panose="020B0609020204030204" pitchFamily="49" charset="0"/>
            </a:endParaRPr>
          </a:p>
          <a:p>
            <a:pPr marL="1905" indent="-344805" algn="just" fontAlgn="base">
              <a:lnSpc>
                <a:spcPct val="80000"/>
              </a:lnSpc>
              <a:buNone/>
            </a:pPr>
            <a:r>
              <a:rPr lang="en-US" altLang="zh-CN">
                <a:solidFill>
                  <a:srgbClr val="00B0F0"/>
                </a:solidFill>
                <a:effectLst/>
                <a:latin typeface="Consolas" panose="020B0609020204030204" pitchFamily="49" charset="0"/>
                <a:sym typeface="+mn-ea"/>
              </a:rPr>
              <a:t> </a:t>
            </a:r>
            <a:r>
              <a:rPr lang="en-US" altLang="zh-CN">
                <a:solidFill>
                  <a:srgbClr val="FF0000"/>
                </a:solidFill>
                <a:effectLst/>
                <a:latin typeface="Consolas" panose="020B0609020204030204" pitchFamily="49" charset="0"/>
                <a:sym typeface="+mn-ea"/>
              </a:rPr>
              <a:t>This is a car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215130" y="1584960"/>
            <a:ext cx="2335530" cy="4391025"/>
            <a:chOff x="6638" y="2496"/>
            <a:chExt cx="3678" cy="691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75" y="5069"/>
              <a:ext cx="2544" cy="1468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38" y="2496"/>
              <a:ext cx="3583" cy="169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FCFB">
                    <a:alpha val="100000"/>
                  </a:srgbClr>
                </a:clrFrom>
                <a:clrTo>
                  <a:srgbClr val="FAFCFB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64" y="7045"/>
              <a:ext cx="3552" cy="2366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rcRect l="15339" r="15153"/>
          <a:stretch>
            <a:fillRect/>
          </a:stretch>
        </p:blipFill>
        <p:spPr>
          <a:xfrm>
            <a:off x="1154430" y="1202690"/>
            <a:ext cx="1560195" cy="20161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6055" y="3391535"/>
            <a:ext cx="4029075" cy="258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sz="1800"/>
              <a:t>class Fridge: </a:t>
            </a:r>
            <a:r>
              <a:rPr lang="en-US" altLang="zh-CN" sz="1800"/>
              <a:t>#</a:t>
            </a:r>
            <a:r>
              <a:rPr lang="zh-CN" altLang="en-US" sz="1800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冰箱类</a:t>
            </a:r>
            <a:endParaRPr lang="zh-CN" altLang="en-US" sz="1800"/>
          </a:p>
          <a:p>
            <a:r>
              <a:rPr lang="zh-CN" altLang="en-US" sz="1800"/>
              <a:t>        def __init__(self,xh,size,date):</a:t>
            </a:r>
          </a:p>
          <a:p>
            <a:r>
              <a:rPr lang="zh-CN" altLang="en-US" sz="1800"/>
              <a:t>               self.xh = xh</a:t>
            </a:r>
          </a:p>
          <a:p>
            <a:r>
              <a:rPr lang="zh-CN" altLang="en-US" sz="1800"/>
              <a:t>               self.size = size</a:t>
            </a:r>
          </a:p>
          <a:p>
            <a:r>
              <a:rPr lang="zh-CN" altLang="en-US" sz="1800"/>
              <a:t>               self.date = date</a:t>
            </a:r>
          </a:p>
          <a:p>
            <a:r>
              <a:rPr lang="zh-CN" altLang="en-US" sz="1800"/>
              <a:t>        def opendoor(self):</a:t>
            </a:r>
          </a:p>
          <a:p>
            <a:r>
              <a:rPr lang="zh-CN" altLang="en-US" sz="1800"/>
              <a:t>               print("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打开冰箱</a:t>
            </a:r>
            <a:r>
              <a:rPr lang="zh-CN" altLang="en-US" sz="1800"/>
              <a:t>")</a:t>
            </a:r>
          </a:p>
          <a:p>
            <a:r>
              <a:rPr lang="zh-CN" altLang="en-US" sz="1800"/>
              <a:t>        def closedoor(self):</a:t>
            </a:r>
          </a:p>
          <a:p>
            <a:r>
              <a:rPr lang="zh-CN" altLang="en-US" sz="1800"/>
              <a:t>               print("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关闭冰箱</a:t>
            </a:r>
            <a:r>
              <a:rPr lang="zh-CN" altLang="en-US" sz="1800"/>
              <a:t>")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63335" y="1202690"/>
            <a:ext cx="5566410" cy="20300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sz="1800"/>
              <a:t>class Animal:</a:t>
            </a:r>
            <a:r>
              <a:rPr lang="en-US" sz="1800"/>
              <a:t>#</a:t>
            </a:r>
            <a:r>
              <a:rPr lang="zh-CN" altLang="en-US" sz="1800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动物类</a:t>
            </a:r>
          </a:p>
          <a:p>
            <a:r>
              <a:rPr sz="1800"/>
              <a:t>         def __init__(self,name,weight,age):</a:t>
            </a:r>
          </a:p>
          <a:p>
            <a:r>
              <a:rPr sz="1800"/>
              <a:t>                self.name = name</a:t>
            </a:r>
          </a:p>
          <a:p>
            <a:r>
              <a:rPr sz="1800"/>
              <a:t>                self.age = age</a:t>
            </a:r>
          </a:p>
          <a:p>
            <a:r>
              <a:rPr sz="1800"/>
              <a:t>                self.__weight = weight</a:t>
            </a:r>
          </a:p>
          <a:p>
            <a:r>
              <a:rPr sz="1800"/>
              <a:t>         def gotofridge(self,fxh):</a:t>
            </a:r>
          </a:p>
          <a:p>
            <a:r>
              <a:rPr sz="1800"/>
              <a:t>                print(self.name+"走进了"+fxh)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63335" y="4010660"/>
            <a:ext cx="5566410" cy="20300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sz="1800"/>
              <a:t>class Elephant(Animal):</a:t>
            </a:r>
            <a:r>
              <a:rPr lang="en-US" sz="1800">
                <a:sym typeface="+mn-ea"/>
              </a:rPr>
              <a:t>#</a:t>
            </a:r>
            <a:r>
              <a:rPr lang="zh-CN" altLang="en-US" sz="1800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大象类</a:t>
            </a:r>
            <a:endParaRPr lang="zh-CN" altLang="en-US" sz="1800" i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800"/>
              <a:t>          def __init__(self,name,weight,age,color):</a:t>
            </a:r>
          </a:p>
          <a:p>
            <a:r>
              <a:rPr sz="1800"/>
              <a:t>                 Animal.__init__(self,name,weight,age)</a:t>
            </a:r>
          </a:p>
          <a:p>
            <a:r>
              <a:rPr sz="1800"/>
              <a:t>                 self.color = color</a:t>
            </a:r>
          </a:p>
          <a:p>
            <a:r>
              <a:rPr sz="1800"/>
              <a:t>           def gotofridge(self,fxh,color):</a:t>
            </a:r>
          </a:p>
          <a:p>
            <a:r>
              <a:rPr sz="1800"/>
              <a:t>                 print("颜色为"+self.color+"的"+self.name+"走进了"+fxh)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 animBg="1"/>
      <p:bldP spid="6" grpId="1" animBg="1"/>
      <p:bldP spid="9" grpId="0" bldLvl="0" animBg="1"/>
      <p:bldP spid="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99110" y="3040380"/>
            <a:ext cx="1485900" cy="3171825"/>
            <a:chOff x="6638" y="2496"/>
            <a:chExt cx="3678" cy="691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75" y="5069"/>
              <a:ext cx="2544" cy="1468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38" y="2496"/>
              <a:ext cx="3583" cy="169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FCFB">
                    <a:alpha val="100000"/>
                  </a:srgbClr>
                </a:clrFrom>
                <a:clrTo>
                  <a:srgbClr val="FAFCFB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64" y="7045"/>
              <a:ext cx="3552" cy="2366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rcRect l="15339" r="15153"/>
          <a:stretch>
            <a:fillRect/>
          </a:stretch>
        </p:blipFill>
        <p:spPr>
          <a:xfrm>
            <a:off x="424815" y="932815"/>
            <a:ext cx="1560195" cy="20161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65780" y="2320925"/>
            <a:ext cx="8043545" cy="20300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sz="1800"/>
              <a:t>fridge = Fridge("Haier","200*100","2020-10-08")</a:t>
            </a:r>
          </a:p>
          <a:p>
            <a:pPr algn="l">
              <a:buClrTx/>
              <a:buSzTx/>
              <a:buFontTx/>
            </a:pPr>
            <a:r>
              <a:rPr sz="1800"/>
              <a:t>elep1 = Elephant("Manfred","300","10","black")</a:t>
            </a:r>
          </a:p>
          <a:p>
            <a:pPr algn="l">
              <a:buClrTx/>
              <a:buSzTx/>
              <a:buFontTx/>
            </a:pPr>
            <a:endParaRPr sz="1800"/>
          </a:p>
          <a:p>
            <a:pPr algn="l">
              <a:buClrTx/>
              <a:buSzTx/>
              <a:buFontTx/>
            </a:pPr>
            <a:r>
              <a:rPr sz="1800"/>
              <a:t>fridge.opendoor()  </a:t>
            </a:r>
            <a:r>
              <a:rPr lang="en-US" sz="1800"/>
              <a:t>#</a:t>
            </a:r>
            <a:r>
              <a:rPr lang="zh-CN" altLang="en-US" sz="1800"/>
              <a:t>打开冰箱</a:t>
            </a:r>
            <a:endParaRPr sz="1800"/>
          </a:p>
          <a:p>
            <a:pPr algn="l">
              <a:buClrTx/>
              <a:buSzTx/>
              <a:buFontTx/>
            </a:pPr>
            <a:r>
              <a:rPr sz="1800"/>
              <a:t>elep1.gotofridge(fridge.xh,elep1.color) </a:t>
            </a:r>
            <a:r>
              <a:rPr lang="en-US" sz="1800"/>
              <a:t>#</a:t>
            </a:r>
            <a:r>
              <a:rPr lang="zh-CN" altLang="en-US" sz="1800"/>
              <a:t>大象走进冰箱</a:t>
            </a:r>
            <a:endParaRPr sz="1800"/>
          </a:p>
          <a:p>
            <a:pPr algn="l">
              <a:buClrTx/>
              <a:buSzTx/>
              <a:buFontTx/>
            </a:pPr>
            <a:r>
              <a:rPr sz="1800"/>
              <a:t>fridge.closedoor() </a:t>
            </a:r>
            <a:r>
              <a:rPr lang="en-US" sz="1800"/>
              <a:t>#</a:t>
            </a:r>
            <a:r>
              <a:rPr lang="zh-CN" altLang="en-US" sz="1800"/>
              <a:t>关闭冰箱</a:t>
            </a:r>
            <a:endParaRPr sz="1800"/>
          </a:p>
          <a:p>
            <a:pPr algn="l">
              <a:buClrTx/>
              <a:buSzTx/>
              <a:buFontTx/>
            </a:pPr>
            <a:r>
              <a:rPr sz="1800"/>
              <a:t>      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类的定义方法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994410" y="1978025"/>
            <a:ext cx="6912610" cy="437070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/>
              <a:t>#</a:t>
            </a:r>
            <a:r>
              <a:rPr lang="zh-CN" altLang="en-US" sz="2000" dirty="0"/>
              <a:t>例：定义和使用类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class Animal</a:t>
            </a:r>
            <a:r>
              <a:rPr lang="en-US" altLang="zh-CN" sz="2000" dirty="0"/>
              <a:t>: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</a:t>
            </a:r>
            <a:r>
              <a:rPr lang="en-US" altLang="zh-CN" sz="2000" dirty="0" err="1">
                <a:solidFill>
                  <a:srgbClr val="FF0000"/>
                </a:solidFill>
              </a:rPr>
              <a:t>def</a:t>
            </a:r>
            <a:r>
              <a:rPr lang="en-US" altLang="zh-CN" sz="2000" dirty="0">
                <a:solidFill>
                  <a:srgbClr val="FF0000"/>
                </a:solidFill>
              </a:rPr>
              <a:t> __</a:t>
            </a:r>
            <a:r>
              <a:rPr lang="en-US" altLang="zh-CN" sz="2000" dirty="0" err="1">
                <a:solidFill>
                  <a:srgbClr val="FF0000"/>
                </a:solidFill>
              </a:rPr>
              <a:t>init</a:t>
            </a:r>
            <a:r>
              <a:rPr lang="en-US" altLang="zh-CN" sz="2000" dirty="0">
                <a:solidFill>
                  <a:srgbClr val="FF0000"/>
                </a:solidFill>
              </a:rPr>
              <a:t>__(self,name,weight,age)</a:t>
            </a:r>
            <a:r>
              <a:rPr lang="en-US" altLang="zh-CN" sz="2000" dirty="0"/>
              <a:t>:</a:t>
            </a:r>
          </a:p>
          <a:p>
            <a:pPr marL="0" indent="0">
              <a:buNone/>
            </a:pPr>
            <a:r>
              <a:rPr lang="en-US" altLang="zh-CN" sz="2000" dirty="0"/>
              <a:t>        """</a:t>
            </a:r>
            <a:r>
              <a:rPr lang="zh-CN" altLang="en-US" sz="2000" dirty="0"/>
              <a:t>初始化属性</a:t>
            </a:r>
            <a:r>
              <a:rPr lang="en-US" altLang="zh-CN" sz="2000" dirty="0"/>
              <a:t>name</a:t>
            </a:r>
            <a:r>
              <a:rPr lang="zh-CN" altLang="en-US" sz="2000" dirty="0"/>
              <a:t>、</a:t>
            </a:r>
            <a:r>
              <a:rPr lang="en-US" altLang="zh-CN" sz="2000" dirty="0"/>
              <a:t>weight</a:t>
            </a:r>
            <a:r>
              <a:rPr lang="zh-CN" altLang="en-US" sz="2000" dirty="0"/>
              <a:t>和</a:t>
            </a:r>
            <a:r>
              <a:rPr lang="en-US" altLang="zh-CN" sz="2000" dirty="0"/>
              <a:t>age"""</a:t>
            </a:r>
          </a:p>
          <a:p>
            <a:pPr marL="0" indent="0">
              <a:buNone/>
            </a:pPr>
            <a:r>
              <a:rPr lang="en-US" altLang="zh-CN" sz="2000" dirty="0"/>
              <a:t>        self.name = name</a:t>
            </a:r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self.age</a:t>
            </a:r>
            <a:r>
              <a:rPr lang="en-US" altLang="zh-CN" sz="2000" dirty="0"/>
              <a:t> = age</a:t>
            </a:r>
          </a:p>
          <a:p>
            <a:pPr marL="0" indent="0">
              <a:buNone/>
            </a:pPr>
            <a:r>
              <a:rPr lang="en-US" altLang="zh-CN" sz="2000" dirty="0"/>
              <a:t>        self.__weight = weight</a:t>
            </a:r>
          </a:p>
          <a:p>
            <a:pPr marL="0" indent="0">
              <a:buNone/>
            </a:pPr>
            <a:r>
              <a:rPr lang="en-US" altLang="zh-CN" sz="2000" dirty="0"/>
              <a:t>        #</a:t>
            </a:r>
            <a:r>
              <a:rPr lang="zh-CN" altLang="en-US" sz="2000" dirty="0"/>
              <a:t>定义其他方法</a:t>
            </a:r>
          </a:p>
          <a:p>
            <a:pPr marL="0" indent="0">
              <a:buNone/>
            </a:pPr>
            <a:r>
              <a:rPr lang="en-US" sz="2000" dirty="0">
                <a:sym typeface="+mn-ea"/>
              </a:rPr>
              <a:t>    </a:t>
            </a:r>
            <a:r>
              <a:rPr sz="2000" dirty="0" err="1">
                <a:sym typeface="+mn-ea"/>
              </a:rPr>
              <a:t>def</a:t>
            </a:r>
            <a:r>
              <a:rPr sz="2000" dirty="0">
                <a:sym typeface="+mn-ea"/>
              </a:rPr>
              <a:t> </a:t>
            </a:r>
            <a:r>
              <a:rPr sz="2000" dirty="0" err="1">
                <a:sym typeface="+mn-ea"/>
              </a:rPr>
              <a:t>gotofridge</a:t>
            </a:r>
            <a:r>
              <a:rPr sz="2000" dirty="0">
                <a:sym typeface="+mn-ea"/>
              </a:rPr>
              <a:t>(</a:t>
            </a:r>
            <a:r>
              <a:rPr sz="2000" dirty="0" err="1">
                <a:sym typeface="+mn-ea"/>
              </a:rPr>
              <a:t>self,fxh</a:t>
            </a:r>
            <a:r>
              <a:rPr sz="2000" dirty="0">
                <a:sym typeface="+mn-ea"/>
              </a:rPr>
              <a:t>):</a:t>
            </a:r>
            <a:endParaRPr sz="2000" dirty="0"/>
          </a:p>
          <a:p>
            <a:pPr marL="0" indent="0">
              <a:buNone/>
            </a:pPr>
            <a:r>
              <a:rPr lang="en-US" sz="2000" dirty="0">
                <a:sym typeface="+mn-ea"/>
              </a:rPr>
              <a:t>         </a:t>
            </a:r>
            <a:r>
              <a:rPr sz="2000" dirty="0">
                <a:sym typeface="+mn-ea"/>
              </a:rPr>
              <a:t>print(self.name+"</a:t>
            </a:r>
            <a:r>
              <a:rPr sz="2000" dirty="0" err="1">
                <a:sym typeface="+mn-ea"/>
              </a:rPr>
              <a:t>走进了</a:t>
            </a:r>
            <a:r>
              <a:rPr sz="2000" dirty="0">
                <a:sym typeface="+mn-ea"/>
              </a:rPr>
              <a:t>"+</a:t>
            </a:r>
            <a:r>
              <a:rPr sz="2000" dirty="0" err="1">
                <a:sym typeface="+mn-ea"/>
              </a:rPr>
              <a:t>fxh</a:t>
            </a:r>
            <a:r>
              <a:rPr sz="2000" dirty="0">
                <a:sym typeface="+mn-ea"/>
              </a:rPr>
              <a:t>)</a:t>
            </a:r>
            <a:endParaRPr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    </a:t>
            </a:r>
            <a:endParaRPr lang="zh-CN" altLang="en-US" sz="20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7" name="线形标注 2(无边框) 6"/>
          <p:cNvSpPr/>
          <p:nvPr/>
        </p:nvSpPr>
        <p:spPr>
          <a:xfrm>
            <a:off x="2938719" y="2397522"/>
            <a:ext cx="4752738" cy="504056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39138"/>
              <a:gd name="adj6" fmla="val -1285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类定义的起始行。</a:t>
            </a:r>
            <a:r>
              <a:rPr lang="en-US" altLang="zh-CN" sz="2400" b="1" dirty="0">
                <a:solidFill>
                  <a:schemeClr val="tx1"/>
                </a:solidFill>
              </a:rPr>
              <a:t>class</a:t>
            </a:r>
            <a:r>
              <a:rPr lang="zh-CN" altLang="en-US" sz="2400" b="1" dirty="0">
                <a:solidFill>
                  <a:schemeClr val="tx1"/>
                </a:solidFill>
              </a:rPr>
              <a:t>是关键字。</a:t>
            </a:r>
          </a:p>
        </p:txBody>
      </p:sp>
      <p:sp>
        <p:nvSpPr>
          <p:cNvPr id="8" name="线形标注 2(无边框) 7"/>
          <p:cNvSpPr/>
          <p:nvPr/>
        </p:nvSpPr>
        <p:spPr>
          <a:xfrm>
            <a:off x="5761355" y="3097530"/>
            <a:ext cx="2785745" cy="504190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44635"/>
              <a:gd name="adj6" fmla="val -1708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定义了“构造方法”</a:t>
            </a:r>
          </a:p>
        </p:txBody>
      </p:sp>
      <p:sp>
        <p:nvSpPr>
          <p:cNvPr id="3" name="线形标注 2(无边框) 2"/>
          <p:cNvSpPr/>
          <p:nvPr/>
        </p:nvSpPr>
        <p:spPr>
          <a:xfrm>
            <a:off x="4969510" y="4843145"/>
            <a:ext cx="5281930" cy="504190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8942"/>
              <a:gd name="adj6" fmla="val -5072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__</a:t>
            </a:r>
            <a:r>
              <a:rPr lang="zh-CN" altLang="en-US" sz="2400" b="1" dirty="0">
                <a:solidFill>
                  <a:schemeClr val="tx1"/>
                </a:solidFill>
              </a:rPr>
              <a:t>下划线的变量代表私有变量</a:t>
            </a:r>
          </a:p>
        </p:txBody>
      </p:sp>
      <p:sp>
        <p:nvSpPr>
          <p:cNvPr id="4" name="线形标注 2(无边框) 3"/>
          <p:cNvSpPr/>
          <p:nvPr/>
        </p:nvSpPr>
        <p:spPr>
          <a:xfrm>
            <a:off x="8769808" y="1403499"/>
            <a:ext cx="3154172" cy="2808312"/>
          </a:xfrm>
          <a:prstGeom prst="callout2">
            <a:avLst>
              <a:gd name="adj1" fmla="val 28444"/>
              <a:gd name="adj2" fmla="val 128"/>
              <a:gd name="adj3" fmla="val 26354"/>
              <a:gd name="adj4" fmla="val -12223"/>
              <a:gd name="adj5" fmla="val 26574"/>
              <a:gd name="adj6" fmla="val -2228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类定义的格式：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zh-CN" altLang="en-US" sz="2400" b="1" dirty="0">
                <a:solidFill>
                  <a:schemeClr val="tx1"/>
                </a:solidFill>
              </a:rPr>
              <a:t> 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>
                <a:solidFill>
                  <a:schemeClr val="tx1"/>
                </a:solidFill>
              </a:rPr>
              <a:t>class  </a:t>
            </a:r>
            <a:r>
              <a:rPr lang="zh-CN" altLang="en-US" sz="2400" b="1" dirty="0">
                <a:solidFill>
                  <a:schemeClr val="tx1"/>
                </a:solidFill>
              </a:rPr>
              <a:t>类名</a:t>
            </a:r>
            <a:r>
              <a:rPr lang="en-US" altLang="zh-CN" sz="2400" b="1" dirty="0">
                <a:solidFill>
                  <a:schemeClr val="tx1"/>
                </a:solidFill>
              </a:rPr>
              <a:t>():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def</a:t>
            </a:r>
            <a:r>
              <a:rPr lang="en-US" altLang="zh-CN" sz="2400" b="1" dirty="0">
                <a:solidFill>
                  <a:schemeClr val="tx1"/>
                </a:solidFill>
              </a:rPr>
              <a:t> _ _</a:t>
            </a:r>
            <a:r>
              <a:rPr lang="en-US" altLang="zh-CN" sz="2400" b="1" dirty="0" err="1">
                <a:solidFill>
                  <a:schemeClr val="tx1"/>
                </a:solidFill>
              </a:rPr>
              <a:t>int</a:t>
            </a:r>
            <a:r>
              <a:rPr lang="en-US" altLang="zh-CN" sz="2400" b="1" dirty="0">
                <a:solidFill>
                  <a:schemeClr val="tx1"/>
                </a:solidFill>
              </a:rPr>
              <a:t>_ _(…):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     …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def</a:t>
            </a:r>
            <a:r>
              <a:rPr lang="en-US" altLang="zh-CN" sz="2400" b="1" dirty="0">
                <a:solidFill>
                  <a:schemeClr val="tx1"/>
                </a:solidFill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</a:rPr>
              <a:t>方法</a:t>
            </a:r>
            <a:r>
              <a:rPr lang="en-US" altLang="zh-CN" sz="2400" b="1" dirty="0">
                <a:solidFill>
                  <a:schemeClr val="tx1"/>
                </a:solidFill>
              </a:rPr>
              <a:t>(…):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             …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3" grpId="0" bldLvl="0" animBg="1"/>
      <p:bldP spid="4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类的定义方法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1672590" y="1790700"/>
            <a:ext cx="8401050" cy="367220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/>
              <a:t>#</a:t>
            </a:r>
            <a:r>
              <a:rPr lang="zh-CN" altLang="en-US" sz="2000" dirty="0"/>
              <a:t>例 定义和使用类</a:t>
            </a:r>
          </a:p>
          <a:p>
            <a:pPr marL="0" indent="0">
              <a:buNone/>
            </a:pPr>
            <a:r>
              <a:rPr lang="en-US" altLang="zh-CN" sz="2000" dirty="0"/>
              <a:t>class Elephant(Animal):#大象类</a:t>
            </a:r>
          </a:p>
          <a:p>
            <a:pPr marL="0" indent="0">
              <a:buNone/>
            </a:pPr>
            <a:r>
              <a:rPr lang="en-US" altLang="zh-CN" sz="2000" dirty="0"/>
              <a:t>          def __init__(self,name,weight,age,color):</a:t>
            </a:r>
          </a:p>
          <a:p>
            <a:pPr marL="0" indent="0">
              <a:buNone/>
            </a:pPr>
            <a:r>
              <a:rPr lang="en-US" altLang="zh-CN" sz="2000" dirty="0"/>
              <a:t>                 </a:t>
            </a:r>
            <a:r>
              <a:rPr lang="en-US" altLang="zh-CN" sz="2000" dirty="0">
                <a:solidFill>
                  <a:srgbClr val="FF0000"/>
                </a:solidFill>
              </a:rPr>
              <a:t>Animal.__init__(self,name,weight,age)</a:t>
            </a:r>
          </a:p>
          <a:p>
            <a:pPr marL="0" indent="0">
              <a:buNone/>
            </a:pPr>
            <a:r>
              <a:rPr lang="en-US" altLang="zh-CN" sz="2000" dirty="0"/>
              <a:t>                 self.color = color</a:t>
            </a:r>
          </a:p>
          <a:p>
            <a:pPr marL="0" indent="0">
              <a:buNone/>
            </a:pPr>
            <a:r>
              <a:rPr lang="en-US" altLang="zh-CN" sz="2000" dirty="0"/>
              <a:t>           def gotofridge(self,fxh,color):</a:t>
            </a:r>
          </a:p>
          <a:p>
            <a:pPr marL="0" indent="0">
              <a:buNone/>
            </a:pPr>
            <a:r>
              <a:rPr lang="en-US" altLang="zh-CN" sz="2000" dirty="0"/>
              <a:t>                  print("颜色为"+self.color+"的"+self.name+"走进了"+fxh)</a:t>
            </a:r>
            <a:r>
              <a:rPr lang="zh-CN" altLang="en-US" sz="2000" dirty="0"/>
              <a:t>    </a:t>
            </a:r>
          </a:p>
          <a:p>
            <a:pPr marL="0" indent="0">
              <a:buNone/>
            </a:pPr>
            <a:endParaRPr lang="en-US" altLang="zh-CN" sz="2000" dirty="0" err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000" dirty="0" err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rgbClr val="FF0000"/>
                </a:solidFill>
              </a:rPr>
              <a:t>elep1 = Elephant("Manfred","300","10","black")</a:t>
            </a:r>
          </a:p>
        </p:txBody>
      </p:sp>
      <p:sp>
        <p:nvSpPr>
          <p:cNvPr id="7" name="线形标注 2(无边框) 6"/>
          <p:cNvSpPr/>
          <p:nvPr/>
        </p:nvSpPr>
        <p:spPr>
          <a:xfrm>
            <a:off x="4900930" y="1491615"/>
            <a:ext cx="6954520" cy="504190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154911"/>
              <a:gd name="adj6" fmla="val -3586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</a:rPr>
              <a:t>类名的第一个字母一般大写。继承父类用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dirty="0">
                <a:solidFill>
                  <a:schemeClr val="tx1"/>
                </a:solidFill>
              </a:rPr>
              <a:t>父类名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线形标注 2(无边框) 7"/>
          <p:cNvSpPr/>
          <p:nvPr/>
        </p:nvSpPr>
        <p:spPr>
          <a:xfrm>
            <a:off x="6273165" y="3284855"/>
            <a:ext cx="5925185" cy="509905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-88293"/>
              <a:gd name="adj6" fmla="val -4699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“构造方法”的名字固定为“</a:t>
            </a:r>
            <a:r>
              <a:rPr lang="en-US" altLang="zh-CN" sz="2400" b="1" dirty="0">
                <a:solidFill>
                  <a:schemeClr val="tx1"/>
                </a:solidFill>
              </a:rPr>
              <a:t>_ _</a:t>
            </a:r>
            <a:r>
              <a:rPr lang="en-US" altLang="zh-CN" sz="2400" b="1" dirty="0" err="1">
                <a:solidFill>
                  <a:schemeClr val="tx1"/>
                </a:solidFill>
              </a:rPr>
              <a:t>init</a:t>
            </a:r>
            <a:r>
              <a:rPr lang="en-US" altLang="zh-CN" sz="2400" b="1" dirty="0">
                <a:solidFill>
                  <a:schemeClr val="tx1"/>
                </a:solidFill>
              </a:rPr>
              <a:t>_ _</a:t>
            </a:r>
            <a:r>
              <a:rPr lang="zh-CN" altLang="en-US" sz="2400" b="1" dirty="0">
                <a:solidFill>
                  <a:schemeClr val="tx1"/>
                </a:solidFill>
              </a:rPr>
              <a:t>”。</a:t>
            </a:r>
          </a:p>
        </p:txBody>
      </p:sp>
      <p:sp>
        <p:nvSpPr>
          <p:cNvPr id="9" name="线形标注 2(无边框) 8"/>
          <p:cNvSpPr/>
          <p:nvPr/>
        </p:nvSpPr>
        <p:spPr>
          <a:xfrm>
            <a:off x="7264405" y="5324073"/>
            <a:ext cx="4104456" cy="720080"/>
          </a:xfrm>
          <a:prstGeom prst="callout2">
            <a:avLst>
              <a:gd name="adj1" fmla="val 64057"/>
              <a:gd name="adj2" fmla="val -89"/>
              <a:gd name="adj3" fmla="val 6846"/>
              <a:gd name="adj4" fmla="val -35397"/>
              <a:gd name="adj5" fmla="val 937"/>
              <a:gd name="adj6" fmla="val -3894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这里会自动调用</a:t>
            </a:r>
            <a:r>
              <a:rPr lang="en-US" altLang="zh-CN" sz="2400" b="1" dirty="0">
                <a:solidFill>
                  <a:schemeClr val="tx1"/>
                </a:solidFill>
              </a:rPr>
              <a:t>Elephant</a:t>
            </a:r>
            <a:r>
              <a:rPr lang="zh-CN" altLang="en-US" sz="2400" b="1" dirty="0">
                <a:solidFill>
                  <a:schemeClr val="tx1"/>
                </a:solidFill>
              </a:rPr>
              <a:t>类的构造方法。</a:t>
            </a:r>
          </a:p>
        </p:txBody>
      </p:sp>
      <p:sp>
        <p:nvSpPr>
          <p:cNvPr id="10" name="线形标注 2(无边框) 9"/>
          <p:cNvSpPr/>
          <p:nvPr/>
        </p:nvSpPr>
        <p:spPr>
          <a:xfrm>
            <a:off x="1993900" y="5544185"/>
            <a:ext cx="4279265" cy="904875"/>
          </a:xfrm>
          <a:prstGeom prst="callout2">
            <a:avLst>
              <a:gd name="adj1" fmla="val -5473"/>
              <a:gd name="adj2" fmla="val 51031"/>
              <a:gd name="adj3" fmla="val -21543"/>
              <a:gd name="adj4" fmla="val 50853"/>
              <a:gd name="adj5" fmla="val -22947"/>
              <a:gd name="adj6" fmla="val 5147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定义对象的格式：</a:t>
            </a:r>
            <a:br>
              <a:rPr lang="en-US" altLang="zh-CN" sz="2400" b="1" dirty="0">
                <a:solidFill>
                  <a:schemeClr val="tx1"/>
                </a:solidFill>
              </a:rPr>
            </a:br>
            <a:r>
              <a:rPr lang="zh-CN" altLang="en-US" sz="2400" b="1" dirty="0">
                <a:solidFill>
                  <a:schemeClr val="tx1"/>
                </a:solidFill>
              </a:rPr>
              <a:t>变量 </a:t>
            </a:r>
            <a:r>
              <a:rPr lang="en-US" altLang="zh-CN" sz="2400" b="1" dirty="0">
                <a:solidFill>
                  <a:schemeClr val="tx1"/>
                </a:solidFill>
              </a:rPr>
              <a:t>= </a:t>
            </a:r>
            <a:r>
              <a:rPr lang="zh-CN" altLang="en-US" sz="2400" b="1" dirty="0">
                <a:solidFill>
                  <a:schemeClr val="tx1"/>
                </a:solidFill>
              </a:rPr>
              <a:t>类名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</a:rPr>
              <a:t>构造方法的参数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类的定义方法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1672590" y="1790700"/>
            <a:ext cx="8281035" cy="367220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/>
              <a:t>#</a:t>
            </a:r>
            <a:r>
              <a:rPr lang="zh-CN" altLang="en-US" sz="2000" dirty="0"/>
              <a:t>例 定义和使用类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class Elephant(Animal):#大象类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def __init__(self,name,weight,age,color):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     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Animal.__init__(self,name,weight,age)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     self.color = color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def gotofridge(self,fxh,color):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      print("颜色为"+self.color+"的"+self.name+"走进了"+fxh)</a:t>
            </a:r>
            <a:r>
              <a:rPr lang="zh-CN" altLang="en-US" sz="2000" dirty="0">
                <a:sym typeface="+mn-ea"/>
              </a:rPr>
              <a:t>    </a:t>
            </a:r>
            <a:endParaRPr lang="zh-CN" altLang="en-US" sz="2000" dirty="0"/>
          </a:p>
          <a:p>
            <a:pPr marL="0" indent="0">
              <a:buNone/>
            </a:pPr>
            <a:endParaRPr lang="en-US" altLang="zh-CN" sz="2000" dirty="0" err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000" dirty="0" err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elep1 = Elephant("Manfred","300","10","black")</a:t>
            </a:r>
            <a:endParaRPr lang="en-US" altLang="zh-CN" sz="20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sz="20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4" name="线形标注 2(无边框) 3"/>
          <p:cNvSpPr/>
          <p:nvPr/>
        </p:nvSpPr>
        <p:spPr>
          <a:xfrm>
            <a:off x="5504180" y="1261110"/>
            <a:ext cx="4700905" cy="911860"/>
          </a:xfrm>
          <a:prstGeom prst="callout2">
            <a:avLst>
              <a:gd name="adj1" fmla="val 101663"/>
              <a:gd name="adj2" fmla="val 10639"/>
              <a:gd name="adj3" fmla="val 117750"/>
              <a:gd name="adj4" fmla="val 3927"/>
              <a:gd name="adj5" fmla="val 151183"/>
              <a:gd name="adj6" fmla="val -2852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方法的第一个参数总是</a:t>
            </a:r>
            <a:r>
              <a:rPr lang="en-US" altLang="zh-CN" sz="2400" b="1" dirty="0">
                <a:solidFill>
                  <a:schemeClr val="tx1"/>
                </a:solidFill>
              </a:rPr>
              <a:t>self</a:t>
            </a:r>
            <a:r>
              <a:rPr lang="zh-CN" altLang="en-US" sz="2400" b="1" dirty="0">
                <a:solidFill>
                  <a:schemeClr val="tx1"/>
                </a:solidFill>
              </a:rPr>
              <a:t>。作用与</a:t>
            </a:r>
            <a:r>
              <a:rPr lang="en-US" altLang="zh-CN" sz="2400" b="1" dirty="0">
                <a:solidFill>
                  <a:schemeClr val="tx1"/>
                </a:solidFill>
              </a:rPr>
              <a:t>Java</a:t>
            </a:r>
            <a:r>
              <a:rPr lang="zh-CN" altLang="en-US" sz="2400" b="1" dirty="0">
                <a:solidFill>
                  <a:schemeClr val="tx1"/>
                </a:solidFill>
              </a:rPr>
              <a:t>的</a:t>
            </a:r>
            <a:r>
              <a:rPr lang="en-US" altLang="zh-CN" sz="2400" b="1" dirty="0">
                <a:solidFill>
                  <a:schemeClr val="tx1"/>
                </a:solidFill>
              </a:rPr>
              <a:t>this</a:t>
            </a:r>
            <a:r>
              <a:rPr lang="zh-CN" altLang="en-US" sz="2400" b="1" dirty="0">
                <a:solidFill>
                  <a:schemeClr val="tx1"/>
                </a:solidFill>
              </a:rPr>
              <a:t>引用类似。</a:t>
            </a:r>
          </a:p>
        </p:txBody>
      </p:sp>
      <p:sp>
        <p:nvSpPr>
          <p:cNvPr id="10" name="线形标注 2(无边框) 9"/>
          <p:cNvSpPr/>
          <p:nvPr/>
        </p:nvSpPr>
        <p:spPr>
          <a:xfrm>
            <a:off x="5937250" y="5532120"/>
            <a:ext cx="4737735" cy="720090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52331"/>
              <a:gd name="adj6" fmla="val -1312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这里的四个实参对应构造方法的后四个形参。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类的定义方法</a:t>
            </a:r>
          </a:p>
        </p:txBody>
      </p:sp>
      <p:sp>
        <p:nvSpPr>
          <p:cNvPr id="3" name="内容占位符 2"/>
          <p:cNvSpPr txBox="1"/>
          <p:nvPr/>
        </p:nvSpPr>
        <p:spPr>
          <a:xfrm>
            <a:off x="1672590" y="1790700"/>
            <a:ext cx="9529445" cy="367220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/>
              <a:t>#</a:t>
            </a:r>
            <a:r>
              <a:rPr lang="zh-CN" altLang="en-US" sz="2000" dirty="0"/>
              <a:t>例 定义和使用类</a:t>
            </a:r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class Fridge: </a:t>
            </a:r>
            <a:r>
              <a:rPr lang="en-US" altLang="zh-CN" sz="2000">
                <a:sym typeface="+mn-ea"/>
              </a:rPr>
              <a:t>#</a:t>
            </a:r>
            <a:r>
              <a:rPr lang="zh-CN" altLang="en-US" sz="2000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冰箱类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        def __init__(self,xh,size,date):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               self.xh = xh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               self.size = size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               self.date = date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        def opendoor(self):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               print("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打开冰箱</a:t>
            </a:r>
            <a:r>
              <a:rPr lang="zh-CN" altLang="en-US" sz="2000">
                <a:sym typeface="+mn-ea"/>
              </a:rPr>
              <a:t>")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        def closedoor(self):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               print("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关闭冰箱</a:t>
            </a:r>
            <a:r>
              <a:rPr lang="zh-CN" altLang="en-US" sz="2000">
                <a:sym typeface="+mn-ea"/>
              </a:rPr>
              <a:t>")</a:t>
            </a:r>
            <a:endParaRPr lang="zh-CN" altLang="en-US" sz="20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8" name="线形标注 2(无边框) 7"/>
          <p:cNvSpPr/>
          <p:nvPr/>
        </p:nvSpPr>
        <p:spPr>
          <a:xfrm>
            <a:off x="5819140" y="3405505"/>
            <a:ext cx="4775835" cy="900430"/>
          </a:xfrm>
          <a:prstGeom prst="callout2">
            <a:avLst>
              <a:gd name="adj1" fmla="val 34322"/>
              <a:gd name="adj2" fmla="val -447"/>
              <a:gd name="adj3" fmla="val 40844"/>
              <a:gd name="adj4" fmla="val -11315"/>
              <a:gd name="adj5" fmla="val 37776"/>
              <a:gd name="adj6" fmla="val -2492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这里，定义</a:t>
            </a:r>
            <a:r>
              <a:rPr lang="en-US" sz="2400" b="1" dirty="0">
                <a:solidFill>
                  <a:schemeClr val="tx1"/>
                </a:solidFill>
              </a:rPr>
              <a:t>xh,size,date</a:t>
            </a:r>
            <a:r>
              <a:rPr lang="zh-CN" altLang="en-US" sz="2400" b="1" dirty="0">
                <a:solidFill>
                  <a:schemeClr val="tx1"/>
                </a:solidFill>
              </a:rPr>
              <a:t>等属性。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6516236" y="1867802"/>
            <a:ext cx="2952328" cy="1224136"/>
          </a:xfrm>
          <a:prstGeom prst="wedgeRoundRectCallout">
            <a:avLst>
              <a:gd name="adj1" fmla="val -120844"/>
              <a:gd name="adj2" fmla="val 80698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在方法内部，写法：</a:t>
            </a:r>
            <a:br>
              <a:rPr lang="en-US" altLang="zh-CN" sz="2400" b="1" dirty="0">
                <a:solidFill>
                  <a:schemeClr val="tx1"/>
                </a:solidFill>
              </a:rPr>
            </a:br>
            <a:r>
              <a:rPr lang="en-US" altLang="zh-CN" sz="2400" b="1" dirty="0">
                <a:solidFill>
                  <a:schemeClr val="tx1"/>
                </a:solidFill>
              </a:rPr>
              <a:t>      </a:t>
            </a:r>
            <a:r>
              <a:rPr lang="en-US" altLang="zh-CN" sz="2400" b="1" dirty="0" err="1">
                <a:solidFill>
                  <a:schemeClr val="tx1"/>
                </a:solidFill>
              </a:rPr>
              <a:t>self.xxx</a:t>
            </a:r>
            <a:r>
              <a:rPr lang="en-US" altLang="zh-CN" sz="2400" b="1" dirty="0">
                <a:solidFill>
                  <a:schemeClr val="tx1"/>
                </a:solidFill>
              </a:rPr>
              <a:t> = …</a:t>
            </a:r>
            <a:br>
              <a:rPr lang="en-US" altLang="zh-CN" sz="2400" b="1" dirty="0">
                <a:solidFill>
                  <a:schemeClr val="tx1"/>
                </a:solidFill>
              </a:rPr>
            </a:br>
            <a:r>
              <a:rPr lang="zh-CN" altLang="en-US" sz="2400" b="1" dirty="0">
                <a:solidFill>
                  <a:schemeClr val="tx1"/>
                </a:solidFill>
              </a:rPr>
              <a:t>会定义属性</a:t>
            </a:r>
            <a:r>
              <a:rPr lang="en-US" altLang="zh-CN" sz="2400" b="1" dirty="0">
                <a:solidFill>
                  <a:schemeClr val="tx1"/>
                </a:solidFill>
              </a:rPr>
              <a:t>xxx</a:t>
            </a:r>
            <a:r>
              <a:rPr lang="zh-CN" altLang="en-US" sz="2400" b="1" dirty="0">
                <a:solidFill>
                  <a:schemeClr val="tx1"/>
                </a:solidFill>
              </a:rPr>
              <a:t>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类的调用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743075" y="1852930"/>
            <a:ext cx="8462010" cy="427164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#</a:t>
            </a:r>
            <a:r>
              <a:rPr lang="zh-CN" altLang="en-US" sz="2400" dirty="0"/>
              <a:t>例</a:t>
            </a:r>
            <a:r>
              <a:rPr lang="en-US" altLang="zh-CN" sz="2400" dirty="0"/>
              <a:t>  </a:t>
            </a:r>
            <a:r>
              <a:rPr lang="zh-CN" altLang="en-US" sz="2400" dirty="0"/>
              <a:t>定义和使用类</a:t>
            </a:r>
          </a:p>
          <a:p>
            <a:pPr marL="0" indent="0">
              <a:buNone/>
            </a:pPr>
            <a:r>
              <a:rPr lang="en-US" altLang="zh-CN" sz="2400" dirty="0"/>
              <a:t>fridge = Fridge("Haier","200*100","2020-10-08")</a:t>
            </a:r>
          </a:p>
          <a:p>
            <a:pPr marL="0" indent="0">
              <a:buNone/>
            </a:pPr>
            <a:r>
              <a:rPr lang="en-US" altLang="zh-CN" sz="2400" dirty="0"/>
              <a:t>elep1 = Elephant("Manfred","300","10","black")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fridge.opendoor()  #打开冰箱</a:t>
            </a:r>
          </a:p>
          <a:p>
            <a:pPr marL="0" indent="0">
              <a:buNone/>
            </a:pPr>
            <a:r>
              <a:rPr lang="en-US" altLang="zh-CN" sz="2400" dirty="0"/>
              <a:t>elep1.gotofridge(fridge.xh,elep1.color) #大象走进冰箱</a:t>
            </a:r>
          </a:p>
          <a:p>
            <a:pPr marL="0" indent="0">
              <a:buNone/>
            </a:pPr>
            <a:r>
              <a:rPr lang="en-US" altLang="zh-CN" sz="2400" dirty="0"/>
              <a:t>fridge.closedoor() #关闭冰箱</a:t>
            </a:r>
          </a:p>
        </p:txBody>
      </p:sp>
      <p:sp>
        <p:nvSpPr>
          <p:cNvPr id="7" name="线形标注 2(无边框) 6"/>
          <p:cNvSpPr/>
          <p:nvPr/>
        </p:nvSpPr>
        <p:spPr>
          <a:xfrm>
            <a:off x="6144260" y="4945380"/>
            <a:ext cx="4793615" cy="822960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-58256"/>
              <a:gd name="adj6" fmla="val -3967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用</a:t>
            </a:r>
            <a:r>
              <a:rPr lang="zh-CN" altLang="en-US" sz="2400" b="1" dirty="0">
                <a:solidFill>
                  <a:srgbClr val="FF0000"/>
                </a:solidFill>
              </a:rPr>
              <a:t>对象</a:t>
            </a:r>
            <a:r>
              <a:rPr lang="en-US" altLang="zh-CN" sz="2400" b="1" dirty="0">
                <a:solidFill>
                  <a:srgbClr val="FF0000"/>
                </a:solidFill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</a:rPr>
              <a:t>方法名</a:t>
            </a:r>
            <a:r>
              <a:rPr lang="en-US" altLang="zh-CN" sz="2400" b="1" dirty="0">
                <a:solidFill>
                  <a:srgbClr val="FF0000"/>
                </a:solidFill>
              </a:rPr>
              <a:t>()</a:t>
            </a:r>
            <a:r>
              <a:rPr lang="zh-CN" altLang="en-US" sz="2400" b="1" dirty="0">
                <a:solidFill>
                  <a:schemeClr val="tx1"/>
                </a:solidFill>
              </a:rPr>
              <a:t>的形式调用了方法。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r>
              <a:rPr lang="en-US" altLang="zh-CN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—self</a:t>
            </a:r>
            <a:r>
              <a:rPr lang="zh-CN" altLang="en-US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</a:t>
            </a:r>
          </a:p>
        </p:txBody>
      </p:sp>
      <p:sp>
        <p:nvSpPr>
          <p:cNvPr id="31746" name="文本占位符 24578"/>
          <p:cNvSpPr>
            <a:spLocks noGrp="1"/>
          </p:cNvSpPr>
          <p:nvPr/>
        </p:nvSpPr>
        <p:spPr>
          <a:xfrm>
            <a:off x="457200" y="1600200"/>
            <a:ext cx="1108011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类的所有实例方法都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必须至少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有一个名为self的参数，并且必须是方法的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第一个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形参（如果有多个形参的话），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self参数代表将来要创建的对象本身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  <a:p>
            <a:pPr algn="just" defTabSz="914400"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在类的实例方法中访问实例属性时需要以self为前缀。</a:t>
            </a:r>
          </a:p>
          <a:p>
            <a:pPr algn="just" defTabSz="914400"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在外部通过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对象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调用实例方法时并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不需要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传递这个参数，如果在外部通过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调用实例方法则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需要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显式为self参数传值。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600"/>
              </a:spcAft>
              <a:buSzPct val="90000"/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hlinkClick r:id="rId3"/>
              </a:rPr>
              <a:t>https://www.cnblogs.com/byhh/p/15530528.html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r>
              <a:rPr lang="en-US" altLang="zh-CN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—self</a:t>
            </a:r>
            <a:r>
              <a:rPr lang="zh-CN" altLang="en-US" sz="2800" b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3105" y="1455420"/>
            <a:ext cx="11228070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base">
              <a:lnSpc>
                <a:spcPct val="130000"/>
              </a:lnSpc>
              <a:spcBef>
                <a:spcPts val="0"/>
              </a:spcBef>
              <a:buFont typeface="Wingdings" panose="05000000000000000000" charset="0"/>
              <a:buChar char="n"/>
            </a:pPr>
            <a:r>
              <a:rPr lang="zh-CN" altLang="en-US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在</a:t>
            </a:r>
            <a:r>
              <a:rPr lang="en-US" altLang="zh-CN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Python</a:t>
            </a:r>
            <a:r>
              <a:rPr lang="zh-CN" altLang="en-US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中，在类中定义实例方法时将第一个参数定义为“</a:t>
            </a:r>
            <a:r>
              <a:rPr lang="en-US" altLang="zh-CN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self”</a:t>
            </a:r>
            <a:r>
              <a:rPr lang="zh-CN" altLang="en-US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只是一个习惯，而实际上</a:t>
            </a:r>
            <a:r>
              <a:rPr lang="zh-CN" altLang="en-US" b="1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不一定非要</a:t>
            </a:r>
            <a:r>
              <a:rPr lang="zh-CN" altLang="en-US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使用“</a:t>
            </a:r>
            <a:r>
              <a:rPr lang="en-US" altLang="zh-CN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self”</a:t>
            </a:r>
            <a:r>
              <a:rPr lang="zh-CN" altLang="en-US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这个名字，建议编写代码时仍以</a:t>
            </a:r>
            <a:r>
              <a:rPr lang="en-US" altLang="zh-CN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self</a:t>
            </a:r>
            <a:r>
              <a:rPr lang="zh-CN" altLang="en-US" b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作为方法的第一个参数名字。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39215" y="3271520"/>
            <a:ext cx="5226050" cy="1565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905" indent="-344805" fontAlgn="base">
              <a:lnSpc>
                <a:spcPct val="80000"/>
              </a:lnSpc>
              <a:buNone/>
            </a:pPr>
            <a:r>
              <a:rPr lang="en-US" altLang="zh-CN">
                <a:effectLst/>
                <a:latin typeface="Consolas" panose="020B0609020204030204" pitchFamily="49" charset="0"/>
                <a:sym typeface="+mn-ea"/>
              </a:rPr>
              <a:t>class A:</a:t>
            </a:r>
            <a:endParaRPr lang="en-US" altLang="zh-CN" strike="noStrike" noProof="1">
              <a:effectLst/>
              <a:latin typeface="Consolas" panose="020B0609020204030204" pitchFamily="49" charset="0"/>
            </a:endParaRPr>
          </a:p>
          <a:p>
            <a:pPr marL="1905" indent="-344805" fontAlgn="base">
              <a:lnSpc>
                <a:spcPct val="80000"/>
              </a:lnSpc>
              <a:buNone/>
            </a:pPr>
            <a:r>
              <a:rPr lang="en-US" altLang="en-US">
                <a:latin typeface="Consolas" panose="020B0609020204030204" pitchFamily="49" charset="0"/>
                <a:sym typeface="+mn-ea"/>
              </a:rPr>
              <a:t>    </a:t>
            </a:r>
            <a:r>
              <a:rPr lang="en-US" altLang="zh-CN">
                <a:effectLst/>
                <a:latin typeface="Consolas" panose="020B0609020204030204" pitchFamily="49" charset="0"/>
                <a:sym typeface="+mn-ea"/>
              </a:rPr>
              <a:t>def __init__(myname, v):</a:t>
            </a:r>
            <a:endParaRPr lang="en-US" altLang="zh-CN" strike="noStrike" noProof="1">
              <a:effectLst/>
              <a:latin typeface="Consolas" panose="020B0609020204030204" pitchFamily="49" charset="0"/>
            </a:endParaRPr>
          </a:p>
          <a:p>
            <a:pPr marL="1905" indent="-344805" fontAlgn="base">
              <a:lnSpc>
                <a:spcPct val="80000"/>
              </a:lnSpc>
              <a:buNone/>
            </a:pPr>
            <a:r>
              <a:rPr lang="en-US" altLang="en-US">
                <a:latin typeface="Consolas" panose="020B0609020204030204" pitchFamily="49" charset="0"/>
                <a:sym typeface="+mn-ea"/>
              </a:rPr>
              <a:t>        </a:t>
            </a:r>
            <a:r>
              <a:rPr lang="en-US" altLang="zh-CN">
                <a:effectLst/>
                <a:latin typeface="Consolas" panose="020B0609020204030204" pitchFamily="49" charset="0"/>
                <a:sym typeface="+mn-ea"/>
              </a:rPr>
              <a:t>myname.value = v</a:t>
            </a:r>
            <a:endParaRPr lang="en-US" altLang="zh-CN" strike="noStrike" noProof="1">
              <a:effectLst/>
              <a:latin typeface="Consolas" panose="020B0609020204030204" pitchFamily="49" charset="0"/>
            </a:endParaRPr>
          </a:p>
          <a:p>
            <a:pPr marL="1905" indent="-344805" fontAlgn="base">
              <a:lnSpc>
                <a:spcPct val="80000"/>
              </a:lnSpc>
              <a:buNone/>
            </a:pPr>
            <a:r>
              <a:rPr lang="en-US" altLang="en-US">
                <a:latin typeface="Consolas" panose="020B0609020204030204" pitchFamily="49" charset="0"/>
                <a:sym typeface="+mn-ea"/>
              </a:rPr>
              <a:t>    </a:t>
            </a:r>
            <a:r>
              <a:rPr lang="en-US" altLang="zh-CN">
                <a:effectLst/>
                <a:latin typeface="Consolas" panose="020B0609020204030204" pitchFamily="49" charset="0"/>
                <a:sym typeface="+mn-ea"/>
              </a:rPr>
              <a:t>def show(myname):</a:t>
            </a:r>
            <a:endParaRPr lang="en-US" altLang="zh-CN" strike="noStrike" noProof="1">
              <a:effectLst/>
              <a:latin typeface="Consolas" panose="020B0609020204030204" pitchFamily="49" charset="0"/>
            </a:endParaRPr>
          </a:p>
          <a:p>
            <a:pPr marL="1905" indent="-344805" fontAlgn="base">
              <a:lnSpc>
                <a:spcPct val="80000"/>
              </a:lnSpc>
              <a:buNone/>
            </a:pPr>
            <a:r>
              <a:rPr lang="en-US" altLang="en-US">
                <a:latin typeface="Consolas" panose="020B0609020204030204" pitchFamily="49" charset="0"/>
                <a:sym typeface="+mn-ea"/>
              </a:rPr>
              <a:t>        </a:t>
            </a:r>
            <a:r>
              <a:rPr lang="en-US" altLang="zh-CN">
                <a:effectLst/>
                <a:latin typeface="Consolas" panose="020B0609020204030204" pitchFamily="49" charset="0"/>
                <a:sym typeface="+mn-ea"/>
              </a:rPr>
              <a:t>print(myname.value)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11035" y="3641090"/>
            <a:ext cx="2540000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905" indent="-344805" fontAlgn="base">
              <a:lnSpc>
                <a:spcPct val="80000"/>
              </a:lnSpc>
              <a:buNone/>
            </a:pPr>
            <a:r>
              <a:rPr lang="en-US" altLang="zh-CN">
                <a:effectLst/>
                <a:latin typeface="Consolas" panose="020B0609020204030204" pitchFamily="49" charset="0"/>
                <a:sym typeface="+mn-ea"/>
              </a:rPr>
              <a:t>a = A(3)</a:t>
            </a:r>
            <a:endParaRPr lang="en-US" altLang="zh-CN" strike="noStrike" noProof="1">
              <a:effectLst/>
              <a:latin typeface="Consolas" panose="020B0609020204030204" pitchFamily="49" charset="0"/>
            </a:endParaRPr>
          </a:p>
          <a:p>
            <a:pPr marL="1905" indent="-344805" fontAlgn="base">
              <a:lnSpc>
                <a:spcPct val="80000"/>
              </a:lnSpc>
              <a:buNone/>
            </a:pPr>
            <a:r>
              <a:rPr lang="en-US" altLang="zh-CN">
                <a:effectLst/>
                <a:latin typeface="Consolas" panose="020B0609020204030204" pitchFamily="49" charset="0"/>
                <a:sym typeface="+mn-ea"/>
              </a:rPr>
              <a:t>a.show()</a:t>
            </a:r>
            <a:endParaRPr lang="en-US" altLang="zh-CN" strike="noStrike" noProof="1">
              <a:effectLst/>
              <a:latin typeface="Consolas" panose="020B0609020204030204" pitchFamily="49" charset="0"/>
            </a:endParaRPr>
          </a:p>
          <a:p>
            <a:pPr marL="1905" indent="-344805" fontAlgn="base">
              <a:lnSpc>
                <a:spcPct val="80000"/>
              </a:lnSpc>
              <a:buNone/>
            </a:pPr>
            <a:r>
              <a:rPr lang="en-US" altLang="zh-CN">
                <a:solidFill>
                  <a:srgbClr val="FF0000"/>
                </a:solidFill>
                <a:effectLst/>
                <a:latin typeface="Consolas" panose="020B0609020204030204" pitchFamily="49" charset="0"/>
                <a:sym typeface="+mn-ea"/>
              </a:rPr>
              <a:t>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类定义及使用练习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</a:p>
        </p:txBody>
      </p:sp>
      <p:pic>
        <p:nvPicPr>
          <p:cNvPr id="7" name="内容占位符 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058" y="1817711"/>
            <a:ext cx="4132079" cy="3223022"/>
          </a:xfrm>
          <a:prstGeom prst="rect">
            <a:avLst/>
          </a:prstGeom>
        </p:spPr>
      </p:pic>
      <p:sp>
        <p:nvSpPr>
          <p:cNvPr id="8" name="线形标注 1 7"/>
          <p:cNvSpPr/>
          <p:nvPr/>
        </p:nvSpPr>
        <p:spPr>
          <a:xfrm>
            <a:off x="2391961" y="2249758"/>
            <a:ext cx="2646040" cy="486054"/>
          </a:xfrm>
          <a:prstGeom prst="borderCallout1">
            <a:avLst>
              <a:gd name="adj1" fmla="val 47693"/>
              <a:gd name="adj2" fmla="val 99631"/>
              <a:gd name="adj3" fmla="val 119736"/>
              <a:gd name="adj4" fmla="val 12361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学号：</a:t>
            </a:r>
            <a:r>
              <a:rPr lang="en-US" altLang="zh-CN" sz="2400" dirty="0">
                <a:solidFill>
                  <a:schemeClr val="tx1"/>
                </a:solidFill>
              </a:rPr>
              <a:t>2018001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线形标注 1 8"/>
          <p:cNvSpPr/>
          <p:nvPr/>
        </p:nvSpPr>
        <p:spPr>
          <a:xfrm>
            <a:off x="1743889" y="2843824"/>
            <a:ext cx="2646040" cy="486054"/>
          </a:xfrm>
          <a:prstGeom prst="borderCallout1">
            <a:avLst>
              <a:gd name="adj1" fmla="val 47693"/>
              <a:gd name="adj2" fmla="val 99631"/>
              <a:gd name="adj3" fmla="val 56424"/>
              <a:gd name="adj4" fmla="val 13424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姓名：张远</a:t>
            </a:r>
          </a:p>
        </p:txBody>
      </p:sp>
      <p:sp>
        <p:nvSpPr>
          <p:cNvPr id="10" name="线形标注 1 9"/>
          <p:cNvSpPr/>
          <p:nvPr/>
        </p:nvSpPr>
        <p:spPr>
          <a:xfrm>
            <a:off x="1743889" y="3437890"/>
            <a:ext cx="2016224" cy="486054"/>
          </a:xfrm>
          <a:prstGeom prst="borderCallout1">
            <a:avLst>
              <a:gd name="adj1" fmla="val 47693"/>
              <a:gd name="adj2" fmla="val 99631"/>
              <a:gd name="adj3" fmla="val -39448"/>
              <a:gd name="adj4" fmla="val 17663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性别：男</a:t>
            </a:r>
          </a:p>
        </p:txBody>
      </p:sp>
      <p:sp>
        <p:nvSpPr>
          <p:cNvPr id="11" name="线形标注 1 10"/>
          <p:cNvSpPr/>
          <p:nvPr/>
        </p:nvSpPr>
        <p:spPr>
          <a:xfrm>
            <a:off x="1636585" y="4031956"/>
            <a:ext cx="2078396" cy="486054"/>
          </a:xfrm>
          <a:prstGeom prst="borderCallout1">
            <a:avLst>
              <a:gd name="adj1" fmla="val 47693"/>
              <a:gd name="adj2" fmla="val 99631"/>
              <a:gd name="adj3" fmla="val -62965"/>
              <a:gd name="adj4" fmla="val 15689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语文成绩：</a:t>
            </a:r>
            <a:r>
              <a:rPr lang="en-US" altLang="zh-CN" sz="2400" dirty="0">
                <a:solidFill>
                  <a:schemeClr val="tx1"/>
                </a:solidFill>
              </a:rPr>
              <a:t>98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线形标注 1 11"/>
          <p:cNvSpPr/>
          <p:nvPr/>
        </p:nvSpPr>
        <p:spPr>
          <a:xfrm>
            <a:off x="1599873" y="4734034"/>
            <a:ext cx="2646040" cy="432048"/>
          </a:xfrm>
          <a:prstGeom prst="borderCallout1">
            <a:avLst>
              <a:gd name="adj1" fmla="val 47693"/>
              <a:gd name="adj2" fmla="val 99631"/>
              <a:gd name="adj3" fmla="val -131703"/>
              <a:gd name="adj4" fmla="val 11563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数学成绩：</a:t>
            </a:r>
            <a:r>
              <a:rPr lang="en-US" altLang="zh-CN" sz="2400" dirty="0">
                <a:solidFill>
                  <a:schemeClr val="tx1"/>
                </a:solidFill>
              </a:rPr>
              <a:t>100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线形标注 1 12"/>
          <p:cNvSpPr/>
          <p:nvPr/>
        </p:nvSpPr>
        <p:spPr>
          <a:xfrm>
            <a:off x="6640433" y="1881230"/>
            <a:ext cx="2646040" cy="486054"/>
          </a:xfrm>
          <a:prstGeom prst="borderCallout1">
            <a:avLst>
              <a:gd name="adj1" fmla="val 40457"/>
              <a:gd name="adj2" fmla="val 390"/>
              <a:gd name="adj3" fmla="val 96220"/>
              <a:gd name="adj4" fmla="val -1727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求总分：</a:t>
            </a:r>
            <a:r>
              <a:rPr lang="en-US" altLang="zh-CN" sz="2400" dirty="0">
                <a:solidFill>
                  <a:schemeClr val="tx1"/>
                </a:solidFill>
              </a:rPr>
              <a:t>sum()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线形标注 1 13"/>
          <p:cNvSpPr/>
          <p:nvPr/>
        </p:nvSpPr>
        <p:spPr>
          <a:xfrm>
            <a:off x="6928465" y="2600797"/>
            <a:ext cx="2646040" cy="486054"/>
          </a:xfrm>
          <a:prstGeom prst="borderCallout1">
            <a:avLst>
              <a:gd name="adj1" fmla="val 40457"/>
              <a:gd name="adj2" fmla="val 390"/>
              <a:gd name="adj3" fmla="val 96220"/>
              <a:gd name="adj4" fmla="val -1727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求平均：</a:t>
            </a:r>
            <a:r>
              <a:rPr lang="en-US" altLang="zh-CN" sz="2400" dirty="0" err="1">
                <a:solidFill>
                  <a:schemeClr val="tx1"/>
                </a:solidFill>
              </a:rPr>
              <a:t>avg</a:t>
            </a:r>
            <a:r>
              <a:rPr lang="en-US" altLang="zh-CN" sz="2400" dirty="0">
                <a:solidFill>
                  <a:schemeClr val="tx1"/>
                </a:solidFill>
              </a:rPr>
              <a:t>()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线形标注 1 14"/>
          <p:cNvSpPr/>
          <p:nvPr/>
        </p:nvSpPr>
        <p:spPr>
          <a:xfrm>
            <a:off x="6928465" y="3339896"/>
            <a:ext cx="2646040" cy="486054"/>
          </a:xfrm>
          <a:prstGeom prst="borderCallout1">
            <a:avLst>
              <a:gd name="adj1" fmla="val 40457"/>
              <a:gd name="adj2" fmla="val 390"/>
              <a:gd name="adj3" fmla="val 5774"/>
              <a:gd name="adj4" fmla="val -2126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及格门数：</a:t>
            </a:r>
            <a:r>
              <a:rPr lang="en-US" altLang="zh-CN" sz="2400" dirty="0" err="1">
                <a:solidFill>
                  <a:schemeClr val="tx1"/>
                </a:solidFill>
              </a:rPr>
              <a:t>pn</a:t>
            </a:r>
            <a:r>
              <a:rPr lang="en-US" altLang="zh-CN" sz="2400" dirty="0">
                <a:solidFill>
                  <a:schemeClr val="tx1"/>
                </a:solidFill>
              </a:rPr>
              <a:t>()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6928485" y="4147820"/>
            <a:ext cx="3209925" cy="1769110"/>
          </a:xfrm>
          <a:prstGeom prst="wedgeRoundRectCallout">
            <a:avLst>
              <a:gd name="adj1" fmla="val -58133"/>
              <a:gd name="adj2" fmla="val -41101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定义类的时候，该有哪些数据属性，哪些方法属性？</a:t>
            </a:r>
          </a:p>
        </p:txBody>
      </p:sp>
      <p:sp>
        <p:nvSpPr>
          <p:cNvPr id="16" name="线形标注 1 15"/>
          <p:cNvSpPr/>
          <p:nvPr/>
        </p:nvSpPr>
        <p:spPr>
          <a:xfrm>
            <a:off x="2031921" y="5285895"/>
            <a:ext cx="2646040" cy="432048"/>
          </a:xfrm>
          <a:prstGeom prst="borderCallout1">
            <a:avLst>
              <a:gd name="adj1" fmla="val 47693"/>
              <a:gd name="adj2" fmla="val 99631"/>
              <a:gd name="adj3" fmla="val -131703"/>
              <a:gd name="adj4" fmla="val 11563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英语成绩：</a:t>
            </a:r>
            <a:r>
              <a:rPr lang="en-US" altLang="zh-CN" sz="2400" dirty="0">
                <a:solidFill>
                  <a:schemeClr val="tx1"/>
                </a:solidFill>
              </a:rPr>
              <a:t>90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7" grpId="0" bldLvl="0" animBg="1"/>
      <p:bldP spid="16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类定义及使用练习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504825" y="155413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设计“学生类”要问的问题</a:t>
            </a:r>
          </a:p>
        </p:txBody>
      </p:sp>
      <p:sp>
        <p:nvSpPr>
          <p:cNvPr id="19" name="内容占位符 2"/>
          <p:cNvSpPr>
            <a:spLocks noGrp="1"/>
          </p:cNvSpPr>
          <p:nvPr/>
        </p:nvSpPr>
        <p:spPr>
          <a:xfrm>
            <a:off x="875665" y="2526365"/>
            <a:ext cx="8077200" cy="3223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该有哪些数据属性，哪些方法属性？</a:t>
            </a:r>
          </a:p>
          <a:p>
            <a:pPr lvl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要有平均分这一个数据属性吗？</a:t>
            </a:r>
            <a:endParaRPr lang="en-US" altLang="zh-CN" sz="2400" dirty="0"/>
          </a:p>
          <a:p>
            <a:pPr lvl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要有班级排名这一个属性吗</a:t>
            </a:r>
            <a:r>
              <a:rPr lang="zh-CN" altLang="en-US" sz="2400" dirty="0"/>
              <a:t>？</a:t>
            </a:r>
            <a:endParaRPr lang="en-US" altLang="zh-CN" sz="2400" dirty="0"/>
          </a:p>
          <a:p>
            <a:r>
              <a:rPr lang="zh-CN" altLang="en-US" sz="2800" dirty="0"/>
              <a:t>构造方法要带哪些参数？</a:t>
            </a:r>
            <a:endParaRPr lang="en-US" altLang="zh-CN" sz="2800" dirty="0"/>
          </a:p>
          <a:p>
            <a:pPr lvl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学号，姓名，性别一般不会变化，可作为构造方法的参数。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要提供成绩参数吗？</a:t>
            </a:r>
            <a:endParaRPr lang="en-US" altLang="zh-CN" sz="2400" dirty="0"/>
          </a:p>
          <a:p>
            <a:pPr lvl="1"/>
            <a:endParaRPr lang="zh-CN" altLang="en-US" sz="2400" dirty="0"/>
          </a:p>
        </p:txBody>
      </p:sp>
      <p:sp>
        <p:nvSpPr>
          <p:cNvPr id="20" name="线形标注 2(无边框) 19"/>
          <p:cNvSpPr/>
          <p:nvPr/>
        </p:nvSpPr>
        <p:spPr>
          <a:xfrm>
            <a:off x="7566660" y="2411095"/>
            <a:ext cx="4043045" cy="935990"/>
          </a:xfrm>
          <a:prstGeom prst="callout2">
            <a:avLst>
              <a:gd name="adj1" fmla="val 64057"/>
              <a:gd name="adj2" fmla="val -89"/>
              <a:gd name="adj3" fmla="val 50531"/>
              <a:gd name="adj4" fmla="val -2515"/>
              <a:gd name="adj5" fmla="val 85888"/>
              <a:gd name="adj6" fmla="val -3877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平均分不要设置为数据属性，而应该是方法。</a:t>
            </a:r>
          </a:p>
        </p:txBody>
      </p:sp>
      <p:sp>
        <p:nvSpPr>
          <p:cNvPr id="21" name="线形标注 2(无边框) 20"/>
          <p:cNvSpPr/>
          <p:nvPr/>
        </p:nvSpPr>
        <p:spPr>
          <a:xfrm>
            <a:off x="6298565" y="3542665"/>
            <a:ext cx="4601845" cy="607060"/>
          </a:xfrm>
          <a:prstGeom prst="callout2">
            <a:avLst>
              <a:gd name="adj1" fmla="val 64057"/>
              <a:gd name="adj2" fmla="val -89"/>
              <a:gd name="adj3" fmla="val 50531"/>
              <a:gd name="adj4" fmla="val -2515"/>
              <a:gd name="adj5" fmla="val 39927"/>
              <a:gd name="adj6" fmla="val -1521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不要。这是班级类要有的属性。</a:t>
            </a:r>
          </a:p>
        </p:txBody>
      </p:sp>
      <p:sp>
        <p:nvSpPr>
          <p:cNvPr id="22" name="线形标注 2(无边框) 21"/>
          <p:cNvSpPr/>
          <p:nvPr/>
        </p:nvSpPr>
        <p:spPr>
          <a:xfrm>
            <a:off x="4918075" y="4918710"/>
            <a:ext cx="5982970" cy="1080135"/>
          </a:xfrm>
          <a:prstGeom prst="callout2">
            <a:avLst>
              <a:gd name="adj1" fmla="val 64057"/>
              <a:gd name="adj2" fmla="val -89"/>
              <a:gd name="adj3" fmla="val 50531"/>
              <a:gd name="adj4" fmla="val -2515"/>
              <a:gd name="adj5" fmla="val 47966"/>
              <a:gd name="adj6" fmla="val -883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chemeClr val="tx1"/>
                </a:solidFill>
                <a:sym typeface="+mn-ea"/>
              </a:rPr>
              <a:t>要或不要都可以。不安排成绩参数，那么必须有设置成绩的方法。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1" grpId="0" bldLvl="0" animBg="1"/>
      <p:bldP spid="22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5958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类定义及使用练习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9385" y="1374140"/>
            <a:ext cx="4434840" cy="51181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class Student: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def __init__(self,sno,sname,sex):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#设置学号、姓名和性别属性的值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self.sno = sno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self.sname = sname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self.sex = sex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#初始化语文、数学和英语成绩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self.ChineseScore = 0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self.MathScore    = 0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self.EnglishScore = 0</a:t>
            </a:r>
          </a:p>
          <a:p>
            <a:pPr marL="0" lvl="0" algn="l">
              <a:buClrTx/>
              <a:buSzTx/>
              <a:buNone/>
            </a:pPr>
            <a:endParaRPr lang="en-US" altLang="zh-CN" sz="1800" i="1" dirty="0">
              <a:sym typeface="+mn-ea"/>
            </a:endParaRP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def setChineseScore(self,score):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self.ChineseScore = score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99635" y="1374140"/>
            <a:ext cx="7285355" cy="51181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def setMathScore(self,score):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self.MathScore = score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def setEnglishScore(self,score):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self.EnglishScore = score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def avgScore(self):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        return (self.ChineseScore+self.MathScore+self.EnglishScore)/3</a:t>
            </a:r>
          </a:p>
          <a:p>
            <a:pPr marL="0" lvl="0" algn="l">
              <a:buClrTx/>
              <a:buSzTx/>
              <a:buNone/>
            </a:pPr>
            <a:endParaRPr lang="en-US" altLang="zh-CN" sz="1800" i="1" dirty="0">
              <a:sym typeface="+mn-ea"/>
            </a:endParaRP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zhang = Student('2017001','Zhang','F')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zhang.setChineseScore(88.5)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zhang.setMathScore(90.0)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zhang.setEnglishScore(78)</a:t>
            </a:r>
          </a:p>
          <a:p>
            <a:pPr marL="0" lvl="0" algn="l">
              <a:buClrTx/>
              <a:buSzTx/>
              <a:buNone/>
            </a:pPr>
            <a:r>
              <a:rPr lang="en-US" altLang="zh-CN" sz="1800" i="1" dirty="0">
                <a:sym typeface="+mn-ea"/>
              </a:rPr>
              <a:t>print("%s\t%s\t%.2f"%(zhang.sno, zhang.sname, zhang.avgScore()))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、面向对象三大特性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</a:t>
            </a:r>
          </a:p>
        </p:txBody>
      </p:sp>
      <p:sp>
        <p:nvSpPr>
          <p:cNvPr id="37890" name="文本占位符 28674"/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封装：把客观事物封装成抽象的类，</a:t>
            </a:r>
            <a:r>
              <a:rPr lang="zh-CN" altLang="en-US" sz="2400" strike="noStrike" kern="120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隐藏属性和方法的实现细节</a:t>
            </a: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，仅对外公开接口。</a:t>
            </a:r>
          </a:p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概念很拗口，但是思想却很简单。</a:t>
            </a:r>
          </a:p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回到我们的冰箱、洗衣机，他们的共同特征是什么呢？能装东西、能开门、能关门。这些是他们的共性，我们就可以向上封装。</a:t>
            </a:r>
            <a:r>
              <a:rPr lang="zh-CN" altLang="en-US" sz="2400" strike="noStrike" kern="120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把能装东西、关门、开门封装起来</a:t>
            </a: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。并且给他一个统称叫做：</a:t>
            </a:r>
            <a:r>
              <a:rPr lang="zh-CN" altLang="en-US" sz="2400" strike="noStrike" kern="120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可开关盒子</a:t>
            </a: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。可开关盒子就是一个类。这个类的所有对象都可以装东西、开门、关门。</a:t>
            </a:r>
            <a:endParaRPr lang="en-US" altLang="zh-CN" sz="2400" strike="noStrike" kern="1200" baseline="0" noProof="1">
              <a:latin typeface="+mn-lt"/>
              <a:ea typeface="+mn-ea"/>
              <a:cs typeface="+mn-cs"/>
            </a:endParaRPr>
          </a:p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封装可以把计算机中的数据跟操作这些数据的方法组装在一起，把他们封装在一个模块中，也就是一个类中。</a:t>
            </a:r>
          </a:p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strike="noStrike" kern="1200" baseline="0" noProof="1">
              <a:latin typeface="+mn-lt"/>
              <a:ea typeface="+mn-ea"/>
              <a:cs typeface="+mn-cs"/>
            </a:endParaRPr>
          </a:p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strike="noStrike" kern="1200" baseline="0" noProof="1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15FF-939A-27B5-F5E1-881CDA099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EABC9CE-FAC2-9645-6BB3-3BA8272C1DAD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22A92E5B-19F8-49F8-6A99-269AFC5C402B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私有成员和公有成员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8547BC45-3931-8FC7-19E9-9C87B7396C21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en-US" altLang="zh-CN" sz="2400" strike="noStrike" kern="1200" baseline="0" noProof="1">
                <a:latin typeface="+mn-lt"/>
                <a:ea typeface="+mn-ea"/>
                <a:cs typeface="+mn-cs"/>
              </a:rPr>
              <a:t>Python</a:t>
            </a: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并</a:t>
            </a:r>
            <a:r>
              <a:rPr lang="zh-CN" altLang="en-US" sz="2400" strike="noStrike" kern="120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没有对私有成员提供严格的访问保护机制</a:t>
            </a: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。</a:t>
            </a:r>
          </a:p>
          <a:p>
            <a:pPr marL="675005" indent="-342265" defTabSz="914400" fontAlgn="base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charset="0"/>
              <a:buChar char="ü"/>
            </a:pPr>
            <a:r>
              <a:rPr lang="zh-CN" altLang="en-US" sz="2000" strike="noStrike" kern="1200" baseline="0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在定义类的成员时，如果成员名以</a:t>
            </a:r>
            <a:r>
              <a:rPr lang="zh-CN" altLang="en-US" sz="2000" strike="noStrike" kern="1200" baseline="0" noProof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两个下划线</a:t>
            </a:r>
            <a:r>
              <a:rPr lang="zh-CN" altLang="en-US" sz="2000" strike="noStrike" kern="1200" baseline="0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en-US" altLang="zh-CN" sz="2000" strike="noStrike" kern="1200" baseline="0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__”</a:t>
            </a:r>
            <a:r>
              <a:rPr lang="zh-CN" altLang="en-US" sz="2000" strike="noStrike" kern="1200" baseline="0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或更多下划线开头而不以两个或更多下划线结束则表示是私有成员。</a:t>
            </a:r>
          </a:p>
          <a:p>
            <a:pPr marL="675005" indent="-342265" defTabSz="914400" fontAlgn="base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panose="05000000000000000000" charset="0"/>
              <a:buChar char="ü"/>
            </a:pPr>
            <a:r>
              <a:rPr lang="zh-CN" altLang="en-US" sz="2000" strike="noStrike" kern="1200" baseline="0" noProof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私有成员在类的外部不能直接访问</a:t>
            </a:r>
            <a:r>
              <a:rPr lang="zh-CN" altLang="en-US" sz="2000" strike="noStrike" kern="1200" baseline="0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，需要通过调用对象的公开成员方法来访问，也可以通过</a:t>
            </a:r>
            <a:r>
              <a:rPr lang="en-US" altLang="zh-CN" sz="2000" strike="noStrike" kern="1200" baseline="0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sz="2000" strike="noStrike" kern="1200" baseline="0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支持的</a:t>
            </a:r>
            <a:r>
              <a:rPr lang="zh-CN" altLang="en-US" sz="2000" strike="noStrike" kern="1200" baseline="0" noProof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特殊方式</a:t>
            </a:r>
            <a:r>
              <a:rPr lang="zh-CN" altLang="en-US" sz="2000" strike="noStrike" kern="1200" baseline="0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来访问。</a:t>
            </a:r>
          </a:p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公开成员既可以在类的内部进行访问，也可以在外部程序中使用。</a:t>
            </a:r>
          </a:p>
        </p:txBody>
      </p:sp>
    </p:spTree>
    <p:extLst>
      <p:ext uri="{BB962C8B-B14F-4D97-AF65-F5344CB8AC3E}">
        <p14:creationId xmlns:p14="http://schemas.microsoft.com/office/powerpoint/2010/main" val="974499673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私有成员和公有成员</a:t>
            </a:r>
          </a:p>
        </p:txBody>
      </p:sp>
      <p:sp>
        <p:nvSpPr>
          <p:cNvPr id="44034" name="文本占位符 29698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&gt;&gt;&gt; class A: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	    def __init__(self, value1 = 0, value2 = 0):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self._value1 = value1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self.__value2 = value2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	    def setValue(self, value1, value2):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self._value1 = value1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self.__value2 = value2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	    def show(self):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print(self._value1)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print(self.__value2)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endParaRPr lang="en-US" altLang="zh-CN" sz="1800">
              <a:latin typeface="Consolas" panose="020B0609020204030204" pitchFamily="49" charset="0"/>
            </a:endParaRP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&gt;&gt;&gt; a = A()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&gt;&gt;&gt; a._value1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B0F0"/>
                </a:solidFill>
                <a:latin typeface="Consolas" panose="020B0609020204030204" pitchFamily="49" charset="0"/>
              </a:rPr>
              <a:t>0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Consolas" panose="020B0609020204030204" pitchFamily="49" charset="0"/>
              </a:rPr>
              <a:t>&gt;&gt;&gt; a._A__value2             #</a:t>
            </a:r>
            <a:r>
              <a:rPr lang="zh-CN" altLang="en-US" sz="1800">
                <a:latin typeface="Consolas" panose="020B0609020204030204" pitchFamily="49" charset="0"/>
              </a:rPr>
              <a:t>在外部访问对象的私有数据成员</a:t>
            </a:r>
          </a:p>
          <a:p>
            <a:pPr marL="1905" indent="-344805" defTabSz="914400">
              <a:lnSpc>
                <a:spcPct val="100000"/>
              </a:lnSpc>
              <a:spcBef>
                <a:spcPct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B0F0"/>
                </a:solidFill>
                <a:latin typeface="Consolas" panose="020B0609020204030204" pitchFamily="49" charset="0"/>
              </a:rPr>
              <a:t>0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/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私有成员和公有成员</a:t>
            </a:r>
          </a:p>
        </p:txBody>
      </p:sp>
      <p:sp>
        <p:nvSpPr>
          <p:cNvPr id="46082" name="文本占位符 31746"/>
          <p:cNvSpPr>
            <a:spLocks noGrp="1"/>
          </p:cNvSpPr>
          <p:nvPr/>
        </p:nvSpPr>
        <p:spPr>
          <a:xfrm>
            <a:off x="457200" y="1600200"/>
            <a:ext cx="1103947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499745" defTabSz="91440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Wingdings" panose="05000000000000000000" charset="0"/>
              <a:buChar char="n"/>
            </a:pPr>
            <a:r>
              <a:rPr lang="zh-CN" altLang="en-US" sz="2400" strike="noStrike" noProof="1"/>
              <a:t>在</a:t>
            </a:r>
            <a:r>
              <a:rPr lang="en-US" altLang="zh-CN" sz="2400" strike="noStrike" noProof="1"/>
              <a:t>Python</a:t>
            </a:r>
            <a:r>
              <a:rPr lang="zh-CN" altLang="en-US" sz="2400" strike="noStrike" noProof="1"/>
              <a:t>中，以下划线开头的变量名和方法名有特殊的含义，尤其是在类的定义中。</a:t>
            </a:r>
          </a:p>
          <a:p>
            <a:pPr marL="678180" indent="-342265" defTabSz="91440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Wingdings" panose="05000000000000000000" charset="0"/>
              <a:buChar char=""/>
            </a:pPr>
            <a:r>
              <a:rPr lang="en-US" altLang="zh-CN" sz="2000" strike="noStrike" noProof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_x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x</a:t>
            </a:r>
            <a:r>
              <a:rPr lang="en-US" altLang="zh-CN" sz="2000" strike="noStrike" noProof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x</a:t>
            </a:r>
            <a:r>
              <a:rPr lang="zh-CN" altLang="en-US" sz="2000" strike="noStrike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：受保护成员，不能用</a:t>
            </a:r>
            <a:r>
              <a:rPr lang="en-US" altLang="zh-CN" sz="2000" strike="noStrike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'from module import *'</a:t>
            </a:r>
            <a:r>
              <a:rPr lang="zh-CN" altLang="en-US" sz="2000" strike="noStrike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导入；</a:t>
            </a:r>
          </a:p>
          <a:p>
            <a:pPr marL="678180" indent="-342265" defTabSz="91440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Wingdings" panose="05000000000000000000" charset="0"/>
              <a:buChar char=""/>
            </a:pPr>
            <a:r>
              <a:rPr lang="en-US" altLang="zh-CN" sz="2000" strike="noStrike" noProof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__xxx__</a:t>
            </a:r>
            <a:r>
              <a:rPr lang="zh-CN" altLang="en-US" sz="2000" strike="noStrike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：系统定义的特殊成员；</a:t>
            </a:r>
          </a:p>
          <a:p>
            <a:pPr marL="678180" indent="-342265" defTabSz="91440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Wingdings" panose="05000000000000000000" charset="0"/>
              <a:buChar char=""/>
            </a:pPr>
            <a:r>
              <a:rPr lang="en-US" altLang="zh-CN" sz="2000" strike="noStrike" noProof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__xxx</a:t>
            </a:r>
            <a:r>
              <a:rPr lang="zh-CN" altLang="en-US" sz="2000" strike="noStrike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：私有成员，只有类对象自己能访问，子类对象不能直接访问到这个成员，但在对象外部可以通过“对象名</a:t>
            </a:r>
            <a:r>
              <a:rPr lang="en-US" altLang="zh-CN" sz="2000" strike="noStrike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._</a:t>
            </a:r>
            <a:r>
              <a:rPr lang="zh-CN" altLang="en-US" sz="2000" strike="noStrike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类名</a:t>
            </a:r>
            <a:r>
              <a:rPr lang="en-US" altLang="zh-CN" sz="2000" strike="noStrike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__xxx”</a:t>
            </a:r>
            <a:r>
              <a:rPr lang="zh-CN" altLang="en-US" sz="2000" strike="noStrike" noProof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这样的特殊方式来访问。</a:t>
            </a:r>
          </a:p>
          <a:p>
            <a:pPr marL="25400" indent="472440" defTabSz="91440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Wingdings" panose="05000000000000000000" charset="0"/>
              <a:buChar char="v"/>
            </a:pPr>
            <a:r>
              <a:rPr lang="zh-CN" altLang="en-US" sz="2400" strike="noStrike" noProof="1"/>
              <a:t>注意：</a:t>
            </a:r>
            <a:r>
              <a:rPr lang="en-US" altLang="zh-CN" sz="2400" strike="noStrike" noProof="1">
                <a:solidFill>
                  <a:srgbClr val="FF0000"/>
                </a:solidFill>
              </a:rPr>
              <a:t>Python</a:t>
            </a:r>
            <a:r>
              <a:rPr lang="zh-CN" altLang="en-US" sz="2400" strike="noStrike" noProof="1">
                <a:solidFill>
                  <a:srgbClr val="FF0000"/>
                </a:solidFill>
              </a:rPr>
              <a:t>中不存在严格意义上的私有成员</a:t>
            </a:r>
            <a:r>
              <a:rPr lang="zh-CN" altLang="en-US" sz="2400" strike="noStrike" noProof="1"/>
              <a:t>。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623" y="1197546"/>
            <a:ext cx="9865096" cy="313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130623" y="4581922"/>
            <a:ext cx="98650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关于私有变量：</a:t>
            </a:r>
            <a:endParaRPr lang="en-US" altLang="zh-CN" b="1" dirty="0">
              <a:solidFill>
                <a:srgbClr val="FF0000"/>
              </a:solidFill>
              <a:hlinkClick r:id="rId3"/>
            </a:endParaRPr>
          </a:p>
          <a:p>
            <a:r>
              <a:rPr lang="en-US" altLang="zh-CN" dirty="0">
                <a:hlinkClick r:id="rId3"/>
              </a:rPr>
              <a:t>https://blog.csdn.net/m0_72557783/article/details/128506957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0448199"/>
      </p:ext>
    </p:extLst>
  </p:cSld>
  <p:clrMapOvr>
    <a:masterClrMapping/>
  </p:clrMapOvr>
  <p:transition spd="slow" advTm="0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03684-5F8E-40BE-73D3-34FA45766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FCC4821-722C-D55D-3788-14F583AE1E45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33EBB43B-7E90-792B-50F7-C2F7554BC012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、面向对象三大特性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继承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C62DDB92-77B4-A67D-E241-98B8C2DCCBCB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继承：</a:t>
            </a:r>
            <a:r>
              <a:rPr lang="zh-CN" altLang="en-US" sz="2400" strike="noStrike" kern="120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子类可以使用父类的所有功能</a:t>
            </a: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，并且对这些功能进行</a:t>
            </a:r>
            <a:r>
              <a:rPr lang="zh-CN" altLang="en-US" sz="2400" strike="noStrike" kern="120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扩展</a:t>
            </a: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。继承的过程，就是</a:t>
            </a:r>
            <a:r>
              <a:rPr lang="zh-CN" altLang="en-US" sz="2400" strike="noStrike" kern="120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从一般到特殊</a:t>
            </a: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的过程。</a:t>
            </a:r>
          </a:p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继承的思想也很简单。父亲是人，母亲也是人，父母都有人的模样，你继承他们，就会继承他们的所有这些属性。你一出生就会有人类共有的这些属性。并且你可以对这些属性进行拓展，比如，父亲只会说中文，但是你会说中文、你拓展了这个方法，你还会说英文。</a:t>
            </a:r>
          </a:p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继承简单地说就是一种层次模型，这种层次模型能够被重用。</a:t>
            </a:r>
            <a:r>
              <a:rPr lang="zh-CN" altLang="en-US" sz="2400" strike="noStrike" kern="120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层次结构的上层具有通用性，但是下层结构则具有特殊性</a:t>
            </a:r>
            <a:r>
              <a:rPr lang="zh-CN" altLang="en-US" sz="2400" strike="noStrike" kern="1200" baseline="0" noProof="1">
                <a:latin typeface="+mn-lt"/>
                <a:ea typeface="+mn-ea"/>
                <a:cs typeface="+mn-cs"/>
              </a:rPr>
              <a:t>。在继承的过程中类则可以从最顶层的部分继承一些方法和变量。类除了可以继承以外同时还能够进行修改或者添加。通过这样的方式能够有效提高工作效率。</a:t>
            </a:r>
          </a:p>
        </p:txBody>
      </p:sp>
    </p:spTree>
    <p:extLst>
      <p:ext uri="{BB962C8B-B14F-4D97-AF65-F5344CB8AC3E}">
        <p14:creationId xmlns:p14="http://schemas.microsoft.com/office/powerpoint/2010/main" val="1406639623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CCC7A-EC2D-669A-3514-1F1205B70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037AB15-A98E-57D1-6250-766F42AEA373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7C0AA219-FBFE-CF1D-38EE-A596BD69525D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、面向对象三大特性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继承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40F5F642-A5C1-BC8E-01A5-E48EBDE91352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b="1" strike="noStrike" kern="1200" baseline="0" noProof="1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C624F2-81FB-72EA-444C-618BCC638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975" y="1391905"/>
            <a:ext cx="7772400" cy="49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44466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3B5A-F81B-68C3-8391-886636690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531B212-A047-D085-15BB-4DEC7E9DE41C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36FF899B-DDF1-3452-0B59-7BF075B571EE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多重继承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04BC98E4-9B97-ADAB-AF58-8ED2977ADB58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b="1" strike="noStrike" kern="1200" baseline="0" noProof="1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266E93-C5B4-B2C1-9AF4-A8292836F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23" y="2203022"/>
            <a:ext cx="5778500" cy="42291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D753AF-77C2-B9EA-8899-5CB54EEFD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423" y="2225030"/>
            <a:ext cx="5740400" cy="42291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374D0BD-FE4B-6255-CE1A-CC43FF8866A3}"/>
              </a:ext>
            </a:extLst>
          </p:cNvPr>
          <p:cNvSpPr txBox="1"/>
          <p:nvPr/>
        </p:nvSpPr>
        <p:spPr>
          <a:xfrm>
            <a:off x="339725" y="1427122"/>
            <a:ext cx="11518900" cy="878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多重继承，指的是一个类别可以同时从多于一个父类继承行为与特征的功能，</a:t>
            </a:r>
            <a:r>
              <a:rPr lang="en" altLang="zh-CN" dirty="0"/>
              <a:t>Python </a:t>
            </a:r>
            <a:r>
              <a:rPr lang="zh-CN" altLang="en-US" dirty="0"/>
              <a:t>是支持多重继承的。</a:t>
            </a:r>
          </a:p>
        </p:txBody>
      </p:sp>
    </p:spTree>
    <p:extLst>
      <p:ext uri="{BB962C8B-B14F-4D97-AF65-F5344CB8AC3E}">
        <p14:creationId xmlns:p14="http://schemas.microsoft.com/office/powerpoint/2010/main" val="1427879505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D5FE-0DC6-0157-C147-D32820D9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ED32753-9350-B3A7-C927-B561378127A3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A4F21EA-92D3-D8B8-CC80-ADEA05387C89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多重继承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BC982C7D-B437-DF65-2F21-D57D67480171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b="1" strike="noStrike" kern="1200" baseline="0" noProof="1">
              <a:latin typeface="+mn-lt"/>
              <a:ea typeface="+mn-ea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5336D8-5CDC-0D2C-D1C5-5E029A645B6A}"/>
              </a:ext>
            </a:extLst>
          </p:cNvPr>
          <p:cNvSpPr txBox="1"/>
          <p:nvPr/>
        </p:nvSpPr>
        <p:spPr>
          <a:xfrm>
            <a:off x="339725" y="1427122"/>
            <a:ext cx="11518900" cy="2559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当</a:t>
            </a:r>
            <a:r>
              <a:rPr lang="en-US" altLang="zh-CN" dirty="0"/>
              <a:t>Person</a:t>
            </a:r>
            <a:r>
              <a:rPr lang="zh-CN" altLang="en-US" dirty="0"/>
              <a:t>类继承自多个父类，多个父类都有相同的方法，是按照继承参数的顺序来的，谁排在第一个就调用谁的方法。</a:t>
            </a:r>
            <a:endParaRPr lang="en-US" altLang="zh-CN" dirty="0"/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事实上，这个顺序可以通过该类的 </a:t>
            </a:r>
            <a:r>
              <a:rPr lang="en-US" altLang="zh-CN" dirty="0"/>
              <a:t>`__</a:t>
            </a:r>
            <a:r>
              <a:rPr lang="en" altLang="zh-CN" dirty="0" err="1"/>
              <a:t>mro</a:t>
            </a:r>
            <a:r>
              <a:rPr lang="en" altLang="zh-CN" dirty="0"/>
              <a:t>__` </a:t>
            </a:r>
            <a:r>
              <a:rPr lang="zh-CN" altLang="en-US" dirty="0"/>
              <a:t>属性或者 </a:t>
            </a:r>
            <a:r>
              <a:rPr lang="en-US" altLang="zh-CN" dirty="0"/>
              <a:t>`</a:t>
            </a:r>
            <a:r>
              <a:rPr lang="en" altLang="zh-CN" dirty="0" err="1"/>
              <a:t>mro</a:t>
            </a:r>
            <a:r>
              <a:rPr lang="en" altLang="zh-CN" dirty="0"/>
              <a:t>()` </a:t>
            </a:r>
            <a:r>
              <a:rPr lang="zh-CN" altLang="en-US" dirty="0"/>
              <a:t>方法来查看：</a:t>
            </a:r>
            <a:endParaRPr lang="en-US" altLang="zh-CN" dirty="0"/>
          </a:p>
          <a:p>
            <a:pPr algn="ctr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en-US" altLang="zh-CN" dirty="0"/>
              <a:t>Person.__</a:t>
            </a:r>
            <a:r>
              <a:rPr lang="en-US" altLang="zh-CN" dirty="0" err="1"/>
              <a:t>mro</a:t>
            </a:r>
            <a:r>
              <a:rPr lang="en-US" altLang="zh-CN" dirty="0"/>
              <a:t>__</a:t>
            </a:r>
            <a:r>
              <a:rPr lang="zh-CN" altLang="en-US" dirty="0"/>
              <a:t>或者</a:t>
            </a:r>
            <a:r>
              <a:rPr lang="en-US" altLang="zh-CN" dirty="0" err="1"/>
              <a:t>Person.mro</a:t>
            </a:r>
            <a:r>
              <a:rPr lang="en-US" altLang="zh-CN" dirty="0"/>
              <a:t>()</a:t>
            </a:r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02110902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38C04-71C2-6198-244A-C91CB845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8EA7370-0E40-A448-DBD8-9384B8842ECC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B17A69F3-4528-CDF5-751F-DB8E0D97811B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多重继承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D29C03CA-124A-B148-9E06-0F43B5E1E443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b="1" strike="noStrike" kern="1200" baseline="0" noProof="1">
              <a:latin typeface="+mn-lt"/>
              <a:ea typeface="+mn-ea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BA730B-23D9-0700-AE95-BFC8A506A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35" y="1613503"/>
            <a:ext cx="2089642" cy="44498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F58114-F081-695A-A3CE-DCD1C35CD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839" y="3346128"/>
            <a:ext cx="7505700" cy="787400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2E728F65-74E2-D49B-3A2B-25859FE86DBD}"/>
              </a:ext>
            </a:extLst>
          </p:cNvPr>
          <p:cNvGrpSpPr/>
          <p:nvPr/>
        </p:nvGrpSpPr>
        <p:grpSpPr>
          <a:xfrm>
            <a:off x="3506887" y="1214592"/>
            <a:ext cx="6405959" cy="1845361"/>
            <a:chOff x="3632398" y="2174256"/>
            <a:chExt cx="6405959" cy="184536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33946D1-AC70-D3BE-15F0-B98E24F147E5}"/>
                </a:ext>
              </a:extLst>
            </p:cNvPr>
            <p:cNvSpPr/>
            <p:nvPr/>
          </p:nvSpPr>
          <p:spPr>
            <a:xfrm>
              <a:off x="5116363" y="2829767"/>
              <a:ext cx="539355" cy="540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A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19053B7-794B-1222-C9BD-9D471131EFAA}"/>
                </a:ext>
              </a:extLst>
            </p:cNvPr>
            <p:cNvSpPr/>
            <p:nvPr/>
          </p:nvSpPr>
          <p:spPr>
            <a:xfrm>
              <a:off x="6603231" y="2174256"/>
              <a:ext cx="539355" cy="540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B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CCA21CC-A966-7162-9086-DE91CE305C60}"/>
                </a:ext>
              </a:extLst>
            </p:cNvPr>
            <p:cNvSpPr/>
            <p:nvPr/>
          </p:nvSpPr>
          <p:spPr>
            <a:xfrm>
              <a:off x="6602395" y="3478667"/>
              <a:ext cx="539354" cy="540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C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E47501D-EE4F-77AB-2671-5FD6954093D5}"/>
                </a:ext>
              </a:extLst>
            </p:cNvPr>
            <p:cNvSpPr/>
            <p:nvPr/>
          </p:nvSpPr>
          <p:spPr>
            <a:xfrm>
              <a:off x="8212707" y="2174256"/>
              <a:ext cx="539355" cy="5409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B1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E41B573-59F7-34CC-4CB5-EED9FE32A70A}"/>
                </a:ext>
              </a:extLst>
            </p:cNvPr>
            <p:cNvSpPr/>
            <p:nvPr/>
          </p:nvSpPr>
          <p:spPr>
            <a:xfrm>
              <a:off x="8212707" y="3478666"/>
              <a:ext cx="539355" cy="5409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C1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CFED6C1-58A9-82F6-8A91-A940FB918ED4}"/>
                </a:ext>
              </a:extLst>
            </p:cNvPr>
            <p:cNvSpPr/>
            <p:nvPr/>
          </p:nvSpPr>
          <p:spPr>
            <a:xfrm>
              <a:off x="9499003" y="2829767"/>
              <a:ext cx="539354" cy="540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5CF8C63-7A2B-2970-83D5-1E9B93782299}"/>
                </a:ext>
              </a:extLst>
            </p:cNvPr>
            <p:cNvSpPr/>
            <p:nvPr/>
          </p:nvSpPr>
          <p:spPr>
            <a:xfrm>
              <a:off x="3632398" y="2829767"/>
              <a:ext cx="539355" cy="540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O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线箭头连接符 16">
              <a:extLst>
                <a:ext uri="{FF2B5EF4-FFF2-40B4-BE49-F238E27FC236}">
                  <a16:creationId xmlns:a16="http://schemas.microsoft.com/office/drawing/2014/main" id="{CFC95CC4-2602-FC76-299F-9FE82C065C1B}"/>
                </a:ext>
              </a:extLst>
            </p:cNvPr>
            <p:cNvCxnSpPr>
              <a:stCxn id="15" idx="3"/>
              <a:endCxn id="9" idx="1"/>
            </p:cNvCxnSpPr>
            <p:nvPr/>
          </p:nvCxnSpPr>
          <p:spPr>
            <a:xfrm>
              <a:off x="4171753" y="3100242"/>
              <a:ext cx="94461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箭头连接符 17">
              <a:extLst>
                <a:ext uri="{FF2B5EF4-FFF2-40B4-BE49-F238E27FC236}">
                  <a16:creationId xmlns:a16="http://schemas.microsoft.com/office/drawing/2014/main" id="{7DA00697-E385-DE12-5ED5-EAB1061D31B2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 flipV="1">
              <a:off x="5655718" y="2444731"/>
              <a:ext cx="947513" cy="655511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C1F85079-4DD3-8865-809A-8BCA51D34463}"/>
                </a:ext>
              </a:extLst>
            </p:cNvPr>
            <p:cNvCxnSpPr>
              <a:cxnSpLocks/>
              <a:stCxn id="9" idx="3"/>
              <a:endCxn id="11" idx="1"/>
            </p:cNvCxnSpPr>
            <p:nvPr/>
          </p:nvCxnSpPr>
          <p:spPr>
            <a:xfrm>
              <a:off x="5655718" y="3100242"/>
              <a:ext cx="946677" cy="64890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0966A3C4-E5D0-EF0E-008D-7744C37E95FE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7142586" y="2444731"/>
              <a:ext cx="1070121" cy="1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DFB83026-1BD1-7768-5520-51AFA1FCDA10}"/>
                </a:ext>
              </a:extLst>
            </p:cNvPr>
            <p:cNvCxnSpPr>
              <a:cxnSpLocks/>
              <a:stCxn id="11" idx="3"/>
              <a:endCxn id="13" idx="1"/>
            </p:cNvCxnSpPr>
            <p:nvPr/>
          </p:nvCxnSpPr>
          <p:spPr>
            <a:xfrm>
              <a:off x="7141749" y="3749142"/>
              <a:ext cx="107095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箭头连接符 29">
              <a:extLst>
                <a:ext uri="{FF2B5EF4-FFF2-40B4-BE49-F238E27FC236}">
                  <a16:creationId xmlns:a16="http://schemas.microsoft.com/office/drawing/2014/main" id="{55C44150-ED1D-7204-4025-9E73BBF205E7}"/>
                </a:ext>
              </a:extLst>
            </p:cNvPr>
            <p:cNvCxnSpPr>
              <a:cxnSpLocks/>
              <a:stCxn id="12" idx="3"/>
              <a:endCxn id="14" idx="1"/>
            </p:cNvCxnSpPr>
            <p:nvPr/>
          </p:nvCxnSpPr>
          <p:spPr>
            <a:xfrm>
              <a:off x="8752062" y="2444732"/>
              <a:ext cx="746941" cy="65551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F2C0FC1D-DD1D-C9D4-DEF3-AEA9135830D3}"/>
                </a:ext>
              </a:extLst>
            </p:cNvPr>
            <p:cNvCxnSpPr>
              <a:cxnSpLocks/>
              <a:stCxn id="11" idx="3"/>
              <a:endCxn id="14" idx="1"/>
            </p:cNvCxnSpPr>
            <p:nvPr/>
          </p:nvCxnSpPr>
          <p:spPr>
            <a:xfrm flipV="1">
              <a:off x="7141749" y="3100242"/>
              <a:ext cx="2357254" cy="64890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228A5DC-24FB-BAB3-E81A-00AD63CF80B7}"/>
              </a:ext>
            </a:extLst>
          </p:cNvPr>
          <p:cNvSpPr txBox="1"/>
          <p:nvPr/>
        </p:nvSpPr>
        <p:spPr>
          <a:xfrm>
            <a:off x="2932485" y="4257592"/>
            <a:ext cx="6142120" cy="2138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en" altLang="zh-CN" dirty="0"/>
              <a:t>MRO </a:t>
            </a:r>
            <a:r>
              <a:rPr lang="zh-CN" altLang="en-US" dirty="0"/>
              <a:t>工作原理：</a:t>
            </a:r>
          </a:p>
          <a:p>
            <a:pPr marL="952500" lvl="1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深度优先，从左到右搜索</a:t>
            </a:r>
          </a:p>
          <a:p>
            <a:pPr marL="952500" lvl="1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确保子类在父类之前被检查</a:t>
            </a:r>
          </a:p>
          <a:p>
            <a:pPr marL="952500" lvl="1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避免重复访问同一个类</a:t>
            </a:r>
          </a:p>
        </p:txBody>
      </p:sp>
    </p:spTree>
    <p:extLst>
      <p:ext uri="{BB962C8B-B14F-4D97-AF65-F5344CB8AC3E}">
        <p14:creationId xmlns:p14="http://schemas.microsoft.com/office/powerpoint/2010/main" val="1535168674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B8E4-48B2-03F5-38D1-054DBE45A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92A752A-9B5F-AC5E-3790-B657CDA9B7A9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13EDA61E-A91C-095A-0956-89BF0753E162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Super()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E75EC68F-7116-9525-87EA-5E36D58F5CE4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b="1" strike="noStrike" kern="1200" baseline="0" noProof="1">
              <a:latin typeface="+mn-lt"/>
              <a:ea typeface="+mn-ea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D3FFCC-B92B-C4A7-9E41-EDECE1F02562}"/>
              </a:ext>
            </a:extLst>
          </p:cNvPr>
          <p:cNvSpPr txBox="1"/>
          <p:nvPr/>
        </p:nvSpPr>
        <p:spPr>
          <a:xfrm>
            <a:off x="457200" y="1721634"/>
            <a:ext cx="11186591" cy="424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en" altLang="zh-CN" dirty="0"/>
              <a:t>super() </a:t>
            </a:r>
            <a:r>
              <a:rPr lang="zh-CN" altLang="en-US" dirty="0"/>
              <a:t>函数是用于调用父类的方法。</a:t>
            </a:r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en" altLang="zh-CN" dirty="0"/>
              <a:t>super() </a:t>
            </a:r>
            <a:r>
              <a:rPr lang="zh-CN" altLang="en-US" dirty="0"/>
              <a:t>是用来解决多重继承问题的，包括：</a:t>
            </a:r>
            <a:r>
              <a:rPr lang="zh-CN" altLang="en-US" dirty="0">
                <a:solidFill>
                  <a:srgbClr val="C00000"/>
                </a:solidFill>
              </a:rPr>
              <a:t>查找顺序（</a:t>
            </a:r>
            <a:r>
              <a:rPr lang="en" altLang="zh-CN" dirty="0">
                <a:solidFill>
                  <a:srgbClr val="C00000"/>
                </a:solidFill>
              </a:rPr>
              <a:t>MRO</a:t>
            </a:r>
            <a:r>
              <a:rPr lang="zh-CN" altLang="en" dirty="0">
                <a:solidFill>
                  <a:srgbClr val="C00000"/>
                </a:solidFill>
              </a:rPr>
              <a:t>）、</a:t>
            </a:r>
            <a:r>
              <a:rPr lang="zh-CN" altLang="en-US" dirty="0">
                <a:solidFill>
                  <a:srgbClr val="C00000"/>
                </a:solidFill>
              </a:rPr>
              <a:t>重复调用（钻石继承）</a:t>
            </a:r>
            <a:r>
              <a:rPr lang="zh-CN" altLang="en-US" dirty="0"/>
              <a:t>等种种问题。</a:t>
            </a:r>
            <a:endParaRPr lang="en-US" altLang="zh-CN" dirty="0"/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语法：</a:t>
            </a:r>
            <a:r>
              <a:rPr lang="en" altLang="zh-CN" dirty="0">
                <a:solidFill>
                  <a:srgbClr val="C00000"/>
                </a:solidFill>
              </a:rPr>
              <a:t>super(type[, object-or-type])</a:t>
            </a:r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参数：</a:t>
            </a:r>
            <a:r>
              <a:rPr lang="en" altLang="zh-CN" dirty="0"/>
              <a:t>type – </a:t>
            </a:r>
            <a:r>
              <a:rPr lang="zh-CN" altLang="en-US" dirty="0"/>
              <a:t>类。</a:t>
            </a:r>
            <a:endParaRPr lang="en-US" altLang="zh-CN" dirty="0"/>
          </a:p>
          <a:p>
            <a:pPr lvl="1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en-US" altLang="zh-CN" dirty="0"/>
              <a:t>	</a:t>
            </a:r>
            <a:r>
              <a:rPr lang="zh-CN" altLang="en-US" dirty="0"/>
              <a:t>     </a:t>
            </a:r>
            <a:r>
              <a:rPr lang="en" altLang="zh-CN" dirty="0"/>
              <a:t>object-or-type – </a:t>
            </a:r>
            <a:r>
              <a:rPr lang="zh-CN" altLang="en-US" dirty="0"/>
              <a:t>类，一般是 </a:t>
            </a:r>
            <a:r>
              <a:rPr lang="en" altLang="zh-CN" dirty="0"/>
              <a:t>self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lvl="1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返回值：</a:t>
            </a:r>
            <a:r>
              <a:rPr lang="en-US" altLang="zh-CN" dirty="0"/>
              <a:t>super</a:t>
            </a:r>
            <a:r>
              <a:rPr lang="zh-CN" altLang="en-US" dirty="0"/>
              <a:t> </a:t>
            </a:r>
            <a:r>
              <a:rPr lang="en-US" altLang="zh-CN" dirty="0"/>
              <a:t>object</a:t>
            </a:r>
            <a:r>
              <a:rPr lang="en" altLang="zh-CN" dirty="0"/>
              <a:t> – </a:t>
            </a:r>
            <a:r>
              <a:rPr lang="zh-CN" altLang="en" dirty="0"/>
              <a:t>代理对象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</a:pP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1170320732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57348-37BE-9151-0019-71A62A2D0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840238D-2E09-E50F-9C77-70D143C9A629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0396CBB9-B4C3-C8F3-D5F5-6D94E96EFE58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Super()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单继承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0F089BED-4E74-9DDB-95C2-196A9F2D6E06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b="1" strike="noStrike" kern="1200" baseline="0" noProof="1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F702BD-D53D-94C3-942B-3C5476AE1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3" y="1538738"/>
            <a:ext cx="6125829" cy="45877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8D325F-AB80-6AE0-EE27-32FB85282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765" y="5012051"/>
            <a:ext cx="7772400" cy="111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80004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947C-FD08-0307-7D5B-DE6AD059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4FAF770-5EDB-0D01-888D-D7A2488D49BC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4DBF4644-DBBD-AA8F-0DC6-69D296CF82F8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Super()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多继承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1C58470C-6AC8-AD61-2E7C-6948ADA3443F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b="1" strike="noStrike" kern="1200" baseline="0" noProof="1">
              <a:latin typeface="+mn-lt"/>
              <a:ea typeface="+mn-ea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26237C-56FA-80CE-B120-18398212E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743" y="1413570"/>
            <a:ext cx="2249468" cy="50385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D5E5E9-ADCD-6B57-EDD9-87DA1827D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330" y="1413571"/>
            <a:ext cx="5272253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28783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EC0E-2038-B524-D34D-A3C3124A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23C1D07-020C-EE99-38FA-44E2BDAB6068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9EB24931-DEF9-C3A8-87E5-61E9C2C50DF9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、面向对象三大特性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多态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B524DCB5-A47D-6FB2-5859-835AA9DA198C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b="1" strike="noStrike" kern="1200" baseline="0" noProof="1">
              <a:latin typeface="+mn-lt"/>
              <a:ea typeface="+mn-ea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63B951-680A-B1C1-F364-922B3F253C02}"/>
              </a:ext>
            </a:extLst>
          </p:cNvPr>
          <p:cNvSpPr txBox="1"/>
          <p:nvPr/>
        </p:nvSpPr>
        <p:spPr>
          <a:xfrm>
            <a:off x="338535" y="1629594"/>
            <a:ext cx="11521280" cy="3119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多态指的是一类事物有多种形态（一个抽象类有多个子类，因而多态的概念依赖于继承）。</a:t>
            </a:r>
            <a:endParaRPr lang="en-US" altLang="zh-CN" dirty="0"/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多态存在的三个必要条件：</a:t>
            </a:r>
          </a:p>
          <a:p>
            <a:pPr lvl="1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zh-CN" altLang="en-US" dirty="0"/>
              <a:t>要有继承；</a:t>
            </a:r>
          </a:p>
          <a:p>
            <a:pPr lvl="1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zh-CN" altLang="en-US" dirty="0"/>
              <a:t>要有重写；</a:t>
            </a:r>
          </a:p>
          <a:p>
            <a:pPr lvl="1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zh-CN" altLang="en-US" dirty="0"/>
              <a:t>父类引用指向子类对象。</a:t>
            </a:r>
          </a:p>
        </p:txBody>
      </p:sp>
    </p:spTree>
    <p:extLst>
      <p:ext uri="{BB962C8B-B14F-4D97-AF65-F5344CB8AC3E}">
        <p14:creationId xmlns:p14="http://schemas.microsoft.com/office/powerpoint/2010/main" val="1271180308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B60DE-BC1C-F360-A33D-328D165F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AA853DB-BA43-C4DF-5635-DA2125DAFB5C}"/>
              </a:ext>
            </a:extLst>
          </p:cNvPr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类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19C4EA44-851B-5221-C652-64E6BA8830DC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、面向对象三大特性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多态</a:t>
            </a:r>
          </a:p>
        </p:txBody>
      </p:sp>
      <p:sp>
        <p:nvSpPr>
          <p:cNvPr id="37890" name="文本占位符 28674">
            <a:extLst>
              <a:ext uri="{FF2B5EF4-FFF2-40B4-BE49-F238E27FC236}">
                <a16:creationId xmlns:a16="http://schemas.microsoft.com/office/drawing/2014/main" id="{8B632A2C-4E95-0B77-E502-D64B6DD80339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11059795" cy="452628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endParaRPr lang="zh-CN" altLang="en-US" sz="2400" b="1" strike="noStrike" kern="1200" baseline="0" noProof="1">
              <a:latin typeface="+mn-lt"/>
              <a:ea typeface="+mn-ea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4BB861-9E30-227A-3268-11BC874F9400}"/>
              </a:ext>
            </a:extLst>
          </p:cNvPr>
          <p:cNvSpPr txBox="1"/>
          <p:nvPr/>
        </p:nvSpPr>
        <p:spPr>
          <a:xfrm>
            <a:off x="338535" y="1629594"/>
            <a:ext cx="11521280" cy="1284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en-US" altLang="zh-CN" dirty="0"/>
              <a:t>Father</a:t>
            </a:r>
            <a:r>
              <a:rPr lang="zh-CN" altLang="en-US" dirty="0"/>
              <a:t>类有一个</a:t>
            </a:r>
            <a:r>
              <a:rPr lang="en" altLang="zh-CN" dirty="0"/>
              <a:t>talk()</a:t>
            </a:r>
            <a:r>
              <a:rPr lang="zh-CN" altLang="en-US" dirty="0"/>
              <a:t>方法，</a:t>
            </a:r>
            <a:r>
              <a:rPr lang="en-US" altLang="zh-CN" dirty="0"/>
              <a:t>Me</a:t>
            </a:r>
            <a:r>
              <a:rPr lang="zh-CN" altLang="en-US" dirty="0"/>
              <a:t>类继承了</a:t>
            </a:r>
            <a:r>
              <a:rPr lang="en-US" altLang="zh-CN" dirty="0"/>
              <a:t>Father</a:t>
            </a:r>
            <a:r>
              <a:rPr lang="zh-CN" altLang="en-US" dirty="0"/>
              <a:t>的</a:t>
            </a:r>
            <a:r>
              <a:rPr lang="en" altLang="zh-CN" dirty="0"/>
              <a:t>talk()</a:t>
            </a:r>
            <a:r>
              <a:rPr lang="zh-CN" altLang="en-US" dirty="0"/>
              <a:t>方法，对于同样的</a:t>
            </a:r>
            <a:r>
              <a:rPr lang="en" altLang="zh-CN" dirty="0"/>
              <a:t>talk()</a:t>
            </a:r>
            <a:r>
              <a:rPr lang="zh-CN" altLang="en-US" dirty="0"/>
              <a:t>方法，</a:t>
            </a:r>
            <a:r>
              <a:rPr lang="en-US" altLang="zh-CN" dirty="0"/>
              <a:t>Father</a:t>
            </a:r>
            <a:r>
              <a:rPr lang="zh-CN" altLang="en-US" dirty="0"/>
              <a:t>类对象讲中文，</a:t>
            </a:r>
            <a:r>
              <a:rPr lang="en-US" altLang="zh-CN" dirty="0"/>
              <a:t>Me</a:t>
            </a:r>
            <a:r>
              <a:rPr lang="zh-CN" altLang="en-US" dirty="0"/>
              <a:t>类对象讲英语，</a:t>
            </a:r>
            <a:r>
              <a:rPr lang="en-US" altLang="zh-CN" dirty="0"/>
              <a:t>Son</a:t>
            </a:r>
            <a:r>
              <a:rPr lang="zh-CN" altLang="en-US" dirty="0"/>
              <a:t>类对象讲俄语、</a:t>
            </a:r>
            <a:r>
              <a:rPr lang="en-US" altLang="zh-CN" dirty="0"/>
              <a:t>Sister</a:t>
            </a:r>
            <a:r>
              <a:rPr lang="zh-CN" altLang="en-US" dirty="0"/>
              <a:t>类对象讲韩语，这就是多态。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69A2A9-7DA1-67DF-0B43-A79F31B77322}"/>
              </a:ext>
            </a:extLst>
          </p:cNvPr>
          <p:cNvSpPr txBox="1"/>
          <p:nvPr/>
        </p:nvSpPr>
        <p:spPr>
          <a:xfrm>
            <a:off x="184610" y="2894763"/>
            <a:ext cx="1108001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altLang="zh-CN" sz="1600" b="1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1" i="0" dirty="0">
                <a:solidFill>
                  <a:srgbClr val="09408E"/>
                </a:solidFill>
                <a:effectLst/>
                <a:latin typeface="Menlo" panose="020B0609030804020204" pitchFamily="49" charset="0"/>
              </a:rPr>
              <a:t>Father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algn="l">
              <a:buNone/>
            </a:pP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1600" b="1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1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talk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i="0" dirty="0">
                <a:solidFill>
                  <a:srgbClr val="9196A1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algn="l">
              <a:buNone/>
            </a:pP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CN" sz="1600" b="1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我会讲话，我讲的是中文</a:t>
            </a:r>
            <a:r>
              <a:rPr lang="en-US" altLang="zh-CN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)</a:t>
            </a:r>
            <a:endParaRPr lang="en" altLang="zh-CN" sz="1600" b="1" i="0" dirty="0">
              <a:solidFill>
                <a:srgbClr val="191B1F"/>
              </a:solidFill>
              <a:effectLst/>
              <a:latin typeface="Menlo" panose="020B0609030804020204" pitchFamily="49" charset="0"/>
            </a:endParaRPr>
          </a:p>
          <a:p>
            <a:pPr algn="l">
              <a:buNone/>
            </a:pPr>
            <a:r>
              <a:rPr lang="en" altLang="zh-CN" sz="1600" b="1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1" i="0" dirty="0">
                <a:solidFill>
                  <a:srgbClr val="09408E"/>
                </a:solidFill>
                <a:effectLst/>
                <a:latin typeface="Menlo" panose="020B0609030804020204" pitchFamily="49" charset="0"/>
              </a:rPr>
              <a:t>Me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(Father):</a:t>
            </a:r>
          </a:p>
          <a:p>
            <a:pPr algn="l">
              <a:buNone/>
            </a:pP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1600" b="1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1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talk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i="0" dirty="0">
                <a:solidFill>
                  <a:srgbClr val="9196A1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algn="l">
              <a:buNone/>
            </a:pP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CN" sz="1600" b="1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我是哥哥，我讲英语：</a:t>
            </a:r>
            <a:r>
              <a:rPr lang="en" altLang="zh-CN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hello</a:t>
            </a:r>
            <a:r>
              <a:rPr lang="zh-CN" altLang="en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，</a:t>
            </a:r>
            <a:r>
              <a:rPr lang="en" altLang="zh-CN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world"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)</a:t>
            </a:r>
            <a:endParaRPr lang="en" altLang="zh-CN" sz="1600" b="1" i="0" dirty="0">
              <a:solidFill>
                <a:srgbClr val="191B1F"/>
              </a:solidFill>
              <a:effectLst/>
              <a:latin typeface="Menlo" panose="020B0609030804020204" pitchFamily="49" charset="0"/>
            </a:endParaRPr>
          </a:p>
          <a:p>
            <a:pPr algn="l">
              <a:buNone/>
            </a:pPr>
            <a:r>
              <a:rPr lang="en" altLang="zh-CN" sz="1600" b="1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1" i="0" dirty="0">
                <a:solidFill>
                  <a:srgbClr val="09408E"/>
                </a:solidFill>
                <a:effectLst/>
                <a:latin typeface="Menlo" panose="020B0609030804020204" pitchFamily="49" charset="0"/>
              </a:rPr>
              <a:t>Son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(Father):</a:t>
            </a:r>
          </a:p>
          <a:p>
            <a:pPr algn="l">
              <a:buNone/>
            </a:pP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CN" sz="1600" b="1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600" b="1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talk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i="0" dirty="0">
                <a:solidFill>
                  <a:srgbClr val="9196A1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algn="l">
              <a:buNone/>
            </a:pP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CN" sz="1600" b="1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我是弟弟，我讲俄语：</a:t>
            </a:r>
            <a:r>
              <a:rPr lang="az-Cyrl-AZ" altLang="zh-CN" sz="1600" b="0" i="0" dirty="0">
                <a:solidFill>
                  <a:srgbClr val="D95350"/>
                </a:solidFill>
                <a:effectLst/>
                <a:latin typeface="Menlo" panose="020B0609030804020204" pitchFamily="49" charset="0"/>
              </a:rPr>
              <a:t>Всем привет"</a:t>
            </a:r>
            <a:r>
              <a:rPr lang="az-Cyrl-AZ" altLang="zh-CN" sz="1600" b="0" i="0" dirty="0">
                <a:solidFill>
                  <a:srgbClr val="191B1F"/>
                </a:solidFill>
                <a:effectLst/>
                <a:latin typeface="Menlo" panose="020B0609030804020204" pitchFamily="49" charset="0"/>
              </a:rPr>
              <a:t>)</a:t>
            </a:r>
            <a:endParaRPr lang="az-Cyrl-AZ" altLang="zh-CN" sz="1600" dirty="0">
              <a:solidFill>
                <a:srgbClr val="191B1F"/>
              </a:solidFill>
              <a:latin typeface="Menlo" panose="020B0609030804020204" pitchFamily="49" charset="0"/>
            </a:endParaRPr>
          </a:p>
          <a:p>
            <a:r>
              <a:rPr lang="en" altLang="zh-CN" sz="1600" b="1" dirty="0">
                <a:solidFill>
                  <a:srgbClr val="191B1F"/>
                </a:solidFill>
                <a:latin typeface="Menlo" panose="020B0609030804020204" pitchFamily="49" charset="0"/>
              </a:rPr>
              <a:t>class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b="1" dirty="0">
                <a:solidFill>
                  <a:srgbClr val="09408E"/>
                </a:solidFill>
                <a:latin typeface="Menlo" panose="020B0609030804020204" pitchFamily="49" charset="0"/>
              </a:rPr>
              <a:t>Sister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(Father):</a:t>
            </a:r>
          </a:p>
          <a:p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    </a:t>
            </a:r>
            <a:r>
              <a:rPr lang="en" altLang="zh-CN" sz="1600" b="1" dirty="0">
                <a:solidFill>
                  <a:srgbClr val="191B1F"/>
                </a:solidFill>
                <a:latin typeface="Menlo" panose="020B0609030804020204" pitchFamily="49" charset="0"/>
              </a:rPr>
              <a:t>def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b="1" dirty="0">
                <a:solidFill>
                  <a:srgbClr val="D95350"/>
                </a:solidFill>
                <a:latin typeface="Menlo" panose="020B0609030804020204" pitchFamily="49" charset="0"/>
              </a:rPr>
              <a:t>talk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(</a:t>
            </a:r>
            <a:r>
              <a:rPr lang="en" altLang="zh-CN" sz="1600" dirty="0">
                <a:solidFill>
                  <a:srgbClr val="9196A1"/>
                </a:solidFill>
                <a:latin typeface="Menlo" panose="020B0609030804020204" pitchFamily="49" charset="0"/>
              </a:rPr>
              <a:t>self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        </a:t>
            </a:r>
            <a:r>
              <a:rPr lang="en" altLang="zh-CN" sz="1600" b="1" dirty="0">
                <a:solidFill>
                  <a:srgbClr val="191B1F"/>
                </a:solidFill>
                <a:latin typeface="Menlo" panose="020B0609030804020204" pitchFamily="49" charset="0"/>
              </a:rPr>
              <a:t>print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(</a:t>
            </a:r>
            <a:r>
              <a:rPr lang="en" altLang="zh-CN" sz="1600" dirty="0">
                <a:solidFill>
                  <a:srgbClr val="D95350"/>
                </a:solidFill>
                <a:latin typeface="Menlo" panose="020B0609030804020204" pitchFamily="49" charset="0"/>
              </a:rPr>
              <a:t>"</a:t>
            </a:r>
            <a:r>
              <a:rPr lang="zh-CN" altLang="en-US" sz="1600" dirty="0">
                <a:solidFill>
                  <a:srgbClr val="D95350"/>
                </a:solidFill>
                <a:latin typeface="Menlo" panose="020B0609030804020204" pitchFamily="49" charset="0"/>
              </a:rPr>
              <a:t>我是妹妹，我讲韩语：</a:t>
            </a:r>
            <a:r>
              <a:rPr lang="ko-KR" altLang="en-US" sz="1600" dirty="0">
                <a:solidFill>
                  <a:srgbClr val="D95350"/>
                </a:solidFill>
                <a:latin typeface="Menlo" panose="020B0609030804020204" pitchFamily="49" charset="0"/>
              </a:rPr>
              <a:t>전 세계 여러분 안녕하세요</a:t>
            </a:r>
            <a:r>
              <a:rPr lang="en-US" altLang="ko-KR" sz="1600" dirty="0">
                <a:solidFill>
                  <a:srgbClr val="D95350"/>
                </a:solidFill>
                <a:latin typeface="Menlo" panose="020B0609030804020204" pitchFamily="49" charset="0"/>
              </a:rPr>
              <a:t>"</a:t>
            </a:r>
            <a:r>
              <a:rPr lang="en-US" altLang="ko-KR" sz="1600" dirty="0">
                <a:solidFill>
                  <a:srgbClr val="191B1F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442120-3595-3FD2-1F90-A87FD8F427E3}"/>
              </a:ext>
            </a:extLst>
          </p:cNvPr>
          <p:cNvSpPr txBox="1"/>
          <p:nvPr/>
        </p:nvSpPr>
        <p:spPr>
          <a:xfrm>
            <a:off x="6963271" y="2731801"/>
            <a:ext cx="613954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1600" dirty="0">
              <a:solidFill>
                <a:srgbClr val="191B1F"/>
              </a:solidFill>
              <a:latin typeface="Menlo" panose="020B0609030804020204" pitchFamily="49" charset="0"/>
            </a:endParaRPr>
          </a:p>
          <a:p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me </a:t>
            </a:r>
            <a:r>
              <a:rPr lang="en" altLang="zh-CN" sz="1600" b="1" dirty="0">
                <a:solidFill>
                  <a:srgbClr val="191B1F"/>
                </a:solidFill>
                <a:latin typeface="Menlo" panose="020B0609030804020204" pitchFamily="49" charset="0"/>
              </a:rPr>
              <a:t>=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 Me()</a:t>
            </a:r>
          </a:p>
          <a:p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son </a:t>
            </a:r>
            <a:r>
              <a:rPr lang="en" altLang="zh-CN" sz="1600" b="1" dirty="0">
                <a:solidFill>
                  <a:srgbClr val="191B1F"/>
                </a:solidFill>
                <a:latin typeface="Menlo" panose="020B0609030804020204" pitchFamily="49" charset="0"/>
              </a:rPr>
              <a:t>=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 Son()</a:t>
            </a:r>
          </a:p>
          <a:p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sister </a:t>
            </a:r>
            <a:r>
              <a:rPr lang="en" altLang="zh-CN" sz="1600" b="1" dirty="0">
                <a:solidFill>
                  <a:srgbClr val="191B1F"/>
                </a:solidFill>
                <a:latin typeface="Menlo" panose="020B0609030804020204" pitchFamily="49" charset="0"/>
              </a:rPr>
              <a:t>=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 Sister()</a:t>
            </a:r>
          </a:p>
          <a:p>
            <a:endParaRPr lang="en" altLang="zh-CN" sz="1600" dirty="0">
              <a:solidFill>
                <a:srgbClr val="191B1F"/>
              </a:solidFill>
              <a:latin typeface="Menlo" panose="020B0609030804020204" pitchFamily="49" charset="0"/>
            </a:endParaRPr>
          </a:p>
          <a:p>
            <a:r>
              <a:rPr lang="en" altLang="zh-CN" sz="1600" dirty="0" err="1">
                <a:solidFill>
                  <a:srgbClr val="191B1F"/>
                </a:solidFill>
                <a:latin typeface="Menlo" panose="020B0609030804020204" pitchFamily="49" charset="0"/>
              </a:rPr>
              <a:t>me</a:t>
            </a:r>
            <a:r>
              <a:rPr lang="en" altLang="zh-CN" sz="1600" b="1" dirty="0" err="1">
                <a:solidFill>
                  <a:srgbClr val="191B1F"/>
                </a:solidFill>
                <a:latin typeface="Menlo" panose="020B0609030804020204" pitchFamily="49" charset="0"/>
              </a:rPr>
              <a:t>.</a:t>
            </a:r>
            <a:r>
              <a:rPr lang="en" altLang="zh-CN" sz="1600" dirty="0" err="1">
                <a:solidFill>
                  <a:srgbClr val="191B1F"/>
                </a:solidFill>
                <a:latin typeface="Menlo" panose="020B0609030804020204" pitchFamily="49" charset="0"/>
              </a:rPr>
              <a:t>talk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sz="1600" dirty="0" err="1">
                <a:solidFill>
                  <a:srgbClr val="191B1F"/>
                </a:solidFill>
                <a:latin typeface="Menlo" panose="020B0609030804020204" pitchFamily="49" charset="0"/>
              </a:rPr>
              <a:t>son</a:t>
            </a:r>
            <a:r>
              <a:rPr lang="en" altLang="zh-CN" sz="1600" b="1" dirty="0" err="1">
                <a:solidFill>
                  <a:srgbClr val="191B1F"/>
                </a:solidFill>
                <a:latin typeface="Menlo" panose="020B0609030804020204" pitchFamily="49" charset="0"/>
              </a:rPr>
              <a:t>.</a:t>
            </a:r>
            <a:r>
              <a:rPr lang="en" altLang="zh-CN" sz="1600" dirty="0" err="1">
                <a:solidFill>
                  <a:srgbClr val="191B1F"/>
                </a:solidFill>
                <a:latin typeface="Menlo" panose="020B0609030804020204" pitchFamily="49" charset="0"/>
              </a:rPr>
              <a:t>talk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sz="1600" dirty="0" err="1">
                <a:solidFill>
                  <a:srgbClr val="191B1F"/>
                </a:solidFill>
                <a:latin typeface="Menlo" panose="020B0609030804020204" pitchFamily="49" charset="0"/>
              </a:rPr>
              <a:t>sister</a:t>
            </a:r>
            <a:r>
              <a:rPr lang="en" altLang="zh-CN" sz="1600" b="1" dirty="0" err="1">
                <a:solidFill>
                  <a:srgbClr val="191B1F"/>
                </a:solidFill>
                <a:latin typeface="Menlo" panose="020B0609030804020204" pitchFamily="49" charset="0"/>
              </a:rPr>
              <a:t>.</a:t>
            </a:r>
            <a:r>
              <a:rPr lang="en" altLang="zh-CN" sz="1600" dirty="0" err="1">
                <a:solidFill>
                  <a:srgbClr val="191B1F"/>
                </a:solidFill>
                <a:latin typeface="Menlo" panose="020B0609030804020204" pitchFamily="49" charset="0"/>
              </a:rPr>
              <a:t>talk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zh-CN" altLang="en-US" sz="1600" dirty="0">
                <a:solidFill>
                  <a:srgbClr val="D95350"/>
                </a:solidFill>
                <a:latin typeface="Menlo" panose="020B0609030804020204" pitchFamily="49" charset="0"/>
              </a:rPr>
              <a:t>我是哥哥，我讲英语：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hello</a:t>
            </a:r>
            <a:r>
              <a:rPr lang="zh-CN" altLang="en" sz="1600" dirty="0">
                <a:solidFill>
                  <a:srgbClr val="D95350"/>
                </a:solidFill>
                <a:latin typeface="Menlo" panose="020B0609030804020204" pitchFamily="49" charset="0"/>
              </a:rPr>
              <a:t>，</a:t>
            </a:r>
            <a:r>
              <a:rPr lang="en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world</a:t>
            </a:r>
          </a:p>
          <a:p>
            <a:r>
              <a:rPr lang="zh-CN" altLang="en-US" sz="1600" dirty="0">
                <a:solidFill>
                  <a:srgbClr val="D95350"/>
                </a:solidFill>
                <a:latin typeface="Menlo" panose="020B0609030804020204" pitchFamily="49" charset="0"/>
              </a:rPr>
              <a:t>我是弟弟，我讲俄语：</a:t>
            </a:r>
            <a:r>
              <a:rPr lang="az-Cyrl-AZ" altLang="zh-CN" sz="1600" dirty="0">
                <a:solidFill>
                  <a:srgbClr val="D95350"/>
                </a:solidFill>
                <a:latin typeface="Menlo" panose="020B0609030804020204" pitchFamily="49" charset="0"/>
              </a:rPr>
              <a:t>Всем</a:t>
            </a:r>
            <a:r>
              <a:rPr lang="az-Cyrl-AZ" altLang="zh-CN" sz="1600" dirty="0">
                <a:solidFill>
                  <a:srgbClr val="191B1F"/>
                </a:solidFill>
                <a:latin typeface="Menlo" panose="020B0609030804020204" pitchFamily="49" charset="0"/>
              </a:rPr>
              <a:t> </a:t>
            </a:r>
            <a:r>
              <a:rPr lang="az-Cyrl-AZ" altLang="zh-CN" sz="1600" dirty="0">
                <a:solidFill>
                  <a:srgbClr val="D95350"/>
                </a:solidFill>
                <a:latin typeface="Menlo" panose="020B0609030804020204" pitchFamily="49" charset="0"/>
              </a:rPr>
              <a:t>привет</a:t>
            </a:r>
            <a:endParaRPr lang="az-Cyrl-AZ" altLang="zh-CN" sz="1600" dirty="0">
              <a:solidFill>
                <a:srgbClr val="191B1F"/>
              </a:solidFill>
              <a:latin typeface="Menlo" panose="020B0609030804020204" pitchFamily="49" charset="0"/>
            </a:endParaRPr>
          </a:p>
          <a:p>
            <a:r>
              <a:rPr lang="zh-CN" altLang="en-US" sz="1600" dirty="0">
                <a:solidFill>
                  <a:srgbClr val="D95350"/>
                </a:solidFill>
                <a:latin typeface="Menlo" panose="020B0609030804020204" pitchFamily="49" charset="0"/>
              </a:rPr>
              <a:t>我是妹妹，我讲韩语：</a:t>
            </a:r>
            <a:r>
              <a:rPr lang="ko-KR" altLang="en-US" sz="1600" dirty="0">
                <a:solidFill>
                  <a:srgbClr val="D95350"/>
                </a:solidFill>
                <a:latin typeface="Menlo" panose="020B0609030804020204" pitchFamily="49" charset="0"/>
              </a:rPr>
              <a:t>전</a:t>
            </a:r>
            <a:r>
              <a:rPr lang="ko-KR" altLang="en-US" sz="1600" dirty="0">
                <a:solidFill>
                  <a:srgbClr val="191B1F"/>
                </a:solidFill>
                <a:latin typeface="Menlo" panose="020B0609030804020204" pitchFamily="49" charset="0"/>
              </a:rPr>
              <a:t> </a:t>
            </a:r>
            <a:r>
              <a:rPr lang="ko-KR" altLang="en-US" sz="1600" dirty="0">
                <a:solidFill>
                  <a:srgbClr val="D95350"/>
                </a:solidFill>
                <a:latin typeface="Menlo" panose="020B0609030804020204" pitchFamily="49" charset="0"/>
              </a:rPr>
              <a:t>세계</a:t>
            </a:r>
            <a:r>
              <a:rPr lang="ko-KR" altLang="en-US" sz="1600" dirty="0">
                <a:solidFill>
                  <a:srgbClr val="191B1F"/>
                </a:solidFill>
                <a:latin typeface="Menlo" panose="020B0609030804020204" pitchFamily="49" charset="0"/>
              </a:rPr>
              <a:t> </a:t>
            </a:r>
            <a:r>
              <a:rPr lang="ko-KR" altLang="en-US" sz="1600" dirty="0">
                <a:solidFill>
                  <a:srgbClr val="D95350"/>
                </a:solidFill>
                <a:latin typeface="Menlo" panose="020B0609030804020204" pitchFamily="49" charset="0"/>
              </a:rPr>
              <a:t>여러분</a:t>
            </a:r>
            <a:r>
              <a:rPr lang="ko-KR" altLang="en-US" sz="1600" dirty="0">
                <a:solidFill>
                  <a:srgbClr val="191B1F"/>
                </a:solidFill>
                <a:latin typeface="Menlo" panose="020B0609030804020204" pitchFamily="49" charset="0"/>
              </a:rPr>
              <a:t> </a:t>
            </a:r>
            <a:r>
              <a:rPr lang="ko-KR" altLang="en-US" sz="1600" dirty="0">
                <a:solidFill>
                  <a:srgbClr val="D95350"/>
                </a:solidFill>
                <a:latin typeface="Menlo" panose="020B0609030804020204" pitchFamily="49" charset="0"/>
              </a:rPr>
              <a:t>안녕하세요</a:t>
            </a:r>
            <a:endParaRPr lang="ko-KR" altLang="en-US" sz="1600" dirty="0">
              <a:solidFill>
                <a:srgbClr val="191B1F"/>
              </a:solidFill>
              <a:latin typeface="Courier New" panose="02070309020205020404" pitchFamily="49" charset="0"/>
            </a:endParaRPr>
          </a:p>
          <a:p>
            <a:pPr algn="l">
              <a:buNone/>
            </a:pPr>
            <a:endParaRPr lang="az-Cyrl-AZ" altLang="zh-CN" sz="1600" b="0" i="0" dirty="0">
              <a:solidFill>
                <a:srgbClr val="191B1F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175211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生成器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迭代器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6.2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126730" y="189230"/>
            <a:ext cx="383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生成器和迭代器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3280" y="1581150"/>
            <a:ext cx="8043545" cy="95313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sz="2800"/>
              <a:t>m = 100</a:t>
            </a:r>
          </a:p>
          <a:p>
            <a:pPr algn="l">
              <a:buClrTx/>
              <a:buSzTx/>
              <a:buFontTx/>
            </a:pPr>
            <a:r>
              <a:rPr lang="en-US" sz="2800"/>
              <a:t>num = [x**2 for x in range(m) if x%2 == 0] </a:t>
            </a:r>
            <a:r>
              <a:rPr sz="2800"/>
              <a:t>  </a:t>
            </a:r>
            <a:r>
              <a:rPr sz="2000"/>
              <a:t>      </a:t>
            </a: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16446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问题引入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56285" y="2625090"/>
            <a:ext cx="1065593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列表生成式，可以直接创建一个列表，但受到内存限制，列表容量肯定是有限的，且创建一个包含100万个元素的列表，不仅占用很大的存储空间，如果仅仅需要访问前面几个元素，那后面绝大多数元素占用的空间都将白白浪费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6285" y="4537075"/>
            <a:ext cx="859409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先根据某种算法推算出来，然后根据需求，在后续循环过程中，根据算法不断推算其他访问的元素。（即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一边循环，一边计算后面元素的机制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9" name="标题 8"/>
          <p:cNvSpPr txBox="1"/>
          <p:nvPr/>
        </p:nvSpPr>
        <p:spPr>
          <a:xfrm>
            <a:off x="9937750" y="5231130"/>
            <a:ext cx="16446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6" grpId="2" bldLvl="0" animBg="1"/>
      <p:bldP spid="7" grpId="0"/>
      <p:bldP spid="8" grpId="0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126730" y="189230"/>
            <a:ext cx="383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生成器和迭代器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3280" y="1571625"/>
            <a:ext cx="8043545" cy="95313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sz="2800" dirty="0"/>
              <a:t>m = 10</a:t>
            </a:r>
          </a:p>
          <a:p>
            <a:pPr algn="l">
              <a:buClrTx/>
              <a:buSzTx/>
              <a:buFontTx/>
            </a:pPr>
            <a:r>
              <a:rPr lang="en-US" sz="2800" dirty="0" err="1"/>
              <a:t>num</a:t>
            </a:r>
            <a:r>
              <a:rPr lang="en-US" sz="2800" dirty="0"/>
              <a:t> = 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/>
              <a:t>x**2 for x in range(m) if x%2 == 0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  <a:r>
              <a:rPr lang="en-US" sz="2800" dirty="0"/>
              <a:t> </a:t>
            </a:r>
            <a:r>
              <a:rPr sz="2800" dirty="0"/>
              <a:t>  </a:t>
            </a:r>
            <a:r>
              <a:rPr sz="2000" dirty="0"/>
              <a:t>      </a:t>
            </a: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、生成器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43280" y="2647315"/>
            <a:ext cx="83832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最简单的方法把列表推导式最外层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 ]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 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43280" y="3413760"/>
            <a:ext cx="11210925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print(</a:t>
            </a:r>
            <a:r>
              <a:rPr lang="en-US" dirty="0" err="1">
                <a:sym typeface="+mn-ea"/>
              </a:rPr>
              <a:t>num</a:t>
            </a:r>
            <a:r>
              <a:rPr lang="en-US" dirty="0">
                <a:sym typeface="+mn-ea"/>
              </a:rPr>
              <a:t>)  # </a:t>
            </a:r>
            <a:r>
              <a:rPr lang="en-US" sz="2000" i="1" dirty="0">
                <a:solidFill>
                  <a:srgbClr val="FF0000"/>
                </a:solidFill>
                <a:sym typeface="+mn-ea"/>
              </a:rPr>
              <a:t>&lt;generator object &lt;</a:t>
            </a:r>
            <a:r>
              <a:rPr lang="en-US" sz="2000" i="1" dirty="0" err="1">
                <a:solidFill>
                  <a:srgbClr val="FF0000"/>
                </a:solidFill>
                <a:sym typeface="+mn-ea"/>
              </a:rPr>
              <a:t>genexpr</a:t>
            </a:r>
            <a:r>
              <a:rPr lang="en-US" sz="2000" i="1" dirty="0">
                <a:solidFill>
                  <a:srgbClr val="FF0000"/>
                </a:solidFill>
                <a:sym typeface="+mn-ea"/>
              </a:rPr>
              <a:t>&gt; at 0x00000184EC076AC8&gt;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3280" y="3998595"/>
            <a:ext cx="11210925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type(</a:t>
            </a:r>
            <a:r>
              <a:rPr lang="en-US" dirty="0" err="1">
                <a:sym typeface="+mn-ea"/>
              </a:rPr>
              <a:t>num</a:t>
            </a:r>
            <a:r>
              <a:rPr lang="en-US" dirty="0">
                <a:sym typeface="+mn-ea"/>
              </a:rPr>
              <a:t>) # </a:t>
            </a:r>
            <a:r>
              <a:rPr lang="en-US" sz="2000" i="1" dirty="0">
                <a:solidFill>
                  <a:srgbClr val="FF0000"/>
                </a:solidFill>
                <a:sym typeface="+mn-ea"/>
              </a:rPr>
              <a:t>generator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3280" y="4764405"/>
            <a:ext cx="2409190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next(</a:t>
            </a:r>
            <a:r>
              <a:rPr lang="en-US" dirty="0" err="1">
                <a:sym typeface="+mn-ea"/>
              </a:rPr>
              <a:t>num</a:t>
            </a:r>
            <a:r>
              <a:rPr lang="en-US" dirty="0">
                <a:sym typeface="+mn-ea"/>
              </a:rPr>
              <a:t>) # </a:t>
            </a:r>
            <a:r>
              <a:rPr lang="en-US" sz="2000" i="1" dirty="0">
                <a:solidFill>
                  <a:srgbClr val="FF0000"/>
                </a:solidFill>
                <a:sym typeface="+mn-ea"/>
              </a:rPr>
              <a:t>0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43280" y="5197475"/>
            <a:ext cx="2320290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next(num) # </a:t>
            </a:r>
            <a:r>
              <a:rPr lang="en-US" sz="2000" i="1">
                <a:solidFill>
                  <a:srgbClr val="FF0000"/>
                </a:solidFill>
                <a:sym typeface="+mn-ea"/>
              </a:rPr>
              <a:t>4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43280" y="5657215"/>
            <a:ext cx="2539365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next(num) # </a:t>
            </a:r>
            <a:r>
              <a:rPr lang="en-US" sz="2000" i="1">
                <a:solidFill>
                  <a:srgbClr val="FF0000"/>
                </a:solidFill>
                <a:sym typeface="+mn-ea"/>
              </a:rPr>
              <a:t>16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366895" y="4692650"/>
            <a:ext cx="2409190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next(num) # </a:t>
            </a:r>
            <a:r>
              <a:rPr lang="en-US" sz="2000" i="1">
                <a:solidFill>
                  <a:srgbClr val="FF0000"/>
                </a:solidFill>
                <a:sym typeface="+mn-ea"/>
              </a:rPr>
              <a:t>36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366895" y="5224780"/>
            <a:ext cx="2409190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next(num) # </a:t>
            </a:r>
            <a:r>
              <a:rPr lang="en-US" sz="2000" i="1">
                <a:solidFill>
                  <a:srgbClr val="FF0000"/>
                </a:solidFill>
                <a:sym typeface="+mn-ea"/>
              </a:rPr>
              <a:t>64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366895" y="5678170"/>
            <a:ext cx="5306695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next(num) # </a:t>
            </a:r>
            <a:r>
              <a:rPr lang="en-US" sz="2000" i="1">
                <a:solidFill>
                  <a:srgbClr val="FF0000"/>
                </a:solidFill>
                <a:sym typeface="+mn-ea"/>
              </a:rPr>
              <a:t>StopIteration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360410" y="4458970"/>
            <a:ext cx="3408680" cy="82994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for i in num:</a:t>
            </a:r>
          </a:p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    print(i) # </a:t>
            </a:r>
            <a:r>
              <a:rPr lang="zh-CN" altLang="en-US">
                <a:sym typeface="+mn-ea"/>
              </a:rPr>
              <a:t>只执行一次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6" grpId="2" bldLvl="0" animBg="1"/>
      <p:bldP spid="7" grpId="0"/>
      <p:bldP spid="8" grpId="0" bldLvl="0" animBg="1"/>
      <p:bldP spid="2" grpId="0" bldLvl="0" animBg="1"/>
      <p:bldP spid="3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126730" y="189230"/>
            <a:ext cx="383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生成器和迭代器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28845" y="920115"/>
            <a:ext cx="3698240" cy="5219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sz="2800" dirty="0">
                <a:ea typeface="微软雅黑" panose="020B0503020204020204" pitchFamily="34" charset="-122"/>
                <a:cs typeface="+mn-lt"/>
              </a:rPr>
              <a:t>利用</a:t>
            </a:r>
            <a:r>
              <a:rPr lang="en-US" altLang="zh-CN" sz="2800" dirty="0">
                <a:ea typeface="微软雅黑" panose="020B0503020204020204" pitchFamily="34" charset="-122"/>
                <a:cs typeface="+mn-lt"/>
              </a:rPr>
              <a:t>yield</a:t>
            </a:r>
            <a:r>
              <a:rPr lang="zh-CN" altLang="en-US" sz="2800" dirty="0">
                <a:ea typeface="微软雅黑" panose="020B0503020204020204" pitchFamily="34" charset="-122"/>
                <a:cs typeface="+mn-lt"/>
              </a:rPr>
              <a:t>创建生成器</a:t>
            </a:r>
            <a:r>
              <a:rPr sz="2800" dirty="0">
                <a:ea typeface="微软雅黑" panose="020B0503020204020204" pitchFamily="34" charset="-122"/>
                <a:cs typeface="+mn-lt"/>
              </a:rPr>
              <a:t> </a:t>
            </a:r>
            <a:r>
              <a:rPr sz="2000" dirty="0">
                <a:ea typeface="微软雅黑" panose="020B0503020204020204" pitchFamily="34" charset="-122"/>
                <a:cs typeface="+mn-lt"/>
              </a:rPr>
              <a:t>      </a:t>
            </a: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、生成器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03300" y="1553210"/>
            <a:ext cx="83832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如果用列表推导式难以完成生成器，就必须考虑换一种思路。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63800" y="2343150"/>
            <a:ext cx="75742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Arial Black" panose="020B0A04020102020204" pitchFamily="34" charset="0"/>
                <a:ea typeface="微软雅黑" panose="020B0503020204020204" pitchFamily="34" charset="-122"/>
                <a:cs typeface="Arial Black" panose="020B0A04020102020204" pitchFamily="34" charset="0"/>
              </a:rPr>
              <a:t>斐波那契数列：1，1，2，3，5，8，1</a:t>
            </a:r>
            <a:r>
              <a:rPr lang="en-US" altLang="zh-CN" dirty="0">
                <a:latin typeface="Arial Black" panose="020B0A04020102020204" pitchFamily="34" charset="0"/>
                <a:ea typeface="微软雅黑" panose="020B0503020204020204" pitchFamily="34" charset="-122"/>
                <a:cs typeface="Arial Black" panose="020B0A04020102020204" pitchFamily="34" charset="0"/>
              </a:rPr>
              <a:t>3</a:t>
            </a:r>
            <a:r>
              <a:rPr lang="zh-CN" altLang="en-US" dirty="0">
                <a:latin typeface="Arial Black" panose="020B0A04020102020204" pitchFamily="34" charset="0"/>
                <a:ea typeface="微软雅黑" panose="020B0503020204020204" pitchFamily="34" charset="-122"/>
                <a:cs typeface="Arial Black" panose="020B0A04020102020204" pitchFamily="34" charset="0"/>
              </a:rPr>
              <a:t>，21，34....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29565" y="2790190"/>
            <a:ext cx="2469515" cy="2907030"/>
            <a:chOff x="519" y="4394"/>
            <a:chExt cx="3889" cy="457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rcRect l="22883" t="8563" r="20560"/>
            <a:stretch>
              <a:fillRect/>
            </a:stretch>
          </p:blipFill>
          <p:spPr>
            <a:xfrm>
              <a:off x="519" y="4394"/>
              <a:ext cx="3354" cy="358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760" y="8248"/>
              <a:ext cx="3648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zh-CN" altLang="en-US" dirty="0">
                  <a:latin typeface="Arial Black" panose="020B0A04020102020204" pitchFamily="34" charset="0"/>
                  <a:ea typeface="微软雅黑" panose="020B0503020204020204" pitchFamily="34" charset="-122"/>
                  <a:cs typeface="Arial Black" panose="020B0A04020102020204" pitchFamily="34" charset="0"/>
                  <a:sym typeface="+mn-ea"/>
                </a:rPr>
                <a:t>列奥纳多（意）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540760" y="2875915"/>
            <a:ext cx="3308985" cy="31381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sz="2200" dirty="0" err="1"/>
              <a:t>def</a:t>
            </a:r>
            <a:r>
              <a:rPr sz="2200" dirty="0"/>
              <a:t> fib(</a:t>
            </a:r>
            <a:r>
              <a:rPr sz="2200" dirty="0" err="1"/>
              <a:t>num</a:t>
            </a:r>
            <a:r>
              <a:rPr sz="2200" dirty="0"/>
              <a:t>):</a:t>
            </a:r>
          </a:p>
          <a:p>
            <a:r>
              <a:rPr sz="2200" dirty="0"/>
              <a:t>    </a:t>
            </a:r>
            <a:r>
              <a:rPr sz="2200" dirty="0" err="1"/>
              <a:t>n,a,b</a:t>
            </a:r>
            <a:r>
              <a:rPr sz="2200" dirty="0"/>
              <a:t> =0,0,1</a:t>
            </a:r>
          </a:p>
          <a:p>
            <a:r>
              <a:rPr sz="2200" dirty="0"/>
              <a:t>    while n &lt; </a:t>
            </a:r>
            <a:r>
              <a:rPr sz="2200" dirty="0" err="1"/>
              <a:t>num</a:t>
            </a:r>
            <a:r>
              <a:rPr sz="2200" dirty="0"/>
              <a:t>:</a:t>
            </a:r>
          </a:p>
          <a:p>
            <a:r>
              <a:rPr sz="2200" dirty="0"/>
              <a:t>        </a:t>
            </a:r>
            <a:r>
              <a:rPr sz="2200" dirty="0" err="1"/>
              <a:t>a,b</a:t>
            </a:r>
            <a:r>
              <a:rPr sz="2200" dirty="0"/>
              <a:t> =</a:t>
            </a:r>
            <a:r>
              <a:rPr sz="2200" dirty="0" err="1"/>
              <a:t>b,a+b</a:t>
            </a:r>
            <a:endParaRPr sz="2200" dirty="0"/>
          </a:p>
          <a:p>
            <a:r>
              <a:rPr sz="2200" dirty="0"/>
              <a:t>        n = n+1</a:t>
            </a:r>
          </a:p>
          <a:p>
            <a:r>
              <a:rPr sz="2200" dirty="0"/>
              <a:t>        print(</a:t>
            </a:r>
            <a:r>
              <a:rPr sz="2200" dirty="0" err="1"/>
              <a:t>a,end</a:t>
            </a:r>
            <a:r>
              <a:rPr sz="2200" dirty="0"/>
              <a:t>=' ')</a:t>
            </a:r>
          </a:p>
          <a:p>
            <a:r>
              <a:rPr sz="2200" dirty="0"/>
              <a:t>    return 'done'</a:t>
            </a:r>
          </a:p>
          <a:p>
            <a:r>
              <a:rPr sz="2200" dirty="0"/>
              <a:t> </a:t>
            </a:r>
          </a:p>
          <a:p>
            <a:r>
              <a:rPr sz="2200" dirty="0"/>
              <a:t>fib(10)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442200" y="2875915"/>
            <a:ext cx="3308985" cy="34766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sz="2200" dirty="0" err="1"/>
              <a:t>def</a:t>
            </a:r>
            <a:r>
              <a:rPr sz="2200" dirty="0"/>
              <a:t> fib(</a:t>
            </a:r>
            <a:r>
              <a:rPr sz="2200" dirty="0" err="1"/>
              <a:t>num</a:t>
            </a:r>
            <a:r>
              <a:rPr sz="2200" dirty="0"/>
              <a:t>):</a:t>
            </a:r>
          </a:p>
          <a:p>
            <a:r>
              <a:rPr sz="2200" dirty="0"/>
              <a:t>    </a:t>
            </a:r>
            <a:r>
              <a:rPr sz="2200" dirty="0" err="1"/>
              <a:t>n,a,b</a:t>
            </a:r>
            <a:r>
              <a:rPr sz="2200" dirty="0"/>
              <a:t> =0,0,1</a:t>
            </a:r>
          </a:p>
          <a:p>
            <a:r>
              <a:rPr sz="2200" dirty="0"/>
              <a:t>    while n &lt; </a:t>
            </a:r>
            <a:r>
              <a:rPr sz="2200" dirty="0" err="1"/>
              <a:t>num</a:t>
            </a:r>
            <a:r>
              <a:rPr sz="2200" dirty="0"/>
              <a:t>:</a:t>
            </a:r>
          </a:p>
          <a:p>
            <a:r>
              <a:rPr sz="2200" dirty="0"/>
              <a:t>        </a:t>
            </a:r>
            <a:r>
              <a:rPr sz="2200" dirty="0" err="1"/>
              <a:t>a,b</a:t>
            </a:r>
            <a:r>
              <a:rPr sz="2200" dirty="0"/>
              <a:t> =</a:t>
            </a:r>
            <a:r>
              <a:rPr sz="2200" dirty="0" err="1"/>
              <a:t>b,a+b</a:t>
            </a:r>
            <a:endParaRPr sz="2200" dirty="0"/>
          </a:p>
          <a:p>
            <a:r>
              <a:rPr sz="2200" dirty="0"/>
              <a:t>        n = n+1</a:t>
            </a:r>
          </a:p>
          <a:p>
            <a:r>
              <a:rPr sz="2200" dirty="0"/>
              <a:t>        </a:t>
            </a:r>
            <a:r>
              <a:rPr sz="2200" dirty="0">
                <a:solidFill>
                  <a:srgbClr val="FF0000"/>
                </a:solidFill>
              </a:rPr>
              <a:t>yield a</a:t>
            </a:r>
          </a:p>
          <a:p>
            <a:r>
              <a:rPr sz="2200" dirty="0"/>
              <a:t>    return 'done'</a:t>
            </a:r>
          </a:p>
          <a:p>
            <a:r>
              <a:rPr sz="2200" dirty="0"/>
              <a:t> </a:t>
            </a:r>
          </a:p>
          <a:p>
            <a:r>
              <a:rPr sz="2200" dirty="0"/>
              <a:t>results = fib(10)</a:t>
            </a:r>
          </a:p>
          <a:p>
            <a:r>
              <a:rPr sz="2200" dirty="0"/>
              <a:t>results</a:t>
            </a:r>
          </a:p>
        </p:txBody>
      </p:sp>
      <p:sp>
        <p:nvSpPr>
          <p:cNvPr id="12" name="线形标注 3 11"/>
          <p:cNvSpPr/>
          <p:nvPr/>
        </p:nvSpPr>
        <p:spPr>
          <a:xfrm>
            <a:off x="7653020" y="5237480"/>
            <a:ext cx="4429125" cy="360045"/>
          </a:xfrm>
          <a:prstGeom prst="borderCallout3">
            <a:avLst>
              <a:gd name="adj1" fmla="val 18750"/>
              <a:gd name="adj2" fmla="val -8333"/>
              <a:gd name="adj3" fmla="val 49206"/>
              <a:gd name="adj4" fmla="val -8329"/>
              <a:gd name="adj5" fmla="val 100000"/>
              <a:gd name="adj6" fmla="val -8559"/>
              <a:gd name="adj7" fmla="val 229629"/>
              <a:gd name="adj8" fmla="val -134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FF0000"/>
                </a:solidFill>
              </a:rPr>
              <a:t>&lt;generator object fib at 0x00000184EBEB0C48&gt;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7" grpId="0"/>
      <p:bldP spid="2" grpId="0"/>
      <p:bldP spid="2" grpId="1"/>
      <p:bldP spid="9" grpId="0" bldLvl="0" animBg="1"/>
      <p:bldP spid="11" grpId="0" bldLvl="0" animBg="1"/>
      <p:bldP spid="12" grpId="0" bldLvl="0" animBg="1"/>
      <p:bldP spid="12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126730" y="189230"/>
            <a:ext cx="383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生成器和迭代器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28845" y="920115"/>
            <a:ext cx="3698240" cy="5219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sz="2800">
                <a:ea typeface="微软雅黑" panose="020B0503020204020204" pitchFamily="34" charset="-122"/>
                <a:cs typeface="+mn-lt"/>
              </a:rPr>
              <a:t>利用</a:t>
            </a:r>
            <a:r>
              <a:rPr lang="en-US" altLang="zh-CN" sz="2800">
                <a:ea typeface="微软雅黑" panose="020B0503020204020204" pitchFamily="34" charset="-122"/>
                <a:cs typeface="+mn-lt"/>
              </a:rPr>
              <a:t>yield</a:t>
            </a:r>
            <a:r>
              <a:rPr lang="zh-CN" altLang="en-US" sz="2800">
                <a:ea typeface="微软雅黑" panose="020B0503020204020204" pitchFamily="34" charset="-122"/>
                <a:cs typeface="+mn-lt"/>
              </a:rPr>
              <a:t>创建生成器</a:t>
            </a:r>
            <a:r>
              <a:rPr sz="2800">
                <a:ea typeface="微软雅黑" panose="020B0503020204020204" pitchFamily="34" charset="-122"/>
                <a:cs typeface="+mn-lt"/>
              </a:rPr>
              <a:t> </a:t>
            </a:r>
            <a:r>
              <a:rPr sz="2000">
                <a:ea typeface="微软雅黑" panose="020B0503020204020204" pitchFamily="34" charset="-122"/>
                <a:cs typeface="+mn-lt"/>
              </a:rPr>
              <a:t>      </a:t>
            </a: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、生成器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52450" y="1701165"/>
            <a:ext cx="75742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Arial Black" panose="020B0A04020102020204" pitchFamily="34" charset="0"/>
                <a:ea typeface="微软雅黑" panose="020B0503020204020204" pitchFamily="34" charset="-122"/>
                <a:cs typeface="Arial Black" panose="020B0A04020102020204" pitchFamily="34" charset="0"/>
              </a:rPr>
              <a:t>斐波那契数列：1，1，2，3，5，8，1</a:t>
            </a:r>
            <a:r>
              <a:rPr lang="en-US" altLang="zh-CN">
                <a:latin typeface="Arial Black" panose="020B0A04020102020204" pitchFamily="34" charset="0"/>
                <a:ea typeface="微软雅黑" panose="020B0503020204020204" pitchFamily="34" charset="-122"/>
                <a:cs typeface="Arial Black" panose="020B0A04020102020204" pitchFamily="34" charset="0"/>
              </a:rPr>
              <a:t>3</a:t>
            </a:r>
            <a:r>
              <a:rPr lang="zh-CN" altLang="en-US">
                <a:latin typeface="Arial Black" panose="020B0A04020102020204" pitchFamily="34" charset="0"/>
                <a:ea typeface="微软雅黑" panose="020B0503020204020204" pitchFamily="34" charset="-122"/>
                <a:cs typeface="Arial Black" panose="020B0A04020102020204" pitchFamily="34" charset="0"/>
              </a:rPr>
              <a:t>，21，34....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8340" y="2446020"/>
            <a:ext cx="3308985" cy="34766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sz="2200" dirty="0" err="1"/>
              <a:t>def</a:t>
            </a:r>
            <a:r>
              <a:rPr sz="2200" dirty="0"/>
              <a:t> fib(</a:t>
            </a:r>
            <a:r>
              <a:rPr sz="2200" dirty="0" err="1"/>
              <a:t>num</a:t>
            </a:r>
            <a:r>
              <a:rPr sz="2200" dirty="0"/>
              <a:t>):</a:t>
            </a:r>
          </a:p>
          <a:p>
            <a:r>
              <a:rPr sz="2200" dirty="0"/>
              <a:t>    </a:t>
            </a:r>
            <a:r>
              <a:rPr sz="2200" dirty="0" err="1"/>
              <a:t>n,a,b</a:t>
            </a:r>
            <a:r>
              <a:rPr sz="2200" dirty="0"/>
              <a:t> =0,0,1</a:t>
            </a:r>
          </a:p>
          <a:p>
            <a:r>
              <a:rPr sz="2200" dirty="0"/>
              <a:t>    while n &lt; </a:t>
            </a:r>
            <a:r>
              <a:rPr sz="2200" dirty="0" err="1"/>
              <a:t>num</a:t>
            </a:r>
            <a:r>
              <a:rPr sz="2200" dirty="0"/>
              <a:t>:</a:t>
            </a:r>
          </a:p>
          <a:p>
            <a:r>
              <a:rPr sz="2200" dirty="0"/>
              <a:t>        </a:t>
            </a:r>
            <a:r>
              <a:rPr sz="2200" dirty="0" err="1"/>
              <a:t>a,b</a:t>
            </a:r>
            <a:r>
              <a:rPr sz="2200" dirty="0"/>
              <a:t> =</a:t>
            </a:r>
            <a:r>
              <a:rPr sz="2200" dirty="0" err="1"/>
              <a:t>b,a+b</a:t>
            </a:r>
            <a:endParaRPr sz="2200" dirty="0"/>
          </a:p>
          <a:p>
            <a:r>
              <a:rPr sz="2200" dirty="0"/>
              <a:t>        n = n+1</a:t>
            </a:r>
          </a:p>
          <a:p>
            <a:r>
              <a:rPr sz="2200" dirty="0"/>
              <a:t>        </a:t>
            </a:r>
            <a:r>
              <a:rPr sz="2200" dirty="0">
                <a:solidFill>
                  <a:srgbClr val="FF0000"/>
                </a:solidFill>
              </a:rPr>
              <a:t>yield a</a:t>
            </a:r>
          </a:p>
          <a:p>
            <a:r>
              <a:rPr sz="2200" dirty="0"/>
              <a:t>    return 'done'</a:t>
            </a:r>
          </a:p>
          <a:p>
            <a:r>
              <a:rPr sz="2200" dirty="0"/>
              <a:t> </a:t>
            </a:r>
          </a:p>
          <a:p>
            <a:r>
              <a:rPr sz="2200" dirty="0"/>
              <a:t>results = fib(10)</a:t>
            </a:r>
          </a:p>
          <a:p>
            <a:r>
              <a:rPr sz="2200" dirty="0"/>
              <a:t>results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59630" y="2446020"/>
            <a:ext cx="3048635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next(</a:t>
            </a:r>
            <a:r>
              <a:rPr>
                <a:sym typeface="+mn-ea"/>
              </a:rPr>
              <a:t>results</a:t>
            </a:r>
            <a:r>
              <a:rPr lang="en-US">
                <a:sym typeface="+mn-ea"/>
              </a:rPr>
              <a:t>) # </a:t>
            </a:r>
            <a:r>
              <a:rPr lang="en-US" sz="2000" i="1">
                <a:solidFill>
                  <a:srgbClr val="FF0000"/>
                </a:solidFill>
                <a:sym typeface="+mn-ea"/>
              </a:rPr>
              <a:t>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659630" y="2879090"/>
            <a:ext cx="3767455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next(</a:t>
            </a:r>
            <a:r>
              <a:rPr>
                <a:sym typeface="+mn-ea"/>
              </a:rPr>
              <a:t>results </a:t>
            </a:r>
            <a:r>
              <a:rPr lang="en-US">
                <a:sym typeface="+mn-ea"/>
              </a:rPr>
              <a:t>) # </a:t>
            </a:r>
            <a:r>
              <a:rPr lang="en-US" sz="2000" i="1">
                <a:solidFill>
                  <a:srgbClr val="FF0000"/>
                </a:solidFill>
                <a:sym typeface="+mn-ea"/>
              </a:rPr>
              <a:t>1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659630" y="3338830"/>
            <a:ext cx="3467100" cy="4603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>
                <a:sym typeface="+mn-ea"/>
              </a:rPr>
              <a:t>next(</a:t>
            </a:r>
            <a:r>
              <a:rPr>
                <a:sym typeface="+mn-ea"/>
              </a:rPr>
              <a:t>results </a:t>
            </a:r>
            <a:r>
              <a:rPr lang="en-US">
                <a:sym typeface="+mn-ea"/>
              </a:rPr>
              <a:t>) # </a:t>
            </a:r>
            <a:r>
              <a:rPr lang="en-US" sz="2000" i="1">
                <a:solidFill>
                  <a:srgbClr val="FF0000"/>
                </a:solidFill>
                <a:sym typeface="+mn-ea"/>
              </a:rPr>
              <a:t>2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002412" y="4609407"/>
            <a:ext cx="3408680" cy="82994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for i in results:</a:t>
            </a:r>
          </a:p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    print(i) # </a:t>
            </a:r>
            <a:r>
              <a:rPr lang="zh-CN" altLang="en-US" dirty="0">
                <a:sym typeface="+mn-ea"/>
              </a:rPr>
              <a:t>只执行一次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427085" y="2588260"/>
            <a:ext cx="3408680" cy="22724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spAutoFit/>
          </a:bodyPr>
          <a:lstStyle/>
          <a:p>
            <a:pPr lvl="0" algn="just" fontAlgn="auto">
              <a:lnSpc>
                <a:spcPts val="3380"/>
              </a:lnSpc>
              <a:buClrTx/>
              <a:buSzTx/>
              <a:buFontTx/>
            </a:pPr>
            <a:r>
              <a:rPr lang="zh-CN" dirty="0">
                <a:ea typeface="微软雅黑" panose="020B0503020204020204" pitchFamily="34" charset="-122"/>
                <a:cs typeface="+mn-lt"/>
                <a:sym typeface="+mn-ea"/>
              </a:rPr>
              <a:t>执行规则：</a:t>
            </a:r>
            <a:r>
              <a:rPr lang="zh-CN" altLang="en-US" dirty="0">
                <a:ea typeface="微软雅黑" panose="020B0503020204020204" pitchFamily="34" charset="-122"/>
                <a:cs typeface="+mn-lt"/>
                <a:sym typeface="+mn-ea"/>
              </a:rPr>
              <a:t>在每次调用</a:t>
            </a:r>
            <a:r>
              <a:rPr lang="en-US" altLang="zh-CN" dirty="0">
                <a:ea typeface="微软雅黑" panose="020B0503020204020204" pitchFamily="34" charset="-122"/>
                <a:cs typeface="+mn-lt"/>
                <a:sym typeface="+mn-ea"/>
              </a:rPr>
              <a:t>next()</a:t>
            </a:r>
            <a:r>
              <a:rPr lang="zh-CN" altLang="en-US" dirty="0">
                <a:ea typeface="微软雅黑" panose="020B0503020204020204" pitchFamily="34" charset="-122"/>
                <a:cs typeface="+mn-lt"/>
                <a:sym typeface="+mn-ea"/>
              </a:rPr>
              <a:t>执行，遇到</a:t>
            </a:r>
            <a:r>
              <a:rPr lang="en-US" altLang="zh-CN" dirty="0">
                <a:ea typeface="微软雅黑" panose="020B0503020204020204" pitchFamily="34" charset="-122"/>
                <a:cs typeface="+mn-lt"/>
                <a:sym typeface="+mn-ea"/>
              </a:rPr>
              <a:t>yield</a:t>
            </a:r>
            <a:r>
              <a:rPr lang="zh-CN" altLang="en-US">
                <a:ea typeface="微软雅黑" panose="020B0503020204020204" pitchFamily="34" charset="-122"/>
                <a:cs typeface="+mn-lt"/>
                <a:sym typeface="+mn-ea"/>
              </a:rPr>
              <a:t>就暂停；再次</a:t>
            </a:r>
            <a:r>
              <a:rPr lang="zh-CN" altLang="en-US" dirty="0">
                <a:ea typeface="微软雅黑" panose="020B0503020204020204" pitchFamily="34" charset="-122"/>
                <a:cs typeface="+mn-lt"/>
                <a:sym typeface="+mn-ea"/>
              </a:rPr>
              <a:t>执行，会从上次返回的</a:t>
            </a:r>
            <a:r>
              <a:rPr lang="en-US" altLang="zh-CN" dirty="0">
                <a:ea typeface="微软雅黑" panose="020B0503020204020204" pitchFamily="34" charset="-122"/>
                <a:cs typeface="+mn-lt"/>
                <a:sym typeface="+mn-ea"/>
              </a:rPr>
              <a:t>yield</a:t>
            </a:r>
            <a:r>
              <a:rPr lang="zh-CN" altLang="en-US" dirty="0">
                <a:ea typeface="微软雅黑" panose="020B0503020204020204" pitchFamily="34" charset="-122"/>
                <a:cs typeface="+mn-lt"/>
                <a:sym typeface="+mn-ea"/>
              </a:rPr>
              <a:t>句处接着往下执行。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2" grpId="1"/>
      <p:bldP spid="11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126730" y="189230"/>
            <a:ext cx="383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生成器和迭代器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、迭代器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32535" y="1701165"/>
            <a:ext cx="996251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“在Python中，迭代器是遵循迭代协议的对象。使用iter()从任何序列对象中得到迭代器（如list, tuple, dictionary, set等）。另一种形式的输入迭代器是generator（生成器）。”</a:t>
            </a:r>
          </a:p>
          <a:p>
            <a:pPr lvl="0" algn="r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——维基百科</a:t>
            </a: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126730" y="189230"/>
            <a:ext cx="383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生成器和迭代器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、迭代器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36040" y="1620520"/>
            <a:ext cx="97923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就是可以用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等循环进行遍历的过程。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05890" y="2325370"/>
            <a:ext cx="94221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ea typeface="微软雅黑" panose="020B0503020204020204" pitchFamily="34" charset="-122"/>
                <a:cs typeface="+mn-lt"/>
                <a:sym typeface="+mn-ea"/>
              </a:rPr>
              <a:t>for循环从列表[1,2,3]中取元素，这种遍历过程就被称作迭代。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05890" y="3023870"/>
            <a:ext cx="37680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for element in [1, 2, 3]:</a:t>
            </a:r>
          </a:p>
          <a:p>
            <a:r>
              <a:rPr lang="zh-CN" altLang="en-US"/>
              <a:t>       print(element)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05890" y="4146550"/>
            <a:ext cx="37680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for element in </a:t>
            </a:r>
            <a:r>
              <a:rPr lang="en-US" altLang="zh-CN"/>
              <a:t>(</a:t>
            </a:r>
            <a:r>
              <a:rPr lang="zh-CN" altLang="en-US"/>
              <a:t>1, 2, 3</a:t>
            </a:r>
            <a:r>
              <a:rPr lang="en-US" altLang="zh-CN"/>
              <a:t>)</a:t>
            </a:r>
            <a:r>
              <a:rPr lang="zh-CN" altLang="en-US"/>
              <a:t>:</a:t>
            </a:r>
          </a:p>
          <a:p>
            <a:r>
              <a:rPr lang="zh-CN" altLang="en-US"/>
              <a:t>       print(element)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87207" y="2993072"/>
            <a:ext cx="376809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/>
              <a:t>a = [1,2,3]</a:t>
            </a:r>
          </a:p>
          <a:p>
            <a:r>
              <a:rPr lang="en-US" altLang="zh-CN" dirty="0"/>
              <a:t>b = </a:t>
            </a:r>
            <a:r>
              <a:rPr lang="en-US" altLang="zh-CN" dirty="0" err="1"/>
              <a:t>iter</a:t>
            </a:r>
            <a:r>
              <a:rPr lang="en-US" altLang="zh-CN" dirty="0"/>
              <a:t>(a)</a:t>
            </a:r>
          </a:p>
          <a:p>
            <a:r>
              <a:rPr lang="en-US" altLang="zh-CN" dirty="0"/>
              <a:t>for element in b:</a:t>
            </a:r>
          </a:p>
          <a:p>
            <a:r>
              <a:rPr lang="en-US" altLang="zh-CN" dirty="0"/>
              <a:t>       print(element)</a:t>
            </a:r>
          </a:p>
        </p:txBody>
      </p:sp>
      <p:sp>
        <p:nvSpPr>
          <p:cNvPr id="10" name="圆角矩形标注 9"/>
          <p:cNvSpPr/>
          <p:nvPr/>
        </p:nvSpPr>
        <p:spPr>
          <a:xfrm>
            <a:off x="1237615" y="5506085"/>
            <a:ext cx="4104640" cy="853440"/>
          </a:xfrm>
          <a:prstGeom prst="wedgeRoundRectCallout">
            <a:avLst>
              <a:gd name="adj1" fmla="val -20085"/>
              <a:gd name="adj2" fmla="val -1111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列表，元组都是可迭代的（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Iterable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9" grpId="0"/>
      <p:bldP spid="9" grpId="1"/>
      <p:bldP spid="10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126730" y="189230"/>
            <a:ext cx="383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生成器和迭代器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、迭代器</a:t>
            </a:r>
          </a:p>
        </p:txBody>
      </p:sp>
      <p:pic>
        <p:nvPicPr>
          <p:cNvPr id="11" name="Picture 1" descr="C:\Users\ThinkPad\AppData\Roaming\Tencent\Users\19379577\QQ\WinTemp\RichOle\]T_G%S2K)9C4(@VAN{6{)RJ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783" y="772795"/>
            <a:ext cx="7296150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968034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7C90-C434-914E-0D23-094640626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CE0DFBE-A666-9F73-219E-05E9839B809D}"/>
              </a:ext>
            </a:extLst>
          </p:cNvPr>
          <p:cNvSpPr txBox="1"/>
          <p:nvPr/>
        </p:nvSpPr>
        <p:spPr>
          <a:xfrm>
            <a:off x="8126730" y="189230"/>
            <a:ext cx="383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生成器和迭代器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695D7320-DF44-A560-672C-3B6224B29156}"/>
              </a:ext>
            </a:extLst>
          </p:cNvPr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、自定义对象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FC0793-E59F-9740-16EB-760B141D25C5}"/>
              </a:ext>
            </a:extLst>
          </p:cNvPr>
          <p:cNvSpPr txBox="1"/>
          <p:nvPr/>
        </p:nvSpPr>
        <p:spPr>
          <a:xfrm>
            <a:off x="3008042" y="3209319"/>
            <a:ext cx="6127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https://zhuanlan.zhihu.com/p/643362890</a:t>
            </a:r>
          </a:p>
        </p:txBody>
      </p:sp>
    </p:spTree>
    <p:extLst>
      <p:ext uri="{BB962C8B-B14F-4D97-AF65-F5344CB8AC3E}">
        <p14:creationId xmlns:p14="http://schemas.microsoft.com/office/powerpoint/2010/main" val="2642894460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F168-6C1D-BAD1-7CE2-C6AF54C8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0CD8F0F-CF71-A9E2-0855-1140D154A826}"/>
              </a:ext>
            </a:extLst>
          </p:cNvPr>
          <p:cNvSpPr txBox="1"/>
          <p:nvPr/>
        </p:nvSpPr>
        <p:spPr>
          <a:xfrm>
            <a:off x="8126730" y="189230"/>
            <a:ext cx="383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生成器和迭代器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C8985851-34B0-85FC-4C54-37AFE41562D8}"/>
              </a:ext>
            </a:extLst>
          </p:cNvPr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可迭代对象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58F91A-F238-A535-1774-D95A42907A55}"/>
              </a:ext>
            </a:extLst>
          </p:cNvPr>
          <p:cNvSpPr txBox="1"/>
          <p:nvPr/>
        </p:nvSpPr>
        <p:spPr>
          <a:xfrm>
            <a:off x="338535" y="1629594"/>
            <a:ext cx="11521280" cy="271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序列数据类型，列表、元组、集合、字典、字符串等</a:t>
            </a:r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生成器（生成器表达式和</a:t>
            </a:r>
            <a:r>
              <a:rPr lang="en-US" altLang="zh-CN" dirty="0" err="1"/>
              <a:t>yeild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迭代器（</a:t>
            </a:r>
            <a:r>
              <a:rPr lang="en-US" altLang="zh-CN" dirty="0"/>
              <a:t>iter</a:t>
            </a:r>
            <a:r>
              <a:rPr lang="zh-CN" altLang="en-US" dirty="0"/>
              <a:t>函数）</a:t>
            </a:r>
            <a:endParaRPr lang="en-US" altLang="zh-CN" dirty="0"/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自定义对象</a:t>
            </a:r>
            <a:endParaRPr lang="en-US" altLang="zh-CN" dirty="0"/>
          </a:p>
          <a:p>
            <a:pPr marL="342900" indent="-342900" defTabSz="9144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charset="0"/>
              <a:buChar char="§"/>
            </a:pPr>
            <a:r>
              <a:rPr lang="zh-CN" altLang="en-US" dirty="0"/>
              <a:t>文件对象</a:t>
            </a:r>
          </a:p>
        </p:txBody>
      </p:sp>
    </p:spTree>
    <p:extLst>
      <p:ext uri="{BB962C8B-B14F-4D97-AF65-F5344CB8AC3E}">
        <p14:creationId xmlns:p14="http://schemas.microsoft.com/office/powerpoint/2010/main" val="2152185506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生成器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迭代器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6.3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47420" y="1701165"/>
            <a:ext cx="8493125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文件分为两类：文本文件和二进制文件。</a:t>
            </a: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n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Python提供了os、os.path、shutil等模块处理文件。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42670" y="2900045"/>
            <a:ext cx="105016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ea typeface="楷体" panose="02010609060101010101" pitchFamily="49" charset="-122"/>
                <a:cs typeface="+mn-lt"/>
              </a:rPr>
              <a:t>文本文件：基本是字符串，Python源代码文件和HTML文件等都属于文本文件；需要专业软件才能进行更好的解读；比等价的二进制文件大。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42670" y="3806190"/>
            <a:ext cx="105016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ea typeface="楷体" panose="02010609060101010101" pitchFamily="49" charset="-122"/>
                <a:cs typeface="+mn-lt"/>
              </a:rPr>
              <a:t>二进制文件：无法直接阅读；占据的空间通常比等价的文本文件小；计算机易处理。</a:t>
            </a: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、文件操作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1000760" y="1593215"/>
            <a:ext cx="7632700" cy="2407285"/>
          </a:xfrm>
          <a:prstGeom prst="rect">
            <a:avLst/>
          </a:prstGeom>
        </p:spPr>
        <p:txBody>
          <a:bodyPr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文件的常见操作包括：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打开文件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读写文件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复制文件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删除文件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072590" y="3915341"/>
            <a:ext cx="6912768" cy="648072"/>
          </a:xfrm>
          <a:prstGeom prst="rect">
            <a:avLst/>
          </a:prstGeom>
        </p:spPr>
        <p:txBody>
          <a:bodyPr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文件的操作流程一般是：</a:t>
            </a:r>
          </a:p>
        </p:txBody>
      </p:sp>
      <p:graphicFrame>
        <p:nvGraphicFramePr>
          <p:cNvPr id="7" name="图示 6"/>
          <p:cNvGraphicFramePr/>
          <p:nvPr/>
        </p:nvGraphicFramePr>
        <p:xfrm>
          <a:off x="1928495" y="4094480"/>
          <a:ext cx="8132445" cy="2764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Graphic spid="7" grpId="0">
        <p:bldAsOne/>
      </p:bldGraphic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、文件操作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6440" y="1701165"/>
            <a:ext cx="219964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）文件打开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3570" y="2515870"/>
            <a:ext cx="593661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ea typeface="楷体" panose="02010609060101010101" pitchFamily="49" charset="-122"/>
                <a:cs typeface="+mn-lt"/>
              </a:rPr>
              <a:t>格式：open(file, [mode[,  buffering]])</a:t>
            </a:r>
          </a:p>
          <a:p>
            <a:endParaRPr lang="zh-CN" altLang="en-US" b="1">
              <a:ea typeface="楷体" panose="02010609060101010101" pitchFamily="49" charset="-122"/>
              <a:cs typeface="+mn-lt"/>
            </a:endParaRPr>
          </a:p>
          <a:p>
            <a:r>
              <a:rPr lang="zh-CN" altLang="en-US" b="1">
                <a:solidFill>
                  <a:srgbClr val="FF0000"/>
                </a:solidFill>
                <a:ea typeface="楷体" panose="02010609060101010101" pitchFamily="49" charset="-122"/>
                <a:cs typeface="+mn-lt"/>
              </a:rPr>
              <a:t>file：</a:t>
            </a:r>
            <a:r>
              <a:rPr lang="zh-CN" altLang="en-US" b="1">
                <a:ea typeface="楷体" panose="02010609060101010101" pitchFamily="49" charset="-122"/>
                <a:cs typeface="+mn-lt"/>
              </a:rPr>
              <a:t>被打开的文件名。若文件file不存在，open()将创建该文件，然后再打开该文件。</a:t>
            </a:r>
          </a:p>
          <a:p>
            <a:r>
              <a:rPr lang="zh-CN" altLang="en-US" b="1">
                <a:solidFill>
                  <a:srgbClr val="FF0000"/>
                </a:solidFill>
                <a:ea typeface="楷体" panose="02010609060101010101" pitchFamily="49" charset="-122"/>
                <a:cs typeface="+mn-lt"/>
              </a:rPr>
              <a:t>mode：</a:t>
            </a:r>
            <a:r>
              <a:rPr lang="zh-CN" altLang="en-US" b="1">
                <a:ea typeface="楷体" panose="02010609060101010101" pitchFamily="49" charset="-122"/>
                <a:cs typeface="+mn-lt"/>
              </a:rPr>
              <a:t>指文件的打开模式。</a:t>
            </a:r>
          </a:p>
        </p:txBody>
      </p:sp>
      <p:graphicFrame>
        <p:nvGraphicFramePr>
          <p:cNvPr id="9" name="内容占位符 5"/>
          <p:cNvGraphicFramePr/>
          <p:nvPr>
            <p:custDataLst>
              <p:tags r:id="rId1"/>
            </p:custDataLst>
          </p:nvPr>
        </p:nvGraphicFramePr>
        <p:xfrm>
          <a:off x="6560185" y="1092835"/>
          <a:ext cx="5069205" cy="5085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73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5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6440"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以只读的方式打开文件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r+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以读写的方式打开文件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3940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以写入的方式打开文件。先删除文件原有的内容，再重新写入新的内容。如果文件不存在，则创建一个新的文件。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3940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w+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以读写的方式打开文件。先删除文件原有的内容，再重新写入新的内容。如果文件不存在，则创建一个新的文件。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以写入的方式打开文件，在文件末尾追加新的内容。如果文件不存在，则创建一个新文件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a+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以读写的方式打开文件，在文件末尾追加新的内容。如果文件不存在，则创建一个新文件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、文件操作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6440" y="1701165"/>
            <a:ext cx="219964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）文件打开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4852034" y="1080136"/>
            <a:ext cx="1177480" cy="461442"/>
          </a:xfrm>
          <a:prstGeom prst="rect">
            <a:avLst/>
          </a:prstGeom>
        </p:spPr>
        <p:txBody>
          <a:bodyPr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CN" altLang="en-US" sz="2800" b="1" dirty="0">
                <a:solidFill>
                  <a:srgbClr val="660033"/>
                </a:solidFill>
              </a:rPr>
              <a:t>举例：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62" y="1065393"/>
            <a:ext cx="4410174" cy="4835251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7716919" y="5931559"/>
            <a:ext cx="4313138" cy="51829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盘根目录下，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a.txt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273374" y="2150027"/>
            <a:ext cx="5328592" cy="2952328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 = open(“D:\\a.txt”,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  <a:defRPr/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f.read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 #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读整个文件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/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f.readline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#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读文件中的一行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f.readlines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#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读文件中的多行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f.close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#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关闭文件</a:t>
            </a:r>
          </a:p>
        </p:txBody>
      </p:sp>
      <p:sp>
        <p:nvSpPr>
          <p:cNvPr id="11" name="标题 1"/>
          <p:cNvSpPr txBox="1"/>
          <p:nvPr/>
        </p:nvSpPr>
        <p:spPr>
          <a:xfrm>
            <a:off x="913334" y="5469304"/>
            <a:ext cx="6264696" cy="51829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注：注意读取时文件中的位置一直在移动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、文件操作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6440" y="1701165"/>
            <a:ext cx="219964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）文件打开</a:t>
            </a:r>
          </a:p>
        </p:txBody>
      </p:sp>
      <p:sp>
        <p:nvSpPr>
          <p:cNvPr id="3" name="矩形 2"/>
          <p:cNvSpPr/>
          <p:nvPr/>
        </p:nvSpPr>
        <p:spPr>
          <a:xfrm>
            <a:off x="815731" y="2233557"/>
            <a:ext cx="11211743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ea typeface="微软雅黑" panose="020B0503020204020204" pitchFamily="34" charset="-122"/>
                <a:cs typeface="+mn-lt"/>
              </a:rPr>
              <a:t>在实际操作过程中，有时易忘记关闭文件，所以一般采用：</a:t>
            </a:r>
            <a:r>
              <a:rPr lang="en-US" altLang="zh-CN" dirty="0">
                <a:ea typeface="微软雅黑" panose="020B0503020204020204" pitchFamily="34" charset="-122"/>
                <a:cs typeface="+mn-lt"/>
              </a:rPr>
              <a:t>with open(…) as file</a:t>
            </a:r>
            <a:endParaRPr lang="zh-CN" altLang="en-US" dirty="0"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2066925" y="3265805"/>
            <a:ext cx="6912610" cy="31280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#</a:t>
            </a:r>
            <a:r>
              <a:rPr lang="zh-CN" altLang="en-US" sz="2400" dirty="0"/>
              <a:t>例</a:t>
            </a:r>
            <a:r>
              <a:rPr lang="en-US" altLang="zh-CN" sz="2400" dirty="0"/>
              <a:t>  </a:t>
            </a:r>
            <a:r>
              <a:rPr lang="zh-CN" altLang="en-US" sz="2400" dirty="0"/>
              <a:t>读取整个文件</a:t>
            </a:r>
          </a:p>
          <a:p>
            <a:pPr marL="0" indent="0">
              <a:buNone/>
            </a:pPr>
            <a:r>
              <a:rPr lang="en-US" altLang="zh-CN" sz="2400" dirty="0"/>
              <a:t>with </a:t>
            </a:r>
            <a:r>
              <a:rPr lang="en-US" altLang="zh-CN" sz="2800" dirty="0">
                <a:solidFill>
                  <a:srgbClr val="FF0000"/>
                </a:solidFill>
              </a:rPr>
              <a:t>open('D:\\</a:t>
            </a:r>
            <a:r>
              <a:rPr lang="en-US" altLang="zh-CN" sz="2800" dirty="0" err="1">
                <a:solidFill>
                  <a:srgbClr val="FF0000"/>
                </a:solidFill>
              </a:rPr>
              <a:t>a.txt','r</a:t>
            </a:r>
            <a:r>
              <a:rPr lang="en-US" altLang="zh-CN" sz="2800" dirty="0">
                <a:solidFill>
                  <a:srgbClr val="FF0000"/>
                </a:solidFill>
              </a:rPr>
              <a:t>‘) </a:t>
            </a:r>
            <a:r>
              <a:rPr lang="en-US" altLang="zh-CN" sz="2400" dirty="0"/>
              <a:t>as </a:t>
            </a:r>
            <a:r>
              <a:rPr lang="en-US" altLang="zh-CN" sz="2400" dirty="0">
                <a:solidFill>
                  <a:srgbClr val="0000CC"/>
                </a:solidFill>
              </a:rPr>
              <a:t>file</a:t>
            </a:r>
            <a:r>
              <a:rPr lang="en-US" altLang="zh-CN" sz="2400" dirty="0"/>
              <a:t>:</a:t>
            </a:r>
          </a:p>
          <a:p>
            <a:pPr marL="0" indent="0">
              <a:buNone/>
            </a:pPr>
            <a:r>
              <a:rPr lang="en-US" altLang="zh-CN" sz="2400" dirty="0"/>
              <a:t>    lines = </a:t>
            </a:r>
            <a:r>
              <a:rPr lang="en-US" altLang="zh-CN" sz="2400" dirty="0" err="1"/>
              <a:t>file.read</a:t>
            </a:r>
            <a:r>
              <a:rPr lang="en-US" altLang="zh-CN" sz="2400" dirty="0"/>
              <a:t>()</a:t>
            </a:r>
          </a:p>
          <a:p>
            <a:pPr marL="0" indent="0">
              <a:buNone/>
            </a:pPr>
            <a:r>
              <a:rPr lang="en-US" altLang="zh-CN" sz="2400" dirty="0"/>
              <a:t>    print(lines)</a:t>
            </a:r>
          </a:p>
          <a:p>
            <a:pPr marL="0" indent="0">
              <a:buNone/>
            </a:pPr>
            <a:r>
              <a:rPr lang="en-US" altLang="zh-CN" sz="2400" dirty="0"/>
              <a:t>    print("lines[-1]:", lines[-1])</a:t>
            </a:r>
          </a:p>
          <a:p>
            <a:pPr marL="0" indent="0">
              <a:buNone/>
            </a:pPr>
            <a:endParaRPr lang="en-US" altLang="zh-CN" sz="24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zh-CN" altLang="en-US" sz="24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13" name="线形标注 2(无边框) 12"/>
          <p:cNvSpPr/>
          <p:nvPr/>
        </p:nvSpPr>
        <p:spPr>
          <a:xfrm>
            <a:off x="5866413" y="2843897"/>
            <a:ext cx="5273321" cy="850517"/>
          </a:xfrm>
          <a:prstGeom prst="callout2">
            <a:avLst>
              <a:gd name="adj1" fmla="val 98506"/>
              <a:gd name="adj2" fmla="val 13130"/>
              <a:gd name="adj3" fmla="val 112275"/>
              <a:gd name="adj4" fmla="val 283"/>
              <a:gd name="adj5" fmla="val 124506"/>
              <a:gd name="adj6" fmla="val -39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用</a:t>
            </a:r>
            <a:r>
              <a:rPr lang="en-US" altLang="zh-CN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open</a:t>
            </a:r>
            <a:r>
              <a:rPr lang="zh-CN" altLang="en-U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函数打开文件。写法是： </a:t>
            </a:r>
            <a:r>
              <a:rPr lang="en-US" altLang="zh-CN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open(</a:t>
            </a:r>
            <a:r>
              <a:rPr lang="zh-CN" altLang="en-U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文件路径</a:t>
            </a:r>
            <a:r>
              <a:rPr lang="en-US" altLang="zh-CN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)</a:t>
            </a:r>
            <a:endParaRPr lang="zh-CN" altLang="en-US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" name="线形标注 2(无边框) 13"/>
          <p:cNvSpPr/>
          <p:nvPr/>
        </p:nvSpPr>
        <p:spPr>
          <a:xfrm>
            <a:off x="6387175" y="4356065"/>
            <a:ext cx="5184608" cy="1256403"/>
          </a:xfrm>
          <a:prstGeom prst="callout2">
            <a:avLst>
              <a:gd name="adj1" fmla="val -46"/>
              <a:gd name="adj2" fmla="val 16738"/>
              <a:gd name="adj3" fmla="val -16776"/>
              <a:gd name="adj4" fmla="val 1887"/>
              <a:gd name="adj5" fmla="val -24333"/>
              <a:gd name="adj6" fmla="val -50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file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是变量。这里，用来引用文件对象，关联打开的文件。</a:t>
            </a:r>
          </a:p>
        </p:txBody>
      </p:sp>
      <p:sp>
        <p:nvSpPr>
          <p:cNvPr id="16" name="线形标注 2(无边框) 15"/>
          <p:cNvSpPr/>
          <p:nvPr/>
        </p:nvSpPr>
        <p:spPr>
          <a:xfrm>
            <a:off x="3542891" y="5674634"/>
            <a:ext cx="3960440" cy="720079"/>
          </a:xfrm>
          <a:prstGeom prst="callout2">
            <a:avLst>
              <a:gd name="adj1" fmla="val -4803"/>
              <a:gd name="adj2" fmla="val 44228"/>
              <a:gd name="adj3" fmla="val -19522"/>
              <a:gd name="adj4" fmla="val 45641"/>
              <a:gd name="adj5" fmla="val -30139"/>
              <a:gd name="adj6" fmla="val 482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下标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-1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是字符串最后一个字符的下标。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6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7657" y="2420798"/>
            <a:ext cx="10540110" cy="1957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/>
              <a:t>'\'</a:t>
            </a:r>
            <a:r>
              <a:rPr lang="zh-CN" altLang="en-US" sz="2800" b="1" dirty="0"/>
              <a:t>是</a:t>
            </a:r>
            <a:r>
              <a:rPr lang="en-US" altLang="zh-CN" sz="2800" b="1" dirty="0"/>
              <a:t>Python</a:t>
            </a:r>
            <a:r>
              <a:rPr lang="zh-CN" altLang="en-US" sz="2800" b="1" dirty="0"/>
              <a:t>的转义字符，如果路径中存在</a:t>
            </a:r>
            <a:r>
              <a:rPr lang="en-US" altLang="zh-CN" sz="2800" b="1" dirty="0"/>
              <a:t>'\t'</a:t>
            </a:r>
            <a:r>
              <a:rPr lang="zh-CN" altLang="en-US" sz="2800" b="1" dirty="0"/>
              <a:t>或者</a:t>
            </a:r>
            <a:r>
              <a:rPr lang="en-US" altLang="zh-CN" sz="2800" b="1" dirty="0"/>
              <a:t>'\r'</a:t>
            </a:r>
            <a:r>
              <a:rPr lang="zh-CN" altLang="en-US" sz="2800" b="1" dirty="0"/>
              <a:t>这样的特殊字符，</a:t>
            </a:r>
            <a:r>
              <a:rPr lang="en-US" altLang="zh-CN" sz="2800" b="1" dirty="0"/>
              <a:t>'\'</a:t>
            </a:r>
            <a:r>
              <a:rPr lang="zh-CN" altLang="en-US" sz="2800" b="1" dirty="0"/>
              <a:t>就无法起到目录跳转的作用，因此报错。解决办法就是告诉系统</a:t>
            </a:r>
            <a:r>
              <a:rPr lang="en-US" altLang="zh-CN" sz="2800" b="1" dirty="0"/>
              <a:t>'\'</a:t>
            </a:r>
            <a:r>
              <a:rPr lang="zh-CN" altLang="en-US" sz="2800" b="1" dirty="0"/>
              <a:t>不是转义字符，</a:t>
            </a:r>
            <a:r>
              <a:rPr lang="en-US" altLang="zh-CN" sz="2800" b="1" dirty="0"/>
              <a:t>'\\'</a:t>
            </a:r>
            <a:r>
              <a:rPr lang="zh-CN" altLang="en-US" sz="2800" b="1" dirty="0"/>
              <a:t>就起这种作用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7" name="矩形 6"/>
          <p:cNvSpPr/>
          <p:nvPr/>
        </p:nvSpPr>
        <p:spPr>
          <a:xfrm>
            <a:off x="770583" y="1618921"/>
            <a:ext cx="54318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hlinkClick r:id="rId3"/>
              </a:rPr>
              <a:t>关于</a:t>
            </a:r>
            <a:r>
              <a:rPr lang="en-US" altLang="zh-CN" b="1" dirty="0">
                <a:hlinkClick r:id="rId3"/>
              </a:rPr>
              <a:t>Python</a:t>
            </a:r>
            <a:r>
              <a:rPr lang="zh-CN" altLang="en-US" b="1" dirty="0">
                <a:hlinkClick r:id="rId3"/>
              </a:rPr>
              <a:t>读取文件的路径中斜杠问题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410795847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、文件操作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6440" y="1701165"/>
            <a:ext cx="219964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）文件复制</a:t>
            </a:r>
          </a:p>
        </p:txBody>
      </p:sp>
      <p:sp>
        <p:nvSpPr>
          <p:cNvPr id="3" name="矩形 2"/>
          <p:cNvSpPr/>
          <p:nvPr/>
        </p:nvSpPr>
        <p:spPr>
          <a:xfrm>
            <a:off x="650875" y="2232660"/>
            <a:ext cx="11362055" cy="4130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目录操作： </a:t>
            </a:r>
          </a:p>
          <a:p>
            <a:pPr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os.mkdir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(“file”)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创建目录 </a:t>
            </a:r>
          </a:p>
          <a:p>
            <a:pPr marL="342900" indent="-34290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复制文件： </a:t>
            </a:r>
          </a:p>
          <a:p>
            <a:pPr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shutil.copyfile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(“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oldfile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”,”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newfile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”) #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oldfile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newfile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都只能是文件 </a:t>
            </a:r>
          </a:p>
          <a:p>
            <a:pPr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shutil.copy(“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oldfile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”,”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newfile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”) #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oldfile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只能是文件，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newfile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可以是文件，也可是目标目录 </a:t>
            </a:r>
          </a:p>
          <a:p>
            <a:pPr marL="342900" indent="-34290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复制文件夹： </a:t>
            </a:r>
          </a:p>
          <a:p>
            <a:pPr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shutil.copytree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(“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olddir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”,”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newdir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”) #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olddir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newdir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都只能是目录，且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newdir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必须不存在 </a:t>
            </a:r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6D6D-2334-B6D7-78E6-A0F1E325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B4C4090-22A0-7DA2-32A7-7263C17652E3}"/>
              </a:ext>
            </a:extLst>
          </p:cNvPr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A69D2265-F33D-9EBE-FCA5-E50A1CEB385C}"/>
              </a:ext>
            </a:extLst>
          </p:cNvPr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、文件操作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E7622C-A95E-8B2B-9265-12C1700BE267}"/>
              </a:ext>
            </a:extLst>
          </p:cNvPr>
          <p:cNvSpPr txBox="1"/>
          <p:nvPr/>
        </p:nvSpPr>
        <p:spPr>
          <a:xfrm>
            <a:off x="726440" y="1701165"/>
            <a:ext cx="2220480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）文件删除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AC2302-7D98-BBDD-3BDB-62F7145A390B}"/>
              </a:ext>
            </a:extLst>
          </p:cNvPr>
          <p:cNvSpPr/>
          <p:nvPr/>
        </p:nvSpPr>
        <p:spPr>
          <a:xfrm>
            <a:off x="650875" y="2232660"/>
            <a:ext cx="11362055" cy="2297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删除文件： </a:t>
            </a:r>
          </a:p>
          <a:p>
            <a:pPr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os.remove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file_path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删除文件夹：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5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os.rmdir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dir_path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删除空文件夹</a:t>
            </a:r>
          </a:p>
          <a:p>
            <a:pPr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shutil.rmtree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dir_path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删除非空文件夹及其内容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148586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8"/>
          <p:cNvSpPr txBox="1"/>
          <p:nvPr/>
        </p:nvSpPr>
        <p:spPr>
          <a:xfrm>
            <a:off x="389255" y="920115"/>
            <a:ext cx="2863850" cy="781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、文件操作</a:t>
            </a:r>
          </a:p>
        </p:txBody>
      </p:sp>
      <p:sp>
        <p:nvSpPr>
          <p:cNvPr id="6" name="矩形 5"/>
          <p:cNvSpPr/>
          <p:nvPr/>
        </p:nvSpPr>
        <p:spPr>
          <a:xfrm>
            <a:off x="3794919" y="1113788"/>
            <a:ext cx="380428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</a:t>
            </a:r>
            <a:r>
              <a:rPr lang="en-US" altLang="zh-C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csv</a:t>
            </a:r>
            <a:r>
              <a:rPr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</a:t>
            </a:r>
            <a:endParaRPr lang="zh-CN" altLang="en-US" sz="2800" b="1" i="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8025" y="1989634"/>
            <a:ext cx="11224895" cy="1065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CSV(Comma-Separated Values)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即逗号分隔值，可以用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打开查看。由于是纯文本，任何编辑器也都可打开。与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文件不同，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CSV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文件中：</a:t>
            </a:r>
          </a:p>
        </p:txBody>
      </p:sp>
      <p:sp>
        <p:nvSpPr>
          <p:cNvPr id="9" name="矩形 8"/>
          <p:cNvSpPr/>
          <p:nvPr/>
        </p:nvSpPr>
        <p:spPr>
          <a:xfrm>
            <a:off x="1500029" y="3075672"/>
            <a:ext cx="6099175" cy="25288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C00000"/>
                </a:solidFill>
              </a:rPr>
              <a:t>值没有类型，所有值都是字符串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C00000"/>
                </a:solidFill>
              </a:rPr>
              <a:t>不能指定字体颜色等样式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C00000"/>
                </a:solidFill>
              </a:rPr>
              <a:t>不能指定单元格的宽高，不能合并单元格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C00000"/>
                </a:solidFill>
              </a:rPr>
              <a:t>没有多个工作表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C00000"/>
                </a:solidFill>
              </a:rPr>
              <a:t>不能嵌入图像图表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638" t="10211" r="16926" b="59947"/>
          <a:stretch>
            <a:fillRect/>
          </a:stretch>
        </p:blipFill>
        <p:spPr>
          <a:xfrm>
            <a:off x="842591" y="1523931"/>
            <a:ext cx="10513169" cy="2952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矩形 7"/>
          <p:cNvSpPr/>
          <p:nvPr/>
        </p:nvSpPr>
        <p:spPr>
          <a:xfrm>
            <a:off x="842591" y="4797946"/>
            <a:ext cx="11017224" cy="1066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CSV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文件中，以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作为分隔符，分隔两个单元格。像这样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a,,c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表示单元格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和单元格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之间有个空白的单元格。依此类推。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内置了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csv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445566" y="798989"/>
            <a:ext cx="8243887" cy="724942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CSV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文件操作（</a:t>
            </a:r>
            <a:r>
              <a:rPr lang="zh-CN" altLang="en-US" sz="2800" b="1" dirty="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" name="矩形 1"/>
          <p:cNvSpPr/>
          <p:nvPr/>
        </p:nvSpPr>
        <p:spPr>
          <a:xfrm>
            <a:off x="914599" y="1548898"/>
            <a:ext cx="17426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/>
              <a:t>import </a:t>
            </a:r>
            <a:r>
              <a:rPr lang="en-US" altLang="zh-CN" sz="2800" b="1" dirty="0" err="1"/>
              <a:t>csv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770583" y="2068229"/>
            <a:ext cx="1086741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900"/>
              </a:lnSpc>
            </a:pPr>
            <a:r>
              <a:rPr lang="en-US" altLang="zh-CN" sz="2800" b="1" dirty="0"/>
              <a:t>filename = 'D:\\MYDOC\\Desktop\\train.csv'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/>
              <a:t>with open(filename) as f: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/>
              <a:t>    data = </a:t>
            </a:r>
            <a:r>
              <a:rPr lang="en-US" altLang="zh-CN" sz="2800" b="1" dirty="0" err="1"/>
              <a:t>csv.reader</a:t>
            </a:r>
            <a:r>
              <a:rPr lang="en-US" altLang="zh-CN" sz="2800" b="1" dirty="0"/>
              <a:t>(f) </a:t>
            </a:r>
            <a:r>
              <a:rPr lang="en-US" altLang="zh-CN" sz="2800" b="1" dirty="0">
                <a:solidFill>
                  <a:srgbClr val="FF0000"/>
                </a:solidFill>
              </a:rPr>
              <a:t>           #</a:t>
            </a:r>
            <a:r>
              <a:rPr lang="zh-CN" altLang="en-US" sz="2800" dirty="0">
                <a:solidFill>
                  <a:srgbClr val="FF0000"/>
                </a:solidFill>
              </a:rPr>
              <a:t>返回一个读取器对象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900"/>
              </a:lnSpc>
            </a:pPr>
            <a:r>
              <a:rPr lang="en-US" altLang="zh-CN" sz="2800" b="1" dirty="0"/>
              <a:t>    print(list(data))</a:t>
            </a:r>
            <a:endParaRPr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770583" y="4665556"/>
            <a:ext cx="109061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b="1" dirty="0"/>
              <a:t>data</a:t>
            </a:r>
            <a:r>
              <a:rPr lang="zh-CN" altLang="en-US" b="1" dirty="0"/>
              <a:t>不能直接打印，</a:t>
            </a:r>
            <a:r>
              <a:rPr lang="en-US" altLang="zh-CN" b="1" dirty="0"/>
              <a:t>list(data)</a:t>
            </a:r>
            <a:r>
              <a:rPr lang="zh-CN" altLang="en-US" b="1" dirty="0"/>
              <a:t>最外层是</a:t>
            </a:r>
            <a:r>
              <a:rPr lang="en-US" altLang="zh-CN" b="1" dirty="0"/>
              <a:t>list</a:t>
            </a:r>
            <a:r>
              <a:rPr lang="zh-CN" altLang="en-US" b="1" dirty="0"/>
              <a:t>，里层的每一行数据都在一个</a:t>
            </a:r>
            <a:r>
              <a:rPr lang="en-US" altLang="zh-CN" b="1" dirty="0"/>
              <a:t>list</a:t>
            </a:r>
            <a:r>
              <a:rPr lang="zh-CN" altLang="en-US" b="1" dirty="0"/>
              <a:t>中，有点像这样：</a:t>
            </a:r>
          </a:p>
          <a:p>
            <a:pPr>
              <a:lnSpc>
                <a:spcPts val="3600"/>
              </a:lnSpc>
            </a:pPr>
            <a:r>
              <a:rPr lang="en-US" altLang="zh-CN" b="1" dirty="0"/>
              <a:t>[['name', 'age'], ['Bob', '14'], ['Tom', '23'], ...]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445566" y="798989"/>
            <a:ext cx="8243887" cy="724942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CSV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文件操作（</a:t>
            </a:r>
            <a:r>
              <a:rPr lang="zh-CN" altLang="en-US" sz="2800" b="1" dirty="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" name="矩形 1"/>
          <p:cNvSpPr/>
          <p:nvPr/>
        </p:nvSpPr>
        <p:spPr>
          <a:xfrm>
            <a:off x="1359464" y="1526235"/>
            <a:ext cx="17426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/>
              <a:t>import </a:t>
            </a:r>
            <a:r>
              <a:rPr lang="en-US" altLang="zh-CN" sz="2800" b="1" dirty="0" err="1"/>
              <a:t>csv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1330935" y="2049455"/>
            <a:ext cx="10867415" cy="259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900"/>
              </a:lnSpc>
            </a:pPr>
            <a:r>
              <a:rPr lang="en-US" altLang="zh-CN" sz="2800" b="1" dirty="0"/>
              <a:t>filename = </a:t>
            </a:r>
            <a:r>
              <a:rPr lang="en-US" altLang="zh-CN" sz="2800" b="1" dirty="0">
                <a:sym typeface="+mn-ea"/>
              </a:rPr>
              <a:t>'</a:t>
            </a:r>
            <a:r>
              <a:rPr lang="en-US" altLang="zh-CN" sz="2800" b="1" dirty="0"/>
              <a:t>D:\\MYDOC\\Desktop\\train.csv'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/>
              <a:t>with open(filename) as f: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/>
              <a:t>    data = </a:t>
            </a:r>
            <a:r>
              <a:rPr lang="en-US" altLang="zh-CN" sz="2800" b="1" dirty="0" err="1"/>
              <a:t>csv.reader</a:t>
            </a:r>
            <a:r>
              <a:rPr lang="en-US" altLang="zh-CN" sz="2800" b="1" dirty="0"/>
              <a:t>(f)           #</a:t>
            </a:r>
            <a:r>
              <a:rPr lang="zh-CN" altLang="en-US" sz="2800" dirty="0"/>
              <a:t>返回一个读取器对象</a:t>
            </a:r>
            <a:r>
              <a:rPr lang="en-US" altLang="zh-CN" sz="2800" dirty="0"/>
              <a:t>,</a:t>
            </a:r>
            <a:r>
              <a:rPr lang="zh-CN" altLang="en-US" sz="2800" dirty="0"/>
              <a:t>遍历</a:t>
            </a:r>
            <a:r>
              <a:rPr lang="en-US" altLang="zh-CN" sz="2800" dirty="0" err="1"/>
              <a:t>csv</a:t>
            </a:r>
            <a:r>
              <a:rPr lang="zh-CN" altLang="en-US" sz="2800" dirty="0"/>
              <a:t>文件中的行。</a:t>
            </a:r>
            <a:endParaRPr lang="en-US" altLang="zh-CN" sz="2800" b="1" dirty="0"/>
          </a:p>
          <a:p>
            <a:pPr>
              <a:lnSpc>
                <a:spcPts val="3900"/>
              </a:lnSpc>
            </a:pPr>
            <a:r>
              <a:rPr lang="en-US" altLang="zh-CN" sz="2800" b="1" dirty="0"/>
              <a:t>    </a:t>
            </a:r>
            <a:r>
              <a:rPr lang="en-US" altLang="zh-CN" sz="2800" b="1" dirty="0">
                <a:solidFill>
                  <a:srgbClr val="FF0000"/>
                </a:solidFill>
              </a:rPr>
              <a:t>for row in data: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          print(</a:t>
            </a:r>
            <a:r>
              <a:rPr lang="en-US" altLang="zh-CN" sz="2800" b="1" dirty="0" err="1">
                <a:solidFill>
                  <a:srgbClr val="FF0000"/>
                </a:solidFill>
              </a:rPr>
              <a:t>data.line_num,row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6568" y="5165693"/>
            <a:ext cx="114101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注意行号是从</a:t>
            </a:r>
            <a:r>
              <a:rPr lang="en-US" altLang="zh-CN" b="1" dirty="0"/>
              <a:t>1</a:t>
            </a:r>
            <a:r>
              <a:rPr lang="zh-CN" altLang="en-US" b="1" dirty="0"/>
              <a:t>开始编号的。也可以通过访问到某个（或一段列表数据），</a:t>
            </a:r>
            <a:r>
              <a:rPr lang="en-US" altLang="zh-CN" b="1" dirty="0"/>
              <a:t>row[</a:t>
            </a:r>
            <a:r>
              <a:rPr lang="en-US" altLang="zh-CN" b="1" dirty="0" err="1"/>
              <a:t>m:n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445566" y="798989"/>
            <a:ext cx="8243887" cy="724942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CSV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文件操作（</a:t>
            </a:r>
            <a:r>
              <a:rPr lang="zh-CN" altLang="en-US" sz="2800" b="1" dirty="0">
                <a:solidFill>
                  <a:srgbClr val="6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698575" y="1523931"/>
            <a:ext cx="10801200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要注意的是，</a:t>
            </a:r>
            <a:r>
              <a:rPr lang="en-US" altLang="zh-CN" b="1" dirty="0"/>
              <a:t>reader</a:t>
            </a:r>
            <a:r>
              <a:rPr lang="zh-CN" altLang="en-US" b="1" dirty="0"/>
              <a:t>只能被遍历一次。由于</a:t>
            </a:r>
            <a:r>
              <a:rPr lang="en-US" altLang="zh-CN" b="1" dirty="0"/>
              <a:t>reader</a:t>
            </a:r>
            <a:r>
              <a:rPr lang="zh-CN" altLang="en-US" b="1" dirty="0"/>
              <a:t>是可迭代对象，可以使用</a:t>
            </a:r>
            <a:r>
              <a:rPr lang="en-US" altLang="zh-CN" b="1" dirty="0"/>
              <a:t>next</a:t>
            </a:r>
            <a:r>
              <a:rPr lang="zh-CN" altLang="en-US" b="1" dirty="0"/>
              <a:t>方法一次获取一行。</a:t>
            </a:r>
          </a:p>
        </p:txBody>
      </p:sp>
      <p:sp>
        <p:nvSpPr>
          <p:cNvPr id="10" name="矩形 9"/>
          <p:cNvSpPr/>
          <p:nvPr/>
        </p:nvSpPr>
        <p:spPr>
          <a:xfrm>
            <a:off x="1169327" y="2853730"/>
            <a:ext cx="10867415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900"/>
              </a:lnSpc>
            </a:pPr>
            <a:r>
              <a:rPr lang="en-US" altLang="zh-CN" sz="2800" b="1" dirty="0"/>
              <a:t>filename = D:\\MYDOC\\Desktop\\train.csv'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/>
              <a:t>with open(filename) as f: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/>
              <a:t>    data = </a:t>
            </a:r>
            <a:r>
              <a:rPr lang="en-US" altLang="zh-CN" sz="2800" b="1" dirty="0" err="1"/>
              <a:t>csv.reader</a:t>
            </a:r>
            <a:r>
              <a:rPr lang="en-US" altLang="zh-CN" sz="2800" b="1" dirty="0"/>
              <a:t>(f)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/>
              <a:t>    </a:t>
            </a:r>
            <a:r>
              <a:rPr lang="en-US" altLang="zh-CN" sz="2800" b="1" dirty="0" err="1"/>
              <a:t>head_row</a:t>
            </a:r>
            <a:r>
              <a:rPr lang="en-US" altLang="zh-CN" sz="2800" b="1" dirty="0"/>
              <a:t> = </a:t>
            </a:r>
            <a:r>
              <a:rPr lang="en-US" altLang="zh-CN" sz="2800" b="1" dirty="0">
                <a:solidFill>
                  <a:srgbClr val="0000FF"/>
                </a:solidFill>
              </a:rPr>
              <a:t>next</a:t>
            </a:r>
            <a:r>
              <a:rPr lang="en-US" altLang="zh-CN" sz="2800" b="1" dirty="0"/>
              <a:t>(data)    #</a:t>
            </a:r>
            <a:r>
              <a:rPr lang="zh-CN" altLang="en-US" sz="2800" b="1" dirty="0"/>
              <a:t>看作迭代器</a:t>
            </a:r>
            <a:endParaRPr lang="en-US" altLang="zh-CN" sz="2800" b="1" dirty="0"/>
          </a:p>
          <a:p>
            <a:pPr>
              <a:lnSpc>
                <a:spcPts val="3900"/>
              </a:lnSpc>
            </a:pPr>
            <a:r>
              <a:rPr lang="en-US" altLang="zh-CN" sz="2800" b="1" dirty="0"/>
              <a:t>    </a:t>
            </a:r>
            <a:r>
              <a:rPr lang="en-US" altLang="zh-CN" sz="2800" b="1" dirty="0">
                <a:solidFill>
                  <a:srgbClr val="FF0000"/>
                </a:solidFill>
              </a:rPr>
              <a:t>for row in data: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          print(</a:t>
            </a:r>
            <a:r>
              <a:rPr lang="en-US" altLang="zh-CN" sz="2800" b="1" dirty="0" err="1">
                <a:solidFill>
                  <a:srgbClr val="FF0000"/>
                </a:solidFill>
              </a:rPr>
              <a:t>data.line_num,row</a:t>
            </a:r>
            <a:r>
              <a:rPr lang="en-US" altLang="zh-CN" sz="2800" b="1" dirty="0">
                <a:solidFill>
                  <a:srgbClr val="FF0000"/>
                </a:solidFill>
              </a:rPr>
              <a:t>)#</a:t>
            </a:r>
            <a:r>
              <a:rPr lang="zh-CN" altLang="en-US" sz="2800" b="1" dirty="0">
                <a:solidFill>
                  <a:srgbClr val="FF0000"/>
                </a:solidFill>
              </a:rPr>
              <a:t>行号从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开始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文件操作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生成器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迭代器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6.3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6.4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异常处理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8515" y="1435735"/>
            <a:ext cx="4062095" cy="578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&gt;&gt;1/0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305" y="2444115"/>
            <a:ext cx="10084435" cy="23907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异常处理：</a:t>
            </a: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1023620" y="1553845"/>
            <a:ext cx="8465820" cy="58039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Wingdings" panose="05000000000000000000" charset="0"/>
              <a:buNone/>
            </a:pPr>
            <a:r>
              <a:rPr lang="zh-CN" altLang="en-US" sz="24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任何一个健壮的程序，都需要设置异常处理模块。</a:t>
            </a:r>
            <a:endParaRPr lang="zh-CN" altLang="en-US" sz="2400" strike="noStrike" noProof="1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异常处理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2685" y="2277110"/>
            <a:ext cx="617664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try: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1 / 0 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except</a:t>
            </a:r>
            <a:r>
              <a:rPr lang="zh-CN" altLang="en-US"/>
              <a:t> ZeroDivisionError as z: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print("除零错误",z)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finally: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print("后续代码执行")</a:t>
            </a:r>
          </a:p>
        </p:txBody>
      </p:sp>
      <p:sp>
        <p:nvSpPr>
          <p:cNvPr id="7" name="线形标注 2(无边框) 6"/>
          <p:cNvSpPr/>
          <p:nvPr/>
        </p:nvSpPr>
        <p:spPr>
          <a:xfrm>
            <a:off x="3722944" y="2896632"/>
            <a:ext cx="4752738" cy="504056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65051"/>
              <a:gd name="adj6" fmla="val -2967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sz="2400" b="1" dirty="0">
                <a:solidFill>
                  <a:schemeClr val="tx1"/>
                </a:solidFill>
              </a:rPr>
              <a:t>有可能出现异常的代码</a:t>
            </a:r>
          </a:p>
        </p:txBody>
      </p:sp>
      <p:sp>
        <p:nvSpPr>
          <p:cNvPr id="6" name="线形标注 2(无边框) 5"/>
          <p:cNvSpPr/>
          <p:nvPr/>
        </p:nvSpPr>
        <p:spPr>
          <a:xfrm>
            <a:off x="6188075" y="3853180"/>
            <a:ext cx="4982845" cy="774065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50861"/>
              <a:gd name="adj6" fmla="val -3114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sz="2400" b="1" dirty="0">
                <a:solidFill>
                  <a:schemeClr val="tx1"/>
                </a:solidFill>
              </a:rPr>
              <a:t>一旦有异常，相应的处理异常代码，可以有多个</a:t>
            </a:r>
            <a:r>
              <a:rPr lang="en-US" altLang="zh-CN" sz="2400" b="1" dirty="0">
                <a:solidFill>
                  <a:schemeClr val="tx1"/>
                </a:solidFill>
              </a:rPr>
              <a:t>except</a:t>
            </a:r>
          </a:p>
        </p:txBody>
      </p:sp>
      <p:sp>
        <p:nvSpPr>
          <p:cNvPr id="8" name="线形标注 2(无边框) 7"/>
          <p:cNvSpPr/>
          <p:nvPr/>
        </p:nvSpPr>
        <p:spPr>
          <a:xfrm>
            <a:off x="6275070" y="5029200"/>
            <a:ext cx="4982845" cy="774065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50861"/>
              <a:gd name="adj6" fmla="val -3114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sz="2400" b="1" dirty="0">
                <a:solidFill>
                  <a:schemeClr val="tx1"/>
                </a:solidFill>
              </a:rPr>
              <a:t>一定要运行的代码（非必须）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 bldLvl="0" animBg="1"/>
      <p:bldP spid="6" grpId="0" bldLvl="0" animBg="1"/>
      <p:bldP spid="8" grpId="0" bldLvl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错误处理：</a:t>
            </a: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1033145" y="1323975"/>
            <a:ext cx="10423525" cy="58039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异常处理模块能够处理运行期间的异常行为，但通常还有更为基础错误：语法错误和逻辑错误。逻辑错误调试相对较难。</a:t>
            </a:r>
            <a:endParaRPr lang="zh-CN" altLang="en-US" sz="2400" strike="noStrike" noProof="1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异常处理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2370" y="2516187"/>
            <a:ext cx="617664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def foo(s):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  n = int(s)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  print("n={}".format(n))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  return 10/n</a:t>
            </a: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foo('0')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905" y="2930525"/>
            <a:ext cx="6079490" cy="2586355"/>
          </a:xfrm>
          <a:prstGeom prst="rect">
            <a:avLst/>
          </a:prstGeom>
        </p:spPr>
      </p:pic>
      <p:sp>
        <p:nvSpPr>
          <p:cNvPr id="6" name="线形标注 2(无边框) 5"/>
          <p:cNvSpPr/>
          <p:nvPr/>
        </p:nvSpPr>
        <p:spPr>
          <a:xfrm>
            <a:off x="6593840" y="3743960"/>
            <a:ext cx="4982845" cy="774065"/>
          </a:xfrm>
          <a:prstGeom prst="callout2">
            <a:avLst>
              <a:gd name="adj1" fmla="val 64057"/>
              <a:gd name="adj2" fmla="val -89"/>
              <a:gd name="adj3" fmla="val 51284"/>
              <a:gd name="adj4" fmla="val -9841"/>
              <a:gd name="adj5" fmla="val 50861"/>
              <a:gd name="adj6" fmla="val -3114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sz="2400" b="1" dirty="0">
                <a:solidFill>
                  <a:schemeClr val="tx1"/>
                </a:solidFill>
              </a:rPr>
              <a:t>观察</a:t>
            </a:r>
            <a:r>
              <a:rPr lang="en-US" altLang="zh-CN" sz="2400" b="1" dirty="0">
                <a:solidFill>
                  <a:schemeClr val="tx1"/>
                </a:solidFill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</a:rPr>
              <a:t>的值，看看是否有异常？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6" grpId="0" bldLvl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错误处理：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异常处理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8535" y="1845618"/>
            <a:ext cx="835342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dirty="0" err="1">
                <a:solidFill>
                  <a:schemeClr val="tx1"/>
                </a:solidFill>
              </a:rPr>
              <a:t>def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avg</a:t>
            </a:r>
            <a:r>
              <a:rPr dirty="0">
                <a:solidFill>
                  <a:schemeClr val="tx1"/>
                </a:solidFill>
              </a:rPr>
              <a:t>(score):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chemeClr val="tx1"/>
                </a:solidFill>
              </a:rPr>
              <a:t>    </a:t>
            </a:r>
            <a:r>
              <a:rPr dirty="0">
                <a:solidFill>
                  <a:srgbClr val="0000FF"/>
                </a:solidFill>
              </a:rPr>
              <a:t>assert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len</a:t>
            </a:r>
            <a:r>
              <a:rPr dirty="0">
                <a:solidFill>
                  <a:schemeClr val="tx1"/>
                </a:solidFill>
              </a:rPr>
              <a:t>(score) != 0,"长度为0，说明可能没有元素"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chemeClr val="tx1"/>
                </a:solidFill>
              </a:rPr>
              <a:t>    return sum(score)/</a:t>
            </a:r>
            <a:r>
              <a:rPr dirty="0" err="1">
                <a:solidFill>
                  <a:schemeClr val="tx1"/>
                </a:solidFill>
              </a:rPr>
              <a:t>len</a:t>
            </a:r>
            <a:r>
              <a:rPr dirty="0">
                <a:solidFill>
                  <a:schemeClr val="tx1"/>
                </a:solidFill>
              </a:rPr>
              <a:t>(score)</a:t>
            </a:r>
          </a:p>
          <a:p>
            <a:pPr>
              <a:lnSpc>
                <a:spcPct val="150000"/>
              </a:lnSpc>
            </a:pPr>
            <a:endParaRPr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dirty="0">
                <a:solidFill>
                  <a:schemeClr val="tx1"/>
                </a:solidFill>
              </a:rPr>
              <a:t>score = []</a:t>
            </a:r>
          </a:p>
          <a:p>
            <a:pPr>
              <a:lnSpc>
                <a:spcPct val="150000"/>
              </a:lnSpc>
            </a:pPr>
            <a:r>
              <a:rPr dirty="0">
                <a:solidFill>
                  <a:schemeClr val="tx1"/>
                </a:solidFill>
              </a:rPr>
              <a:t>print("</a:t>
            </a:r>
            <a:r>
              <a:rPr dirty="0" err="1">
                <a:solidFill>
                  <a:schemeClr val="tx1"/>
                </a:solidFill>
              </a:rPr>
              <a:t>平均分为</a:t>
            </a:r>
            <a:r>
              <a:rPr dirty="0">
                <a:solidFill>
                  <a:schemeClr val="tx1"/>
                </a:solidFill>
              </a:rPr>
              <a:t>：",</a:t>
            </a:r>
            <a:r>
              <a:rPr dirty="0" err="1">
                <a:solidFill>
                  <a:schemeClr val="tx1"/>
                </a:solidFill>
              </a:rPr>
              <a:t>avg</a:t>
            </a:r>
            <a:r>
              <a:rPr dirty="0">
                <a:solidFill>
                  <a:schemeClr val="tx1"/>
                </a:solidFill>
              </a:rPr>
              <a:t>(score))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047" y="3035299"/>
            <a:ext cx="6266180" cy="307530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930823" y="953736"/>
            <a:ext cx="89289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assert </a:t>
            </a:r>
            <a:r>
              <a:rPr lang="zh-CN" altLang="en-US" dirty="0"/>
              <a:t>语句，又称断言语句，可以看做是功能缩小版的 </a:t>
            </a:r>
            <a:r>
              <a:rPr lang="en-US" altLang="zh-CN" dirty="0"/>
              <a:t>if </a:t>
            </a:r>
            <a:r>
              <a:rPr lang="zh-CN" altLang="en-US" dirty="0"/>
              <a:t>语句，它用于判断某个表达式的值，如果值为真，则程序可以继续往下执行；反之，</a:t>
            </a:r>
            <a:r>
              <a:rPr lang="en-US" altLang="zh-CN" dirty="0"/>
              <a:t>Python </a:t>
            </a:r>
            <a:r>
              <a:rPr lang="zh-CN" altLang="en-US" dirty="0"/>
              <a:t>解释器会报 </a:t>
            </a:r>
            <a:r>
              <a:rPr lang="en-US" altLang="zh-CN" dirty="0" err="1"/>
              <a:t>AssertionError</a:t>
            </a:r>
            <a:r>
              <a:rPr lang="en-US" altLang="zh-CN" dirty="0"/>
              <a:t> </a:t>
            </a:r>
            <a:r>
              <a:rPr lang="zh-CN" altLang="en-US" dirty="0"/>
              <a:t>错误。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B8B9-E600-0B04-5B79-A069D5648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>
            <a:extLst>
              <a:ext uri="{FF2B5EF4-FFF2-40B4-BE49-F238E27FC236}">
                <a16:creationId xmlns:a16="http://schemas.microsoft.com/office/drawing/2014/main" id="{CF139658-E0AA-2D0A-EAF3-DF0B13FCE27D}"/>
              </a:ext>
            </a:extLst>
          </p:cNvPr>
          <p:cNvSpPr txBox="1"/>
          <p:nvPr/>
        </p:nvSpPr>
        <p:spPr>
          <a:xfrm>
            <a:off x="179904" y="772806"/>
            <a:ext cx="10515600" cy="781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常见异常：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30547F-D8F0-61F1-0F67-70BC79503860}"/>
              </a:ext>
            </a:extLst>
          </p:cNvPr>
          <p:cNvSpPr txBox="1"/>
          <p:nvPr/>
        </p:nvSpPr>
        <p:spPr>
          <a:xfrm>
            <a:off x="9440545" y="168910"/>
            <a:ext cx="2757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异常处理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2C9D4C-52EC-8E8A-5D39-47EE39B0A3F6}"/>
              </a:ext>
            </a:extLst>
          </p:cNvPr>
          <p:cNvSpPr txBox="1"/>
          <p:nvPr/>
        </p:nvSpPr>
        <p:spPr>
          <a:xfrm>
            <a:off x="179904" y="1341562"/>
            <a:ext cx="6423327" cy="5112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BaseException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所有异常的基类。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Exception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所有内建标准异常的基类。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SystemExit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请求解释器退出的异常。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KeyboardInterrupt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用户中断执行（通常是按下</a:t>
            </a: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Ctrl+C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GeneratorExit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生成器（</a:t>
            </a:r>
            <a:r>
              <a:rPr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发生异常以退出。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ArithmeticError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所有数值计算错误的基类。</a:t>
            </a:r>
          </a:p>
          <a:p>
            <a:pPr marL="895985" lvl="2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FloatingPointError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浮点计算错误，如对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取倒数。</a:t>
            </a:r>
          </a:p>
          <a:p>
            <a:pPr marL="895985" lvl="2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OverflowError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数值运算超出最大限制。</a:t>
            </a:r>
          </a:p>
          <a:p>
            <a:pPr marL="895985" lvl="2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ZeroDivisionError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除（或取模）零（所有数据类型）。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AssertionError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断言语句失败。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25A36E-5982-1341-166C-164D7FF86316}"/>
              </a:ext>
            </a:extLst>
          </p:cNvPr>
          <p:cNvSpPr txBox="1"/>
          <p:nvPr/>
        </p:nvSpPr>
        <p:spPr>
          <a:xfrm>
            <a:off x="6603231" y="734044"/>
            <a:ext cx="5595119" cy="55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AttributeError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尝试访问未知属性。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EOFError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没有内建输入，到达</a:t>
            </a:r>
            <a:r>
              <a:rPr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EOF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标记。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ImportError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导入模块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对象失败。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IndexError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索引超出序列的范围。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KeyError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字典中找不到指定的键。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MemoryError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内存溢出错误（对于</a:t>
            </a:r>
            <a:r>
              <a:rPr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解释器不多见，除非数据或</a:t>
            </a:r>
            <a:r>
              <a:rPr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进程占用太多内存）。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NameError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尝试访问一个不存在的变量。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SyntaxError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语法错误。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IndentationError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缩进错误。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TypeError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不同类型间无效操作。</a:t>
            </a:r>
          </a:p>
          <a:p>
            <a:pPr marL="285750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ValueError</a:t>
            </a:r>
            <a:r>
              <a:rPr lang="zh-CN" altLang="e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传入无效的参数。</a:t>
            </a:r>
          </a:p>
        </p:txBody>
      </p:sp>
    </p:spTree>
    <p:extLst>
      <p:ext uri="{BB962C8B-B14F-4D97-AF65-F5344CB8AC3E}">
        <p14:creationId xmlns:p14="http://schemas.microsoft.com/office/powerpoint/2010/main" val="2915796787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870ca8c-e463-465b-ac26-7dfc4233f0cf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heme/theme1.xml><?xml version="1.0" encoding="utf-8"?>
<a:theme xmlns:a="http://schemas.openxmlformats.org/drawingml/2006/main" name="Office 主题​​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</TotalTime>
  <Words>6721</Words>
  <Application>Microsoft Macintosh PowerPoint</Application>
  <PresentationFormat>自定义</PresentationFormat>
  <Paragraphs>873</Paragraphs>
  <Slides>82</Slides>
  <Notes>77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82</vt:i4>
      </vt:variant>
    </vt:vector>
  </HeadingPairs>
  <TitlesOfParts>
    <vt:vector size="99" baseType="lpstr">
      <vt:lpstr>方正大黑简体</vt:lpstr>
      <vt:lpstr>华文行楷</vt:lpstr>
      <vt:lpstr>楷体</vt:lpstr>
      <vt:lpstr>微软雅黑</vt:lpstr>
      <vt:lpstr>微软雅黑 Light</vt:lpstr>
      <vt:lpstr>Microsoft YaHei UI</vt:lpstr>
      <vt:lpstr>Arial</vt:lpstr>
      <vt:lpstr>Arial Black</vt:lpstr>
      <vt:lpstr>Calibri</vt:lpstr>
      <vt:lpstr>Consolas</vt:lpstr>
      <vt:lpstr>Courier New</vt:lpstr>
      <vt:lpstr>Impact</vt:lpstr>
      <vt:lpstr>Menlo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Kun Jing</cp:lastModifiedBy>
  <cp:revision>418</cp:revision>
  <dcterms:created xsi:type="dcterms:W3CDTF">2014-08-23T07:50:00Z</dcterms:created>
  <dcterms:modified xsi:type="dcterms:W3CDTF">2025-11-17T07:15:22Z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2052-11.1.0.9999</vt:lpwstr>
  </property>
</Properties>
</file>